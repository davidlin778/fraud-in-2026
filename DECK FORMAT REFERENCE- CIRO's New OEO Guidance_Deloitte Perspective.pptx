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notesSlides/notesSlide6.xml" ContentType="application/vnd.openxmlformats-officedocument.presentationml.notesSlide+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notesSlides/notesSlide10.xml" ContentType="application/vnd.openxmlformats-officedocument.presentationml.notesSlide+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notesSlides/notesSlide12.xml" ContentType="application/vnd.openxmlformats-officedocument.presentationml.notesSlide+xml"/>
  <Override PartName="/ppt/tags/tag21.xml" ContentType="application/vnd.openxmlformats-officedocument.presentationml.tags+xml"/>
  <Override PartName="/ppt/notesSlides/notesSlide13.xml" ContentType="application/vnd.openxmlformats-officedocument.presentationml.notesSlide+xml"/>
  <Override PartName="/ppt/tags/tag22.xml" ContentType="application/vnd.openxmlformats-officedocument.presentationml.tags+xml"/>
  <Override PartName="/ppt/notesSlides/notesSlide14.xml" ContentType="application/vnd.openxmlformats-officedocument.presentationml.notesSlide+xml"/>
  <Override PartName="/ppt/tags/tag23.xml" ContentType="application/vnd.openxmlformats-officedocument.presentationml.tags+xml"/>
  <Override PartName="/ppt/notesSlides/notesSlide15.xml" ContentType="application/vnd.openxmlformats-officedocument.presentationml.notesSlide+xml"/>
  <Override PartName="/ppt/tags/tag24.xml" ContentType="application/vnd.openxmlformats-officedocument.presentationml.tags+xml"/>
  <Override PartName="/ppt/notesSlides/notesSlide16.xml" ContentType="application/vnd.openxmlformats-officedocument.presentationml.notesSlide+xml"/>
  <Override PartName="/ppt/tags/tag25.xml" ContentType="application/vnd.openxmlformats-officedocument.presentationml.tags+xml"/>
  <Override PartName="/ppt/notesSlides/notesSlide17.xml" ContentType="application/vnd.openxmlformats-officedocument.presentationml.notesSlide+xml"/>
  <Override PartName="/ppt/tags/tag26.xml" ContentType="application/vnd.openxmlformats-officedocument.presentationml.tags+xml"/>
  <Override PartName="/ppt/notesSlides/notesSlide18.xml" ContentType="application/vnd.openxmlformats-officedocument.presentationml.notesSlide+xml"/>
  <Override PartName="/ppt/tags/tag27.xml" ContentType="application/vnd.openxmlformats-officedocument.presentationml.tags+xml"/>
  <Override PartName="/ppt/notesSlides/notesSlide19.xml" ContentType="application/vnd.openxmlformats-officedocument.presentationml.notesSlide+xml"/>
  <Override PartName="/ppt/tags/tag28.xml" ContentType="application/vnd.openxmlformats-officedocument.presentationml.tags+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896" r:id="rId4"/>
  </p:sldMasterIdLst>
  <p:notesMasterIdLst>
    <p:notesMasterId r:id="rId25"/>
  </p:notesMasterIdLst>
  <p:handoutMasterIdLst>
    <p:handoutMasterId r:id="rId26"/>
  </p:handoutMasterIdLst>
  <p:sldIdLst>
    <p:sldId id="257" r:id="rId5"/>
    <p:sldId id="263" r:id="rId6"/>
    <p:sldId id="270" r:id="rId7"/>
    <p:sldId id="339" r:id="rId8"/>
    <p:sldId id="337" r:id="rId9"/>
    <p:sldId id="398" r:id="rId10"/>
    <p:sldId id="380" r:id="rId11"/>
    <p:sldId id="315" r:id="rId12"/>
    <p:sldId id="313" r:id="rId13"/>
    <p:sldId id="272" r:id="rId14"/>
    <p:sldId id="388" r:id="rId15"/>
    <p:sldId id="328" r:id="rId16"/>
    <p:sldId id="353" r:id="rId17"/>
    <p:sldId id="386" r:id="rId18"/>
    <p:sldId id="392" r:id="rId19"/>
    <p:sldId id="341" r:id="rId20"/>
    <p:sldId id="376" r:id="rId21"/>
    <p:sldId id="273" r:id="rId22"/>
    <p:sldId id="351" r:id="rId23"/>
    <p:sldId id="311" r:id="rId24"/>
  </p:sldIdLst>
  <p:sldSz cx="12192000" cy="6858000"/>
  <p:notesSz cx="7010400" cy="92964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4" userDrawn="1">
          <p15:clr>
            <a:srgbClr val="A4A3A4"/>
          </p15:clr>
        </p15:guide>
        <p15:guide id="2" pos="3863" userDrawn="1">
          <p15:clr>
            <a:srgbClr val="A4A3A4"/>
          </p15:clr>
        </p15:guide>
        <p15:guide id="3" orient="horz" userDrawn="1">
          <p15:clr>
            <a:srgbClr val="A4A3A4"/>
          </p15:clr>
        </p15:guide>
        <p15:guide id="4" pos="7378"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607"/>
    <a:srgbClr val="F1F6C5"/>
    <a:srgbClr val="EDF3B2"/>
    <a:srgbClr val="0D8390"/>
    <a:srgbClr val="43B02A"/>
    <a:srgbClr val="26890D"/>
    <a:srgbClr val="FFFFFF"/>
    <a:srgbClr val="86BC25"/>
    <a:srgbClr val="046A38"/>
    <a:srgbClr val="FCBA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740107-72E6-4CB4-ADE1-FDB2EFAD2371}" v="10103" dt="2025-10-19T05:49:00.3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showGuides="1">
      <p:cViewPr varScale="1">
        <p:scale>
          <a:sx n="66" d="100"/>
          <a:sy n="66" d="100"/>
        </p:scale>
        <p:origin x="0" y="0"/>
      </p:cViewPr>
      <p:guideLst>
        <p:guide orient="horz" pos="2024"/>
        <p:guide pos="3863"/>
        <p:guide orient="horz"/>
        <p:guide pos="7378"/>
      </p:guideLst>
    </p:cSldViewPr>
  </p:slideViewPr>
  <p:notesViewPr>
    <p:cSldViewPr snapToGrid="0" showGuides="1">
      <p:cViewPr varScale="1">
        <p:scale>
          <a:sx n="66" d="100"/>
          <a:sy n="66" d="100"/>
        </p:scale>
        <p:origin x="0" y="0"/>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038049" cy="464316"/>
          </a:xfrm>
          <a:prstGeom prst="rect">
            <a:avLst/>
          </a:prstGeom>
        </p:spPr>
        <p:txBody>
          <a:bodyPr vert="horz" lIns="87631" tIns="43816" rIns="87631" bIns="43816"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970784" y="1"/>
            <a:ext cx="3038049" cy="464316"/>
          </a:xfrm>
          <a:prstGeom prst="rect">
            <a:avLst/>
          </a:prstGeom>
        </p:spPr>
        <p:txBody>
          <a:bodyPr vert="horz" lIns="87631" tIns="43816" rIns="87631" bIns="43816" rtlCol="0"/>
          <a:lstStyle>
            <a:lvl1pPr algn="r">
              <a:defRPr sz="1100"/>
            </a:lvl1pPr>
          </a:lstStyle>
          <a:p>
            <a:fld id="{B4AD245C-091B-44E2-BFB0-BD94217887F7}" type="datetimeFigureOut">
              <a:rPr lang="en-US" smtClean="0">
                <a:latin typeface="Arial" panose="020B0604020202020204" pitchFamily="34" charset="0"/>
              </a:rPr>
              <a:t>9/9/2026</a:t>
            </a:fld>
            <a:endParaRPr lang="en-US">
              <a:latin typeface="Arial" panose="020B0604020202020204" pitchFamily="34" charset="0"/>
            </a:endParaRPr>
          </a:p>
        </p:txBody>
      </p:sp>
      <p:sp>
        <p:nvSpPr>
          <p:cNvPr id="4" name="Footer Placeholder 3"/>
          <p:cNvSpPr>
            <a:spLocks noGrp="1"/>
          </p:cNvSpPr>
          <p:nvPr>
            <p:ph type="ftr" sz="quarter" idx="2"/>
          </p:nvPr>
        </p:nvSpPr>
        <p:spPr>
          <a:xfrm>
            <a:off x="4" y="8830644"/>
            <a:ext cx="3038049" cy="464316"/>
          </a:xfrm>
          <a:prstGeom prst="rect">
            <a:avLst/>
          </a:prstGeom>
        </p:spPr>
        <p:txBody>
          <a:bodyPr vert="horz" lIns="87631" tIns="43816" rIns="87631" bIns="43816"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970784" y="8830644"/>
            <a:ext cx="3038049" cy="464316"/>
          </a:xfrm>
          <a:prstGeom prst="rect">
            <a:avLst/>
          </a:prstGeom>
        </p:spPr>
        <p:txBody>
          <a:bodyPr vert="horz" lIns="87631" tIns="43816" rIns="87631" bIns="43816"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4820"/>
          </a:xfrm>
          <a:prstGeom prst="rect">
            <a:avLst/>
          </a:prstGeom>
        </p:spPr>
        <p:txBody>
          <a:bodyPr vert="horz" lIns="94923" tIns="47461" rIns="94923" bIns="47461"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970939" y="1"/>
            <a:ext cx="3037840" cy="464820"/>
          </a:xfrm>
          <a:prstGeom prst="rect">
            <a:avLst/>
          </a:prstGeom>
        </p:spPr>
        <p:txBody>
          <a:bodyPr vert="horz" lIns="94923" tIns="47461" rIns="94923" bIns="47461" rtlCol="0"/>
          <a:lstStyle>
            <a:lvl1pPr algn="r">
              <a:defRPr sz="1200">
                <a:latin typeface="Arial" panose="020B0604020202020204" pitchFamily="34" charset="0"/>
              </a:defRPr>
            </a:lvl1pPr>
          </a:lstStyle>
          <a:p>
            <a:endParaRPr lang="en-US"/>
          </a:p>
        </p:txBody>
      </p:sp>
      <p:sp>
        <p:nvSpPr>
          <p:cNvPr id="4" name="Slide Image Placeholder 3"/>
          <p:cNvSpPr>
            <a:spLocks noGrp="1" noRot="1" noChangeAspect="1"/>
          </p:cNvSpPr>
          <p:nvPr>
            <p:ph type="sldImg" idx="2"/>
          </p:nvPr>
        </p:nvSpPr>
        <p:spPr>
          <a:xfrm>
            <a:off x="407988" y="698500"/>
            <a:ext cx="6194425" cy="3484563"/>
          </a:xfrm>
          <a:prstGeom prst="rect">
            <a:avLst/>
          </a:prstGeom>
          <a:noFill/>
          <a:ln w="12700">
            <a:solidFill>
              <a:prstClr val="black"/>
            </a:solidFill>
          </a:ln>
        </p:spPr>
        <p:txBody>
          <a:bodyPr vert="horz" lIns="94923" tIns="47461" rIns="94923" bIns="47461" rtlCol="0" anchor="ctr"/>
          <a:lstStyle/>
          <a:p>
            <a:endParaRPr lang="en-GB"/>
          </a:p>
        </p:txBody>
      </p:sp>
      <p:sp>
        <p:nvSpPr>
          <p:cNvPr id="5" name="Notes Placeholder 4"/>
          <p:cNvSpPr>
            <a:spLocks noGrp="1"/>
          </p:cNvSpPr>
          <p:nvPr>
            <p:ph type="body" sz="quarter" idx="3"/>
          </p:nvPr>
        </p:nvSpPr>
        <p:spPr>
          <a:xfrm>
            <a:off x="701040" y="4415791"/>
            <a:ext cx="5608320" cy="4183380"/>
          </a:xfrm>
          <a:prstGeom prst="rect">
            <a:avLst/>
          </a:prstGeom>
        </p:spPr>
        <p:txBody>
          <a:bodyPr vert="horz" lIns="94923" tIns="47461" rIns="94923" bIns="47461" rtlCol="0">
            <a:normAutofit/>
          </a:bodyPr>
          <a:lstStyle/>
          <a:p>
            <a:pPr lvl="0"/>
            <a:endParaRPr lang="en-US"/>
          </a:p>
        </p:txBody>
      </p:sp>
      <p:sp>
        <p:nvSpPr>
          <p:cNvPr id="6" name="Footer Placeholder 5"/>
          <p:cNvSpPr>
            <a:spLocks noGrp="1"/>
          </p:cNvSpPr>
          <p:nvPr>
            <p:ph type="ftr" sz="quarter" idx="4"/>
          </p:nvPr>
        </p:nvSpPr>
        <p:spPr>
          <a:xfrm>
            <a:off x="0" y="8829968"/>
            <a:ext cx="3037840" cy="464820"/>
          </a:xfrm>
          <a:prstGeom prst="rect">
            <a:avLst/>
          </a:prstGeom>
        </p:spPr>
        <p:txBody>
          <a:bodyPr vert="horz" lIns="94923" tIns="47461" rIns="94923" bIns="47461"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970939" y="8829968"/>
            <a:ext cx="3037840" cy="464820"/>
          </a:xfrm>
          <a:prstGeom prst="rect">
            <a:avLst/>
          </a:prstGeom>
        </p:spPr>
        <p:txBody>
          <a:bodyPr vert="horz" lIns="94923" tIns="47461" rIns="94923" bIns="47461" rtlCol="0" anchor="b"/>
          <a:lstStyle>
            <a:lvl1pPr algn="r">
              <a:defRPr sz="1200">
                <a:latin typeface="Arial" panose="020B0604020202020204" pitchFamily="34" charset="0"/>
              </a:defRPr>
            </a:lvl1pPr>
          </a:lstStyle>
          <a:p>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677075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969624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2170653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defTabSz="881390">
              <a:defRPr/>
            </a:pPr>
            <a:endParaRPr lang="en-US">
              <a:solidFill>
                <a:prstClr val="black"/>
              </a:solidFill>
            </a:endParaRPr>
          </a:p>
        </p:txBody>
      </p:sp>
    </p:spTree>
    <p:extLst>
      <p:ext uri="{BB962C8B-B14F-4D97-AF65-F5344CB8AC3E}">
        <p14:creationId xmlns:p14="http://schemas.microsoft.com/office/powerpoint/2010/main" val="118975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90006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3513192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1302142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3547984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774030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4229289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3167803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2436955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2130436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646876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3782198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1105281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2186730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2713042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408627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194425" cy="34845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3970734" y="8830658"/>
            <a:ext cx="3038145" cy="465742"/>
          </a:xfrm>
          <a:prstGeom prst="rect">
            <a:avLst/>
          </a:prstGeom>
        </p:spPr>
        <p:txBody>
          <a:bodyPr/>
          <a:lstStyle/>
          <a:p>
            <a:endParaRPr lang="en-GB"/>
          </a:p>
        </p:txBody>
      </p:sp>
    </p:spTree>
    <p:extLst>
      <p:ext uri="{BB962C8B-B14F-4D97-AF65-F5344CB8AC3E}">
        <p14:creationId xmlns:p14="http://schemas.microsoft.com/office/powerpoint/2010/main" val="2860441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p:cSld name="Title Slide - Black">
    <p:bg bwMode="gray">
      <p:bgPr>
        <a:solidFill>
          <a:schemeClr val="tx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502A076-65A9-2292-E04A-E900DAED166F}"/>
              </a:ext>
            </a:extLst>
          </p:cNvPr>
          <p:cNvGraphicFramePr>
            <a:graphicFrameLocks noChangeAspect="1"/>
          </p:cNvGraphicFramePr>
          <p:nvPr userDrawn="1">
            <p:custDataLst>
              <p:tags r:id="rId1"/>
            </p:custDataLst>
            <p:extLst>
              <p:ext uri="{D42A27DB-BD31-4B8C-83A1-F6EECF244321}">
                <p14:modId xmlns:p14="http://schemas.microsoft.com/office/powerpoint/2010/main" val="3053385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3" name="think-cell data - do not delete" hidden="1">
                        <a:extLst>
                          <a:ext uri="{FF2B5EF4-FFF2-40B4-BE49-F238E27FC236}">
                            <a16:creationId xmlns:a16="http://schemas.microsoft.com/office/drawing/2014/main" id="{B502A076-65A9-2292-E04A-E900DAED1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502920"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vert="horz"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2843344085"/>
      </p:ext>
    </p:extLst>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Divider - Deloitte green accent 1">
    <p:bg bwMode="gray">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0BE31DF-BF0E-007D-A994-229A46053417}"/>
              </a:ext>
            </a:extLst>
          </p:cNvPr>
          <p:cNvGraphicFramePr>
            <a:graphicFrameLocks noChangeAspect="1"/>
          </p:cNvGraphicFramePr>
          <p:nvPr userDrawn="1">
            <p:custDataLst>
              <p:tags r:id="rId1"/>
            </p:custDataLst>
            <p:extLst>
              <p:ext uri="{D42A27DB-BD31-4B8C-83A1-F6EECF244321}">
                <p14:modId xmlns:p14="http://schemas.microsoft.com/office/powerpoint/2010/main" val="14404997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5" name="think-cell data - do not delete" hidden="1">
                        <a:extLst>
                          <a:ext uri="{FF2B5EF4-FFF2-40B4-BE49-F238E27FC236}">
                            <a16:creationId xmlns:a16="http://schemas.microsoft.com/office/drawing/2014/main" id="{E0BE31DF-BF0E-007D-A994-229A460534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bwMode="gray">
          <a:xfrm>
            <a:off x="502920" y="1700213"/>
            <a:ext cx="10418233" cy="1592403"/>
          </a:xfrm>
          <a:prstGeom prst="rect">
            <a:avLst/>
          </a:prstGeom>
        </p:spPr>
        <p:txBody>
          <a:bodyPr vert="horz" anchor="b">
            <a:noAutofit/>
          </a:bodyPr>
          <a:lstStyle>
            <a:lvl1pPr>
              <a:lnSpc>
                <a:spcPct val="95000"/>
              </a:lnSpc>
              <a:defRPr sz="3600" b="1">
                <a:solidFill>
                  <a:schemeClr val="bg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2920" y="3423545"/>
            <a:ext cx="10418235"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8" name="Copyright">
            <a:extLst>
              <a:ext uri="{FF2B5EF4-FFF2-40B4-BE49-F238E27FC236}">
                <a16:creationId xmlns:a16="http://schemas.microsoft.com/office/drawing/2014/main" id="{AEF67F89-55D5-4B02-B284-7F2FE86B67EB}"/>
              </a:ext>
            </a:extLst>
          </p:cNvPr>
          <p:cNvSpPr txBox="1">
            <a:spLocks/>
          </p:cNvSpPr>
          <p:nvPr userDrawn="1"/>
        </p:nvSpPr>
        <p:spPr>
          <a:xfrm>
            <a:off x="501649" y="6477001"/>
            <a:ext cx="5355168" cy="276999"/>
          </a:xfrm>
          <a:prstGeom prst="rect">
            <a:avLst/>
          </a:prstGeom>
          <a:noFill/>
        </p:spPr>
        <p:txBody>
          <a:bodyPr wrap="square" lIns="0" tIns="0" rIns="0" bIns="0" rtlCol="0">
            <a:noAutofit/>
          </a:bodyPr>
          <a:lstStyle/>
          <a:p>
            <a:pPr marL="0" indent="0">
              <a:spcBef>
                <a:spcPts val="60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 Deloitte LLP and affiliated entities.</a:t>
            </a:r>
          </a:p>
        </p:txBody>
      </p:sp>
      <p:sp>
        <p:nvSpPr>
          <p:cNvPr id="10" name="Footer Placeholder 4"/>
          <p:cNvSpPr>
            <a:spLocks noGrp="1"/>
          </p:cNvSpPr>
          <p:nvPr>
            <p:ph type="ftr" sz="quarter" idx="3"/>
          </p:nvPr>
        </p:nvSpPr>
        <p:spPr>
          <a:xfrm>
            <a:off x="8145644" y="6477000"/>
            <a:ext cx="3086100" cy="138499"/>
          </a:xfrm>
          <a:prstGeom prst="rect">
            <a:avLst/>
          </a:prstGeom>
          <a:noFill/>
        </p:spPr>
        <p:txBody>
          <a:bodyPr wrap="square" lIns="0" tIns="0" rIns="0" bIns="0" rtlCol="0">
            <a:spAutoFit/>
          </a:bodyPr>
          <a:lstStyle>
            <a:lvl1pPr>
              <a:defRPr lang="en-US" sz="900">
                <a:solidFill>
                  <a:schemeClr val="bg1"/>
                </a:solidFill>
                <a:latin typeface="Calibri" panose="020F0502020204030204" pitchFamily="34" charset="0"/>
                <a:cs typeface="Calibri" panose="020F0502020204030204" pitchFamily="34" charset="0"/>
              </a:defRPr>
            </a:lvl1pPr>
          </a:lstStyle>
          <a:p>
            <a:pPr algn="r">
              <a:buSzPct val="100000"/>
              <a:buFont typeface="Arial"/>
              <a:buNone/>
            </a:pPr>
            <a:r>
              <a:rPr lang="en-US"/>
              <a:t>Presentation title</a:t>
            </a:r>
          </a:p>
        </p:txBody>
      </p:sp>
      <p:sp>
        <p:nvSpPr>
          <p:cNvPr id="11" name="Slide Number Placeholder 5"/>
          <p:cNvSpPr>
            <a:spLocks noGrp="1"/>
          </p:cNvSpPr>
          <p:nvPr>
            <p:ph type="sldNum" sz="quarter" idx="4"/>
          </p:nvPr>
        </p:nvSpPr>
        <p:spPr>
          <a:xfrm>
            <a:off x="11346395" y="6477000"/>
            <a:ext cx="343955" cy="138499"/>
          </a:xfrm>
          <a:prstGeom prst="rect">
            <a:avLst/>
          </a:prstGeom>
          <a:noFill/>
        </p:spPr>
        <p:txBody>
          <a:bodyPr wrap="square" lIns="0" tIns="0" rIns="0" bIns="0" rtlCol="0">
            <a:spAutoFit/>
          </a:bodyPr>
          <a:lstStyle>
            <a:lvl1pPr>
              <a:defRPr lang="en-US" sz="900" smtClean="0">
                <a:solidFill>
                  <a:schemeClr val="bg1"/>
                </a:solidFill>
                <a:latin typeface="Calibri" panose="020F0502020204030204" pitchFamily="34" charset="0"/>
                <a:cs typeface="Calibri" panose="020F0502020204030204" pitchFamily="34" charset="0"/>
              </a:defRPr>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2567830177"/>
      </p:ext>
    </p:extLst>
  </p:cSld>
  <p:clrMapOvr>
    <a:masterClrMapping/>
  </p:clrMapOvr>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Title, subtitle &amp; 1 column tex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5247D84-1D4A-1C82-1AF2-114509E18F2E}"/>
              </a:ext>
            </a:extLst>
          </p:cNvPr>
          <p:cNvGraphicFramePr>
            <a:graphicFrameLocks noChangeAspect="1"/>
          </p:cNvGraphicFramePr>
          <p:nvPr userDrawn="1">
            <p:custDataLst>
              <p:tags r:id="rId1"/>
            </p:custDataLst>
            <p:extLst>
              <p:ext uri="{D42A27DB-BD31-4B8C-83A1-F6EECF244321}">
                <p14:modId xmlns:p14="http://schemas.microsoft.com/office/powerpoint/2010/main" val="3673521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3" name="think-cell data - do not delete" hidden="1">
                        <a:extLst>
                          <a:ext uri="{FF2B5EF4-FFF2-40B4-BE49-F238E27FC236}">
                            <a16:creationId xmlns:a16="http://schemas.microsoft.com/office/drawing/2014/main" id="{05247D84-1D4A-1C82-1AF2-114509E18F2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p:cNvSpPr>
            <a:spLocks noGrp="1"/>
          </p:cNvSpPr>
          <p:nvPr>
            <p:ph idx="1"/>
          </p:nvPr>
        </p:nvSpPr>
        <p:spPr>
          <a:xfrm>
            <a:off x="502920" y="1665290"/>
            <a:ext cx="11187430" cy="471646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537CC665-FE98-46D6-975E-AFF0AE8ED2C8}"/>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8" name="Title Placeholder 1">
            <a:extLst>
              <a:ext uri="{FF2B5EF4-FFF2-40B4-BE49-F238E27FC236}">
                <a16:creationId xmlns:a16="http://schemas.microsoft.com/office/drawing/2014/main" id="{3BBABC4F-611D-45AA-96CD-C45E11F22888}"/>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5" name="Footer Placeholder 4"/>
          <p:cNvSpPr>
            <a:spLocks noGrp="1"/>
          </p:cNvSpPr>
          <p:nvPr>
            <p:ph type="ftr" sz="quarter" idx="3"/>
          </p:nvPr>
        </p:nvSpPr>
        <p:spPr>
          <a:xfrm>
            <a:off x="8145644" y="6477000"/>
            <a:ext cx="3086100" cy="138499"/>
          </a:xfrm>
          <a:prstGeom prst="rect">
            <a:avLst/>
          </a:prstGeom>
          <a:noFill/>
        </p:spPr>
        <p:txBody>
          <a:bodyPr wrap="square" lIns="0" tIns="0" rIns="0" bIns="0" rtlCol="0">
            <a:spAutoFit/>
          </a:bodyPr>
          <a:lstStyle>
            <a:lvl1pPr>
              <a:defRPr lang="en-US" sz="900">
                <a:latin typeface="Calibri" panose="020F0502020204030204" pitchFamily="34" charset="0"/>
                <a:cs typeface="Calibri" panose="020F0502020204030204" pitchFamily="34" charset="0"/>
              </a:defRPr>
            </a:lvl1pPr>
          </a:lstStyle>
          <a:p>
            <a:pPr algn="r">
              <a:buSzPct val="100000"/>
              <a:buFont typeface="Arial"/>
              <a:buNone/>
            </a:pPr>
            <a:r>
              <a:rPr lang="en-US"/>
              <a:t>Presentation title</a:t>
            </a:r>
          </a:p>
        </p:txBody>
      </p:sp>
      <p:sp>
        <p:nvSpPr>
          <p:cNvPr id="6" name="Slide Number Placeholder 5"/>
          <p:cNvSpPr>
            <a:spLocks noGrp="1"/>
          </p:cNvSpPr>
          <p:nvPr>
            <p:ph type="sldNum" sz="quarter" idx="4"/>
          </p:nvPr>
        </p:nvSpPr>
        <p:spPr>
          <a:xfrm>
            <a:off x="11346395" y="6477000"/>
            <a:ext cx="343955" cy="138499"/>
          </a:xfrm>
          <a:prstGeom prst="rect">
            <a:avLst/>
          </a:prstGeom>
          <a:noFill/>
        </p:spPr>
        <p:txBody>
          <a:bodyPr wrap="square" lIns="0" tIns="0" rIns="0" bIns="0" rtlCol="0">
            <a:spAutoFit/>
          </a:bodyPr>
          <a:lstStyle>
            <a:lvl1pPr>
              <a:defRPr lang="en-US" sz="900" smtClean="0">
                <a:latin typeface="Calibri" panose="020F0502020204030204" pitchFamily="34" charset="0"/>
                <a:cs typeface="Calibri" panose="020F0502020204030204" pitchFamily="34" charset="0"/>
              </a:defRPr>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181409349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Contents with imag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00A01F-F4A7-C8CD-03AF-90E5D7959225}"/>
              </a:ext>
            </a:extLst>
          </p:cNvPr>
          <p:cNvGraphicFramePr>
            <a:graphicFrameLocks noChangeAspect="1"/>
          </p:cNvGraphicFramePr>
          <p:nvPr userDrawn="1">
            <p:custDataLst>
              <p:tags r:id="rId1"/>
            </p:custDataLst>
            <p:extLst>
              <p:ext uri="{D42A27DB-BD31-4B8C-83A1-F6EECF244321}">
                <p14:modId xmlns:p14="http://schemas.microsoft.com/office/powerpoint/2010/main" val="1835041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3" name="think-cell data - do not delete" hidden="1">
                        <a:extLst>
                          <a:ext uri="{FF2B5EF4-FFF2-40B4-BE49-F238E27FC236}">
                            <a16:creationId xmlns:a16="http://schemas.microsoft.com/office/drawing/2014/main" id="{3500A01F-F4A7-C8CD-03AF-90E5D795922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9"/>
          <p:cNvSpPr>
            <a:spLocks noGrp="1"/>
          </p:cNvSpPr>
          <p:nvPr>
            <p:ph type="pic" sz="quarter" idx="15"/>
          </p:nvPr>
        </p:nvSpPr>
        <p:spPr>
          <a:xfrm>
            <a:off x="5604867" y="1665290"/>
            <a:ext cx="6084213" cy="4716460"/>
          </a:xfrm>
        </p:spPr>
        <p:txBody>
          <a:bodyPr/>
          <a:lstStyle/>
          <a:p>
            <a:r>
              <a:rPr lang="en-US" noProof="0"/>
              <a:t>Click icon to add picture</a:t>
            </a:r>
          </a:p>
        </p:txBody>
      </p:sp>
      <p:sp>
        <p:nvSpPr>
          <p:cNvPr id="6" name="Content Placeholder 3"/>
          <p:cNvSpPr>
            <a:spLocks noGrp="1"/>
          </p:cNvSpPr>
          <p:nvPr>
            <p:ph sz="quarter" idx="10"/>
          </p:nvPr>
        </p:nvSpPr>
        <p:spPr>
          <a:xfrm>
            <a:off x="502920" y="1665290"/>
            <a:ext cx="4333663" cy="4716460"/>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69D06B49-E6E5-4392-8EA1-B30AAFBED171}"/>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E531D209-151A-482F-AB69-497D00F558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8" name="Slide Number Placeholder 5"/>
          <p:cNvSpPr>
            <a:spLocks noGrp="1"/>
          </p:cNvSpPr>
          <p:nvPr>
            <p:ph type="sldNum" sz="quarter" idx="4"/>
          </p:nvPr>
        </p:nvSpPr>
        <p:spPr>
          <a:xfrm>
            <a:off x="11346395" y="6477000"/>
            <a:ext cx="343955" cy="138499"/>
          </a:xfrm>
          <a:prstGeom prst="rect">
            <a:avLst/>
          </a:prstGeom>
          <a:noFill/>
        </p:spPr>
        <p:txBody>
          <a:bodyPr wrap="square" lIns="0" tIns="0" rIns="0" bIns="0" rtlCol="0">
            <a:spAutoFit/>
          </a:bodyPr>
          <a:lstStyle>
            <a:lvl1pPr>
              <a:defRPr lang="en-US" sz="900" smtClean="0">
                <a:latin typeface="Calibri" panose="020F0502020204030204" pitchFamily="34" charset="0"/>
                <a:cs typeface="Calibri" panose="020F0502020204030204" pitchFamily="34" charset="0"/>
              </a:defRPr>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19363979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p:cSld name="Title &amp;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7EC3CD7-7770-1122-7875-FBC95ACFC651}"/>
              </a:ext>
            </a:extLst>
          </p:cNvPr>
          <p:cNvGraphicFramePr>
            <a:graphicFrameLocks noChangeAspect="1"/>
          </p:cNvGraphicFramePr>
          <p:nvPr userDrawn="1">
            <p:custDataLst>
              <p:tags r:id="rId1"/>
            </p:custDataLst>
            <p:extLst>
              <p:ext uri="{D42A27DB-BD31-4B8C-83A1-F6EECF244321}">
                <p14:modId xmlns:p14="http://schemas.microsoft.com/office/powerpoint/2010/main" val="1087959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3" name="think-cell data - do not delete" hidden="1">
                        <a:extLst>
                          <a:ext uri="{FF2B5EF4-FFF2-40B4-BE49-F238E27FC236}">
                            <a16:creationId xmlns:a16="http://schemas.microsoft.com/office/drawing/2014/main" id="{B7EC3CD7-7770-1122-7875-FBC95ACFC6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6" name="Footer Placeholder 4"/>
          <p:cNvSpPr>
            <a:spLocks noGrp="1"/>
          </p:cNvSpPr>
          <p:nvPr>
            <p:ph type="ftr" sz="quarter" idx="3"/>
          </p:nvPr>
        </p:nvSpPr>
        <p:spPr>
          <a:xfrm>
            <a:off x="8145644" y="6477000"/>
            <a:ext cx="3086100" cy="138499"/>
          </a:xfrm>
          <a:prstGeom prst="rect">
            <a:avLst/>
          </a:prstGeom>
          <a:noFill/>
        </p:spPr>
        <p:txBody>
          <a:bodyPr wrap="square" lIns="0" tIns="0" rIns="0" bIns="0" rtlCol="0">
            <a:spAutoFit/>
          </a:bodyPr>
          <a:lstStyle>
            <a:lvl1pPr>
              <a:defRPr lang="en-US" sz="900">
                <a:latin typeface="Calibri" panose="020F0502020204030204" pitchFamily="34" charset="0"/>
                <a:cs typeface="Calibri" panose="020F0502020204030204" pitchFamily="34" charset="0"/>
              </a:defRPr>
            </a:lvl1pPr>
          </a:lstStyle>
          <a:p>
            <a:pPr algn="r">
              <a:buSzPct val="100000"/>
              <a:buFont typeface="Arial"/>
              <a:buNone/>
            </a:pPr>
            <a:r>
              <a:rPr lang="en-US"/>
              <a:t>Presentation title</a:t>
            </a:r>
          </a:p>
        </p:txBody>
      </p:sp>
      <p:sp>
        <p:nvSpPr>
          <p:cNvPr id="7" name="Slide Number Placeholder 5"/>
          <p:cNvSpPr>
            <a:spLocks noGrp="1"/>
          </p:cNvSpPr>
          <p:nvPr>
            <p:ph type="sldNum" sz="quarter" idx="4"/>
          </p:nvPr>
        </p:nvSpPr>
        <p:spPr>
          <a:xfrm>
            <a:off x="11346395" y="6477000"/>
            <a:ext cx="343955" cy="138499"/>
          </a:xfrm>
          <a:prstGeom prst="rect">
            <a:avLst/>
          </a:prstGeom>
          <a:noFill/>
        </p:spPr>
        <p:txBody>
          <a:bodyPr wrap="square" lIns="0" tIns="0" rIns="0" bIns="0" rtlCol="0">
            <a:spAutoFit/>
          </a:bodyPr>
          <a:lstStyle>
            <a:lvl1pPr>
              <a:defRPr lang="en-US" sz="900" smtClean="0">
                <a:latin typeface="Calibri" panose="020F0502020204030204" pitchFamily="34" charset="0"/>
                <a:cs typeface="Calibri" panose="020F0502020204030204" pitchFamily="34" charset="0"/>
              </a:defRPr>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36418334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showMasterPhAnim="0" preserve="1">
  <p:cSld name="End slide Black">
    <p:bg>
      <p:bgPr>
        <a:solidFill>
          <a:schemeClr val="tx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69617C1-5ED5-AF83-59DE-61C4205BB97C}"/>
              </a:ext>
            </a:extLst>
          </p:cNvPr>
          <p:cNvGraphicFramePr>
            <a:graphicFrameLocks noChangeAspect="1"/>
          </p:cNvGraphicFramePr>
          <p:nvPr userDrawn="1">
            <p:custDataLst>
              <p:tags r:id="rId1"/>
            </p:custDataLst>
            <p:extLst>
              <p:ext uri="{D42A27DB-BD31-4B8C-83A1-F6EECF244321}">
                <p14:modId xmlns:p14="http://schemas.microsoft.com/office/powerpoint/2010/main" val="24889678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5" imgH="416" progId="TCLayout.ActiveDocument.1">
                  <p:embed/>
                </p:oleObj>
              </mc:Choice>
              <mc:Fallback>
                <p:oleObj name="think-cell Slide" r:id="rId3" imgW="415" imgH="416" progId="TCLayout.ActiveDocument.1">
                  <p:embed/>
                  <p:pic>
                    <p:nvPicPr>
                      <p:cNvPr id="2" name="think-cell data - do not delete" hidden="1">
                        <a:extLst>
                          <a:ext uri="{FF2B5EF4-FFF2-40B4-BE49-F238E27FC236}">
                            <a16:creationId xmlns:a16="http://schemas.microsoft.com/office/drawing/2014/main" id="{969617C1-5ED5-AF83-59DE-61C4205BB9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noAutofit/>
          </a:bodyPr>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50292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93152005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
            </p:custDataLst>
            <p:extLst>
              <p:ext uri="{D42A27DB-BD31-4B8C-83A1-F6EECF244321}">
                <p14:modId xmlns:p14="http://schemas.microsoft.com/office/powerpoint/2010/main" val="3488452559"/>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4" name="Object 3" hidden="1"/>
                      <p:cNvPicPr/>
                      <p:nvPr/>
                    </p:nvPicPr>
                    <p:blipFill>
                      <a:blip r:embed="rId10"/>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a:spLocks/>
          </p:cNvSpPr>
          <p:nvPr/>
        </p:nvSpPr>
        <p:spPr>
          <a:xfrm>
            <a:off x="50164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a:solidFill>
                  <a:schemeClr val="tx1"/>
                </a:solidFill>
                <a:latin typeface="Calibri" panose="020F0502020204030204" pitchFamily="34" charset="0"/>
                <a:cs typeface="Calibri" panose="020F0502020204030204" pitchFamily="34" charset="0"/>
              </a:rPr>
              <a:t>© Deloitte LLP and affiliated entities.</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Slide Number Placeholder 5"/>
          <p:cNvSpPr>
            <a:spLocks noGrp="1"/>
          </p:cNvSpPr>
          <p:nvPr>
            <p:ph type="sldNum" sz="quarter" idx="4"/>
          </p:nvPr>
        </p:nvSpPr>
        <p:spPr>
          <a:xfrm>
            <a:off x="11346395" y="6477000"/>
            <a:ext cx="343955" cy="138499"/>
          </a:xfrm>
          <a:prstGeom prst="rect">
            <a:avLst/>
          </a:prstGeom>
          <a:noFill/>
        </p:spPr>
        <p:txBody>
          <a:bodyPr wrap="square" lIns="0" tIns="0" rIns="0" bIns="0" rtlCol="0">
            <a:spAutoFit/>
          </a:bodyPr>
          <a:lstStyle>
            <a:lvl1pPr>
              <a:defRPr lang="en-US" sz="900" smtClean="0">
                <a:latin typeface="Calibri" panose="020F0502020204030204" pitchFamily="34" charset="0"/>
                <a:cs typeface="Calibri" panose="020F0502020204030204" pitchFamily="34" charset="0"/>
              </a:defRPr>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495659210"/>
      </p:ext>
    </p:extLst>
  </p:cSld>
  <p:clrMap bg1="lt1" tx1="dk1" bg2="lt2" tx2="dk2" accent1="accent1" accent2="accent2" accent3="accent3" accent4="accent4" accent5="accent5" accent6="accent6" hlink="hlink" folHlink="folHlink"/>
  <p:sldLayoutIdLst>
    <p:sldLayoutId id="2147483946" r:id="rId1"/>
    <p:sldLayoutId id="2147483952" r:id="rId2"/>
    <p:sldLayoutId id="2147483985" r:id="rId3"/>
    <p:sldLayoutId id="2147483987" r:id="rId4"/>
    <p:sldLayoutId id="2147483982" r:id="rId5"/>
    <p:sldLayoutId id="2147483992" r:id="rId6"/>
  </p:sldLayoutIdLst>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32" userDrawn="1">
          <p15:clr>
            <a:srgbClr val="F26B43"/>
          </p15:clr>
        </p15:guide>
        <p15:guide id="7" orient="horz" pos="192" userDrawn="1">
          <p15:clr>
            <a:srgbClr val="F26B43"/>
          </p15:clr>
        </p15:guide>
        <p15:guide id="45" orient="horz" pos="2160" userDrawn="1">
          <p15:clr>
            <a:srgbClr val="F26B43"/>
          </p15:clr>
        </p15:guide>
        <p15:guide id="47" pos="312" userDrawn="1">
          <p15:clr>
            <a:srgbClr val="F26B43"/>
          </p15:clr>
        </p15:guide>
        <p15:guide id="48" pos="7368" userDrawn="1">
          <p15:clr>
            <a:srgbClr val="F26B43"/>
          </p15:clr>
        </p15:guide>
        <p15:guide id="50" orient="horz" pos="4104" userDrawn="1">
          <p15:clr>
            <a:srgbClr val="F26B43"/>
          </p15:clr>
        </p15:guide>
        <p15:guide id="59" pos="3840" userDrawn="1">
          <p15:clr>
            <a:srgbClr val="F26B43"/>
          </p15:clr>
        </p15:guide>
        <p15:guide id="61" orient="horz" pos="1056" userDrawn="1">
          <p15:clr>
            <a:srgbClr val="F26B43"/>
          </p15:clr>
        </p15:guide>
        <p15:guide id="62" orient="horz" pos="641" userDrawn="1">
          <p15:clr>
            <a:srgbClr val="F26B43"/>
          </p15:clr>
        </p15:guide>
        <p15:guide id="63" pos="1512" userDrawn="1">
          <p15:clr>
            <a:srgbClr val="F26B43"/>
          </p15:clr>
        </p15:guide>
        <p15:guide id="64" pos="1392" userDrawn="1">
          <p15:clr>
            <a:srgbClr val="F26B43"/>
          </p15:clr>
        </p15:guide>
        <p15:guide id="65" pos="6168" userDrawn="1">
          <p15:clr>
            <a:srgbClr val="F26B43"/>
          </p15:clr>
        </p15:guide>
        <p15:guide id="66" pos="6288" userDrawn="1">
          <p15:clr>
            <a:srgbClr val="F26B43"/>
          </p15:clr>
        </p15:guide>
        <p15:guide id="67" pos="5088" userDrawn="1">
          <p15:clr>
            <a:srgbClr val="F26B43"/>
          </p15:clr>
        </p15:guide>
        <p15:guide id="68" pos="4968" userDrawn="1">
          <p15:clr>
            <a:srgbClr val="F26B43"/>
          </p15:clr>
        </p15:guide>
        <p15:guide id="69" pos="2712" userDrawn="1">
          <p15:clr>
            <a:srgbClr val="F26B43"/>
          </p15:clr>
        </p15:guide>
        <p15:guide id="70" pos="2592" userDrawn="1">
          <p15:clr>
            <a:srgbClr val="F26B43"/>
          </p15:clr>
        </p15:guide>
        <p15:guide id="71" pos="3768" userDrawn="1">
          <p15:clr>
            <a:srgbClr val="F26B43"/>
          </p15:clr>
        </p15:guide>
        <p15:guide id="72" pos="391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7.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4.png"/><Relationship Id="rId5" Type="http://schemas.openxmlformats.org/officeDocument/2006/relationships/image" Target="../media/image2.emf"/><Relationship Id="rId4" Type="http://schemas.openxmlformats.org/officeDocument/2006/relationships/oleObject" Target="../embeddings/oleObject8.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2.emf"/><Relationship Id="rId4" Type="http://schemas.openxmlformats.org/officeDocument/2006/relationships/oleObject" Target="../embeddings/oleObject9.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12.xml"/><Relationship Id="rId5" Type="http://schemas.openxmlformats.org/officeDocument/2006/relationships/image" Target="../media/image2.emf"/><Relationship Id="rId4" Type="http://schemas.openxmlformats.org/officeDocument/2006/relationships/oleObject" Target="../embeddings/oleObject10.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2.emf"/><Relationship Id="rId4" Type="http://schemas.openxmlformats.org/officeDocument/2006/relationships/oleObject" Target="../embeddings/oleObject11.bin"/></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6.xml"/><Relationship Id="rId7"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tags" Target="../tags/tag14.xml"/><Relationship Id="rId6" Type="http://schemas.openxmlformats.org/officeDocument/2006/relationships/image" Target="../media/image5.png"/><Relationship Id="rId5" Type="http://schemas.openxmlformats.org/officeDocument/2006/relationships/image" Target="../media/image2.emf"/><Relationship Id="rId4" Type="http://schemas.openxmlformats.org/officeDocument/2006/relationships/oleObject" Target="../embeddings/oleObject12.bin"/><Relationship Id="rId9" Type="http://schemas.openxmlformats.org/officeDocument/2006/relationships/hyperlink" Target="https://www.theglobeandmail.com/investing/globe-advisor/advisor-news/article-new-ciro-guidance-proposes-broader-support-for-diy-investors/"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15.xml"/><Relationship Id="rId5" Type="http://schemas.openxmlformats.org/officeDocument/2006/relationships/image" Target="../media/image2.emf"/><Relationship Id="rId4" Type="http://schemas.openxmlformats.org/officeDocument/2006/relationships/oleObject" Target="../embeddings/oleObject13.bin"/></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8.xml"/><Relationship Id="rId7" Type="http://schemas.openxmlformats.org/officeDocument/2006/relationships/image" Target="../media/image9.png"/><Relationship Id="rId2" Type="http://schemas.openxmlformats.org/officeDocument/2006/relationships/slideLayout" Target="../slideLayouts/slideLayout5.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2.emf"/><Relationship Id="rId10" Type="http://schemas.openxmlformats.org/officeDocument/2006/relationships/image" Target="../media/image12.png"/><Relationship Id="rId4" Type="http://schemas.openxmlformats.org/officeDocument/2006/relationships/oleObject" Target="../embeddings/oleObject14.bin"/><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9.xml"/><Relationship Id="rId7"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7.xml"/><Relationship Id="rId6" Type="http://schemas.openxmlformats.org/officeDocument/2006/relationships/image" Target="../media/image13.png"/><Relationship Id="rId5" Type="http://schemas.openxmlformats.org/officeDocument/2006/relationships/image" Target="../media/image2.emf"/><Relationship Id="rId4" Type="http://schemas.openxmlformats.org/officeDocument/2006/relationships/oleObject" Target="../embeddings/oleObject15.bin"/><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2.emf"/><Relationship Id="rId4" Type="http://schemas.openxmlformats.org/officeDocument/2006/relationships/oleObject" Target="../embeddings/oleObject16.bin"/></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11.xml"/><Relationship Id="rId7"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9.xml"/><Relationship Id="rId6" Type="http://schemas.openxmlformats.org/officeDocument/2006/relationships/image" Target="../media/image17.png"/><Relationship Id="rId5" Type="http://schemas.openxmlformats.org/officeDocument/2006/relationships/image" Target="../media/image2.emf"/><Relationship Id="rId4" Type="http://schemas.openxmlformats.org/officeDocument/2006/relationships/oleObject" Target="../embeddings/oleObject17.bin"/></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12.xml"/><Relationship Id="rId7" Type="http://schemas.openxmlformats.org/officeDocument/2006/relationships/image" Target="../media/image21.png"/><Relationship Id="rId12"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20.xml"/><Relationship Id="rId6" Type="http://schemas.openxmlformats.org/officeDocument/2006/relationships/image" Target="../media/image20.png"/><Relationship Id="rId11" Type="http://schemas.openxmlformats.org/officeDocument/2006/relationships/image" Target="../media/image17.png"/><Relationship Id="rId5" Type="http://schemas.openxmlformats.org/officeDocument/2006/relationships/image" Target="../media/image2.emf"/><Relationship Id="rId10" Type="http://schemas.openxmlformats.org/officeDocument/2006/relationships/image" Target="../media/image23.png"/><Relationship Id="rId4" Type="http://schemas.openxmlformats.org/officeDocument/2006/relationships/oleObject" Target="../embeddings/oleObject18.bin"/><Relationship Id="rId9" Type="http://schemas.microsoft.com/office/2007/relationships/hdphoto" Target="../media/hdphoto1.wdp"/></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9.png"/><Relationship Id="rId3" Type="http://schemas.openxmlformats.org/officeDocument/2006/relationships/notesSlide" Target="../notesSlides/notesSlide13.xml"/><Relationship Id="rId7" Type="http://schemas.openxmlformats.org/officeDocument/2006/relationships/image" Target="../media/image25.png"/><Relationship Id="rId12"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21.xml"/><Relationship Id="rId6" Type="http://schemas.openxmlformats.org/officeDocument/2006/relationships/image" Target="../media/image24.jpeg"/><Relationship Id="rId11" Type="http://schemas.openxmlformats.org/officeDocument/2006/relationships/image" Target="../media/image17.png"/><Relationship Id="rId5" Type="http://schemas.openxmlformats.org/officeDocument/2006/relationships/image" Target="../media/image2.emf"/><Relationship Id="rId10" Type="http://schemas.openxmlformats.org/officeDocument/2006/relationships/image" Target="../media/image28.png"/><Relationship Id="rId4" Type="http://schemas.openxmlformats.org/officeDocument/2006/relationships/oleObject" Target="../embeddings/oleObject19.bin"/><Relationship Id="rId9" Type="http://schemas.openxmlformats.org/officeDocument/2006/relationships/image" Target="../media/image27.png"/><Relationship Id="rId14" Type="http://schemas.microsoft.com/office/2007/relationships/hdphoto" Target="../media/hdphoto2.wdp"/></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14.xml"/><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slideLayout" Target="../slideLayouts/slideLayout3.xml"/><Relationship Id="rId1" Type="http://schemas.openxmlformats.org/officeDocument/2006/relationships/tags" Target="../tags/tag22.xml"/><Relationship Id="rId6" Type="http://schemas.openxmlformats.org/officeDocument/2006/relationships/image" Target="../media/image19.png"/><Relationship Id="rId11" Type="http://schemas.openxmlformats.org/officeDocument/2006/relationships/image" Target="../media/image34.png"/><Relationship Id="rId5" Type="http://schemas.openxmlformats.org/officeDocument/2006/relationships/image" Target="../media/image2.emf"/><Relationship Id="rId10" Type="http://schemas.openxmlformats.org/officeDocument/2006/relationships/image" Target="../media/image33.png"/><Relationship Id="rId4" Type="http://schemas.openxmlformats.org/officeDocument/2006/relationships/oleObject" Target="../embeddings/oleObject20.bin"/><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hyperlink" Target="https://consumer.ftc.gov/system/files/consumer_ftc_gov/pdf/CSN-Top-Frauds-2022-508.pdf" TargetMode="External"/><Relationship Id="rId13" Type="http://schemas.openxmlformats.org/officeDocument/2006/relationships/image" Target="../media/image38.png"/><Relationship Id="rId3" Type="http://schemas.openxmlformats.org/officeDocument/2006/relationships/notesSlide" Target="../notesSlides/notesSlide15.xml"/><Relationship Id="rId7" Type="http://schemas.openxmlformats.org/officeDocument/2006/relationships/hyperlink" Target="https://socialcapitalmarkets.net/social-media-financial-advice-misleads-gen-z-millennials/" TargetMode="External"/><Relationship Id="rId12" Type="http://schemas.openxmlformats.org/officeDocument/2006/relationships/image" Target="../media/image37.png"/><Relationship Id="rId17" Type="http://schemas.openxmlformats.org/officeDocument/2006/relationships/image" Target="../media/image42.png"/><Relationship Id="rId2" Type="http://schemas.openxmlformats.org/officeDocument/2006/relationships/slideLayout" Target="../slideLayouts/slideLayout3.xml"/><Relationship Id="rId16" Type="http://schemas.openxmlformats.org/officeDocument/2006/relationships/image" Target="../media/image41.png"/><Relationship Id="rId1" Type="http://schemas.openxmlformats.org/officeDocument/2006/relationships/tags" Target="../tags/tag23.xml"/><Relationship Id="rId6" Type="http://schemas.openxmlformats.org/officeDocument/2006/relationships/image" Target="../media/image17.png"/><Relationship Id="rId11" Type="http://schemas.openxmlformats.org/officeDocument/2006/relationships/image" Target="../media/image36.png"/><Relationship Id="rId5" Type="http://schemas.openxmlformats.org/officeDocument/2006/relationships/image" Target="../media/image2.emf"/><Relationship Id="rId15" Type="http://schemas.openxmlformats.org/officeDocument/2006/relationships/image" Target="../media/image40.png"/><Relationship Id="rId10" Type="http://schemas.openxmlformats.org/officeDocument/2006/relationships/hyperlink" Target="https://www.sciencedirect.com/science/article/abs/pii/S0148296319300049?via%3Dihub" TargetMode="External"/><Relationship Id="rId4" Type="http://schemas.openxmlformats.org/officeDocument/2006/relationships/oleObject" Target="../embeddings/oleObject21.bin"/><Relationship Id="rId9" Type="http://schemas.openxmlformats.org/officeDocument/2006/relationships/hyperlink" Target="https://www.osc.ca/en/investors/gamification-revisited-new-experimental-findings-retail-investing" TargetMode="External"/><Relationship Id="rId14" Type="http://schemas.openxmlformats.org/officeDocument/2006/relationships/image" Target="../media/image39.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notesSlide" Target="../notesSlides/notesSlide16.xml"/><Relationship Id="rId7" Type="http://schemas.openxmlformats.org/officeDocument/2006/relationships/image" Target="../media/image44.png"/><Relationship Id="rId2" Type="http://schemas.openxmlformats.org/officeDocument/2006/relationships/slideLayout" Target="../slideLayouts/slideLayout3.xml"/><Relationship Id="rId1" Type="http://schemas.openxmlformats.org/officeDocument/2006/relationships/tags" Target="../tags/tag24.xml"/><Relationship Id="rId6" Type="http://schemas.openxmlformats.org/officeDocument/2006/relationships/image" Target="../media/image43.jpeg"/><Relationship Id="rId11" Type="http://schemas.openxmlformats.org/officeDocument/2006/relationships/image" Target="../media/image47.png"/><Relationship Id="rId5" Type="http://schemas.openxmlformats.org/officeDocument/2006/relationships/image" Target="../media/image2.emf"/><Relationship Id="rId10" Type="http://schemas.openxmlformats.org/officeDocument/2006/relationships/image" Target="../media/image46.png"/><Relationship Id="rId4" Type="http://schemas.openxmlformats.org/officeDocument/2006/relationships/oleObject" Target="../embeddings/oleObject22.bin"/><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notesSlide" Target="../notesSlides/notesSlide17.xml"/><Relationship Id="rId7" Type="http://schemas.openxmlformats.org/officeDocument/2006/relationships/image" Target="../media/image49.svg"/><Relationship Id="rId2" Type="http://schemas.openxmlformats.org/officeDocument/2006/relationships/slideLayout" Target="../slideLayouts/slideLayout3.xml"/><Relationship Id="rId1" Type="http://schemas.openxmlformats.org/officeDocument/2006/relationships/tags" Target="../tags/tag25.xml"/><Relationship Id="rId6" Type="http://schemas.openxmlformats.org/officeDocument/2006/relationships/image" Target="../media/image48.png"/><Relationship Id="rId5" Type="http://schemas.openxmlformats.org/officeDocument/2006/relationships/image" Target="../media/image2.emf"/><Relationship Id="rId4" Type="http://schemas.openxmlformats.org/officeDocument/2006/relationships/oleObject" Target="../embeddings/oleObject23.bin"/><Relationship Id="rId9" Type="http://schemas.openxmlformats.org/officeDocument/2006/relationships/image" Target="../media/image51.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6.xml"/><Relationship Id="rId5" Type="http://schemas.openxmlformats.org/officeDocument/2006/relationships/image" Target="../media/image2.emf"/><Relationship Id="rId4" Type="http://schemas.openxmlformats.org/officeDocument/2006/relationships/oleObject" Target="../embeddings/oleObject24.bin"/></Relationships>
</file>

<file path=ppt/slides/_rels/slide19.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notesSlide" Target="../notesSlides/notesSlide19.xml"/><Relationship Id="rId7" Type="http://schemas.openxmlformats.org/officeDocument/2006/relationships/image" Target="../media/image53.svg"/><Relationship Id="rId2" Type="http://schemas.openxmlformats.org/officeDocument/2006/relationships/slideLayout" Target="../slideLayouts/slideLayout3.xml"/><Relationship Id="rId1" Type="http://schemas.openxmlformats.org/officeDocument/2006/relationships/tags" Target="../tags/tag27.xml"/><Relationship Id="rId6" Type="http://schemas.openxmlformats.org/officeDocument/2006/relationships/image" Target="../media/image52.svg"/><Relationship Id="rId11" Type="http://schemas.openxmlformats.org/officeDocument/2006/relationships/image" Target="../media/image57.svg"/><Relationship Id="rId5" Type="http://schemas.openxmlformats.org/officeDocument/2006/relationships/image" Target="../media/image2.emf"/><Relationship Id="rId10" Type="http://schemas.openxmlformats.org/officeDocument/2006/relationships/image" Target="../media/image56.svg"/><Relationship Id="rId4" Type="http://schemas.openxmlformats.org/officeDocument/2006/relationships/oleObject" Target="../embeddings/oleObject25.bin"/><Relationship Id="rId9" Type="http://schemas.openxmlformats.org/officeDocument/2006/relationships/image" Target="../media/image55.sv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28.xml"/><Relationship Id="rId6" Type="http://schemas.openxmlformats.org/officeDocument/2006/relationships/hyperlink" Target="http://www.deloitte.com/about" TargetMode="External"/><Relationship Id="rId5" Type="http://schemas.openxmlformats.org/officeDocument/2006/relationships/image" Target="../media/image2.emf"/><Relationship Id="rId4" Type="http://schemas.openxmlformats.org/officeDocument/2006/relationships/oleObject" Target="../embeddings/oleObject26.bin"/></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050607"/>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A215428-DE27-E776-F89A-3231BE500C8B}"/>
              </a:ext>
            </a:extLst>
          </p:cNvPr>
          <p:cNvGraphicFramePr>
            <a:graphicFrameLocks noChangeAspect="1"/>
          </p:cNvGraphicFramePr>
          <p:nvPr>
            <p:custDataLst>
              <p:tags r:id="rId1"/>
            </p:custDataLst>
            <p:extLst>
              <p:ext uri="{D42A27DB-BD31-4B8C-83A1-F6EECF244321}">
                <p14:modId xmlns:p14="http://schemas.microsoft.com/office/powerpoint/2010/main" val="19906860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4" name="think-cell data - do not delete" hidden="1">
                        <a:extLst>
                          <a:ext uri="{FF2B5EF4-FFF2-40B4-BE49-F238E27FC236}">
                            <a16:creationId xmlns:a16="http://schemas.microsoft.com/office/drawing/2014/main" id="{0A215428-DE27-E776-F89A-3231BE500C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 name="Picture Placeholder 9">
            <a:extLst>
              <a:ext uri="{FF2B5EF4-FFF2-40B4-BE49-F238E27FC236}">
                <a16:creationId xmlns:a16="http://schemas.microsoft.com/office/drawing/2014/main" id="{9D5C5EF4-9CCA-4665-825B-F674776CB05F}"/>
              </a:ext>
            </a:extLst>
          </p:cNvPr>
          <p:cNvPicPr>
            <a:picLocks noGrp="1" noChangeAspect="1"/>
          </p:cNvPicPr>
          <p:nvPr>
            <p:ph type="pic" sz="quarter" idx="11"/>
          </p:nvPr>
        </p:nvPicPr>
        <p:blipFill>
          <a:blip r:embed="rId6"/>
          <a:srcRect/>
          <a:stretch/>
        </p:blipFill>
        <p:spPr>
          <a:xfrm>
            <a:off x="3393716" y="304800"/>
            <a:ext cx="5400000" cy="5400000"/>
          </a:xfrm>
        </p:spPr>
      </p:pic>
      <p:sp>
        <p:nvSpPr>
          <p:cNvPr id="2" name="Title 1">
            <a:extLst>
              <a:ext uri="{FF2B5EF4-FFF2-40B4-BE49-F238E27FC236}">
                <a16:creationId xmlns:a16="http://schemas.microsoft.com/office/drawing/2014/main" id="{1A53A8AD-38C0-4854-81B3-9B99B4E007ED}"/>
              </a:ext>
            </a:extLst>
          </p:cNvPr>
          <p:cNvSpPr>
            <a:spLocks noGrp="1"/>
          </p:cNvSpPr>
          <p:nvPr>
            <p:ph type="ctrTitle"/>
          </p:nvPr>
        </p:nvSpPr>
        <p:spPr>
          <a:xfrm>
            <a:off x="501651" y="4902673"/>
            <a:ext cx="8603438" cy="895983"/>
          </a:xfrm>
        </p:spPr>
        <p:txBody>
          <a:bodyPr vert="horz"/>
          <a:lstStyle/>
          <a:p>
            <a:r>
              <a:rPr lang="en-US" sz="2800" b="1">
                <a:latin typeface="+mj-lt"/>
              </a:rPr>
              <a:t>CIRO’s New OEO Guidance: Potential Opportunities</a:t>
            </a:r>
          </a:p>
        </p:txBody>
      </p:sp>
      <p:sp>
        <p:nvSpPr>
          <p:cNvPr id="5" name="Text Placeholder 4"/>
          <p:cNvSpPr>
            <a:spLocks noGrp="1"/>
          </p:cNvSpPr>
          <p:nvPr>
            <p:ph type="body" sz="quarter" idx="10"/>
          </p:nvPr>
        </p:nvSpPr>
        <p:spPr>
          <a:xfrm>
            <a:off x="501651" y="6038850"/>
            <a:ext cx="7832724" cy="273050"/>
          </a:xfrm>
        </p:spPr>
        <p:txBody>
          <a:bodyPr/>
          <a:lstStyle/>
          <a:p>
            <a:r>
              <a:rPr lang="en-US" sz="1800">
                <a:latin typeface="+mn-lt"/>
              </a:rPr>
              <a:t>A Deloitte Perspective</a:t>
            </a:r>
            <a:br>
              <a:rPr lang="en-US">
                <a:latin typeface="+mn-lt"/>
              </a:rPr>
            </a:br>
            <a:r>
              <a:rPr lang="en-US" b="0">
                <a:latin typeface="Calibri Light" panose="020F0302020204030204" pitchFamily="34" charset="0"/>
                <a:ea typeface="Calibri Light" panose="020F0302020204030204" pitchFamily="34" charset="0"/>
                <a:cs typeface="Calibri Light" panose="020F0302020204030204" pitchFamily="34" charset="0"/>
              </a:rPr>
              <a:t>October 2025</a:t>
            </a:r>
          </a:p>
        </p:txBody>
      </p:sp>
    </p:spTree>
    <p:extLst>
      <p:ext uri="{BB962C8B-B14F-4D97-AF65-F5344CB8AC3E}">
        <p14:creationId xmlns:p14="http://schemas.microsoft.com/office/powerpoint/2010/main" val="45713543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33497259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8" name="Picture 17">
            <a:extLst>
              <a:ext uri="{FF2B5EF4-FFF2-40B4-BE49-F238E27FC236}">
                <a16:creationId xmlns:a16="http://schemas.microsoft.com/office/drawing/2014/main" id="{114FFE96-421A-E3B1-C51F-C9EA4B4E8FFE}"/>
              </a:ext>
            </a:extLst>
          </p:cNvPr>
          <p:cNvPicPr>
            <a:picLocks noChangeAspect="1"/>
          </p:cNvPicPr>
          <p:nvPr/>
        </p:nvPicPr>
        <p:blipFill>
          <a:blip r:embed="rId6"/>
          <a:stretch>
            <a:fillRect/>
          </a:stretch>
        </p:blipFill>
        <p:spPr>
          <a:xfrm rot="2262870">
            <a:off x="6692710" y="1206481"/>
            <a:ext cx="4317443" cy="4317443"/>
          </a:xfrm>
          <a:prstGeom prst="rect">
            <a:avLst/>
          </a:prstGeom>
        </p:spPr>
      </p:pic>
      <p:sp>
        <p:nvSpPr>
          <p:cNvPr id="4" name="Title 3"/>
          <p:cNvSpPr>
            <a:spLocks noGrp="1"/>
          </p:cNvSpPr>
          <p:nvPr>
            <p:ph type="title"/>
          </p:nvPr>
        </p:nvSpPr>
        <p:spPr/>
        <p:txBody>
          <a:bodyPr vert="horz"/>
          <a:lstStyle/>
          <a:p>
            <a:r>
              <a:rPr lang="en-US" noProof="0"/>
              <a:t>Table of Contents</a:t>
            </a:r>
          </a:p>
        </p:txBody>
      </p:sp>
      <p:sp>
        <p:nvSpPr>
          <p:cNvPr id="5" name="Slide Number Placeholder 4"/>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2</a:t>
            </a:fld>
            <a:endParaRPr lang="en-US"/>
          </a:p>
        </p:txBody>
      </p:sp>
      <p:grpSp>
        <p:nvGrpSpPr>
          <p:cNvPr id="11" name="Group 10">
            <a:extLst>
              <a:ext uri="{FF2B5EF4-FFF2-40B4-BE49-F238E27FC236}">
                <a16:creationId xmlns:a16="http://schemas.microsoft.com/office/drawing/2014/main" id="{EB551527-3D0A-EFD2-5BD5-E9EE91D191EF}"/>
              </a:ext>
            </a:extLst>
          </p:cNvPr>
          <p:cNvGrpSpPr>
            <a:grpSpLocks/>
          </p:cNvGrpSpPr>
          <p:nvPr/>
        </p:nvGrpSpPr>
        <p:grpSpPr>
          <a:xfrm>
            <a:off x="498475" y="1707373"/>
            <a:ext cx="5220000" cy="757255"/>
            <a:chOff x="498475" y="1408855"/>
            <a:chExt cx="5220000" cy="757255"/>
          </a:xfrm>
        </p:grpSpPr>
        <p:sp>
          <p:nvSpPr>
            <p:cNvPr id="36" name="Rectangle 35">
              <a:extLst>
                <a:ext uri="{FF2B5EF4-FFF2-40B4-BE49-F238E27FC236}">
                  <a16:creationId xmlns:a16="http://schemas.microsoft.com/office/drawing/2014/main" id="{E3D4DDC2-182C-B7D8-C0F2-084E0462A323}"/>
                </a:ext>
              </a:extLst>
            </p:cNvPr>
            <p:cNvSpPr>
              <a:spLocks/>
            </p:cNvSpPr>
            <p:nvPr/>
          </p:nvSpPr>
          <p:spPr bwMode="gray">
            <a:xfrm>
              <a:off x="498475" y="1408855"/>
              <a:ext cx="5220000" cy="757255"/>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809625">
                <a:lnSpc>
                  <a:spcPct val="106000"/>
                </a:lnSpc>
                <a:buFont typeface="Wingdings 2" pitchFamily="18" charset="2"/>
                <a:buNone/>
              </a:pPr>
              <a:r>
                <a:rPr lang="en-CA" sz="1600" b="1"/>
                <a:t>Executive Summary</a:t>
              </a:r>
              <a:endParaRPr lang="en-CA" sz="1400" b="1"/>
            </a:p>
          </p:txBody>
        </p:sp>
        <p:sp>
          <p:nvSpPr>
            <p:cNvPr id="2" name="Rectangle 1">
              <a:extLst>
                <a:ext uri="{FF2B5EF4-FFF2-40B4-BE49-F238E27FC236}">
                  <a16:creationId xmlns:a16="http://schemas.microsoft.com/office/drawing/2014/main" id="{38A5589B-1C6D-39B7-112A-E9E4D2C38001}"/>
                </a:ext>
              </a:extLst>
            </p:cNvPr>
            <p:cNvSpPr>
              <a:spLocks/>
            </p:cNvSpPr>
            <p:nvPr/>
          </p:nvSpPr>
          <p:spPr bwMode="gray">
            <a:xfrm>
              <a:off x="612775" y="1482682"/>
              <a:ext cx="558800" cy="609600"/>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CA" sz="2800" b="1">
                  <a:solidFill>
                    <a:schemeClr val="bg1"/>
                  </a:solidFill>
                </a:rPr>
                <a:t>1</a:t>
              </a:r>
              <a:endParaRPr lang="en-CA" sz="1600" b="1">
                <a:solidFill>
                  <a:schemeClr val="bg1"/>
                </a:solidFill>
              </a:endParaRPr>
            </a:p>
          </p:txBody>
        </p:sp>
      </p:grpSp>
      <p:grpSp>
        <p:nvGrpSpPr>
          <p:cNvPr id="10" name="Group 9">
            <a:extLst>
              <a:ext uri="{FF2B5EF4-FFF2-40B4-BE49-F238E27FC236}">
                <a16:creationId xmlns:a16="http://schemas.microsoft.com/office/drawing/2014/main" id="{7B1D242E-DA94-D9FA-43E0-2F3B76A3FCB9}"/>
              </a:ext>
            </a:extLst>
          </p:cNvPr>
          <p:cNvGrpSpPr>
            <a:grpSpLocks/>
          </p:cNvGrpSpPr>
          <p:nvPr/>
        </p:nvGrpSpPr>
        <p:grpSpPr>
          <a:xfrm>
            <a:off x="498475" y="2656497"/>
            <a:ext cx="5220000" cy="757255"/>
            <a:chOff x="498475" y="2604800"/>
            <a:chExt cx="5220000" cy="757255"/>
          </a:xfrm>
        </p:grpSpPr>
        <p:sp>
          <p:nvSpPr>
            <p:cNvPr id="37" name="Rectangle 36">
              <a:extLst>
                <a:ext uri="{FF2B5EF4-FFF2-40B4-BE49-F238E27FC236}">
                  <a16:creationId xmlns:a16="http://schemas.microsoft.com/office/drawing/2014/main" id="{23F02B34-3995-399B-4C9C-35913D0958D0}"/>
                </a:ext>
              </a:extLst>
            </p:cNvPr>
            <p:cNvSpPr>
              <a:spLocks/>
            </p:cNvSpPr>
            <p:nvPr/>
          </p:nvSpPr>
          <p:spPr bwMode="gray">
            <a:xfrm>
              <a:off x="498475" y="2604800"/>
              <a:ext cx="5220000" cy="757255"/>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809625">
                <a:lnSpc>
                  <a:spcPct val="106000"/>
                </a:lnSpc>
                <a:buFont typeface="Wingdings 2" pitchFamily="18" charset="2"/>
                <a:buNone/>
              </a:pPr>
              <a:r>
                <a:rPr lang="en-CA" sz="1600" b="1"/>
                <a:t>Regulatory Context &amp; Market Implications</a:t>
              </a:r>
            </a:p>
          </p:txBody>
        </p:sp>
        <p:sp>
          <p:nvSpPr>
            <p:cNvPr id="3" name="Rectangle 2">
              <a:extLst>
                <a:ext uri="{FF2B5EF4-FFF2-40B4-BE49-F238E27FC236}">
                  <a16:creationId xmlns:a16="http://schemas.microsoft.com/office/drawing/2014/main" id="{D24853C8-81EB-B6FD-C764-1DDF654F4505}"/>
                </a:ext>
              </a:extLst>
            </p:cNvPr>
            <p:cNvSpPr>
              <a:spLocks/>
            </p:cNvSpPr>
            <p:nvPr/>
          </p:nvSpPr>
          <p:spPr bwMode="gray">
            <a:xfrm>
              <a:off x="612775" y="2678627"/>
              <a:ext cx="558800" cy="609600"/>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CA" sz="2800" b="1">
                  <a:solidFill>
                    <a:schemeClr val="bg1"/>
                  </a:solidFill>
                </a:rPr>
                <a:t>2</a:t>
              </a:r>
              <a:endParaRPr lang="en-CA" sz="1600" b="1">
                <a:solidFill>
                  <a:schemeClr val="bg1"/>
                </a:solidFill>
              </a:endParaRPr>
            </a:p>
          </p:txBody>
        </p:sp>
      </p:grpSp>
      <p:grpSp>
        <p:nvGrpSpPr>
          <p:cNvPr id="13" name="Group 12">
            <a:extLst>
              <a:ext uri="{FF2B5EF4-FFF2-40B4-BE49-F238E27FC236}">
                <a16:creationId xmlns:a16="http://schemas.microsoft.com/office/drawing/2014/main" id="{7608D966-7C0F-4974-F944-8A5E6911B241}"/>
              </a:ext>
            </a:extLst>
          </p:cNvPr>
          <p:cNvGrpSpPr>
            <a:grpSpLocks/>
          </p:cNvGrpSpPr>
          <p:nvPr/>
        </p:nvGrpSpPr>
        <p:grpSpPr>
          <a:xfrm>
            <a:off x="498475" y="4554745"/>
            <a:ext cx="5220000" cy="757255"/>
            <a:chOff x="498475" y="3800745"/>
            <a:chExt cx="5220000" cy="757255"/>
          </a:xfrm>
        </p:grpSpPr>
        <p:sp>
          <p:nvSpPr>
            <p:cNvPr id="38" name="Rectangle 37">
              <a:extLst>
                <a:ext uri="{FF2B5EF4-FFF2-40B4-BE49-F238E27FC236}">
                  <a16:creationId xmlns:a16="http://schemas.microsoft.com/office/drawing/2014/main" id="{2E01B912-DE66-3EC3-75A4-4CD53461A5A3}"/>
                </a:ext>
              </a:extLst>
            </p:cNvPr>
            <p:cNvSpPr>
              <a:spLocks/>
            </p:cNvSpPr>
            <p:nvPr/>
          </p:nvSpPr>
          <p:spPr bwMode="gray">
            <a:xfrm>
              <a:off x="498475" y="3800745"/>
              <a:ext cx="5220000" cy="757255"/>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809625"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CA" sz="1600" b="1" i="0" u="none" strike="noStrike" kern="1200" cap="none" spc="0" normalizeH="0" baseline="0" noProof="0">
                  <a:ln>
                    <a:noFill/>
                  </a:ln>
                  <a:solidFill>
                    <a:prstClr val="black"/>
                  </a:solidFill>
                  <a:effectLst/>
                  <a:uLnTx/>
                  <a:uFillTx/>
                  <a:latin typeface="Calibri"/>
                  <a:ea typeface="+mn-ea"/>
                  <a:cs typeface="+mn-cs"/>
                </a:rPr>
                <a:t>Path Forward</a:t>
              </a:r>
            </a:p>
          </p:txBody>
        </p:sp>
        <p:sp>
          <p:nvSpPr>
            <p:cNvPr id="6" name="Rectangle 5">
              <a:extLst>
                <a:ext uri="{FF2B5EF4-FFF2-40B4-BE49-F238E27FC236}">
                  <a16:creationId xmlns:a16="http://schemas.microsoft.com/office/drawing/2014/main" id="{3E1C1F5E-FB12-5186-73C9-65614C4FA751}"/>
                </a:ext>
              </a:extLst>
            </p:cNvPr>
            <p:cNvSpPr>
              <a:spLocks/>
            </p:cNvSpPr>
            <p:nvPr/>
          </p:nvSpPr>
          <p:spPr bwMode="gray">
            <a:xfrm>
              <a:off x="612775" y="3874572"/>
              <a:ext cx="558800" cy="609600"/>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CA" sz="2800" b="1">
                  <a:solidFill>
                    <a:schemeClr val="bg1"/>
                  </a:solidFill>
                </a:rPr>
                <a:t>4</a:t>
              </a:r>
              <a:endParaRPr lang="en-CA" sz="1600" b="1">
                <a:solidFill>
                  <a:schemeClr val="bg1"/>
                </a:solidFill>
              </a:endParaRPr>
            </a:p>
          </p:txBody>
        </p:sp>
      </p:grpSp>
      <p:grpSp>
        <p:nvGrpSpPr>
          <p:cNvPr id="12" name="Group 11">
            <a:extLst>
              <a:ext uri="{FF2B5EF4-FFF2-40B4-BE49-F238E27FC236}">
                <a16:creationId xmlns:a16="http://schemas.microsoft.com/office/drawing/2014/main" id="{55088F6C-D5B4-644D-6D94-7344B3EBE59F}"/>
              </a:ext>
            </a:extLst>
          </p:cNvPr>
          <p:cNvGrpSpPr>
            <a:grpSpLocks/>
          </p:cNvGrpSpPr>
          <p:nvPr/>
        </p:nvGrpSpPr>
        <p:grpSpPr>
          <a:xfrm>
            <a:off x="498475" y="3605621"/>
            <a:ext cx="5220000" cy="757255"/>
            <a:chOff x="550830" y="3302785"/>
            <a:chExt cx="5220000" cy="757255"/>
          </a:xfrm>
        </p:grpSpPr>
        <p:sp>
          <p:nvSpPr>
            <p:cNvPr id="8" name="Rectangle 7">
              <a:extLst>
                <a:ext uri="{FF2B5EF4-FFF2-40B4-BE49-F238E27FC236}">
                  <a16:creationId xmlns:a16="http://schemas.microsoft.com/office/drawing/2014/main" id="{10660CEC-7161-F190-836B-A848C48271B3}"/>
                </a:ext>
              </a:extLst>
            </p:cNvPr>
            <p:cNvSpPr>
              <a:spLocks/>
            </p:cNvSpPr>
            <p:nvPr/>
          </p:nvSpPr>
          <p:spPr bwMode="gray">
            <a:xfrm>
              <a:off x="550830" y="3302785"/>
              <a:ext cx="5220000" cy="757255"/>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marL="809625"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Interpretation of Proposed Guidance</a:t>
              </a:r>
              <a:endParaRPr kumimoji="0" lang="en-CA" sz="1600" b="1" i="0" u="none" strike="noStrike" kern="1200" cap="none" spc="0" normalizeH="0" baseline="0" noProof="0">
                <a:ln>
                  <a:noFill/>
                </a:ln>
                <a:solidFill>
                  <a:prstClr val="black"/>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341A3E69-F505-A1BB-23E4-3AA166625F99}"/>
                </a:ext>
              </a:extLst>
            </p:cNvPr>
            <p:cNvSpPr>
              <a:spLocks/>
            </p:cNvSpPr>
            <p:nvPr/>
          </p:nvSpPr>
          <p:spPr bwMode="gray">
            <a:xfrm>
              <a:off x="665130" y="3376612"/>
              <a:ext cx="558800" cy="6096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CA" sz="2800" b="1">
                  <a:solidFill>
                    <a:schemeClr val="bg1"/>
                  </a:solidFill>
                </a:rPr>
                <a:t>3</a:t>
              </a:r>
              <a:endParaRPr lang="en-CA" sz="1600" b="1">
                <a:solidFill>
                  <a:schemeClr val="bg1"/>
                </a:solidFill>
              </a:endParaRPr>
            </a:p>
          </p:txBody>
        </p:sp>
      </p:grpSp>
    </p:spTree>
    <p:extLst>
      <p:ext uri="{BB962C8B-B14F-4D97-AF65-F5344CB8AC3E}">
        <p14:creationId xmlns:p14="http://schemas.microsoft.com/office/powerpoint/2010/main" val="163915574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AACF882-91FA-3CEA-BE7E-AE1D4F22FBA0}"/>
              </a:ext>
            </a:extLst>
          </p:cNvPr>
          <p:cNvGraphicFramePr>
            <a:graphicFrameLocks noChangeAspect="1"/>
          </p:cNvGraphicFramePr>
          <p:nvPr>
            <p:custDataLst>
              <p:tags r:id="rId1"/>
            </p:custDataLst>
            <p:extLst>
              <p:ext uri="{D42A27DB-BD31-4B8C-83A1-F6EECF244321}">
                <p14:modId xmlns:p14="http://schemas.microsoft.com/office/powerpoint/2010/main" val="19328137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6" name="think-cell data - do not delete" hidden="1">
                        <a:extLst>
                          <a:ext uri="{FF2B5EF4-FFF2-40B4-BE49-F238E27FC236}">
                            <a16:creationId xmlns:a16="http://schemas.microsoft.com/office/drawing/2014/main" id="{EAACF882-91FA-3CEA-BE7E-AE1D4F22FB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Title 8"/>
          <p:cNvSpPr>
            <a:spLocks noGrp="1"/>
          </p:cNvSpPr>
          <p:nvPr>
            <p:ph type="title"/>
          </p:nvPr>
        </p:nvSpPr>
        <p:spPr/>
        <p:txBody>
          <a:bodyPr vert="horz"/>
          <a:lstStyle/>
          <a:p>
            <a:r>
              <a:rPr lang="en-US" noProof="0"/>
              <a:t>1. Executive Summary</a:t>
            </a:r>
          </a:p>
        </p:txBody>
      </p:sp>
      <p:sp>
        <p:nvSpPr>
          <p:cNvPr id="4" name="Slide Number Placeholder 3"/>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3</a:t>
            </a:fld>
            <a:endParaRPr lang="en-US"/>
          </a:p>
        </p:txBody>
      </p:sp>
    </p:spTree>
    <p:extLst>
      <p:ext uri="{BB962C8B-B14F-4D97-AF65-F5344CB8AC3E}">
        <p14:creationId xmlns:p14="http://schemas.microsoft.com/office/powerpoint/2010/main" val="57435710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4193350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Text Placeholder 17">
            <a:extLst>
              <a:ext uri="{FF2B5EF4-FFF2-40B4-BE49-F238E27FC236}">
                <a16:creationId xmlns:a16="http://schemas.microsoft.com/office/drawing/2014/main" id="{EB880717-E317-954F-14CD-CE93C5388793}"/>
              </a:ext>
            </a:extLst>
          </p:cNvPr>
          <p:cNvSpPr>
            <a:spLocks noGrp="1"/>
          </p:cNvSpPr>
          <p:nvPr>
            <p:ph type="body" sz="quarter" idx="13"/>
          </p:nvPr>
        </p:nvSpPr>
        <p:spPr/>
        <p:txBody>
          <a:bodyPr/>
          <a:lstStyle/>
          <a:p>
            <a:r>
              <a:rPr lang="en-US"/>
              <a:t>CIRO’s Proposed Guidance unlocks new opportunities for Order Execution Only (OEO) Dealers to deliver enhanced decision-making supports, create end-to-end investor journeys, and gain a competitive edge in the DIY investing space</a:t>
            </a:r>
          </a:p>
        </p:txBody>
      </p:sp>
      <p:sp>
        <p:nvSpPr>
          <p:cNvPr id="4" name="Title 3"/>
          <p:cNvSpPr>
            <a:spLocks noGrp="1"/>
          </p:cNvSpPr>
          <p:nvPr>
            <p:ph type="title"/>
          </p:nvPr>
        </p:nvSpPr>
        <p:spPr/>
        <p:txBody>
          <a:bodyPr vert="horz"/>
          <a:lstStyle/>
          <a:p>
            <a:r>
              <a:rPr lang="en-US" noProof="0"/>
              <a:t>Executive Summary</a:t>
            </a:r>
          </a:p>
        </p:txBody>
      </p:sp>
      <p:sp>
        <p:nvSpPr>
          <p:cNvPr id="5" name="Slide Number Placeholder 4"/>
          <p:cNvSpPr>
            <a:spLocks noGrp="1"/>
          </p:cNvSpPr>
          <p:nvPr>
            <p:ph type="sldNum" sz="quarter" idx="4"/>
          </p:nvPr>
        </p:nvSpPr>
        <p:spPr/>
        <p:txBody>
          <a:bodyPr/>
          <a:lstStyle/>
          <a:p>
            <a:pPr marL="0" marR="0" lvl="0" indent="0" algn="r" defTabSz="914400" rtl="0" eaLnBrk="1" fontAlgn="auto" latinLnBrk="0" hangingPunct="1">
              <a:lnSpc>
                <a:spcPct val="100000"/>
              </a:lnSpc>
              <a:spcBef>
                <a:spcPts val="600"/>
              </a:spcBef>
              <a:spcAft>
                <a:spcPts val="0"/>
              </a:spcAft>
              <a:buClrTx/>
              <a:buSzPct val="100000"/>
              <a:buFont typeface="Arial"/>
              <a:buNone/>
              <a:tabLst/>
              <a:defRPr/>
            </a:pPr>
            <a:fld id="{A463779A-5FA6-46BB-A830-682585DD6BBA}" type="slidenum">
              <a:rPr kumimoji="0" lang="en-US" sz="900" b="0" i="0" u="none" strike="noStrike" kern="1200" cap="none" spc="0" normalizeH="0" baseline="0" noProof="0" smtClean="0">
                <a:ln>
                  <a:noFill/>
                </a:ln>
                <a:solidFill>
                  <a:prstClr val="black"/>
                </a:solidFill>
                <a:effectLst/>
                <a:uLnTx/>
                <a:uFillTx/>
                <a:latin typeface="Calibri" panose="020F0502020204030204" pitchFamily="34" charset="0"/>
                <a:ea typeface="+mn-ea"/>
                <a:cs typeface="Calibri" panose="020F0502020204030204" pitchFamily="34" charset="0"/>
              </a:rPr>
              <a:pPr marL="0" marR="0" lvl="0" indent="0" algn="r" defTabSz="914400" rtl="0" eaLnBrk="1" fontAlgn="auto" latinLnBrk="0" hangingPunct="1">
                <a:lnSpc>
                  <a:spcPct val="100000"/>
                </a:lnSpc>
                <a:spcBef>
                  <a:spcPts val="600"/>
                </a:spcBef>
                <a:spcAft>
                  <a:spcPts val="0"/>
                </a:spcAft>
                <a:buClrTx/>
                <a:buSzPct val="100000"/>
                <a:buFont typeface="Arial"/>
                <a:buNone/>
                <a:tabLst/>
                <a:defRPr/>
              </a:pPr>
              <a:t>4</a:t>
            </a:fld>
            <a:endParaRPr kumimoji="0" lang="en-US" sz="9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7" name="Group 6">
            <a:extLst>
              <a:ext uri="{FF2B5EF4-FFF2-40B4-BE49-F238E27FC236}">
                <a16:creationId xmlns:a16="http://schemas.microsoft.com/office/drawing/2014/main" id="{5E2A5C61-D643-BC70-00FC-CD8377CC93C8}"/>
              </a:ext>
            </a:extLst>
          </p:cNvPr>
          <p:cNvGrpSpPr>
            <a:grpSpLocks/>
          </p:cNvGrpSpPr>
          <p:nvPr/>
        </p:nvGrpSpPr>
        <p:grpSpPr>
          <a:xfrm>
            <a:off x="501650" y="1512862"/>
            <a:ext cx="11188695" cy="540000"/>
            <a:chOff x="501650" y="1512862"/>
            <a:chExt cx="11188695" cy="540000"/>
          </a:xfrm>
        </p:grpSpPr>
        <p:sp>
          <p:nvSpPr>
            <p:cNvPr id="8" name="Rectangle 7">
              <a:extLst>
                <a:ext uri="{FF2B5EF4-FFF2-40B4-BE49-F238E27FC236}">
                  <a16:creationId xmlns:a16="http://schemas.microsoft.com/office/drawing/2014/main" id="{0CE00E09-013A-8417-B125-5CF666D1C908}"/>
                </a:ext>
              </a:extLst>
            </p:cNvPr>
            <p:cNvSpPr>
              <a:spLocks/>
            </p:cNvSpPr>
            <p:nvPr/>
          </p:nvSpPr>
          <p:spPr bwMode="gray">
            <a:xfrm>
              <a:off x="501650" y="1536641"/>
              <a:ext cx="11188695" cy="492443"/>
            </a:xfrm>
            <a:prstGeom prst="rect">
              <a:avLst/>
            </a:prstGeom>
            <a:noFill/>
            <a:ln w="19050" algn="ctr">
              <a:noFill/>
              <a:miter lim="800000"/>
              <a:headEnd/>
              <a:tailEnd/>
            </a:ln>
          </p:spPr>
          <p:txBody>
            <a:bodyPr wrap="square" lIns="180000" tIns="0" rIns="180000" bIns="0" rtlCol="0" anchor="ctr">
              <a:spAutoFit/>
            </a:bodyPr>
            <a:lstStyle/>
            <a:p>
              <a:r>
                <a:rPr lang="en-US" sz="1600" b="1">
                  <a:latin typeface="+mj-lt"/>
                  <a:ea typeface="Open Sans Light" panose="020B0306030504020204" pitchFamily="34" charset="0"/>
                  <a:cs typeface="Calibri Light" panose="020F0302020204030204" pitchFamily="34" charset="0"/>
                </a:rPr>
                <a:t>CIRO is proposing to replace its 2021 OEO Guidance </a:t>
              </a:r>
              <a:r>
                <a:rPr lang="en-US" sz="1600">
                  <a:latin typeface="+mj-lt"/>
                  <a:ea typeface="Open Sans Light" panose="020B0306030504020204" pitchFamily="34" charset="0"/>
                  <a:cs typeface="Calibri Light" panose="020F0302020204030204" pitchFamily="34" charset="0"/>
                </a:rPr>
                <a:t>with a new principle-based framework that introduces a narrower definition of ‘recommendation’, flexibility on ‘push’ vs. ‘pull’ distinction, and explicit allowance for self-assessment tools</a:t>
              </a:r>
            </a:p>
          </p:txBody>
        </p:sp>
        <p:cxnSp>
          <p:nvCxnSpPr>
            <p:cNvPr id="20" name="Straight Connector 19">
              <a:extLst>
                <a:ext uri="{FF2B5EF4-FFF2-40B4-BE49-F238E27FC236}">
                  <a16:creationId xmlns:a16="http://schemas.microsoft.com/office/drawing/2014/main" id="{04B16653-ED67-062D-FF81-06FE50F2C606}"/>
                </a:ext>
              </a:extLst>
            </p:cNvPr>
            <p:cNvCxnSpPr>
              <a:cxnSpLocks/>
            </p:cNvCxnSpPr>
            <p:nvPr/>
          </p:nvCxnSpPr>
          <p:spPr>
            <a:xfrm>
              <a:off x="501651" y="1512862"/>
              <a:ext cx="0" cy="540000"/>
            </a:xfrm>
            <a:prstGeom prst="line">
              <a:avLst/>
            </a:prstGeom>
            <a:noFill/>
            <a:ln w="63500">
              <a:solidFill>
                <a:srgbClr val="86BC25"/>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A351AC46-F127-CF24-9AA9-A82156CD903B}"/>
              </a:ext>
            </a:extLst>
          </p:cNvPr>
          <p:cNvGrpSpPr>
            <a:grpSpLocks/>
          </p:cNvGrpSpPr>
          <p:nvPr/>
        </p:nvGrpSpPr>
        <p:grpSpPr>
          <a:xfrm>
            <a:off x="501650" y="2494937"/>
            <a:ext cx="11188695" cy="540000"/>
            <a:chOff x="501650" y="2494937"/>
            <a:chExt cx="11188695" cy="540000"/>
          </a:xfrm>
        </p:grpSpPr>
        <p:sp>
          <p:nvSpPr>
            <p:cNvPr id="27" name="Rectangle 26">
              <a:extLst>
                <a:ext uri="{FF2B5EF4-FFF2-40B4-BE49-F238E27FC236}">
                  <a16:creationId xmlns:a16="http://schemas.microsoft.com/office/drawing/2014/main" id="{527E7BBA-5353-1EEE-CD98-B44DF6257CE9}"/>
                </a:ext>
              </a:extLst>
            </p:cNvPr>
            <p:cNvSpPr>
              <a:spLocks/>
            </p:cNvSpPr>
            <p:nvPr/>
          </p:nvSpPr>
          <p:spPr bwMode="gray">
            <a:xfrm>
              <a:off x="501650" y="2518716"/>
              <a:ext cx="11188695" cy="492443"/>
            </a:xfrm>
            <a:prstGeom prst="rect">
              <a:avLst/>
            </a:prstGeom>
            <a:noFill/>
            <a:ln w="19050" algn="ctr">
              <a:noFill/>
              <a:miter lim="800000"/>
              <a:headEnd/>
              <a:tailEnd/>
            </a:ln>
          </p:spPr>
          <p:txBody>
            <a:bodyPr wrap="square" lIns="180000" tIns="0" rIns="18000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Open Sans Light" panose="020B0306030504020204" pitchFamily="34" charset="0"/>
                  <a:cs typeface="Calibri Light" panose="020F0302020204030204" pitchFamily="34" charset="0"/>
                </a:rPr>
                <a:t>CIRO’s move aligns with global regulatory trends</a:t>
              </a:r>
              <a:r>
                <a:rPr kumimoji="0" lang="en-US" sz="1600" b="0" i="0" u="none" strike="noStrike" kern="1200" cap="none" spc="0" normalizeH="0" baseline="0" noProof="0">
                  <a:ln>
                    <a:noFill/>
                  </a:ln>
                  <a:solidFill>
                    <a:prstClr val="black"/>
                  </a:solidFill>
                  <a:effectLst/>
                  <a:uLnTx/>
                  <a:uFillTx/>
                  <a:latin typeface="Calibri"/>
                  <a:ea typeface="Open Sans Light" panose="020B0306030504020204" pitchFamily="34" charset="0"/>
                  <a:cs typeface="Calibri Light" panose="020F0302020204030204" pitchFamily="34" charset="0"/>
                </a:rPr>
                <a:t>, setting the stage for greater flexibility in the future and creating an opening for OEO Dealers (‘OEOs’) to lead with differentiated decision-making supports while managing channel conflict</a:t>
              </a:r>
            </a:p>
          </p:txBody>
        </p:sp>
        <p:cxnSp>
          <p:nvCxnSpPr>
            <p:cNvPr id="28" name="Straight Connector 27">
              <a:extLst>
                <a:ext uri="{FF2B5EF4-FFF2-40B4-BE49-F238E27FC236}">
                  <a16:creationId xmlns:a16="http://schemas.microsoft.com/office/drawing/2014/main" id="{FC1E8404-DCBC-2083-AED7-2C9E42B2F30E}"/>
                </a:ext>
              </a:extLst>
            </p:cNvPr>
            <p:cNvCxnSpPr>
              <a:cxnSpLocks/>
            </p:cNvCxnSpPr>
            <p:nvPr/>
          </p:nvCxnSpPr>
          <p:spPr>
            <a:xfrm>
              <a:off x="501651" y="2494937"/>
              <a:ext cx="0" cy="540000"/>
            </a:xfrm>
            <a:prstGeom prst="line">
              <a:avLst/>
            </a:prstGeom>
            <a:noFill/>
            <a:ln w="635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00C2FA40-DD4A-B50F-EB0F-734F8C7EF91B}"/>
              </a:ext>
            </a:extLst>
          </p:cNvPr>
          <p:cNvGrpSpPr>
            <a:grpSpLocks/>
          </p:cNvGrpSpPr>
          <p:nvPr/>
        </p:nvGrpSpPr>
        <p:grpSpPr>
          <a:xfrm>
            <a:off x="501650" y="3477012"/>
            <a:ext cx="11188695" cy="540000"/>
            <a:chOff x="501650" y="3477011"/>
            <a:chExt cx="11188695" cy="540000"/>
          </a:xfrm>
        </p:grpSpPr>
        <p:sp>
          <p:nvSpPr>
            <p:cNvPr id="31" name="Rectangle 30">
              <a:extLst>
                <a:ext uri="{FF2B5EF4-FFF2-40B4-BE49-F238E27FC236}">
                  <a16:creationId xmlns:a16="http://schemas.microsoft.com/office/drawing/2014/main" id="{33865349-5EE6-E2C9-D109-24B76A5D71F7}"/>
                </a:ext>
              </a:extLst>
            </p:cNvPr>
            <p:cNvSpPr>
              <a:spLocks/>
            </p:cNvSpPr>
            <p:nvPr/>
          </p:nvSpPr>
          <p:spPr bwMode="gray">
            <a:xfrm>
              <a:off x="501650" y="3500790"/>
              <a:ext cx="11188695" cy="492443"/>
            </a:xfrm>
            <a:prstGeom prst="rect">
              <a:avLst/>
            </a:prstGeom>
            <a:noFill/>
            <a:ln w="19050" algn="ctr">
              <a:noFill/>
              <a:miter lim="800000"/>
              <a:headEnd/>
              <a:tailEnd/>
            </a:ln>
          </p:spPr>
          <p:txBody>
            <a:bodyPr wrap="square" lIns="180000" tIns="0" rIns="18000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Open Sans Light" panose="020B0306030504020204" pitchFamily="34" charset="0"/>
                  <a:cs typeface="Calibri Light" panose="020F0302020204030204" pitchFamily="34" charset="0"/>
                </a:rPr>
                <a:t>The guidance enables OEOs to roll out enhanced tools</a:t>
              </a:r>
              <a:r>
                <a:rPr kumimoji="0" lang="en-US" sz="1600" b="0" i="0" u="none" strike="noStrike" kern="1200" cap="none" spc="0" normalizeH="0" baseline="0" noProof="0">
                  <a:ln>
                    <a:noFill/>
                  </a:ln>
                  <a:solidFill>
                    <a:prstClr val="black"/>
                  </a:solidFill>
                  <a:effectLst/>
                  <a:uLnTx/>
                  <a:uFillTx/>
                  <a:latin typeface="Calibri"/>
                  <a:ea typeface="Open Sans Light" panose="020B0306030504020204" pitchFamily="34" charset="0"/>
                  <a:cs typeface="Calibri Light" panose="020F0302020204030204" pitchFamily="34" charset="0"/>
                </a:rPr>
                <a:t>, including personalized alerts &amp; notifications, contextual educational content, and integrated self-assessment modules that can support investors without crossing into advice</a:t>
              </a:r>
            </a:p>
          </p:txBody>
        </p:sp>
        <p:cxnSp>
          <p:nvCxnSpPr>
            <p:cNvPr id="32" name="Straight Connector 31">
              <a:extLst>
                <a:ext uri="{FF2B5EF4-FFF2-40B4-BE49-F238E27FC236}">
                  <a16:creationId xmlns:a16="http://schemas.microsoft.com/office/drawing/2014/main" id="{9EEA10F5-9DD4-C66E-08D7-112A299937D8}"/>
                </a:ext>
              </a:extLst>
            </p:cNvPr>
            <p:cNvCxnSpPr>
              <a:cxnSpLocks/>
            </p:cNvCxnSpPr>
            <p:nvPr/>
          </p:nvCxnSpPr>
          <p:spPr>
            <a:xfrm>
              <a:off x="501651" y="3477011"/>
              <a:ext cx="0" cy="540000"/>
            </a:xfrm>
            <a:prstGeom prst="line">
              <a:avLst/>
            </a:prstGeom>
            <a:noFill/>
            <a:ln w="635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B694BF8B-E57A-519D-1343-12DB1CCFF90D}"/>
              </a:ext>
            </a:extLst>
          </p:cNvPr>
          <p:cNvGrpSpPr>
            <a:grpSpLocks/>
          </p:cNvGrpSpPr>
          <p:nvPr/>
        </p:nvGrpSpPr>
        <p:grpSpPr>
          <a:xfrm>
            <a:off x="501650" y="4459087"/>
            <a:ext cx="11188695" cy="540000"/>
            <a:chOff x="501650" y="4459085"/>
            <a:chExt cx="11188695" cy="540000"/>
          </a:xfrm>
        </p:grpSpPr>
        <p:sp>
          <p:nvSpPr>
            <p:cNvPr id="34" name="Rectangle 33">
              <a:extLst>
                <a:ext uri="{FF2B5EF4-FFF2-40B4-BE49-F238E27FC236}">
                  <a16:creationId xmlns:a16="http://schemas.microsoft.com/office/drawing/2014/main" id="{083070AC-B597-7356-745B-7DB7C7500B44}"/>
                </a:ext>
              </a:extLst>
            </p:cNvPr>
            <p:cNvSpPr>
              <a:spLocks/>
            </p:cNvSpPr>
            <p:nvPr/>
          </p:nvSpPr>
          <p:spPr bwMode="gray">
            <a:xfrm>
              <a:off x="501650" y="4482864"/>
              <a:ext cx="11188695" cy="492443"/>
            </a:xfrm>
            <a:prstGeom prst="rect">
              <a:avLst/>
            </a:prstGeom>
            <a:noFill/>
            <a:ln w="19050" algn="ctr">
              <a:noFill/>
              <a:miter lim="800000"/>
              <a:headEnd/>
              <a:tailEnd/>
            </a:ln>
          </p:spPr>
          <p:txBody>
            <a:bodyPr wrap="square" lIns="180000" tIns="0" rIns="18000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Open Sans Light" panose="020B0306030504020204" pitchFamily="34" charset="0"/>
                  <a:cs typeface="Calibri Light" panose="020F0302020204030204" pitchFamily="34" charset="0"/>
                </a:rPr>
                <a:t>These supports can be orchestrated into end-to-end investor journeys</a:t>
              </a:r>
              <a:r>
                <a:rPr kumimoji="0" lang="en-US" sz="1600" b="0" i="0" u="none" strike="noStrike" kern="1200" cap="none" spc="0" normalizeH="0" baseline="0" noProof="0">
                  <a:ln>
                    <a:noFill/>
                  </a:ln>
                  <a:solidFill>
                    <a:prstClr val="black"/>
                  </a:solidFill>
                  <a:effectLst/>
                  <a:uLnTx/>
                  <a:uFillTx/>
                  <a:latin typeface="Calibri"/>
                  <a:ea typeface="Open Sans Light" panose="020B0306030504020204" pitchFamily="34" charset="0"/>
                  <a:cs typeface="Calibri Light" panose="020F0302020204030204" pitchFamily="34" charset="0"/>
                </a:rPr>
                <a:t>, enabling OEOs to meet the full spectrum of DIY investing needs – from learning and goal setting to portfolio construction and ongoing monitoring</a:t>
              </a:r>
            </a:p>
          </p:txBody>
        </p:sp>
        <p:cxnSp>
          <p:nvCxnSpPr>
            <p:cNvPr id="35" name="Straight Connector 34">
              <a:extLst>
                <a:ext uri="{FF2B5EF4-FFF2-40B4-BE49-F238E27FC236}">
                  <a16:creationId xmlns:a16="http://schemas.microsoft.com/office/drawing/2014/main" id="{A41B099B-94AB-9307-FD37-38D3FEDCB954}"/>
                </a:ext>
              </a:extLst>
            </p:cNvPr>
            <p:cNvCxnSpPr>
              <a:cxnSpLocks/>
            </p:cNvCxnSpPr>
            <p:nvPr/>
          </p:nvCxnSpPr>
          <p:spPr>
            <a:xfrm>
              <a:off x="501651" y="4459085"/>
              <a:ext cx="0" cy="540000"/>
            </a:xfrm>
            <a:prstGeom prst="line">
              <a:avLst/>
            </a:prstGeom>
            <a:noFill/>
            <a:ln w="635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4013DAF1-BDF0-FDE1-BF95-C6589DA3607F}"/>
              </a:ext>
            </a:extLst>
          </p:cNvPr>
          <p:cNvGrpSpPr>
            <a:grpSpLocks/>
          </p:cNvGrpSpPr>
          <p:nvPr/>
        </p:nvGrpSpPr>
        <p:grpSpPr>
          <a:xfrm>
            <a:off x="501650" y="5441160"/>
            <a:ext cx="11188695" cy="540000"/>
            <a:chOff x="501650" y="5441160"/>
            <a:chExt cx="11188695" cy="540000"/>
          </a:xfrm>
        </p:grpSpPr>
        <p:sp>
          <p:nvSpPr>
            <p:cNvPr id="37" name="Rectangle 36">
              <a:extLst>
                <a:ext uri="{FF2B5EF4-FFF2-40B4-BE49-F238E27FC236}">
                  <a16:creationId xmlns:a16="http://schemas.microsoft.com/office/drawing/2014/main" id="{FA92602E-AF98-9976-8F52-6EF04CC57004}"/>
                </a:ext>
              </a:extLst>
            </p:cNvPr>
            <p:cNvSpPr>
              <a:spLocks/>
            </p:cNvSpPr>
            <p:nvPr/>
          </p:nvSpPr>
          <p:spPr bwMode="gray">
            <a:xfrm>
              <a:off x="501650" y="5464939"/>
              <a:ext cx="11188695" cy="492443"/>
            </a:xfrm>
            <a:prstGeom prst="rect">
              <a:avLst/>
            </a:prstGeom>
            <a:noFill/>
            <a:ln w="19050" algn="ctr">
              <a:noFill/>
              <a:miter lim="800000"/>
              <a:headEnd/>
              <a:tailEnd/>
            </a:ln>
          </p:spPr>
          <p:txBody>
            <a:bodyPr wrap="square" lIns="180000" tIns="0" rIns="18000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Open Sans Light" panose="020B0306030504020204" pitchFamily="34" charset="0"/>
                  <a:cs typeface="Calibri Light" panose="020F0302020204030204" pitchFamily="34" charset="0"/>
                </a:rPr>
                <a:t>OEOs that act now will shape the market</a:t>
              </a:r>
              <a:r>
                <a:rPr kumimoji="0" lang="en-US" sz="1600" b="0" i="0" u="none" strike="noStrike" kern="1200" cap="none" spc="0" normalizeH="0" baseline="0" noProof="0">
                  <a:ln>
                    <a:noFill/>
                  </a:ln>
                  <a:solidFill>
                    <a:prstClr val="black"/>
                  </a:solidFill>
                  <a:effectLst/>
                  <a:uLnTx/>
                  <a:uFillTx/>
                  <a:latin typeface="Calibri"/>
                  <a:ea typeface="Open Sans Light" panose="020B0306030504020204" pitchFamily="34" charset="0"/>
                  <a:cs typeface="Calibri Light" panose="020F0302020204030204" pitchFamily="34" charset="0"/>
                </a:rPr>
                <a:t>, defining what ‘good’ looks like under the new framework, while firms that wait risk falling behind as investor expectations evolve and competitors move quickly to deploy differentiated experiences</a:t>
              </a:r>
            </a:p>
          </p:txBody>
        </p:sp>
        <p:cxnSp>
          <p:nvCxnSpPr>
            <p:cNvPr id="38" name="Straight Connector 37">
              <a:extLst>
                <a:ext uri="{FF2B5EF4-FFF2-40B4-BE49-F238E27FC236}">
                  <a16:creationId xmlns:a16="http://schemas.microsoft.com/office/drawing/2014/main" id="{C0B05ED7-4874-88FC-10E8-6729D930AB61}"/>
                </a:ext>
              </a:extLst>
            </p:cNvPr>
            <p:cNvCxnSpPr>
              <a:cxnSpLocks/>
            </p:cNvCxnSpPr>
            <p:nvPr/>
          </p:nvCxnSpPr>
          <p:spPr>
            <a:xfrm>
              <a:off x="501651" y="5441160"/>
              <a:ext cx="0" cy="540000"/>
            </a:xfrm>
            <a:prstGeom prst="line">
              <a:avLst/>
            </a:prstGeom>
            <a:noFill/>
            <a:ln w="63500">
              <a:solidFill>
                <a:srgbClr val="00558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717824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856D50C-971B-0A3D-5479-ADB19F9D934A}"/>
              </a:ext>
            </a:extLst>
          </p:cNvPr>
          <p:cNvGraphicFramePr>
            <a:graphicFrameLocks noChangeAspect="1"/>
          </p:cNvGraphicFramePr>
          <p:nvPr>
            <p:custDataLst>
              <p:tags r:id="rId1"/>
            </p:custDataLst>
            <p:extLst>
              <p:ext uri="{D42A27DB-BD31-4B8C-83A1-F6EECF244321}">
                <p14:modId xmlns:p14="http://schemas.microsoft.com/office/powerpoint/2010/main" val="9073654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7" name="think-cell data - do not delete" hidden="1">
                        <a:extLst>
                          <a:ext uri="{FF2B5EF4-FFF2-40B4-BE49-F238E27FC236}">
                            <a16:creationId xmlns:a16="http://schemas.microsoft.com/office/drawing/2014/main" id="{B856D50C-971B-0A3D-5479-ADB19F9D934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B9C79D3-5F95-CD48-AACC-D9A5C1339274}"/>
              </a:ext>
            </a:extLst>
          </p:cNvPr>
          <p:cNvSpPr>
            <a:spLocks noGrp="1"/>
          </p:cNvSpPr>
          <p:nvPr>
            <p:ph type="title"/>
          </p:nvPr>
        </p:nvSpPr>
        <p:spPr/>
        <p:txBody>
          <a:bodyPr vert="horz"/>
          <a:lstStyle/>
          <a:p>
            <a:r>
              <a:rPr lang="en-CA">
                <a:cs typeface="Calibri" panose="020F0502020204030204" pitchFamily="34" charset="0"/>
              </a:rPr>
              <a:t>2. Regulatory Context &amp; Market Implications</a:t>
            </a:r>
          </a:p>
        </p:txBody>
      </p:sp>
      <p:sp>
        <p:nvSpPr>
          <p:cNvPr id="5" name="Slide Number Placeholder 4">
            <a:extLst>
              <a:ext uri="{FF2B5EF4-FFF2-40B4-BE49-F238E27FC236}">
                <a16:creationId xmlns:a16="http://schemas.microsoft.com/office/drawing/2014/main" id="{4B28894C-B4C8-F73D-1AB6-5D55361B99C1}"/>
              </a:ext>
            </a:extLst>
          </p:cNvPr>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5</a:t>
            </a:fld>
            <a:endParaRPr lang="en-US"/>
          </a:p>
        </p:txBody>
      </p:sp>
    </p:spTree>
    <p:extLst>
      <p:ext uri="{BB962C8B-B14F-4D97-AF65-F5344CB8AC3E}">
        <p14:creationId xmlns:p14="http://schemas.microsoft.com/office/powerpoint/2010/main" val="67388499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4094355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8F0E80-AC91-4A1F-8E56-CCBC7BBA31F6}"/>
              </a:ext>
            </a:extLst>
          </p:cNvPr>
          <p:cNvSpPr>
            <a:spLocks noGrp="1"/>
          </p:cNvSpPr>
          <p:nvPr>
            <p:ph type="body" sz="quarter" idx="13"/>
          </p:nvPr>
        </p:nvSpPr>
        <p:spPr/>
        <p:txBody>
          <a:bodyPr/>
          <a:lstStyle/>
          <a:p>
            <a:r>
              <a:rPr lang="en-US"/>
              <a:t>In response to the rapid growth of DIY investing, CIRO is updating its guidance to provide OEO Dealers with greater flexibility to better service DIY investors’ needs without compromising the recommendation prohibition</a:t>
            </a:r>
          </a:p>
        </p:txBody>
      </p:sp>
      <p:sp>
        <p:nvSpPr>
          <p:cNvPr id="4" name="Title 3"/>
          <p:cNvSpPr>
            <a:spLocks noGrp="1"/>
          </p:cNvSpPr>
          <p:nvPr>
            <p:ph type="title"/>
          </p:nvPr>
        </p:nvSpPr>
        <p:spPr/>
        <p:txBody>
          <a:bodyPr vert="horz"/>
          <a:lstStyle/>
          <a:p>
            <a:r>
              <a:rPr lang="en-US" noProof="0"/>
              <a:t>Evolving Regulatory Approach</a:t>
            </a:r>
          </a:p>
        </p:txBody>
      </p:sp>
      <p:sp>
        <p:nvSpPr>
          <p:cNvPr id="5" name="Slide Number Placeholder 4"/>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6</a:t>
            </a:fld>
            <a:endParaRPr lang="en-US"/>
          </a:p>
        </p:txBody>
      </p:sp>
      <p:sp>
        <p:nvSpPr>
          <p:cNvPr id="6" name="Rectangle: Rounded Corners 5">
            <a:extLst>
              <a:ext uri="{FF2B5EF4-FFF2-40B4-BE49-F238E27FC236}">
                <a16:creationId xmlns:a16="http://schemas.microsoft.com/office/drawing/2014/main" id="{30CBD749-F8F6-88C5-B728-953750173A46}"/>
              </a:ext>
            </a:extLst>
          </p:cNvPr>
          <p:cNvSpPr>
            <a:spLocks/>
          </p:cNvSpPr>
          <p:nvPr/>
        </p:nvSpPr>
        <p:spPr bwMode="gray">
          <a:xfrm>
            <a:off x="501650" y="4307919"/>
            <a:ext cx="11195050" cy="2092881"/>
          </a:xfrm>
          <a:prstGeom prst="roundRect">
            <a:avLst>
              <a:gd name="adj" fmla="val 0"/>
            </a:avLst>
          </a:prstGeom>
          <a:solidFill>
            <a:schemeClr val="bg1">
              <a:lumMod val="95000"/>
            </a:schemeClr>
          </a:solidFill>
          <a:ln w="19050" algn="ctr">
            <a:solidFill>
              <a:schemeClr val="bg2">
                <a:lumMod val="90000"/>
              </a:schemeClr>
            </a:solidFill>
            <a:prstDash val="sysDash"/>
            <a:miter lim="800000"/>
            <a:headEnd/>
            <a:tailEnd/>
          </a:ln>
        </p:spPr>
        <p:txBody>
          <a:bodyPr wrap="square" lIns="180000" tIns="144000" rIns="180000" bIns="144000" rtlCol="0" anchor="t"/>
          <a:lstStyle/>
          <a:p>
            <a:pPr marL="0" marR="0" lvl="1" defTabSz="914400" rtl="0" eaLnBrk="1" fontAlgn="auto" latinLnBrk="0" hangingPunct="1">
              <a:lnSpc>
                <a:spcPct val="100000"/>
              </a:lnSpc>
              <a:spcAft>
                <a:spcPts val="600"/>
              </a:spcAft>
              <a:buClrTx/>
              <a:buSzPct val="100000"/>
              <a:tabLst/>
              <a:defRPr/>
            </a:pPr>
            <a:endParaRPr kumimoji="0" lang="en-US" sz="120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endParaRPr>
          </a:p>
        </p:txBody>
      </p:sp>
      <p:grpSp>
        <p:nvGrpSpPr>
          <p:cNvPr id="15" name="Group 14">
            <a:extLst>
              <a:ext uri="{FF2B5EF4-FFF2-40B4-BE49-F238E27FC236}">
                <a16:creationId xmlns:a16="http://schemas.microsoft.com/office/drawing/2014/main" id="{C9410192-D193-C9DD-2571-A28F18DE6A45}"/>
              </a:ext>
            </a:extLst>
          </p:cNvPr>
          <p:cNvGrpSpPr>
            <a:grpSpLocks/>
          </p:cNvGrpSpPr>
          <p:nvPr/>
        </p:nvGrpSpPr>
        <p:grpSpPr>
          <a:xfrm>
            <a:off x="501650" y="1323956"/>
            <a:ext cx="5480050" cy="338554"/>
            <a:chOff x="501650" y="3271589"/>
            <a:chExt cx="4206197" cy="338554"/>
          </a:xfrm>
        </p:grpSpPr>
        <p:cxnSp>
          <p:nvCxnSpPr>
            <p:cNvPr id="21" name="Straight Connector 20">
              <a:extLst>
                <a:ext uri="{FF2B5EF4-FFF2-40B4-BE49-F238E27FC236}">
                  <a16:creationId xmlns:a16="http://schemas.microsoft.com/office/drawing/2014/main" id="{F8B438D8-D0EC-A4E2-A6A5-931E320F4BF6}"/>
                </a:ext>
              </a:extLst>
            </p:cNvPr>
            <p:cNvCxnSpPr>
              <a:cxnSpLocks/>
            </p:cNvCxnSpPr>
            <p:nvPr/>
          </p:nvCxnSpPr>
          <p:spPr>
            <a:xfrm>
              <a:off x="501650" y="3610143"/>
              <a:ext cx="4206197"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B42DEB1D-3484-48A8-1F4D-11BE73AD5541}"/>
                </a:ext>
              </a:extLst>
            </p:cNvPr>
            <p:cNvSpPr>
              <a:spLocks/>
            </p:cNvSpPr>
            <p:nvPr/>
          </p:nvSpPr>
          <p:spPr>
            <a:xfrm>
              <a:off x="501650" y="3271589"/>
              <a:ext cx="4206197" cy="338554"/>
            </a:xfrm>
            <a:prstGeom prst="rect">
              <a:avLst/>
            </a:prstGeom>
          </p:spPr>
          <p:txBody>
            <a:bodyPr wrap="square" lIns="0">
              <a:spAutoFit/>
            </a:bodyPr>
            <a:lstStyle/>
            <a:p>
              <a:pPr marL="0" marR="0" lvl="1" indent="0" defTabSz="914400" rtl="0" eaLnBrk="1" fontAlgn="auto" latinLnBrk="0" hangingPunct="1">
                <a:lnSpc>
                  <a:spcPct val="100000"/>
                </a:lnSpc>
                <a:spcBef>
                  <a:spcPts val="600"/>
                </a:spcBef>
                <a:spcAft>
                  <a:spcPts val="0"/>
                </a:spcAft>
                <a:buClrTx/>
                <a:buSzPct val="100000"/>
                <a:buFontTx/>
                <a:buNone/>
                <a:tabLst/>
                <a:defRPr/>
              </a:pPr>
              <a:r>
                <a:rPr lang="en-US" sz="1600" b="1">
                  <a:solidFill>
                    <a:srgbClr val="000000"/>
                  </a:solidFill>
                  <a:latin typeface="+mj-lt"/>
                  <a:ea typeface="Open Sans" panose="020B0606030504020204" pitchFamily="34" charset="0"/>
                  <a:cs typeface="Calibri" panose="020F0502020204030204" pitchFamily="34" charset="0"/>
                </a:rPr>
                <a:t>Background</a:t>
              </a:r>
              <a:endParaRPr kumimoji="0" lang="en-US"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endParaRPr>
            </a:p>
          </p:txBody>
        </p:sp>
      </p:grpSp>
      <p:grpSp>
        <p:nvGrpSpPr>
          <p:cNvPr id="25" name="Group 24">
            <a:extLst>
              <a:ext uri="{FF2B5EF4-FFF2-40B4-BE49-F238E27FC236}">
                <a16:creationId xmlns:a16="http://schemas.microsoft.com/office/drawing/2014/main" id="{BC7DF8F8-658D-C5B3-B4FF-0F527066DD1D}"/>
              </a:ext>
            </a:extLst>
          </p:cNvPr>
          <p:cNvGrpSpPr>
            <a:grpSpLocks/>
          </p:cNvGrpSpPr>
          <p:nvPr/>
        </p:nvGrpSpPr>
        <p:grpSpPr>
          <a:xfrm>
            <a:off x="6210300" y="1341438"/>
            <a:ext cx="5480050" cy="338554"/>
            <a:chOff x="501650" y="3271589"/>
            <a:chExt cx="4206197" cy="338554"/>
          </a:xfrm>
        </p:grpSpPr>
        <p:cxnSp>
          <p:nvCxnSpPr>
            <p:cNvPr id="26" name="Straight Connector 25">
              <a:extLst>
                <a:ext uri="{FF2B5EF4-FFF2-40B4-BE49-F238E27FC236}">
                  <a16:creationId xmlns:a16="http://schemas.microsoft.com/office/drawing/2014/main" id="{4130CB43-539B-E53E-F89C-C0733DEDFA8E}"/>
                </a:ext>
              </a:extLst>
            </p:cNvPr>
            <p:cNvCxnSpPr>
              <a:cxnSpLocks/>
            </p:cNvCxnSpPr>
            <p:nvPr/>
          </p:nvCxnSpPr>
          <p:spPr>
            <a:xfrm>
              <a:off x="501650" y="3610143"/>
              <a:ext cx="4206197"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28694ED3-87DC-CD25-12DE-2370804AA23A}"/>
                </a:ext>
              </a:extLst>
            </p:cNvPr>
            <p:cNvSpPr>
              <a:spLocks/>
            </p:cNvSpPr>
            <p:nvPr/>
          </p:nvSpPr>
          <p:spPr>
            <a:xfrm>
              <a:off x="501650" y="3271589"/>
              <a:ext cx="4206197" cy="338554"/>
            </a:xfrm>
            <a:prstGeom prst="rect">
              <a:avLst/>
            </a:prstGeom>
          </p:spPr>
          <p:txBody>
            <a:bodyPr wrap="square" lIns="0">
              <a:spAutoFit/>
            </a:bodyPr>
            <a:lstStyle/>
            <a:p>
              <a:pPr marL="0" marR="0" lvl="1" indent="0" defTabSz="914400" rtl="0" eaLnBrk="1" fontAlgn="auto" latinLnBrk="0" hangingPunct="1">
                <a:lnSpc>
                  <a:spcPct val="100000"/>
                </a:lnSpc>
                <a:spcBef>
                  <a:spcPts val="600"/>
                </a:spcBef>
                <a:spcAft>
                  <a:spcPts val="0"/>
                </a:spcAft>
                <a:buClrTx/>
                <a:buSzPct val="100000"/>
                <a:buFontTx/>
                <a:buNone/>
                <a:tabLst/>
                <a:defRPr/>
              </a:pPr>
              <a:r>
                <a:rPr kumimoji="0" lang="en-US"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CIRO’s Rationale for Proposed Guidance</a:t>
              </a:r>
            </a:p>
          </p:txBody>
        </p:sp>
      </p:grpSp>
      <p:sp>
        <p:nvSpPr>
          <p:cNvPr id="28" name="TextBox 27">
            <a:extLst>
              <a:ext uri="{FF2B5EF4-FFF2-40B4-BE49-F238E27FC236}">
                <a16:creationId xmlns:a16="http://schemas.microsoft.com/office/drawing/2014/main" id="{1C5C09E7-F6CD-FD12-CF2F-F10AAE6BA90B}"/>
              </a:ext>
            </a:extLst>
          </p:cNvPr>
          <p:cNvSpPr txBox="1">
            <a:spLocks/>
          </p:cNvSpPr>
          <p:nvPr/>
        </p:nvSpPr>
        <p:spPr>
          <a:xfrm>
            <a:off x="6872142" y="1813994"/>
            <a:ext cx="4824558" cy="623248"/>
          </a:xfrm>
          <a:prstGeom prst="rect">
            <a:avLst/>
          </a:prstGeom>
          <a:noFill/>
        </p:spPr>
        <p:txBody>
          <a:bodyPr wrap="square" lIns="0" tIns="0" rIns="0" bIns="0" rtlCol="0">
            <a:spAutoFit/>
          </a:bodyPr>
          <a:lstStyle/>
          <a:p>
            <a:pPr>
              <a:spcAft>
                <a:spcPts val="300"/>
              </a:spcAft>
              <a:buSzPct val="100000"/>
            </a:pPr>
            <a:r>
              <a:rPr lang="en-US" sz="1400" b="1">
                <a:solidFill>
                  <a:srgbClr val="313131"/>
                </a:solidFill>
                <a:latin typeface="+mj-lt"/>
              </a:rPr>
              <a:t>Bridging the ‘Advice Gap’</a:t>
            </a:r>
          </a:p>
          <a:p>
            <a:pPr>
              <a:spcAft>
                <a:spcPts val="300"/>
              </a:spcAft>
              <a:buSzPct val="100000"/>
            </a:pPr>
            <a:r>
              <a:rPr lang="en-US" sz="1200">
                <a:solidFill>
                  <a:srgbClr val="313131"/>
                </a:solidFill>
                <a:latin typeface="+mj-lt"/>
              </a:rPr>
              <a:t>DIY investors, often excluded from full-service advice due to asset thresholds (thereby creating an ‘Advice Gap’), increasingly seek support from OEOs</a:t>
            </a:r>
            <a:endParaRPr lang="en-US" sz="1200" baseline="30000">
              <a:solidFill>
                <a:srgbClr val="313131"/>
              </a:solidFill>
              <a:latin typeface="+mj-lt"/>
            </a:endParaRPr>
          </a:p>
        </p:txBody>
      </p:sp>
      <p:grpSp>
        <p:nvGrpSpPr>
          <p:cNvPr id="31" name="Group 30">
            <a:extLst>
              <a:ext uri="{FF2B5EF4-FFF2-40B4-BE49-F238E27FC236}">
                <a16:creationId xmlns:a16="http://schemas.microsoft.com/office/drawing/2014/main" id="{C74158A9-9885-13A9-1E56-F6D39C28E4BA}"/>
              </a:ext>
            </a:extLst>
          </p:cNvPr>
          <p:cNvGrpSpPr>
            <a:grpSpLocks/>
          </p:cNvGrpSpPr>
          <p:nvPr/>
        </p:nvGrpSpPr>
        <p:grpSpPr>
          <a:xfrm>
            <a:off x="6249048" y="1891618"/>
            <a:ext cx="468000" cy="468000"/>
            <a:chOff x="6249048" y="1983950"/>
            <a:chExt cx="468000" cy="468000"/>
          </a:xfrm>
        </p:grpSpPr>
        <p:sp>
          <p:nvSpPr>
            <p:cNvPr id="32" name="Oval 31">
              <a:extLst>
                <a:ext uri="{FF2B5EF4-FFF2-40B4-BE49-F238E27FC236}">
                  <a16:creationId xmlns:a16="http://schemas.microsoft.com/office/drawing/2014/main" id="{00EEC1D6-CC68-72F4-BC45-D77FC88C6DC8}"/>
                </a:ext>
              </a:extLst>
            </p:cNvPr>
            <p:cNvSpPr>
              <a:spLocks/>
            </p:cNvSpPr>
            <p:nvPr/>
          </p:nvSpPr>
          <p:spPr bwMode="gray">
            <a:xfrm>
              <a:off x="6249048" y="1983950"/>
              <a:ext cx="468000" cy="468000"/>
            </a:xfrm>
            <a:prstGeom prst="ellipse">
              <a:avLst/>
            </a:prstGeom>
            <a:noFill/>
            <a:ln w="19050" algn="ctr">
              <a:solidFill>
                <a:schemeClr val="accent1"/>
              </a:solidFill>
              <a:miter lim="800000"/>
              <a:headEnd/>
              <a:tailEnd/>
            </a:ln>
          </p:spPr>
          <p:txBody>
            <a:bodyPr wrap="square" lIns="432000" tIns="88900" rIns="432000" bIns="88900" rtlCol="0" anchor="ctr"/>
            <a:lstStyle/>
            <a:p>
              <a:pPr algn="ctr">
                <a:lnSpc>
                  <a:spcPct val="106000"/>
                </a:lnSpc>
                <a:spcAft>
                  <a:spcPts val="300"/>
                </a:spcAft>
                <a:buFont typeface="Wingdings 2" pitchFamily="18" charset="2"/>
                <a:buNone/>
              </a:pPr>
              <a:endParaRPr lang="en-CA" sz="1400" b="1"/>
            </a:p>
          </p:txBody>
        </p:sp>
        <p:pic>
          <p:nvPicPr>
            <p:cNvPr id="33" name="Picture 32">
              <a:extLst>
                <a:ext uri="{FF2B5EF4-FFF2-40B4-BE49-F238E27FC236}">
                  <a16:creationId xmlns:a16="http://schemas.microsoft.com/office/drawing/2014/main" id="{866D1B85-902C-00D9-CFFF-4009B4909AD0}"/>
                </a:ext>
              </a:extLst>
            </p:cNvPr>
            <p:cNvPicPr>
              <a:picLocks noChangeAspect="1"/>
            </p:cNvPicPr>
            <p:nvPr/>
          </p:nvPicPr>
          <p:blipFill>
            <a:blip r:embed="rId6"/>
            <a:stretch>
              <a:fillRect/>
            </a:stretch>
          </p:blipFill>
          <p:spPr>
            <a:xfrm>
              <a:off x="6335259" y="2070161"/>
              <a:ext cx="295579" cy="295579"/>
            </a:xfrm>
            <a:prstGeom prst="rect">
              <a:avLst/>
            </a:prstGeom>
          </p:spPr>
        </p:pic>
      </p:grpSp>
      <p:sp>
        <p:nvSpPr>
          <p:cNvPr id="34" name="TextBox 33">
            <a:extLst>
              <a:ext uri="{FF2B5EF4-FFF2-40B4-BE49-F238E27FC236}">
                <a16:creationId xmlns:a16="http://schemas.microsoft.com/office/drawing/2014/main" id="{5D5860FD-1CF3-33DA-02F7-157F2338783B}"/>
              </a:ext>
            </a:extLst>
          </p:cNvPr>
          <p:cNvSpPr txBox="1">
            <a:spLocks/>
          </p:cNvSpPr>
          <p:nvPr/>
        </p:nvSpPr>
        <p:spPr>
          <a:xfrm>
            <a:off x="6872142" y="3483400"/>
            <a:ext cx="4824558" cy="623248"/>
          </a:xfrm>
          <a:prstGeom prst="rect">
            <a:avLst/>
          </a:prstGeom>
          <a:noFill/>
        </p:spPr>
        <p:txBody>
          <a:bodyPr wrap="square" lIns="0" tIns="0" rIns="0" bIns="0" rtlCol="0">
            <a:spAutoFit/>
          </a:bodyPr>
          <a:lstStyle/>
          <a:p>
            <a:pPr>
              <a:spcAft>
                <a:spcPts val="300"/>
              </a:spcAft>
              <a:buSzPct val="100000"/>
            </a:pPr>
            <a:r>
              <a:rPr lang="en-US" sz="1400" b="1">
                <a:solidFill>
                  <a:srgbClr val="313131"/>
                </a:solidFill>
                <a:latin typeface="+mj-lt"/>
              </a:rPr>
              <a:t>Addressing Industry Confusion</a:t>
            </a:r>
          </a:p>
          <a:p>
            <a:pPr>
              <a:spcAft>
                <a:spcPts val="300"/>
              </a:spcAft>
              <a:buSzPct val="100000"/>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Industry feedback indicates that the Current Guidance has caused confusion and imposed unnecessary limitations</a:t>
            </a:r>
            <a:endParaRPr lang="en-US" sz="1200">
              <a:solidFill>
                <a:srgbClr val="313131"/>
              </a:solidFill>
              <a:latin typeface="+mj-lt"/>
            </a:endParaRPr>
          </a:p>
        </p:txBody>
      </p:sp>
      <p:grpSp>
        <p:nvGrpSpPr>
          <p:cNvPr id="35" name="Group 34">
            <a:extLst>
              <a:ext uri="{FF2B5EF4-FFF2-40B4-BE49-F238E27FC236}">
                <a16:creationId xmlns:a16="http://schemas.microsoft.com/office/drawing/2014/main" id="{D18B25FC-2D21-5F3B-7A2D-73A96982E683}"/>
              </a:ext>
            </a:extLst>
          </p:cNvPr>
          <p:cNvGrpSpPr>
            <a:grpSpLocks/>
          </p:cNvGrpSpPr>
          <p:nvPr/>
        </p:nvGrpSpPr>
        <p:grpSpPr>
          <a:xfrm>
            <a:off x="6249048" y="3561024"/>
            <a:ext cx="468000" cy="468000"/>
            <a:chOff x="501650" y="5503430"/>
            <a:chExt cx="603250" cy="603250"/>
          </a:xfrm>
        </p:grpSpPr>
        <p:sp>
          <p:nvSpPr>
            <p:cNvPr id="36" name="Oval 35">
              <a:extLst>
                <a:ext uri="{FF2B5EF4-FFF2-40B4-BE49-F238E27FC236}">
                  <a16:creationId xmlns:a16="http://schemas.microsoft.com/office/drawing/2014/main" id="{A593D618-F594-2555-648D-CB155A7C6842}"/>
                </a:ext>
              </a:extLst>
            </p:cNvPr>
            <p:cNvSpPr>
              <a:spLocks/>
            </p:cNvSpPr>
            <p:nvPr/>
          </p:nvSpPr>
          <p:spPr bwMode="gray">
            <a:xfrm>
              <a:off x="501650" y="5503430"/>
              <a:ext cx="603250" cy="603250"/>
            </a:xfrm>
            <a:prstGeom prst="ellipse">
              <a:avLst/>
            </a:prstGeom>
            <a:noFill/>
            <a:ln w="19050" algn="ctr">
              <a:solidFill>
                <a:schemeClr val="accent1"/>
              </a:solidFill>
              <a:miter lim="800000"/>
              <a:headEnd/>
              <a:tailEnd/>
            </a:ln>
          </p:spPr>
          <p:txBody>
            <a:bodyPr wrap="square" lIns="432000" tIns="88900" rIns="432000" bIns="88900" rtlCol="0" anchor="ctr"/>
            <a:lstStyle/>
            <a:p>
              <a:pPr algn="ctr">
                <a:lnSpc>
                  <a:spcPct val="106000"/>
                </a:lnSpc>
                <a:spcAft>
                  <a:spcPts val="300"/>
                </a:spcAft>
                <a:buFont typeface="Wingdings 2" pitchFamily="18" charset="2"/>
                <a:buNone/>
              </a:pPr>
              <a:endParaRPr lang="en-CA" sz="1400" b="1"/>
            </a:p>
          </p:txBody>
        </p:sp>
        <p:pic>
          <p:nvPicPr>
            <p:cNvPr id="37" name="Picture 36">
              <a:extLst>
                <a:ext uri="{FF2B5EF4-FFF2-40B4-BE49-F238E27FC236}">
                  <a16:creationId xmlns:a16="http://schemas.microsoft.com/office/drawing/2014/main" id="{AEA2CE91-805D-948A-36BD-E12E814C2096}"/>
                </a:ext>
              </a:extLst>
            </p:cNvPr>
            <p:cNvPicPr>
              <a:picLocks noChangeAspect="1"/>
            </p:cNvPicPr>
            <p:nvPr/>
          </p:nvPicPr>
          <p:blipFill>
            <a:blip r:embed="rId7"/>
            <a:stretch>
              <a:fillRect/>
            </a:stretch>
          </p:blipFill>
          <p:spPr>
            <a:xfrm>
              <a:off x="607698" y="5609478"/>
              <a:ext cx="391155" cy="391155"/>
            </a:xfrm>
            <a:prstGeom prst="rect">
              <a:avLst/>
            </a:prstGeom>
          </p:spPr>
        </p:pic>
      </p:grpSp>
      <p:sp>
        <p:nvSpPr>
          <p:cNvPr id="38" name="TextBox 37">
            <a:extLst>
              <a:ext uri="{FF2B5EF4-FFF2-40B4-BE49-F238E27FC236}">
                <a16:creationId xmlns:a16="http://schemas.microsoft.com/office/drawing/2014/main" id="{D6F6EB46-C0B3-237A-2BA3-75A89559D513}"/>
              </a:ext>
            </a:extLst>
          </p:cNvPr>
          <p:cNvSpPr txBox="1">
            <a:spLocks/>
          </p:cNvSpPr>
          <p:nvPr/>
        </p:nvSpPr>
        <p:spPr>
          <a:xfrm>
            <a:off x="6872142" y="2648697"/>
            <a:ext cx="4824558" cy="623248"/>
          </a:xfrm>
          <a:prstGeom prst="rect">
            <a:avLst/>
          </a:prstGeom>
          <a:noFill/>
        </p:spPr>
        <p:txBody>
          <a:bodyPr wrap="square" lIns="0" tIns="0" rIns="0" bIns="0" rtlCol="0">
            <a:spAutoFit/>
          </a:bodyPr>
          <a:lstStyle/>
          <a:p>
            <a:pPr>
              <a:spcAft>
                <a:spcPts val="300"/>
              </a:spcAft>
              <a:buSzPct val="100000"/>
            </a:pPr>
            <a:r>
              <a:rPr lang="en-US" sz="1400" b="1">
                <a:solidFill>
                  <a:srgbClr val="313131"/>
                </a:solidFill>
                <a:latin typeface="+mj-lt"/>
              </a:rPr>
              <a:t>Mitigating Unregulated Risks</a:t>
            </a:r>
          </a:p>
          <a:p>
            <a:pPr>
              <a:spcAft>
                <a:spcPts val="300"/>
              </a:spcAft>
              <a:buSzPct val="100000"/>
            </a:pPr>
            <a:r>
              <a:rPr lang="en-US" sz="1200">
                <a:solidFill>
                  <a:srgbClr val="313131"/>
                </a:solidFill>
                <a:latin typeface="+mj-lt"/>
              </a:rPr>
              <a:t>Investors' reliance on unverified sources, such as social media and finfluencers, exposes them to misinformation and potential harm</a:t>
            </a:r>
          </a:p>
        </p:txBody>
      </p:sp>
      <p:grpSp>
        <p:nvGrpSpPr>
          <p:cNvPr id="40" name="Group 39">
            <a:extLst>
              <a:ext uri="{FF2B5EF4-FFF2-40B4-BE49-F238E27FC236}">
                <a16:creationId xmlns:a16="http://schemas.microsoft.com/office/drawing/2014/main" id="{9C70C1BF-38ED-6B8A-223B-EF005BA4962A}"/>
              </a:ext>
            </a:extLst>
          </p:cNvPr>
          <p:cNvGrpSpPr>
            <a:grpSpLocks/>
          </p:cNvGrpSpPr>
          <p:nvPr/>
        </p:nvGrpSpPr>
        <p:grpSpPr>
          <a:xfrm>
            <a:off x="6249048" y="2726321"/>
            <a:ext cx="468000" cy="468000"/>
            <a:chOff x="501650" y="4631096"/>
            <a:chExt cx="603250" cy="603250"/>
          </a:xfrm>
        </p:grpSpPr>
        <p:sp>
          <p:nvSpPr>
            <p:cNvPr id="42" name="Oval 41">
              <a:extLst>
                <a:ext uri="{FF2B5EF4-FFF2-40B4-BE49-F238E27FC236}">
                  <a16:creationId xmlns:a16="http://schemas.microsoft.com/office/drawing/2014/main" id="{F2265DDD-979A-38FF-5E5E-BFC62C00D24E}"/>
                </a:ext>
              </a:extLst>
            </p:cNvPr>
            <p:cNvSpPr>
              <a:spLocks/>
            </p:cNvSpPr>
            <p:nvPr/>
          </p:nvSpPr>
          <p:spPr bwMode="gray">
            <a:xfrm>
              <a:off x="501650" y="4631096"/>
              <a:ext cx="603250" cy="603250"/>
            </a:xfrm>
            <a:prstGeom prst="ellipse">
              <a:avLst/>
            </a:prstGeom>
            <a:noFill/>
            <a:ln w="19050" algn="ctr">
              <a:solidFill>
                <a:schemeClr val="accent1"/>
              </a:solidFill>
              <a:miter lim="800000"/>
              <a:headEnd/>
              <a:tailEnd/>
            </a:ln>
          </p:spPr>
          <p:txBody>
            <a:bodyPr wrap="square" lIns="432000" tIns="88900" rIns="432000" bIns="88900" rtlCol="0" anchor="ctr"/>
            <a:lstStyle/>
            <a:p>
              <a:pPr algn="ctr">
                <a:lnSpc>
                  <a:spcPct val="106000"/>
                </a:lnSpc>
                <a:spcAft>
                  <a:spcPts val="300"/>
                </a:spcAft>
                <a:buFont typeface="Wingdings 2" pitchFamily="18" charset="2"/>
                <a:buNone/>
              </a:pPr>
              <a:endParaRPr lang="en-CA" sz="1400" b="1"/>
            </a:p>
          </p:txBody>
        </p:sp>
        <p:pic>
          <p:nvPicPr>
            <p:cNvPr id="44" name="Picture 43">
              <a:extLst>
                <a:ext uri="{FF2B5EF4-FFF2-40B4-BE49-F238E27FC236}">
                  <a16:creationId xmlns:a16="http://schemas.microsoft.com/office/drawing/2014/main" id="{4672BFD0-4BE9-B964-8BE8-865EAB054720}"/>
                </a:ext>
              </a:extLst>
            </p:cNvPr>
            <p:cNvPicPr>
              <a:picLocks noChangeAspect="1"/>
            </p:cNvPicPr>
            <p:nvPr/>
          </p:nvPicPr>
          <p:blipFill>
            <a:blip r:embed="rId8"/>
            <a:stretch>
              <a:fillRect/>
            </a:stretch>
          </p:blipFill>
          <p:spPr>
            <a:xfrm>
              <a:off x="593725" y="4723171"/>
              <a:ext cx="419100" cy="419100"/>
            </a:xfrm>
            <a:prstGeom prst="rect">
              <a:avLst/>
            </a:prstGeom>
          </p:spPr>
        </p:pic>
      </p:grpSp>
      <p:sp>
        <p:nvSpPr>
          <p:cNvPr id="49" name="Rectangle 48">
            <a:extLst>
              <a:ext uri="{FF2B5EF4-FFF2-40B4-BE49-F238E27FC236}">
                <a16:creationId xmlns:a16="http://schemas.microsoft.com/office/drawing/2014/main" id="{CFF5B8F9-44C3-5543-B9AC-EE9EACAF093A}"/>
              </a:ext>
            </a:extLst>
          </p:cNvPr>
          <p:cNvSpPr>
            <a:spLocks/>
          </p:cNvSpPr>
          <p:nvPr/>
        </p:nvSpPr>
        <p:spPr>
          <a:xfrm>
            <a:off x="501650" y="1813994"/>
            <a:ext cx="5480050" cy="2169825"/>
          </a:xfrm>
          <a:prstGeom prst="rect">
            <a:avLst/>
          </a:prstGeom>
          <a:noFill/>
        </p:spPr>
        <p:txBody>
          <a:bodyPr wrap="square" lIns="0">
            <a:spAutoFit/>
          </a:bodyPr>
          <a:lstStyle/>
          <a:p>
            <a:pPr marL="171450" marR="0" lvl="1" indent="-171450" algn="l" defTabSz="914400" rtl="0" eaLnBrk="1" fontAlgn="auto" latinLnBrk="0" hangingPunct="1">
              <a:lnSpc>
                <a:spcPct val="100000"/>
              </a:lnSpc>
              <a:spcBef>
                <a:spcPts val="0"/>
              </a:spcBef>
              <a:spcAft>
                <a:spcPts val="600"/>
              </a:spcAft>
              <a:buClrTx/>
              <a:buSzPct val="10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The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Canadian Investment Regulatory Organization (CIRO)</a:t>
            </a:r>
            <a:r>
              <a:rPr kumimoji="0" lang="en-US" sz="1200" b="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 is proposing to replace its current Order Execution Only (OEO) guidance (Guidance Note 3400-21-003, issued in March 2021, referred to as the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Current Guidance’</a:t>
            </a:r>
            <a:r>
              <a:rPr kumimoji="0" lang="en-US" sz="1200" b="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 with a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new, principle-based framework </a:t>
            </a:r>
            <a:r>
              <a:rPr kumimoji="0" lang="en-US" sz="1200" b="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(referred to as the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Proposed Guidance’</a:t>
            </a:r>
            <a:r>
              <a:rPr kumimoji="0" lang="en-US" sz="1200" b="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a:t>
            </a:r>
          </a:p>
          <a:p>
            <a:pPr marL="171450" marR="0" lvl="1" indent="-171450" algn="l" defTabSz="914400" rtl="0" eaLnBrk="1" fontAlgn="auto" latinLnBrk="0" hangingPunct="1">
              <a:lnSpc>
                <a:spcPct val="100000"/>
              </a:lnSpc>
              <a:spcBef>
                <a:spcPts val="0"/>
              </a:spcBef>
              <a:spcAft>
                <a:spcPts val="600"/>
              </a:spcAft>
              <a:buClrTx/>
              <a:buSzPct val="100000"/>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The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Proposed Guidance clarifies the prohibition on recommendations </a:t>
            </a:r>
            <a:r>
              <a:rPr kumimoji="0" lang="en-US" sz="1200" b="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in OEO accounts and consequently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broadens the scope of decision-making supports </a:t>
            </a:r>
            <a:r>
              <a:rPr kumimoji="0" lang="en-US" sz="1200" b="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that OEO Dealers (‘OEOs’) can offer investors</a:t>
            </a:r>
          </a:p>
          <a:p>
            <a:pPr marL="171450" marR="0" lvl="1" indent="-171450" algn="l" defTabSz="914400" rtl="0" eaLnBrk="1" fontAlgn="auto" latinLnBrk="0" hangingPunct="1">
              <a:lnSpc>
                <a:spcPct val="100000"/>
              </a:lnSpc>
              <a:spcBef>
                <a:spcPts val="0"/>
              </a:spcBef>
              <a:spcAft>
                <a:spcPts val="60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CIRO is accepting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comments on the Proposed </a:t>
            </a:r>
            <a:r>
              <a:rPr lang="en-US" sz="1200" b="1">
                <a:solidFill>
                  <a:srgbClr val="000000"/>
                </a:solidFill>
                <a:latin typeface="Calibri"/>
                <a:ea typeface="Open Sans" panose="020B0606030504020204" pitchFamily="34" charset="0"/>
                <a:cs typeface="Calibri" panose="020F0502020204030204" pitchFamily="34" charset="0"/>
              </a:rPr>
              <a:t>Guidance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until November 2025</a:t>
            </a:r>
          </a:p>
          <a:p>
            <a:pPr marL="171450" marR="0" lvl="1" indent="-171450" algn="l" defTabSz="914400" rtl="0" eaLnBrk="1" fontAlgn="auto" latinLnBrk="0" hangingPunct="1">
              <a:lnSpc>
                <a:spcPct val="100000"/>
              </a:lnSpc>
              <a:spcBef>
                <a:spcPts val="0"/>
              </a:spcBef>
              <a:spcAft>
                <a:spcPts val="60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The finalized guidance is targeted for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publication in spring 2026</a:t>
            </a:r>
            <a:r>
              <a:rPr kumimoji="0" lang="en-US" sz="120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 with a CIRO executive suggesting it could </a:t>
            </a:r>
            <a:r>
              <a:rPr kumimoji="0" lang="en-US" sz="12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take effect as early as late March or early April 2026</a:t>
            </a:r>
            <a:r>
              <a:rPr kumimoji="0" lang="en-US" sz="1200" i="0" u="none" strike="noStrike" kern="1200" cap="none" spc="0" normalizeH="0" baseline="30000" noProof="0">
                <a:ln>
                  <a:noFill/>
                </a:ln>
                <a:solidFill>
                  <a:srgbClr val="000000"/>
                </a:solidFill>
                <a:effectLst/>
                <a:uLnTx/>
                <a:uFillTx/>
                <a:latin typeface="Calibri"/>
                <a:ea typeface="Open Sans" panose="020B0606030504020204" pitchFamily="34" charset="0"/>
                <a:cs typeface="Calibri" panose="020F0502020204030204" pitchFamily="34" charset="0"/>
              </a:rPr>
              <a:t>1</a:t>
            </a:r>
            <a:endParaRPr lang="en-US" sz="1200" baseline="30000">
              <a:solidFill>
                <a:srgbClr val="000000"/>
              </a:solidFill>
              <a:latin typeface="Calibri"/>
              <a:ea typeface="Open Sans" panose="020B0606030504020204" pitchFamily="34" charset="0"/>
              <a:cs typeface="Calibri" panose="020F0502020204030204" pitchFamily="34" charset="0"/>
            </a:endParaRPr>
          </a:p>
        </p:txBody>
      </p:sp>
      <p:cxnSp>
        <p:nvCxnSpPr>
          <p:cNvPr id="7" name="Straight Connector 6">
            <a:extLst>
              <a:ext uri="{FF2B5EF4-FFF2-40B4-BE49-F238E27FC236}">
                <a16:creationId xmlns:a16="http://schemas.microsoft.com/office/drawing/2014/main" id="{BA4C992B-8431-1721-4DA1-9B04A8BE4409}"/>
              </a:ext>
            </a:extLst>
          </p:cNvPr>
          <p:cNvCxnSpPr>
            <a:cxnSpLocks/>
          </p:cNvCxnSpPr>
          <p:nvPr/>
        </p:nvCxnSpPr>
        <p:spPr>
          <a:xfrm>
            <a:off x="696000" y="5354359"/>
            <a:ext cx="10800000" cy="0"/>
          </a:xfrm>
          <a:prstGeom prst="line">
            <a:avLst/>
          </a:prstGeom>
          <a:ln w="19050">
            <a:solidFill>
              <a:schemeClr val="tx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70C8D0DF-B731-F141-6E23-66B639C39330}"/>
              </a:ext>
            </a:extLst>
          </p:cNvPr>
          <p:cNvSpPr>
            <a:spLocks/>
          </p:cNvSpPr>
          <p:nvPr/>
        </p:nvSpPr>
        <p:spPr bwMode="gray">
          <a:xfrm>
            <a:off x="1686000" y="5268339"/>
            <a:ext cx="180000" cy="180000"/>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3" name="TextBox 2">
            <a:extLst>
              <a:ext uri="{FF2B5EF4-FFF2-40B4-BE49-F238E27FC236}">
                <a16:creationId xmlns:a16="http://schemas.microsoft.com/office/drawing/2014/main" id="{53442472-9E88-9F7F-7B91-2DA98D146885}"/>
              </a:ext>
            </a:extLst>
          </p:cNvPr>
          <p:cNvSpPr txBox="1">
            <a:spLocks/>
          </p:cNvSpPr>
          <p:nvPr/>
        </p:nvSpPr>
        <p:spPr>
          <a:xfrm>
            <a:off x="696000" y="5600032"/>
            <a:ext cx="2160000" cy="684803"/>
          </a:xfrm>
          <a:prstGeom prst="rect">
            <a:avLst/>
          </a:prstGeom>
          <a:noFill/>
        </p:spPr>
        <p:txBody>
          <a:bodyPr wrap="square" lIns="0" tIns="0" rIns="0" bIns="0" rtlCol="0">
            <a:spAutoFit/>
          </a:bodyPr>
          <a:lstStyle/>
          <a:p>
            <a:pPr algn="ctr">
              <a:spcAft>
                <a:spcPts val="300"/>
              </a:spcAft>
              <a:buSzPct val="100000"/>
            </a:pPr>
            <a:r>
              <a:rPr lang="en-CA" sz="1050" b="1"/>
              <a:t>April 9, 2018</a:t>
            </a:r>
          </a:p>
          <a:p>
            <a:pPr algn="ctr">
              <a:spcAft>
                <a:spcPts val="300"/>
              </a:spcAft>
              <a:buSzPct val="100000"/>
            </a:pPr>
            <a:r>
              <a:rPr lang="en-CA" sz="1050"/>
              <a:t>CIRO published Guidance Note 3400-21-003: Guidance on OEO Account Services and Activities</a:t>
            </a:r>
          </a:p>
        </p:txBody>
      </p:sp>
      <p:sp>
        <p:nvSpPr>
          <p:cNvPr id="8" name="TextBox 7">
            <a:extLst>
              <a:ext uri="{FF2B5EF4-FFF2-40B4-BE49-F238E27FC236}">
                <a16:creationId xmlns:a16="http://schemas.microsoft.com/office/drawing/2014/main" id="{B41596D8-33A3-AF5C-89A9-2738A7606869}"/>
              </a:ext>
            </a:extLst>
          </p:cNvPr>
          <p:cNvSpPr txBox="1">
            <a:spLocks/>
          </p:cNvSpPr>
          <p:nvPr/>
        </p:nvSpPr>
        <p:spPr>
          <a:xfrm>
            <a:off x="1949886" y="4423883"/>
            <a:ext cx="2160000" cy="684803"/>
          </a:xfrm>
          <a:prstGeom prst="rect">
            <a:avLst/>
          </a:prstGeom>
          <a:noFill/>
        </p:spPr>
        <p:txBody>
          <a:bodyPr wrap="square" lIns="0" tIns="0" rIns="0" bIns="0" rtlCol="0">
            <a:spAutoFit/>
          </a:bodyPr>
          <a:lstStyle/>
          <a:p>
            <a:pPr algn="ctr">
              <a:spcAft>
                <a:spcPts val="300"/>
              </a:spcAft>
              <a:buSzPct val="100000"/>
            </a:pPr>
            <a:r>
              <a:rPr lang="en-CA" sz="1050"/>
              <a:t>CIRO re-published Current</a:t>
            </a:r>
            <a:br>
              <a:rPr lang="en-CA" sz="1050"/>
            </a:br>
            <a:r>
              <a:rPr lang="en-CA" sz="1050"/>
              <a:t>Guidance with immaterial changes from the 2018 version</a:t>
            </a:r>
          </a:p>
          <a:p>
            <a:pPr algn="ctr">
              <a:spcAft>
                <a:spcPts val="300"/>
              </a:spcAft>
              <a:buSzPct val="100000"/>
            </a:pPr>
            <a:r>
              <a:rPr lang="en-CA" sz="1050" b="1"/>
              <a:t>March 12, 2021</a:t>
            </a:r>
          </a:p>
        </p:txBody>
      </p:sp>
      <p:sp>
        <p:nvSpPr>
          <p:cNvPr id="9" name="TextBox 8">
            <a:extLst>
              <a:ext uri="{FF2B5EF4-FFF2-40B4-BE49-F238E27FC236}">
                <a16:creationId xmlns:a16="http://schemas.microsoft.com/office/drawing/2014/main" id="{FEDF4EF1-03B2-13DC-5E7C-7171123F2F13}"/>
              </a:ext>
            </a:extLst>
          </p:cNvPr>
          <p:cNvSpPr txBox="1">
            <a:spLocks/>
          </p:cNvSpPr>
          <p:nvPr/>
        </p:nvSpPr>
        <p:spPr>
          <a:xfrm>
            <a:off x="4457658" y="4423883"/>
            <a:ext cx="2160000" cy="684803"/>
          </a:xfrm>
          <a:prstGeom prst="rect">
            <a:avLst/>
          </a:prstGeom>
          <a:noFill/>
        </p:spPr>
        <p:txBody>
          <a:bodyPr wrap="square" lIns="0" tIns="0" rIns="0" bIns="0" rtlCol="0">
            <a:spAutoFit/>
          </a:bodyPr>
          <a:lstStyle/>
          <a:p>
            <a:pPr algn="ctr">
              <a:spcAft>
                <a:spcPts val="300"/>
              </a:spcAft>
              <a:buSzPct val="100000"/>
            </a:pPr>
            <a:r>
              <a:rPr lang="en-CA" sz="1050"/>
              <a:t>CIRO issued a Request for Comments on Non-Tailored Advice in the OEO channel (‘Phase 1 Consultation’)</a:t>
            </a:r>
          </a:p>
          <a:p>
            <a:pPr algn="ctr">
              <a:spcAft>
                <a:spcPts val="300"/>
              </a:spcAft>
              <a:buSzPct val="100000"/>
            </a:pPr>
            <a:r>
              <a:rPr lang="en-CA" sz="1050" b="1"/>
              <a:t>December 13, 2024</a:t>
            </a:r>
          </a:p>
        </p:txBody>
      </p:sp>
      <p:sp>
        <p:nvSpPr>
          <p:cNvPr id="10" name="TextBox 9">
            <a:extLst>
              <a:ext uri="{FF2B5EF4-FFF2-40B4-BE49-F238E27FC236}">
                <a16:creationId xmlns:a16="http://schemas.microsoft.com/office/drawing/2014/main" id="{ADAFF95F-9FA1-0235-C8EE-042E01C42002}"/>
              </a:ext>
            </a:extLst>
          </p:cNvPr>
          <p:cNvSpPr txBox="1">
            <a:spLocks/>
          </p:cNvSpPr>
          <p:nvPr/>
        </p:nvSpPr>
        <p:spPr>
          <a:xfrm>
            <a:off x="5711544" y="5600032"/>
            <a:ext cx="2160000" cy="523220"/>
          </a:xfrm>
          <a:prstGeom prst="rect">
            <a:avLst/>
          </a:prstGeom>
          <a:noFill/>
        </p:spPr>
        <p:txBody>
          <a:bodyPr wrap="square" lIns="0" tIns="0" rIns="0" bIns="0" rtlCol="0">
            <a:spAutoFit/>
          </a:bodyPr>
          <a:lstStyle/>
          <a:p>
            <a:pPr algn="ctr">
              <a:spcAft>
                <a:spcPts val="300"/>
              </a:spcAft>
              <a:buSzPct val="100000"/>
            </a:pPr>
            <a:r>
              <a:rPr lang="en-CA" sz="1050" b="1"/>
              <a:t>February 26, 2025</a:t>
            </a:r>
          </a:p>
          <a:p>
            <a:pPr algn="ctr">
              <a:spcAft>
                <a:spcPts val="300"/>
              </a:spcAft>
              <a:buSzPct val="100000"/>
            </a:pPr>
            <a:r>
              <a:rPr lang="en-CA" sz="1050"/>
              <a:t>Comment period for Phase 1 Consultation ended</a:t>
            </a:r>
          </a:p>
        </p:txBody>
      </p:sp>
      <p:sp>
        <p:nvSpPr>
          <p:cNvPr id="11" name="TextBox 10">
            <a:extLst>
              <a:ext uri="{FF2B5EF4-FFF2-40B4-BE49-F238E27FC236}">
                <a16:creationId xmlns:a16="http://schemas.microsoft.com/office/drawing/2014/main" id="{E6F303A7-1C3A-2E0C-9A56-99A1434D1E2B}"/>
              </a:ext>
            </a:extLst>
          </p:cNvPr>
          <p:cNvSpPr txBox="1">
            <a:spLocks/>
          </p:cNvSpPr>
          <p:nvPr/>
        </p:nvSpPr>
        <p:spPr>
          <a:xfrm>
            <a:off x="3203772" y="5600032"/>
            <a:ext cx="2160000" cy="523220"/>
          </a:xfrm>
          <a:prstGeom prst="rect">
            <a:avLst/>
          </a:prstGeom>
          <a:noFill/>
        </p:spPr>
        <p:txBody>
          <a:bodyPr wrap="square" lIns="0" tIns="0" rIns="0" bIns="0" rtlCol="0">
            <a:spAutoFit/>
          </a:bodyPr>
          <a:lstStyle/>
          <a:p>
            <a:pPr algn="ctr">
              <a:spcAft>
                <a:spcPts val="300"/>
              </a:spcAft>
              <a:buSzPct val="100000"/>
            </a:pPr>
            <a:r>
              <a:rPr lang="en-CA" sz="1050" b="1"/>
              <a:t>December 31, 2021</a:t>
            </a:r>
          </a:p>
          <a:p>
            <a:pPr algn="ctr">
              <a:spcAft>
                <a:spcPts val="300"/>
              </a:spcAft>
              <a:buSzPct val="100000"/>
            </a:pPr>
            <a:r>
              <a:rPr lang="en-CA" sz="1050"/>
              <a:t>Current Guidance</a:t>
            </a:r>
            <a:br>
              <a:rPr lang="en-CA" sz="1050"/>
            </a:br>
            <a:r>
              <a:rPr lang="en-CA" sz="1050"/>
              <a:t>came into effect</a:t>
            </a:r>
          </a:p>
        </p:txBody>
      </p:sp>
      <p:sp>
        <p:nvSpPr>
          <p:cNvPr id="12" name="TextBox 11">
            <a:extLst>
              <a:ext uri="{FF2B5EF4-FFF2-40B4-BE49-F238E27FC236}">
                <a16:creationId xmlns:a16="http://schemas.microsoft.com/office/drawing/2014/main" id="{88726A27-58FB-76D0-2528-42E0F1549848}"/>
              </a:ext>
            </a:extLst>
          </p:cNvPr>
          <p:cNvSpPr txBox="1">
            <a:spLocks/>
          </p:cNvSpPr>
          <p:nvPr/>
        </p:nvSpPr>
        <p:spPr>
          <a:xfrm>
            <a:off x="6965430" y="4423883"/>
            <a:ext cx="2160000" cy="684803"/>
          </a:xfrm>
          <a:prstGeom prst="rect">
            <a:avLst/>
          </a:prstGeom>
          <a:noFill/>
        </p:spPr>
        <p:txBody>
          <a:bodyPr wrap="square" lIns="0" tIns="0" rIns="0" bIns="0" rtlCol="0">
            <a:spAutoFit/>
          </a:bodyPr>
          <a:lstStyle/>
          <a:p>
            <a:pPr algn="ctr">
              <a:spcAft>
                <a:spcPts val="300"/>
              </a:spcAft>
              <a:buSzPct val="100000"/>
            </a:pPr>
            <a:r>
              <a:rPr lang="en-CA" sz="1050">
                <a:solidFill>
                  <a:srgbClr val="313131"/>
                </a:solidFill>
              </a:rPr>
              <a:t>CIRO published Draft Proposed Guidance Note and opened a 90-day public comment period</a:t>
            </a:r>
          </a:p>
          <a:p>
            <a:pPr algn="ctr">
              <a:spcAft>
                <a:spcPts val="300"/>
              </a:spcAft>
              <a:buSzPct val="100000"/>
            </a:pPr>
            <a:r>
              <a:rPr lang="en-CA" sz="1050" b="1">
                <a:solidFill>
                  <a:srgbClr val="313131"/>
                </a:solidFill>
              </a:rPr>
              <a:t>August 12, 2025</a:t>
            </a:r>
          </a:p>
        </p:txBody>
      </p:sp>
      <p:sp>
        <p:nvSpPr>
          <p:cNvPr id="14" name="TextBox 13">
            <a:extLst>
              <a:ext uri="{FF2B5EF4-FFF2-40B4-BE49-F238E27FC236}">
                <a16:creationId xmlns:a16="http://schemas.microsoft.com/office/drawing/2014/main" id="{F026D30C-37FD-0F60-FBC2-32F03FA6ADE9}"/>
              </a:ext>
            </a:extLst>
          </p:cNvPr>
          <p:cNvSpPr txBox="1">
            <a:spLocks/>
          </p:cNvSpPr>
          <p:nvPr/>
        </p:nvSpPr>
        <p:spPr>
          <a:xfrm>
            <a:off x="8219316" y="5600032"/>
            <a:ext cx="2160000" cy="523220"/>
          </a:xfrm>
          <a:prstGeom prst="rect">
            <a:avLst/>
          </a:prstGeom>
          <a:noFill/>
        </p:spPr>
        <p:txBody>
          <a:bodyPr wrap="square" lIns="0" tIns="0" rIns="0" bIns="0" rtlCol="0">
            <a:spAutoFit/>
          </a:bodyPr>
          <a:lstStyle/>
          <a:p>
            <a:pPr algn="ctr">
              <a:spcAft>
                <a:spcPts val="300"/>
              </a:spcAft>
              <a:buSzPct val="100000"/>
            </a:pPr>
            <a:r>
              <a:rPr lang="en-CA" sz="1050" b="1">
                <a:solidFill>
                  <a:srgbClr val="313131"/>
                </a:solidFill>
              </a:rPr>
              <a:t>November 10, 2025</a:t>
            </a:r>
          </a:p>
          <a:p>
            <a:pPr algn="ctr">
              <a:spcAft>
                <a:spcPts val="300"/>
              </a:spcAft>
              <a:buSzPct val="100000"/>
            </a:pPr>
            <a:r>
              <a:rPr lang="en-CA" sz="1050">
                <a:solidFill>
                  <a:srgbClr val="313131"/>
                </a:solidFill>
              </a:rPr>
              <a:t>Comment period for Draft Proposed Guidance Note ends</a:t>
            </a:r>
          </a:p>
        </p:txBody>
      </p:sp>
      <p:sp>
        <p:nvSpPr>
          <p:cNvPr id="16" name="Oval 15">
            <a:extLst>
              <a:ext uri="{FF2B5EF4-FFF2-40B4-BE49-F238E27FC236}">
                <a16:creationId xmlns:a16="http://schemas.microsoft.com/office/drawing/2014/main" id="{154C98DC-A45A-C834-52C1-5BD69652C54B}"/>
              </a:ext>
            </a:extLst>
          </p:cNvPr>
          <p:cNvSpPr>
            <a:spLocks/>
          </p:cNvSpPr>
          <p:nvPr/>
        </p:nvSpPr>
        <p:spPr bwMode="gray">
          <a:xfrm>
            <a:off x="2939886" y="5268339"/>
            <a:ext cx="180000" cy="180000"/>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17" name="Oval 16">
            <a:extLst>
              <a:ext uri="{FF2B5EF4-FFF2-40B4-BE49-F238E27FC236}">
                <a16:creationId xmlns:a16="http://schemas.microsoft.com/office/drawing/2014/main" id="{F24B0D60-E202-A9EC-1E3E-0AF237D936E4}"/>
              </a:ext>
            </a:extLst>
          </p:cNvPr>
          <p:cNvSpPr>
            <a:spLocks/>
          </p:cNvSpPr>
          <p:nvPr/>
        </p:nvSpPr>
        <p:spPr bwMode="gray">
          <a:xfrm>
            <a:off x="4193772" y="5268339"/>
            <a:ext cx="180000" cy="180000"/>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18" name="Oval 17">
            <a:extLst>
              <a:ext uri="{FF2B5EF4-FFF2-40B4-BE49-F238E27FC236}">
                <a16:creationId xmlns:a16="http://schemas.microsoft.com/office/drawing/2014/main" id="{4A0C79FB-7836-7EB7-1366-7AB637B1553C}"/>
              </a:ext>
            </a:extLst>
          </p:cNvPr>
          <p:cNvSpPr>
            <a:spLocks/>
          </p:cNvSpPr>
          <p:nvPr/>
        </p:nvSpPr>
        <p:spPr bwMode="gray">
          <a:xfrm>
            <a:off x="5447658" y="5268339"/>
            <a:ext cx="180000" cy="180000"/>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19" name="Oval 18">
            <a:extLst>
              <a:ext uri="{FF2B5EF4-FFF2-40B4-BE49-F238E27FC236}">
                <a16:creationId xmlns:a16="http://schemas.microsoft.com/office/drawing/2014/main" id="{D230118B-2A0F-580B-1C2E-52E8D41E28D8}"/>
              </a:ext>
            </a:extLst>
          </p:cNvPr>
          <p:cNvSpPr>
            <a:spLocks/>
          </p:cNvSpPr>
          <p:nvPr/>
        </p:nvSpPr>
        <p:spPr bwMode="gray">
          <a:xfrm>
            <a:off x="6701544" y="5268339"/>
            <a:ext cx="180000" cy="180000"/>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20" name="Oval 19">
            <a:extLst>
              <a:ext uri="{FF2B5EF4-FFF2-40B4-BE49-F238E27FC236}">
                <a16:creationId xmlns:a16="http://schemas.microsoft.com/office/drawing/2014/main" id="{8FA192E2-A3E9-4B51-0FFB-386C60492864}"/>
              </a:ext>
            </a:extLst>
          </p:cNvPr>
          <p:cNvSpPr>
            <a:spLocks/>
          </p:cNvSpPr>
          <p:nvPr/>
        </p:nvSpPr>
        <p:spPr bwMode="gray">
          <a:xfrm>
            <a:off x="7955430" y="5268339"/>
            <a:ext cx="180000" cy="180000"/>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22" name="Oval 21">
            <a:extLst>
              <a:ext uri="{FF2B5EF4-FFF2-40B4-BE49-F238E27FC236}">
                <a16:creationId xmlns:a16="http://schemas.microsoft.com/office/drawing/2014/main" id="{9CEDB129-7D3A-16CB-1DDA-48208B04CD02}"/>
              </a:ext>
            </a:extLst>
          </p:cNvPr>
          <p:cNvSpPr>
            <a:spLocks/>
          </p:cNvSpPr>
          <p:nvPr/>
        </p:nvSpPr>
        <p:spPr bwMode="gray">
          <a:xfrm>
            <a:off x="10463200" y="5268339"/>
            <a:ext cx="180000" cy="180000"/>
          </a:xfrm>
          <a:prstGeom prst="ellipse">
            <a:avLst/>
          </a:prstGeom>
          <a:solidFill>
            <a:schemeClr val="bg1">
              <a:lumMod val="95000"/>
            </a:schemeClr>
          </a:solidFill>
          <a:ln w="19050" algn="ctr">
            <a:solidFill>
              <a:schemeClr val="tx2"/>
            </a:solidFill>
            <a:prstDash val="sysDash"/>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39" name="TextBox 38">
            <a:extLst>
              <a:ext uri="{FF2B5EF4-FFF2-40B4-BE49-F238E27FC236}">
                <a16:creationId xmlns:a16="http://schemas.microsoft.com/office/drawing/2014/main" id="{F8643A9C-2CAF-0B22-00DF-7D9F817C5FA3}"/>
              </a:ext>
            </a:extLst>
          </p:cNvPr>
          <p:cNvSpPr txBox="1">
            <a:spLocks/>
          </p:cNvSpPr>
          <p:nvPr/>
        </p:nvSpPr>
        <p:spPr>
          <a:xfrm>
            <a:off x="9473200" y="4585466"/>
            <a:ext cx="2160000" cy="523220"/>
          </a:xfrm>
          <a:prstGeom prst="rect">
            <a:avLst/>
          </a:prstGeom>
          <a:noFill/>
        </p:spPr>
        <p:txBody>
          <a:bodyPr wrap="square" lIns="0" tIns="0" rIns="0" bIns="0" rtlCol="0">
            <a:spAutoFit/>
          </a:bodyPr>
          <a:lstStyle/>
          <a:p>
            <a:pPr algn="ctr">
              <a:spcAft>
                <a:spcPts val="300"/>
              </a:spcAft>
              <a:buSzPct val="100000"/>
            </a:pPr>
            <a:r>
              <a:rPr lang="en-CA" sz="1050">
                <a:solidFill>
                  <a:srgbClr val="313131"/>
                </a:solidFill>
              </a:rPr>
              <a:t>New Guidance is expected to be finalized and come into effect</a:t>
            </a:r>
          </a:p>
          <a:p>
            <a:pPr algn="ctr">
              <a:spcAft>
                <a:spcPts val="300"/>
              </a:spcAft>
              <a:buSzPct val="100000"/>
            </a:pPr>
            <a:r>
              <a:rPr lang="en-CA" sz="1050" b="1">
                <a:solidFill>
                  <a:srgbClr val="313131"/>
                </a:solidFill>
              </a:rPr>
              <a:t>March – April 2026</a:t>
            </a:r>
          </a:p>
        </p:txBody>
      </p:sp>
      <p:sp>
        <p:nvSpPr>
          <p:cNvPr id="41" name="Oval 40">
            <a:extLst>
              <a:ext uri="{FF2B5EF4-FFF2-40B4-BE49-F238E27FC236}">
                <a16:creationId xmlns:a16="http://schemas.microsoft.com/office/drawing/2014/main" id="{242AE9BC-2ACB-B056-D310-7879CB860AA1}"/>
              </a:ext>
            </a:extLst>
          </p:cNvPr>
          <p:cNvSpPr>
            <a:spLocks/>
          </p:cNvSpPr>
          <p:nvPr/>
        </p:nvSpPr>
        <p:spPr bwMode="gray">
          <a:xfrm>
            <a:off x="9209316" y="5268339"/>
            <a:ext cx="180000" cy="180000"/>
          </a:xfrm>
          <a:prstGeom prst="ellipse">
            <a:avLst/>
          </a:prstGeom>
          <a:solidFill>
            <a:schemeClr val="bg1">
              <a:lumMod val="95000"/>
            </a:schemeClr>
          </a:solidFill>
          <a:ln w="19050" algn="ctr">
            <a:solidFill>
              <a:schemeClr val="tx2"/>
            </a:solidFill>
            <a:prstDash val="sysDash"/>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81" name="TextBox 80">
            <a:extLst>
              <a:ext uri="{FF2B5EF4-FFF2-40B4-BE49-F238E27FC236}">
                <a16:creationId xmlns:a16="http://schemas.microsoft.com/office/drawing/2014/main" id="{BFD9D88C-EA83-268B-EE5C-AD20BFC4D659}"/>
              </a:ext>
            </a:extLst>
          </p:cNvPr>
          <p:cNvSpPr txBox="1">
            <a:spLocks/>
          </p:cNvSpPr>
          <p:nvPr/>
        </p:nvSpPr>
        <p:spPr>
          <a:xfrm>
            <a:off x="2683705" y="6491604"/>
            <a:ext cx="8812295" cy="123111"/>
          </a:xfrm>
          <a:prstGeom prst="rect">
            <a:avLst/>
          </a:prstGeom>
          <a:noFill/>
        </p:spPr>
        <p:txBody>
          <a:bodyPr wrap="square" lIns="0" tIns="0" rIns="0" bIns="0" rtlCol="0" anchor="b">
            <a:spAutoFit/>
          </a:bodyPr>
          <a:lstStyle/>
          <a:p>
            <a:pPr>
              <a:buSzPct val="100000"/>
            </a:pPr>
            <a:r>
              <a:rPr lang="en-CA" sz="800">
                <a:solidFill>
                  <a:srgbClr val="313131"/>
                </a:solidFill>
              </a:rPr>
              <a:t>Source: 1. The Globe and Mail: </a:t>
            </a:r>
            <a:r>
              <a:rPr lang="en-CA" sz="800">
                <a:solidFill>
                  <a:srgbClr val="313131"/>
                </a:solidFill>
                <a:hlinkClick r:id="rId9"/>
              </a:rPr>
              <a:t>New CIRO Guidance Proposes Broader Support for DIY Investors</a:t>
            </a:r>
            <a:r>
              <a:rPr lang="en-CA" sz="800">
                <a:solidFill>
                  <a:srgbClr val="313131"/>
                </a:solidFill>
              </a:rPr>
              <a:t> (August 12, 2025)</a:t>
            </a:r>
          </a:p>
        </p:txBody>
      </p:sp>
    </p:spTree>
    <p:extLst>
      <p:ext uri="{BB962C8B-B14F-4D97-AF65-F5344CB8AC3E}">
        <p14:creationId xmlns:p14="http://schemas.microsoft.com/office/powerpoint/2010/main" val="347532811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27664848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8F0E80-AC91-4A1F-8E56-CCBC7BBA31F6}"/>
              </a:ext>
            </a:extLst>
          </p:cNvPr>
          <p:cNvSpPr>
            <a:spLocks noGrp="1"/>
          </p:cNvSpPr>
          <p:nvPr>
            <p:ph type="body" sz="quarter" idx="13"/>
          </p:nvPr>
        </p:nvSpPr>
        <p:spPr>
          <a:xfrm>
            <a:off x="501650" y="651600"/>
            <a:ext cx="11188700" cy="757255"/>
          </a:xfrm>
        </p:spPr>
        <p:txBody>
          <a:bodyPr/>
          <a:lstStyle/>
          <a:p>
            <a:r>
              <a:rPr lang="en-US"/>
              <a:t>The Proposed Guidance clarifies the recommendation prohibition in OEO accounts, while expanding the range of decision-making supports OEOs can offer to bridge the ‘Advice Gap’</a:t>
            </a:r>
          </a:p>
        </p:txBody>
      </p:sp>
      <p:sp>
        <p:nvSpPr>
          <p:cNvPr id="4" name="Title 3"/>
          <p:cNvSpPr>
            <a:spLocks noGrp="1"/>
          </p:cNvSpPr>
          <p:nvPr>
            <p:ph type="title"/>
          </p:nvPr>
        </p:nvSpPr>
        <p:spPr/>
        <p:txBody>
          <a:bodyPr vert="horz"/>
          <a:lstStyle/>
          <a:p>
            <a:r>
              <a:rPr lang="en-US" noProof="0"/>
              <a:t>Key Changes in Proposed Guidance</a:t>
            </a:r>
          </a:p>
        </p:txBody>
      </p:sp>
      <p:sp>
        <p:nvSpPr>
          <p:cNvPr id="5" name="Slide Number Placeholder 4"/>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7</a:t>
            </a:fld>
            <a:endParaRPr lang="en-US"/>
          </a:p>
        </p:txBody>
      </p:sp>
      <p:grpSp>
        <p:nvGrpSpPr>
          <p:cNvPr id="38" name="Group 37">
            <a:extLst>
              <a:ext uri="{FF2B5EF4-FFF2-40B4-BE49-F238E27FC236}">
                <a16:creationId xmlns:a16="http://schemas.microsoft.com/office/drawing/2014/main" id="{4F1E0A5E-3FC6-1445-A05D-9B917AD67120}"/>
              </a:ext>
            </a:extLst>
          </p:cNvPr>
          <p:cNvGrpSpPr>
            <a:grpSpLocks/>
          </p:cNvGrpSpPr>
          <p:nvPr/>
        </p:nvGrpSpPr>
        <p:grpSpPr>
          <a:xfrm>
            <a:off x="501650" y="1356641"/>
            <a:ext cx="11188695" cy="806400"/>
            <a:chOff x="495299" y="1356641"/>
            <a:chExt cx="11188695" cy="806400"/>
          </a:xfrm>
        </p:grpSpPr>
        <p:sp>
          <p:nvSpPr>
            <p:cNvPr id="20" name="Rectangle 19">
              <a:extLst>
                <a:ext uri="{FF2B5EF4-FFF2-40B4-BE49-F238E27FC236}">
                  <a16:creationId xmlns:a16="http://schemas.microsoft.com/office/drawing/2014/main" id="{3BDF8AF2-8C68-58B3-E50C-DC782E2D4E61}"/>
                </a:ext>
              </a:extLst>
            </p:cNvPr>
            <p:cNvSpPr>
              <a:spLocks/>
            </p:cNvSpPr>
            <p:nvPr/>
          </p:nvSpPr>
          <p:spPr bwMode="gray">
            <a:xfrm>
              <a:off x="495299" y="1356641"/>
              <a:ext cx="11188695" cy="806400"/>
            </a:xfrm>
            <a:prstGeom prst="rect">
              <a:avLst/>
            </a:prstGeom>
            <a:noFill/>
            <a:ln w="19050" algn="ctr">
              <a:noFill/>
              <a:miter lim="800000"/>
              <a:headEnd/>
              <a:tailEnd/>
            </a:ln>
          </p:spPr>
          <p:txBody>
            <a:bodyPr wrap="square" lIns="180000" tIns="0" rIns="180000" bIns="0" rtlCol="0" anchor="ctr">
              <a:spAutoFit/>
            </a:bodyPr>
            <a:lstStyle/>
            <a:p>
              <a:pPr>
                <a:spcAft>
                  <a:spcPts val="300"/>
                </a:spcAft>
                <a:buFont typeface="Wingdings 2" pitchFamily="18" charset="2"/>
                <a:buNone/>
              </a:pPr>
              <a:r>
                <a:rPr lang="en-CA" sz="1400" b="1">
                  <a:solidFill>
                    <a:schemeClr val="accent1"/>
                  </a:solidFill>
                </a:rPr>
                <a:t>Revised Recommendation Prohibition</a:t>
              </a:r>
            </a:p>
            <a:p>
              <a:pPr>
                <a:spcAft>
                  <a:spcPts val="300"/>
                </a:spcAft>
                <a:buFont typeface="Wingdings 2" pitchFamily="18" charset="2"/>
                <a:buNone/>
              </a:pPr>
              <a:r>
                <a:rPr lang="en-US" sz="1200"/>
                <a:t>The Proposed Guidance narrows the definition of a ‘recommendation’ from any communication ‘that could reasonably be expected to influence’ an investor’s decision (which risks being triggered by even purely informational content) to only those that ‘endorse a specific investment decision’</a:t>
              </a:r>
              <a:endParaRPr lang="en-CA" sz="1200"/>
            </a:p>
          </p:txBody>
        </p:sp>
        <p:cxnSp>
          <p:nvCxnSpPr>
            <p:cNvPr id="26" name="Straight Connector 25">
              <a:extLst>
                <a:ext uri="{FF2B5EF4-FFF2-40B4-BE49-F238E27FC236}">
                  <a16:creationId xmlns:a16="http://schemas.microsoft.com/office/drawing/2014/main" id="{2B1DCEDA-0458-87FB-1AE9-EA66F56BFCC2}"/>
                </a:ext>
              </a:extLst>
            </p:cNvPr>
            <p:cNvCxnSpPr>
              <a:cxnSpLocks/>
            </p:cNvCxnSpPr>
            <p:nvPr/>
          </p:nvCxnSpPr>
          <p:spPr>
            <a:xfrm>
              <a:off x="495300" y="1356641"/>
              <a:ext cx="0" cy="806400"/>
            </a:xfrm>
            <a:prstGeom prst="line">
              <a:avLst/>
            </a:prstGeom>
            <a:noFill/>
            <a:ln w="63500">
              <a:solidFill>
                <a:srgbClr val="86BC25"/>
              </a:solidFil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06B87408-7914-6F48-0C4C-3E9E1E72B8C5}"/>
              </a:ext>
            </a:extLst>
          </p:cNvPr>
          <p:cNvGrpSpPr>
            <a:grpSpLocks/>
          </p:cNvGrpSpPr>
          <p:nvPr/>
        </p:nvGrpSpPr>
        <p:grpSpPr>
          <a:xfrm>
            <a:off x="501650" y="2338715"/>
            <a:ext cx="11188695" cy="806400"/>
            <a:chOff x="495299" y="2343067"/>
            <a:chExt cx="11188695" cy="806400"/>
          </a:xfrm>
        </p:grpSpPr>
        <p:sp>
          <p:nvSpPr>
            <p:cNvPr id="22" name="Rectangle 21">
              <a:extLst>
                <a:ext uri="{FF2B5EF4-FFF2-40B4-BE49-F238E27FC236}">
                  <a16:creationId xmlns:a16="http://schemas.microsoft.com/office/drawing/2014/main" id="{8C4B0660-8B3D-1E5D-0355-030F1173EC55}"/>
                </a:ext>
              </a:extLst>
            </p:cNvPr>
            <p:cNvSpPr>
              <a:spLocks/>
            </p:cNvSpPr>
            <p:nvPr/>
          </p:nvSpPr>
          <p:spPr bwMode="gray">
            <a:xfrm>
              <a:off x="495299" y="2343067"/>
              <a:ext cx="11188695" cy="806400"/>
            </a:xfrm>
            <a:prstGeom prst="rect">
              <a:avLst/>
            </a:prstGeom>
            <a:noFill/>
            <a:ln w="19050" algn="ctr">
              <a:noFill/>
              <a:miter lim="800000"/>
              <a:headEnd/>
              <a:tailEnd/>
            </a:ln>
          </p:spPr>
          <p:txBody>
            <a:bodyPr wrap="square" lIns="180000" tIns="0" rIns="180000" bIns="0" rtlCol="0" anchor="ctr">
              <a:spAutoFit/>
            </a:bodyPr>
            <a:lstStyle/>
            <a:p>
              <a:pPr marL="0" marR="0" lvl="0" indent="0" algn="l" defTabSz="914400" rtl="0" eaLnBrk="1" fontAlgn="auto" latinLnBrk="0" hangingPunct="1">
                <a:spcBef>
                  <a:spcPts val="0"/>
                </a:spcBef>
                <a:spcAft>
                  <a:spcPts val="300"/>
                </a:spcAft>
                <a:buClrTx/>
                <a:buSzTx/>
                <a:buFont typeface="Wingdings 2" pitchFamily="18" charset="2"/>
                <a:buNone/>
                <a:tabLst/>
                <a:defRPr/>
              </a:pPr>
              <a:r>
                <a:rPr kumimoji="0" lang="en-CA" sz="1400" b="1" i="0" u="none" strike="noStrike" kern="1200" cap="none" spc="0" normalizeH="0" baseline="0" noProof="0">
                  <a:ln>
                    <a:noFill/>
                  </a:ln>
                  <a:solidFill>
                    <a:schemeClr val="accent2"/>
                  </a:solidFill>
                  <a:effectLst/>
                  <a:uLnTx/>
                  <a:uFillTx/>
                  <a:latin typeface="Calibri"/>
                  <a:ea typeface="+mn-ea"/>
                  <a:cs typeface="+mn-cs"/>
                </a:rPr>
                <a:t>Decision-Making Supports</a:t>
              </a:r>
              <a:r>
                <a:rPr kumimoji="0" lang="en-CA" sz="1400" b="1" i="0" u="none" strike="noStrike" kern="1200" cap="none" spc="0" normalizeH="0" baseline="30000" noProof="0">
                  <a:ln>
                    <a:noFill/>
                  </a:ln>
                  <a:solidFill>
                    <a:schemeClr val="accent2"/>
                  </a:solidFill>
                  <a:effectLst/>
                  <a:uLnTx/>
                  <a:uFillTx/>
                  <a:latin typeface="Calibri"/>
                  <a:ea typeface="+mn-ea"/>
                  <a:cs typeface="+mn-cs"/>
                </a:rPr>
                <a:t>1</a:t>
              </a:r>
            </a:p>
            <a:p>
              <a:pPr marL="0" marR="0" lvl="0" indent="0" algn="l" defTabSz="914400" rtl="0" eaLnBrk="1" fontAlgn="auto" latinLnBrk="0" hangingPunct="1">
                <a:spcBef>
                  <a:spcPts val="0"/>
                </a:spcBef>
                <a:spcAft>
                  <a:spcPts val="300"/>
                </a:spcAft>
                <a:buClrTx/>
                <a:buSzTx/>
                <a:buFont typeface="Wingdings 2" pitchFamily="18" charset="2"/>
                <a:buNone/>
                <a:tabLst/>
                <a:defRPr/>
              </a:pPr>
              <a:r>
                <a:rPr lang="en-CA" sz="1200">
                  <a:solidFill>
                    <a:prstClr val="black"/>
                  </a:solidFill>
                  <a:latin typeface="Calibri"/>
                </a:rPr>
                <a:t>The Proposed Guidance takes a principle-based approach rather than prescribing specific decision-making supports, outlining themes such as (a) using client-specific information for timely alerts; (b) offering various decision-making supports; (c) applying the recommendation prohibition to the combined output of multiple supports; and (d) changing the verbiage from ‘model portfolios’ to ‘sample portfolios’</a:t>
              </a:r>
              <a:endParaRPr lang="en-CA" sz="1200"/>
            </a:p>
          </p:txBody>
        </p:sp>
        <p:cxnSp>
          <p:nvCxnSpPr>
            <p:cNvPr id="27" name="Straight Connector 26">
              <a:extLst>
                <a:ext uri="{FF2B5EF4-FFF2-40B4-BE49-F238E27FC236}">
                  <a16:creationId xmlns:a16="http://schemas.microsoft.com/office/drawing/2014/main" id="{D696D8E9-06C7-2C4E-E8FC-D36F1E69078F}"/>
                </a:ext>
              </a:extLst>
            </p:cNvPr>
            <p:cNvCxnSpPr>
              <a:cxnSpLocks/>
            </p:cNvCxnSpPr>
            <p:nvPr/>
          </p:nvCxnSpPr>
          <p:spPr>
            <a:xfrm>
              <a:off x="495300" y="2343067"/>
              <a:ext cx="0" cy="806400"/>
            </a:xfrm>
            <a:prstGeom prst="line">
              <a:avLst/>
            </a:prstGeom>
            <a:noFill/>
            <a:ln w="635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ECE3DBA6-7B10-CA01-BFC9-E8760523538C}"/>
              </a:ext>
            </a:extLst>
          </p:cNvPr>
          <p:cNvGrpSpPr>
            <a:grpSpLocks/>
          </p:cNvGrpSpPr>
          <p:nvPr/>
        </p:nvGrpSpPr>
        <p:grpSpPr>
          <a:xfrm>
            <a:off x="501650" y="3320789"/>
            <a:ext cx="11188695" cy="806400"/>
            <a:chOff x="495299" y="3323690"/>
            <a:chExt cx="11188695" cy="806400"/>
          </a:xfrm>
        </p:grpSpPr>
        <p:sp>
          <p:nvSpPr>
            <p:cNvPr id="23" name="Rectangle 22">
              <a:extLst>
                <a:ext uri="{FF2B5EF4-FFF2-40B4-BE49-F238E27FC236}">
                  <a16:creationId xmlns:a16="http://schemas.microsoft.com/office/drawing/2014/main" id="{9AF454DD-B03A-90C4-24DC-E3F37EB7040D}"/>
                </a:ext>
              </a:extLst>
            </p:cNvPr>
            <p:cNvSpPr>
              <a:spLocks/>
            </p:cNvSpPr>
            <p:nvPr/>
          </p:nvSpPr>
          <p:spPr bwMode="gray">
            <a:xfrm>
              <a:off x="495299" y="3323690"/>
              <a:ext cx="11188695" cy="806400"/>
            </a:xfrm>
            <a:prstGeom prst="rect">
              <a:avLst/>
            </a:prstGeom>
            <a:noFill/>
            <a:ln w="19050" algn="ctr">
              <a:noFill/>
              <a:miter lim="800000"/>
              <a:headEnd/>
              <a:tailEnd/>
            </a:ln>
          </p:spPr>
          <p:txBody>
            <a:bodyPr wrap="square" lIns="180000" tIns="0" rIns="180000" bIns="0" rtlCol="0" anchor="ctr">
              <a:spAutoFit/>
            </a:bodyPr>
            <a:lstStyle/>
            <a:p>
              <a:pPr>
                <a:spcAft>
                  <a:spcPts val="300"/>
                </a:spcAft>
                <a:buFont typeface="Wingdings 2" pitchFamily="18" charset="2"/>
                <a:buNone/>
              </a:pPr>
              <a:r>
                <a:rPr lang="en-CA" sz="1400" b="1">
                  <a:solidFill>
                    <a:schemeClr val="accent3"/>
                  </a:solidFill>
                </a:rPr>
                <a:t>Key Safeguards</a:t>
              </a:r>
              <a:r>
                <a:rPr lang="en-CA" sz="1400" b="1" baseline="30000">
                  <a:solidFill>
                    <a:schemeClr val="accent3"/>
                  </a:solidFill>
                </a:rPr>
                <a:t>1</a:t>
              </a:r>
            </a:p>
            <a:p>
              <a:pPr>
                <a:spcAft>
                  <a:spcPts val="300"/>
                </a:spcAft>
                <a:buFont typeface="Wingdings 2" pitchFamily="18" charset="2"/>
                <a:buNone/>
              </a:pPr>
              <a:r>
                <a:rPr lang="en-US" sz="1200"/>
                <a:t>The Proposed Guidance requires OEOs to implement robust safeguards, such as clear communication of limitations, objective criteria, conflict of interest management, ongoing monitoring, and client education, to ensure that investors do not mistake decision-making supports for personalized recommendations and understand the self-directed nature of the OEO channel</a:t>
              </a:r>
              <a:endParaRPr lang="en-CA" sz="1200"/>
            </a:p>
          </p:txBody>
        </p:sp>
        <p:cxnSp>
          <p:nvCxnSpPr>
            <p:cNvPr id="28" name="Straight Connector 27">
              <a:extLst>
                <a:ext uri="{FF2B5EF4-FFF2-40B4-BE49-F238E27FC236}">
                  <a16:creationId xmlns:a16="http://schemas.microsoft.com/office/drawing/2014/main" id="{A62D42C6-C736-145C-0E93-433548717C12}"/>
                </a:ext>
              </a:extLst>
            </p:cNvPr>
            <p:cNvCxnSpPr>
              <a:cxnSpLocks/>
            </p:cNvCxnSpPr>
            <p:nvPr/>
          </p:nvCxnSpPr>
          <p:spPr>
            <a:xfrm>
              <a:off x="495300" y="3323690"/>
              <a:ext cx="0" cy="806400"/>
            </a:xfrm>
            <a:prstGeom prst="line">
              <a:avLst/>
            </a:prstGeom>
            <a:noFill/>
            <a:ln w="635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3BF9A01F-E746-F5C6-1830-A103038A591C}"/>
              </a:ext>
            </a:extLst>
          </p:cNvPr>
          <p:cNvGrpSpPr>
            <a:grpSpLocks/>
          </p:cNvGrpSpPr>
          <p:nvPr/>
        </p:nvGrpSpPr>
        <p:grpSpPr>
          <a:xfrm>
            <a:off x="501650" y="4302863"/>
            <a:ext cx="11188695" cy="806400"/>
            <a:chOff x="495299" y="4298510"/>
            <a:chExt cx="11188695" cy="806400"/>
          </a:xfrm>
        </p:grpSpPr>
        <p:sp>
          <p:nvSpPr>
            <p:cNvPr id="24" name="Rectangle 23">
              <a:extLst>
                <a:ext uri="{FF2B5EF4-FFF2-40B4-BE49-F238E27FC236}">
                  <a16:creationId xmlns:a16="http://schemas.microsoft.com/office/drawing/2014/main" id="{C51C704B-DEA0-DAA4-8B49-A303F4D8DA50}"/>
                </a:ext>
              </a:extLst>
            </p:cNvPr>
            <p:cNvSpPr>
              <a:spLocks/>
            </p:cNvSpPr>
            <p:nvPr/>
          </p:nvSpPr>
          <p:spPr bwMode="gray">
            <a:xfrm>
              <a:off x="495299" y="4298510"/>
              <a:ext cx="11188695" cy="806400"/>
            </a:xfrm>
            <a:prstGeom prst="rect">
              <a:avLst/>
            </a:prstGeom>
            <a:noFill/>
            <a:ln w="19050" algn="ctr">
              <a:noFill/>
              <a:miter lim="800000"/>
              <a:headEnd/>
              <a:tailEnd/>
            </a:ln>
          </p:spPr>
          <p:txBody>
            <a:bodyPr wrap="square" lIns="180000" tIns="0" rIns="180000" bIns="0" rtlCol="0" anchor="ctr">
              <a:spAutoFit/>
            </a:bodyPr>
            <a:lstStyle/>
            <a:p>
              <a:pPr>
                <a:spcAft>
                  <a:spcPts val="300"/>
                </a:spcAft>
                <a:buFont typeface="Wingdings 2" pitchFamily="18" charset="2"/>
                <a:buNone/>
              </a:pPr>
              <a:r>
                <a:rPr lang="en-CA" sz="1400" b="1">
                  <a:solidFill>
                    <a:schemeClr val="accent4"/>
                  </a:solidFill>
                </a:rPr>
                <a:t>Method of Delivery: Revised Analysis of ‘Push’ vs. ‘Pull’</a:t>
              </a:r>
            </a:p>
            <a:p>
              <a:pPr>
                <a:spcAft>
                  <a:spcPts val="300"/>
                </a:spcAft>
                <a:buFont typeface="Wingdings 2" pitchFamily="18" charset="2"/>
                <a:buNone/>
              </a:pPr>
              <a:r>
                <a:rPr lang="en-CA" sz="1200"/>
                <a:t>The Proposed Guidance shifts the emphasis from method of delivery, i.e., whether a communication is actively sent to a client (‘pushed’) or sought out by the client from the OEO platform (‘pulled’), to whether the substantive content of a communication or decision-making support endorses a specific investment decision</a:t>
              </a:r>
            </a:p>
          </p:txBody>
        </p:sp>
        <p:cxnSp>
          <p:nvCxnSpPr>
            <p:cNvPr id="29" name="Straight Connector 28">
              <a:extLst>
                <a:ext uri="{FF2B5EF4-FFF2-40B4-BE49-F238E27FC236}">
                  <a16:creationId xmlns:a16="http://schemas.microsoft.com/office/drawing/2014/main" id="{EA158379-7199-7580-4268-C725E0BEA41F}"/>
                </a:ext>
              </a:extLst>
            </p:cNvPr>
            <p:cNvCxnSpPr>
              <a:cxnSpLocks/>
            </p:cNvCxnSpPr>
            <p:nvPr/>
          </p:nvCxnSpPr>
          <p:spPr>
            <a:xfrm>
              <a:off x="495300" y="4298510"/>
              <a:ext cx="0" cy="806400"/>
            </a:xfrm>
            <a:prstGeom prst="line">
              <a:avLst/>
            </a:prstGeom>
            <a:noFill/>
            <a:ln w="635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928DD81B-727E-56D1-406F-368B314FEEB4}"/>
              </a:ext>
            </a:extLst>
          </p:cNvPr>
          <p:cNvGrpSpPr>
            <a:grpSpLocks/>
          </p:cNvGrpSpPr>
          <p:nvPr/>
        </p:nvGrpSpPr>
        <p:grpSpPr>
          <a:xfrm>
            <a:off x="501650" y="5284938"/>
            <a:ext cx="11188695" cy="806400"/>
            <a:chOff x="495299" y="5284938"/>
            <a:chExt cx="11188695" cy="806400"/>
          </a:xfrm>
        </p:grpSpPr>
        <p:sp>
          <p:nvSpPr>
            <p:cNvPr id="25" name="Rectangle 24">
              <a:extLst>
                <a:ext uri="{FF2B5EF4-FFF2-40B4-BE49-F238E27FC236}">
                  <a16:creationId xmlns:a16="http://schemas.microsoft.com/office/drawing/2014/main" id="{B15064B5-7F6C-D545-9938-D2C4B9617D53}"/>
                </a:ext>
              </a:extLst>
            </p:cNvPr>
            <p:cNvSpPr>
              <a:spLocks/>
            </p:cNvSpPr>
            <p:nvPr/>
          </p:nvSpPr>
          <p:spPr bwMode="gray">
            <a:xfrm>
              <a:off x="495299" y="5284938"/>
              <a:ext cx="11188695" cy="806400"/>
            </a:xfrm>
            <a:prstGeom prst="rect">
              <a:avLst/>
            </a:prstGeom>
            <a:noFill/>
            <a:ln w="19050" algn="ctr">
              <a:noFill/>
              <a:miter lim="800000"/>
              <a:headEnd/>
              <a:tailEnd/>
            </a:ln>
          </p:spPr>
          <p:txBody>
            <a:bodyPr wrap="square" lIns="180000" tIns="0" rIns="180000" bIns="0" rtlCol="0" anchor="ctr">
              <a:spAutoFit/>
            </a:bodyPr>
            <a:lstStyle/>
            <a:p>
              <a:pPr>
                <a:spcAft>
                  <a:spcPts val="300"/>
                </a:spcAft>
                <a:buFont typeface="Wingdings 2" pitchFamily="18" charset="2"/>
                <a:buNone/>
              </a:pPr>
              <a:r>
                <a:rPr lang="en-CA" sz="1400" b="1">
                  <a:solidFill>
                    <a:srgbClr val="005587"/>
                  </a:solidFill>
                </a:rPr>
                <a:t>Finfluencers &amp; Copy Trading</a:t>
              </a:r>
              <a:endParaRPr lang="en-CA" sz="1400" b="1" baseline="30000">
                <a:solidFill>
                  <a:srgbClr val="005587"/>
                </a:solidFill>
              </a:endParaRPr>
            </a:p>
            <a:p>
              <a:pPr>
                <a:spcAft>
                  <a:spcPts val="300"/>
                </a:spcAft>
                <a:buFont typeface="Wingdings 2" pitchFamily="18" charset="2"/>
                <a:buNone/>
              </a:pPr>
              <a:r>
                <a:rPr lang="en-US" sz="1200"/>
                <a:t>The Proposed Guidance stresses that OEOs must ensure compliance when engaging with finfluencers, copy trading, or third-party content – areas only briefly addressed by the Current Guidance through ‘Hyperlinks and Portals’ – as these practices pose significant investor protection risks and may involve prohibited recommendations or unregistered activities, with ongoing regulatory scrutiny expected</a:t>
              </a:r>
              <a:endParaRPr lang="en-CA" sz="1200"/>
            </a:p>
          </p:txBody>
        </p:sp>
        <p:cxnSp>
          <p:nvCxnSpPr>
            <p:cNvPr id="31" name="Straight Connector 30">
              <a:extLst>
                <a:ext uri="{FF2B5EF4-FFF2-40B4-BE49-F238E27FC236}">
                  <a16:creationId xmlns:a16="http://schemas.microsoft.com/office/drawing/2014/main" id="{15565E07-B5F2-F0E8-57FD-65715CB3955A}"/>
                </a:ext>
              </a:extLst>
            </p:cNvPr>
            <p:cNvCxnSpPr>
              <a:cxnSpLocks/>
            </p:cNvCxnSpPr>
            <p:nvPr/>
          </p:nvCxnSpPr>
          <p:spPr>
            <a:xfrm>
              <a:off x="495300" y="5284938"/>
              <a:ext cx="0" cy="806400"/>
            </a:xfrm>
            <a:prstGeom prst="line">
              <a:avLst/>
            </a:prstGeom>
            <a:noFill/>
            <a:ln w="63500">
              <a:solidFill>
                <a:srgbClr val="005587"/>
              </a:solidFill>
            </a:ln>
          </p:spPr>
          <p:style>
            <a:lnRef idx="1">
              <a:schemeClr val="accent1"/>
            </a:lnRef>
            <a:fillRef idx="0">
              <a:schemeClr val="accent1"/>
            </a:fillRef>
            <a:effectRef idx="0">
              <a:schemeClr val="accent1"/>
            </a:effectRef>
            <a:fontRef idx="minor">
              <a:schemeClr val="tx1"/>
            </a:fontRef>
          </p:style>
        </p:cxnSp>
      </p:grpSp>
      <p:cxnSp>
        <p:nvCxnSpPr>
          <p:cNvPr id="44" name="Straight Connector 43">
            <a:extLst>
              <a:ext uri="{FF2B5EF4-FFF2-40B4-BE49-F238E27FC236}">
                <a16:creationId xmlns:a16="http://schemas.microsoft.com/office/drawing/2014/main" id="{EE28B6C6-D331-7C2E-DF83-9FB842DD12E8}"/>
              </a:ext>
            </a:extLst>
          </p:cNvPr>
          <p:cNvCxnSpPr>
            <a:cxnSpLocks/>
          </p:cNvCxnSpPr>
          <p:nvPr/>
        </p:nvCxnSpPr>
        <p:spPr>
          <a:xfrm flipH="1">
            <a:off x="501650" y="2250878"/>
            <a:ext cx="11188800"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5D214EF-2093-F208-5CA0-43885F77F451}"/>
              </a:ext>
            </a:extLst>
          </p:cNvPr>
          <p:cNvCxnSpPr>
            <a:cxnSpLocks/>
          </p:cNvCxnSpPr>
          <p:nvPr/>
        </p:nvCxnSpPr>
        <p:spPr>
          <a:xfrm flipH="1">
            <a:off x="501650" y="3232952"/>
            <a:ext cx="11188800"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C6700D3-404D-6D58-5A35-24C684E02227}"/>
              </a:ext>
            </a:extLst>
          </p:cNvPr>
          <p:cNvCxnSpPr>
            <a:cxnSpLocks/>
          </p:cNvCxnSpPr>
          <p:nvPr/>
        </p:nvCxnSpPr>
        <p:spPr>
          <a:xfrm flipH="1">
            <a:off x="501650" y="4215026"/>
            <a:ext cx="11188800"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7C1DBF5-1786-7923-2C07-B08384CE10CB}"/>
              </a:ext>
            </a:extLst>
          </p:cNvPr>
          <p:cNvCxnSpPr>
            <a:cxnSpLocks/>
          </p:cNvCxnSpPr>
          <p:nvPr/>
        </p:nvCxnSpPr>
        <p:spPr>
          <a:xfrm flipH="1">
            <a:off x="501650" y="5197100"/>
            <a:ext cx="11188800"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679F060-B063-BEF6-AD8E-690C63DF5BE4}"/>
              </a:ext>
            </a:extLst>
          </p:cNvPr>
          <p:cNvSpPr txBox="1">
            <a:spLocks/>
          </p:cNvSpPr>
          <p:nvPr/>
        </p:nvSpPr>
        <p:spPr>
          <a:xfrm>
            <a:off x="2683704" y="6369278"/>
            <a:ext cx="8834667" cy="246221"/>
          </a:xfrm>
          <a:prstGeom prst="rect">
            <a:avLst/>
          </a:prstGeom>
          <a:noFill/>
        </p:spPr>
        <p:txBody>
          <a:bodyPr wrap="square" lIns="0" tIns="0" rIns="0" bIns="0" rtlCol="0" anchor="b">
            <a:spAutoFit/>
          </a:bodyPr>
          <a:lstStyle/>
          <a:p>
            <a:pPr>
              <a:buSzPct val="100000"/>
            </a:pPr>
            <a:r>
              <a:rPr lang="en-CA" sz="800">
                <a:solidFill>
                  <a:srgbClr val="313131"/>
                </a:solidFill>
              </a:rPr>
              <a:t>Notes: </a:t>
            </a:r>
            <a:r>
              <a:rPr lang="en-US" sz="800">
                <a:solidFill>
                  <a:srgbClr val="313131"/>
                </a:solidFill>
              </a:rPr>
              <a:t>CIRO has indicated that, due to significant industry developments and consultation feedback, the Proposed Guidance is a net-new document rather than a revision of the Current Guidance; therefore, a blackline comparison is not provided. 1. CIRO is seeking comments on these specific areas, which are therefore the most likely to see meaningful changes before the new guidance is finalized.</a:t>
            </a:r>
            <a:endParaRPr lang="en-CA" sz="800">
              <a:solidFill>
                <a:srgbClr val="313131"/>
              </a:solidFill>
            </a:endParaRPr>
          </a:p>
        </p:txBody>
      </p:sp>
    </p:spTree>
    <p:extLst>
      <p:ext uri="{BB962C8B-B14F-4D97-AF65-F5344CB8AC3E}">
        <p14:creationId xmlns:p14="http://schemas.microsoft.com/office/powerpoint/2010/main" val="335562903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3407440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8F0E80-AC91-4A1F-8E56-CCBC7BBA31F6}"/>
              </a:ext>
            </a:extLst>
          </p:cNvPr>
          <p:cNvSpPr>
            <a:spLocks noGrp="1"/>
          </p:cNvSpPr>
          <p:nvPr>
            <p:ph type="body" sz="quarter" idx="13"/>
          </p:nvPr>
        </p:nvSpPr>
        <p:spPr/>
        <p:txBody>
          <a:bodyPr/>
          <a:lstStyle/>
          <a:p>
            <a:r>
              <a:rPr lang="en-US"/>
              <a:t>The Proposed Guidance reflects CIRO's efforts to reduce limitations around advice for DIY investors, mirroring de-regulation efforts by global regulators</a:t>
            </a:r>
          </a:p>
        </p:txBody>
      </p:sp>
      <p:sp>
        <p:nvSpPr>
          <p:cNvPr id="4" name="Title 3"/>
          <p:cNvSpPr>
            <a:spLocks noGrp="1"/>
          </p:cNvSpPr>
          <p:nvPr>
            <p:ph type="title"/>
          </p:nvPr>
        </p:nvSpPr>
        <p:spPr/>
        <p:txBody>
          <a:bodyPr vert="horz"/>
          <a:lstStyle/>
          <a:p>
            <a:r>
              <a:rPr lang="en-US" noProof="0"/>
              <a:t>How Global Regulators are Addressing the ‘Advice Gap’</a:t>
            </a:r>
          </a:p>
        </p:txBody>
      </p:sp>
      <p:sp>
        <p:nvSpPr>
          <p:cNvPr id="5" name="Slide Number Placeholder 4"/>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8</a:t>
            </a:fld>
            <a:endParaRPr lang="en-US"/>
          </a:p>
        </p:txBody>
      </p:sp>
      <p:sp>
        <p:nvSpPr>
          <p:cNvPr id="3" name="Rectangle: Rounded Corners 2">
            <a:extLst>
              <a:ext uri="{FF2B5EF4-FFF2-40B4-BE49-F238E27FC236}">
                <a16:creationId xmlns:a16="http://schemas.microsoft.com/office/drawing/2014/main" id="{FB4EE23B-CBC6-00BF-EBA3-CE85939935BF}"/>
              </a:ext>
            </a:extLst>
          </p:cNvPr>
          <p:cNvSpPr>
            <a:spLocks/>
          </p:cNvSpPr>
          <p:nvPr/>
        </p:nvSpPr>
        <p:spPr bwMode="gray">
          <a:xfrm>
            <a:off x="498475" y="3781428"/>
            <a:ext cx="11195050" cy="2424972"/>
          </a:xfrm>
          <a:prstGeom prst="roundRect">
            <a:avLst>
              <a:gd name="adj" fmla="val 0"/>
            </a:avLst>
          </a:prstGeom>
          <a:solidFill>
            <a:schemeClr val="bg1">
              <a:lumMod val="95000"/>
            </a:schemeClr>
          </a:solidFill>
          <a:ln w="19050" algn="ctr">
            <a:solidFill>
              <a:schemeClr val="bg2">
                <a:lumMod val="90000"/>
              </a:schemeClr>
            </a:solidFill>
            <a:prstDash val="sysDash"/>
            <a:miter lim="800000"/>
            <a:headEnd/>
            <a:tailEnd/>
          </a:ln>
        </p:spPr>
        <p:txBody>
          <a:bodyPr wrap="square" lIns="180000" tIns="144000" rIns="180000" bIns="144000" rtlCol="0" anchor="t"/>
          <a:lstStyle/>
          <a:p>
            <a:pPr marL="171450" marR="0" lvl="1" indent="-171450" defTabSz="914400" rtl="0" eaLnBrk="1" fontAlgn="auto" latinLnBrk="0" hangingPunct="1">
              <a:lnSpc>
                <a:spcPct val="100000"/>
              </a:lnSpc>
              <a:spcAft>
                <a:spcPts val="600"/>
              </a:spcAft>
              <a:buClrTx/>
              <a:buSzPct val="100000"/>
              <a:buFont typeface="Wingdings" panose="05000000000000000000" pitchFamily="2" charset="2"/>
              <a:buChar char="§"/>
              <a:tabLst/>
              <a:defRPr/>
            </a:pPr>
            <a:endParaRPr kumimoji="0" lang="en-US" sz="120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endParaRPr>
          </a:p>
        </p:txBody>
      </p:sp>
      <p:sp>
        <p:nvSpPr>
          <p:cNvPr id="29" name="Speech Bubble: Rectangle with Corners Rounded 28">
            <a:extLst>
              <a:ext uri="{FF2B5EF4-FFF2-40B4-BE49-F238E27FC236}">
                <a16:creationId xmlns:a16="http://schemas.microsoft.com/office/drawing/2014/main" id="{076924A7-05A2-246C-4A16-150F12FE3DF7}"/>
              </a:ext>
            </a:extLst>
          </p:cNvPr>
          <p:cNvSpPr>
            <a:spLocks/>
          </p:cNvSpPr>
          <p:nvPr/>
        </p:nvSpPr>
        <p:spPr bwMode="gray">
          <a:xfrm>
            <a:off x="2556753" y="5186734"/>
            <a:ext cx="1755912" cy="800336"/>
          </a:xfrm>
          <a:prstGeom prst="wedgeRoundRectCallout">
            <a:avLst>
              <a:gd name="adj1" fmla="val 85816"/>
              <a:gd name="adj2" fmla="val -87546"/>
              <a:gd name="adj3" fmla="val 16667"/>
            </a:avLst>
          </a:prstGeom>
          <a:solidFill>
            <a:schemeClr val="bg1">
              <a:lumMod val="85000"/>
            </a:schemeClr>
          </a:solidFill>
          <a:ln w="19050" algn="ctr">
            <a:noFill/>
            <a:miter lim="800000"/>
            <a:headEnd/>
            <a:tailEnd/>
          </a:ln>
        </p:spPr>
        <p:txBody>
          <a:bodyPr wrap="square" lIns="90000" tIns="90000" rIns="90000" bIns="88900" rtlCol="0" anchor="ctr"/>
          <a:lstStyle/>
          <a:p>
            <a:pPr algn="ctr">
              <a:lnSpc>
                <a:spcPct val="106000"/>
              </a:lnSpc>
            </a:pPr>
            <a:r>
              <a:rPr lang="en-US" sz="1050" i="1"/>
              <a:t>More personalized than generic info, but prohibits specific product recommendations</a:t>
            </a:r>
            <a:endParaRPr lang="en-CA" sz="1050" i="1"/>
          </a:p>
        </p:txBody>
      </p:sp>
      <p:sp>
        <p:nvSpPr>
          <p:cNvPr id="31" name="Speech Bubble: Rectangle with Corners Rounded 30">
            <a:extLst>
              <a:ext uri="{FF2B5EF4-FFF2-40B4-BE49-F238E27FC236}">
                <a16:creationId xmlns:a16="http://schemas.microsoft.com/office/drawing/2014/main" id="{C293B14A-8225-6FD4-B0CF-AAD4EF463102}"/>
              </a:ext>
            </a:extLst>
          </p:cNvPr>
          <p:cNvSpPr>
            <a:spLocks/>
          </p:cNvSpPr>
          <p:nvPr/>
        </p:nvSpPr>
        <p:spPr bwMode="gray">
          <a:xfrm>
            <a:off x="7879335" y="5186734"/>
            <a:ext cx="2144395" cy="800336"/>
          </a:xfrm>
          <a:prstGeom prst="wedgeRoundRectCallout">
            <a:avLst>
              <a:gd name="adj1" fmla="val -65416"/>
              <a:gd name="adj2" fmla="val -87710"/>
              <a:gd name="adj3" fmla="val 16667"/>
            </a:avLst>
          </a:prstGeom>
          <a:solidFill>
            <a:schemeClr val="accent2">
              <a:lumMod val="20000"/>
              <a:lumOff val="80000"/>
            </a:schemeClr>
          </a:solidFill>
          <a:ln w="19050" algn="ctr">
            <a:noFill/>
            <a:miter lim="800000"/>
            <a:headEnd/>
            <a:tailEnd/>
          </a:ln>
        </p:spPr>
        <p:txBody>
          <a:bodyPr wrap="square" lIns="90000" tIns="90000" rIns="90000" bIns="88900" rtlCol="0" anchor="ctr"/>
          <a:lstStyle/>
          <a:p>
            <a:pPr algn="ctr">
              <a:lnSpc>
                <a:spcPct val="106000"/>
              </a:lnSpc>
            </a:pPr>
            <a:r>
              <a:rPr lang="en-US" sz="1050" i="1"/>
              <a:t>Explicitly allows product suggestions but on a segment-level (‘people like you’). Exclusions for high-risk or complex products</a:t>
            </a:r>
            <a:endParaRPr lang="en-CA" sz="1050" i="1"/>
          </a:p>
        </p:txBody>
      </p:sp>
      <p:sp>
        <p:nvSpPr>
          <p:cNvPr id="44" name="Speech Bubble: Rectangle with Corners Rounded 43">
            <a:extLst>
              <a:ext uri="{FF2B5EF4-FFF2-40B4-BE49-F238E27FC236}">
                <a16:creationId xmlns:a16="http://schemas.microsoft.com/office/drawing/2014/main" id="{46198937-CA29-AA5B-28C9-F90A6C67F646}"/>
              </a:ext>
            </a:extLst>
          </p:cNvPr>
          <p:cNvSpPr>
            <a:spLocks/>
          </p:cNvSpPr>
          <p:nvPr/>
        </p:nvSpPr>
        <p:spPr bwMode="gray">
          <a:xfrm>
            <a:off x="4391025" y="5187176"/>
            <a:ext cx="3409950" cy="799503"/>
          </a:xfrm>
          <a:prstGeom prst="wedgeRoundRectCallout">
            <a:avLst>
              <a:gd name="adj1" fmla="val -3543"/>
              <a:gd name="adj2" fmla="val -81205"/>
              <a:gd name="adj3" fmla="val 16667"/>
            </a:avLst>
          </a:prstGeom>
          <a:solidFill>
            <a:srgbClr val="E3E48D">
              <a:alpha val="70000"/>
            </a:srgbClr>
          </a:solidFill>
          <a:ln w="19050" algn="ctr">
            <a:noFill/>
            <a:miter lim="800000"/>
            <a:headEnd/>
            <a:tailEnd/>
          </a:ln>
        </p:spPr>
        <p:txBody>
          <a:bodyPr wrap="square" lIns="90000" tIns="90000" rIns="90000" bIns="88900" rtlCol="0" anchor="ctr"/>
          <a:lstStyle/>
          <a:p>
            <a:pPr algn="ctr">
              <a:lnSpc>
                <a:spcPct val="106000"/>
              </a:lnSpc>
            </a:pPr>
            <a:r>
              <a:rPr lang="en-US" sz="1050" i="1"/>
              <a:t>Prompts are targeted to members, on a class/segment level, to drive greater engagement at key life stages. Specific product recommendations are not allowed but members can be nudged towards paid advice</a:t>
            </a:r>
            <a:endParaRPr lang="en-CA" sz="1050" i="1"/>
          </a:p>
        </p:txBody>
      </p:sp>
      <p:cxnSp>
        <p:nvCxnSpPr>
          <p:cNvPr id="16" name="Straight Connector 15">
            <a:extLst>
              <a:ext uri="{FF2B5EF4-FFF2-40B4-BE49-F238E27FC236}">
                <a16:creationId xmlns:a16="http://schemas.microsoft.com/office/drawing/2014/main" id="{473BCC16-60F5-7035-45D8-DE06DE441327}"/>
              </a:ext>
            </a:extLst>
          </p:cNvPr>
          <p:cNvCxnSpPr>
            <a:cxnSpLocks/>
          </p:cNvCxnSpPr>
          <p:nvPr/>
        </p:nvCxnSpPr>
        <p:spPr>
          <a:xfrm>
            <a:off x="2004808" y="4853830"/>
            <a:ext cx="817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1407FBE3-EF4C-DA7D-824E-97B354C80C93}"/>
              </a:ext>
            </a:extLst>
          </p:cNvPr>
          <p:cNvSpPr>
            <a:spLocks/>
          </p:cNvSpPr>
          <p:nvPr/>
        </p:nvSpPr>
        <p:spPr bwMode="gray">
          <a:xfrm>
            <a:off x="1902310" y="4763830"/>
            <a:ext cx="180000" cy="180000"/>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21" name="TextBox 20">
            <a:extLst>
              <a:ext uri="{FF2B5EF4-FFF2-40B4-BE49-F238E27FC236}">
                <a16:creationId xmlns:a16="http://schemas.microsoft.com/office/drawing/2014/main" id="{49EC4065-E0B1-919A-0A54-6E99BB543DA3}"/>
              </a:ext>
            </a:extLst>
          </p:cNvPr>
          <p:cNvSpPr txBox="1">
            <a:spLocks/>
          </p:cNvSpPr>
          <p:nvPr/>
        </p:nvSpPr>
        <p:spPr>
          <a:xfrm>
            <a:off x="1517708" y="4274717"/>
            <a:ext cx="949203" cy="437940"/>
          </a:xfrm>
          <a:prstGeom prst="rect">
            <a:avLst/>
          </a:prstGeom>
          <a:solidFill>
            <a:schemeClr val="tx1">
              <a:lumMod val="50000"/>
              <a:lumOff val="50000"/>
            </a:schemeClr>
          </a:solidFill>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mj-lt"/>
                <a:ea typeface="+mn-ea"/>
                <a:cs typeface="+mn-cs"/>
              </a:rPr>
              <a:t>Generic </a:t>
            </a:r>
            <a:br>
              <a:rPr kumimoji="0" lang="en-US" sz="1100" b="1" i="0" u="none" strike="noStrike" kern="1200" cap="none" spc="0" normalizeH="0" baseline="0" noProof="0">
                <a:ln>
                  <a:noFill/>
                </a:ln>
                <a:solidFill>
                  <a:schemeClr val="bg1"/>
                </a:solidFill>
                <a:effectLst/>
                <a:uLnTx/>
                <a:uFillTx/>
                <a:latin typeface="+mj-lt"/>
                <a:ea typeface="+mn-ea"/>
                <a:cs typeface="+mn-cs"/>
              </a:rPr>
            </a:br>
            <a:r>
              <a:rPr kumimoji="0" lang="en-US" sz="1100" b="1" i="0" u="none" strike="noStrike" kern="1200" cap="none" spc="0" normalizeH="0" baseline="0" noProof="0">
                <a:ln>
                  <a:noFill/>
                </a:ln>
                <a:solidFill>
                  <a:schemeClr val="bg1"/>
                </a:solidFill>
                <a:effectLst/>
                <a:uLnTx/>
                <a:uFillTx/>
                <a:latin typeface="+mj-lt"/>
                <a:ea typeface="+mn-ea"/>
                <a:cs typeface="+mn-cs"/>
              </a:rPr>
              <a:t>Information</a:t>
            </a:r>
          </a:p>
        </p:txBody>
      </p:sp>
      <p:sp>
        <p:nvSpPr>
          <p:cNvPr id="23" name="Oval 22">
            <a:extLst>
              <a:ext uri="{FF2B5EF4-FFF2-40B4-BE49-F238E27FC236}">
                <a16:creationId xmlns:a16="http://schemas.microsoft.com/office/drawing/2014/main" id="{FCA5A33A-4292-365E-07B6-4FE28337F90F}"/>
              </a:ext>
            </a:extLst>
          </p:cNvPr>
          <p:cNvSpPr>
            <a:spLocks/>
          </p:cNvSpPr>
          <p:nvPr/>
        </p:nvSpPr>
        <p:spPr bwMode="gray">
          <a:xfrm>
            <a:off x="10109692" y="4763830"/>
            <a:ext cx="180000" cy="180000"/>
          </a:xfrm>
          <a:prstGeom prst="ellipse">
            <a:avLst/>
          </a:prstGeom>
          <a:solidFill>
            <a:schemeClr val="tx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24" name="TextBox 23">
            <a:extLst>
              <a:ext uri="{FF2B5EF4-FFF2-40B4-BE49-F238E27FC236}">
                <a16:creationId xmlns:a16="http://schemas.microsoft.com/office/drawing/2014/main" id="{DAA1B169-7273-58DE-FD91-A5B4C1B17EC1}"/>
              </a:ext>
            </a:extLst>
          </p:cNvPr>
          <p:cNvSpPr txBox="1">
            <a:spLocks/>
          </p:cNvSpPr>
          <p:nvPr/>
        </p:nvSpPr>
        <p:spPr>
          <a:xfrm>
            <a:off x="9725090" y="4274717"/>
            <a:ext cx="949203" cy="437940"/>
          </a:xfrm>
          <a:prstGeom prst="rect">
            <a:avLst/>
          </a:prstGeom>
          <a:solidFill>
            <a:schemeClr val="tx1">
              <a:lumMod val="50000"/>
              <a:lumOff val="50000"/>
            </a:schemeClr>
          </a:solidFill>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bg1"/>
                </a:solidFill>
                <a:effectLst/>
                <a:uLnTx/>
                <a:uFillTx/>
                <a:latin typeface="+mj-lt"/>
                <a:ea typeface="+mn-ea"/>
                <a:cs typeface="+mn-cs"/>
              </a:rPr>
              <a:t>Personalized</a:t>
            </a:r>
            <a:br>
              <a:rPr kumimoji="0" lang="en-US" sz="1100" b="1" i="0" u="none" strike="noStrike" kern="1200" cap="none" spc="0" normalizeH="0" baseline="0" noProof="0">
                <a:ln>
                  <a:noFill/>
                </a:ln>
                <a:solidFill>
                  <a:schemeClr val="bg1"/>
                </a:solidFill>
                <a:effectLst/>
                <a:uLnTx/>
                <a:uFillTx/>
                <a:latin typeface="+mj-lt"/>
                <a:ea typeface="+mn-ea"/>
                <a:cs typeface="+mn-cs"/>
              </a:rPr>
            </a:br>
            <a:r>
              <a:rPr kumimoji="0" lang="en-US" sz="1100" b="1" i="0" u="none" strike="noStrike" kern="1200" cap="none" spc="0" normalizeH="0" baseline="0" noProof="0">
                <a:ln>
                  <a:noFill/>
                </a:ln>
                <a:solidFill>
                  <a:schemeClr val="bg1"/>
                </a:solidFill>
                <a:effectLst/>
                <a:uLnTx/>
                <a:uFillTx/>
                <a:latin typeface="+mj-lt"/>
                <a:ea typeface="+mn-ea"/>
                <a:cs typeface="+mn-cs"/>
              </a:rPr>
              <a:t>Advice</a:t>
            </a:r>
          </a:p>
        </p:txBody>
      </p:sp>
      <p:sp>
        <p:nvSpPr>
          <p:cNvPr id="25" name="Oval 24">
            <a:extLst>
              <a:ext uri="{FF2B5EF4-FFF2-40B4-BE49-F238E27FC236}">
                <a16:creationId xmlns:a16="http://schemas.microsoft.com/office/drawing/2014/main" id="{FD0C3DA2-6106-B0FA-FDDC-E70B9281F815}"/>
              </a:ext>
            </a:extLst>
          </p:cNvPr>
          <p:cNvSpPr>
            <a:spLocks/>
          </p:cNvSpPr>
          <p:nvPr/>
        </p:nvSpPr>
        <p:spPr bwMode="gray">
          <a:xfrm>
            <a:off x="4928303" y="4763830"/>
            <a:ext cx="180000" cy="180000"/>
          </a:xfrm>
          <a:prstGeom prst="ellipse">
            <a:avLst/>
          </a:prstGeom>
          <a:solidFill>
            <a:schemeClr val="bg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26" name="TextBox 25">
            <a:extLst>
              <a:ext uri="{FF2B5EF4-FFF2-40B4-BE49-F238E27FC236}">
                <a16:creationId xmlns:a16="http://schemas.microsoft.com/office/drawing/2014/main" id="{D84CD116-F4E9-5E73-7D04-7761381D05C1}"/>
              </a:ext>
            </a:extLst>
          </p:cNvPr>
          <p:cNvSpPr txBox="1">
            <a:spLocks/>
          </p:cNvSpPr>
          <p:nvPr/>
        </p:nvSpPr>
        <p:spPr>
          <a:xfrm>
            <a:off x="4467545" y="4394002"/>
            <a:ext cx="1101515" cy="359104"/>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mj-lt"/>
                <a:ea typeface="+mn-ea"/>
                <a:cs typeface="+mn-cs"/>
              </a:rPr>
              <a:t>CIRO Proposed Guidance</a:t>
            </a:r>
          </a:p>
        </p:txBody>
      </p:sp>
      <p:sp>
        <p:nvSpPr>
          <p:cNvPr id="28" name="TextBox 27">
            <a:extLst>
              <a:ext uri="{FF2B5EF4-FFF2-40B4-BE49-F238E27FC236}">
                <a16:creationId xmlns:a16="http://schemas.microsoft.com/office/drawing/2014/main" id="{9ECF8133-9E34-A17E-70F9-78324356D83B}"/>
              </a:ext>
            </a:extLst>
          </p:cNvPr>
          <p:cNvSpPr txBox="1">
            <a:spLocks/>
          </p:cNvSpPr>
          <p:nvPr/>
        </p:nvSpPr>
        <p:spPr>
          <a:xfrm>
            <a:off x="6878447" y="4394002"/>
            <a:ext cx="1188358" cy="359104"/>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mj-lt"/>
                <a:ea typeface="+mn-ea"/>
                <a:cs typeface="+mn-cs"/>
              </a:rPr>
              <a:t>FCA ‘Targeted Support’ Regime</a:t>
            </a:r>
          </a:p>
        </p:txBody>
      </p:sp>
      <p:cxnSp>
        <p:nvCxnSpPr>
          <p:cNvPr id="34" name="Straight Arrow Connector 33">
            <a:extLst>
              <a:ext uri="{FF2B5EF4-FFF2-40B4-BE49-F238E27FC236}">
                <a16:creationId xmlns:a16="http://schemas.microsoft.com/office/drawing/2014/main" id="{09B9F518-1938-0F2E-56A2-1F596F8F7655}"/>
              </a:ext>
            </a:extLst>
          </p:cNvPr>
          <p:cNvCxnSpPr>
            <a:cxnSpLocks/>
          </p:cNvCxnSpPr>
          <p:nvPr/>
        </p:nvCxnSpPr>
        <p:spPr>
          <a:xfrm flipV="1">
            <a:off x="1902310" y="4046154"/>
            <a:ext cx="8402706" cy="4032"/>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1B08D2F-4696-A3B4-455F-401C3E41E2DC}"/>
              </a:ext>
            </a:extLst>
          </p:cNvPr>
          <p:cNvSpPr txBox="1">
            <a:spLocks/>
          </p:cNvSpPr>
          <p:nvPr/>
        </p:nvSpPr>
        <p:spPr>
          <a:xfrm>
            <a:off x="5511218" y="3977630"/>
            <a:ext cx="1159179" cy="141081"/>
          </a:xfrm>
          <a:prstGeom prst="rect">
            <a:avLst/>
          </a:prstGeom>
          <a:solidFill>
            <a:srgbClr val="F2F2F2"/>
          </a:solidFill>
        </p:spPr>
        <p:txBody>
          <a:bodyPr vert="horz" wrap="square" lIns="0" tIns="45720" rIns="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a:ln>
                  <a:noFill/>
                </a:ln>
                <a:solidFill>
                  <a:srgbClr val="000000"/>
                </a:solidFill>
                <a:effectLst/>
                <a:uLnTx/>
                <a:uFillTx/>
                <a:latin typeface="+mj-lt"/>
                <a:ea typeface="+mn-ea"/>
                <a:cs typeface="+mn-cs"/>
              </a:rPr>
              <a:t>Advice Spectrum</a:t>
            </a:r>
          </a:p>
        </p:txBody>
      </p:sp>
      <p:sp>
        <p:nvSpPr>
          <p:cNvPr id="27" name="Oval 26">
            <a:extLst>
              <a:ext uri="{FF2B5EF4-FFF2-40B4-BE49-F238E27FC236}">
                <a16:creationId xmlns:a16="http://schemas.microsoft.com/office/drawing/2014/main" id="{9D8A23CF-5038-A58B-BA0A-5966FA31BD7A}"/>
              </a:ext>
            </a:extLst>
          </p:cNvPr>
          <p:cNvSpPr>
            <a:spLocks/>
          </p:cNvSpPr>
          <p:nvPr/>
        </p:nvSpPr>
        <p:spPr bwMode="gray">
          <a:xfrm>
            <a:off x="7374965" y="4763830"/>
            <a:ext cx="180000" cy="180000"/>
          </a:xfrm>
          <a:prstGeom prst="ellipse">
            <a:avLst/>
          </a:prstGeom>
          <a:solidFill>
            <a:srgbClr val="00B05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43" name="TextBox 42">
            <a:extLst>
              <a:ext uri="{FF2B5EF4-FFF2-40B4-BE49-F238E27FC236}">
                <a16:creationId xmlns:a16="http://schemas.microsoft.com/office/drawing/2014/main" id="{CF444749-9F57-4267-9702-872880C2FDF9}"/>
              </a:ext>
            </a:extLst>
          </p:cNvPr>
          <p:cNvSpPr txBox="1">
            <a:spLocks/>
          </p:cNvSpPr>
          <p:nvPr/>
        </p:nvSpPr>
        <p:spPr>
          <a:xfrm>
            <a:off x="5589389" y="4394002"/>
            <a:ext cx="949203" cy="359104"/>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mj-lt"/>
                <a:ea typeface="+mn-ea"/>
                <a:cs typeface="+mn-cs"/>
              </a:rPr>
              <a:t>ASIC DBFO</a:t>
            </a:r>
            <a:br>
              <a:rPr kumimoji="0" lang="en-US" sz="1100" b="1" i="0" u="none" strike="noStrike" kern="1200" cap="none" spc="0" normalizeH="0" baseline="0" noProof="0">
                <a:ln>
                  <a:noFill/>
                </a:ln>
                <a:solidFill>
                  <a:srgbClr val="000000"/>
                </a:solidFill>
                <a:effectLst/>
                <a:uLnTx/>
                <a:uFillTx/>
                <a:latin typeface="+mj-lt"/>
                <a:ea typeface="+mn-ea"/>
                <a:cs typeface="+mn-cs"/>
              </a:rPr>
            </a:br>
            <a:r>
              <a:rPr kumimoji="0" lang="en-US" sz="1100" b="1" i="0" u="none" strike="noStrike" kern="1200" cap="none" spc="0" normalizeH="0" baseline="0" noProof="0">
                <a:ln>
                  <a:noFill/>
                </a:ln>
                <a:solidFill>
                  <a:srgbClr val="000000"/>
                </a:solidFill>
                <a:effectLst/>
                <a:uLnTx/>
                <a:uFillTx/>
                <a:latin typeface="+mj-lt"/>
                <a:ea typeface="+mn-ea"/>
                <a:cs typeface="+mn-cs"/>
              </a:rPr>
              <a:t>Schedule 2</a:t>
            </a:r>
          </a:p>
        </p:txBody>
      </p:sp>
      <p:sp>
        <p:nvSpPr>
          <p:cNvPr id="45" name="Oval 44">
            <a:extLst>
              <a:ext uri="{FF2B5EF4-FFF2-40B4-BE49-F238E27FC236}">
                <a16:creationId xmlns:a16="http://schemas.microsoft.com/office/drawing/2014/main" id="{4EC9D442-0CC9-2620-F12B-992B8C427AD2}"/>
              </a:ext>
            </a:extLst>
          </p:cNvPr>
          <p:cNvSpPr>
            <a:spLocks/>
          </p:cNvSpPr>
          <p:nvPr/>
        </p:nvSpPr>
        <p:spPr bwMode="gray">
          <a:xfrm>
            <a:off x="5966329" y="4763830"/>
            <a:ext cx="180000" cy="180000"/>
          </a:xfrm>
          <a:prstGeom prst="ellipse">
            <a:avLst/>
          </a:prstGeom>
          <a:solidFill>
            <a:srgbClr val="C4D6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46" name="Picture 2">
            <a:extLst>
              <a:ext uri="{FF2B5EF4-FFF2-40B4-BE49-F238E27FC236}">
                <a16:creationId xmlns:a16="http://schemas.microsoft.com/office/drawing/2014/main" id="{15E0930E-B9BC-27CD-BD81-A430A8E0C4C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365059" y="4246782"/>
            <a:ext cx="215134" cy="143709"/>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a:extLst>
              <a:ext uri="{FF2B5EF4-FFF2-40B4-BE49-F238E27FC236}">
                <a16:creationId xmlns:a16="http://schemas.microsoft.com/office/drawing/2014/main" id="{C13374CB-F904-2A0E-6AB3-850C8E106C42}"/>
              </a:ext>
            </a:extLst>
          </p:cNvPr>
          <p:cNvPicPr>
            <a:picLocks noChangeAspect="1"/>
          </p:cNvPicPr>
          <p:nvPr/>
        </p:nvPicPr>
        <p:blipFill>
          <a:blip r:embed="rId7"/>
          <a:stretch>
            <a:fillRect/>
          </a:stretch>
        </p:blipFill>
        <p:spPr>
          <a:xfrm>
            <a:off x="5953260" y="4246200"/>
            <a:ext cx="221461" cy="142412"/>
          </a:xfrm>
          <a:prstGeom prst="rect">
            <a:avLst/>
          </a:prstGeom>
        </p:spPr>
      </p:pic>
      <p:pic>
        <p:nvPicPr>
          <p:cNvPr id="1028" name="Picture 4">
            <a:extLst>
              <a:ext uri="{FF2B5EF4-FFF2-40B4-BE49-F238E27FC236}">
                <a16:creationId xmlns:a16="http://schemas.microsoft.com/office/drawing/2014/main" id="{8169BFA4-BA1C-5009-ADBE-4AE492274F12}"/>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915234" y="4245374"/>
            <a:ext cx="221461" cy="140102"/>
          </a:xfrm>
          <a:prstGeom prst="rect">
            <a:avLst/>
          </a:prstGeom>
          <a:noFill/>
          <a:extLst>
            <a:ext uri="{909E8E84-426E-40DD-AFC4-6F175D3DCCD1}">
              <a14:hiddenFill xmlns:a14="http://schemas.microsoft.com/office/drawing/2010/main">
                <a:solidFill>
                  <a:srgbClr val="FFFFFF"/>
                </a:solidFill>
              </a14:hiddenFill>
            </a:ext>
          </a:extLst>
        </p:spPr>
      </p:pic>
      <p:grpSp>
        <p:nvGrpSpPr>
          <p:cNvPr id="60" name="Group 59">
            <a:extLst>
              <a:ext uri="{FF2B5EF4-FFF2-40B4-BE49-F238E27FC236}">
                <a16:creationId xmlns:a16="http://schemas.microsoft.com/office/drawing/2014/main" id="{5EF54A2C-635F-1F13-071E-BE5EF45F6062}"/>
              </a:ext>
            </a:extLst>
          </p:cNvPr>
          <p:cNvGrpSpPr>
            <a:grpSpLocks/>
          </p:cNvGrpSpPr>
          <p:nvPr/>
        </p:nvGrpSpPr>
        <p:grpSpPr>
          <a:xfrm>
            <a:off x="6355732" y="1412667"/>
            <a:ext cx="5333249" cy="338554"/>
            <a:chOff x="6211652" y="3271589"/>
            <a:chExt cx="5477330" cy="338554"/>
          </a:xfrm>
        </p:grpSpPr>
        <p:cxnSp>
          <p:nvCxnSpPr>
            <p:cNvPr id="22" name="Straight Connector 21">
              <a:extLst>
                <a:ext uri="{FF2B5EF4-FFF2-40B4-BE49-F238E27FC236}">
                  <a16:creationId xmlns:a16="http://schemas.microsoft.com/office/drawing/2014/main" id="{CD6ED8B3-C386-2FE4-7E95-994070ED510D}"/>
                </a:ext>
              </a:extLst>
            </p:cNvPr>
            <p:cNvCxnSpPr>
              <a:cxnSpLocks/>
            </p:cNvCxnSpPr>
            <p:nvPr/>
          </p:nvCxnSpPr>
          <p:spPr>
            <a:xfrm>
              <a:off x="6211652" y="3610143"/>
              <a:ext cx="547733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F971FDD-266C-A2C8-293B-8BD720172549}"/>
                </a:ext>
              </a:extLst>
            </p:cNvPr>
            <p:cNvSpPr>
              <a:spLocks/>
            </p:cNvSpPr>
            <p:nvPr/>
          </p:nvSpPr>
          <p:spPr>
            <a:xfrm>
              <a:off x="6211652" y="3271589"/>
              <a:ext cx="5477330" cy="338554"/>
            </a:xfrm>
            <a:prstGeom prst="rect">
              <a:avLst/>
            </a:prstGeom>
          </p:spPr>
          <p:txBody>
            <a:bodyPr wrap="square" lIns="0">
              <a:spAutoFit/>
            </a:bodyPr>
            <a:lstStyle/>
            <a:p>
              <a:pPr marL="0" marR="0" lvl="1" indent="0" defTabSz="914400" rtl="0" eaLnBrk="1" fontAlgn="auto" latinLnBrk="0" hangingPunct="1">
                <a:lnSpc>
                  <a:spcPct val="100000"/>
                </a:lnSpc>
                <a:spcBef>
                  <a:spcPts val="600"/>
                </a:spcBef>
                <a:spcAft>
                  <a:spcPts val="0"/>
                </a:spcAft>
                <a:buClrTx/>
                <a:buSzPct val="100000"/>
                <a:buFontTx/>
                <a:buNone/>
                <a:tabLst/>
                <a:defRPr/>
              </a:pPr>
              <a:r>
                <a:rPr lang="en-US" sz="1600" b="1">
                  <a:solidFill>
                    <a:srgbClr val="000000"/>
                  </a:solidFill>
                  <a:latin typeface="+mj-lt"/>
                  <a:ea typeface="Open Sans" panose="020B0606030504020204" pitchFamily="34" charset="0"/>
                  <a:cs typeface="Calibri" panose="020F0502020204030204" pitchFamily="34" charset="0"/>
                </a:rPr>
                <a:t>‘Targeted Support’ Regime</a:t>
              </a:r>
              <a:endParaRPr kumimoji="0" lang="en-US"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endParaRPr>
            </a:p>
          </p:txBody>
        </p:sp>
      </p:grpSp>
      <p:sp>
        <p:nvSpPr>
          <p:cNvPr id="49" name="Rectangle 48">
            <a:extLst>
              <a:ext uri="{FF2B5EF4-FFF2-40B4-BE49-F238E27FC236}">
                <a16:creationId xmlns:a16="http://schemas.microsoft.com/office/drawing/2014/main" id="{A8A55C60-4C34-ACEF-3E89-D681C8938108}"/>
              </a:ext>
            </a:extLst>
          </p:cNvPr>
          <p:cNvSpPr>
            <a:spLocks/>
          </p:cNvSpPr>
          <p:nvPr/>
        </p:nvSpPr>
        <p:spPr>
          <a:xfrm>
            <a:off x="501650" y="1827404"/>
            <a:ext cx="5333249" cy="1723549"/>
          </a:xfrm>
          <a:prstGeom prst="rect">
            <a:avLst/>
          </a:prstGeom>
          <a:noFill/>
        </p:spPr>
        <p:txBody>
          <a:bodyPr wrap="square" lIns="0">
            <a:spAutoFit/>
          </a:bodyPr>
          <a:lstStyle/>
          <a:p>
            <a:pPr marL="0" marR="0" lvl="1" algn="l" defTabSz="914400" rtl="0" eaLnBrk="1" fontAlgn="auto" latinLnBrk="0" hangingPunct="1">
              <a:lnSpc>
                <a:spcPct val="100000"/>
              </a:lnSpc>
              <a:spcBef>
                <a:spcPts val="600"/>
              </a:spcBef>
              <a:spcAft>
                <a:spcPts val="0"/>
              </a:spcAft>
              <a:buClrTx/>
              <a:buSzPct val="100000"/>
              <a:tabLst/>
              <a:defRPr/>
            </a:pPr>
            <a:r>
              <a:rPr lang="en-US" sz="1200">
                <a:solidFill>
                  <a:srgbClr val="000000"/>
                </a:solidFill>
                <a:latin typeface="+mj-lt"/>
                <a:ea typeface="Open Sans" panose="020B0606030504020204" pitchFamily="34" charset="0"/>
                <a:cs typeface="Calibri" panose="020F0502020204030204" pitchFamily="34" charset="0"/>
              </a:rPr>
              <a:t>Bridges the retirement ‘Advice Gap’ by </a:t>
            </a:r>
            <a:r>
              <a:rPr lang="en-US" sz="1200" b="1">
                <a:solidFill>
                  <a:srgbClr val="000000"/>
                </a:solidFill>
                <a:latin typeface="+mj-lt"/>
                <a:ea typeface="Open Sans" panose="020B0606030504020204" pitchFamily="34" charset="0"/>
                <a:cs typeface="Calibri" panose="020F0502020204030204" pitchFamily="34" charset="0"/>
              </a:rPr>
              <a:t>enabling superannuation (‘super’) funds to provide group-based, limited-scope general advice at key life stages</a:t>
            </a:r>
          </a:p>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Super funds can deliver prompts with general, limited-scope advice framed for a class of members, including recommendation for paid advice provided by fund or based on member’s existing interest in the fund (e.g., current fund settings, existing allocations)</a:t>
            </a:r>
          </a:p>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lang="en-US" sz="1200">
                <a:solidFill>
                  <a:srgbClr val="000000"/>
                </a:solidFill>
                <a:latin typeface="+mj-lt"/>
                <a:ea typeface="Open Sans" panose="020B0606030504020204" pitchFamily="34" charset="0"/>
                <a:cs typeface="Calibri" panose="020F0502020204030204" pitchFamily="34" charset="0"/>
              </a:rPr>
              <a:t>Prompts</a:t>
            </a: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 should only include superannuation-related advice, not recommend specific products, and not impose timelines to act on recommendations</a:t>
            </a:r>
          </a:p>
        </p:txBody>
      </p:sp>
      <p:sp>
        <p:nvSpPr>
          <p:cNvPr id="57" name="Rectangle 56">
            <a:extLst>
              <a:ext uri="{FF2B5EF4-FFF2-40B4-BE49-F238E27FC236}">
                <a16:creationId xmlns:a16="http://schemas.microsoft.com/office/drawing/2014/main" id="{2A540583-622A-09A3-2934-4893EA8B4B29}"/>
              </a:ext>
            </a:extLst>
          </p:cNvPr>
          <p:cNvSpPr>
            <a:spLocks/>
          </p:cNvSpPr>
          <p:nvPr/>
        </p:nvSpPr>
        <p:spPr>
          <a:xfrm>
            <a:off x="6355734" y="1827404"/>
            <a:ext cx="5333249" cy="1169551"/>
          </a:xfrm>
          <a:prstGeom prst="rect">
            <a:avLst/>
          </a:prstGeom>
          <a:noFill/>
        </p:spPr>
        <p:txBody>
          <a:bodyPr wrap="square" lIns="0">
            <a:spAutoFit/>
          </a:bodyPr>
          <a:lstStyle/>
          <a:p>
            <a:pPr marL="0" marR="0" lvl="1" algn="l" defTabSz="914400" rtl="0" eaLnBrk="1" fontAlgn="auto" latinLnBrk="0" hangingPunct="1">
              <a:lnSpc>
                <a:spcPct val="100000"/>
              </a:lnSpc>
              <a:spcBef>
                <a:spcPts val="600"/>
              </a:spcBef>
              <a:spcAft>
                <a:spcPts val="0"/>
              </a:spcAft>
              <a:buClrTx/>
              <a:buSzPct val="100000"/>
              <a:tabLst/>
              <a:defRPr/>
            </a:pPr>
            <a:r>
              <a:rPr lang="en-US" sz="1200">
                <a:solidFill>
                  <a:srgbClr val="000000"/>
                </a:solidFill>
                <a:latin typeface="+mj-lt"/>
                <a:ea typeface="Open Sans" panose="020B0606030504020204" pitchFamily="34" charset="0"/>
                <a:cs typeface="Calibri" panose="020F0502020204030204" pitchFamily="34" charset="0"/>
              </a:rPr>
              <a:t>B</a:t>
            </a: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ridges the </a:t>
            </a:r>
            <a:r>
              <a:rPr lang="en-US" sz="1200">
                <a:solidFill>
                  <a:srgbClr val="000000"/>
                </a:solidFill>
                <a:latin typeface="+mj-lt"/>
                <a:ea typeface="Open Sans" panose="020B0606030504020204" pitchFamily="34" charset="0"/>
                <a:cs typeface="Calibri" panose="020F0502020204030204" pitchFamily="34" charset="0"/>
              </a:rPr>
              <a:t>‘</a:t>
            </a: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Advice Gap’</a:t>
            </a:r>
            <a:r>
              <a:rPr lang="en-US" sz="1200">
                <a:solidFill>
                  <a:srgbClr val="000000"/>
                </a:solidFill>
                <a:latin typeface="+mj-lt"/>
                <a:ea typeface="Open Sans" panose="020B0606030504020204" pitchFamily="34" charset="0"/>
                <a:cs typeface="Calibri" panose="020F0502020204030204" pitchFamily="34" charset="0"/>
              </a:rPr>
              <a:t> by </a:t>
            </a:r>
            <a:r>
              <a:rPr lang="en-US" sz="1200" b="1">
                <a:solidFill>
                  <a:srgbClr val="000000"/>
                </a:solidFill>
                <a:latin typeface="+mj-lt"/>
                <a:ea typeface="Open Sans" panose="020B0606030504020204" pitchFamily="34" charset="0"/>
                <a:cs typeface="Calibri" panose="020F0502020204030204" pitchFamily="34" charset="0"/>
              </a:rPr>
              <a:t>creating </a:t>
            </a:r>
            <a:r>
              <a:rPr kumimoji="0" lang="en-US" sz="12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a new category between generic information and regulated advice</a:t>
            </a: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 aimed at investors who do not (or can</a:t>
            </a:r>
            <a:r>
              <a:rPr lang="en-US" sz="1200">
                <a:solidFill>
                  <a:srgbClr val="000000"/>
                </a:solidFill>
                <a:latin typeface="+mj-lt"/>
                <a:ea typeface="Open Sans" panose="020B0606030504020204" pitchFamily="34" charset="0"/>
                <a:cs typeface="Calibri" panose="020F0502020204030204" pitchFamily="34" charset="0"/>
              </a:rPr>
              <a:t>not</a:t>
            </a: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 access full advice</a:t>
            </a:r>
          </a:p>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Firms can deliver ready-made, ‘grouped’ suggestions to investor segments with common characteristics or situations (e.g., ‘cash-heavy savers’, ‘near retirement’)</a:t>
            </a:r>
          </a:p>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Firms must disclose clearly that this is not full financial advice</a:t>
            </a:r>
          </a:p>
        </p:txBody>
      </p:sp>
      <p:grpSp>
        <p:nvGrpSpPr>
          <p:cNvPr id="61" name="Group 60">
            <a:extLst>
              <a:ext uri="{FF2B5EF4-FFF2-40B4-BE49-F238E27FC236}">
                <a16:creationId xmlns:a16="http://schemas.microsoft.com/office/drawing/2014/main" id="{DEE35A76-CBD6-E0DF-346A-7F9E063ADB6F}"/>
              </a:ext>
            </a:extLst>
          </p:cNvPr>
          <p:cNvGrpSpPr>
            <a:grpSpLocks/>
          </p:cNvGrpSpPr>
          <p:nvPr/>
        </p:nvGrpSpPr>
        <p:grpSpPr>
          <a:xfrm>
            <a:off x="501650" y="1412667"/>
            <a:ext cx="5333249" cy="338554"/>
            <a:chOff x="6211652" y="3271589"/>
            <a:chExt cx="5477330" cy="338554"/>
          </a:xfrm>
        </p:grpSpPr>
        <p:cxnSp>
          <p:nvCxnSpPr>
            <p:cNvPr id="62" name="Straight Connector 61">
              <a:extLst>
                <a:ext uri="{FF2B5EF4-FFF2-40B4-BE49-F238E27FC236}">
                  <a16:creationId xmlns:a16="http://schemas.microsoft.com/office/drawing/2014/main" id="{73630EEE-80B5-FCD9-8200-05F771AC21CF}"/>
                </a:ext>
              </a:extLst>
            </p:cNvPr>
            <p:cNvCxnSpPr>
              <a:cxnSpLocks/>
            </p:cNvCxnSpPr>
            <p:nvPr/>
          </p:nvCxnSpPr>
          <p:spPr>
            <a:xfrm>
              <a:off x="6211652" y="3610143"/>
              <a:ext cx="547733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06D51C37-E480-4158-2621-00D6136A8F53}"/>
                </a:ext>
              </a:extLst>
            </p:cNvPr>
            <p:cNvSpPr>
              <a:spLocks/>
            </p:cNvSpPr>
            <p:nvPr/>
          </p:nvSpPr>
          <p:spPr>
            <a:xfrm>
              <a:off x="6211652" y="3271589"/>
              <a:ext cx="5477330" cy="338554"/>
            </a:xfrm>
            <a:prstGeom prst="rect">
              <a:avLst/>
            </a:prstGeom>
          </p:spPr>
          <p:txBody>
            <a:bodyPr wrap="square" lIns="0">
              <a:spAutoFit/>
            </a:bodyPr>
            <a:lstStyle/>
            <a:p>
              <a:pPr marL="0" marR="0" lvl="1" indent="0" defTabSz="914400" rtl="0" eaLnBrk="1" fontAlgn="auto" latinLnBrk="0" hangingPunct="1">
                <a:lnSpc>
                  <a:spcPct val="100000"/>
                </a:lnSpc>
                <a:spcBef>
                  <a:spcPts val="600"/>
                </a:spcBef>
                <a:spcAft>
                  <a:spcPts val="0"/>
                </a:spcAft>
                <a:buClrTx/>
                <a:buSzPct val="100000"/>
                <a:buFontTx/>
                <a:buNone/>
                <a:tabLst/>
                <a:defRPr/>
              </a:pPr>
              <a:r>
                <a:rPr lang="en-US" sz="1600" b="1">
                  <a:solidFill>
                    <a:srgbClr val="000000"/>
                  </a:solidFill>
                  <a:latin typeface="+mj-lt"/>
                  <a:ea typeface="Open Sans" panose="020B0606030504020204" pitchFamily="34" charset="0"/>
                  <a:cs typeface="Calibri" panose="020F0502020204030204" pitchFamily="34" charset="0"/>
                </a:rPr>
                <a:t>‘Delivering Better Financial Outcomes’ (DBFO)</a:t>
              </a:r>
              <a:endParaRPr kumimoji="0" lang="en-US"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endParaRPr>
            </a:p>
          </p:txBody>
        </p:sp>
      </p:grpSp>
      <p:pic>
        <p:nvPicPr>
          <p:cNvPr id="1036" name="Picture 1035">
            <a:extLst>
              <a:ext uri="{FF2B5EF4-FFF2-40B4-BE49-F238E27FC236}">
                <a16:creationId xmlns:a16="http://schemas.microsoft.com/office/drawing/2014/main" id="{D1AB5781-ED61-365A-09C5-EAA4A1F131A5}"/>
              </a:ext>
            </a:extLst>
          </p:cNvPr>
          <p:cNvPicPr>
            <a:picLocks noChangeAspect="1"/>
          </p:cNvPicPr>
          <p:nvPr/>
        </p:nvPicPr>
        <p:blipFill>
          <a:blip r:embed="rId9"/>
          <a:stretch>
            <a:fillRect/>
          </a:stretch>
        </p:blipFill>
        <p:spPr>
          <a:xfrm>
            <a:off x="10831072" y="1408855"/>
            <a:ext cx="795020" cy="250928"/>
          </a:xfrm>
          <a:prstGeom prst="rect">
            <a:avLst/>
          </a:prstGeom>
        </p:spPr>
      </p:pic>
      <p:pic>
        <p:nvPicPr>
          <p:cNvPr id="1037" name="Picture 2">
            <a:extLst>
              <a:ext uri="{FF2B5EF4-FFF2-40B4-BE49-F238E27FC236}">
                <a16:creationId xmlns:a16="http://schemas.microsoft.com/office/drawing/2014/main" id="{EB4D88A8-4F90-CA41-3237-8F49EE32510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0385982" y="1410957"/>
            <a:ext cx="369348" cy="246725"/>
          </a:xfrm>
          <a:prstGeom prst="rect">
            <a:avLst/>
          </a:prstGeom>
          <a:noFill/>
          <a:extLst>
            <a:ext uri="{909E8E84-426E-40DD-AFC4-6F175D3DCCD1}">
              <a14:hiddenFill xmlns:a14="http://schemas.microsoft.com/office/drawing/2010/main">
                <a:solidFill>
                  <a:srgbClr val="FFFFFF"/>
                </a:solidFill>
              </a14:hiddenFill>
            </a:ext>
          </a:extLst>
        </p:spPr>
      </p:pic>
      <p:grpSp>
        <p:nvGrpSpPr>
          <p:cNvPr id="1040" name="Group 1039">
            <a:extLst>
              <a:ext uri="{FF2B5EF4-FFF2-40B4-BE49-F238E27FC236}">
                <a16:creationId xmlns:a16="http://schemas.microsoft.com/office/drawing/2014/main" id="{8774A694-BD39-ED44-5EDD-3C9A105AA3B6}"/>
              </a:ext>
            </a:extLst>
          </p:cNvPr>
          <p:cNvGrpSpPr>
            <a:grpSpLocks/>
          </p:cNvGrpSpPr>
          <p:nvPr/>
        </p:nvGrpSpPr>
        <p:grpSpPr>
          <a:xfrm>
            <a:off x="5176843" y="1417620"/>
            <a:ext cx="729972" cy="247894"/>
            <a:chOff x="9073940" y="1311702"/>
            <a:chExt cx="1584386" cy="577077"/>
          </a:xfrm>
        </p:grpSpPr>
        <p:pic>
          <p:nvPicPr>
            <p:cNvPr id="1041" name="Picture 1040">
              <a:extLst>
                <a:ext uri="{FF2B5EF4-FFF2-40B4-BE49-F238E27FC236}">
                  <a16:creationId xmlns:a16="http://schemas.microsoft.com/office/drawing/2014/main" id="{98DAE0C2-5764-D2BA-9A69-1F7BF4D7C31C}"/>
                </a:ext>
              </a:extLst>
            </p:cNvPr>
            <p:cNvPicPr>
              <a:picLocks noChangeAspect="1"/>
            </p:cNvPicPr>
            <p:nvPr/>
          </p:nvPicPr>
          <p:blipFill>
            <a:blip r:embed="rId10"/>
            <a:srcRect b="27922"/>
            <a:stretch/>
          </p:blipFill>
          <p:spPr>
            <a:xfrm>
              <a:off x="9073940" y="1311702"/>
              <a:ext cx="586326" cy="577077"/>
            </a:xfrm>
            <a:prstGeom prst="rect">
              <a:avLst/>
            </a:prstGeom>
          </p:spPr>
        </p:pic>
        <p:pic>
          <p:nvPicPr>
            <p:cNvPr id="1042" name="Picture 1041">
              <a:extLst>
                <a:ext uri="{FF2B5EF4-FFF2-40B4-BE49-F238E27FC236}">
                  <a16:creationId xmlns:a16="http://schemas.microsoft.com/office/drawing/2014/main" id="{D7B2A152-1279-D8CE-A70F-9F96EA00DA22}"/>
                </a:ext>
              </a:extLst>
            </p:cNvPr>
            <p:cNvPicPr>
              <a:picLocks noChangeAspect="1"/>
            </p:cNvPicPr>
            <p:nvPr/>
          </p:nvPicPr>
          <p:blipFill>
            <a:blip r:embed="rId10"/>
            <a:srcRect l="16079" t="78086"/>
            <a:stretch/>
          </p:blipFill>
          <p:spPr>
            <a:xfrm>
              <a:off x="9660266" y="1406773"/>
              <a:ext cx="998060" cy="355876"/>
            </a:xfrm>
            <a:prstGeom prst="rect">
              <a:avLst/>
            </a:prstGeom>
          </p:spPr>
        </p:pic>
      </p:grpSp>
      <p:pic>
        <p:nvPicPr>
          <p:cNvPr id="1043" name="Picture 1042">
            <a:extLst>
              <a:ext uri="{FF2B5EF4-FFF2-40B4-BE49-F238E27FC236}">
                <a16:creationId xmlns:a16="http://schemas.microsoft.com/office/drawing/2014/main" id="{2DDC8966-C0C0-66DE-C7DD-FF6008C8B630}"/>
              </a:ext>
            </a:extLst>
          </p:cNvPr>
          <p:cNvPicPr>
            <a:picLocks noChangeAspect="1"/>
          </p:cNvPicPr>
          <p:nvPr/>
        </p:nvPicPr>
        <p:blipFill>
          <a:blip r:embed="rId7"/>
          <a:stretch>
            <a:fillRect/>
          </a:stretch>
        </p:blipFill>
        <p:spPr>
          <a:xfrm>
            <a:off x="4763766" y="1413186"/>
            <a:ext cx="369346" cy="244496"/>
          </a:xfrm>
          <a:prstGeom prst="rect">
            <a:avLst/>
          </a:prstGeom>
        </p:spPr>
      </p:pic>
      <p:cxnSp>
        <p:nvCxnSpPr>
          <p:cNvPr id="6" name="Straight Connector 5">
            <a:extLst>
              <a:ext uri="{FF2B5EF4-FFF2-40B4-BE49-F238E27FC236}">
                <a16:creationId xmlns:a16="http://schemas.microsoft.com/office/drawing/2014/main" id="{A1A2F0CD-0B1A-2DF9-BA03-EDE8D53F1AD0}"/>
              </a:ext>
            </a:extLst>
          </p:cNvPr>
          <p:cNvCxnSpPr>
            <a:cxnSpLocks/>
          </p:cNvCxnSpPr>
          <p:nvPr/>
        </p:nvCxnSpPr>
        <p:spPr>
          <a:xfrm>
            <a:off x="6096000" y="1827404"/>
            <a:ext cx="0" cy="1723549"/>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495112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38378033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Content Placeholder 6">
            <a:extLst>
              <a:ext uri="{FF2B5EF4-FFF2-40B4-BE49-F238E27FC236}">
                <a16:creationId xmlns:a16="http://schemas.microsoft.com/office/drawing/2014/main" id="{88BCB976-4007-DCD4-F970-20A0D26CE8B1}"/>
              </a:ext>
            </a:extLst>
          </p:cNvPr>
          <p:cNvSpPr txBox="1">
            <a:spLocks/>
          </p:cNvSpPr>
          <p:nvPr/>
        </p:nvSpPr>
        <p:spPr>
          <a:xfrm>
            <a:off x="0" y="1543331"/>
            <a:ext cx="12192000" cy="978501"/>
          </a:xfrm>
          <a:prstGeom prst="rect">
            <a:avLst/>
          </a:prstGeom>
          <a:solidFill>
            <a:schemeClr val="bg1">
              <a:lumMod val="95000"/>
            </a:schemeClr>
          </a:solidFill>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0"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285750" indent="-285750">
              <a:buFont typeface="Arial" panose="020B0604020202020204" pitchFamily="34" charset="0"/>
              <a:buChar char="•"/>
            </a:pPr>
            <a:endParaRPr lang="en-CA"/>
          </a:p>
        </p:txBody>
      </p:sp>
      <p:sp>
        <p:nvSpPr>
          <p:cNvPr id="67" name="Rectangle 57">
            <a:extLst>
              <a:ext uri="{FF2B5EF4-FFF2-40B4-BE49-F238E27FC236}">
                <a16:creationId xmlns:a16="http://schemas.microsoft.com/office/drawing/2014/main" id="{0DDF371B-51A5-632A-4CC2-A58BB4326F6F}"/>
              </a:ext>
            </a:extLst>
          </p:cNvPr>
          <p:cNvSpPr>
            <a:spLocks/>
          </p:cNvSpPr>
          <p:nvPr/>
        </p:nvSpPr>
        <p:spPr bwMode="auto">
          <a:xfrm>
            <a:off x="1032382" y="1408856"/>
            <a:ext cx="2521542" cy="4925270"/>
          </a:xfrm>
          <a:prstGeom prst="rect">
            <a:avLst/>
          </a:prstGeom>
          <a:noFill/>
          <a:ln w="19050">
            <a:solidFill>
              <a:schemeClr val="accent1"/>
            </a:solidFill>
            <a:prstDash val="sysDash"/>
            <a:headEnd/>
            <a:tailEnd/>
          </a:ln>
          <a:effectLst/>
        </p:spPr>
        <p:style>
          <a:lnRef idx="1">
            <a:schemeClr val="accent3"/>
          </a:lnRef>
          <a:fillRef idx="3">
            <a:schemeClr val="accent3"/>
          </a:fillRef>
          <a:effectRef idx="2">
            <a:schemeClr val="accent3"/>
          </a:effectRef>
          <a:fontRef idx="minor">
            <a:schemeClr val="lt1"/>
          </a:fontRef>
        </p:style>
        <p:txBody>
          <a:bodyPr lIns="90488" tIns="44450" rIns="90488" bIns="4445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 name="Text Placeholder 1">
            <a:extLst>
              <a:ext uri="{FF2B5EF4-FFF2-40B4-BE49-F238E27FC236}">
                <a16:creationId xmlns:a16="http://schemas.microsoft.com/office/drawing/2014/main" id="{738F0E80-AC91-4A1F-8E56-CCBC7BBA31F6}"/>
              </a:ext>
            </a:extLst>
          </p:cNvPr>
          <p:cNvSpPr>
            <a:spLocks noGrp="1"/>
          </p:cNvSpPr>
          <p:nvPr>
            <p:ph type="body" sz="quarter" idx="21"/>
          </p:nvPr>
        </p:nvSpPr>
        <p:spPr/>
        <p:txBody>
          <a:bodyPr/>
          <a:lstStyle/>
          <a:p>
            <a:r>
              <a:rPr lang="en-US"/>
              <a:t>The Proposed Guidance raises the competitive bar for OEOs, enabling them to differentiate with decision-making supports, while enhancing their ability to compete with robo-advisory and branch offerings</a:t>
            </a:r>
          </a:p>
        </p:txBody>
      </p:sp>
      <p:sp>
        <p:nvSpPr>
          <p:cNvPr id="4" name="Title 3"/>
          <p:cNvSpPr>
            <a:spLocks noGrp="1"/>
          </p:cNvSpPr>
          <p:nvPr>
            <p:ph type="title"/>
          </p:nvPr>
        </p:nvSpPr>
        <p:spPr/>
        <p:txBody>
          <a:bodyPr vert="horz"/>
          <a:lstStyle/>
          <a:p>
            <a:r>
              <a:rPr lang="en-US" noProof="0"/>
              <a:t>Impacts on Wealth Management Landscape</a:t>
            </a:r>
          </a:p>
        </p:txBody>
      </p:sp>
      <p:sp>
        <p:nvSpPr>
          <p:cNvPr id="5" name="Slide Number Placeholder 4"/>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9</a:t>
            </a:fld>
            <a:endParaRPr lang="en-US"/>
          </a:p>
        </p:txBody>
      </p:sp>
      <p:sp>
        <p:nvSpPr>
          <p:cNvPr id="61" name="Arrow: Left-Right 60">
            <a:extLst>
              <a:ext uri="{FF2B5EF4-FFF2-40B4-BE49-F238E27FC236}">
                <a16:creationId xmlns:a16="http://schemas.microsoft.com/office/drawing/2014/main" id="{C25FEA6D-E898-D64D-51F2-2D9C8E4467A3}"/>
              </a:ext>
            </a:extLst>
          </p:cNvPr>
          <p:cNvSpPr>
            <a:spLocks/>
          </p:cNvSpPr>
          <p:nvPr/>
        </p:nvSpPr>
        <p:spPr bwMode="gray">
          <a:xfrm>
            <a:off x="112060" y="2182853"/>
            <a:ext cx="11967881" cy="691001"/>
          </a:xfrm>
          <a:prstGeom prst="leftRightArrow">
            <a:avLst>
              <a:gd name="adj1" fmla="val 50000"/>
              <a:gd name="adj2" fmla="val 59657"/>
            </a:avLst>
          </a:prstGeom>
          <a:gradFill flip="none" rotWithShape="1">
            <a:gsLst>
              <a:gs pos="0">
                <a:srgbClr val="43B02A"/>
              </a:gs>
              <a:gs pos="50000">
                <a:srgbClr val="C4D600"/>
              </a:gs>
              <a:gs pos="100000">
                <a:srgbClr val="E3E48D"/>
              </a:gs>
            </a:gsLst>
            <a:lin ang="0" scaled="1"/>
            <a:tileRect/>
          </a:gradFill>
          <a:ln w="19050" algn="ctr">
            <a:noFill/>
            <a:miter lim="800000"/>
            <a:headEnd/>
            <a:tailEnd/>
          </a:ln>
          <a:effectLst>
            <a:outerShdw blurRad="50800" dist="38100" dir="5400000" algn="t"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65" name="TextBox 64">
            <a:extLst>
              <a:ext uri="{FF2B5EF4-FFF2-40B4-BE49-F238E27FC236}">
                <a16:creationId xmlns:a16="http://schemas.microsoft.com/office/drawing/2014/main" id="{277C0FD8-CBCD-10F2-5272-97CA739D0EB4}"/>
              </a:ext>
            </a:extLst>
          </p:cNvPr>
          <p:cNvSpPr txBox="1">
            <a:spLocks/>
          </p:cNvSpPr>
          <p:nvPr/>
        </p:nvSpPr>
        <p:spPr>
          <a:xfrm>
            <a:off x="267215" y="2354202"/>
            <a:ext cx="2090050" cy="348302"/>
          </a:xfrm>
          <a:prstGeom prst="rect">
            <a:avLst/>
          </a:prstGeom>
        </p:spPr>
        <p:txBody>
          <a:bodyPr vert="horz" wrap="square" lIns="91440" tIns="45720" rIns="91440" bIns="45720"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mj-lt"/>
                <a:ea typeface="+mn-ea"/>
                <a:cs typeface="+mn-cs"/>
              </a:rPr>
              <a:t>Higher Disruption from </a:t>
            </a:r>
            <a:br>
              <a:rPr kumimoji="0" lang="en-US" sz="1000" b="1" i="0" u="none" strike="noStrike" kern="1200" cap="none" spc="0" normalizeH="0" baseline="0" noProof="0">
                <a:ln>
                  <a:noFill/>
                </a:ln>
                <a:solidFill>
                  <a:schemeClr val="bg1"/>
                </a:solidFill>
                <a:effectLst/>
                <a:uLnTx/>
                <a:uFillTx/>
                <a:latin typeface="+mj-lt"/>
                <a:ea typeface="+mn-ea"/>
                <a:cs typeface="+mn-cs"/>
              </a:rPr>
            </a:br>
            <a:r>
              <a:rPr kumimoji="0" lang="en-US" sz="1000" b="1" i="0" u="none" strike="noStrike" kern="1200" cap="none" spc="0" normalizeH="0" baseline="0" noProof="0">
                <a:ln>
                  <a:noFill/>
                </a:ln>
                <a:solidFill>
                  <a:schemeClr val="bg1"/>
                </a:solidFill>
                <a:effectLst/>
                <a:uLnTx/>
                <a:uFillTx/>
                <a:latin typeface="+mj-lt"/>
                <a:ea typeface="+mn-ea"/>
                <a:cs typeface="+mn-cs"/>
              </a:rPr>
              <a:t>Proposed Guidance</a:t>
            </a:r>
          </a:p>
        </p:txBody>
      </p:sp>
      <p:sp>
        <p:nvSpPr>
          <p:cNvPr id="45" name="TextBox 44">
            <a:extLst>
              <a:ext uri="{FF2B5EF4-FFF2-40B4-BE49-F238E27FC236}">
                <a16:creationId xmlns:a16="http://schemas.microsoft.com/office/drawing/2014/main" id="{433502A5-3C6A-5730-3E39-7B861B2120BF}"/>
              </a:ext>
            </a:extLst>
          </p:cNvPr>
          <p:cNvSpPr txBox="1">
            <a:spLocks/>
          </p:cNvSpPr>
          <p:nvPr/>
        </p:nvSpPr>
        <p:spPr>
          <a:xfrm>
            <a:off x="3746025" y="3230980"/>
            <a:ext cx="1980000" cy="359104"/>
          </a:xfrm>
          <a:prstGeom prst="rect">
            <a:avLst/>
          </a:prstGeom>
        </p:spPr>
        <p:txBody>
          <a:bodyPr vert="horz" wrap="square" lIns="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j-lt"/>
                <a:ea typeface="+mn-ea"/>
                <a:cs typeface="+mn-cs"/>
              </a:rPr>
              <a:t>Gradual transition of robo-advisor investors towards OEOs</a:t>
            </a:r>
          </a:p>
        </p:txBody>
      </p:sp>
      <p:sp>
        <p:nvSpPr>
          <p:cNvPr id="44" name="Rectangle 43">
            <a:extLst>
              <a:ext uri="{FF2B5EF4-FFF2-40B4-BE49-F238E27FC236}">
                <a16:creationId xmlns:a16="http://schemas.microsoft.com/office/drawing/2014/main" id="{FB04307B-8A7F-BEEC-DC94-C96C56725E04}"/>
              </a:ext>
            </a:extLst>
          </p:cNvPr>
          <p:cNvSpPr>
            <a:spLocks/>
          </p:cNvSpPr>
          <p:nvPr/>
        </p:nvSpPr>
        <p:spPr>
          <a:xfrm>
            <a:off x="3746025" y="3853380"/>
            <a:ext cx="1980000" cy="2385268"/>
          </a:xfrm>
          <a:prstGeom prst="rect">
            <a:avLst/>
          </a:prstGeom>
        </p:spPr>
        <p:txBody>
          <a:bodyPr wrap="square" lIns="0" rIns="0">
            <a:spAutoFit/>
          </a:bodyPr>
          <a:lstStyle/>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Cannibalization towards OEOs is likely as the perceived value of robo-advice diminishes with narrowing feature gaps </a:t>
            </a:r>
          </a:p>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However, this migration will remain measured and selective due to investor inertia, preference for more managed solutions, and comfort with guided experiences </a:t>
            </a:r>
          </a:p>
        </p:txBody>
      </p:sp>
      <p:cxnSp>
        <p:nvCxnSpPr>
          <p:cNvPr id="52" name="Straight Connector 51">
            <a:extLst>
              <a:ext uri="{FF2B5EF4-FFF2-40B4-BE49-F238E27FC236}">
                <a16:creationId xmlns:a16="http://schemas.microsoft.com/office/drawing/2014/main" id="{3BAED048-C4D6-2DB0-6230-3793CF233888}"/>
              </a:ext>
            </a:extLst>
          </p:cNvPr>
          <p:cNvCxnSpPr>
            <a:cxnSpLocks/>
          </p:cNvCxnSpPr>
          <p:nvPr/>
        </p:nvCxnSpPr>
        <p:spPr>
          <a:xfrm>
            <a:off x="3746025" y="3771664"/>
            <a:ext cx="198000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C73E3FA-93D6-DB25-CF68-7012BA7BB1ED}"/>
              </a:ext>
            </a:extLst>
          </p:cNvPr>
          <p:cNvSpPr txBox="1">
            <a:spLocks/>
          </p:cNvSpPr>
          <p:nvPr/>
        </p:nvSpPr>
        <p:spPr>
          <a:xfrm>
            <a:off x="3770825" y="1525401"/>
            <a:ext cx="1930400" cy="369332"/>
          </a:xfrm>
          <a:prstGeom prst="rect">
            <a:avLst/>
          </a:prstGeom>
          <a:noFill/>
        </p:spPr>
        <p:txBody>
          <a:bodyPr wrap="square">
            <a:spAutoFit/>
          </a:bodyPr>
          <a:lstStyle/>
          <a:p>
            <a:pPr algn="ctr"/>
            <a:r>
              <a:rPr lang="en-US" b="1"/>
              <a:t>Robo-Advisors</a:t>
            </a:r>
            <a:endParaRPr lang="en-CA" b="1"/>
          </a:p>
        </p:txBody>
      </p:sp>
      <p:grpSp>
        <p:nvGrpSpPr>
          <p:cNvPr id="12" name="Group 11">
            <a:extLst>
              <a:ext uri="{FF2B5EF4-FFF2-40B4-BE49-F238E27FC236}">
                <a16:creationId xmlns:a16="http://schemas.microsoft.com/office/drawing/2014/main" id="{41C3797A-55E2-4863-EFF9-9940ECB40B49}"/>
              </a:ext>
            </a:extLst>
          </p:cNvPr>
          <p:cNvGrpSpPr/>
          <p:nvPr/>
        </p:nvGrpSpPr>
        <p:grpSpPr>
          <a:xfrm>
            <a:off x="4196025" y="1899877"/>
            <a:ext cx="1080000" cy="1080000"/>
            <a:chOff x="4196147" y="1966552"/>
            <a:chExt cx="1080000" cy="1080000"/>
          </a:xfrm>
        </p:grpSpPr>
        <p:sp>
          <p:nvSpPr>
            <p:cNvPr id="14" name="Oval 13">
              <a:extLst>
                <a:ext uri="{FF2B5EF4-FFF2-40B4-BE49-F238E27FC236}">
                  <a16:creationId xmlns:a16="http://schemas.microsoft.com/office/drawing/2014/main" id="{1CDFCC4A-EF9E-8F3E-3E46-B8E50BF32585}"/>
                </a:ext>
              </a:extLst>
            </p:cNvPr>
            <p:cNvSpPr>
              <a:spLocks/>
            </p:cNvSpPr>
            <p:nvPr/>
          </p:nvSpPr>
          <p:spPr bwMode="gray">
            <a:xfrm>
              <a:off x="4196147" y="1966552"/>
              <a:ext cx="1080000" cy="1080000"/>
            </a:xfrm>
            <a:prstGeom prst="ellipse">
              <a:avLst/>
            </a:prstGeom>
            <a:solidFill>
              <a:schemeClr val="bg1"/>
            </a:solidFill>
            <a:ln w="28575"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1028" name="Picture 4">
              <a:extLst>
                <a:ext uri="{FF2B5EF4-FFF2-40B4-BE49-F238E27FC236}">
                  <a16:creationId xmlns:a16="http://schemas.microsoft.com/office/drawing/2014/main" id="{2296A009-D29E-F11C-650D-FBFDB9B7826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398421" y="2168826"/>
              <a:ext cx="675453" cy="675453"/>
            </a:xfrm>
            <a:prstGeom prst="rect">
              <a:avLst/>
            </a:prstGeom>
            <a:noFill/>
            <a:extLst>
              <a:ext uri="{909E8E84-426E-40DD-AFC4-6F175D3DCCD1}">
                <a14:hiddenFill xmlns:a14="http://schemas.microsoft.com/office/drawing/2010/main">
                  <a:solidFill>
                    <a:srgbClr val="FFFFFF"/>
                  </a:solidFill>
                </a14:hiddenFill>
              </a:ext>
            </a:extLst>
          </p:spPr>
        </p:pic>
      </p:grpSp>
      <p:sp>
        <p:nvSpPr>
          <p:cNvPr id="47" name="TextBox 46">
            <a:extLst>
              <a:ext uri="{FF2B5EF4-FFF2-40B4-BE49-F238E27FC236}">
                <a16:creationId xmlns:a16="http://schemas.microsoft.com/office/drawing/2014/main" id="{12F37096-CC59-EF0C-D77C-283A77ABE092}"/>
              </a:ext>
            </a:extLst>
          </p:cNvPr>
          <p:cNvSpPr txBox="1">
            <a:spLocks/>
          </p:cNvSpPr>
          <p:nvPr/>
        </p:nvSpPr>
        <p:spPr>
          <a:xfrm>
            <a:off x="6349226" y="3230980"/>
            <a:ext cx="1845532" cy="359104"/>
          </a:xfrm>
          <a:prstGeom prst="rect">
            <a:avLst/>
          </a:prstGeom>
        </p:spPr>
        <p:txBody>
          <a:bodyPr vert="horz" wrap="square" lIns="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000000"/>
                </a:solidFill>
                <a:latin typeface="+mj-lt"/>
              </a:rPr>
              <a:t>Slow</a:t>
            </a:r>
            <a:r>
              <a:rPr kumimoji="0" lang="en-US" sz="1400" b="1" i="0" u="none" strike="noStrike" kern="1200" cap="none" spc="0" normalizeH="0" baseline="0" noProof="0">
                <a:ln>
                  <a:noFill/>
                </a:ln>
                <a:solidFill>
                  <a:srgbClr val="000000"/>
                </a:solidFill>
                <a:effectLst/>
                <a:uLnTx/>
                <a:uFillTx/>
                <a:latin typeface="+mj-lt"/>
                <a:ea typeface="+mn-ea"/>
                <a:cs typeface="+mn-cs"/>
              </a:rPr>
              <a:t> and subtle investor migration towards OEOs</a:t>
            </a:r>
          </a:p>
        </p:txBody>
      </p:sp>
      <p:sp>
        <p:nvSpPr>
          <p:cNvPr id="46" name="Rectangle 45">
            <a:extLst>
              <a:ext uri="{FF2B5EF4-FFF2-40B4-BE49-F238E27FC236}">
                <a16:creationId xmlns:a16="http://schemas.microsoft.com/office/drawing/2014/main" id="{83D2AFFD-F1EC-F4F8-9B93-7229527DD055}"/>
              </a:ext>
            </a:extLst>
          </p:cNvPr>
          <p:cNvSpPr>
            <a:spLocks/>
          </p:cNvSpPr>
          <p:nvPr/>
        </p:nvSpPr>
        <p:spPr>
          <a:xfrm>
            <a:off x="6281992" y="3853380"/>
            <a:ext cx="1980001" cy="2462213"/>
          </a:xfrm>
          <a:prstGeom prst="rect">
            <a:avLst/>
          </a:prstGeom>
        </p:spPr>
        <p:txBody>
          <a:bodyPr wrap="square" lIns="0" rIns="0">
            <a:spAutoFit/>
          </a:bodyPr>
          <a:lstStyle/>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OEOs offering added value may reduce demand for branch-based advice</a:t>
            </a:r>
          </a:p>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lang="en-US" sz="1200">
                <a:solidFill>
                  <a:srgbClr val="000000"/>
                </a:solidFill>
                <a:latin typeface="+mj-lt"/>
                <a:ea typeface="Open Sans" panose="020B0606030504020204" pitchFamily="34" charset="0"/>
                <a:cs typeface="Calibri" panose="020F0502020204030204" pitchFamily="34" charset="0"/>
              </a:rPr>
              <a:t>However, this shift will be gradual as many investors still prefer human advisors and bundled services</a:t>
            </a:r>
          </a:p>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Banks may be reluctant to accelerate this </a:t>
            </a:r>
            <a:r>
              <a:rPr lang="en-US" sz="1200">
                <a:solidFill>
                  <a:srgbClr val="000000"/>
                </a:solidFill>
                <a:latin typeface="+mj-lt"/>
                <a:ea typeface="Open Sans" panose="020B0606030504020204" pitchFamily="34" charset="0"/>
                <a:cs typeface="Calibri" panose="020F0502020204030204" pitchFamily="34" charset="0"/>
              </a:rPr>
              <a:t>change</a:t>
            </a: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 due to potential loss of advisory revenue and preference for guided experiences</a:t>
            </a:r>
          </a:p>
        </p:txBody>
      </p:sp>
      <p:cxnSp>
        <p:nvCxnSpPr>
          <p:cNvPr id="53" name="Straight Connector 52">
            <a:extLst>
              <a:ext uri="{FF2B5EF4-FFF2-40B4-BE49-F238E27FC236}">
                <a16:creationId xmlns:a16="http://schemas.microsoft.com/office/drawing/2014/main" id="{134F3BBC-92B3-4D84-3EB2-B04868D83840}"/>
              </a:ext>
            </a:extLst>
          </p:cNvPr>
          <p:cNvCxnSpPr>
            <a:cxnSpLocks/>
          </p:cNvCxnSpPr>
          <p:nvPr/>
        </p:nvCxnSpPr>
        <p:spPr>
          <a:xfrm>
            <a:off x="6281992" y="3771664"/>
            <a:ext cx="198000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BD93438-9147-FEBD-2E6F-F037D3BB4D48}"/>
              </a:ext>
            </a:extLst>
          </p:cNvPr>
          <p:cNvSpPr txBox="1">
            <a:spLocks/>
          </p:cNvSpPr>
          <p:nvPr/>
        </p:nvSpPr>
        <p:spPr>
          <a:xfrm>
            <a:off x="6188897" y="1525401"/>
            <a:ext cx="2166191" cy="369332"/>
          </a:xfrm>
          <a:prstGeom prst="rect">
            <a:avLst/>
          </a:prstGeom>
          <a:noFill/>
        </p:spPr>
        <p:txBody>
          <a:bodyPr wrap="square">
            <a:spAutoFit/>
          </a:bodyPr>
          <a:lstStyle/>
          <a:p>
            <a:pPr algn="ctr"/>
            <a:r>
              <a:rPr lang="en-US" b="1"/>
              <a:t>Retail/Branch Advice</a:t>
            </a:r>
            <a:endParaRPr lang="en-CA" b="1"/>
          </a:p>
        </p:txBody>
      </p:sp>
      <p:grpSp>
        <p:nvGrpSpPr>
          <p:cNvPr id="13" name="Group 12">
            <a:extLst>
              <a:ext uri="{FF2B5EF4-FFF2-40B4-BE49-F238E27FC236}">
                <a16:creationId xmlns:a16="http://schemas.microsoft.com/office/drawing/2014/main" id="{6B0553F7-8A7D-3398-EB1E-A503D96936B3}"/>
              </a:ext>
            </a:extLst>
          </p:cNvPr>
          <p:cNvGrpSpPr/>
          <p:nvPr/>
        </p:nvGrpSpPr>
        <p:grpSpPr>
          <a:xfrm>
            <a:off x="6731992" y="1911868"/>
            <a:ext cx="1080000" cy="1080000"/>
            <a:chOff x="6732053" y="1978543"/>
            <a:chExt cx="1080000" cy="1080000"/>
          </a:xfrm>
        </p:grpSpPr>
        <p:sp>
          <p:nvSpPr>
            <p:cNvPr id="15" name="Oval 14">
              <a:extLst>
                <a:ext uri="{FF2B5EF4-FFF2-40B4-BE49-F238E27FC236}">
                  <a16:creationId xmlns:a16="http://schemas.microsoft.com/office/drawing/2014/main" id="{7C3B9B6C-E811-25FD-E092-9019F21EE782}"/>
                </a:ext>
              </a:extLst>
            </p:cNvPr>
            <p:cNvSpPr>
              <a:spLocks/>
            </p:cNvSpPr>
            <p:nvPr/>
          </p:nvSpPr>
          <p:spPr bwMode="gray">
            <a:xfrm>
              <a:off x="6732053" y="1978543"/>
              <a:ext cx="1080000" cy="1080000"/>
            </a:xfrm>
            <a:prstGeom prst="ellipse">
              <a:avLst/>
            </a:prstGeom>
            <a:solidFill>
              <a:schemeClr val="bg1"/>
            </a:solidFill>
            <a:ln w="28575"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1030" name="Picture 6">
              <a:extLst>
                <a:ext uri="{FF2B5EF4-FFF2-40B4-BE49-F238E27FC236}">
                  <a16:creationId xmlns:a16="http://schemas.microsoft.com/office/drawing/2014/main" id="{2216E8DD-6077-6F17-66D0-602F3A84C34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986609" y="2233099"/>
              <a:ext cx="570889" cy="570889"/>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TextBox 37">
            <a:extLst>
              <a:ext uri="{FF2B5EF4-FFF2-40B4-BE49-F238E27FC236}">
                <a16:creationId xmlns:a16="http://schemas.microsoft.com/office/drawing/2014/main" id="{C9F48B3D-F9DD-CDAC-3039-7AB01FB58EAB}"/>
              </a:ext>
            </a:extLst>
          </p:cNvPr>
          <p:cNvSpPr txBox="1">
            <a:spLocks/>
          </p:cNvSpPr>
          <p:nvPr/>
        </p:nvSpPr>
        <p:spPr>
          <a:xfrm>
            <a:off x="1303153" y="3230980"/>
            <a:ext cx="1980000" cy="359104"/>
          </a:xfrm>
          <a:prstGeom prst="rect">
            <a:avLst/>
          </a:prstGeom>
        </p:spPr>
        <p:txBody>
          <a:bodyPr vert="horz" wrap="square" lIns="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j-lt"/>
                <a:ea typeface="+mn-ea"/>
                <a:cs typeface="+mn-cs"/>
              </a:rPr>
              <a:t>Next competitive frontier arrives; first-mover will shape the market</a:t>
            </a:r>
          </a:p>
        </p:txBody>
      </p:sp>
      <p:sp>
        <p:nvSpPr>
          <p:cNvPr id="32" name="Rectangle 31">
            <a:extLst>
              <a:ext uri="{FF2B5EF4-FFF2-40B4-BE49-F238E27FC236}">
                <a16:creationId xmlns:a16="http://schemas.microsoft.com/office/drawing/2014/main" id="{14DE5721-A9C8-8B0B-8FAF-43CE6ED2BA46}"/>
              </a:ext>
            </a:extLst>
          </p:cNvPr>
          <p:cNvSpPr>
            <a:spLocks/>
          </p:cNvSpPr>
          <p:nvPr/>
        </p:nvSpPr>
        <p:spPr>
          <a:xfrm>
            <a:off x="1303153" y="3853380"/>
            <a:ext cx="1980000" cy="2200602"/>
          </a:xfrm>
          <a:prstGeom prst="rect">
            <a:avLst/>
          </a:prstGeom>
        </p:spPr>
        <p:txBody>
          <a:bodyPr wrap="square" lIns="0" rIns="0">
            <a:spAutoFit/>
          </a:bodyPr>
          <a:lstStyle/>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While fees remain a core competitive lever, decision-making supports are emerging as a key lever for engagement and competition</a:t>
            </a:r>
          </a:p>
          <a:p>
            <a:pPr marL="171450" marR="0" lvl="1" indent="-171450" algn="l" defTabSz="914400" rtl="0" eaLnBrk="1" fontAlgn="auto" latinLnBrk="0" hangingPunct="1">
              <a:lnSpc>
                <a:spcPct val="100000"/>
              </a:lnSpc>
              <a:spcBef>
                <a:spcPts val="600"/>
              </a:spcBef>
              <a:spcAft>
                <a:spcPts val="0"/>
              </a:spcAft>
              <a:buClrTx/>
              <a:buSzPct val="100000"/>
              <a:buFont typeface="Wingdings" panose="05000000000000000000" pitchFamily="2" charset="2"/>
              <a:buChar char="§"/>
              <a:tabLst/>
              <a:defRPr/>
            </a:pPr>
            <a:r>
              <a:rPr lang="en-US" sz="1200">
                <a:solidFill>
                  <a:srgbClr val="000000"/>
                </a:solidFill>
                <a:latin typeface="+mj-lt"/>
                <a:ea typeface="Open Sans" panose="020B0606030504020204" pitchFamily="34" charset="0"/>
                <a:cs typeface="Calibri" panose="020F0502020204030204" pitchFamily="34" charset="0"/>
              </a:rPr>
              <a:t>Early adopters will influence investor expectations, set the pace for innovation, and establish benchmarks for others to follow</a:t>
            </a:r>
          </a:p>
        </p:txBody>
      </p:sp>
      <p:cxnSp>
        <p:nvCxnSpPr>
          <p:cNvPr id="50" name="Straight Connector 49">
            <a:extLst>
              <a:ext uri="{FF2B5EF4-FFF2-40B4-BE49-F238E27FC236}">
                <a16:creationId xmlns:a16="http://schemas.microsoft.com/office/drawing/2014/main" id="{141EC7F2-3E70-C5C6-ED25-7E890D25A6D0}"/>
              </a:ext>
            </a:extLst>
          </p:cNvPr>
          <p:cNvCxnSpPr>
            <a:cxnSpLocks/>
          </p:cNvCxnSpPr>
          <p:nvPr/>
        </p:nvCxnSpPr>
        <p:spPr>
          <a:xfrm>
            <a:off x="1303153" y="3771664"/>
            <a:ext cx="198000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3C81B44-B74E-B837-7DC7-E0EE90BF42DD}"/>
              </a:ext>
            </a:extLst>
          </p:cNvPr>
          <p:cNvSpPr txBox="1">
            <a:spLocks/>
          </p:cNvSpPr>
          <p:nvPr/>
        </p:nvSpPr>
        <p:spPr>
          <a:xfrm>
            <a:off x="1327953" y="1525401"/>
            <a:ext cx="1930400" cy="369332"/>
          </a:xfrm>
          <a:prstGeom prst="rect">
            <a:avLst/>
          </a:prstGeom>
          <a:noFill/>
        </p:spPr>
        <p:txBody>
          <a:bodyPr wrap="square">
            <a:spAutoFit/>
          </a:bodyPr>
          <a:lstStyle/>
          <a:p>
            <a:pPr algn="ctr"/>
            <a:r>
              <a:rPr lang="en-US" b="1"/>
              <a:t>OEOs</a:t>
            </a:r>
            <a:endParaRPr lang="en-CA" b="1"/>
          </a:p>
        </p:txBody>
      </p:sp>
      <p:grpSp>
        <p:nvGrpSpPr>
          <p:cNvPr id="10" name="Group 9">
            <a:extLst>
              <a:ext uri="{FF2B5EF4-FFF2-40B4-BE49-F238E27FC236}">
                <a16:creationId xmlns:a16="http://schemas.microsoft.com/office/drawing/2014/main" id="{6C0CBEA3-813B-6D33-1116-8E253F7269EF}"/>
              </a:ext>
            </a:extLst>
          </p:cNvPr>
          <p:cNvGrpSpPr/>
          <p:nvPr/>
        </p:nvGrpSpPr>
        <p:grpSpPr>
          <a:xfrm>
            <a:off x="1753153" y="1926322"/>
            <a:ext cx="1080000" cy="1080000"/>
            <a:chOff x="1753336" y="1992997"/>
            <a:chExt cx="1080000" cy="1080000"/>
          </a:xfrm>
        </p:grpSpPr>
        <p:sp>
          <p:nvSpPr>
            <p:cNvPr id="9" name="Oval 8">
              <a:extLst>
                <a:ext uri="{FF2B5EF4-FFF2-40B4-BE49-F238E27FC236}">
                  <a16:creationId xmlns:a16="http://schemas.microsoft.com/office/drawing/2014/main" id="{97F9C2B7-54F1-A299-6C2F-52533B861F5A}"/>
                </a:ext>
              </a:extLst>
            </p:cNvPr>
            <p:cNvSpPr>
              <a:spLocks/>
            </p:cNvSpPr>
            <p:nvPr/>
          </p:nvSpPr>
          <p:spPr bwMode="gray">
            <a:xfrm>
              <a:off x="1753336" y="1992997"/>
              <a:ext cx="1080000" cy="1080000"/>
            </a:xfrm>
            <a:prstGeom prst="ellipse">
              <a:avLst/>
            </a:prstGeom>
            <a:solidFill>
              <a:schemeClr val="bg1"/>
            </a:solidFill>
            <a:ln w="28575"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1026" name="Picture 2">
              <a:extLst>
                <a:ext uri="{FF2B5EF4-FFF2-40B4-BE49-F238E27FC236}">
                  <a16:creationId xmlns:a16="http://schemas.microsoft.com/office/drawing/2014/main" id="{D166A39D-371B-11CB-A93B-1A3FB4234253}"/>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1944271" y="2183932"/>
              <a:ext cx="698131" cy="698131"/>
            </a:xfrm>
            <a:prstGeom prst="rect">
              <a:avLst/>
            </a:prstGeom>
            <a:noFill/>
            <a:extLst>
              <a:ext uri="{909E8E84-426E-40DD-AFC4-6F175D3DCCD1}">
                <a14:hiddenFill xmlns:a14="http://schemas.microsoft.com/office/drawing/2010/main">
                  <a:solidFill>
                    <a:srgbClr val="FFFFFF"/>
                  </a:solidFill>
                </a14:hiddenFill>
              </a:ext>
            </a:extLst>
          </p:spPr>
        </p:pic>
      </p:grpSp>
      <p:sp>
        <p:nvSpPr>
          <p:cNvPr id="70" name="TextBox 69">
            <a:extLst>
              <a:ext uri="{FF2B5EF4-FFF2-40B4-BE49-F238E27FC236}">
                <a16:creationId xmlns:a16="http://schemas.microsoft.com/office/drawing/2014/main" id="{6C76AA03-F85E-1364-486B-34DE0A21A323}"/>
              </a:ext>
            </a:extLst>
          </p:cNvPr>
          <p:cNvSpPr txBox="1">
            <a:spLocks/>
          </p:cNvSpPr>
          <p:nvPr/>
        </p:nvSpPr>
        <p:spPr>
          <a:xfrm>
            <a:off x="1051153" y="6133585"/>
            <a:ext cx="2484000" cy="184666"/>
          </a:xfrm>
          <a:prstGeom prst="rect">
            <a:avLst/>
          </a:prstGeom>
          <a:solidFill>
            <a:schemeClr val="accent1">
              <a:lumMod val="20000"/>
              <a:lumOff val="80000"/>
            </a:schemeClr>
          </a:solid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tabLst/>
              <a:defRPr/>
            </a:pPr>
            <a:r>
              <a:rPr kumimoji="0" lang="en-US" sz="1200" b="0" i="1" u="none" strike="noStrike" kern="1200" cap="none" spc="0" normalizeH="0" baseline="0" noProof="0">
                <a:ln>
                  <a:noFill/>
                </a:ln>
                <a:solidFill>
                  <a:srgbClr val="313131"/>
                </a:solidFill>
                <a:effectLst/>
                <a:uLnTx/>
                <a:uFillTx/>
                <a:latin typeface="Calibri" panose="020F0502020204030204" pitchFamily="34" charset="0"/>
                <a:ea typeface="+mn-ea"/>
                <a:cs typeface="+mn-cs"/>
              </a:rPr>
              <a:t>Focus of POV</a:t>
            </a:r>
          </a:p>
        </p:txBody>
      </p:sp>
      <p:sp>
        <p:nvSpPr>
          <p:cNvPr id="49" name="TextBox 48">
            <a:extLst>
              <a:ext uri="{FF2B5EF4-FFF2-40B4-BE49-F238E27FC236}">
                <a16:creationId xmlns:a16="http://schemas.microsoft.com/office/drawing/2014/main" id="{A8F58DE2-591C-BC03-F610-EDB6C112FD5C}"/>
              </a:ext>
            </a:extLst>
          </p:cNvPr>
          <p:cNvSpPr txBox="1">
            <a:spLocks/>
          </p:cNvSpPr>
          <p:nvPr/>
        </p:nvSpPr>
        <p:spPr>
          <a:xfrm>
            <a:off x="8911055" y="3230980"/>
            <a:ext cx="1980000" cy="359104"/>
          </a:xfrm>
          <a:prstGeom prst="rect">
            <a:avLst/>
          </a:prstGeom>
        </p:spPr>
        <p:txBody>
          <a:bodyPr vert="horz" wrap="square" lIns="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j-lt"/>
                <a:ea typeface="+mn-ea"/>
                <a:cs typeface="+mn-cs"/>
              </a:rPr>
              <a:t>High-touch services will safeguard the private wealth model</a:t>
            </a:r>
          </a:p>
        </p:txBody>
      </p:sp>
      <p:sp>
        <p:nvSpPr>
          <p:cNvPr id="48" name="Rectangle 47">
            <a:extLst>
              <a:ext uri="{FF2B5EF4-FFF2-40B4-BE49-F238E27FC236}">
                <a16:creationId xmlns:a16="http://schemas.microsoft.com/office/drawing/2014/main" id="{31CAB628-9782-A2A4-C1D3-F7AE39143D6E}"/>
              </a:ext>
            </a:extLst>
          </p:cNvPr>
          <p:cNvSpPr>
            <a:spLocks/>
          </p:cNvSpPr>
          <p:nvPr/>
        </p:nvSpPr>
        <p:spPr>
          <a:xfrm>
            <a:off x="8911055" y="3853380"/>
            <a:ext cx="1980000" cy="2200602"/>
          </a:xfrm>
          <a:prstGeom prst="rect">
            <a:avLst/>
          </a:prstGeom>
        </p:spPr>
        <p:txBody>
          <a:bodyPr wrap="square" lIns="0" rIns="0">
            <a:spAutoFit/>
          </a:bodyPr>
          <a:lstStyle/>
          <a:p>
            <a:pPr marL="171450" lvl="1" indent="-171450">
              <a:spcBef>
                <a:spcPts val="600"/>
              </a:spcBef>
              <a:buSzPct val="100000"/>
              <a:buFont typeface="Wingdings" panose="05000000000000000000" pitchFamily="2" charset="2"/>
              <a:buChar char="§"/>
              <a:defRPr/>
            </a:pPr>
            <a:r>
              <a:rPr lang="en-US" sz="1200">
                <a:solidFill>
                  <a:srgbClr val="000000"/>
                </a:solidFill>
                <a:latin typeface="+mj-lt"/>
                <a:ea typeface="Open Sans" panose="020B0606030504020204" pitchFamily="34" charset="0"/>
                <a:cs typeface="Calibri" panose="020F0502020204030204" pitchFamily="34" charset="0"/>
              </a:rPr>
              <a:t>Affluent investors need personalized planning and access to complex services like tax/legal strategies and customized solutions, which OEOs cannot replicate</a:t>
            </a:r>
          </a:p>
          <a:p>
            <a:pPr marL="171450" lvl="1" indent="-171450">
              <a:spcBef>
                <a:spcPts val="600"/>
              </a:spcBef>
              <a:buSzPct val="100000"/>
              <a:buFont typeface="Wingdings" panose="05000000000000000000" pitchFamily="2" charset="2"/>
              <a:buChar char="§"/>
              <a:defRPr/>
            </a:pPr>
            <a:r>
              <a:rPr lang="en-US" sz="1200">
                <a:solidFill>
                  <a:srgbClr val="000000"/>
                </a:solidFill>
                <a:latin typeface="+mj-lt"/>
                <a:ea typeface="Open Sans" panose="020B0606030504020204" pitchFamily="34" charset="0"/>
                <a:cs typeface="Calibri" panose="020F0502020204030204" pitchFamily="34" charset="0"/>
              </a:rPr>
              <a:t>Demand for integrated, high-touch experiences reinforces the resilience of the private wealth model, limiting disruption</a:t>
            </a:r>
          </a:p>
        </p:txBody>
      </p:sp>
      <p:cxnSp>
        <p:nvCxnSpPr>
          <p:cNvPr id="54" name="Straight Connector 53">
            <a:extLst>
              <a:ext uri="{FF2B5EF4-FFF2-40B4-BE49-F238E27FC236}">
                <a16:creationId xmlns:a16="http://schemas.microsoft.com/office/drawing/2014/main" id="{55D64999-7DBC-6F3E-79A7-67C0DD106383}"/>
              </a:ext>
            </a:extLst>
          </p:cNvPr>
          <p:cNvCxnSpPr>
            <a:cxnSpLocks/>
          </p:cNvCxnSpPr>
          <p:nvPr/>
        </p:nvCxnSpPr>
        <p:spPr>
          <a:xfrm>
            <a:off x="8911055" y="3771664"/>
            <a:ext cx="198000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CFF4627-7367-E885-78DB-0493C8D021CD}"/>
              </a:ext>
            </a:extLst>
          </p:cNvPr>
          <p:cNvSpPr txBox="1">
            <a:spLocks/>
          </p:cNvSpPr>
          <p:nvPr/>
        </p:nvSpPr>
        <p:spPr>
          <a:xfrm>
            <a:off x="8817960" y="1525401"/>
            <a:ext cx="2166191" cy="369332"/>
          </a:xfrm>
          <a:prstGeom prst="rect">
            <a:avLst/>
          </a:prstGeom>
          <a:noFill/>
        </p:spPr>
        <p:txBody>
          <a:bodyPr wrap="square">
            <a:spAutoFit/>
          </a:bodyPr>
          <a:lstStyle/>
          <a:p>
            <a:pPr algn="ctr"/>
            <a:r>
              <a:rPr lang="en-US" b="1"/>
              <a:t>Private Wealth</a:t>
            </a:r>
            <a:endParaRPr lang="en-CA" b="1"/>
          </a:p>
        </p:txBody>
      </p:sp>
      <p:grpSp>
        <p:nvGrpSpPr>
          <p:cNvPr id="17" name="Group 16">
            <a:extLst>
              <a:ext uri="{FF2B5EF4-FFF2-40B4-BE49-F238E27FC236}">
                <a16:creationId xmlns:a16="http://schemas.microsoft.com/office/drawing/2014/main" id="{EB0DD950-2B15-6D04-58A2-F3F81ED44518}"/>
              </a:ext>
            </a:extLst>
          </p:cNvPr>
          <p:cNvGrpSpPr/>
          <p:nvPr/>
        </p:nvGrpSpPr>
        <p:grpSpPr>
          <a:xfrm>
            <a:off x="9361055" y="1911870"/>
            <a:ext cx="1080000" cy="1080000"/>
            <a:chOff x="9361055" y="1978545"/>
            <a:chExt cx="1080000" cy="1080000"/>
          </a:xfrm>
        </p:grpSpPr>
        <p:sp>
          <p:nvSpPr>
            <p:cNvPr id="16" name="Oval 15">
              <a:extLst>
                <a:ext uri="{FF2B5EF4-FFF2-40B4-BE49-F238E27FC236}">
                  <a16:creationId xmlns:a16="http://schemas.microsoft.com/office/drawing/2014/main" id="{27EAD03B-9E9C-E1B4-F0C4-E8F5214581A6}"/>
                </a:ext>
              </a:extLst>
            </p:cNvPr>
            <p:cNvSpPr>
              <a:spLocks/>
            </p:cNvSpPr>
            <p:nvPr/>
          </p:nvSpPr>
          <p:spPr bwMode="gray">
            <a:xfrm>
              <a:off x="9361055" y="1978545"/>
              <a:ext cx="1080000" cy="1080000"/>
            </a:xfrm>
            <a:prstGeom prst="ellipse">
              <a:avLst/>
            </a:prstGeom>
            <a:solidFill>
              <a:schemeClr val="bg1"/>
            </a:solidFill>
            <a:ln w="28575"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1032" name="Picture 8">
              <a:extLst>
                <a:ext uri="{FF2B5EF4-FFF2-40B4-BE49-F238E27FC236}">
                  <a16:creationId xmlns:a16="http://schemas.microsoft.com/office/drawing/2014/main" id="{32F01528-24CA-5A59-7B32-AF4AC24ADA34}"/>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579373" y="2196863"/>
              <a:ext cx="643365" cy="643365"/>
            </a:xfrm>
            <a:prstGeom prst="rect">
              <a:avLst/>
            </a:prstGeom>
            <a:noFill/>
            <a:extLst>
              <a:ext uri="{909E8E84-426E-40DD-AFC4-6F175D3DCCD1}">
                <a14:hiddenFill xmlns:a14="http://schemas.microsoft.com/office/drawing/2010/main">
                  <a:solidFill>
                    <a:srgbClr val="FFFFFF"/>
                  </a:solidFill>
                </a14:hiddenFill>
              </a:ext>
            </a:extLst>
          </p:spPr>
        </p:pic>
      </p:grpSp>
      <p:sp>
        <p:nvSpPr>
          <p:cNvPr id="66" name="TextBox 65">
            <a:extLst>
              <a:ext uri="{FF2B5EF4-FFF2-40B4-BE49-F238E27FC236}">
                <a16:creationId xmlns:a16="http://schemas.microsoft.com/office/drawing/2014/main" id="{E3B8F85A-5930-B8E7-AC13-E02A4B7FAC08}"/>
              </a:ext>
            </a:extLst>
          </p:cNvPr>
          <p:cNvSpPr txBox="1">
            <a:spLocks/>
          </p:cNvSpPr>
          <p:nvPr/>
        </p:nvSpPr>
        <p:spPr>
          <a:xfrm>
            <a:off x="10500784" y="2354202"/>
            <a:ext cx="1401233" cy="348302"/>
          </a:xfrm>
          <a:prstGeom prst="rect">
            <a:avLst/>
          </a:prstGeom>
        </p:spPr>
        <p:txBody>
          <a:bodyPr vert="horz" wrap="square" lIns="91440" tIns="45720" rIns="91440" bIns="4572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j-lt"/>
                <a:ea typeface="+mn-ea"/>
                <a:cs typeface="+mn-cs"/>
              </a:rPr>
              <a:t>Lower Disruption from Proposed Guidance</a:t>
            </a:r>
          </a:p>
        </p:txBody>
      </p:sp>
    </p:spTree>
    <p:extLst>
      <p:ext uri="{BB962C8B-B14F-4D97-AF65-F5344CB8AC3E}">
        <p14:creationId xmlns:p14="http://schemas.microsoft.com/office/powerpoint/2010/main" val="42679075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4B025E7-5356-B1D0-86FE-4E2B972F73B3}"/>
              </a:ext>
            </a:extLst>
          </p:cNvPr>
          <p:cNvGraphicFramePr>
            <a:graphicFrameLocks noChangeAspect="1"/>
          </p:cNvGraphicFramePr>
          <p:nvPr>
            <p:custDataLst>
              <p:tags r:id="rId1"/>
            </p:custDataLst>
            <p:extLst>
              <p:ext uri="{D42A27DB-BD31-4B8C-83A1-F6EECF244321}">
                <p14:modId xmlns:p14="http://schemas.microsoft.com/office/powerpoint/2010/main" val="18951370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6" name="think-cell data - do not delete" hidden="1">
                        <a:extLst>
                          <a:ext uri="{FF2B5EF4-FFF2-40B4-BE49-F238E27FC236}">
                            <a16:creationId xmlns:a16="http://schemas.microsoft.com/office/drawing/2014/main" id="{F4B025E7-5356-B1D0-86FE-4E2B972F73B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Title 8"/>
          <p:cNvSpPr>
            <a:spLocks noGrp="1"/>
          </p:cNvSpPr>
          <p:nvPr>
            <p:ph type="title"/>
          </p:nvPr>
        </p:nvSpPr>
        <p:spPr/>
        <p:txBody>
          <a:bodyPr vert="horz"/>
          <a:lstStyle/>
          <a:p>
            <a:r>
              <a:rPr lang="en-US" noProof="0"/>
              <a:t>3. Interpretation of Proposed Guidance</a:t>
            </a:r>
          </a:p>
        </p:txBody>
      </p:sp>
      <p:sp>
        <p:nvSpPr>
          <p:cNvPr id="4" name="Slide Number Placeholder 3"/>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10</a:t>
            </a:fld>
            <a:endParaRPr lang="en-US"/>
          </a:p>
        </p:txBody>
      </p:sp>
    </p:spTree>
    <p:extLst>
      <p:ext uri="{BB962C8B-B14F-4D97-AF65-F5344CB8AC3E}">
        <p14:creationId xmlns:p14="http://schemas.microsoft.com/office/powerpoint/2010/main" val="171763342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1260778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Rectangle 34">
            <a:extLst>
              <a:ext uri="{FF2B5EF4-FFF2-40B4-BE49-F238E27FC236}">
                <a16:creationId xmlns:a16="http://schemas.microsoft.com/office/drawing/2014/main" id="{AAE966A9-F0B0-174B-BE3D-992FCF0B20DF}"/>
              </a:ext>
            </a:extLst>
          </p:cNvPr>
          <p:cNvSpPr>
            <a:spLocks/>
          </p:cNvSpPr>
          <p:nvPr/>
        </p:nvSpPr>
        <p:spPr bwMode="gray">
          <a:xfrm>
            <a:off x="6388596" y="1977440"/>
            <a:ext cx="2844000" cy="2166764"/>
          </a:xfrm>
          <a:prstGeom prst="rect">
            <a:avLst/>
          </a:prstGeom>
          <a:solidFill>
            <a:schemeClr val="bg1">
              <a:lumMod val="95000"/>
              <a:alpha val="50000"/>
            </a:schemeClr>
          </a:solidFill>
          <a:ln w="19050" algn="ctr">
            <a:noFill/>
            <a:miter lim="800000"/>
            <a:headEnd/>
            <a:tailEnd/>
          </a:ln>
        </p:spPr>
        <p:txBody>
          <a:bodyPr wrap="square" lIns="88900" tIns="88900" rIns="88900" bIns="0" rtlCol="0" anchor="ctr"/>
          <a:lstStyle/>
          <a:p>
            <a:pPr algn="ctr">
              <a:lnSpc>
                <a:spcPct val="106000"/>
              </a:lnSpc>
              <a:defRPr/>
            </a:pPr>
            <a:endParaRPr lang="en-US" sz="1600" noProof="0">
              <a:solidFill>
                <a:srgbClr val="000000"/>
              </a:solidFill>
              <a:latin typeface="+mj-lt"/>
              <a:ea typeface="Open Sans" panose="020B060603050402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14310D86-653B-0F68-3948-DBA68F6FDC81}"/>
              </a:ext>
            </a:extLst>
          </p:cNvPr>
          <p:cNvSpPr>
            <a:spLocks/>
          </p:cNvSpPr>
          <p:nvPr/>
        </p:nvSpPr>
        <p:spPr bwMode="gray">
          <a:xfrm>
            <a:off x="482601" y="1977441"/>
            <a:ext cx="2844000" cy="2166764"/>
          </a:xfrm>
          <a:prstGeom prst="rect">
            <a:avLst/>
          </a:prstGeom>
          <a:solidFill>
            <a:schemeClr val="bg1">
              <a:lumMod val="95000"/>
              <a:alpha val="50000"/>
            </a:schemeClr>
          </a:solidFill>
          <a:ln w="19050" algn="ctr">
            <a:noFill/>
            <a:miter lim="800000"/>
            <a:headEnd/>
            <a:tailEnd/>
          </a:ln>
        </p:spPr>
        <p:txBody>
          <a:bodyPr wrap="square" lIns="88900" tIns="88900" rIns="88900" bIns="0" rtlCol="0" anchor="ctr"/>
          <a:lstStyle/>
          <a:p>
            <a:pPr algn="ctr">
              <a:lnSpc>
                <a:spcPct val="106000"/>
              </a:lnSpc>
              <a:defRPr/>
            </a:pPr>
            <a:endParaRPr lang="en-US" sz="1600" noProof="0">
              <a:solidFill>
                <a:srgbClr val="000000"/>
              </a:solidFill>
              <a:latin typeface="+mj-lt"/>
              <a:ea typeface="Open Sans" panose="020B060603050402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FF1BD9A2-A62D-C4B1-82FE-0ABDE7C2057B}"/>
              </a:ext>
            </a:extLst>
          </p:cNvPr>
          <p:cNvSpPr>
            <a:spLocks/>
          </p:cNvSpPr>
          <p:nvPr/>
        </p:nvSpPr>
        <p:spPr bwMode="gray">
          <a:xfrm>
            <a:off x="3435598" y="1992465"/>
            <a:ext cx="2844000" cy="2166764"/>
          </a:xfrm>
          <a:prstGeom prst="rect">
            <a:avLst/>
          </a:prstGeom>
          <a:solidFill>
            <a:schemeClr val="bg1">
              <a:lumMod val="95000"/>
              <a:alpha val="50000"/>
            </a:schemeClr>
          </a:solidFill>
          <a:ln w="19050" algn="ctr">
            <a:noFill/>
            <a:miter lim="800000"/>
            <a:headEnd/>
            <a:tailEnd/>
          </a:ln>
        </p:spPr>
        <p:txBody>
          <a:bodyPr wrap="square" lIns="88900" tIns="88900" rIns="88900" bIns="0" rtlCol="0" anchor="ctr"/>
          <a:lstStyle/>
          <a:p>
            <a:pPr algn="ctr">
              <a:lnSpc>
                <a:spcPct val="106000"/>
              </a:lnSpc>
              <a:defRPr/>
            </a:pPr>
            <a:endParaRPr lang="en-US" sz="1600" noProof="0">
              <a:solidFill>
                <a:srgbClr val="000000"/>
              </a:solidFill>
              <a:latin typeface="+mj-lt"/>
              <a:ea typeface="Open Sans" panose="020B0606030504020204" pitchFamily="34" charset="0"/>
              <a:cs typeface="Calibri" panose="020F0502020204030204" pitchFamily="34" charset="0"/>
            </a:endParaRPr>
          </a:p>
        </p:txBody>
      </p:sp>
      <p:sp>
        <p:nvSpPr>
          <p:cNvPr id="122" name="Rectangle 121">
            <a:extLst>
              <a:ext uri="{FF2B5EF4-FFF2-40B4-BE49-F238E27FC236}">
                <a16:creationId xmlns:a16="http://schemas.microsoft.com/office/drawing/2014/main" id="{90C737A2-86F9-A3E4-ABE8-A5F5556FD3C2}"/>
              </a:ext>
            </a:extLst>
          </p:cNvPr>
          <p:cNvSpPr>
            <a:spLocks/>
          </p:cNvSpPr>
          <p:nvPr/>
        </p:nvSpPr>
        <p:spPr bwMode="gray">
          <a:xfrm>
            <a:off x="9458350" y="5981687"/>
            <a:ext cx="2232000" cy="432001"/>
          </a:xfrm>
          <a:prstGeom prst="rect">
            <a:avLst/>
          </a:prstGeom>
          <a:solidFill>
            <a:schemeClr val="accent1">
              <a:lumMod val="20000"/>
              <a:lumOff val="80000"/>
            </a:schemeClr>
          </a:solidFill>
          <a:ln w="19050" algn="ctr">
            <a:noFill/>
            <a:miter lim="800000"/>
            <a:headEnd/>
            <a:tailEnd/>
          </a:ln>
        </p:spPr>
        <p:txBody>
          <a:bodyPr wrap="square" lIns="90000" tIns="88900" rIns="90000" bIns="88900" rtlCol="0" anchor="ctr"/>
          <a:lstStyle/>
          <a:p>
            <a:pPr>
              <a:lnSpc>
                <a:spcPct val="106000"/>
              </a:lnSpc>
            </a:pPr>
            <a:r>
              <a:rPr lang="en-US" sz="1200" i="1">
                <a:solidFill>
                  <a:prstClr val="black"/>
                </a:solidFill>
                <a:latin typeface="+mj-lt"/>
                <a:cs typeface="Calibri" panose="020F0502020204030204" pitchFamily="34" charset="0"/>
              </a:rPr>
              <a:t>…within defined safeguards.</a:t>
            </a:r>
          </a:p>
        </p:txBody>
      </p:sp>
      <p:sp>
        <p:nvSpPr>
          <p:cNvPr id="121" name="Rectangle 120">
            <a:extLst>
              <a:ext uri="{FF2B5EF4-FFF2-40B4-BE49-F238E27FC236}">
                <a16:creationId xmlns:a16="http://schemas.microsoft.com/office/drawing/2014/main" id="{FF28F1F9-B2AB-F280-475D-FE00C70DCA08}"/>
              </a:ext>
            </a:extLst>
          </p:cNvPr>
          <p:cNvSpPr>
            <a:spLocks/>
          </p:cNvSpPr>
          <p:nvPr/>
        </p:nvSpPr>
        <p:spPr bwMode="gray">
          <a:xfrm>
            <a:off x="9458350" y="4779433"/>
            <a:ext cx="2232000" cy="1121833"/>
          </a:xfrm>
          <a:prstGeom prst="rect">
            <a:avLst/>
          </a:prstGeom>
          <a:solidFill>
            <a:schemeClr val="accent1">
              <a:lumMod val="20000"/>
              <a:lumOff val="80000"/>
            </a:schemeClr>
          </a:solidFill>
          <a:ln w="19050" algn="ctr">
            <a:noFill/>
            <a:miter lim="800000"/>
            <a:headEnd/>
            <a:tailEnd/>
          </a:ln>
        </p:spPr>
        <p:txBody>
          <a:bodyPr wrap="square" lIns="90000" tIns="88900" rIns="90000" bIns="88900" rtlCol="0" anchor="ctr"/>
          <a:lstStyle/>
          <a:p>
            <a:pPr>
              <a:lnSpc>
                <a:spcPct val="106000"/>
              </a:lnSpc>
            </a:pPr>
            <a:r>
              <a:rPr lang="en-US" sz="1200" i="1">
                <a:solidFill>
                  <a:prstClr val="black"/>
                </a:solidFill>
                <a:latin typeface="+mj-lt"/>
                <a:cs typeface="Calibri" panose="020F0502020204030204" pitchFamily="34" charset="0"/>
              </a:rPr>
              <a:t>…manifesting into five </a:t>
            </a:r>
            <a:br>
              <a:rPr lang="en-US" sz="1200" i="1">
                <a:solidFill>
                  <a:prstClr val="black"/>
                </a:solidFill>
                <a:latin typeface="+mj-lt"/>
                <a:cs typeface="Calibri" panose="020F0502020204030204" pitchFamily="34" charset="0"/>
              </a:rPr>
            </a:br>
            <a:r>
              <a:rPr lang="en-US" sz="1200" i="1">
                <a:solidFill>
                  <a:prstClr val="black"/>
                </a:solidFill>
                <a:latin typeface="+mj-lt"/>
                <a:cs typeface="Calibri" panose="020F0502020204030204" pitchFamily="34" charset="0"/>
              </a:rPr>
              <a:t>levers, in the form of decision-making supports, for OEOs to enhance investor engagement…</a:t>
            </a:r>
          </a:p>
        </p:txBody>
      </p:sp>
      <p:sp>
        <p:nvSpPr>
          <p:cNvPr id="120" name="Rectangle 119">
            <a:extLst>
              <a:ext uri="{FF2B5EF4-FFF2-40B4-BE49-F238E27FC236}">
                <a16:creationId xmlns:a16="http://schemas.microsoft.com/office/drawing/2014/main" id="{850B1160-7521-5C35-A712-1346E137400C}"/>
              </a:ext>
            </a:extLst>
          </p:cNvPr>
          <p:cNvSpPr>
            <a:spLocks/>
          </p:cNvSpPr>
          <p:nvPr/>
        </p:nvSpPr>
        <p:spPr bwMode="gray">
          <a:xfrm>
            <a:off x="9458350" y="2065883"/>
            <a:ext cx="2232000" cy="2078319"/>
          </a:xfrm>
          <a:prstGeom prst="rect">
            <a:avLst/>
          </a:prstGeom>
          <a:solidFill>
            <a:schemeClr val="accent1">
              <a:lumMod val="20000"/>
              <a:lumOff val="80000"/>
            </a:schemeClr>
          </a:solidFill>
          <a:ln w="19050" algn="ctr">
            <a:noFill/>
            <a:miter lim="800000"/>
            <a:headEnd/>
            <a:tailEnd/>
          </a:ln>
        </p:spPr>
        <p:txBody>
          <a:bodyPr wrap="square" lIns="90000" tIns="88900" rIns="900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solidFill>
                <a:effectLst/>
                <a:uLnTx/>
                <a:uFillTx/>
                <a:latin typeface="Calibri"/>
                <a:ea typeface="+mn-ea"/>
                <a:cs typeface="Calibri" panose="020F0502020204030204" pitchFamily="34" charset="0"/>
              </a:rPr>
              <a:t>The three enabling conditions capture the key distinctive areas of the proposed new guidance,…</a:t>
            </a:r>
          </a:p>
        </p:txBody>
      </p:sp>
      <p:sp>
        <p:nvSpPr>
          <p:cNvPr id="2" name="Text Placeholder 1">
            <a:extLst>
              <a:ext uri="{FF2B5EF4-FFF2-40B4-BE49-F238E27FC236}">
                <a16:creationId xmlns:a16="http://schemas.microsoft.com/office/drawing/2014/main" id="{738F0E80-AC91-4A1F-8E56-CCBC7BBA31F6}"/>
              </a:ext>
            </a:extLst>
          </p:cNvPr>
          <p:cNvSpPr>
            <a:spLocks noGrp="1"/>
          </p:cNvSpPr>
          <p:nvPr>
            <p:ph type="body" sz="quarter" idx="21"/>
          </p:nvPr>
        </p:nvSpPr>
        <p:spPr>
          <a:xfrm>
            <a:off x="501650" y="651600"/>
            <a:ext cx="11188700" cy="757255"/>
          </a:xfrm>
        </p:spPr>
        <p:txBody>
          <a:bodyPr/>
          <a:lstStyle/>
          <a:p>
            <a:r>
              <a:rPr lang="en-US"/>
              <a:t>The Proposed Guidance introduces key enabling conditions that will re-shape how OEOs can deliver support and service to DIY investors</a:t>
            </a:r>
          </a:p>
        </p:txBody>
      </p:sp>
      <p:sp>
        <p:nvSpPr>
          <p:cNvPr id="4" name="Title 3"/>
          <p:cNvSpPr>
            <a:spLocks noGrp="1"/>
          </p:cNvSpPr>
          <p:nvPr>
            <p:ph type="title"/>
          </p:nvPr>
        </p:nvSpPr>
        <p:spPr/>
        <p:txBody>
          <a:bodyPr vert="horz"/>
          <a:lstStyle/>
          <a:p>
            <a:r>
              <a:rPr lang="en-US" noProof="0"/>
              <a:t>Interpretation of Proposed Guidance</a:t>
            </a:r>
          </a:p>
        </p:txBody>
      </p:sp>
      <p:pic>
        <p:nvPicPr>
          <p:cNvPr id="53" name="Picture 52">
            <a:extLst>
              <a:ext uri="{FF2B5EF4-FFF2-40B4-BE49-F238E27FC236}">
                <a16:creationId xmlns:a16="http://schemas.microsoft.com/office/drawing/2014/main" id="{A8EBFE00-BC63-B66B-0829-E538CCA2DAAC}"/>
              </a:ext>
            </a:extLst>
          </p:cNvPr>
          <p:cNvPicPr>
            <a:picLocks noChangeAspect="1"/>
          </p:cNvPicPr>
          <p:nvPr/>
        </p:nvPicPr>
        <p:blipFill>
          <a:blip r:embed="rId6">
            <a:duotone>
              <a:schemeClr val="accent2">
                <a:shade val="45000"/>
                <a:satMod val="135000"/>
              </a:schemeClr>
              <a:prstClr val="white"/>
            </a:duotone>
          </a:blip>
          <a:stretch>
            <a:fillRect/>
          </a:stretch>
        </p:blipFill>
        <p:spPr>
          <a:xfrm>
            <a:off x="1739831" y="2125204"/>
            <a:ext cx="329540" cy="318376"/>
          </a:xfrm>
          <a:prstGeom prst="rect">
            <a:avLst/>
          </a:prstGeom>
        </p:spPr>
      </p:pic>
      <p:cxnSp>
        <p:nvCxnSpPr>
          <p:cNvPr id="6" name="Straight Connector 5">
            <a:extLst>
              <a:ext uri="{FF2B5EF4-FFF2-40B4-BE49-F238E27FC236}">
                <a16:creationId xmlns:a16="http://schemas.microsoft.com/office/drawing/2014/main" id="{2BA646CF-D90B-49B4-AE0E-31C645E001D0}"/>
              </a:ext>
            </a:extLst>
          </p:cNvPr>
          <p:cNvCxnSpPr>
            <a:cxnSpLocks/>
          </p:cNvCxnSpPr>
          <p:nvPr/>
        </p:nvCxnSpPr>
        <p:spPr>
          <a:xfrm>
            <a:off x="724934" y="3010811"/>
            <a:ext cx="2359335" cy="0"/>
          </a:xfrm>
          <a:prstGeom prst="line">
            <a:avLst/>
          </a:prstGeom>
          <a:ln w="317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32A4E9A-B045-6570-24F3-90CB47030047}"/>
              </a:ext>
            </a:extLst>
          </p:cNvPr>
          <p:cNvSpPr>
            <a:spLocks/>
          </p:cNvSpPr>
          <p:nvPr/>
        </p:nvSpPr>
        <p:spPr>
          <a:xfrm>
            <a:off x="649076" y="2437285"/>
            <a:ext cx="2511050" cy="584775"/>
          </a:xfrm>
          <a:prstGeom prst="rect">
            <a:avLst/>
          </a:prstGeom>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Narrower Definition of ‘Recommendation’</a:t>
            </a:r>
          </a:p>
        </p:txBody>
      </p:sp>
      <p:sp>
        <p:nvSpPr>
          <p:cNvPr id="13" name="TextBox 12">
            <a:extLst>
              <a:ext uri="{FF2B5EF4-FFF2-40B4-BE49-F238E27FC236}">
                <a16:creationId xmlns:a16="http://schemas.microsoft.com/office/drawing/2014/main" id="{86062E9C-BFC8-26BE-F460-A8C0E90CCBAC}"/>
              </a:ext>
            </a:extLst>
          </p:cNvPr>
          <p:cNvSpPr txBox="1">
            <a:spLocks/>
          </p:cNvSpPr>
          <p:nvPr/>
        </p:nvSpPr>
        <p:spPr>
          <a:xfrm>
            <a:off x="638034" y="3100714"/>
            <a:ext cx="2533134" cy="1014508"/>
          </a:xfrm>
          <a:prstGeom prst="rect">
            <a:avLst/>
          </a:prstGeom>
          <a:noFill/>
        </p:spPr>
        <p:txBody>
          <a:bodyPr wrap="square" tIns="0">
            <a:spAutoFit/>
          </a:bodyPr>
          <a:lstStyle/>
          <a:p>
            <a:pPr algn="ctr">
              <a:lnSpc>
                <a:spcPct val="106000"/>
              </a:lnSpc>
              <a:defRPr/>
            </a:pPr>
            <a:r>
              <a:rPr kumimoji="0" lang="en-US" sz="15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A communication is only a prohibited recommendation if it endorses a specific investment decision</a:t>
            </a:r>
          </a:p>
        </p:txBody>
      </p:sp>
      <p:pic>
        <p:nvPicPr>
          <p:cNvPr id="54" name="Picture 53">
            <a:extLst>
              <a:ext uri="{FF2B5EF4-FFF2-40B4-BE49-F238E27FC236}">
                <a16:creationId xmlns:a16="http://schemas.microsoft.com/office/drawing/2014/main" id="{A21D0904-F7D9-FFFB-D42A-6C7C683B2B24}"/>
              </a:ext>
            </a:extLst>
          </p:cNvPr>
          <p:cNvPicPr>
            <a:picLocks noChangeAspect="1"/>
          </p:cNvPicPr>
          <p:nvPr/>
        </p:nvPicPr>
        <p:blipFill>
          <a:blip r:embed="rId7">
            <a:duotone>
              <a:schemeClr val="accent2">
                <a:shade val="45000"/>
                <a:satMod val="135000"/>
              </a:schemeClr>
              <a:prstClr val="white"/>
            </a:duotone>
          </a:blip>
          <a:stretch>
            <a:fillRect/>
          </a:stretch>
        </p:blipFill>
        <p:spPr>
          <a:xfrm>
            <a:off x="4678517" y="2111378"/>
            <a:ext cx="358162" cy="346029"/>
          </a:xfrm>
          <a:prstGeom prst="rect">
            <a:avLst/>
          </a:prstGeom>
        </p:spPr>
      </p:pic>
      <p:cxnSp>
        <p:nvCxnSpPr>
          <p:cNvPr id="26" name="Straight Connector 25">
            <a:extLst>
              <a:ext uri="{FF2B5EF4-FFF2-40B4-BE49-F238E27FC236}">
                <a16:creationId xmlns:a16="http://schemas.microsoft.com/office/drawing/2014/main" id="{99A7BF92-94FD-B8C1-376E-E29E71A8199D}"/>
              </a:ext>
            </a:extLst>
          </p:cNvPr>
          <p:cNvCxnSpPr>
            <a:cxnSpLocks/>
          </p:cNvCxnSpPr>
          <p:nvPr/>
        </p:nvCxnSpPr>
        <p:spPr>
          <a:xfrm>
            <a:off x="3677931" y="3010811"/>
            <a:ext cx="2359335" cy="0"/>
          </a:xfrm>
          <a:prstGeom prst="line">
            <a:avLst/>
          </a:prstGeom>
          <a:ln w="317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4905C39B-4335-AF64-225A-5BAF839C9E71}"/>
              </a:ext>
            </a:extLst>
          </p:cNvPr>
          <p:cNvSpPr>
            <a:spLocks/>
          </p:cNvSpPr>
          <p:nvPr/>
        </p:nvSpPr>
        <p:spPr>
          <a:xfrm>
            <a:off x="3602073" y="2437285"/>
            <a:ext cx="2511050" cy="584775"/>
          </a:xfrm>
          <a:prstGeom prst="rect">
            <a:avLst/>
          </a:prstGeom>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Flexibility on ‘Push’ vs. ‘Pull’ Distinction</a:t>
            </a:r>
          </a:p>
        </p:txBody>
      </p:sp>
      <p:sp>
        <p:nvSpPr>
          <p:cNvPr id="21" name="TextBox 20">
            <a:extLst>
              <a:ext uri="{FF2B5EF4-FFF2-40B4-BE49-F238E27FC236}">
                <a16:creationId xmlns:a16="http://schemas.microsoft.com/office/drawing/2014/main" id="{01F6D484-C062-2A54-D099-24B63EDDC610}"/>
              </a:ext>
            </a:extLst>
          </p:cNvPr>
          <p:cNvSpPr txBox="1">
            <a:spLocks/>
          </p:cNvSpPr>
          <p:nvPr/>
        </p:nvSpPr>
        <p:spPr>
          <a:xfrm>
            <a:off x="3591031" y="3100714"/>
            <a:ext cx="2533134" cy="913357"/>
          </a:xfrm>
          <a:prstGeom prst="rect">
            <a:avLst/>
          </a:prstGeom>
          <a:noFill/>
        </p:spPr>
        <p:txBody>
          <a:bodyPr wrap="square" tIns="0">
            <a:spAutoFit/>
          </a:bodyPr>
          <a:lstStyle/>
          <a:p>
            <a:pPr algn="ctr">
              <a:lnSpc>
                <a:spcPct val="106000"/>
              </a:lnSpc>
              <a:defRPr/>
            </a:pPr>
            <a:r>
              <a:rPr kumimoji="0" lang="en-US" sz="15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Information proactively pushed to investors</a:t>
            </a:r>
            <a:r>
              <a:rPr lang="en-US" sz="1500">
                <a:solidFill>
                  <a:srgbClr val="000000"/>
                </a:solidFill>
                <a:latin typeface="+mj-lt"/>
                <a:ea typeface="Open Sans" panose="020B0606030504020204" pitchFamily="34" charset="0"/>
                <a:cs typeface="Calibri" panose="020F0502020204030204" pitchFamily="34" charset="0"/>
              </a:rPr>
              <a:t> </a:t>
            </a:r>
            <a:r>
              <a:rPr kumimoji="0" lang="en-US" sz="15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is permitted if it remains purely educational or informative</a:t>
            </a:r>
          </a:p>
        </p:txBody>
      </p:sp>
      <p:pic>
        <p:nvPicPr>
          <p:cNvPr id="55" name="Picture 54">
            <a:extLst>
              <a:ext uri="{FF2B5EF4-FFF2-40B4-BE49-F238E27FC236}">
                <a16:creationId xmlns:a16="http://schemas.microsoft.com/office/drawing/2014/main" id="{B4DCFFB2-53CC-8C36-B585-28143FA7F0BB}"/>
              </a:ext>
            </a:extLst>
          </p:cNvPr>
          <p:cNvPicPr>
            <a:picLocks noChangeAspect="1"/>
          </p:cNvPicPr>
          <p:nvPr/>
        </p:nvPicPr>
        <p:blipFill>
          <a:blip r:embed="rId8">
            <a:duotone>
              <a:schemeClr val="accent2">
                <a:shade val="45000"/>
                <a:satMod val="135000"/>
              </a:schemeClr>
              <a:prstClr val="white"/>
            </a:duotone>
          </a:blip>
          <a:stretch>
            <a:fillRect/>
          </a:stretch>
        </p:blipFill>
        <p:spPr>
          <a:xfrm>
            <a:off x="7665032" y="2143759"/>
            <a:ext cx="291129" cy="281267"/>
          </a:xfrm>
          <a:prstGeom prst="rect">
            <a:avLst/>
          </a:prstGeom>
        </p:spPr>
      </p:pic>
      <p:cxnSp>
        <p:nvCxnSpPr>
          <p:cNvPr id="36" name="Straight Connector 35">
            <a:extLst>
              <a:ext uri="{FF2B5EF4-FFF2-40B4-BE49-F238E27FC236}">
                <a16:creationId xmlns:a16="http://schemas.microsoft.com/office/drawing/2014/main" id="{E6D58917-B2C4-BC21-C96C-99CF4CAF0F25}"/>
              </a:ext>
            </a:extLst>
          </p:cNvPr>
          <p:cNvCxnSpPr>
            <a:cxnSpLocks/>
          </p:cNvCxnSpPr>
          <p:nvPr/>
        </p:nvCxnSpPr>
        <p:spPr>
          <a:xfrm>
            <a:off x="6630929" y="3010811"/>
            <a:ext cx="2359335" cy="0"/>
          </a:xfrm>
          <a:prstGeom prst="line">
            <a:avLst/>
          </a:prstGeom>
          <a:ln w="317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5D1561BC-6011-1776-0C71-804395C600B8}"/>
              </a:ext>
            </a:extLst>
          </p:cNvPr>
          <p:cNvSpPr>
            <a:spLocks/>
          </p:cNvSpPr>
          <p:nvPr/>
        </p:nvSpPr>
        <p:spPr>
          <a:xfrm>
            <a:off x="6555071" y="2437285"/>
            <a:ext cx="2511050" cy="584775"/>
          </a:xfrm>
          <a:prstGeom prst="rect">
            <a:avLst/>
          </a:prstGeom>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Explicit Allowance </a:t>
            </a:r>
            <a:r>
              <a:rPr kumimoji="0" lang="en-US" sz="1600" b="1" i="0" u="non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for </a:t>
            </a:r>
            <a:br>
              <a:rPr kumimoji="0" lang="en-US" sz="1600" b="1" i="0" u="non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br>
            <a:r>
              <a:rPr kumimoji="0" lang="en-US" sz="1600" b="1" i="0" u="non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Self-Assessment Tools</a:t>
            </a:r>
          </a:p>
        </p:txBody>
      </p:sp>
      <p:sp>
        <p:nvSpPr>
          <p:cNvPr id="31" name="TextBox 30">
            <a:extLst>
              <a:ext uri="{FF2B5EF4-FFF2-40B4-BE49-F238E27FC236}">
                <a16:creationId xmlns:a16="http://schemas.microsoft.com/office/drawing/2014/main" id="{DFF09038-1385-66BE-10B1-A4CAC84B0831}"/>
              </a:ext>
            </a:extLst>
          </p:cNvPr>
          <p:cNvSpPr txBox="1">
            <a:spLocks/>
          </p:cNvSpPr>
          <p:nvPr/>
        </p:nvSpPr>
        <p:spPr>
          <a:xfrm>
            <a:off x="6544029" y="3100714"/>
            <a:ext cx="2533134" cy="1014508"/>
          </a:xfrm>
          <a:prstGeom prst="rect">
            <a:avLst/>
          </a:prstGeom>
          <a:noFill/>
        </p:spPr>
        <p:txBody>
          <a:bodyPr wrap="square" tIns="0">
            <a:spAutoFit/>
          </a:bodyPr>
          <a:lstStyle/>
          <a:p>
            <a:pPr algn="ctr">
              <a:lnSpc>
                <a:spcPct val="106000"/>
              </a:lnSpc>
              <a:defRPr/>
            </a:pPr>
            <a:r>
              <a:rPr kumimoji="0" lang="en-US" sz="15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OEOs may provide self-assessment tools to investors, as long as the outputs are client-driven</a:t>
            </a:r>
          </a:p>
        </p:txBody>
      </p:sp>
      <p:sp>
        <p:nvSpPr>
          <p:cNvPr id="79" name="Isosceles Triangle 78">
            <a:extLst>
              <a:ext uri="{FF2B5EF4-FFF2-40B4-BE49-F238E27FC236}">
                <a16:creationId xmlns:a16="http://schemas.microsoft.com/office/drawing/2014/main" id="{267E8281-A5EB-1526-5168-9FCAE87A247B}"/>
              </a:ext>
            </a:extLst>
          </p:cNvPr>
          <p:cNvSpPr>
            <a:spLocks/>
          </p:cNvSpPr>
          <p:nvPr/>
        </p:nvSpPr>
        <p:spPr bwMode="gray">
          <a:xfrm>
            <a:off x="484596" y="1398499"/>
            <a:ext cx="8748000" cy="479670"/>
          </a:xfrm>
          <a:prstGeom prst="triangle">
            <a:avLst/>
          </a:prstGeom>
          <a:solidFill>
            <a:schemeClr val="accent3"/>
          </a:solidFill>
          <a:ln w="19050" algn="ctr">
            <a:noFill/>
            <a:miter lim="800000"/>
            <a:headEnd/>
            <a:tailEnd/>
          </a:ln>
        </p:spPr>
        <p:txBody>
          <a:bodyPr wrap="square" lIns="432000" tIns="88900" rIns="432000" bIns="252000" rtlCol="0" anchor="ctr"/>
          <a:lstStyle/>
          <a:p>
            <a:pPr algn="ctr">
              <a:lnSpc>
                <a:spcPct val="106000"/>
              </a:lnSpc>
              <a:buFont typeface="Wingdings 2" pitchFamily="18" charset="2"/>
              <a:buNone/>
            </a:pPr>
            <a:r>
              <a:rPr lang="en-CA" b="1">
                <a:solidFill>
                  <a:schemeClr val="bg1"/>
                </a:solidFill>
              </a:rPr>
              <a:t>Enabling Conditions</a:t>
            </a:r>
            <a:endParaRPr lang="en-CA" sz="1400" b="1">
              <a:solidFill>
                <a:schemeClr val="bg1"/>
              </a:solidFill>
            </a:endParaRPr>
          </a:p>
        </p:txBody>
      </p:sp>
      <p:sp>
        <p:nvSpPr>
          <p:cNvPr id="80" name="Rectangle: Rounded Corners 79">
            <a:extLst>
              <a:ext uri="{FF2B5EF4-FFF2-40B4-BE49-F238E27FC236}">
                <a16:creationId xmlns:a16="http://schemas.microsoft.com/office/drawing/2014/main" id="{6B9D1592-3ACB-6A04-357F-696062F6EA0C}"/>
              </a:ext>
            </a:extLst>
          </p:cNvPr>
          <p:cNvSpPr>
            <a:spLocks/>
          </p:cNvSpPr>
          <p:nvPr/>
        </p:nvSpPr>
        <p:spPr bwMode="gray">
          <a:xfrm>
            <a:off x="482602" y="4264689"/>
            <a:ext cx="8747948" cy="432000"/>
          </a:xfrm>
          <a:prstGeom prst="roundRect">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r>
              <a:rPr lang="en-CA" b="1">
                <a:solidFill>
                  <a:schemeClr val="bg1"/>
                </a:solidFill>
              </a:rPr>
              <a:t>Levers for OEOs – Decision-Making Supports</a:t>
            </a:r>
          </a:p>
        </p:txBody>
      </p:sp>
      <p:sp>
        <p:nvSpPr>
          <p:cNvPr id="42" name="Rectangle: Rounded Corners 41">
            <a:extLst>
              <a:ext uri="{FF2B5EF4-FFF2-40B4-BE49-F238E27FC236}">
                <a16:creationId xmlns:a16="http://schemas.microsoft.com/office/drawing/2014/main" id="{D28A1EE6-F57C-2665-C4D5-76A19A1CE9D9}"/>
              </a:ext>
            </a:extLst>
          </p:cNvPr>
          <p:cNvSpPr>
            <a:spLocks/>
          </p:cNvSpPr>
          <p:nvPr/>
        </p:nvSpPr>
        <p:spPr bwMode="gray">
          <a:xfrm>
            <a:off x="482601" y="5981689"/>
            <a:ext cx="8746908" cy="432000"/>
          </a:xfrm>
          <a:prstGeom prst="roundRect">
            <a:avLst/>
          </a:prstGeom>
          <a:solidFill>
            <a:schemeClr val="accent2"/>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r>
              <a:rPr lang="en-CA" b="1">
                <a:solidFill>
                  <a:schemeClr val="bg1"/>
                </a:solidFill>
              </a:rPr>
              <a:t>Safeguards</a:t>
            </a:r>
          </a:p>
        </p:txBody>
      </p:sp>
      <p:grpSp>
        <p:nvGrpSpPr>
          <p:cNvPr id="11" name="Group 10">
            <a:extLst>
              <a:ext uri="{FF2B5EF4-FFF2-40B4-BE49-F238E27FC236}">
                <a16:creationId xmlns:a16="http://schemas.microsoft.com/office/drawing/2014/main" id="{F2396F46-0944-1FA2-A9D5-64EA5D0B7613}"/>
              </a:ext>
            </a:extLst>
          </p:cNvPr>
          <p:cNvGrpSpPr>
            <a:grpSpLocks/>
          </p:cNvGrpSpPr>
          <p:nvPr/>
        </p:nvGrpSpPr>
        <p:grpSpPr>
          <a:xfrm>
            <a:off x="482602" y="4807545"/>
            <a:ext cx="1705472" cy="1063253"/>
            <a:chOff x="1981200" y="5205045"/>
            <a:chExt cx="1820333" cy="1103717"/>
          </a:xfrm>
        </p:grpSpPr>
        <p:sp>
          <p:nvSpPr>
            <p:cNvPr id="38" name="Trapezoid 37">
              <a:extLst>
                <a:ext uri="{FF2B5EF4-FFF2-40B4-BE49-F238E27FC236}">
                  <a16:creationId xmlns:a16="http://schemas.microsoft.com/office/drawing/2014/main" id="{78C80951-B6CE-6605-B8D2-2794CD896AD5}"/>
                </a:ext>
              </a:extLst>
            </p:cNvPr>
            <p:cNvSpPr>
              <a:spLocks/>
            </p:cNvSpPr>
            <p:nvPr/>
          </p:nvSpPr>
          <p:spPr bwMode="gray">
            <a:xfrm rot="10800000">
              <a:off x="1981200" y="5205045"/>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sp>
          <p:nvSpPr>
            <p:cNvPr id="39" name="Rectangle: Rounded Corners 38">
              <a:extLst>
                <a:ext uri="{FF2B5EF4-FFF2-40B4-BE49-F238E27FC236}">
                  <a16:creationId xmlns:a16="http://schemas.microsoft.com/office/drawing/2014/main" id="{BF0B2748-E349-69FA-8ED4-A37699B04F7F}"/>
                </a:ext>
              </a:extLst>
            </p:cNvPr>
            <p:cNvSpPr>
              <a:spLocks/>
            </p:cNvSpPr>
            <p:nvPr/>
          </p:nvSpPr>
          <p:spPr bwMode="gray">
            <a:xfrm>
              <a:off x="2023534" y="5399131"/>
              <a:ext cx="1731433" cy="712370"/>
            </a:xfrm>
            <a:prstGeom prst="roundRect">
              <a:avLst>
                <a:gd name="adj" fmla="val 2999"/>
              </a:avLst>
            </a:prstGeom>
            <a:solidFill>
              <a:schemeClr val="bg1">
                <a:lumMod val="95000"/>
                <a:alpha val="50000"/>
              </a:schemeClr>
            </a:solidFill>
            <a:ln w="19050" algn="ctr">
              <a:noFill/>
              <a:miter lim="800000"/>
              <a:headEnd/>
              <a:tailEnd/>
            </a:ln>
          </p:spPr>
          <p:txBody>
            <a:bodyPr wrap="square" lIns="88900" tIns="88900" rIns="88900" bIns="144000" rtlCol="0" anchor="ctr"/>
            <a:lstStyle/>
            <a:p>
              <a:pPr algn="ctr">
                <a:lnSpc>
                  <a:spcPct val="106000"/>
                </a:lnSpc>
                <a:defRPr/>
              </a:pPr>
              <a:r>
                <a:rPr lang="en-US" sz="1600" b="1" noProof="0">
                  <a:solidFill>
                    <a:srgbClr val="000000"/>
                  </a:solidFill>
                  <a:latin typeface="+mj-lt"/>
                  <a:ea typeface="Open Sans" panose="020B0606030504020204" pitchFamily="34" charset="0"/>
                  <a:cs typeface="Calibri" panose="020F0502020204030204" pitchFamily="34" charset="0"/>
                </a:rPr>
                <a:t>Alerts &amp; Notifications</a:t>
              </a:r>
            </a:p>
          </p:txBody>
        </p:sp>
        <p:sp>
          <p:nvSpPr>
            <p:cNvPr id="40" name="Trapezoid 39">
              <a:extLst>
                <a:ext uri="{FF2B5EF4-FFF2-40B4-BE49-F238E27FC236}">
                  <a16:creationId xmlns:a16="http://schemas.microsoft.com/office/drawing/2014/main" id="{74ABCF65-697C-C177-3357-293AC1D8A651}"/>
                </a:ext>
              </a:extLst>
            </p:cNvPr>
            <p:cNvSpPr>
              <a:spLocks/>
            </p:cNvSpPr>
            <p:nvPr/>
          </p:nvSpPr>
          <p:spPr bwMode="gray">
            <a:xfrm>
              <a:off x="1981200" y="6121371"/>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grpSp>
      <p:grpSp>
        <p:nvGrpSpPr>
          <p:cNvPr id="12" name="Group 11">
            <a:extLst>
              <a:ext uri="{FF2B5EF4-FFF2-40B4-BE49-F238E27FC236}">
                <a16:creationId xmlns:a16="http://schemas.microsoft.com/office/drawing/2014/main" id="{E9B3EA44-E062-28C8-8757-DBE92EDF1911}"/>
              </a:ext>
            </a:extLst>
          </p:cNvPr>
          <p:cNvGrpSpPr>
            <a:grpSpLocks/>
          </p:cNvGrpSpPr>
          <p:nvPr/>
        </p:nvGrpSpPr>
        <p:grpSpPr>
          <a:xfrm>
            <a:off x="2243221" y="4807545"/>
            <a:ext cx="1705472" cy="1063253"/>
            <a:chOff x="1981200" y="5205045"/>
            <a:chExt cx="1820333" cy="1103717"/>
          </a:xfrm>
        </p:grpSpPr>
        <p:sp>
          <p:nvSpPr>
            <p:cNvPr id="33" name="Trapezoid 32">
              <a:extLst>
                <a:ext uri="{FF2B5EF4-FFF2-40B4-BE49-F238E27FC236}">
                  <a16:creationId xmlns:a16="http://schemas.microsoft.com/office/drawing/2014/main" id="{92F8E5E6-4CFF-B1CA-2657-237ECC49C9FA}"/>
                </a:ext>
              </a:extLst>
            </p:cNvPr>
            <p:cNvSpPr>
              <a:spLocks/>
            </p:cNvSpPr>
            <p:nvPr/>
          </p:nvSpPr>
          <p:spPr bwMode="gray">
            <a:xfrm rot="10800000">
              <a:off x="1981200" y="5205045"/>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sp>
          <p:nvSpPr>
            <p:cNvPr id="34" name="Rectangle: Rounded Corners 33">
              <a:extLst>
                <a:ext uri="{FF2B5EF4-FFF2-40B4-BE49-F238E27FC236}">
                  <a16:creationId xmlns:a16="http://schemas.microsoft.com/office/drawing/2014/main" id="{30F1E55F-0BD5-A664-4B04-89FDF619B28D}"/>
                </a:ext>
              </a:extLst>
            </p:cNvPr>
            <p:cNvSpPr>
              <a:spLocks/>
            </p:cNvSpPr>
            <p:nvPr/>
          </p:nvSpPr>
          <p:spPr bwMode="gray">
            <a:xfrm>
              <a:off x="2023534" y="5399131"/>
              <a:ext cx="1731433" cy="712370"/>
            </a:xfrm>
            <a:prstGeom prst="roundRect">
              <a:avLst>
                <a:gd name="adj" fmla="val 2999"/>
              </a:avLst>
            </a:prstGeom>
            <a:solidFill>
              <a:schemeClr val="bg1">
                <a:lumMod val="95000"/>
                <a:alpha val="50000"/>
              </a:schemeClr>
            </a:solidFill>
            <a:ln w="19050" algn="ctr">
              <a:noFill/>
              <a:miter lim="800000"/>
              <a:headEnd/>
              <a:tailEnd/>
            </a:ln>
          </p:spPr>
          <p:txBody>
            <a:bodyPr wrap="square" lIns="88900" tIns="88900" rIns="88900" bIns="144000" rtlCol="0" anchor="ctr"/>
            <a:lstStyle/>
            <a:p>
              <a:pPr algn="ctr">
                <a:lnSpc>
                  <a:spcPct val="106000"/>
                </a:lnSpc>
                <a:defRPr/>
              </a:pPr>
              <a:r>
                <a:rPr lang="en-US" sz="1600" b="1" noProof="0">
                  <a:solidFill>
                    <a:srgbClr val="000000"/>
                  </a:solidFill>
                  <a:latin typeface="+mj-lt"/>
                  <a:ea typeface="Open Sans" panose="020B0606030504020204" pitchFamily="34" charset="0"/>
                  <a:cs typeface="Calibri" panose="020F0502020204030204" pitchFamily="34" charset="0"/>
                </a:rPr>
                <a:t>Educational Information</a:t>
              </a:r>
            </a:p>
          </p:txBody>
        </p:sp>
        <p:sp>
          <p:nvSpPr>
            <p:cNvPr id="37" name="Trapezoid 36">
              <a:extLst>
                <a:ext uri="{FF2B5EF4-FFF2-40B4-BE49-F238E27FC236}">
                  <a16:creationId xmlns:a16="http://schemas.microsoft.com/office/drawing/2014/main" id="{8023513D-A754-38DA-3C82-42A56B002857}"/>
                </a:ext>
              </a:extLst>
            </p:cNvPr>
            <p:cNvSpPr>
              <a:spLocks/>
            </p:cNvSpPr>
            <p:nvPr/>
          </p:nvSpPr>
          <p:spPr bwMode="gray">
            <a:xfrm>
              <a:off x="1981200" y="6121371"/>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grpSp>
      <p:grpSp>
        <p:nvGrpSpPr>
          <p:cNvPr id="14" name="Group 13">
            <a:extLst>
              <a:ext uri="{FF2B5EF4-FFF2-40B4-BE49-F238E27FC236}">
                <a16:creationId xmlns:a16="http://schemas.microsoft.com/office/drawing/2014/main" id="{2700D736-FD98-8F89-95C2-B6097316CCFB}"/>
              </a:ext>
            </a:extLst>
          </p:cNvPr>
          <p:cNvGrpSpPr>
            <a:grpSpLocks/>
          </p:cNvGrpSpPr>
          <p:nvPr/>
        </p:nvGrpSpPr>
        <p:grpSpPr>
          <a:xfrm>
            <a:off x="4003840" y="4807545"/>
            <a:ext cx="1705472" cy="1063253"/>
            <a:chOff x="1981200" y="5205045"/>
            <a:chExt cx="1820333" cy="1103717"/>
          </a:xfrm>
        </p:grpSpPr>
        <p:sp>
          <p:nvSpPr>
            <p:cNvPr id="27" name="Trapezoid 26">
              <a:extLst>
                <a:ext uri="{FF2B5EF4-FFF2-40B4-BE49-F238E27FC236}">
                  <a16:creationId xmlns:a16="http://schemas.microsoft.com/office/drawing/2014/main" id="{CB92CFAE-0F68-2612-29DC-5C4D197B2194}"/>
                </a:ext>
              </a:extLst>
            </p:cNvPr>
            <p:cNvSpPr>
              <a:spLocks/>
            </p:cNvSpPr>
            <p:nvPr/>
          </p:nvSpPr>
          <p:spPr bwMode="gray">
            <a:xfrm rot="10800000">
              <a:off x="1981200" y="5205045"/>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sp>
          <p:nvSpPr>
            <p:cNvPr id="28" name="Rectangle: Rounded Corners 27">
              <a:extLst>
                <a:ext uri="{FF2B5EF4-FFF2-40B4-BE49-F238E27FC236}">
                  <a16:creationId xmlns:a16="http://schemas.microsoft.com/office/drawing/2014/main" id="{A25E6597-D409-53B7-1F23-D34304BF8102}"/>
                </a:ext>
              </a:extLst>
            </p:cNvPr>
            <p:cNvSpPr>
              <a:spLocks/>
            </p:cNvSpPr>
            <p:nvPr/>
          </p:nvSpPr>
          <p:spPr bwMode="gray">
            <a:xfrm>
              <a:off x="2023534" y="5399131"/>
              <a:ext cx="1731433" cy="712370"/>
            </a:xfrm>
            <a:prstGeom prst="roundRect">
              <a:avLst>
                <a:gd name="adj" fmla="val 2999"/>
              </a:avLst>
            </a:prstGeom>
            <a:solidFill>
              <a:schemeClr val="bg1">
                <a:lumMod val="95000"/>
                <a:alpha val="50000"/>
              </a:schemeClr>
            </a:solidFill>
            <a:ln w="19050" algn="ctr">
              <a:noFill/>
              <a:miter lim="800000"/>
              <a:headEnd/>
              <a:tailEnd/>
            </a:ln>
          </p:spPr>
          <p:txBody>
            <a:bodyPr wrap="square" lIns="88900" tIns="88900" rIns="88900" bIns="144000" rtlCol="0" anchor="ctr"/>
            <a:lstStyle/>
            <a:p>
              <a:pPr algn="ctr">
                <a:lnSpc>
                  <a:spcPct val="106000"/>
                </a:lnSpc>
                <a:defRPr/>
              </a:pPr>
              <a:r>
                <a:rPr lang="en-US" sz="1600" b="1" noProof="0">
                  <a:solidFill>
                    <a:srgbClr val="000000"/>
                  </a:solidFill>
                  <a:latin typeface="+mj-lt"/>
                  <a:ea typeface="Open Sans" panose="020B0606030504020204" pitchFamily="34" charset="0"/>
                  <a:cs typeface="Calibri" panose="020F0502020204030204" pitchFamily="34" charset="0"/>
                </a:rPr>
                <a:t>Self-Assessment Tools</a:t>
              </a:r>
            </a:p>
          </p:txBody>
        </p:sp>
        <p:sp>
          <p:nvSpPr>
            <p:cNvPr id="32" name="Trapezoid 31">
              <a:extLst>
                <a:ext uri="{FF2B5EF4-FFF2-40B4-BE49-F238E27FC236}">
                  <a16:creationId xmlns:a16="http://schemas.microsoft.com/office/drawing/2014/main" id="{3551466F-9126-8B29-2B5B-644B1CA5F151}"/>
                </a:ext>
              </a:extLst>
            </p:cNvPr>
            <p:cNvSpPr>
              <a:spLocks/>
            </p:cNvSpPr>
            <p:nvPr/>
          </p:nvSpPr>
          <p:spPr bwMode="gray">
            <a:xfrm>
              <a:off x="1981200" y="6121371"/>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grpSp>
      <p:grpSp>
        <p:nvGrpSpPr>
          <p:cNvPr id="57" name="Group 56">
            <a:extLst>
              <a:ext uri="{FF2B5EF4-FFF2-40B4-BE49-F238E27FC236}">
                <a16:creationId xmlns:a16="http://schemas.microsoft.com/office/drawing/2014/main" id="{73F8ADC8-75DD-AF32-F432-84E92AFAE62E}"/>
              </a:ext>
            </a:extLst>
          </p:cNvPr>
          <p:cNvGrpSpPr>
            <a:grpSpLocks/>
          </p:cNvGrpSpPr>
          <p:nvPr/>
        </p:nvGrpSpPr>
        <p:grpSpPr>
          <a:xfrm>
            <a:off x="7525078" y="4807545"/>
            <a:ext cx="1705472" cy="1063253"/>
            <a:chOff x="1981200" y="5205045"/>
            <a:chExt cx="1820333" cy="1103717"/>
          </a:xfrm>
        </p:grpSpPr>
        <p:sp>
          <p:nvSpPr>
            <p:cNvPr id="58" name="Trapezoid 57">
              <a:extLst>
                <a:ext uri="{FF2B5EF4-FFF2-40B4-BE49-F238E27FC236}">
                  <a16:creationId xmlns:a16="http://schemas.microsoft.com/office/drawing/2014/main" id="{167EEE30-EA4A-7BE1-1884-09185941C15D}"/>
                </a:ext>
              </a:extLst>
            </p:cNvPr>
            <p:cNvSpPr>
              <a:spLocks/>
            </p:cNvSpPr>
            <p:nvPr/>
          </p:nvSpPr>
          <p:spPr bwMode="gray">
            <a:xfrm rot="10800000">
              <a:off x="1981200" y="5205045"/>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sp>
          <p:nvSpPr>
            <p:cNvPr id="59" name="Rectangle: Rounded Corners 58">
              <a:extLst>
                <a:ext uri="{FF2B5EF4-FFF2-40B4-BE49-F238E27FC236}">
                  <a16:creationId xmlns:a16="http://schemas.microsoft.com/office/drawing/2014/main" id="{FA562050-6AAD-5DC7-B4FA-EA30D6B89479}"/>
                </a:ext>
              </a:extLst>
            </p:cNvPr>
            <p:cNvSpPr>
              <a:spLocks/>
            </p:cNvSpPr>
            <p:nvPr/>
          </p:nvSpPr>
          <p:spPr bwMode="gray">
            <a:xfrm>
              <a:off x="2023534" y="5399131"/>
              <a:ext cx="1731433" cy="712370"/>
            </a:xfrm>
            <a:prstGeom prst="roundRect">
              <a:avLst>
                <a:gd name="adj" fmla="val 2999"/>
              </a:avLst>
            </a:prstGeom>
            <a:solidFill>
              <a:schemeClr val="bg1">
                <a:lumMod val="95000"/>
                <a:alpha val="50000"/>
              </a:schemeClr>
            </a:solidFill>
            <a:ln w="19050" algn="ctr">
              <a:noFill/>
              <a:miter lim="800000"/>
              <a:headEnd/>
              <a:tailEnd/>
            </a:ln>
          </p:spPr>
          <p:txBody>
            <a:bodyPr wrap="square" lIns="88900" tIns="88900" rIns="88900" bIns="144000" rtlCol="0" anchor="ctr"/>
            <a:lstStyle/>
            <a:p>
              <a:pPr algn="ctr">
                <a:lnSpc>
                  <a:spcPct val="106000"/>
                </a:lnSpc>
                <a:defRPr/>
              </a:pPr>
              <a:r>
                <a:rPr lang="en-US" sz="1600" b="1" noProof="0">
                  <a:solidFill>
                    <a:srgbClr val="000000"/>
                  </a:solidFill>
                  <a:latin typeface="+mj-lt"/>
                  <a:ea typeface="Open Sans" panose="020B0606030504020204" pitchFamily="34" charset="0"/>
                  <a:cs typeface="Calibri" panose="020F0502020204030204" pitchFamily="34" charset="0"/>
                </a:rPr>
                <a:t>Orchestrated Journey</a:t>
              </a:r>
            </a:p>
          </p:txBody>
        </p:sp>
        <p:sp>
          <p:nvSpPr>
            <p:cNvPr id="60" name="Trapezoid 59">
              <a:extLst>
                <a:ext uri="{FF2B5EF4-FFF2-40B4-BE49-F238E27FC236}">
                  <a16:creationId xmlns:a16="http://schemas.microsoft.com/office/drawing/2014/main" id="{2C6E75B8-1021-B254-5AAA-C545974481CE}"/>
                </a:ext>
              </a:extLst>
            </p:cNvPr>
            <p:cNvSpPr>
              <a:spLocks/>
            </p:cNvSpPr>
            <p:nvPr/>
          </p:nvSpPr>
          <p:spPr bwMode="gray">
            <a:xfrm>
              <a:off x="1981200" y="6121371"/>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grpSp>
      <p:cxnSp>
        <p:nvCxnSpPr>
          <p:cNvPr id="113" name="Straight Connector 112">
            <a:extLst>
              <a:ext uri="{FF2B5EF4-FFF2-40B4-BE49-F238E27FC236}">
                <a16:creationId xmlns:a16="http://schemas.microsoft.com/office/drawing/2014/main" id="{2D90A56B-758F-62CF-7764-6E6E35278FD2}"/>
              </a:ext>
            </a:extLst>
          </p:cNvPr>
          <p:cNvCxnSpPr>
            <a:cxnSpLocks/>
          </p:cNvCxnSpPr>
          <p:nvPr/>
        </p:nvCxnSpPr>
        <p:spPr>
          <a:xfrm>
            <a:off x="9376926" y="2065884"/>
            <a:ext cx="0" cy="2078319"/>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046464B-6D12-EB12-A28C-F7991FC5DEE6}"/>
              </a:ext>
            </a:extLst>
          </p:cNvPr>
          <p:cNvCxnSpPr>
            <a:cxnSpLocks/>
          </p:cNvCxnSpPr>
          <p:nvPr/>
        </p:nvCxnSpPr>
        <p:spPr>
          <a:xfrm>
            <a:off x="9376926" y="4800430"/>
            <a:ext cx="0" cy="106200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791DC6DD-F974-C13E-B87D-FF91E5C70AE4}"/>
              </a:ext>
            </a:extLst>
          </p:cNvPr>
          <p:cNvCxnSpPr>
            <a:cxnSpLocks/>
          </p:cNvCxnSpPr>
          <p:nvPr/>
        </p:nvCxnSpPr>
        <p:spPr>
          <a:xfrm>
            <a:off x="9375589" y="5981687"/>
            <a:ext cx="0" cy="43200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34163F5-91D3-DA89-465F-DC0A35044679}"/>
              </a:ext>
            </a:extLst>
          </p:cNvPr>
          <p:cNvCxnSpPr>
            <a:cxnSpLocks/>
          </p:cNvCxnSpPr>
          <p:nvPr/>
        </p:nvCxnSpPr>
        <p:spPr>
          <a:xfrm>
            <a:off x="9230550" y="3105043"/>
            <a:ext cx="144000"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2A825B2-4320-DB09-A103-F2371B243FE9}"/>
              </a:ext>
            </a:extLst>
          </p:cNvPr>
          <p:cNvCxnSpPr>
            <a:cxnSpLocks/>
          </p:cNvCxnSpPr>
          <p:nvPr/>
        </p:nvCxnSpPr>
        <p:spPr>
          <a:xfrm>
            <a:off x="9230550" y="5340430"/>
            <a:ext cx="144000"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BCD111D-3BF2-07DC-5999-8A9A861B6204}"/>
              </a:ext>
            </a:extLst>
          </p:cNvPr>
          <p:cNvCxnSpPr>
            <a:cxnSpLocks/>
          </p:cNvCxnSpPr>
          <p:nvPr/>
        </p:nvCxnSpPr>
        <p:spPr>
          <a:xfrm>
            <a:off x="9230550" y="6197688"/>
            <a:ext cx="144000" cy="0"/>
          </a:xfrm>
          <a:prstGeom prst="line">
            <a:avLst/>
          </a:prstGeom>
          <a:ln w="38100">
            <a:solidFill>
              <a:schemeClr val="tx2"/>
            </a:solidFill>
            <a:headEnd type="ova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D7C65D89-0BAE-3967-4EFF-CF5A6EE0F69A}"/>
              </a:ext>
            </a:extLst>
          </p:cNvPr>
          <p:cNvGrpSpPr>
            <a:grpSpLocks/>
          </p:cNvGrpSpPr>
          <p:nvPr/>
        </p:nvGrpSpPr>
        <p:grpSpPr>
          <a:xfrm>
            <a:off x="5764459" y="4807546"/>
            <a:ext cx="1705472" cy="1063253"/>
            <a:chOff x="1981200" y="5205045"/>
            <a:chExt cx="1820333" cy="1103717"/>
          </a:xfrm>
        </p:grpSpPr>
        <p:sp>
          <p:nvSpPr>
            <p:cNvPr id="7" name="Trapezoid 6">
              <a:extLst>
                <a:ext uri="{FF2B5EF4-FFF2-40B4-BE49-F238E27FC236}">
                  <a16:creationId xmlns:a16="http://schemas.microsoft.com/office/drawing/2014/main" id="{63E19034-FA69-52CC-5731-578D3FF28981}"/>
                </a:ext>
              </a:extLst>
            </p:cNvPr>
            <p:cNvSpPr>
              <a:spLocks/>
            </p:cNvSpPr>
            <p:nvPr/>
          </p:nvSpPr>
          <p:spPr bwMode="gray">
            <a:xfrm rot="10800000">
              <a:off x="1981200" y="5205045"/>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sp>
          <p:nvSpPr>
            <p:cNvPr id="8" name="Rectangle: Rounded Corners 7">
              <a:extLst>
                <a:ext uri="{FF2B5EF4-FFF2-40B4-BE49-F238E27FC236}">
                  <a16:creationId xmlns:a16="http://schemas.microsoft.com/office/drawing/2014/main" id="{6089244B-F9DD-A050-20F3-55385DC9EE57}"/>
                </a:ext>
              </a:extLst>
            </p:cNvPr>
            <p:cNvSpPr>
              <a:spLocks/>
            </p:cNvSpPr>
            <p:nvPr/>
          </p:nvSpPr>
          <p:spPr bwMode="gray">
            <a:xfrm>
              <a:off x="2023534" y="5399131"/>
              <a:ext cx="1731433" cy="712370"/>
            </a:xfrm>
            <a:prstGeom prst="roundRect">
              <a:avLst>
                <a:gd name="adj" fmla="val 2999"/>
              </a:avLst>
            </a:prstGeom>
            <a:solidFill>
              <a:schemeClr val="bg1">
                <a:lumMod val="95000"/>
                <a:alpha val="50000"/>
              </a:schemeClr>
            </a:solidFill>
            <a:ln w="19050" algn="ctr">
              <a:noFill/>
              <a:miter lim="800000"/>
              <a:headEnd/>
              <a:tailEnd/>
            </a:ln>
          </p:spPr>
          <p:txBody>
            <a:bodyPr wrap="square" lIns="88900" tIns="88900" rIns="88900" bIns="144000" rtlCol="0" anchor="ctr"/>
            <a:lstStyle/>
            <a:p>
              <a:pPr algn="ctr">
                <a:lnSpc>
                  <a:spcPct val="106000"/>
                </a:lnSpc>
                <a:defRPr/>
              </a:pPr>
              <a:r>
                <a:rPr lang="en-US" sz="1600" b="1" noProof="0">
                  <a:solidFill>
                    <a:srgbClr val="000000"/>
                  </a:solidFill>
                  <a:latin typeface="+mj-lt"/>
                  <a:ea typeface="Open Sans" panose="020B0606030504020204" pitchFamily="34" charset="0"/>
                  <a:cs typeface="Calibri" panose="020F0502020204030204" pitchFamily="34" charset="0"/>
                </a:rPr>
                <a:t>Finfluencers &amp; Copy Trading</a:t>
              </a:r>
            </a:p>
          </p:txBody>
        </p:sp>
        <p:sp>
          <p:nvSpPr>
            <p:cNvPr id="9" name="Trapezoid 8">
              <a:extLst>
                <a:ext uri="{FF2B5EF4-FFF2-40B4-BE49-F238E27FC236}">
                  <a16:creationId xmlns:a16="http://schemas.microsoft.com/office/drawing/2014/main" id="{58470836-46F7-0726-4999-2058095D195E}"/>
                </a:ext>
              </a:extLst>
            </p:cNvPr>
            <p:cNvSpPr>
              <a:spLocks/>
            </p:cNvSpPr>
            <p:nvPr/>
          </p:nvSpPr>
          <p:spPr bwMode="gray">
            <a:xfrm>
              <a:off x="1981200" y="6121371"/>
              <a:ext cx="1820333" cy="187391"/>
            </a:xfrm>
            <a:prstGeom prst="trapezoid">
              <a:avLst/>
            </a:prstGeom>
            <a:solidFill>
              <a:schemeClr val="accent1"/>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grpSp>
      <p:sp>
        <p:nvSpPr>
          <p:cNvPr id="15" name="Slide Number Placeholder 4">
            <a:extLst>
              <a:ext uri="{FF2B5EF4-FFF2-40B4-BE49-F238E27FC236}">
                <a16:creationId xmlns:a16="http://schemas.microsoft.com/office/drawing/2014/main" id="{FB563859-F764-CA74-0099-01A8433159D2}"/>
              </a:ext>
            </a:extLst>
          </p:cNvPr>
          <p:cNvSpPr>
            <a:spLocks noGrp="1"/>
          </p:cNvSpPr>
          <p:nvPr>
            <p:ph type="sldNum" sz="quarter" idx="4"/>
          </p:nvPr>
        </p:nvSpPr>
        <p:spPr>
          <a:xfrm>
            <a:off x="11346395" y="6477000"/>
            <a:ext cx="343955" cy="138499"/>
          </a:xfrm>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11</a:t>
            </a:fld>
            <a:endParaRPr lang="en-US"/>
          </a:p>
        </p:txBody>
      </p:sp>
    </p:spTree>
    <p:extLst>
      <p:ext uri="{BB962C8B-B14F-4D97-AF65-F5344CB8AC3E}">
        <p14:creationId xmlns:p14="http://schemas.microsoft.com/office/powerpoint/2010/main" val="215330804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27867109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Rectangle 36">
            <a:extLst>
              <a:ext uri="{FF2B5EF4-FFF2-40B4-BE49-F238E27FC236}">
                <a16:creationId xmlns:a16="http://schemas.microsoft.com/office/drawing/2014/main" id="{0315E0EA-1F62-3FE7-C321-80AFE907E25E}"/>
              </a:ext>
            </a:extLst>
          </p:cNvPr>
          <p:cNvSpPr>
            <a:spLocks/>
          </p:cNvSpPr>
          <p:nvPr/>
        </p:nvSpPr>
        <p:spPr>
          <a:xfrm>
            <a:off x="-3474" y="0"/>
            <a:ext cx="2484000" cy="6855614"/>
          </a:xfrm>
          <a:prstGeom prst="rect">
            <a:avLst/>
          </a:prstGeom>
          <a:solidFill>
            <a:srgbClr val="E8F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41" name="Title 1">
            <a:extLst>
              <a:ext uri="{FF2B5EF4-FFF2-40B4-BE49-F238E27FC236}">
                <a16:creationId xmlns:a16="http://schemas.microsoft.com/office/drawing/2014/main" id="{26979CE4-97CC-9285-5C9C-538B4D59A735}"/>
              </a:ext>
            </a:extLst>
          </p:cNvPr>
          <p:cNvSpPr>
            <a:spLocks noGrp="1"/>
          </p:cNvSpPr>
          <p:nvPr>
            <p:ph type="title"/>
          </p:nvPr>
        </p:nvSpPr>
        <p:spPr>
          <a:xfrm>
            <a:off x="147946" y="994139"/>
            <a:ext cx="2100935" cy="452628"/>
          </a:xfrm>
        </p:spPr>
        <p:txBody>
          <a:bodyPr vert="horz" lIns="90000" tIns="90000" rIns="90000" bIns="90000"/>
          <a:lstStyle/>
          <a:p>
            <a:r>
              <a:rPr lang="en-US" sz="2400" b="1"/>
              <a:t>Alerts &amp; Notifications </a:t>
            </a:r>
          </a:p>
        </p:txBody>
      </p:sp>
      <p:grpSp>
        <p:nvGrpSpPr>
          <p:cNvPr id="34" name="Group 33">
            <a:extLst>
              <a:ext uri="{FF2B5EF4-FFF2-40B4-BE49-F238E27FC236}">
                <a16:creationId xmlns:a16="http://schemas.microsoft.com/office/drawing/2014/main" id="{C7FADDDE-2ABA-3E17-B858-6286801E340B}"/>
              </a:ext>
            </a:extLst>
          </p:cNvPr>
          <p:cNvGrpSpPr>
            <a:grpSpLocks/>
          </p:cNvGrpSpPr>
          <p:nvPr/>
        </p:nvGrpSpPr>
        <p:grpSpPr>
          <a:xfrm>
            <a:off x="243196" y="309327"/>
            <a:ext cx="720000" cy="720000"/>
            <a:chOff x="189752" y="101789"/>
            <a:chExt cx="720000" cy="720000"/>
          </a:xfrm>
        </p:grpSpPr>
        <p:pic>
          <p:nvPicPr>
            <p:cNvPr id="32" name="Picture 31">
              <a:extLst>
                <a:ext uri="{FF2B5EF4-FFF2-40B4-BE49-F238E27FC236}">
                  <a16:creationId xmlns:a16="http://schemas.microsoft.com/office/drawing/2014/main" id="{78EB5439-5A1F-40D2-6FB3-B07060693A9D}"/>
                </a:ext>
              </a:extLst>
            </p:cNvPr>
            <p:cNvPicPr>
              <a:picLocks noChangeAspect="1"/>
            </p:cNvPicPr>
            <p:nvPr/>
          </p:nvPicPr>
          <p:blipFill>
            <a:blip r:embed="rId6">
              <a:biLevel thresh="75000"/>
            </a:blip>
            <a:stretch>
              <a:fillRect/>
            </a:stretch>
          </p:blipFill>
          <p:spPr>
            <a:xfrm>
              <a:off x="248548" y="160585"/>
              <a:ext cx="602409" cy="602409"/>
            </a:xfrm>
            <a:prstGeom prst="rect">
              <a:avLst/>
            </a:prstGeom>
          </p:spPr>
        </p:pic>
        <p:sp>
          <p:nvSpPr>
            <p:cNvPr id="33" name="Oval 32">
              <a:extLst>
                <a:ext uri="{FF2B5EF4-FFF2-40B4-BE49-F238E27FC236}">
                  <a16:creationId xmlns:a16="http://schemas.microsoft.com/office/drawing/2014/main" id="{EEB7B8B0-89BD-8653-7E15-B2DA5124FB0D}"/>
                </a:ext>
              </a:extLst>
            </p:cNvPr>
            <p:cNvSpPr>
              <a:spLocks/>
            </p:cNvSpPr>
            <p:nvPr/>
          </p:nvSpPr>
          <p:spPr bwMode="gray">
            <a:xfrm>
              <a:off x="189752" y="101789"/>
              <a:ext cx="720000" cy="720000"/>
            </a:xfrm>
            <a:prstGeom prst="ellipse">
              <a:avLst/>
            </a:prstGeom>
            <a:noFill/>
            <a:ln w="28575"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grpSp>
      <p:sp>
        <p:nvSpPr>
          <p:cNvPr id="40" name="Text Placeholder 1">
            <a:extLst>
              <a:ext uri="{FF2B5EF4-FFF2-40B4-BE49-F238E27FC236}">
                <a16:creationId xmlns:a16="http://schemas.microsoft.com/office/drawing/2014/main" id="{FFC3577E-EB6F-24D5-8168-BF6E883CE2D7}"/>
              </a:ext>
            </a:extLst>
          </p:cNvPr>
          <p:cNvSpPr>
            <a:spLocks noGrp="1"/>
          </p:cNvSpPr>
          <p:nvPr>
            <p:ph type="body" sz="quarter" idx="21"/>
          </p:nvPr>
        </p:nvSpPr>
        <p:spPr>
          <a:xfrm>
            <a:off x="2683706" y="651600"/>
            <a:ext cx="9006644" cy="757255"/>
          </a:xfrm>
        </p:spPr>
        <p:txBody>
          <a:bodyPr/>
          <a:lstStyle/>
          <a:p>
            <a:r>
              <a:rPr lang="en-US"/>
              <a:t>While common today, alerts are often generic and reactive. Transforming them into personalized, timely nudges can enhance client experience without crossing into advice</a:t>
            </a:r>
          </a:p>
        </p:txBody>
      </p:sp>
      <p:sp>
        <p:nvSpPr>
          <p:cNvPr id="43" name="Title 3">
            <a:extLst>
              <a:ext uri="{FF2B5EF4-FFF2-40B4-BE49-F238E27FC236}">
                <a16:creationId xmlns:a16="http://schemas.microsoft.com/office/drawing/2014/main" id="{685809F2-11C2-C9A4-1F90-72F34DDB6D37}"/>
              </a:ext>
            </a:extLst>
          </p:cNvPr>
          <p:cNvSpPr txBox="1">
            <a:spLocks/>
          </p:cNvSpPr>
          <p:nvPr/>
        </p:nvSpPr>
        <p:spPr bwMode="gray">
          <a:xfrm>
            <a:off x="2683706" y="317500"/>
            <a:ext cx="9006644"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en-US"/>
              <a:t>Decision-Making Supports: Alerts &amp; Notifications</a:t>
            </a:r>
          </a:p>
        </p:txBody>
      </p:sp>
      <p:sp>
        <p:nvSpPr>
          <p:cNvPr id="15" name="Slide Number Placeholder 4">
            <a:extLst>
              <a:ext uri="{FF2B5EF4-FFF2-40B4-BE49-F238E27FC236}">
                <a16:creationId xmlns:a16="http://schemas.microsoft.com/office/drawing/2014/main" id="{1112F65E-1FBA-8D14-5B78-F0D3518D1321}"/>
              </a:ext>
            </a:extLst>
          </p:cNvPr>
          <p:cNvSpPr>
            <a:spLocks noGrp="1"/>
          </p:cNvSpPr>
          <p:nvPr>
            <p:ph type="sldNum" sz="quarter" idx="4"/>
          </p:nvPr>
        </p:nvSpPr>
        <p:spPr>
          <a:xfrm>
            <a:off x="11346395" y="6477000"/>
            <a:ext cx="343955" cy="138499"/>
          </a:xfrm>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12</a:t>
            </a:fld>
            <a:endParaRPr lang="en-US"/>
          </a:p>
        </p:txBody>
      </p:sp>
      <p:grpSp>
        <p:nvGrpSpPr>
          <p:cNvPr id="5" name="Group 4">
            <a:extLst>
              <a:ext uri="{FF2B5EF4-FFF2-40B4-BE49-F238E27FC236}">
                <a16:creationId xmlns:a16="http://schemas.microsoft.com/office/drawing/2014/main" id="{C01F6B0D-E019-C70F-F309-DFEEC703D5AE}"/>
              </a:ext>
            </a:extLst>
          </p:cNvPr>
          <p:cNvGrpSpPr>
            <a:grpSpLocks/>
          </p:cNvGrpSpPr>
          <p:nvPr/>
        </p:nvGrpSpPr>
        <p:grpSpPr>
          <a:xfrm>
            <a:off x="2707245" y="1312111"/>
            <a:ext cx="9029358" cy="5048495"/>
            <a:chOff x="3101623" y="1312111"/>
            <a:chExt cx="8634904" cy="4932216"/>
          </a:xfrm>
        </p:grpSpPr>
        <p:sp>
          <p:nvSpPr>
            <p:cNvPr id="2" name="Up Arrow 41">
              <a:extLst>
                <a:ext uri="{FF2B5EF4-FFF2-40B4-BE49-F238E27FC236}">
                  <a16:creationId xmlns:a16="http://schemas.microsoft.com/office/drawing/2014/main" id="{4BA1A035-6881-EAEE-99EC-B068704149D6}"/>
                </a:ext>
              </a:extLst>
            </p:cNvPr>
            <p:cNvSpPr>
              <a:spLocks/>
            </p:cNvSpPr>
            <p:nvPr/>
          </p:nvSpPr>
          <p:spPr>
            <a:xfrm>
              <a:off x="3101623" y="1312111"/>
              <a:ext cx="378700" cy="4748890"/>
            </a:xfrm>
            <a:prstGeom prst="up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3" name="Up Arrow 42">
              <a:extLst>
                <a:ext uri="{FF2B5EF4-FFF2-40B4-BE49-F238E27FC236}">
                  <a16:creationId xmlns:a16="http://schemas.microsoft.com/office/drawing/2014/main" id="{C47AD251-B99B-873A-0A2A-4BA9C2D63CE1}"/>
                </a:ext>
              </a:extLst>
            </p:cNvPr>
            <p:cNvSpPr>
              <a:spLocks/>
            </p:cNvSpPr>
            <p:nvPr/>
          </p:nvSpPr>
          <p:spPr>
            <a:xfrm rot="5400000">
              <a:off x="7273910" y="1781711"/>
              <a:ext cx="386879" cy="8538354"/>
            </a:xfrm>
            <a:prstGeom prst="up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6" name="TextBox 5">
              <a:extLst>
                <a:ext uri="{FF2B5EF4-FFF2-40B4-BE49-F238E27FC236}">
                  <a16:creationId xmlns:a16="http://schemas.microsoft.com/office/drawing/2014/main" id="{005E951B-650D-EEE2-AFA3-432D152CBCF0}"/>
                </a:ext>
              </a:extLst>
            </p:cNvPr>
            <p:cNvSpPr txBox="1">
              <a:spLocks/>
            </p:cNvSpPr>
            <p:nvPr/>
          </p:nvSpPr>
          <p:spPr>
            <a:xfrm>
              <a:off x="4500181" y="5871602"/>
              <a:ext cx="1855186" cy="333152"/>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Insights</a:t>
              </a:r>
            </a:p>
          </p:txBody>
        </p:sp>
        <p:sp>
          <p:nvSpPr>
            <p:cNvPr id="9" name="TextBox 8">
              <a:extLst>
                <a:ext uri="{FF2B5EF4-FFF2-40B4-BE49-F238E27FC236}">
                  <a16:creationId xmlns:a16="http://schemas.microsoft.com/office/drawing/2014/main" id="{215B8A62-279C-BF35-8F83-9A96FE223E8B}"/>
                </a:ext>
              </a:extLst>
            </p:cNvPr>
            <p:cNvSpPr txBox="1">
              <a:spLocks/>
            </p:cNvSpPr>
            <p:nvPr/>
          </p:nvSpPr>
          <p:spPr>
            <a:xfrm>
              <a:off x="8658121" y="5871602"/>
              <a:ext cx="1855186" cy="333152"/>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Directive </a:t>
              </a:r>
            </a:p>
          </p:txBody>
        </p:sp>
        <p:sp>
          <p:nvSpPr>
            <p:cNvPr id="14" name="TextBox 13">
              <a:extLst>
                <a:ext uri="{FF2B5EF4-FFF2-40B4-BE49-F238E27FC236}">
                  <a16:creationId xmlns:a16="http://schemas.microsoft.com/office/drawing/2014/main" id="{1B3C2AB4-A3FB-B8FB-B410-B008C16B6C1B}"/>
                </a:ext>
              </a:extLst>
            </p:cNvPr>
            <p:cNvSpPr txBox="1">
              <a:spLocks/>
            </p:cNvSpPr>
            <p:nvPr/>
          </p:nvSpPr>
          <p:spPr>
            <a:xfrm rot="16200000">
              <a:off x="2445952" y="3464943"/>
              <a:ext cx="1680182" cy="250181"/>
            </a:xfrm>
            <a:prstGeom prst="rect">
              <a:avLst/>
            </a:prstGeom>
            <a:noFill/>
          </p:spPr>
          <p:txBody>
            <a:bodyPr vert="horz" wrap="square" lIns="0" tIns="45720" rIns="0" bIns="45720" rtlCol="0" anchor="ctr">
              <a:spAutoFit/>
            </a:bodyPr>
            <a:lstStyle/>
            <a:p>
              <a:pPr lvl="0" algn="ctr">
                <a:defRPr/>
              </a:pPr>
              <a:r>
                <a:rPr lang="en-US" sz="1100" i="1">
                  <a:solidFill>
                    <a:srgbClr val="000000"/>
                  </a:solidFill>
                </a:rPr>
                <a:t>← </a:t>
              </a:r>
              <a:r>
                <a:rPr kumimoji="0" lang="en-US" sz="1100" i="1" u="none" strike="noStrike" kern="1200" cap="none" spc="0" normalizeH="0" baseline="0" noProof="0">
                  <a:ln>
                    <a:noFill/>
                  </a:ln>
                  <a:solidFill>
                    <a:srgbClr val="000000"/>
                  </a:solidFill>
                  <a:effectLst/>
                  <a:uLnTx/>
                  <a:uFillTx/>
                  <a:latin typeface="+mj-lt"/>
                  <a:ea typeface="+mn-ea"/>
                  <a:cs typeface="+mn-cs"/>
                </a:rPr>
                <a:t>Level of Customization →</a:t>
              </a:r>
            </a:p>
          </p:txBody>
        </p:sp>
        <p:grpSp>
          <p:nvGrpSpPr>
            <p:cNvPr id="4" name="Group 3">
              <a:extLst>
                <a:ext uri="{FF2B5EF4-FFF2-40B4-BE49-F238E27FC236}">
                  <a16:creationId xmlns:a16="http://schemas.microsoft.com/office/drawing/2014/main" id="{DBE6512E-5853-D3B4-7516-E24EDA33097E}"/>
                </a:ext>
              </a:extLst>
            </p:cNvPr>
            <p:cNvGrpSpPr>
              <a:grpSpLocks/>
            </p:cNvGrpSpPr>
            <p:nvPr/>
          </p:nvGrpSpPr>
          <p:grpSpPr>
            <a:xfrm>
              <a:off x="3543814" y="1361074"/>
              <a:ext cx="8104384" cy="4447833"/>
              <a:chOff x="3576472" y="1350188"/>
              <a:chExt cx="8104384" cy="4447833"/>
            </a:xfrm>
          </p:grpSpPr>
          <p:sp>
            <p:nvSpPr>
              <p:cNvPr id="8" name="Rectangle 7">
                <a:extLst>
                  <a:ext uri="{FF2B5EF4-FFF2-40B4-BE49-F238E27FC236}">
                    <a16:creationId xmlns:a16="http://schemas.microsoft.com/office/drawing/2014/main" id="{3F988CB2-6186-3E1A-E522-7077BDAE4FAF}"/>
                  </a:ext>
                </a:extLst>
              </p:cNvPr>
              <p:cNvSpPr>
                <a:spLocks/>
              </p:cNvSpPr>
              <p:nvPr/>
            </p:nvSpPr>
            <p:spPr bwMode="gray">
              <a:xfrm>
                <a:off x="3579682" y="1350188"/>
                <a:ext cx="4009477" cy="2192401"/>
              </a:xfrm>
              <a:prstGeom prst="rect">
                <a:avLst/>
              </a:prstGeom>
              <a:solidFill>
                <a:schemeClr val="accent1">
                  <a:lumMod val="20000"/>
                  <a:lumOff val="80000"/>
                  <a:alpha val="40000"/>
                </a:schemeClr>
              </a:solidFill>
              <a:ln w="28575" algn="ctr">
                <a:solidFill>
                  <a:srgbClr val="26890D"/>
                </a:solidFill>
                <a:miter lim="800000"/>
                <a:headEnd/>
                <a:tailEnd/>
              </a:ln>
            </p:spPr>
            <p:txBody>
              <a:bodyPr wrap="square" lIns="88900" tIns="540000" rIns="88900" bIns="108000" rtlCol="0" anchor="b"/>
              <a:lstStyle/>
              <a:p>
                <a:pPr marL="85725">
                  <a:spcAft>
                    <a:spcPts val="300"/>
                  </a:spcAft>
                  <a:defRPr/>
                </a:pPr>
                <a:r>
                  <a:rPr lang="en-US" sz="1400" b="1" i="1">
                    <a:solidFill>
                      <a:prstClr val="black"/>
                    </a:solidFill>
                    <a:latin typeface="+mj-lt"/>
                    <a:cs typeface="Calibri" panose="020F0502020204030204" pitchFamily="34" charset="0"/>
                  </a:rPr>
                  <a:t>Examples</a:t>
                </a:r>
                <a:endParaRPr lang="en-US" sz="1200" b="1" i="1">
                  <a:solidFill>
                    <a:prstClr val="black"/>
                  </a:solidFill>
                  <a:latin typeface="+mj-lt"/>
                  <a:cs typeface="Calibri" panose="020F0502020204030204" pitchFamily="34" charset="0"/>
                </a:endParaRPr>
              </a:p>
              <a:p>
                <a:pPr marL="257175" indent="-171450">
                  <a:spcAft>
                    <a:spcPts val="300"/>
                  </a:spcAft>
                  <a:buFont typeface="Wingdings" panose="05000000000000000000" pitchFamily="2" charset="2"/>
                  <a:buChar char="§"/>
                  <a:defRPr/>
                </a:pPr>
                <a:r>
                  <a:rPr lang="en-US" sz="1200" i="1">
                    <a:solidFill>
                      <a:prstClr val="black"/>
                    </a:solidFill>
                    <a:latin typeface="+mj-lt"/>
                    <a:cs typeface="Calibri" panose="020F0502020204030204" pitchFamily="34" charset="0"/>
                  </a:rPr>
                  <a:t>“One of your holdings exceeds 20% of your portfolio. This may increase concentration risk”</a:t>
                </a:r>
              </a:p>
              <a:p>
                <a:pPr marL="257175" indent="-171450">
                  <a:spcAft>
                    <a:spcPts val="300"/>
                  </a:spcAft>
                  <a:buFont typeface="Wingdings" panose="05000000000000000000" pitchFamily="2" charset="2"/>
                  <a:buChar char="§"/>
                  <a:defRPr/>
                </a:pPr>
                <a:r>
                  <a:rPr lang="en-US" sz="1200" i="1">
                    <a:solidFill>
                      <a:prstClr val="black"/>
                    </a:solidFill>
                    <a:latin typeface="+mj-lt"/>
                    <a:cs typeface="Calibri" panose="020F0502020204030204" pitchFamily="34" charset="0"/>
                  </a:rPr>
                  <a:t>“You have $5,000 in uninvested cash in your account. Consider whether investing aligns with your plan”</a:t>
                </a:r>
              </a:p>
              <a:p>
                <a:pPr marL="257175" indent="-171450">
                  <a:spcAft>
                    <a:spcPts val="300"/>
                  </a:spcAft>
                  <a:buFont typeface="Wingdings" panose="05000000000000000000" pitchFamily="2" charset="2"/>
                  <a:buChar char="§"/>
                  <a:defRPr/>
                </a:pPr>
                <a:r>
                  <a:rPr lang="en-US" sz="1200" i="1">
                    <a:solidFill>
                      <a:prstClr val="black"/>
                    </a:solidFill>
                    <a:latin typeface="+mj-lt"/>
                    <a:cs typeface="Calibri" panose="020F0502020204030204" pitchFamily="34" charset="0"/>
                  </a:rPr>
                  <a:t>“You are about to place a trade on margin. Here are the risks of borrowing to invest”</a:t>
                </a:r>
              </a:p>
            </p:txBody>
          </p:sp>
          <p:pic>
            <p:nvPicPr>
              <p:cNvPr id="29" name="Picture 4">
                <a:extLst>
                  <a:ext uri="{FF2B5EF4-FFF2-40B4-BE49-F238E27FC236}">
                    <a16:creationId xmlns:a16="http://schemas.microsoft.com/office/drawing/2014/main" id="{F7EC597D-FD47-00D6-4628-370AC1D02AB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701363" y="1445758"/>
                <a:ext cx="429930" cy="431347"/>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Diagonal Corners Rounded 30">
                <a:extLst>
                  <a:ext uri="{FF2B5EF4-FFF2-40B4-BE49-F238E27FC236}">
                    <a16:creationId xmlns:a16="http://schemas.microsoft.com/office/drawing/2014/main" id="{729E903F-7CA5-A830-0ABB-C80FC1475DD5}"/>
                  </a:ext>
                </a:extLst>
              </p:cNvPr>
              <p:cNvSpPr>
                <a:spLocks/>
              </p:cNvSpPr>
              <p:nvPr/>
            </p:nvSpPr>
            <p:spPr bwMode="gray">
              <a:xfrm>
                <a:off x="4241193" y="1445758"/>
                <a:ext cx="2028550" cy="431346"/>
              </a:xfrm>
              <a:prstGeom prst="round2Diag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CA" sz="1200" b="1">
                    <a:solidFill>
                      <a:schemeClr val="bg1"/>
                    </a:solidFill>
                  </a:rPr>
                  <a:t>Permitted </a:t>
                </a:r>
                <a:r>
                  <a:rPr lang="en-CA" sz="1200" b="1" u="sng">
                    <a:solidFill>
                      <a:schemeClr val="bg1"/>
                    </a:solidFill>
                  </a:rPr>
                  <a:t>After</a:t>
                </a:r>
                <a:br>
                  <a:rPr lang="en-CA" sz="1200" b="1" u="sng">
                    <a:solidFill>
                      <a:schemeClr val="bg1"/>
                    </a:solidFill>
                  </a:rPr>
                </a:br>
                <a:r>
                  <a:rPr lang="en-CA" sz="1200" b="1">
                    <a:solidFill>
                      <a:schemeClr val="bg1"/>
                    </a:solidFill>
                  </a:rPr>
                  <a:t>Proposed Guidance</a:t>
                </a:r>
                <a:r>
                  <a:rPr lang="en-CA" sz="1200" b="1" baseline="30000">
                    <a:solidFill>
                      <a:schemeClr val="bg1"/>
                    </a:solidFill>
                  </a:rPr>
                  <a:t>1</a:t>
                </a:r>
              </a:p>
            </p:txBody>
          </p:sp>
          <p:sp>
            <p:nvSpPr>
              <p:cNvPr id="35" name="Rectangle 34">
                <a:extLst>
                  <a:ext uri="{FF2B5EF4-FFF2-40B4-BE49-F238E27FC236}">
                    <a16:creationId xmlns:a16="http://schemas.microsoft.com/office/drawing/2014/main" id="{4D348213-0B60-6880-38D5-317BBD1660C2}"/>
                  </a:ext>
                </a:extLst>
              </p:cNvPr>
              <p:cNvSpPr>
                <a:spLocks/>
              </p:cNvSpPr>
              <p:nvPr/>
            </p:nvSpPr>
            <p:spPr bwMode="gray">
              <a:xfrm>
                <a:off x="7671030" y="1350188"/>
                <a:ext cx="4009477" cy="2192401"/>
              </a:xfrm>
              <a:prstGeom prst="rect">
                <a:avLst/>
              </a:prstGeom>
              <a:solidFill>
                <a:srgbClr val="E9B6B6">
                  <a:alpha val="50000"/>
                </a:srgbClr>
              </a:solidFill>
              <a:ln w="28575" algn="ctr">
                <a:solidFill>
                  <a:srgbClr val="C00000"/>
                </a:solidFill>
                <a:miter lim="800000"/>
                <a:headEnd/>
                <a:tailEnd/>
              </a:ln>
            </p:spPr>
            <p:txBody>
              <a:bodyPr wrap="square" lIns="88900" tIns="540000" rIns="88900" bIns="108000" rtlCol="0" anchor="b"/>
              <a:lstStyle/>
              <a:p>
                <a:pPr marL="85725">
                  <a:spcAft>
                    <a:spcPts val="300"/>
                  </a:spcAft>
                  <a:defRPr/>
                </a:pPr>
                <a:r>
                  <a:rPr lang="en-US" sz="1400" b="1" i="1">
                    <a:solidFill>
                      <a:prstClr val="black"/>
                    </a:solidFill>
                    <a:latin typeface="+mj-lt"/>
                    <a:cs typeface="Calibri" panose="020F0502020204030204" pitchFamily="34" charset="0"/>
                  </a:rPr>
                  <a:t>Examples</a:t>
                </a:r>
                <a:endParaRPr lang="en-US" sz="1200" b="1" i="1">
                  <a:solidFill>
                    <a:prstClr val="black"/>
                  </a:solidFill>
                  <a:latin typeface="+mj-lt"/>
                  <a:cs typeface="Calibri" panose="020F0502020204030204" pitchFamily="34" charset="0"/>
                </a:endParaRPr>
              </a:p>
              <a:p>
                <a:pPr marL="234950" indent="-171450">
                  <a:spcAft>
                    <a:spcPts val="300"/>
                  </a:spcAft>
                  <a:buFont typeface="Wingdings" panose="05000000000000000000" pitchFamily="2" charset="2"/>
                  <a:buChar char="§"/>
                  <a:defRPr/>
                </a:pPr>
                <a:r>
                  <a:rPr kumimoji="0" lang="en-US" sz="1200" i="1" u="none" strike="noStrike" kern="1200" cap="none" spc="0" normalizeH="0" baseline="0" noProof="0">
                    <a:ln>
                      <a:noFill/>
                    </a:ln>
                    <a:solidFill>
                      <a:prstClr val="black"/>
                    </a:solidFill>
                    <a:effectLst/>
                    <a:uLnTx/>
                    <a:uFillTx/>
                    <a:latin typeface="Calibri"/>
                    <a:ea typeface="+mn-ea"/>
                    <a:cs typeface="Calibri" panose="020F0502020204030204" pitchFamily="34" charset="0"/>
                  </a:rPr>
                  <a:t>“Based on your cash balance, we recommend buying ABC Money Market Fund” </a:t>
                </a:r>
              </a:p>
              <a:p>
                <a:pPr marL="234950" marR="0" lvl="0" indent="-1714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1" u="none" strike="noStrike" kern="0" cap="none" spc="0" normalizeH="0" baseline="0" noProof="0">
                    <a:ln>
                      <a:noFill/>
                    </a:ln>
                    <a:solidFill>
                      <a:prstClr val="black"/>
                    </a:solidFill>
                    <a:effectLst/>
                    <a:uLnTx/>
                    <a:uFillTx/>
                    <a:latin typeface="Calibri"/>
                    <a:ea typeface="Open Sans" charset="0"/>
                    <a:cs typeface="Calibri" panose="020F0502020204030204" pitchFamily="34" charset="0"/>
                  </a:rPr>
                  <a:t>“Sell 20% of your XYZ stock and reinvest in a bond ETF to balance risk”</a:t>
                </a:r>
              </a:p>
              <a:p>
                <a:pPr marL="234950" marR="0" lvl="0" indent="-17145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1" u="none" strike="noStrike" kern="0" cap="none" spc="0" normalizeH="0" baseline="0" noProof="0">
                    <a:ln>
                      <a:noFill/>
                    </a:ln>
                    <a:solidFill>
                      <a:prstClr val="black"/>
                    </a:solidFill>
                    <a:effectLst/>
                    <a:uLnTx/>
                    <a:uFillTx/>
                    <a:latin typeface="Calibri"/>
                    <a:ea typeface="Open Sans" charset="0"/>
                    <a:cs typeface="Calibri" panose="020F0502020204030204" pitchFamily="34" charset="0"/>
                  </a:rPr>
                  <a:t>“Move $2,000 from your portfolio into international equities for diversification”</a:t>
                </a:r>
                <a:endParaRPr kumimoji="0" lang="en-US" sz="1200" b="0" i="1" u="none" strike="noStrike" kern="120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42" name="Rectangle 41">
                <a:extLst>
                  <a:ext uri="{FF2B5EF4-FFF2-40B4-BE49-F238E27FC236}">
                    <a16:creationId xmlns:a16="http://schemas.microsoft.com/office/drawing/2014/main" id="{655B77AE-37BD-C8C0-47E7-7A20A3A6140C}"/>
                  </a:ext>
                </a:extLst>
              </p:cNvPr>
              <p:cNvSpPr>
                <a:spLocks/>
              </p:cNvSpPr>
              <p:nvPr/>
            </p:nvSpPr>
            <p:spPr bwMode="gray">
              <a:xfrm>
                <a:off x="7671379" y="3605620"/>
                <a:ext cx="4009477" cy="2192401"/>
              </a:xfrm>
              <a:prstGeom prst="rect">
                <a:avLst/>
              </a:prstGeom>
              <a:solidFill>
                <a:schemeClr val="accent1">
                  <a:lumMod val="20000"/>
                  <a:lumOff val="80000"/>
                  <a:alpha val="40000"/>
                </a:schemeClr>
              </a:solidFill>
              <a:ln w="28575" algn="ctr">
                <a:solidFill>
                  <a:srgbClr val="26890D"/>
                </a:solidFill>
                <a:miter lim="800000"/>
                <a:headEnd/>
                <a:tailEnd/>
              </a:ln>
            </p:spPr>
            <p:txBody>
              <a:bodyPr wrap="square" lIns="88900" tIns="540000" rIns="88900" bIns="108000" rtlCol="0" anchor="b"/>
              <a:lstStyle/>
              <a:p>
                <a:pPr marL="85725">
                  <a:spcAft>
                    <a:spcPts val="300"/>
                  </a:spcAft>
                  <a:defRPr/>
                </a:pPr>
                <a:r>
                  <a:rPr lang="en-US" sz="1400" b="1" i="1">
                    <a:solidFill>
                      <a:prstClr val="black"/>
                    </a:solidFill>
                    <a:latin typeface="+mj-lt"/>
                    <a:cs typeface="Calibri" panose="020F0502020204030204" pitchFamily="34" charset="0"/>
                  </a:rPr>
                  <a:t>Examples</a:t>
                </a:r>
              </a:p>
              <a:p>
                <a:pPr marL="257175" indent="-171450">
                  <a:spcAft>
                    <a:spcPts val="300"/>
                  </a:spcAft>
                  <a:buFont typeface="Wingdings" panose="05000000000000000000" pitchFamily="2" charset="2"/>
                  <a:buChar char="§"/>
                  <a:defRPr/>
                </a:pPr>
                <a:r>
                  <a:rPr kumimoji="0" lang="en-US" sz="1200" i="1" u="none" strike="noStrike" kern="1200" cap="none" spc="0" normalizeH="0" baseline="0" noProof="0">
                    <a:ln>
                      <a:noFill/>
                    </a:ln>
                    <a:solidFill>
                      <a:prstClr val="black"/>
                    </a:solidFill>
                    <a:effectLst/>
                    <a:uLnTx/>
                    <a:uFillTx/>
                    <a:latin typeface="Calibri"/>
                    <a:ea typeface="+mn-ea"/>
                    <a:cs typeface="Calibri" panose="020F0502020204030204" pitchFamily="34" charset="0"/>
                  </a:rPr>
                  <a:t>“Consider diversifying your investments across sectors to reduce concentration risk”</a:t>
                </a:r>
              </a:p>
              <a:p>
                <a:pPr marL="257175" indent="-171450">
                  <a:spcAft>
                    <a:spcPts val="300"/>
                  </a:spcAft>
                  <a:buFont typeface="Wingdings" panose="05000000000000000000" pitchFamily="2" charset="2"/>
                  <a:buChar char="§"/>
                  <a:defRPr/>
                </a:pPr>
                <a:r>
                  <a:rPr kumimoji="0" lang="en-US" sz="1200" b="0" i="1" u="none" strike="noStrike" kern="0" cap="none" spc="0" normalizeH="0" baseline="0" noProof="0">
                    <a:ln>
                      <a:noFill/>
                    </a:ln>
                    <a:solidFill>
                      <a:prstClr val="black"/>
                    </a:solidFill>
                    <a:effectLst/>
                    <a:uLnTx/>
                    <a:uFillTx/>
                    <a:latin typeface="Calibri"/>
                    <a:ea typeface="Open Sans" charset="0"/>
                    <a:cs typeface="Calibri" panose="020F0502020204030204" pitchFamily="34" charset="0"/>
                  </a:rPr>
                  <a:t>“Long-term investors such as yourself may want to explore dollar-cost averaging”</a:t>
                </a:r>
              </a:p>
              <a:p>
                <a:pPr marL="257175" indent="-171450">
                  <a:spcAft>
                    <a:spcPts val="300"/>
                  </a:spcAft>
                  <a:buFont typeface="Wingdings" panose="05000000000000000000" pitchFamily="2" charset="2"/>
                  <a:buChar char="§"/>
                  <a:defRPr/>
                </a:pPr>
                <a:r>
                  <a:rPr kumimoji="0" lang="en-US" sz="1200" b="0" i="1" u="none" strike="noStrike" kern="0" cap="none" spc="0" normalizeH="0" baseline="0" noProof="0">
                    <a:ln>
                      <a:noFill/>
                    </a:ln>
                    <a:solidFill>
                      <a:prstClr val="black"/>
                    </a:solidFill>
                    <a:effectLst/>
                    <a:uLnTx/>
                    <a:uFillTx/>
                    <a:latin typeface="Calibri"/>
                    <a:ea typeface="Open Sans" charset="0"/>
                    <a:cs typeface="Calibri" panose="020F0502020204030204" pitchFamily="34" charset="0"/>
                  </a:rPr>
                  <a:t>“Consider reviewing your asset allocation periodically to ensure it remains aligned with your investment objectives”</a:t>
                </a:r>
                <a:endParaRPr kumimoji="0" lang="en-US" sz="1200" b="0" i="1" u="none" strike="noStrike" kern="1200" cap="none" spc="0" normalizeH="0" baseline="0" noProof="0">
                  <a:ln>
                    <a:noFill/>
                  </a:ln>
                  <a:solidFill>
                    <a:prstClr val="black"/>
                  </a:solidFill>
                  <a:effectLst/>
                  <a:uLnTx/>
                  <a:uFillTx/>
                  <a:latin typeface="Calibri"/>
                  <a:ea typeface="+mn-ea"/>
                  <a:cs typeface="Calibri" panose="020F0502020204030204" pitchFamily="34" charset="0"/>
                </a:endParaRPr>
              </a:p>
            </p:txBody>
          </p:sp>
          <p:sp>
            <p:nvSpPr>
              <p:cNvPr id="44" name="Rectangle 43">
                <a:extLst>
                  <a:ext uri="{FF2B5EF4-FFF2-40B4-BE49-F238E27FC236}">
                    <a16:creationId xmlns:a16="http://schemas.microsoft.com/office/drawing/2014/main" id="{6E35A827-D9D7-FF02-F201-FAD04E1899DE}"/>
                  </a:ext>
                </a:extLst>
              </p:cNvPr>
              <p:cNvSpPr>
                <a:spLocks/>
              </p:cNvSpPr>
              <p:nvPr/>
            </p:nvSpPr>
            <p:spPr bwMode="gray">
              <a:xfrm>
                <a:off x="3576472" y="3605620"/>
                <a:ext cx="4009477" cy="2192401"/>
              </a:xfrm>
              <a:prstGeom prst="rect">
                <a:avLst/>
              </a:prstGeom>
              <a:solidFill>
                <a:srgbClr val="E0E0E0"/>
              </a:solidFill>
              <a:ln w="28575" algn="ctr">
                <a:solidFill>
                  <a:schemeClr val="tx1">
                    <a:lumMod val="50000"/>
                    <a:lumOff val="50000"/>
                  </a:schemeClr>
                </a:solidFill>
                <a:miter lim="800000"/>
                <a:headEnd/>
                <a:tailEnd/>
              </a:ln>
            </p:spPr>
            <p:txBody>
              <a:bodyPr wrap="square" lIns="88900" tIns="540000" rIns="88900" bIns="108000" rtlCol="0" anchor="b"/>
              <a:lstStyle/>
              <a:p>
                <a:pPr marL="85725">
                  <a:spcAft>
                    <a:spcPts val="300"/>
                  </a:spcAft>
                  <a:defRPr/>
                </a:pPr>
                <a:r>
                  <a:rPr lang="en-US" sz="1400" b="1" i="1">
                    <a:solidFill>
                      <a:prstClr val="black"/>
                    </a:solidFill>
                    <a:latin typeface="+mj-lt"/>
                    <a:cs typeface="Calibri" panose="020F0502020204030204" pitchFamily="34" charset="0"/>
                  </a:rPr>
                  <a:t>Examples</a:t>
                </a:r>
                <a:endParaRPr lang="en-US" sz="1200" b="1" i="1">
                  <a:solidFill>
                    <a:prstClr val="black"/>
                  </a:solidFill>
                  <a:latin typeface="+mj-lt"/>
                  <a:cs typeface="Calibri" panose="020F0502020204030204" pitchFamily="34" charset="0"/>
                </a:endParaRPr>
              </a:p>
              <a:p>
                <a:pPr marL="269875" indent="-177800">
                  <a:spcAft>
                    <a:spcPts val="300"/>
                  </a:spcAft>
                  <a:buFont typeface="Wingdings" panose="05000000000000000000" pitchFamily="2" charset="2"/>
                  <a:buChar char="§"/>
                  <a:defRPr/>
                </a:pPr>
                <a:r>
                  <a:rPr lang="en-US" sz="1200" i="1">
                    <a:solidFill>
                      <a:prstClr val="black"/>
                    </a:solidFill>
                    <a:latin typeface="+mj-lt"/>
                    <a:cs typeface="Calibri" panose="020F0502020204030204" pitchFamily="34" charset="0"/>
                  </a:rPr>
                  <a:t>“Interest rates have changed. Learn how this could affect fixed income investments”</a:t>
                </a:r>
              </a:p>
              <a:p>
                <a:pPr marL="269875" marR="0" lvl="0" indent="-1778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1" u="none" strike="noStrike" kern="0" cap="none" spc="0" normalizeH="0" baseline="0" noProof="0">
                    <a:ln>
                      <a:noFill/>
                    </a:ln>
                    <a:solidFill>
                      <a:prstClr val="black"/>
                    </a:solidFill>
                    <a:effectLst/>
                    <a:uLnTx/>
                    <a:uFillTx/>
                    <a:latin typeface="Calibri"/>
                    <a:ea typeface="Open Sans" charset="0"/>
                    <a:cs typeface="Calibri" panose="020F0502020204030204" pitchFamily="34" charset="0"/>
                  </a:rPr>
                  <a:t>“Market volatility is elevated this week. Learn how this could affect your portfolio”</a:t>
                </a:r>
              </a:p>
              <a:p>
                <a:pPr marL="269875" marR="0" lvl="0" indent="-177800"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1" u="none" strike="noStrike" kern="0" cap="none" spc="0" normalizeH="0" baseline="0" noProof="0">
                    <a:ln>
                      <a:noFill/>
                    </a:ln>
                    <a:solidFill>
                      <a:prstClr val="black"/>
                    </a:solidFill>
                    <a:effectLst/>
                    <a:uLnTx/>
                    <a:uFillTx/>
                    <a:latin typeface="Calibri"/>
                    <a:ea typeface="Open Sans" charset="0"/>
                    <a:cs typeface="Calibri" panose="020F0502020204030204" pitchFamily="34" charset="0"/>
                  </a:rPr>
                  <a:t>“Inflation remains elevated. Learn how rising prices can impact purchasing power and investment returns”</a:t>
                </a:r>
                <a:endParaRPr lang="en-US" sz="1200" i="1">
                  <a:solidFill>
                    <a:prstClr val="black"/>
                  </a:solidFill>
                  <a:latin typeface="+mj-lt"/>
                  <a:cs typeface="Calibri" panose="020F0502020204030204" pitchFamily="34" charset="0"/>
                </a:endParaRPr>
              </a:p>
            </p:txBody>
          </p:sp>
          <p:sp>
            <p:nvSpPr>
              <p:cNvPr id="46" name="Rectangle: Diagonal Corners Rounded 45">
                <a:extLst>
                  <a:ext uri="{FF2B5EF4-FFF2-40B4-BE49-F238E27FC236}">
                    <a16:creationId xmlns:a16="http://schemas.microsoft.com/office/drawing/2014/main" id="{6EAC8818-5BBA-1B65-D821-4AA8291C76C0}"/>
                  </a:ext>
                </a:extLst>
              </p:cNvPr>
              <p:cNvSpPr>
                <a:spLocks/>
              </p:cNvSpPr>
              <p:nvPr/>
            </p:nvSpPr>
            <p:spPr bwMode="gray">
              <a:xfrm>
                <a:off x="4241193" y="3712783"/>
                <a:ext cx="2028550" cy="431346"/>
              </a:xfrm>
              <a:prstGeom prst="round2DiagRect">
                <a:avLst/>
              </a:prstGeom>
              <a:solidFill>
                <a:schemeClr val="tx1">
                  <a:lumMod val="50000"/>
                  <a:lumOff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CA" sz="1200" b="1">
                    <a:solidFill>
                      <a:schemeClr val="bg1"/>
                    </a:solidFill>
                  </a:rPr>
                  <a:t>Permitted </a:t>
                </a:r>
                <a:r>
                  <a:rPr lang="en-CA" sz="1200" b="1" u="sng">
                    <a:solidFill>
                      <a:schemeClr val="bg1"/>
                    </a:solidFill>
                  </a:rPr>
                  <a:t>Before</a:t>
                </a:r>
                <a:br>
                  <a:rPr lang="en-CA" sz="1200" b="1" u="sng">
                    <a:solidFill>
                      <a:schemeClr val="bg1"/>
                    </a:solidFill>
                  </a:rPr>
                </a:br>
                <a:r>
                  <a:rPr lang="en-CA" sz="1200" b="1">
                    <a:solidFill>
                      <a:schemeClr val="bg1"/>
                    </a:solidFill>
                  </a:rPr>
                  <a:t>Proposed Guidance</a:t>
                </a:r>
              </a:p>
            </p:txBody>
          </p:sp>
          <p:pic>
            <p:nvPicPr>
              <p:cNvPr id="47" name="Picture 4">
                <a:extLst>
                  <a:ext uri="{FF2B5EF4-FFF2-40B4-BE49-F238E27FC236}">
                    <a16:creationId xmlns:a16="http://schemas.microsoft.com/office/drawing/2014/main" id="{E4D4D1A3-5188-0D12-3CC5-81B0BDBD0A4F}"/>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3701363" y="3712783"/>
                <a:ext cx="429930" cy="431347"/>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Diagonal Corners Rounded 47">
                <a:extLst>
                  <a:ext uri="{FF2B5EF4-FFF2-40B4-BE49-F238E27FC236}">
                    <a16:creationId xmlns:a16="http://schemas.microsoft.com/office/drawing/2014/main" id="{4620D069-9860-43EC-B22F-62DF26792357}"/>
                  </a:ext>
                </a:extLst>
              </p:cNvPr>
              <p:cNvSpPr>
                <a:spLocks/>
              </p:cNvSpPr>
              <p:nvPr/>
            </p:nvSpPr>
            <p:spPr bwMode="gray">
              <a:xfrm>
                <a:off x="8337147" y="1445758"/>
                <a:ext cx="2028550" cy="431346"/>
              </a:xfrm>
              <a:prstGeom prst="round2DiagRect">
                <a:avLst/>
              </a:prstGeom>
              <a:solidFill>
                <a:srgbClr val="C00000"/>
              </a:solidFill>
              <a:ln w="19050" algn="ctr">
                <a:noFill/>
                <a:miter lim="800000"/>
                <a:headEnd/>
                <a:tailEnd/>
              </a:ln>
            </p:spPr>
            <p:txBody>
              <a:bodyPr wrap="square" lIns="0" tIns="88900" rIns="0" bIns="88900" rtlCol="0" anchor="ctr"/>
              <a:lstStyle/>
              <a:p>
                <a:pPr algn="ctr">
                  <a:lnSpc>
                    <a:spcPct val="106000"/>
                  </a:lnSpc>
                  <a:buFont typeface="Wingdings 2" pitchFamily="18" charset="2"/>
                  <a:buNone/>
                </a:pPr>
                <a:r>
                  <a:rPr lang="en-CA" sz="1200" b="1">
                    <a:solidFill>
                      <a:schemeClr val="bg1"/>
                    </a:solidFill>
                  </a:rPr>
                  <a:t>Deemed as Recommendation;</a:t>
                </a:r>
                <a:br>
                  <a:rPr lang="en-CA" sz="1200" b="1">
                    <a:solidFill>
                      <a:schemeClr val="bg1"/>
                    </a:solidFill>
                  </a:rPr>
                </a:br>
                <a:r>
                  <a:rPr lang="en-CA" sz="1200" b="1">
                    <a:solidFill>
                      <a:schemeClr val="bg1"/>
                    </a:solidFill>
                  </a:rPr>
                  <a:t>Remains Prohibited</a:t>
                </a:r>
              </a:p>
            </p:txBody>
          </p:sp>
          <p:pic>
            <p:nvPicPr>
              <p:cNvPr id="49" name="Picture 2">
                <a:extLst>
                  <a:ext uri="{FF2B5EF4-FFF2-40B4-BE49-F238E27FC236}">
                    <a16:creationId xmlns:a16="http://schemas.microsoft.com/office/drawing/2014/main" id="{5D9B1DED-15A5-B0EA-940D-6A0833923BB1}"/>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7840090" y="1497593"/>
                <a:ext cx="326601" cy="32767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a:extLst>
                  <a:ext uri="{FF2B5EF4-FFF2-40B4-BE49-F238E27FC236}">
                    <a16:creationId xmlns:a16="http://schemas.microsoft.com/office/drawing/2014/main" id="{1960739A-6BB8-92EB-114A-2B986B11519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788425" y="3712783"/>
                <a:ext cx="429930" cy="431347"/>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Diagonal Corners Rounded 52">
                <a:extLst>
                  <a:ext uri="{FF2B5EF4-FFF2-40B4-BE49-F238E27FC236}">
                    <a16:creationId xmlns:a16="http://schemas.microsoft.com/office/drawing/2014/main" id="{18859C53-4F94-5F0F-67E9-90EEA4DC1C80}"/>
                  </a:ext>
                </a:extLst>
              </p:cNvPr>
              <p:cNvSpPr>
                <a:spLocks/>
              </p:cNvSpPr>
              <p:nvPr/>
            </p:nvSpPr>
            <p:spPr bwMode="gray">
              <a:xfrm>
                <a:off x="8337147" y="3712783"/>
                <a:ext cx="2028550" cy="431346"/>
              </a:xfrm>
              <a:prstGeom prst="round2Diag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CA" sz="1200" b="1">
                    <a:solidFill>
                      <a:schemeClr val="bg1"/>
                    </a:solidFill>
                  </a:rPr>
                  <a:t>Permitted </a:t>
                </a:r>
                <a:r>
                  <a:rPr lang="en-CA" sz="1200" b="1" u="sng">
                    <a:solidFill>
                      <a:schemeClr val="bg1"/>
                    </a:solidFill>
                  </a:rPr>
                  <a:t>After</a:t>
                </a:r>
                <a:br>
                  <a:rPr lang="en-CA" sz="1200" b="1" u="sng">
                    <a:solidFill>
                      <a:schemeClr val="bg1"/>
                    </a:solidFill>
                  </a:rPr>
                </a:br>
                <a:r>
                  <a:rPr lang="en-CA" sz="1200" b="1">
                    <a:solidFill>
                      <a:schemeClr val="bg1"/>
                    </a:solidFill>
                  </a:rPr>
                  <a:t>Proposed Guidance</a:t>
                </a:r>
                <a:r>
                  <a:rPr lang="en-CA" sz="1200" b="1" baseline="30000">
                    <a:solidFill>
                      <a:schemeClr val="bg1"/>
                    </a:solidFill>
                  </a:rPr>
                  <a:t>2</a:t>
                </a:r>
              </a:p>
            </p:txBody>
          </p:sp>
        </p:grpSp>
        <p:sp>
          <p:nvSpPr>
            <p:cNvPr id="10" name="TextBox 9">
              <a:extLst>
                <a:ext uri="{FF2B5EF4-FFF2-40B4-BE49-F238E27FC236}">
                  <a16:creationId xmlns:a16="http://schemas.microsoft.com/office/drawing/2014/main" id="{0A40B1B6-3579-1832-5138-D014E64B7D30}"/>
                </a:ext>
              </a:extLst>
            </p:cNvPr>
            <p:cNvSpPr txBox="1">
              <a:spLocks/>
            </p:cNvSpPr>
            <p:nvPr/>
          </p:nvSpPr>
          <p:spPr>
            <a:xfrm rot="16200000">
              <a:off x="2182995" y="4692065"/>
              <a:ext cx="2199694" cy="295687"/>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Generic</a:t>
              </a:r>
            </a:p>
          </p:txBody>
        </p:sp>
        <p:sp>
          <p:nvSpPr>
            <p:cNvPr id="7" name="TextBox 6">
              <a:extLst>
                <a:ext uri="{FF2B5EF4-FFF2-40B4-BE49-F238E27FC236}">
                  <a16:creationId xmlns:a16="http://schemas.microsoft.com/office/drawing/2014/main" id="{AB59FDCB-A83D-101C-6AD9-2E1488B505F2}"/>
                </a:ext>
              </a:extLst>
            </p:cNvPr>
            <p:cNvSpPr txBox="1">
              <a:spLocks/>
            </p:cNvSpPr>
            <p:nvPr/>
          </p:nvSpPr>
          <p:spPr>
            <a:xfrm rot="16200000">
              <a:off x="2224966" y="2289180"/>
              <a:ext cx="2115465" cy="263820"/>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000000"/>
                  </a:solidFill>
                  <a:latin typeface="Calibri" panose="020F0502020204030204" pitchFamily="34" charset="0"/>
                </a:rPr>
                <a:t>Tailored</a:t>
              </a:r>
            </a:p>
          </p:txBody>
        </p:sp>
      </p:grpSp>
      <p:sp>
        <p:nvSpPr>
          <p:cNvPr id="23" name="TextBox 22">
            <a:extLst>
              <a:ext uri="{FF2B5EF4-FFF2-40B4-BE49-F238E27FC236}">
                <a16:creationId xmlns:a16="http://schemas.microsoft.com/office/drawing/2014/main" id="{7C8815CD-A730-2C56-41F4-0073749C62DF}"/>
              </a:ext>
            </a:extLst>
          </p:cNvPr>
          <p:cNvSpPr txBox="1">
            <a:spLocks/>
          </p:cNvSpPr>
          <p:nvPr/>
        </p:nvSpPr>
        <p:spPr>
          <a:xfrm>
            <a:off x="152217" y="1918690"/>
            <a:ext cx="2100935" cy="397201"/>
          </a:xfrm>
          <a:prstGeom prst="rect">
            <a:avLst/>
          </a:prstGeom>
          <a:noFill/>
        </p:spPr>
        <p:txBody>
          <a:bodyPr wrap="square" lIns="90000" tIns="90000" rIns="90000" bIns="90000">
            <a:spAutoFit/>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Calibri"/>
                <a:ea typeface="+mn-ea"/>
                <a:cs typeface="+mn-cs"/>
              </a:rPr>
              <a:t>Enabling Conditions</a:t>
            </a:r>
            <a:endParaRPr lang="en-US" sz="1400" b="1">
              <a:solidFill>
                <a:srgbClr val="000000"/>
              </a:solidFill>
              <a:latin typeface="Calibri"/>
            </a:endParaRPr>
          </a:p>
        </p:txBody>
      </p:sp>
      <p:sp>
        <p:nvSpPr>
          <p:cNvPr id="25" name="Rectangle 24">
            <a:extLst>
              <a:ext uri="{FF2B5EF4-FFF2-40B4-BE49-F238E27FC236}">
                <a16:creationId xmlns:a16="http://schemas.microsoft.com/office/drawing/2014/main" id="{A6CA6F0E-D5B3-1686-1F16-B4D700F6A446}"/>
              </a:ext>
            </a:extLst>
          </p:cNvPr>
          <p:cNvSpPr>
            <a:spLocks/>
          </p:cNvSpPr>
          <p:nvPr/>
        </p:nvSpPr>
        <p:spPr>
          <a:xfrm>
            <a:off x="146107" y="2528785"/>
            <a:ext cx="1207871" cy="553998"/>
          </a:xfrm>
          <a:prstGeom prst="rect">
            <a:avLst/>
          </a:prstGeom>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Narrower </a:t>
            </a:r>
            <a:b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b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Definition of </a:t>
            </a:r>
            <a:b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b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‘Recommendation’</a:t>
            </a:r>
          </a:p>
        </p:txBody>
      </p:sp>
      <p:pic>
        <p:nvPicPr>
          <p:cNvPr id="26" name="Picture 25">
            <a:extLst>
              <a:ext uri="{FF2B5EF4-FFF2-40B4-BE49-F238E27FC236}">
                <a16:creationId xmlns:a16="http://schemas.microsoft.com/office/drawing/2014/main" id="{5A2C42C1-1227-6FC4-09D9-60C7691BAE05}"/>
              </a:ext>
            </a:extLst>
          </p:cNvPr>
          <p:cNvPicPr>
            <a:picLocks noChangeAspect="1"/>
          </p:cNvPicPr>
          <p:nvPr/>
        </p:nvPicPr>
        <p:blipFill>
          <a:blip r:embed="rId11">
            <a:duotone>
              <a:schemeClr val="accent2">
                <a:shade val="45000"/>
                <a:satMod val="135000"/>
              </a:schemeClr>
              <a:prstClr val="white"/>
            </a:duotone>
          </a:blip>
          <a:stretch>
            <a:fillRect/>
          </a:stretch>
        </p:blipFill>
        <p:spPr>
          <a:xfrm>
            <a:off x="619254" y="2277002"/>
            <a:ext cx="282636" cy="282636"/>
          </a:xfrm>
          <a:prstGeom prst="rect">
            <a:avLst/>
          </a:prstGeom>
        </p:spPr>
      </p:pic>
      <p:cxnSp>
        <p:nvCxnSpPr>
          <p:cNvPr id="28" name="Straight Connector 27">
            <a:extLst>
              <a:ext uri="{FF2B5EF4-FFF2-40B4-BE49-F238E27FC236}">
                <a16:creationId xmlns:a16="http://schemas.microsoft.com/office/drawing/2014/main" id="{3AB0BB6F-9F33-F6D7-ADC5-F8339BCE172F}"/>
              </a:ext>
            </a:extLst>
          </p:cNvPr>
          <p:cNvCxnSpPr>
            <a:cxnSpLocks/>
          </p:cNvCxnSpPr>
          <p:nvPr/>
        </p:nvCxnSpPr>
        <p:spPr>
          <a:xfrm>
            <a:off x="237553" y="2234100"/>
            <a:ext cx="1915097"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A1D1885D-FFBF-7B4C-80FE-4D21BE3B2230}"/>
              </a:ext>
            </a:extLst>
          </p:cNvPr>
          <p:cNvGrpSpPr>
            <a:grpSpLocks/>
          </p:cNvGrpSpPr>
          <p:nvPr/>
        </p:nvGrpSpPr>
        <p:grpSpPr>
          <a:xfrm>
            <a:off x="147946" y="3449364"/>
            <a:ext cx="2100935" cy="2936358"/>
            <a:chOff x="147946" y="3216578"/>
            <a:chExt cx="2100935" cy="2936358"/>
          </a:xfrm>
        </p:grpSpPr>
        <p:sp>
          <p:nvSpPr>
            <p:cNvPr id="45" name="TextBox 44">
              <a:extLst>
                <a:ext uri="{FF2B5EF4-FFF2-40B4-BE49-F238E27FC236}">
                  <a16:creationId xmlns:a16="http://schemas.microsoft.com/office/drawing/2014/main" id="{F9601D71-8D62-1913-3191-304DD9555D59}"/>
                </a:ext>
              </a:extLst>
            </p:cNvPr>
            <p:cNvSpPr txBox="1">
              <a:spLocks/>
            </p:cNvSpPr>
            <p:nvPr/>
          </p:nvSpPr>
          <p:spPr>
            <a:xfrm>
              <a:off x="147946" y="3216578"/>
              <a:ext cx="2100935" cy="2936358"/>
            </a:xfrm>
            <a:prstGeom prst="rect">
              <a:avLst/>
            </a:prstGeom>
            <a:noFill/>
          </p:spPr>
          <p:txBody>
            <a:bodyPr wrap="square" lIns="90000" tIns="90000" rIns="90000" bIns="90000">
              <a:spAutoFit/>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Calibri"/>
                  <a:ea typeface="+mn-ea"/>
                  <a:cs typeface="+mn-cs"/>
                </a:rPr>
                <a:t>What does the Proposed Guidance say about Alerts &amp; Notifications?</a:t>
              </a:r>
              <a:endParaRPr lang="en-US" sz="1400" b="1">
                <a:solidFill>
                  <a:srgbClr val="000000"/>
                </a:solidFill>
                <a:latin typeface="Calibri"/>
              </a:endParaRP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a:ea typeface="+mn-ea"/>
                  <a:cs typeface="+mn-cs"/>
                </a:rPr>
                <a:t>OEO Dealers may use alerts and notifications as educational decision-making supports, provided they highlight facts or risks without steering investors towards a specific investment decision, and are accompanied by clear disclosures of their educational (not advisory) purpose.</a:t>
              </a:r>
            </a:p>
          </p:txBody>
        </p:sp>
        <p:cxnSp>
          <p:nvCxnSpPr>
            <p:cNvPr id="38" name="Straight Connector 37">
              <a:extLst>
                <a:ext uri="{FF2B5EF4-FFF2-40B4-BE49-F238E27FC236}">
                  <a16:creationId xmlns:a16="http://schemas.microsoft.com/office/drawing/2014/main" id="{ECB83C75-1586-83DB-552F-B82C40A90576}"/>
                </a:ext>
              </a:extLst>
            </p:cNvPr>
            <p:cNvCxnSpPr>
              <a:cxnSpLocks/>
            </p:cNvCxnSpPr>
            <p:nvPr/>
          </p:nvCxnSpPr>
          <p:spPr>
            <a:xfrm>
              <a:off x="237553" y="3991132"/>
              <a:ext cx="1915097"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ECEBECC3-DCB9-E57F-FE03-DC9411568C8B}"/>
              </a:ext>
            </a:extLst>
          </p:cNvPr>
          <p:cNvSpPr>
            <a:spLocks/>
          </p:cNvSpPr>
          <p:nvPr/>
        </p:nvSpPr>
        <p:spPr>
          <a:xfrm>
            <a:off x="1205461" y="2528785"/>
            <a:ext cx="1143617" cy="553998"/>
          </a:xfrm>
          <a:prstGeom prst="rect">
            <a:avLst/>
          </a:prstGeom>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Flexibility on ‘Push’ vs. ‘Pull’ Distinction</a:t>
            </a:r>
          </a:p>
        </p:txBody>
      </p:sp>
      <p:pic>
        <p:nvPicPr>
          <p:cNvPr id="51" name="Picture 50">
            <a:extLst>
              <a:ext uri="{FF2B5EF4-FFF2-40B4-BE49-F238E27FC236}">
                <a16:creationId xmlns:a16="http://schemas.microsoft.com/office/drawing/2014/main" id="{B51B9F2E-DEA2-F39F-26AD-C2F147A4A1EB}"/>
              </a:ext>
            </a:extLst>
          </p:cNvPr>
          <p:cNvPicPr>
            <a:picLocks noChangeAspect="1"/>
          </p:cNvPicPr>
          <p:nvPr/>
        </p:nvPicPr>
        <p:blipFill>
          <a:blip r:embed="rId12">
            <a:duotone>
              <a:schemeClr val="accent2">
                <a:shade val="45000"/>
                <a:satMod val="135000"/>
              </a:schemeClr>
              <a:prstClr val="white"/>
            </a:duotone>
          </a:blip>
          <a:stretch>
            <a:fillRect/>
          </a:stretch>
        </p:blipFill>
        <p:spPr>
          <a:xfrm>
            <a:off x="1620619" y="2264584"/>
            <a:ext cx="301404" cy="301404"/>
          </a:xfrm>
          <a:prstGeom prst="rect">
            <a:avLst/>
          </a:prstGeom>
        </p:spPr>
      </p:pic>
      <p:sp>
        <p:nvSpPr>
          <p:cNvPr id="20" name="TextBox 19">
            <a:extLst>
              <a:ext uri="{FF2B5EF4-FFF2-40B4-BE49-F238E27FC236}">
                <a16:creationId xmlns:a16="http://schemas.microsoft.com/office/drawing/2014/main" id="{230F138F-1013-F7D5-2047-9C525DAB28D0}"/>
              </a:ext>
            </a:extLst>
          </p:cNvPr>
          <p:cNvSpPr txBox="1">
            <a:spLocks/>
          </p:cNvSpPr>
          <p:nvPr/>
        </p:nvSpPr>
        <p:spPr>
          <a:xfrm>
            <a:off x="2683705" y="6369278"/>
            <a:ext cx="8841543" cy="246221"/>
          </a:xfrm>
          <a:prstGeom prst="rect">
            <a:avLst/>
          </a:prstGeom>
          <a:noFill/>
        </p:spPr>
        <p:txBody>
          <a:bodyPr wrap="square" lIns="0" tIns="0" rIns="0" bIns="0" rtlCol="0" anchor="b">
            <a:spAutoFit/>
          </a:bodyPr>
          <a:lstStyle/>
          <a:p>
            <a:pPr>
              <a:buSzPct val="100000"/>
            </a:pPr>
            <a:r>
              <a:rPr lang="en-CA" sz="800">
                <a:solidFill>
                  <a:srgbClr val="313131"/>
                </a:solidFill>
              </a:rPr>
              <a:t>Notes: 1. </a:t>
            </a:r>
            <a:r>
              <a:rPr lang="en-US" sz="800">
                <a:solidFill>
                  <a:srgbClr val="313131"/>
                </a:solidFill>
              </a:rPr>
              <a:t>DBS uses past interaction data to deliver over 30 million hyper-personalized financial nudges monthly, leveraging 15,000+ data points such as unusual bill payments, favorable rates. 2. For Betterment &amp; Wealthfront, clients who over-allocate to certain assets receive alerts prompting them to reconsider potential long-term effects on retirement goals or tax liabilities.</a:t>
            </a:r>
          </a:p>
        </p:txBody>
      </p:sp>
      <p:sp>
        <p:nvSpPr>
          <p:cNvPr id="16" name="TextBox 15">
            <a:extLst>
              <a:ext uri="{FF2B5EF4-FFF2-40B4-BE49-F238E27FC236}">
                <a16:creationId xmlns:a16="http://schemas.microsoft.com/office/drawing/2014/main" id="{FD5CA02B-D904-3072-5B07-FE927F090EC2}"/>
              </a:ext>
            </a:extLst>
          </p:cNvPr>
          <p:cNvSpPr txBox="1">
            <a:spLocks/>
          </p:cNvSpPr>
          <p:nvPr/>
        </p:nvSpPr>
        <p:spPr>
          <a:xfrm>
            <a:off x="6525357" y="6029960"/>
            <a:ext cx="1719793" cy="261610"/>
          </a:xfrm>
          <a:prstGeom prst="rect">
            <a:avLst/>
          </a:prstGeom>
          <a:noFill/>
        </p:spPr>
        <p:txBody>
          <a:bodyPr vert="horz" wrap="square" lIns="0" tIns="45720" rIns="0" bIns="45720" rtlCol="0" anchor="ctr">
            <a:spAutoFit/>
          </a:bodyPr>
          <a:lstStyle/>
          <a:p>
            <a:pPr lvl="0" algn="ctr">
              <a:defRPr/>
            </a:pPr>
            <a:r>
              <a:rPr lang="en-US" sz="1100" i="1">
                <a:solidFill>
                  <a:srgbClr val="000000"/>
                </a:solidFill>
              </a:rPr>
              <a:t>← </a:t>
            </a:r>
            <a:r>
              <a:rPr kumimoji="0" lang="en-US" sz="1100" i="1" u="none" strike="noStrike" kern="1200" cap="none" spc="0" normalizeH="0" baseline="0" noProof="0">
                <a:ln>
                  <a:noFill/>
                </a:ln>
                <a:solidFill>
                  <a:srgbClr val="000000"/>
                </a:solidFill>
                <a:effectLst/>
                <a:uLnTx/>
                <a:uFillTx/>
                <a:latin typeface="+mj-lt"/>
                <a:ea typeface="+mn-ea"/>
                <a:cs typeface="+mn-cs"/>
              </a:rPr>
              <a:t>Advice Type →</a:t>
            </a:r>
          </a:p>
        </p:txBody>
      </p:sp>
    </p:spTree>
    <p:extLst>
      <p:ext uri="{BB962C8B-B14F-4D97-AF65-F5344CB8AC3E}">
        <p14:creationId xmlns:p14="http://schemas.microsoft.com/office/powerpoint/2010/main" val="249244273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29083638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6150" name="Picture 6">
            <a:extLst>
              <a:ext uri="{FF2B5EF4-FFF2-40B4-BE49-F238E27FC236}">
                <a16:creationId xmlns:a16="http://schemas.microsoft.com/office/drawing/2014/main" id="{2EFE0468-9794-8197-A52B-09760B61E1D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809001" y="2618464"/>
            <a:ext cx="1558605" cy="51902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B894F210-454E-D1BF-5780-6BBE64FCEA7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646879" y="3010873"/>
            <a:ext cx="1224904" cy="525847"/>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a:extLst>
              <a:ext uri="{FF2B5EF4-FFF2-40B4-BE49-F238E27FC236}">
                <a16:creationId xmlns:a16="http://schemas.microsoft.com/office/drawing/2014/main" id="{4BAC3F2C-D513-066A-57E4-7CBB42CD8E1F}"/>
              </a:ext>
            </a:extLst>
          </p:cNvPr>
          <p:cNvSpPr txBox="1">
            <a:spLocks/>
          </p:cNvSpPr>
          <p:nvPr/>
        </p:nvSpPr>
        <p:spPr>
          <a:xfrm>
            <a:off x="2685998" y="4951057"/>
            <a:ext cx="4148415" cy="1461939"/>
          </a:xfrm>
          <a:prstGeom prst="rect">
            <a:avLst/>
          </a:prstGeom>
          <a:noFill/>
        </p:spPr>
        <p:txBody>
          <a:bodyPr wrap="square">
            <a:spAutoFit/>
          </a:bodyPr>
          <a:lstStyle/>
          <a:p>
            <a:pPr marL="171450" indent="-171450">
              <a:spcAft>
                <a:spcPts val="600"/>
              </a:spcAft>
              <a:buBlip>
                <a:blip r:embed="rId8"/>
              </a:buBlip>
            </a:pPr>
            <a:r>
              <a:rPr lang="en-US" sz="1200" b="1" i="0">
                <a:solidFill>
                  <a:srgbClr val="000000"/>
                </a:solidFill>
                <a:effectLst/>
                <a:latin typeface="+mj-lt"/>
              </a:rPr>
              <a:t>Nudges: </a:t>
            </a:r>
            <a:r>
              <a:rPr lang="en-US" sz="1200" i="0">
                <a:solidFill>
                  <a:srgbClr val="000000"/>
                </a:solidFill>
                <a:effectLst/>
                <a:latin typeface="+mj-lt"/>
              </a:rPr>
              <a:t>Notifications that present real-time events (e.g., idle cash, dividends) as teachable moments</a:t>
            </a:r>
          </a:p>
          <a:p>
            <a:pPr marL="171450" indent="-171450">
              <a:spcAft>
                <a:spcPts val="600"/>
              </a:spcAft>
              <a:buBlip>
                <a:blip r:embed="rId8"/>
              </a:buBlip>
            </a:pPr>
            <a:r>
              <a:rPr lang="en-US" sz="1200" b="1" i="0">
                <a:solidFill>
                  <a:srgbClr val="000000"/>
                </a:solidFill>
                <a:effectLst/>
                <a:latin typeface="+mj-lt"/>
              </a:rPr>
              <a:t>Macro Event Alerts: </a:t>
            </a:r>
            <a:r>
              <a:rPr lang="en-US" sz="1200">
                <a:solidFill>
                  <a:srgbClr val="000000"/>
                </a:solidFill>
                <a:latin typeface="+mj-lt"/>
              </a:rPr>
              <a:t>Real-time warnings following central bank actions or geopolitical shocks explain how such events can influence interest rates, sectors, and an investor’s portfolio risk or performance, without steering the investor toward specific investment decisions</a:t>
            </a:r>
            <a:endParaRPr lang="en-US" sz="1200" i="0">
              <a:solidFill>
                <a:srgbClr val="000000"/>
              </a:solidFill>
              <a:effectLst/>
              <a:latin typeface="+mj-lt"/>
            </a:endParaRPr>
          </a:p>
        </p:txBody>
      </p:sp>
      <p:sp>
        <p:nvSpPr>
          <p:cNvPr id="40" name="Text Placeholder 1">
            <a:extLst>
              <a:ext uri="{FF2B5EF4-FFF2-40B4-BE49-F238E27FC236}">
                <a16:creationId xmlns:a16="http://schemas.microsoft.com/office/drawing/2014/main" id="{FFC3577E-EB6F-24D5-8168-BF6E883CE2D7}"/>
              </a:ext>
            </a:extLst>
          </p:cNvPr>
          <p:cNvSpPr>
            <a:spLocks noGrp="1"/>
          </p:cNvSpPr>
          <p:nvPr>
            <p:ph type="body" sz="quarter" idx="21"/>
          </p:nvPr>
        </p:nvSpPr>
        <p:spPr>
          <a:xfrm>
            <a:off x="2683706" y="651600"/>
            <a:ext cx="9006644" cy="757255"/>
          </a:xfrm>
        </p:spPr>
        <p:txBody>
          <a:bodyPr/>
          <a:lstStyle/>
          <a:p>
            <a:r>
              <a:rPr lang="en-US"/>
              <a:t>Investor education in OEOs will evolve from primarily static content to more active and personalized learning, which is likely to deepen investor engagement with OEOs</a:t>
            </a:r>
          </a:p>
        </p:txBody>
      </p:sp>
      <p:sp>
        <p:nvSpPr>
          <p:cNvPr id="43" name="Title 3">
            <a:extLst>
              <a:ext uri="{FF2B5EF4-FFF2-40B4-BE49-F238E27FC236}">
                <a16:creationId xmlns:a16="http://schemas.microsoft.com/office/drawing/2014/main" id="{685809F2-11C2-C9A4-1F90-72F34DDB6D37}"/>
              </a:ext>
            </a:extLst>
          </p:cNvPr>
          <p:cNvSpPr txBox="1">
            <a:spLocks/>
          </p:cNvSpPr>
          <p:nvPr/>
        </p:nvSpPr>
        <p:spPr bwMode="gray">
          <a:xfrm>
            <a:off x="2683706" y="317500"/>
            <a:ext cx="9006644"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en-US"/>
              <a:t>Decision-Making Supports: Educational Information</a:t>
            </a:r>
          </a:p>
        </p:txBody>
      </p:sp>
      <p:grpSp>
        <p:nvGrpSpPr>
          <p:cNvPr id="8" name="Group 7">
            <a:extLst>
              <a:ext uri="{FF2B5EF4-FFF2-40B4-BE49-F238E27FC236}">
                <a16:creationId xmlns:a16="http://schemas.microsoft.com/office/drawing/2014/main" id="{FE1D8EE1-B0A5-5A26-8D80-E90297637F75}"/>
              </a:ext>
            </a:extLst>
          </p:cNvPr>
          <p:cNvGrpSpPr>
            <a:grpSpLocks/>
          </p:cNvGrpSpPr>
          <p:nvPr/>
        </p:nvGrpSpPr>
        <p:grpSpPr>
          <a:xfrm>
            <a:off x="2683707" y="1409884"/>
            <a:ext cx="8950574" cy="351268"/>
            <a:chOff x="2683707" y="1409884"/>
            <a:chExt cx="8950574" cy="351268"/>
          </a:xfrm>
        </p:grpSpPr>
        <p:cxnSp>
          <p:nvCxnSpPr>
            <p:cNvPr id="16" name="Straight Connector 15">
              <a:extLst>
                <a:ext uri="{FF2B5EF4-FFF2-40B4-BE49-F238E27FC236}">
                  <a16:creationId xmlns:a16="http://schemas.microsoft.com/office/drawing/2014/main" id="{6CB0C158-705D-495B-E028-FCBE74341469}"/>
                </a:ext>
              </a:extLst>
            </p:cNvPr>
            <p:cNvCxnSpPr>
              <a:cxnSpLocks/>
            </p:cNvCxnSpPr>
            <p:nvPr/>
          </p:nvCxnSpPr>
          <p:spPr>
            <a:xfrm>
              <a:off x="2683707" y="1749957"/>
              <a:ext cx="8950574" cy="0"/>
            </a:xfrm>
            <a:prstGeom prst="line">
              <a:avLst/>
            </a:prstGeom>
            <a:ln w="317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8F35BA3-854F-8526-FBF3-03CEB2A30B8D}"/>
                </a:ext>
              </a:extLst>
            </p:cNvPr>
            <p:cNvSpPr txBox="1">
              <a:spLocks/>
            </p:cNvSpPr>
            <p:nvPr/>
          </p:nvSpPr>
          <p:spPr>
            <a:xfrm>
              <a:off x="5119483" y="1409884"/>
              <a:ext cx="4059223" cy="351268"/>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000000"/>
                  </a:solidFill>
                  <a:effectLst/>
                  <a:uLnTx/>
                  <a:uFillTx/>
                  <a:latin typeface="Calibri" panose="020F0502020204030204" pitchFamily="34" charset="0"/>
                  <a:ea typeface="+mn-ea"/>
                  <a:cs typeface="+mn-cs"/>
                </a:rPr>
                <a:t>Before Proposed Guidance</a:t>
              </a:r>
              <a:r>
                <a:rPr kumimoji="0" lang="en-US" sz="16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 Mostly Static</a:t>
              </a:r>
            </a:p>
          </p:txBody>
        </p:sp>
      </p:grpSp>
      <p:sp>
        <p:nvSpPr>
          <p:cNvPr id="38" name="TextBox 37">
            <a:extLst>
              <a:ext uri="{FF2B5EF4-FFF2-40B4-BE49-F238E27FC236}">
                <a16:creationId xmlns:a16="http://schemas.microsoft.com/office/drawing/2014/main" id="{3AD3AF08-7212-5856-F5FA-3CF607E31905}"/>
              </a:ext>
            </a:extLst>
          </p:cNvPr>
          <p:cNvSpPr txBox="1">
            <a:spLocks/>
          </p:cNvSpPr>
          <p:nvPr/>
        </p:nvSpPr>
        <p:spPr>
          <a:xfrm>
            <a:off x="2683706" y="1789106"/>
            <a:ext cx="8632113"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a:solidFill>
                  <a:srgbClr val="000000"/>
                </a:solidFill>
                <a:latin typeface="+mj-lt"/>
              </a:rPr>
              <a:t>Investor education largely generic, pre-packaged, and user-initiated. Investors pull resources from libraries or attend scheduled webinars, with limited proactive or contextual delivery</a:t>
            </a:r>
            <a:endParaRPr kumimoji="0" lang="en-US" sz="1400" b="0" i="1" u="none" strike="noStrike" kern="1200" cap="none" spc="0" normalizeH="0" baseline="0" noProof="0">
              <a:ln>
                <a:noFill/>
              </a:ln>
              <a:solidFill>
                <a:srgbClr val="000000"/>
              </a:solidFill>
              <a:effectLst/>
              <a:uLnTx/>
              <a:uFillTx/>
              <a:latin typeface="+mj-lt"/>
              <a:ea typeface="+mn-ea"/>
              <a:cs typeface="+mn-cs"/>
            </a:endParaRPr>
          </a:p>
        </p:txBody>
      </p:sp>
      <p:sp>
        <p:nvSpPr>
          <p:cNvPr id="51" name="TextBox 50">
            <a:extLst>
              <a:ext uri="{FF2B5EF4-FFF2-40B4-BE49-F238E27FC236}">
                <a16:creationId xmlns:a16="http://schemas.microsoft.com/office/drawing/2014/main" id="{4827B42C-09D6-7894-A7CA-FE35E97AA221}"/>
              </a:ext>
            </a:extLst>
          </p:cNvPr>
          <p:cNvSpPr txBox="1">
            <a:spLocks/>
          </p:cNvSpPr>
          <p:nvPr/>
        </p:nvSpPr>
        <p:spPr>
          <a:xfrm>
            <a:off x="4759908" y="2513801"/>
            <a:ext cx="6874373" cy="800219"/>
          </a:xfrm>
          <a:prstGeom prst="rect">
            <a:avLst/>
          </a:prstGeom>
          <a:noFill/>
        </p:spPr>
        <p:txBody>
          <a:bodyPr wrap="square">
            <a:spAutoFit/>
          </a:bodyPr>
          <a:lstStyle/>
          <a:p>
            <a:pPr marL="171450" indent="-171450">
              <a:spcAft>
                <a:spcPts val="600"/>
              </a:spcAft>
              <a:buFont typeface="Wingdings" panose="05000000000000000000" pitchFamily="2" charset="2"/>
              <a:buChar char="§"/>
            </a:pPr>
            <a:r>
              <a:rPr lang="en-US" sz="1200" b="1" i="0">
                <a:solidFill>
                  <a:srgbClr val="000000"/>
                </a:solidFill>
                <a:effectLst/>
                <a:latin typeface="+mj-lt"/>
              </a:rPr>
              <a:t>Media Libraries &amp; Articles</a:t>
            </a:r>
            <a:r>
              <a:rPr lang="en-US" sz="1200" b="0" i="0">
                <a:solidFill>
                  <a:srgbClr val="000000"/>
                </a:solidFill>
                <a:effectLst/>
                <a:latin typeface="+mj-lt"/>
              </a:rPr>
              <a:t>: Static ‘Learn</a:t>
            </a:r>
            <a:r>
              <a:rPr lang="en-US" sz="1200">
                <a:solidFill>
                  <a:srgbClr val="000000"/>
                </a:solidFill>
                <a:latin typeface="+mj-lt"/>
              </a:rPr>
              <a:t>’</a:t>
            </a:r>
            <a:r>
              <a:rPr lang="en-US" sz="1200" b="0" i="0">
                <a:solidFill>
                  <a:srgbClr val="000000"/>
                </a:solidFill>
                <a:effectLst/>
                <a:latin typeface="+mj-lt"/>
              </a:rPr>
              <a:t> hubs, FAQs, PDFs, glossaries</a:t>
            </a:r>
          </a:p>
          <a:p>
            <a:pPr marL="171450" indent="-171450">
              <a:spcAft>
                <a:spcPts val="600"/>
              </a:spcAft>
              <a:buFont typeface="Wingdings" panose="05000000000000000000" pitchFamily="2" charset="2"/>
              <a:buChar char="§"/>
            </a:pPr>
            <a:r>
              <a:rPr lang="en-US" sz="1200" b="1" i="0">
                <a:solidFill>
                  <a:srgbClr val="000000"/>
                </a:solidFill>
                <a:effectLst/>
                <a:latin typeface="+mj-lt"/>
              </a:rPr>
              <a:t>Webinars &amp; Online </a:t>
            </a:r>
            <a:r>
              <a:rPr lang="en-US" sz="1200" b="1">
                <a:solidFill>
                  <a:srgbClr val="000000"/>
                </a:solidFill>
                <a:latin typeface="+mj-lt"/>
              </a:rPr>
              <a:t>C</a:t>
            </a:r>
            <a:r>
              <a:rPr lang="en-US" sz="1200" b="1" i="0">
                <a:solidFill>
                  <a:srgbClr val="000000"/>
                </a:solidFill>
                <a:effectLst/>
                <a:latin typeface="+mj-lt"/>
              </a:rPr>
              <a:t>lasses</a:t>
            </a:r>
            <a:r>
              <a:rPr lang="en-US" sz="1200" b="0" i="0">
                <a:solidFill>
                  <a:srgbClr val="000000"/>
                </a:solidFill>
                <a:effectLst/>
                <a:latin typeface="+mj-lt"/>
              </a:rPr>
              <a:t>: Scheduled sessions, but require investor opt in</a:t>
            </a:r>
          </a:p>
          <a:p>
            <a:pPr marL="171450" indent="-171450">
              <a:spcAft>
                <a:spcPts val="600"/>
              </a:spcAft>
              <a:buFont typeface="Wingdings" panose="05000000000000000000" pitchFamily="2" charset="2"/>
              <a:buChar char="§"/>
            </a:pPr>
            <a:r>
              <a:rPr lang="en-US" sz="1200" b="1" i="0">
                <a:solidFill>
                  <a:srgbClr val="000000"/>
                </a:solidFill>
                <a:effectLst/>
                <a:latin typeface="+mj-lt"/>
              </a:rPr>
              <a:t>Calculators &amp; Generic </a:t>
            </a:r>
            <a:r>
              <a:rPr lang="en-US" sz="1200" b="1">
                <a:solidFill>
                  <a:srgbClr val="000000"/>
                </a:solidFill>
                <a:latin typeface="+mj-lt"/>
              </a:rPr>
              <a:t>T</a:t>
            </a:r>
            <a:r>
              <a:rPr lang="en-US" sz="1200" b="1" i="0">
                <a:solidFill>
                  <a:srgbClr val="000000"/>
                </a:solidFill>
                <a:effectLst/>
                <a:latin typeface="+mj-lt"/>
              </a:rPr>
              <a:t>ools</a:t>
            </a:r>
            <a:r>
              <a:rPr lang="en-US" sz="1200" b="0" i="0">
                <a:solidFill>
                  <a:srgbClr val="000000"/>
                </a:solidFill>
                <a:effectLst/>
                <a:latin typeface="+mj-lt"/>
              </a:rPr>
              <a:t>: TFSA/RRSP calculators, retirement estimators, margin guides</a:t>
            </a:r>
          </a:p>
        </p:txBody>
      </p:sp>
      <p:cxnSp>
        <p:nvCxnSpPr>
          <p:cNvPr id="58" name="Straight Connector 57">
            <a:extLst>
              <a:ext uri="{FF2B5EF4-FFF2-40B4-BE49-F238E27FC236}">
                <a16:creationId xmlns:a16="http://schemas.microsoft.com/office/drawing/2014/main" id="{3F595AC3-2689-8C41-6D27-E77A4D4240F8}"/>
              </a:ext>
            </a:extLst>
          </p:cNvPr>
          <p:cNvCxnSpPr>
            <a:cxnSpLocks/>
          </p:cNvCxnSpPr>
          <p:nvPr/>
        </p:nvCxnSpPr>
        <p:spPr>
          <a:xfrm>
            <a:off x="2685998" y="4362238"/>
            <a:ext cx="4148415"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97E79362-05BA-4178-06CB-587E932F1857}"/>
              </a:ext>
            </a:extLst>
          </p:cNvPr>
          <p:cNvSpPr txBox="1">
            <a:spLocks/>
          </p:cNvSpPr>
          <p:nvPr/>
        </p:nvSpPr>
        <p:spPr>
          <a:xfrm>
            <a:off x="2683706" y="4022165"/>
            <a:ext cx="4148415" cy="351268"/>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000000"/>
                </a:solidFill>
                <a:effectLst/>
                <a:uLnTx/>
                <a:uFillTx/>
                <a:latin typeface="Calibri" panose="020F0502020204030204" pitchFamily="34" charset="0"/>
                <a:ea typeface="+mn-ea"/>
                <a:cs typeface="+mn-cs"/>
              </a:rPr>
              <a:t>After Proposed Guidance</a:t>
            </a:r>
            <a:r>
              <a:rPr kumimoji="0" lang="en-US" sz="16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 Proactive</a:t>
            </a:r>
            <a:endParaRPr kumimoji="0" lang="en-US" sz="1600" b="1" i="1"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64" name="TextBox 63">
            <a:extLst>
              <a:ext uri="{FF2B5EF4-FFF2-40B4-BE49-F238E27FC236}">
                <a16:creationId xmlns:a16="http://schemas.microsoft.com/office/drawing/2014/main" id="{01B66A2B-EBF2-3BEB-DB89-1E92286616EF}"/>
              </a:ext>
            </a:extLst>
          </p:cNvPr>
          <p:cNvSpPr txBox="1">
            <a:spLocks/>
          </p:cNvSpPr>
          <p:nvPr/>
        </p:nvSpPr>
        <p:spPr>
          <a:xfrm>
            <a:off x="2685998" y="4401387"/>
            <a:ext cx="414841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a:solidFill>
                  <a:srgbClr val="000000"/>
                </a:solidFill>
                <a:latin typeface="+mj-lt"/>
              </a:rPr>
              <a:t>Education delivered in real time, triggered by events or actions rather than being buried in a library</a:t>
            </a:r>
            <a:endParaRPr kumimoji="0" lang="en-US" sz="1400" b="0" i="1" u="none" strike="noStrike" kern="1200" cap="none" spc="0" normalizeH="0" baseline="0" noProof="0">
              <a:ln>
                <a:noFill/>
              </a:ln>
              <a:solidFill>
                <a:srgbClr val="000000"/>
              </a:solidFill>
              <a:effectLst/>
              <a:uLnTx/>
              <a:uFillTx/>
              <a:latin typeface="+mj-lt"/>
              <a:ea typeface="+mn-ea"/>
              <a:cs typeface="+mn-cs"/>
            </a:endParaRPr>
          </a:p>
        </p:txBody>
      </p:sp>
      <p:cxnSp>
        <p:nvCxnSpPr>
          <p:cNvPr id="68" name="Straight Connector 67">
            <a:extLst>
              <a:ext uri="{FF2B5EF4-FFF2-40B4-BE49-F238E27FC236}">
                <a16:creationId xmlns:a16="http://schemas.microsoft.com/office/drawing/2014/main" id="{5E3850BE-A156-FE84-6A67-9957AAC3961F}"/>
              </a:ext>
            </a:extLst>
          </p:cNvPr>
          <p:cNvCxnSpPr>
            <a:cxnSpLocks/>
          </p:cNvCxnSpPr>
          <p:nvPr/>
        </p:nvCxnSpPr>
        <p:spPr>
          <a:xfrm>
            <a:off x="7485866" y="4362238"/>
            <a:ext cx="4148415"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369DC774-CFFB-DACC-B87C-27885BA5A82C}"/>
              </a:ext>
            </a:extLst>
          </p:cNvPr>
          <p:cNvSpPr txBox="1">
            <a:spLocks/>
          </p:cNvSpPr>
          <p:nvPr/>
        </p:nvSpPr>
        <p:spPr>
          <a:xfrm>
            <a:off x="7483573" y="4022165"/>
            <a:ext cx="4148415" cy="351268"/>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000000"/>
                </a:solidFill>
                <a:effectLst/>
                <a:uLnTx/>
                <a:uFillTx/>
                <a:latin typeface="Calibri" panose="020F0502020204030204" pitchFamily="34" charset="0"/>
                <a:ea typeface="+mn-ea"/>
                <a:cs typeface="+mn-cs"/>
              </a:rPr>
              <a:t>After Proposed Guidance</a:t>
            </a:r>
            <a:r>
              <a:rPr kumimoji="0" lang="en-US" sz="16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 Personalized</a:t>
            </a:r>
            <a:endParaRPr kumimoji="0" lang="en-US" sz="1600" b="1" i="1"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71" name="TextBox 70">
            <a:extLst>
              <a:ext uri="{FF2B5EF4-FFF2-40B4-BE49-F238E27FC236}">
                <a16:creationId xmlns:a16="http://schemas.microsoft.com/office/drawing/2014/main" id="{CA07EFB2-E529-ABBE-AD7A-036113EC36F5}"/>
              </a:ext>
            </a:extLst>
          </p:cNvPr>
          <p:cNvSpPr txBox="1">
            <a:spLocks/>
          </p:cNvSpPr>
          <p:nvPr/>
        </p:nvSpPr>
        <p:spPr>
          <a:xfrm>
            <a:off x="7542476" y="4401387"/>
            <a:ext cx="4148415"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i="1">
                <a:solidFill>
                  <a:srgbClr val="000000"/>
                </a:solidFill>
                <a:latin typeface="+mj-lt"/>
              </a:rPr>
              <a:t>Educational content adapts to investors based on what they own, how they trade and stated goals</a:t>
            </a:r>
            <a:endParaRPr kumimoji="0" lang="en-US" sz="1400" b="0" i="1" u="none" strike="noStrike" kern="1200" cap="none" spc="0" normalizeH="0" baseline="0" noProof="0">
              <a:ln>
                <a:noFill/>
              </a:ln>
              <a:solidFill>
                <a:srgbClr val="000000"/>
              </a:solidFill>
              <a:effectLst/>
              <a:uLnTx/>
              <a:uFillTx/>
              <a:latin typeface="+mj-lt"/>
              <a:ea typeface="+mn-ea"/>
              <a:cs typeface="+mn-cs"/>
            </a:endParaRPr>
          </a:p>
        </p:txBody>
      </p:sp>
      <p:pic>
        <p:nvPicPr>
          <p:cNvPr id="6148" name="Picture 4">
            <a:extLst>
              <a:ext uri="{FF2B5EF4-FFF2-40B4-BE49-F238E27FC236}">
                <a16:creationId xmlns:a16="http://schemas.microsoft.com/office/drawing/2014/main" id="{E9CD8848-539A-CBE7-20DF-424AF2779EC7}"/>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804325" y="2411958"/>
            <a:ext cx="1656153" cy="236991"/>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73">
            <a:extLst>
              <a:ext uri="{FF2B5EF4-FFF2-40B4-BE49-F238E27FC236}">
                <a16:creationId xmlns:a16="http://schemas.microsoft.com/office/drawing/2014/main" id="{2452855B-D90C-FBB6-3ABB-834413BA8DAC}"/>
              </a:ext>
            </a:extLst>
          </p:cNvPr>
          <p:cNvPicPr>
            <a:picLocks noChangeAspect="1"/>
          </p:cNvPicPr>
          <p:nvPr/>
        </p:nvPicPr>
        <p:blipFill>
          <a:blip r:embed="rId10"/>
          <a:stretch>
            <a:fillRect/>
          </a:stretch>
        </p:blipFill>
        <p:spPr>
          <a:xfrm>
            <a:off x="2752054" y="3069165"/>
            <a:ext cx="934431" cy="489464"/>
          </a:xfrm>
          <a:prstGeom prst="rect">
            <a:avLst/>
          </a:prstGeom>
        </p:spPr>
      </p:pic>
      <p:sp>
        <p:nvSpPr>
          <p:cNvPr id="77" name="TextBox 76">
            <a:extLst>
              <a:ext uri="{FF2B5EF4-FFF2-40B4-BE49-F238E27FC236}">
                <a16:creationId xmlns:a16="http://schemas.microsoft.com/office/drawing/2014/main" id="{C9DA74E1-B028-ECE3-CE69-A54001DA8D38}"/>
              </a:ext>
            </a:extLst>
          </p:cNvPr>
          <p:cNvSpPr txBox="1">
            <a:spLocks/>
          </p:cNvSpPr>
          <p:nvPr/>
        </p:nvSpPr>
        <p:spPr>
          <a:xfrm>
            <a:off x="7542477" y="4952339"/>
            <a:ext cx="4089512" cy="1461939"/>
          </a:xfrm>
          <a:prstGeom prst="rect">
            <a:avLst/>
          </a:prstGeom>
          <a:noFill/>
        </p:spPr>
        <p:txBody>
          <a:bodyPr wrap="square">
            <a:spAutoFit/>
          </a:bodyPr>
          <a:lstStyle/>
          <a:p>
            <a:pPr marL="171450" indent="-171450">
              <a:spcAft>
                <a:spcPts val="600"/>
              </a:spcAft>
              <a:buBlip>
                <a:blip r:embed="rId8"/>
              </a:buBlip>
            </a:pPr>
            <a:r>
              <a:rPr lang="en-US" sz="1200" b="1" i="0">
                <a:solidFill>
                  <a:srgbClr val="000000"/>
                </a:solidFill>
                <a:effectLst/>
                <a:latin typeface="+mj-lt"/>
              </a:rPr>
              <a:t>Portfolio-Based Insights: </a:t>
            </a:r>
            <a:r>
              <a:rPr lang="en-US" sz="1200" i="0">
                <a:solidFill>
                  <a:srgbClr val="000000"/>
                </a:solidFill>
                <a:effectLst/>
                <a:latin typeface="+mj-lt"/>
              </a:rPr>
              <a:t>Educational nudges when an investor’s portfolio diverges from their profile or model</a:t>
            </a:r>
            <a:r>
              <a:rPr lang="en-US" sz="1200">
                <a:solidFill>
                  <a:srgbClr val="000000"/>
                </a:solidFill>
                <a:latin typeface="+mj-lt"/>
              </a:rPr>
              <a:t> (</a:t>
            </a:r>
            <a:r>
              <a:rPr lang="en-US" sz="1200" i="0">
                <a:solidFill>
                  <a:srgbClr val="000000"/>
                </a:solidFill>
                <a:effectLst/>
                <a:latin typeface="+mj-lt"/>
              </a:rPr>
              <a:t>e.g., “Your portfolio is 70% tech vs. 60% target. Learn about concentration risk”)</a:t>
            </a:r>
          </a:p>
          <a:p>
            <a:pPr marL="171450" indent="-171450">
              <a:spcAft>
                <a:spcPts val="600"/>
              </a:spcAft>
              <a:buBlip>
                <a:blip r:embed="rId8"/>
              </a:buBlip>
            </a:pPr>
            <a:r>
              <a:rPr lang="en-US" sz="1200" b="1">
                <a:solidFill>
                  <a:srgbClr val="000000"/>
                </a:solidFill>
                <a:latin typeface="+mj-lt"/>
              </a:rPr>
              <a:t>Event-Based Learning Prompts: </a:t>
            </a:r>
            <a:r>
              <a:rPr lang="en-US" sz="1200">
                <a:solidFill>
                  <a:srgbClr val="000000"/>
                </a:solidFill>
                <a:latin typeface="+mj-lt"/>
              </a:rPr>
              <a:t>Triggered by specific investor activity (e.g., frequent options trading may trigger content on volatility and margin risk)</a:t>
            </a:r>
          </a:p>
        </p:txBody>
      </p:sp>
      <p:sp>
        <p:nvSpPr>
          <p:cNvPr id="26" name="Rectangle 25">
            <a:extLst>
              <a:ext uri="{FF2B5EF4-FFF2-40B4-BE49-F238E27FC236}">
                <a16:creationId xmlns:a16="http://schemas.microsoft.com/office/drawing/2014/main" id="{F8BE3E71-74EA-283B-2D6E-3A772E188C87}"/>
              </a:ext>
            </a:extLst>
          </p:cNvPr>
          <p:cNvSpPr>
            <a:spLocks/>
          </p:cNvSpPr>
          <p:nvPr/>
        </p:nvSpPr>
        <p:spPr>
          <a:xfrm>
            <a:off x="-3474" y="0"/>
            <a:ext cx="2484000" cy="6855614"/>
          </a:xfrm>
          <a:prstGeom prst="rect">
            <a:avLst/>
          </a:prstGeom>
          <a:solidFill>
            <a:srgbClr val="E8F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35" name="Slide Number Placeholder 4">
            <a:extLst>
              <a:ext uri="{FF2B5EF4-FFF2-40B4-BE49-F238E27FC236}">
                <a16:creationId xmlns:a16="http://schemas.microsoft.com/office/drawing/2014/main" id="{5299CD15-C5A6-BC2C-489E-D270A27140DE}"/>
              </a:ext>
            </a:extLst>
          </p:cNvPr>
          <p:cNvSpPr>
            <a:spLocks noGrp="1"/>
          </p:cNvSpPr>
          <p:nvPr>
            <p:ph type="sldNum" sz="quarter" idx="4"/>
          </p:nvPr>
        </p:nvSpPr>
        <p:spPr>
          <a:xfrm>
            <a:off x="11346395" y="6477000"/>
            <a:ext cx="343955" cy="138499"/>
          </a:xfrm>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13</a:t>
            </a:fld>
            <a:endParaRPr lang="en-US"/>
          </a:p>
        </p:txBody>
      </p:sp>
      <p:sp>
        <p:nvSpPr>
          <p:cNvPr id="34" name="Title 1">
            <a:extLst>
              <a:ext uri="{FF2B5EF4-FFF2-40B4-BE49-F238E27FC236}">
                <a16:creationId xmlns:a16="http://schemas.microsoft.com/office/drawing/2014/main" id="{754133FB-17C6-F4FA-927F-A019B843C474}"/>
              </a:ext>
            </a:extLst>
          </p:cNvPr>
          <p:cNvSpPr>
            <a:spLocks noGrp="1"/>
          </p:cNvSpPr>
          <p:nvPr>
            <p:ph type="title"/>
          </p:nvPr>
        </p:nvSpPr>
        <p:spPr>
          <a:xfrm>
            <a:off x="147946" y="994139"/>
            <a:ext cx="2100935" cy="452628"/>
          </a:xfrm>
        </p:spPr>
        <p:txBody>
          <a:bodyPr vert="horz" lIns="90000" tIns="90000" rIns="90000" bIns="90000"/>
          <a:lstStyle/>
          <a:p>
            <a:r>
              <a:rPr lang="en-US" sz="2400" b="1"/>
              <a:t>Educational Information</a:t>
            </a:r>
          </a:p>
        </p:txBody>
      </p:sp>
      <p:sp>
        <p:nvSpPr>
          <p:cNvPr id="41" name="TextBox 40">
            <a:extLst>
              <a:ext uri="{FF2B5EF4-FFF2-40B4-BE49-F238E27FC236}">
                <a16:creationId xmlns:a16="http://schemas.microsoft.com/office/drawing/2014/main" id="{D984B3E4-BBF9-3292-0B1B-A0F4C006C928}"/>
              </a:ext>
            </a:extLst>
          </p:cNvPr>
          <p:cNvSpPr txBox="1">
            <a:spLocks/>
          </p:cNvSpPr>
          <p:nvPr/>
        </p:nvSpPr>
        <p:spPr>
          <a:xfrm>
            <a:off x="147946" y="3449364"/>
            <a:ext cx="2100935" cy="2567026"/>
          </a:xfrm>
          <a:prstGeom prst="rect">
            <a:avLst/>
          </a:prstGeom>
          <a:noFill/>
        </p:spPr>
        <p:txBody>
          <a:bodyPr wrap="square" lIns="90000" tIns="90000" rIns="90000" bIns="90000">
            <a:spAutoFit/>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Calibri"/>
                <a:ea typeface="+mn-ea"/>
                <a:cs typeface="+mn-cs"/>
              </a:rPr>
              <a:t>What does the Proposed Guidance say about Educational Information?</a:t>
            </a:r>
            <a:endParaRPr lang="en-US" sz="1400" b="1">
              <a:solidFill>
                <a:srgbClr val="000000"/>
              </a:solidFill>
              <a:latin typeface="Calibri"/>
            </a:endParaRP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a:ea typeface="+mn-ea"/>
                <a:cs typeface="+mn-cs"/>
              </a:rPr>
              <a:t>OEO Dealers may provide educational information, so long as it contains general and factual information, does not endorse specific investment decisions, and is delivered with safeguards such as clear disclosures and conflict of interest management.</a:t>
            </a:r>
          </a:p>
        </p:txBody>
      </p:sp>
      <p:cxnSp>
        <p:nvCxnSpPr>
          <p:cNvPr id="47" name="Straight Connector 46">
            <a:extLst>
              <a:ext uri="{FF2B5EF4-FFF2-40B4-BE49-F238E27FC236}">
                <a16:creationId xmlns:a16="http://schemas.microsoft.com/office/drawing/2014/main" id="{8CA9A0CC-9616-7F4A-D71D-4C25AFD8D93C}"/>
              </a:ext>
            </a:extLst>
          </p:cNvPr>
          <p:cNvCxnSpPr>
            <a:cxnSpLocks/>
          </p:cNvCxnSpPr>
          <p:nvPr/>
        </p:nvCxnSpPr>
        <p:spPr>
          <a:xfrm>
            <a:off x="237553" y="4222880"/>
            <a:ext cx="1915097"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0336D48-B8A3-27DB-8703-20C7B4B99E23}"/>
              </a:ext>
            </a:extLst>
          </p:cNvPr>
          <p:cNvSpPr txBox="1">
            <a:spLocks/>
          </p:cNvSpPr>
          <p:nvPr/>
        </p:nvSpPr>
        <p:spPr>
          <a:xfrm>
            <a:off x="152217" y="1918690"/>
            <a:ext cx="2100935" cy="397201"/>
          </a:xfrm>
          <a:prstGeom prst="rect">
            <a:avLst/>
          </a:prstGeom>
          <a:noFill/>
        </p:spPr>
        <p:txBody>
          <a:bodyPr wrap="square" lIns="90000" tIns="90000" rIns="90000" bIns="90000">
            <a:spAutoFit/>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Calibri"/>
                <a:ea typeface="+mn-ea"/>
                <a:cs typeface="+mn-cs"/>
              </a:rPr>
              <a:t>Enabling Conditions</a:t>
            </a:r>
            <a:endParaRPr lang="en-US" sz="1400" b="1">
              <a:solidFill>
                <a:srgbClr val="000000"/>
              </a:solidFill>
              <a:latin typeface="Calibri"/>
            </a:endParaRPr>
          </a:p>
        </p:txBody>
      </p:sp>
      <p:sp>
        <p:nvSpPr>
          <p:cNvPr id="3" name="Rectangle 2">
            <a:extLst>
              <a:ext uri="{FF2B5EF4-FFF2-40B4-BE49-F238E27FC236}">
                <a16:creationId xmlns:a16="http://schemas.microsoft.com/office/drawing/2014/main" id="{2CFADDD6-AA32-9DD7-2FB0-5BA3014AE3CC}"/>
              </a:ext>
            </a:extLst>
          </p:cNvPr>
          <p:cNvSpPr>
            <a:spLocks/>
          </p:cNvSpPr>
          <p:nvPr/>
        </p:nvSpPr>
        <p:spPr>
          <a:xfrm>
            <a:off x="146107" y="2528785"/>
            <a:ext cx="1207871" cy="553998"/>
          </a:xfrm>
          <a:prstGeom prst="rect">
            <a:avLst/>
          </a:prstGeom>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Narrower </a:t>
            </a:r>
            <a:b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b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Definition of </a:t>
            </a:r>
            <a:b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b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‘Recommendation’</a:t>
            </a:r>
          </a:p>
        </p:txBody>
      </p:sp>
      <p:pic>
        <p:nvPicPr>
          <p:cNvPr id="4" name="Picture 3">
            <a:extLst>
              <a:ext uri="{FF2B5EF4-FFF2-40B4-BE49-F238E27FC236}">
                <a16:creationId xmlns:a16="http://schemas.microsoft.com/office/drawing/2014/main" id="{3D600B14-8E62-6429-EC4D-EF93DCBF77B4}"/>
              </a:ext>
            </a:extLst>
          </p:cNvPr>
          <p:cNvPicPr>
            <a:picLocks noChangeAspect="1"/>
          </p:cNvPicPr>
          <p:nvPr/>
        </p:nvPicPr>
        <p:blipFill>
          <a:blip r:embed="rId11">
            <a:duotone>
              <a:schemeClr val="accent2">
                <a:shade val="45000"/>
                <a:satMod val="135000"/>
              </a:schemeClr>
              <a:prstClr val="white"/>
            </a:duotone>
          </a:blip>
          <a:stretch>
            <a:fillRect/>
          </a:stretch>
        </p:blipFill>
        <p:spPr>
          <a:xfrm>
            <a:off x="619254" y="2277002"/>
            <a:ext cx="282636" cy="282636"/>
          </a:xfrm>
          <a:prstGeom prst="rect">
            <a:avLst/>
          </a:prstGeom>
        </p:spPr>
      </p:pic>
      <p:cxnSp>
        <p:nvCxnSpPr>
          <p:cNvPr id="5" name="Straight Connector 4">
            <a:extLst>
              <a:ext uri="{FF2B5EF4-FFF2-40B4-BE49-F238E27FC236}">
                <a16:creationId xmlns:a16="http://schemas.microsoft.com/office/drawing/2014/main" id="{AEE38238-0DAB-6CA0-EF4C-C48DEAD3D1AF}"/>
              </a:ext>
            </a:extLst>
          </p:cNvPr>
          <p:cNvCxnSpPr>
            <a:cxnSpLocks/>
          </p:cNvCxnSpPr>
          <p:nvPr/>
        </p:nvCxnSpPr>
        <p:spPr>
          <a:xfrm>
            <a:off x="237553" y="2234100"/>
            <a:ext cx="1915097"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F736B12-0703-5A79-835F-34144EE72C95}"/>
              </a:ext>
            </a:extLst>
          </p:cNvPr>
          <p:cNvSpPr>
            <a:spLocks/>
          </p:cNvSpPr>
          <p:nvPr/>
        </p:nvSpPr>
        <p:spPr>
          <a:xfrm>
            <a:off x="1205461" y="2528785"/>
            <a:ext cx="1143617" cy="553998"/>
          </a:xfrm>
          <a:prstGeom prst="rect">
            <a:avLst/>
          </a:prstGeom>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Flexibility on ‘Push’ vs. ‘Pull’ Distinction</a:t>
            </a:r>
          </a:p>
        </p:txBody>
      </p:sp>
      <p:pic>
        <p:nvPicPr>
          <p:cNvPr id="7" name="Picture 6">
            <a:extLst>
              <a:ext uri="{FF2B5EF4-FFF2-40B4-BE49-F238E27FC236}">
                <a16:creationId xmlns:a16="http://schemas.microsoft.com/office/drawing/2014/main" id="{33AB3217-7AA0-1940-A7BF-9B32F2E3D504}"/>
              </a:ext>
            </a:extLst>
          </p:cNvPr>
          <p:cNvPicPr>
            <a:picLocks noChangeAspect="1"/>
          </p:cNvPicPr>
          <p:nvPr/>
        </p:nvPicPr>
        <p:blipFill>
          <a:blip r:embed="rId12">
            <a:duotone>
              <a:schemeClr val="accent2">
                <a:shade val="45000"/>
                <a:satMod val="135000"/>
              </a:schemeClr>
              <a:prstClr val="white"/>
            </a:duotone>
          </a:blip>
          <a:stretch>
            <a:fillRect/>
          </a:stretch>
        </p:blipFill>
        <p:spPr>
          <a:xfrm>
            <a:off x="1620619" y="2264584"/>
            <a:ext cx="301404" cy="301404"/>
          </a:xfrm>
          <a:prstGeom prst="rect">
            <a:avLst/>
          </a:prstGeom>
        </p:spPr>
      </p:pic>
      <p:pic>
        <p:nvPicPr>
          <p:cNvPr id="12" name="Picture 11">
            <a:extLst>
              <a:ext uri="{FF2B5EF4-FFF2-40B4-BE49-F238E27FC236}">
                <a16:creationId xmlns:a16="http://schemas.microsoft.com/office/drawing/2014/main" id="{C27DF655-82EB-9ADB-EEEA-9BCF98D20F2F}"/>
              </a:ext>
            </a:extLst>
          </p:cNvPr>
          <p:cNvPicPr>
            <a:picLocks noChangeAspect="1"/>
          </p:cNvPicPr>
          <p:nvPr/>
        </p:nvPicPr>
        <p:blipFill>
          <a:blip r:embed="rId13">
            <a:extLst>
              <a:ext uri="{BEBA8EAE-BF5A-486C-A8C5-ECC9F3942E4B}">
                <a14:imgProps xmlns:a14="http://schemas.microsoft.com/office/drawing/2010/main">
                  <a14:imgLayer r:embed="rId14">
                    <a14:imgEffect>
                      <a14:artisticGlowEdges/>
                    </a14:imgEffect>
                  </a14:imgLayer>
                </a14:imgProps>
              </a:ext>
            </a:extLst>
          </a:blip>
          <a:stretch>
            <a:fillRect/>
          </a:stretch>
        </p:blipFill>
        <p:spPr>
          <a:xfrm>
            <a:off x="237553" y="309327"/>
            <a:ext cx="720000" cy="720000"/>
          </a:xfrm>
          <a:prstGeom prst="rect">
            <a:avLst/>
          </a:prstGeom>
          <a:noFill/>
        </p:spPr>
      </p:pic>
      <p:sp>
        <p:nvSpPr>
          <p:cNvPr id="13" name="Isosceles Triangle 12">
            <a:extLst>
              <a:ext uri="{FF2B5EF4-FFF2-40B4-BE49-F238E27FC236}">
                <a16:creationId xmlns:a16="http://schemas.microsoft.com/office/drawing/2014/main" id="{CE4898A5-6B17-7FDE-FE13-F73B53A65F0F}"/>
              </a:ext>
            </a:extLst>
          </p:cNvPr>
          <p:cNvSpPr>
            <a:spLocks/>
          </p:cNvSpPr>
          <p:nvPr/>
        </p:nvSpPr>
        <p:spPr bwMode="gray">
          <a:xfrm rot="10800000">
            <a:off x="4444230" y="3754382"/>
            <a:ext cx="627367" cy="165313"/>
          </a:xfrm>
          <a:prstGeom prst="triangle">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200" b="1">
              <a:solidFill>
                <a:schemeClr val="bg1"/>
              </a:solidFill>
            </a:endParaRPr>
          </a:p>
        </p:txBody>
      </p:sp>
      <p:sp>
        <p:nvSpPr>
          <p:cNvPr id="14" name="Isosceles Triangle 13">
            <a:extLst>
              <a:ext uri="{FF2B5EF4-FFF2-40B4-BE49-F238E27FC236}">
                <a16:creationId xmlns:a16="http://schemas.microsoft.com/office/drawing/2014/main" id="{5591B5C3-642C-8414-F0CE-CB3070D076A8}"/>
              </a:ext>
            </a:extLst>
          </p:cNvPr>
          <p:cNvSpPr>
            <a:spLocks/>
          </p:cNvSpPr>
          <p:nvPr/>
        </p:nvSpPr>
        <p:spPr bwMode="gray">
          <a:xfrm rot="10800000">
            <a:off x="9244097" y="3754382"/>
            <a:ext cx="627367" cy="165313"/>
          </a:xfrm>
          <a:prstGeom prst="triangle">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200" b="1">
              <a:solidFill>
                <a:schemeClr val="bg1"/>
              </a:solidFill>
            </a:endParaRPr>
          </a:p>
        </p:txBody>
      </p:sp>
      <p:sp>
        <p:nvSpPr>
          <p:cNvPr id="15" name="Oval 14">
            <a:extLst>
              <a:ext uri="{FF2B5EF4-FFF2-40B4-BE49-F238E27FC236}">
                <a16:creationId xmlns:a16="http://schemas.microsoft.com/office/drawing/2014/main" id="{D74AD7F2-1A44-E878-9B3E-4D4895C24027}"/>
              </a:ext>
            </a:extLst>
          </p:cNvPr>
          <p:cNvSpPr>
            <a:spLocks/>
          </p:cNvSpPr>
          <p:nvPr/>
        </p:nvSpPr>
        <p:spPr bwMode="gray">
          <a:xfrm>
            <a:off x="243196" y="309327"/>
            <a:ext cx="720000" cy="720000"/>
          </a:xfrm>
          <a:prstGeom prst="ellipse">
            <a:avLst/>
          </a:prstGeom>
          <a:noFill/>
          <a:ln w="28575"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Tree>
    <p:extLst>
      <p:ext uri="{BB962C8B-B14F-4D97-AF65-F5344CB8AC3E}">
        <p14:creationId xmlns:p14="http://schemas.microsoft.com/office/powerpoint/2010/main" val="315473791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25610728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0" name="Text Placeholder 1">
            <a:extLst>
              <a:ext uri="{FF2B5EF4-FFF2-40B4-BE49-F238E27FC236}">
                <a16:creationId xmlns:a16="http://schemas.microsoft.com/office/drawing/2014/main" id="{FFC3577E-EB6F-24D5-8168-BF6E883CE2D7}"/>
              </a:ext>
            </a:extLst>
          </p:cNvPr>
          <p:cNvSpPr>
            <a:spLocks noGrp="1"/>
          </p:cNvSpPr>
          <p:nvPr>
            <p:ph type="body" sz="quarter" idx="21"/>
          </p:nvPr>
        </p:nvSpPr>
        <p:spPr>
          <a:xfrm>
            <a:off x="2683706" y="651600"/>
            <a:ext cx="9006644" cy="757255"/>
          </a:xfrm>
        </p:spPr>
        <p:txBody>
          <a:bodyPr/>
          <a:lstStyle/>
          <a:p>
            <a:r>
              <a:rPr lang="en-US"/>
              <a:t>OEOs can integrate self-assessments as core decision-making supports, turning them into powerful tools that can guide and empower DIY investors</a:t>
            </a:r>
          </a:p>
        </p:txBody>
      </p:sp>
      <p:sp>
        <p:nvSpPr>
          <p:cNvPr id="43" name="Title 3">
            <a:extLst>
              <a:ext uri="{FF2B5EF4-FFF2-40B4-BE49-F238E27FC236}">
                <a16:creationId xmlns:a16="http://schemas.microsoft.com/office/drawing/2014/main" id="{685809F2-11C2-C9A4-1F90-72F34DDB6D37}"/>
              </a:ext>
            </a:extLst>
          </p:cNvPr>
          <p:cNvSpPr txBox="1">
            <a:spLocks/>
          </p:cNvSpPr>
          <p:nvPr/>
        </p:nvSpPr>
        <p:spPr bwMode="gray">
          <a:xfrm>
            <a:off x="2683706" y="317500"/>
            <a:ext cx="9006644"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en-US"/>
              <a:t>Decision-Making Supports: Self-Assessment Tools</a:t>
            </a:r>
          </a:p>
        </p:txBody>
      </p:sp>
      <p:sp>
        <p:nvSpPr>
          <p:cNvPr id="26" name="Rectangle 25">
            <a:extLst>
              <a:ext uri="{FF2B5EF4-FFF2-40B4-BE49-F238E27FC236}">
                <a16:creationId xmlns:a16="http://schemas.microsoft.com/office/drawing/2014/main" id="{F8BE3E71-74EA-283B-2D6E-3A772E188C87}"/>
              </a:ext>
            </a:extLst>
          </p:cNvPr>
          <p:cNvSpPr>
            <a:spLocks/>
          </p:cNvSpPr>
          <p:nvPr/>
        </p:nvSpPr>
        <p:spPr>
          <a:xfrm>
            <a:off x="-3475" y="0"/>
            <a:ext cx="2484000" cy="6855614"/>
          </a:xfrm>
          <a:prstGeom prst="rect">
            <a:avLst/>
          </a:prstGeom>
          <a:solidFill>
            <a:srgbClr val="E8F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sp>
        <p:nvSpPr>
          <p:cNvPr id="5" name="Title 1">
            <a:extLst>
              <a:ext uri="{FF2B5EF4-FFF2-40B4-BE49-F238E27FC236}">
                <a16:creationId xmlns:a16="http://schemas.microsoft.com/office/drawing/2014/main" id="{9A70573B-DF36-38E0-6262-5D2513BBB0A1}"/>
              </a:ext>
            </a:extLst>
          </p:cNvPr>
          <p:cNvSpPr>
            <a:spLocks noGrp="1"/>
          </p:cNvSpPr>
          <p:nvPr>
            <p:ph type="title"/>
          </p:nvPr>
        </p:nvSpPr>
        <p:spPr>
          <a:xfrm>
            <a:off x="147946" y="994139"/>
            <a:ext cx="2252354" cy="452628"/>
          </a:xfrm>
        </p:spPr>
        <p:txBody>
          <a:bodyPr vert="horz" lIns="90000" tIns="90000" rIns="90000" bIns="90000"/>
          <a:lstStyle/>
          <a:p>
            <a:r>
              <a:rPr lang="en-US" sz="2400" b="1"/>
              <a:t>Self-Assessment Tools</a:t>
            </a:r>
          </a:p>
        </p:txBody>
      </p:sp>
      <p:sp>
        <p:nvSpPr>
          <p:cNvPr id="6" name="TextBox 5">
            <a:extLst>
              <a:ext uri="{FF2B5EF4-FFF2-40B4-BE49-F238E27FC236}">
                <a16:creationId xmlns:a16="http://schemas.microsoft.com/office/drawing/2014/main" id="{A562838D-18A3-6565-3CAA-F9C0B71AF2E3}"/>
              </a:ext>
            </a:extLst>
          </p:cNvPr>
          <p:cNvSpPr txBox="1">
            <a:spLocks/>
          </p:cNvSpPr>
          <p:nvPr/>
        </p:nvSpPr>
        <p:spPr>
          <a:xfrm>
            <a:off x="152217" y="1918690"/>
            <a:ext cx="2100935" cy="397201"/>
          </a:xfrm>
          <a:prstGeom prst="rect">
            <a:avLst/>
          </a:prstGeom>
          <a:noFill/>
        </p:spPr>
        <p:txBody>
          <a:bodyPr wrap="square" lIns="90000" tIns="90000" rIns="90000" bIns="90000">
            <a:spAutoFit/>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Calibri"/>
                <a:ea typeface="+mn-ea"/>
                <a:cs typeface="+mn-cs"/>
              </a:rPr>
              <a:t>Enabling Conditions</a:t>
            </a:r>
            <a:endParaRPr lang="en-US" sz="1400" b="1">
              <a:solidFill>
                <a:srgbClr val="000000"/>
              </a:solidFill>
              <a:latin typeface="Calibri"/>
            </a:endParaRPr>
          </a:p>
        </p:txBody>
      </p:sp>
      <p:sp>
        <p:nvSpPr>
          <p:cNvPr id="7" name="Rectangle 6">
            <a:extLst>
              <a:ext uri="{FF2B5EF4-FFF2-40B4-BE49-F238E27FC236}">
                <a16:creationId xmlns:a16="http://schemas.microsoft.com/office/drawing/2014/main" id="{9B07065F-0B11-4C1B-0AD8-5E1E9E275CF2}"/>
              </a:ext>
            </a:extLst>
          </p:cNvPr>
          <p:cNvSpPr>
            <a:spLocks/>
          </p:cNvSpPr>
          <p:nvPr/>
        </p:nvSpPr>
        <p:spPr>
          <a:xfrm>
            <a:off x="510839" y="2528785"/>
            <a:ext cx="1368525" cy="400110"/>
          </a:xfrm>
          <a:prstGeom prst="rect">
            <a:avLst/>
          </a:prstGeom>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Explicit Allowance for </a:t>
            </a:r>
            <a:b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b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Self-Assessment Tools</a:t>
            </a:r>
          </a:p>
        </p:txBody>
      </p:sp>
      <p:cxnSp>
        <p:nvCxnSpPr>
          <p:cNvPr id="9" name="Straight Connector 8">
            <a:extLst>
              <a:ext uri="{FF2B5EF4-FFF2-40B4-BE49-F238E27FC236}">
                <a16:creationId xmlns:a16="http://schemas.microsoft.com/office/drawing/2014/main" id="{599764EC-C3A1-4DD0-0983-69F5C1FC3DF7}"/>
              </a:ext>
            </a:extLst>
          </p:cNvPr>
          <p:cNvCxnSpPr>
            <a:cxnSpLocks/>
          </p:cNvCxnSpPr>
          <p:nvPr/>
        </p:nvCxnSpPr>
        <p:spPr>
          <a:xfrm>
            <a:off x="237553" y="2234100"/>
            <a:ext cx="1915097"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35FE945D-A54A-42DB-17E3-4626132AA1F8}"/>
              </a:ext>
            </a:extLst>
          </p:cNvPr>
          <p:cNvPicPr>
            <a:picLocks noChangeAspect="1"/>
          </p:cNvPicPr>
          <p:nvPr/>
        </p:nvPicPr>
        <p:blipFill>
          <a:blip r:embed="rId6">
            <a:duotone>
              <a:schemeClr val="accent2">
                <a:shade val="45000"/>
                <a:satMod val="135000"/>
              </a:schemeClr>
              <a:prstClr val="white"/>
            </a:duotone>
          </a:blip>
          <a:stretch>
            <a:fillRect/>
          </a:stretch>
        </p:blipFill>
        <p:spPr>
          <a:xfrm>
            <a:off x="1058848" y="2277001"/>
            <a:ext cx="272507" cy="272507"/>
          </a:xfrm>
          <a:prstGeom prst="rect">
            <a:avLst/>
          </a:prstGeom>
        </p:spPr>
      </p:pic>
      <p:sp>
        <p:nvSpPr>
          <p:cNvPr id="65" name="Slide Number Placeholder 4">
            <a:extLst>
              <a:ext uri="{FF2B5EF4-FFF2-40B4-BE49-F238E27FC236}">
                <a16:creationId xmlns:a16="http://schemas.microsoft.com/office/drawing/2014/main" id="{A377B9D3-7B19-8436-6893-B4879EB7C9BE}"/>
              </a:ext>
            </a:extLst>
          </p:cNvPr>
          <p:cNvSpPr>
            <a:spLocks noGrp="1"/>
          </p:cNvSpPr>
          <p:nvPr>
            <p:ph type="sldNum" sz="quarter" idx="4"/>
          </p:nvPr>
        </p:nvSpPr>
        <p:spPr>
          <a:xfrm>
            <a:off x="11346395" y="6477000"/>
            <a:ext cx="343955" cy="138499"/>
          </a:xfrm>
        </p:spPr>
        <p:txBody>
          <a:bodyPr/>
          <a:lstStyle/>
          <a:p>
            <a:pPr marL="0" marR="0" lvl="0" indent="0" algn="r" defTabSz="914400" rtl="0" eaLnBrk="1" fontAlgn="auto" latinLnBrk="0" hangingPunct="1">
              <a:lnSpc>
                <a:spcPct val="100000"/>
              </a:lnSpc>
              <a:spcBef>
                <a:spcPts val="600"/>
              </a:spcBef>
              <a:spcAft>
                <a:spcPts val="0"/>
              </a:spcAft>
              <a:buClrTx/>
              <a:buSzPct val="100000"/>
              <a:buFont typeface="Arial"/>
              <a:buNone/>
              <a:tabLst/>
              <a:defRPr/>
            </a:pPr>
            <a:fld id="{A463779A-5FA6-46BB-A830-682585DD6BBA}" type="slidenum">
              <a:rPr kumimoji="0" lang="en-US" sz="900" b="0" i="0" u="none" strike="noStrike" kern="1200" cap="none" spc="0" normalizeH="0" baseline="0" noProof="0" smtClean="0">
                <a:ln>
                  <a:noFill/>
                </a:ln>
                <a:solidFill>
                  <a:prstClr val="black"/>
                </a:solidFill>
                <a:effectLst/>
                <a:uLnTx/>
                <a:uFillTx/>
                <a:latin typeface="Calibri" panose="020F0502020204030204" pitchFamily="34" charset="0"/>
                <a:ea typeface="+mn-ea"/>
                <a:cs typeface="Calibri" panose="020F0502020204030204" pitchFamily="34" charset="0"/>
              </a:rPr>
              <a:pPr marL="0" marR="0" lvl="0" indent="0" algn="r" defTabSz="914400" rtl="0" eaLnBrk="1" fontAlgn="auto" latinLnBrk="0" hangingPunct="1">
                <a:lnSpc>
                  <a:spcPct val="100000"/>
                </a:lnSpc>
                <a:spcBef>
                  <a:spcPts val="600"/>
                </a:spcBef>
                <a:spcAft>
                  <a:spcPts val="0"/>
                </a:spcAft>
                <a:buClrTx/>
                <a:buSzPct val="100000"/>
                <a:buFont typeface="Arial"/>
                <a:buNone/>
                <a:tabLst/>
                <a:defRPr/>
              </a:pPr>
              <a:t>14</a:t>
            </a:fld>
            <a:endParaRPr kumimoji="0" lang="en-US" sz="9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75" name="Group 74">
            <a:extLst>
              <a:ext uri="{FF2B5EF4-FFF2-40B4-BE49-F238E27FC236}">
                <a16:creationId xmlns:a16="http://schemas.microsoft.com/office/drawing/2014/main" id="{8863CE9D-2885-30E2-5E1E-A058D63A7A4A}"/>
              </a:ext>
            </a:extLst>
          </p:cNvPr>
          <p:cNvGrpSpPr>
            <a:grpSpLocks/>
          </p:cNvGrpSpPr>
          <p:nvPr/>
        </p:nvGrpSpPr>
        <p:grpSpPr>
          <a:xfrm>
            <a:off x="2683703" y="4369324"/>
            <a:ext cx="9006645" cy="2036098"/>
            <a:chOff x="2683703" y="4369324"/>
            <a:chExt cx="9006645" cy="2036098"/>
          </a:xfrm>
        </p:grpSpPr>
        <p:pic>
          <p:nvPicPr>
            <p:cNvPr id="67" name="Picture 66">
              <a:extLst>
                <a:ext uri="{FF2B5EF4-FFF2-40B4-BE49-F238E27FC236}">
                  <a16:creationId xmlns:a16="http://schemas.microsoft.com/office/drawing/2014/main" id="{A607B9C4-A271-F9C0-E02E-3387C2D8ED1F}"/>
                </a:ext>
              </a:extLst>
            </p:cNvPr>
            <p:cNvPicPr>
              <a:picLocks noChangeAspect="1"/>
            </p:cNvPicPr>
            <p:nvPr/>
          </p:nvPicPr>
          <p:blipFill>
            <a:blip r:embed="rId7"/>
            <a:stretch>
              <a:fillRect/>
            </a:stretch>
          </p:blipFill>
          <p:spPr>
            <a:xfrm>
              <a:off x="8375251" y="4951080"/>
              <a:ext cx="3263371" cy="1410460"/>
            </a:xfrm>
            <a:prstGeom prst="rect">
              <a:avLst/>
            </a:prstGeom>
          </p:spPr>
        </p:pic>
        <p:sp>
          <p:nvSpPr>
            <p:cNvPr id="44" name="TextBox 43">
              <a:extLst>
                <a:ext uri="{FF2B5EF4-FFF2-40B4-BE49-F238E27FC236}">
                  <a16:creationId xmlns:a16="http://schemas.microsoft.com/office/drawing/2014/main" id="{D21A972B-C01A-E919-2CB6-0F7B233A4F93}"/>
                </a:ext>
              </a:extLst>
            </p:cNvPr>
            <p:cNvSpPr txBox="1">
              <a:spLocks/>
            </p:cNvSpPr>
            <p:nvPr/>
          </p:nvSpPr>
          <p:spPr>
            <a:xfrm>
              <a:off x="2715601" y="4640192"/>
              <a:ext cx="2731311" cy="1595309"/>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2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Calibri"/>
                  <a:ea typeface="+mn-ea"/>
                  <a:cs typeface="+mn-cs"/>
                </a:rPr>
                <a:t>Investor Questionnaire: </a:t>
              </a:r>
              <a:r>
                <a:rPr kumimoji="0" lang="en-US" sz="1200" i="0" u="none" strike="noStrike" kern="1200" cap="none" spc="0" normalizeH="0" baseline="0" noProof="0">
                  <a:ln>
                    <a:noFill/>
                  </a:ln>
                  <a:solidFill>
                    <a:srgbClr val="000000"/>
                  </a:solidFill>
                  <a:effectLst/>
                  <a:uLnTx/>
                  <a:uFillTx/>
                  <a:latin typeface="Calibri"/>
                  <a:ea typeface="+mn-ea"/>
                  <a:cs typeface="+mn-cs"/>
                </a:rPr>
                <a:t>Short quiz on goals, time horizon, and risk tolerance to define an investor profile</a:t>
              </a:r>
            </a:p>
            <a:p>
              <a:pPr marL="171450" marR="0" lvl="0" indent="-171450" algn="l" defTabSz="914400" rtl="0" eaLnBrk="1" fontAlgn="auto" latinLnBrk="0" hangingPunct="1">
                <a:lnSpc>
                  <a:spcPct val="100000"/>
                </a:lnSpc>
                <a:spcBef>
                  <a:spcPts val="0"/>
                </a:spcBef>
                <a:spcAft>
                  <a:spcPts val="200"/>
                </a:spcAft>
                <a:buClrTx/>
                <a:buSzTx/>
                <a:buFont typeface="Wingdings" panose="05000000000000000000" pitchFamily="2" charset="2"/>
                <a:buChar char="§"/>
                <a:tabLst/>
                <a:defRPr/>
              </a:pPr>
              <a:r>
                <a:rPr lang="en-US" sz="1200" b="1">
                  <a:solidFill>
                    <a:srgbClr val="000000"/>
                  </a:solidFill>
                  <a:latin typeface="Calibri"/>
                </a:rPr>
                <a:t>Suggested Allocation: </a:t>
              </a:r>
              <a:r>
                <a:rPr lang="en-US" sz="1200">
                  <a:solidFill>
                    <a:srgbClr val="000000"/>
                  </a:solidFill>
                  <a:latin typeface="Calibri"/>
                </a:rPr>
                <a:t>Returns a target stocks/bonds/cash mix with sample portfolio guidance; Vanguard account holders can see target asset mix in Account Overview</a:t>
              </a:r>
            </a:p>
          </p:txBody>
        </p:sp>
        <p:sp>
          <p:nvSpPr>
            <p:cNvPr id="51" name="Rectangle 50">
              <a:extLst>
                <a:ext uri="{FF2B5EF4-FFF2-40B4-BE49-F238E27FC236}">
                  <a16:creationId xmlns:a16="http://schemas.microsoft.com/office/drawing/2014/main" id="{147F8F94-48B7-1B04-9CB8-6703A89C658D}"/>
                </a:ext>
              </a:extLst>
            </p:cNvPr>
            <p:cNvSpPr>
              <a:spLocks/>
            </p:cNvSpPr>
            <p:nvPr/>
          </p:nvSpPr>
          <p:spPr bwMode="gray">
            <a:xfrm>
              <a:off x="2683703" y="4517256"/>
              <a:ext cx="9000000" cy="1888166"/>
            </a:xfrm>
            <a:prstGeom prst="rect">
              <a:avLst/>
            </a:prstGeom>
            <a:noFill/>
            <a:ln w="19050" algn="ctr">
              <a:solidFill>
                <a:schemeClr val="accent1"/>
              </a:solidFill>
              <a:prstDash val="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Calibri"/>
                <a:ea typeface="+mn-ea"/>
                <a:cs typeface="+mn-cs"/>
              </a:endParaRPr>
            </a:p>
          </p:txBody>
        </p:sp>
        <p:sp>
          <p:nvSpPr>
            <p:cNvPr id="64" name="Rectangle 63">
              <a:extLst>
                <a:ext uri="{FF2B5EF4-FFF2-40B4-BE49-F238E27FC236}">
                  <a16:creationId xmlns:a16="http://schemas.microsoft.com/office/drawing/2014/main" id="{28A80194-F1DA-0681-2D75-9CE58D8EF416}"/>
                </a:ext>
              </a:extLst>
            </p:cNvPr>
            <p:cNvSpPr>
              <a:spLocks/>
            </p:cNvSpPr>
            <p:nvPr/>
          </p:nvSpPr>
          <p:spPr>
            <a:xfrm>
              <a:off x="6628171" y="4369324"/>
              <a:ext cx="1117709" cy="303416"/>
            </a:xfrm>
            <a:prstGeom prst="rect">
              <a:avLst/>
            </a:prstGeom>
            <a:solidFill>
              <a:schemeClr val="bg1"/>
            </a:solidFill>
          </p:spPr>
          <p:txBody>
            <a:bodyPr wrap="square">
              <a:spAutoFit/>
            </a:bodyPr>
            <a:lstStyle/>
            <a:p>
              <a:pPr marL="12700" marR="0" lvl="0" indent="0" algn="ctr" defTabSz="914400" rtl="0" eaLnBrk="1" fontAlgn="auto" latinLnBrk="0" hangingPunct="1">
                <a:lnSpc>
                  <a:spcPct val="85000"/>
                </a:lnSpc>
                <a:spcBef>
                  <a:spcPts val="600"/>
                </a:spcBef>
                <a:spcAft>
                  <a:spcPts val="0"/>
                </a:spcAft>
                <a:buClrTx/>
                <a:buSzTx/>
                <a:buFontTx/>
                <a:buNone/>
                <a:tabLst/>
                <a:defRPr/>
              </a:pPr>
              <a:r>
                <a:rPr kumimoji="0" lang="en-US" sz="1600" b="1" i="0" u="none" strike="noStrike" kern="1200" cap="none" spc="0" normalizeH="0" baseline="0" noProof="0">
                  <a:ln>
                    <a:noFill/>
                  </a:ln>
                  <a:solidFill>
                    <a:schemeClr val="accent1"/>
                  </a:solidFill>
                  <a:effectLst/>
                  <a:uLnTx/>
                  <a:uFillTx/>
                  <a:latin typeface="Calibri"/>
                  <a:ea typeface="Chronicle Display Black" charset="0"/>
                  <a:cs typeface="Chronicle Display Black" charset="0"/>
                </a:rPr>
                <a:t>Case Study</a:t>
              </a:r>
            </a:p>
          </p:txBody>
        </p:sp>
        <p:pic>
          <p:nvPicPr>
            <p:cNvPr id="71" name="Picture 70">
              <a:extLst>
                <a:ext uri="{FF2B5EF4-FFF2-40B4-BE49-F238E27FC236}">
                  <a16:creationId xmlns:a16="http://schemas.microsoft.com/office/drawing/2014/main" id="{09EA64E7-F7B3-0958-61ED-769B0D2F6C3F}"/>
                </a:ext>
              </a:extLst>
            </p:cNvPr>
            <p:cNvPicPr>
              <a:picLocks noChangeAspect="1"/>
            </p:cNvPicPr>
            <p:nvPr/>
          </p:nvPicPr>
          <p:blipFill>
            <a:blip r:embed="rId8"/>
            <a:srcRect t="6611"/>
            <a:stretch/>
          </p:blipFill>
          <p:spPr>
            <a:xfrm>
              <a:off x="9362211" y="6135166"/>
              <a:ext cx="2221776" cy="166582"/>
            </a:xfrm>
            <a:prstGeom prst="rect">
              <a:avLst/>
            </a:prstGeom>
          </p:spPr>
        </p:pic>
        <p:grpSp>
          <p:nvGrpSpPr>
            <p:cNvPr id="66" name="Group 65">
              <a:extLst>
                <a:ext uri="{FF2B5EF4-FFF2-40B4-BE49-F238E27FC236}">
                  <a16:creationId xmlns:a16="http://schemas.microsoft.com/office/drawing/2014/main" id="{7995793D-5703-27B2-2000-7638C32AD6FE}"/>
                </a:ext>
              </a:extLst>
            </p:cNvPr>
            <p:cNvGrpSpPr>
              <a:grpSpLocks/>
            </p:cNvGrpSpPr>
            <p:nvPr/>
          </p:nvGrpSpPr>
          <p:grpSpPr>
            <a:xfrm>
              <a:off x="10042419" y="4517256"/>
              <a:ext cx="1647929" cy="494079"/>
              <a:chOff x="2683703" y="4517256"/>
              <a:chExt cx="1647929" cy="494079"/>
            </a:xfrm>
          </p:grpSpPr>
          <p:sp>
            <p:nvSpPr>
              <p:cNvPr id="58" name="Rectangle 57">
                <a:extLst>
                  <a:ext uri="{FF2B5EF4-FFF2-40B4-BE49-F238E27FC236}">
                    <a16:creationId xmlns:a16="http://schemas.microsoft.com/office/drawing/2014/main" id="{486713F0-D393-B566-5653-D3AA67BE2F75}"/>
                  </a:ext>
                </a:extLst>
              </p:cNvPr>
              <p:cNvSpPr>
                <a:spLocks/>
              </p:cNvSpPr>
              <p:nvPr/>
            </p:nvSpPr>
            <p:spPr bwMode="gray">
              <a:xfrm>
                <a:off x="2683703" y="4517256"/>
                <a:ext cx="1647929" cy="494079"/>
              </a:xfrm>
              <a:prstGeom prst="rect">
                <a:avLst/>
              </a:prstGeom>
              <a:solidFill>
                <a:schemeClr val="bg1"/>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Calibri"/>
                  <a:ea typeface="+mn-ea"/>
                  <a:cs typeface="+mn-cs"/>
                </a:endParaRPr>
              </a:p>
            </p:txBody>
          </p:sp>
          <p:pic>
            <p:nvPicPr>
              <p:cNvPr id="1026" name="Picture 2">
                <a:extLst>
                  <a:ext uri="{FF2B5EF4-FFF2-40B4-BE49-F238E27FC236}">
                    <a16:creationId xmlns:a16="http://schemas.microsoft.com/office/drawing/2014/main" id="{72D20F45-9A8B-64C5-C774-4B7EF99B0648}"/>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817744" y="4640192"/>
                <a:ext cx="1380195" cy="293831"/>
              </a:xfrm>
              <a:prstGeom prst="rect">
                <a:avLst/>
              </a:prstGeom>
              <a:noFill/>
              <a:extLst>
                <a:ext uri="{909E8E84-426E-40DD-AFC4-6F175D3DCCD1}">
                  <a14:hiddenFill xmlns:a14="http://schemas.microsoft.com/office/drawing/2010/main">
                    <a:solidFill>
                      <a:srgbClr val="FFFFFF"/>
                    </a:solidFill>
                  </a14:hiddenFill>
                </a:ext>
              </a:extLst>
            </p:spPr>
          </p:pic>
        </p:grpSp>
        <p:sp>
          <p:nvSpPr>
            <p:cNvPr id="69" name="Isosceles Triangle 68">
              <a:extLst>
                <a:ext uri="{FF2B5EF4-FFF2-40B4-BE49-F238E27FC236}">
                  <a16:creationId xmlns:a16="http://schemas.microsoft.com/office/drawing/2014/main" id="{E488D822-20F0-BC00-F772-D5C1DEB55ED9}"/>
                </a:ext>
              </a:extLst>
            </p:cNvPr>
            <p:cNvSpPr>
              <a:spLocks/>
            </p:cNvSpPr>
            <p:nvPr/>
          </p:nvSpPr>
          <p:spPr bwMode="gray">
            <a:xfrm rot="5400000">
              <a:off x="7888912" y="5506262"/>
              <a:ext cx="627367" cy="161442"/>
            </a:xfrm>
            <a:prstGeom prst="triangle">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200" b="1">
                <a:solidFill>
                  <a:schemeClr val="bg1"/>
                </a:solidFill>
              </a:endParaRPr>
            </a:p>
          </p:txBody>
        </p:sp>
        <p:pic>
          <p:nvPicPr>
            <p:cNvPr id="68" name="Picture 67">
              <a:extLst>
                <a:ext uri="{FF2B5EF4-FFF2-40B4-BE49-F238E27FC236}">
                  <a16:creationId xmlns:a16="http://schemas.microsoft.com/office/drawing/2014/main" id="{642E5ECE-2EFB-4375-6296-5080BBAE817F}"/>
                </a:ext>
              </a:extLst>
            </p:cNvPr>
            <p:cNvPicPr>
              <a:picLocks noChangeAspect="1"/>
            </p:cNvPicPr>
            <p:nvPr/>
          </p:nvPicPr>
          <p:blipFill>
            <a:blip r:embed="rId10"/>
            <a:stretch>
              <a:fillRect/>
            </a:stretch>
          </p:blipFill>
          <p:spPr>
            <a:xfrm>
              <a:off x="5491994" y="4678292"/>
              <a:ext cx="2537948" cy="1665456"/>
            </a:xfrm>
            <a:prstGeom prst="rect">
              <a:avLst/>
            </a:prstGeom>
          </p:spPr>
        </p:pic>
      </p:grpSp>
      <p:cxnSp>
        <p:nvCxnSpPr>
          <p:cNvPr id="20" name="Straight Connector 19">
            <a:extLst>
              <a:ext uri="{FF2B5EF4-FFF2-40B4-BE49-F238E27FC236}">
                <a16:creationId xmlns:a16="http://schemas.microsoft.com/office/drawing/2014/main" id="{B2B63DDD-B003-7B0A-BB07-37F71C1F9DC8}"/>
              </a:ext>
            </a:extLst>
          </p:cNvPr>
          <p:cNvCxnSpPr>
            <a:cxnSpLocks/>
          </p:cNvCxnSpPr>
          <p:nvPr/>
        </p:nvCxnSpPr>
        <p:spPr>
          <a:xfrm>
            <a:off x="4333836" y="1749957"/>
            <a:ext cx="3183174" cy="0"/>
          </a:xfrm>
          <a:prstGeom prst="line">
            <a:avLst/>
          </a:prstGeom>
          <a:ln w="317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70ACB46-D7E4-A51D-C799-2B3135EA74B1}"/>
              </a:ext>
            </a:extLst>
          </p:cNvPr>
          <p:cNvSpPr txBox="1">
            <a:spLocks/>
          </p:cNvSpPr>
          <p:nvPr/>
        </p:nvSpPr>
        <p:spPr>
          <a:xfrm>
            <a:off x="4321154" y="1409884"/>
            <a:ext cx="3183174" cy="351268"/>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000000"/>
                </a:solidFill>
                <a:effectLst/>
                <a:uLnTx/>
                <a:uFillTx/>
                <a:latin typeface="Calibri" panose="020F0502020204030204" pitchFamily="34" charset="0"/>
                <a:ea typeface="+mn-ea"/>
                <a:cs typeface="+mn-cs"/>
              </a:rPr>
              <a:t>Before Proposed Guidance</a:t>
            </a:r>
            <a:endParaRPr kumimoji="0" lang="en-US" sz="1600" b="1"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cxnSp>
        <p:nvCxnSpPr>
          <p:cNvPr id="34" name="Straight Connector 33">
            <a:extLst>
              <a:ext uri="{FF2B5EF4-FFF2-40B4-BE49-F238E27FC236}">
                <a16:creationId xmlns:a16="http://schemas.microsoft.com/office/drawing/2014/main" id="{58756E69-5EFB-024C-D8EB-53DAB5F603A5}"/>
              </a:ext>
            </a:extLst>
          </p:cNvPr>
          <p:cNvCxnSpPr>
            <a:cxnSpLocks/>
          </p:cNvCxnSpPr>
          <p:nvPr/>
        </p:nvCxnSpPr>
        <p:spPr>
          <a:xfrm>
            <a:off x="8328664" y="1749957"/>
            <a:ext cx="3183174"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E64ED7D-A507-B620-8421-0AA592E7FD5E}"/>
              </a:ext>
            </a:extLst>
          </p:cNvPr>
          <p:cNvSpPr txBox="1">
            <a:spLocks/>
          </p:cNvSpPr>
          <p:nvPr/>
        </p:nvSpPr>
        <p:spPr>
          <a:xfrm>
            <a:off x="8315982" y="1409884"/>
            <a:ext cx="3183174" cy="351268"/>
          </a:xfrm>
          <a:prstGeom prst="rect">
            <a:avLst/>
          </a:prstGeom>
        </p:spPr>
        <p:txBody>
          <a:bodyPr vert="horz"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srgbClr val="000000"/>
                </a:solidFill>
                <a:effectLst/>
                <a:uLnTx/>
                <a:uFillTx/>
                <a:latin typeface="Calibri" panose="020F0502020204030204" pitchFamily="34" charset="0"/>
                <a:ea typeface="+mn-ea"/>
                <a:cs typeface="+mn-cs"/>
              </a:rPr>
              <a:t>After Proposed Guidance</a:t>
            </a:r>
            <a:endParaRPr kumimoji="0" lang="en-US" sz="1600" b="1"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cxnSp>
        <p:nvCxnSpPr>
          <p:cNvPr id="42" name="Straight Connector 41">
            <a:extLst>
              <a:ext uri="{FF2B5EF4-FFF2-40B4-BE49-F238E27FC236}">
                <a16:creationId xmlns:a16="http://schemas.microsoft.com/office/drawing/2014/main" id="{4DBFD30E-2911-9036-D678-800CCC74C3F7}"/>
              </a:ext>
            </a:extLst>
          </p:cNvPr>
          <p:cNvCxnSpPr>
            <a:cxnSpLocks/>
          </p:cNvCxnSpPr>
          <p:nvPr/>
        </p:nvCxnSpPr>
        <p:spPr>
          <a:xfrm>
            <a:off x="2715601" y="2915767"/>
            <a:ext cx="8868386"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69CB6FF-E90B-D315-7E28-AB6561366D08}"/>
              </a:ext>
            </a:extLst>
          </p:cNvPr>
          <p:cNvSpPr txBox="1">
            <a:spLocks/>
          </p:cNvSpPr>
          <p:nvPr/>
        </p:nvSpPr>
        <p:spPr>
          <a:xfrm>
            <a:off x="4290669" y="1861690"/>
            <a:ext cx="325949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mj-lt"/>
              </a:rPr>
              <a:t>Self-assessment tools were viewed as too closely tied to suitability obligations, which discouraged OEOs from embedding them in their platforms for fear of regulatory exposure</a:t>
            </a:r>
          </a:p>
        </p:txBody>
      </p:sp>
      <p:sp>
        <p:nvSpPr>
          <p:cNvPr id="37" name="TextBox 36">
            <a:extLst>
              <a:ext uri="{FF2B5EF4-FFF2-40B4-BE49-F238E27FC236}">
                <a16:creationId xmlns:a16="http://schemas.microsoft.com/office/drawing/2014/main" id="{57A6F84D-EAA9-D6F1-8C1B-209DA10B6249}"/>
              </a:ext>
            </a:extLst>
          </p:cNvPr>
          <p:cNvSpPr txBox="1">
            <a:spLocks/>
          </p:cNvSpPr>
          <p:nvPr/>
        </p:nvSpPr>
        <p:spPr>
          <a:xfrm>
            <a:off x="8284161" y="1861690"/>
            <a:ext cx="325949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mj-lt"/>
              </a:rPr>
              <a:t>Guidance explicitly recognizes self-assessment as a permissible decision-making support provided that clients provide inputs themselves and appropriate safeguards are in place</a:t>
            </a:r>
            <a:endParaRPr kumimoji="0" lang="en-US" sz="1200" b="0" u="none" strike="noStrike" kern="1200" cap="none" spc="0" normalizeH="0" baseline="0" noProof="0">
              <a:ln>
                <a:noFill/>
              </a:ln>
              <a:solidFill>
                <a:srgbClr val="000000"/>
              </a:solidFill>
              <a:effectLst/>
              <a:uLnTx/>
              <a:uFillTx/>
              <a:latin typeface="+mj-lt"/>
              <a:ea typeface="+mn-ea"/>
              <a:cs typeface="+mn-cs"/>
            </a:endParaRPr>
          </a:p>
        </p:txBody>
      </p:sp>
      <p:sp>
        <p:nvSpPr>
          <p:cNvPr id="41" name="TextBox 40">
            <a:extLst>
              <a:ext uri="{FF2B5EF4-FFF2-40B4-BE49-F238E27FC236}">
                <a16:creationId xmlns:a16="http://schemas.microsoft.com/office/drawing/2014/main" id="{3B428DFB-9071-BF78-25B9-BC6455B0C8EB}"/>
              </a:ext>
            </a:extLst>
          </p:cNvPr>
          <p:cNvSpPr txBox="1">
            <a:spLocks/>
          </p:cNvSpPr>
          <p:nvPr/>
        </p:nvSpPr>
        <p:spPr>
          <a:xfrm>
            <a:off x="2683703" y="1861690"/>
            <a:ext cx="1387255" cy="584775"/>
          </a:xfrm>
          <a:prstGeom prst="rect">
            <a:avLst/>
          </a:prstGeom>
          <a:noFill/>
        </p:spPr>
        <p:txBody>
          <a:bodyPr wrap="square">
            <a:spAutoFit/>
          </a:bodyPr>
          <a:lstStyle/>
          <a:p>
            <a:r>
              <a:rPr kumimoji="0" lang="en-US"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Regulatory Framework</a:t>
            </a:r>
            <a:endParaRPr lang="en-CA" sz="1600"/>
          </a:p>
        </p:txBody>
      </p:sp>
      <p:sp>
        <p:nvSpPr>
          <p:cNvPr id="46" name="Isosceles Triangle 45">
            <a:extLst>
              <a:ext uri="{FF2B5EF4-FFF2-40B4-BE49-F238E27FC236}">
                <a16:creationId xmlns:a16="http://schemas.microsoft.com/office/drawing/2014/main" id="{C1FB9E59-5AE7-4BB4-DE4F-E3EFC7CFDDA7}"/>
              </a:ext>
            </a:extLst>
          </p:cNvPr>
          <p:cNvSpPr>
            <a:spLocks/>
          </p:cNvSpPr>
          <p:nvPr/>
        </p:nvSpPr>
        <p:spPr bwMode="gray">
          <a:xfrm rot="5400000">
            <a:off x="7630318" y="2194532"/>
            <a:ext cx="627367" cy="165313"/>
          </a:xfrm>
          <a:prstGeom prst="triangle">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200" b="1">
              <a:solidFill>
                <a:schemeClr val="bg1"/>
              </a:solidFill>
            </a:endParaRPr>
          </a:p>
        </p:txBody>
      </p:sp>
      <p:sp>
        <p:nvSpPr>
          <p:cNvPr id="49" name="TextBox 48">
            <a:extLst>
              <a:ext uri="{FF2B5EF4-FFF2-40B4-BE49-F238E27FC236}">
                <a16:creationId xmlns:a16="http://schemas.microsoft.com/office/drawing/2014/main" id="{449EC353-8B84-7BFB-7B98-BE6AE031D37E}"/>
              </a:ext>
            </a:extLst>
          </p:cNvPr>
          <p:cNvSpPr txBox="1">
            <a:spLocks/>
          </p:cNvSpPr>
          <p:nvPr/>
        </p:nvSpPr>
        <p:spPr>
          <a:xfrm>
            <a:off x="4293257" y="3013634"/>
            <a:ext cx="3254323" cy="101566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mj-lt"/>
              </a:rPr>
              <a:t>OEOs could only offer generic, educational quizzes (e.g., “Learn about risk types”) that were siloed from trading platforms and not linked to investment decisions, to avoid being perceived as providing advice</a:t>
            </a:r>
          </a:p>
        </p:txBody>
      </p:sp>
      <p:sp>
        <p:nvSpPr>
          <p:cNvPr id="52" name="TextBox 51">
            <a:extLst>
              <a:ext uri="{FF2B5EF4-FFF2-40B4-BE49-F238E27FC236}">
                <a16:creationId xmlns:a16="http://schemas.microsoft.com/office/drawing/2014/main" id="{301CA075-5B43-941C-88AE-91DF0CA61E5F}"/>
              </a:ext>
            </a:extLst>
          </p:cNvPr>
          <p:cNvSpPr txBox="1">
            <a:spLocks/>
          </p:cNvSpPr>
          <p:nvPr/>
        </p:nvSpPr>
        <p:spPr>
          <a:xfrm>
            <a:off x="2683703" y="3013634"/>
            <a:ext cx="1385053" cy="584775"/>
          </a:xfrm>
          <a:prstGeom prst="rect">
            <a:avLst/>
          </a:prstGeom>
          <a:noFill/>
        </p:spPr>
        <p:txBody>
          <a:bodyPr wrap="square">
            <a:spAutoFit/>
          </a:bodyPr>
          <a:lstStyle/>
          <a:p>
            <a:r>
              <a:rPr kumimoji="0" lang="en-US"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Implications for OEOs</a:t>
            </a:r>
            <a:endParaRPr lang="en-CA" i="1"/>
          </a:p>
        </p:txBody>
      </p:sp>
      <p:sp>
        <p:nvSpPr>
          <p:cNvPr id="53" name="Isosceles Triangle 52">
            <a:extLst>
              <a:ext uri="{FF2B5EF4-FFF2-40B4-BE49-F238E27FC236}">
                <a16:creationId xmlns:a16="http://schemas.microsoft.com/office/drawing/2014/main" id="{B0049345-42A9-3232-E21F-3751A5FD1677}"/>
              </a:ext>
            </a:extLst>
          </p:cNvPr>
          <p:cNvSpPr>
            <a:spLocks/>
          </p:cNvSpPr>
          <p:nvPr/>
        </p:nvSpPr>
        <p:spPr bwMode="gray">
          <a:xfrm rot="5400000">
            <a:off x="7632363" y="3500616"/>
            <a:ext cx="627367" cy="165050"/>
          </a:xfrm>
          <a:prstGeom prst="triangle">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200" b="1">
              <a:solidFill>
                <a:schemeClr val="bg1"/>
              </a:solidFill>
            </a:endParaRPr>
          </a:p>
        </p:txBody>
      </p:sp>
      <p:sp>
        <p:nvSpPr>
          <p:cNvPr id="50" name="TextBox 49">
            <a:extLst>
              <a:ext uri="{FF2B5EF4-FFF2-40B4-BE49-F238E27FC236}">
                <a16:creationId xmlns:a16="http://schemas.microsoft.com/office/drawing/2014/main" id="{6520FF02-293C-6EB6-67D5-696238BBE5A8}"/>
              </a:ext>
            </a:extLst>
          </p:cNvPr>
          <p:cNvSpPr txBox="1">
            <a:spLocks/>
          </p:cNvSpPr>
          <p:nvPr/>
        </p:nvSpPr>
        <p:spPr>
          <a:xfrm>
            <a:off x="8218372" y="3013634"/>
            <a:ext cx="3391076" cy="101566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mj-lt"/>
              </a:rPr>
              <a:t>OEOs can integrate self-assessment tools directly into their platforms, enabling clients to self-identify needs, goals, risk capacity, and preferences. Outputs can be linked with other decision-making supports to deliver more personalized experiences</a:t>
            </a:r>
            <a:endParaRPr kumimoji="0" lang="en-US" sz="1200" b="0" u="none" strike="noStrike" kern="1200" cap="none" spc="0" normalizeH="0" baseline="0" noProof="0">
              <a:ln>
                <a:noFill/>
              </a:ln>
              <a:solidFill>
                <a:srgbClr val="000000"/>
              </a:solidFill>
              <a:effectLst/>
              <a:uLnTx/>
              <a:uFillTx/>
              <a:latin typeface="+mj-lt"/>
              <a:ea typeface="+mn-ea"/>
              <a:cs typeface="+mn-cs"/>
            </a:endParaRPr>
          </a:p>
        </p:txBody>
      </p:sp>
      <p:grpSp>
        <p:nvGrpSpPr>
          <p:cNvPr id="54" name="Group 53">
            <a:extLst>
              <a:ext uri="{FF2B5EF4-FFF2-40B4-BE49-F238E27FC236}">
                <a16:creationId xmlns:a16="http://schemas.microsoft.com/office/drawing/2014/main" id="{CC4EBCCB-1408-9BE1-5081-0A63042A8B2B}"/>
              </a:ext>
            </a:extLst>
          </p:cNvPr>
          <p:cNvGrpSpPr>
            <a:grpSpLocks/>
          </p:cNvGrpSpPr>
          <p:nvPr/>
        </p:nvGrpSpPr>
        <p:grpSpPr>
          <a:xfrm>
            <a:off x="147946" y="3152184"/>
            <a:ext cx="2100935" cy="3490356"/>
            <a:chOff x="147946" y="3216578"/>
            <a:chExt cx="2100935" cy="3490356"/>
          </a:xfrm>
        </p:grpSpPr>
        <p:sp>
          <p:nvSpPr>
            <p:cNvPr id="55" name="TextBox 54">
              <a:extLst>
                <a:ext uri="{FF2B5EF4-FFF2-40B4-BE49-F238E27FC236}">
                  <a16:creationId xmlns:a16="http://schemas.microsoft.com/office/drawing/2014/main" id="{995F03D4-8455-F1E2-844D-6D36BE46C1DD}"/>
                </a:ext>
              </a:extLst>
            </p:cNvPr>
            <p:cNvSpPr txBox="1">
              <a:spLocks/>
            </p:cNvSpPr>
            <p:nvPr/>
          </p:nvSpPr>
          <p:spPr>
            <a:xfrm>
              <a:off x="147946" y="3216578"/>
              <a:ext cx="2100935" cy="3490356"/>
            </a:xfrm>
            <a:prstGeom prst="rect">
              <a:avLst/>
            </a:prstGeom>
            <a:noFill/>
          </p:spPr>
          <p:txBody>
            <a:bodyPr wrap="square" lIns="90000" tIns="90000" rIns="90000" bIns="90000">
              <a:spAutoFit/>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Calibri"/>
                  <a:ea typeface="+mn-ea"/>
                  <a:cs typeface="+mn-cs"/>
                </a:rPr>
                <a:t>What does the Proposed Guidance say about Self-Assessment Tools?</a:t>
              </a:r>
              <a:endParaRPr lang="en-US" sz="1400" b="1">
                <a:solidFill>
                  <a:srgbClr val="000000"/>
                </a:solidFill>
                <a:latin typeface="Calibri"/>
              </a:endParaRP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a:ea typeface="+mn-ea"/>
                  <a:cs typeface="+mn-cs"/>
                </a:rPr>
                <a:t>Explicitly recognized as a decision-making support, it may be used to help investors evaluate their own goals, risk tolerance, capacity, and preferences, provided that all inputs are supplied by the client, the OEO does not endorse any specific investment decision, and appropriate safeguards such as clear disclosures and conflict of interest management are applied.</a:t>
              </a:r>
            </a:p>
          </p:txBody>
        </p:sp>
        <p:cxnSp>
          <p:nvCxnSpPr>
            <p:cNvPr id="56" name="Straight Connector 55">
              <a:extLst>
                <a:ext uri="{FF2B5EF4-FFF2-40B4-BE49-F238E27FC236}">
                  <a16:creationId xmlns:a16="http://schemas.microsoft.com/office/drawing/2014/main" id="{F2D3908F-EF41-3FCA-D0D1-F738D8A5F9C5}"/>
                </a:ext>
              </a:extLst>
            </p:cNvPr>
            <p:cNvCxnSpPr>
              <a:cxnSpLocks/>
            </p:cNvCxnSpPr>
            <p:nvPr/>
          </p:nvCxnSpPr>
          <p:spPr>
            <a:xfrm>
              <a:off x="237553" y="3991132"/>
              <a:ext cx="1915097"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 name="Oval 2">
            <a:extLst>
              <a:ext uri="{FF2B5EF4-FFF2-40B4-BE49-F238E27FC236}">
                <a16:creationId xmlns:a16="http://schemas.microsoft.com/office/drawing/2014/main" id="{120256F4-C2A2-62AB-A48B-0C43BF1585AE}"/>
              </a:ext>
            </a:extLst>
          </p:cNvPr>
          <p:cNvSpPr>
            <a:spLocks/>
          </p:cNvSpPr>
          <p:nvPr/>
        </p:nvSpPr>
        <p:spPr bwMode="gray">
          <a:xfrm>
            <a:off x="243196" y="309327"/>
            <a:ext cx="720000" cy="720000"/>
          </a:xfrm>
          <a:prstGeom prst="ellipse">
            <a:avLst/>
          </a:prstGeom>
          <a:noFill/>
          <a:ln w="28575"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4" name="Picture 3">
            <a:extLst>
              <a:ext uri="{FF2B5EF4-FFF2-40B4-BE49-F238E27FC236}">
                <a16:creationId xmlns:a16="http://schemas.microsoft.com/office/drawing/2014/main" id="{8107D9BC-EC7E-C7B0-110C-94AB798CF2BC}"/>
              </a:ext>
            </a:extLst>
          </p:cNvPr>
          <p:cNvPicPr>
            <a:picLocks noChangeAspect="1"/>
          </p:cNvPicPr>
          <p:nvPr/>
        </p:nvPicPr>
        <p:blipFill>
          <a:blip r:embed="rId11"/>
          <a:stretch>
            <a:fillRect/>
          </a:stretch>
        </p:blipFill>
        <p:spPr>
          <a:xfrm>
            <a:off x="288240" y="354371"/>
            <a:ext cx="629913" cy="629913"/>
          </a:xfrm>
          <a:prstGeom prst="rect">
            <a:avLst/>
          </a:prstGeom>
        </p:spPr>
      </p:pic>
      <p:pic>
        <p:nvPicPr>
          <p:cNvPr id="10" name="Picture 9">
            <a:extLst>
              <a:ext uri="{FF2B5EF4-FFF2-40B4-BE49-F238E27FC236}">
                <a16:creationId xmlns:a16="http://schemas.microsoft.com/office/drawing/2014/main" id="{BE25A10A-A624-B9DD-D8E0-D0AF0471A5ED}"/>
              </a:ext>
            </a:extLst>
          </p:cNvPr>
          <p:cNvPicPr>
            <a:picLocks noChangeAspect="1"/>
          </p:cNvPicPr>
          <p:nvPr/>
        </p:nvPicPr>
        <p:blipFill>
          <a:blip r:embed="rId12"/>
          <a:stretch>
            <a:fillRect/>
          </a:stretch>
        </p:blipFill>
        <p:spPr>
          <a:xfrm>
            <a:off x="9731511" y="4561150"/>
            <a:ext cx="267342" cy="140772"/>
          </a:xfrm>
          <a:prstGeom prst="rect">
            <a:avLst/>
          </a:prstGeom>
        </p:spPr>
      </p:pic>
    </p:spTree>
    <p:extLst>
      <p:ext uri="{BB962C8B-B14F-4D97-AF65-F5344CB8AC3E}">
        <p14:creationId xmlns:p14="http://schemas.microsoft.com/office/powerpoint/2010/main" val="294707173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30721530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4E39CDDB-7F7B-F340-55A6-6A22BE496A44}"/>
              </a:ext>
            </a:extLst>
          </p:cNvPr>
          <p:cNvSpPr>
            <a:spLocks/>
          </p:cNvSpPr>
          <p:nvPr/>
        </p:nvSpPr>
        <p:spPr>
          <a:xfrm>
            <a:off x="-3475" y="0"/>
            <a:ext cx="2484000" cy="6855614"/>
          </a:xfrm>
          <a:prstGeom prst="rect">
            <a:avLst/>
          </a:prstGeom>
          <a:solidFill>
            <a:srgbClr val="E8F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mn-cs"/>
            </a:endParaRPr>
          </a:p>
        </p:txBody>
      </p:sp>
      <p:cxnSp>
        <p:nvCxnSpPr>
          <p:cNvPr id="27" name="Straight Connector 26">
            <a:extLst>
              <a:ext uri="{FF2B5EF4-FFF2-40B4-BE49-F238E27FC236}">
                <a16:creationId xmlns:a16="http://schemas.microsoft.com/office/drawing/2014/main" id="{FAEB8CCD-C0AE-0A9E-4C0C-053B0F3E3425}"/>
              </a:ext>
            </a:extLst>
          </p:cNvPr>
          <p:cNvCxnSpPr>
            <a:cxnSpLocks/>
          </p:cNvCxnSpPr>
          <p:nvPr/>
        </p:nvCxnSpPr>
        <p:spPr>
          <a:xfrm>
            <a:off x="237553" y="2234100"/>
            <a:ext cx="1915097"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B6F70268-0665-14F3-9F31-A9315C369AC4}"/>
              </a:ext>
            </a:extLst>
          </p:cNvPr>
          <p:cNvSpPr>
            <a:spLocks/>
          </p:cNvSpPr>
          <p:nvPr/>
        </p:nvSpPr>
        <p:spPr>
          <a:xfrm>
            <a:off x="471509" y="2528785"/>
            <a:ext cx="1447184" cy="400110"/>
          </a:xfrm>
          <a:prstGeom prst="rect">
            <a:avLst/>
          </a:prstGeom>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Narrower Definition of </a:t>
            </a:r>
            <a:b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br>
            <a:r>
              <a:rPr kumimoji="0" lang="en-US" sz="10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‘Recommendation’</a:t>
            </a:r>
          </a:p>
        </p:txBody>
      </p:sp>
      <p:pic>
        <p:nvPicPr>
          <p:cNvPr id="33" name="Picture 32">
            <a:extLst>
              <a:ext uri="{FF2B5EF4-FFF2-40B4-BE49-F238E27FC236}">
                <a16:creationId xmlns:a16="http://schemas.microsoft.com/office/drawing/2014/main" id="{0F58941D-E3B0-C413-3774-9C5C390F9C3D}"/>
              </a:ext>
            </a:extLst>
          </p:cNvPr>
          <p:cNvPicPr>
            <a:picLocks noChangeAspect="1"/>
          </p:cNvPicPr>
          <p:nvPr/>
        </p:nvPicPr>
        <p:blipFill>
          <a:blip r:embed="rId6">
            <a:duotone>
              <a:schemeClr val="accent2">
                <a:shade val="45000"/>
                <a:satMod val="135000"/>
              </a:schemeClr>
              <a:prstClr val="white"/>
            </a:duotone>
          </a:blip>
          <a:stretch>
            <a:fillRect/>
          </a:stretch>
        </p:blipFill>
        <p:spPr>
          <a:xfrm>
            <a:off x="1053783" y="2277002"/>
            <a:ext cx="282636" cy="282636"/>
          </a:xfrm>
          <a:prstGeom prst="rect">
            <a:avLst/>
          </a:prstGeom>
        </p:spPr>
      </p:pic>
      <p:sp>
        <p:nvSpPr>
          <p:cNvPr id="34" name="Text Placeholder 1">
            <a:extLst>
              <a:ext uri="{FF2B5EF4-FFF2-40B4-BE49-F238E27FC236}">
                <a16:creationId xmlns:a16="http://schemas.microsoft.com/office/drawing/2014/main" id="{DF8E4806-F787-15F5-5C9E-DFC11919B076}"/>
              </a:ext>
            </a:extLst>
          </p:cNvPr>
          <p:cNvSpPr>
            <a:spLocks noGrp="1"/>
          </p:cNvSpPr>
          <p:nvPr>
            <p:ph type="body" sz="quarter" idx="21"/>
          </p:nvPr>
        </p:nvSpPr>
        <p:spPr>
          <a:xfrm>
            <a:off x="2683706" y="651600"/>
            <a:ext cx="9006644" cy="757255"/>
          </a:xfrm>
        </p:spPr>
        <p:txBody>
          <a:bodyPr/>
          <a:lstStyle/>
          <a:p>
            <a:r>
              <a:rPr lang="en-US"/>
              <a:t>OEOs should refrain from hosting finfluencer content unless it is vetted, from registered sources, and clearly disclosed, and avoid offering copy-trading feature on their platform altogether</a:t>
            </a:r>
          </a:p>
        </p:txBody>
      </p:sp>
      <p:sp>
        <p:nvSpPr>
          <p:cNvPr id="37" name="Title 3">
            <a:extLst>
              <a:ext uri="{FF2B5EF4-FFF2-40B4-BE49-F238E27FC236}">
                <a16:creationId xmlns:a16="http://schemas.microsoft.com/office/drawing/2014/main" id="{150CBC2C-F8D6-F435-BD06-33585ED01BDA}"/>
              </a:ext>
            </a:extLst>
          </p:cNvPr>
          <p:cNvSpPr txBox="1">
            <a:spLocks/>
          </p:cNvSpPr>
          <p:nvPr/>
        </p:nvSpPr>
        <p:spPr bwMode="gray">
          <a:xfrm>
            <a:off x="2683706" y="317500"/>
            <a:ext cx="9006644" cy="334099"/>
          </a:xfrm>
          <a:prstGeom prst="rect">
            <a:avLst/>
          </a:prstGeom>
        </p:spPr>
        <p:txBody>
          <a:bodyPr vert="horz" lIns="0" tIns="0" rIns="0" bIns="0" rtlCol="0" anchor="t"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r>
              <a:rPr lang="en-US"/>
              <a:t>Decision-Making Supports: Finfluencers &amp; Copy Trading</a:t>
            </a:r>
          </a:p>
        </p:txBody>
      </p:sp>
      <p:sp>
        <p:nvSpPr>
          <p:cNvPr id="38" name="Title 1">
            <a:extLst>
              <a:ext uri="{FF2B5EF4-FFF2-40B4-BE49-F238E27FC236}">
                <a16:creationId xmlns:a16="http://schemas.microsoft.com/office/drawing/2014/main" id="{A87854C9-68BE-4C57-B6B5-224CE15735B8}"/>
              </a:ext>
            </a:extLst>
          </p:cNvPr>
          <p:cNvSpPr>
            <a:spLocks noGrp="1"/>
          </p:cNvSpPr>
          <p:nvPr>
            <p:ph type="title"/>
          </p:nvPr>
        </p:nvSpPr>
        <p:spPr>
          <a:xfrm>
            <a:off x="147946" y="994139"/>
            <a:ext cx="2252354" cy="452628"/>
          </a:xfrm>
        </p:spPr>
        <p:txBody>
          <a:bodyPr vert="horz" lIns="90000" tIns="90000" rIns="90000" bIns="90000"/>
          <a:lstStyle/>
          <a:p>
            <a:r>
              <a:rPr lang="en-US" sz="2400" b="1"/>
              <a:t>Finfluencers &amp; Copy Trading</a:t>
            </a:r>
          </a:p>
        </p:txBody>
      </p:sp>
      <p:sp>
        <p:nvSpPr>
          <p:cNvPr id="39" name="Slide Number Placeholder 4">
            <a:extLst>
              <a:ext uri="{FF2B5EF4-FFF2-40B4-BE49-F238E27FC236}">
                <a16:creationId xmlns:a16="http://schemas.microsoft.com/office/drawing/2014/main" id="{52047595-B199-0B57-DCF0-ABBF3F8E2B1C}"/>
              </a:ext>
            </a:extLst>
          </p:cNvPr>
          <p:cNvSpPr>
            <a:spLocks noGrp="1"/>
          </p:cNvSpPr>
          <p:nvPr>
            <p:ph type="sldNum" sz="quarter" idx="4"/>
          </p:nvPr>
        </p:nvSpPr>
        <p:spPr>
          <a:xfrm>
            <a:off x="11346395" y="6477000"/>
            <a:ext cx="343955" cy="138499"/>
          </a:xfrm>
        </p:spPr>
        <p:txBody>
          <a:bodyPr/>
          <a:lstStyle/>
          <a:p>
            <a:pPr marL="0" marR="0" lvl="0" indent="0" algn="r" defTabSz="914400" rtl="0" eaLnBrk="1" fontAlgn="auto" latinLnBrk="0" hangingPunct="1">
              <a:lnSpc>
                <a:spcPct val="100000"/>
              </a:lnSpc>
              <a:spcBef>
                <a:spcPts val="600"/>
              </a:spcBef>
              <a:spcAft>
                <a:spcPts val="0"/>
              </a:spcAft>
              <a:buClrTx/>
              <a:buSzPct val="100000"/>
              <a:buFont typeface="Arial"/>
              <a:buNone/>
              <a:tabLst/>
              <a:defRPr/>
            </a:pPr>
            <a:fld id="{A463779A-5FA6-46BB-A830-682585DD6BBA}" type="slidenum">
              <a:rPr kumimoji="0" lang="en-US" sz="900" b="0" i="0" u="none" strike="noStrike" kern="1200" cap="none" spc="0" normalizeH="0" baseline="0" noProof="0" smtClean="0">
                <a:ln>
                  <a:noFill/>
                </a:ln>
                <a:solidFill>
                  <a:prstClr val="black"/>
                </a:solidFill>
                <a:effectLst/>
                <a:uLnTx/>
                <a:uFillTx/>
                <a:latin typeface="Calibri" panose="020F0502020204030204" pitchFamily="34" charset="0"/>
                <a:ea typeface="+mn-ea"/>
                <a:cs typeface="Calibri" panose="020F0502020204030204" pitchFamily="34" charset="0"/>
              </a:rPr>
              <a:pPr marL="0" marR="0" lvl="0" indent="0" algn="r" defTabSz="914400" rtl="0" eaLnBrk="1" fontAlgn="auto" latinLnBrk="0" hangingPunct="1">
                <a:lnSpc>
                  <a:spcPct val="100000"/>
                </a:lnSpc>
                <a:spcBef>
                  <a:spcPts val="600"/>
                </a:spcBef>
                <a:spcAft>
                  <a:spcPts val="0"/>
                </a:spcAft>
                <a:buClrTx/>
                <a:buSzPct val="100000"/>
                <a:buFont typeface="Arial"/>
                <a:buNone/>
                <a:tabLst/>
                <a:defRPr/>
              </a:pPr>
              <a:t>15</a:t>
            </a:fld>
            <a:endParaRPr kumimoji="0" lang="en-US" sz="9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6" name="Group 5">
            <a:extLst>
              <a:ext uri="{FF2B5EF4-FFF2-40B4-BE49-F238E27FC236}">
                <a16:creationId xmlns:a16="http://schemas.microsoft.com/office/drawing/2014/main" id="{EFD2D551-3F0A-D892-A526-414BED775763}"/>
              </a:ext>
            </a:extLst>
          </p:cNvPr>
          <p:cNvGrpSpPr/>
          <p:nvPr/>
        </p:nvGrpSpPr>
        <p:grpSpPr>
          <a:xfrm>
            <a:off x="147946" y="3152184"/>
            <a:ext cx="2100935" cy="3151802"/>
            <a:chOff x="147946" y="3240535"/>
            <a:chExt cx="2100935" cy="3151802"/>
          </a:xfrm>
        </p:grpSpPr>
        <p:sp>
          <p:nvSpPr>
            <p:cNvPr id="40" name="TextBox 39">
              <a:extLst>
                <a:ext uri="{FF2B5EF4-FFF2-40B4-BE49-F238E27FC236}">
                  <a16:creationId xmlns:a16="http://schemas.microsoft.com/office/drawing/2014/main" id="{A1790500-BC85-8BEE-E91A-124E55F0C974}"/>
                </a:ext>
              </a:extLst>
            </p:cNvPr>
            <p:cNvSpPr txBox="1">
              <a:spLocks/>
            </p:cNvSpPr>
            <p:nvPr/>
          </p:nvSpPr>
          <p:spPr>
            <a:xfrm>
              <a:off x="147946" y="3240535"/>
              <a:ext cx="2100935" cy="3151802"/>
            </a:xfrm>
            <a:prstGeom prst="rect">
              <a:avLst/>
            </a:prstGeom>
            <a:noFill/>
          </p:spPr>
          <p:txBody>
            <a:bodyPr wrap="square" lIns="90000" tIns="90000" rIns="90000" bIns="90000">
              <a:spAutoFit/>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Calibri"/>
                  <a:ea typeface="+mn-ea"/>
                  <a:cs typeface="+mn-cs"/>
                </a:rPr>
                <a:t>What does the Proposed Guidance say about Finfluencers &amp; Copy Trading?</a:t>
              </a:r>
              <a:endParaRPr lang="en-US" sz="1400" b="1">
                <a:solidFill>
                  <a:srgbClr val="000000"/>
                </a:solidFill>
                <a:latin typeface="Calibri"/>
              </a:endParaRP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a:ea typeface="+mn-ea"/>
                  <a:cs typeface="+mn-cs"/>
                </a:rPr>
                <a:t>“OEO Dealers must consider whether they could be making prohibited recommendations or facilitating registerable activity by unregistered others (such as finfluencers) if they link to, host or provide third-party content, enter into referral arrangements or facilitate copy-trading functionality.”</a:t>
              </a:r>
            </a:p>
          </p:txBody>
        </p:sp>
        <p:cxnSp>
          <p:nvCxnSpPr>
            <p:cNvPr id="41" name="Straight Connector 40">
              <a:extLst>
                <a:ext uri="{FF2B5EF4-FFF2-40B4-BE49-F238E27FC236}">
                  <a16:creationId xmlns:a16="http://schemas.microsoft.com/office/drawing/2014/main" id="{565EF5FF-F446-311C-4C83-43332F0FC1F2}"/>
                </a:ext>
              </a:extLst>
            </p:cNvPr>
            <p:cNvCxnSpPr>
              <a:cxnSpLocks/>
            </p:cNvCxnSpPr>
            <p:nvPr/>
          </p:nvCxnSpPr>
          <p:spPr>
            <a:xfrm>
              <a:off x="237553" y="4217832"/>
              <a:ext cx="1915097" cy="0"/>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2" name="Oval 41">
            <a:extLst>
              <a:ext uri="{FF2B5EF4-FFF2-40B4-BE49-F238E27FC236}">
                <a16:creationId xmlns:a16="http://schemas.microsoft.com/office/drawing/2014/main" id="{FCA9A0C9-D83B-4317-1FAC-9839D52E12D4}"/>
              </a:ext>
            </a:extLst>
          </p:cNvPr>
          <p:cNvSpPr>
            <a:spLocks/>
          </p:cNvSpPr>
          <p:nvPr/>
        </p:nvSpPr>
        <p:spPr bwMode="gray">
          <a:xfrm>
            <a:off x="243196" y="309327"/>
            <a:ext cx="720000" cy="720000"/>
          </a:xfrm>
          <a:prstGeom prst="ellipse">
            <a:avLst/>
          </a:prstGeom>
          <a:noFill/>
          <a:ln w="28575"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84" name="TextBox 83">
            <a:extLst>
              <a:ext uri="{FF2B5EF4-FFF2-40B4-BE49-F238E27FC236}">
                <a16:creationId xmlns:a16="http://schemas.microsoft.com/office/drawing/2014/main" id="{20A7A132-C9CD-3D05-AA42-22481E1CE0F3}"/>
              </a:ext>
            </a:extLst>
          </p:cNvPr>
          <p:cNvSpPr txBox="1">
            <a:spLocks/>
          </p:cNvSpPr>
          <p:nvPr/>
        </p:nvSpPr>
        <p:spPr>
          <a:xfrm>
            <a:off x="2683705" y="6337716"/>
            <a:ext cx="8812295" cy="276999"/>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CA" sz="900" b="0" i="0" u="none" strike="noStrike" kern="1200" cap="none" spc="0" normalizeH="0" baseline="0" noProof="0">
                <a:ln>
                  <a:noFill/>
                </a:ln>
                <a:solidFill>
                  <a:srgbClr val="313131"/>
                </a:solidFill>
                <a:effectLst/>
                <a:uLnTx/>
                <a:uFillTx/>
                <a:latin typeface="Calibri"/>
                <a:ea typeface="+mn-ea"/>
                <a:cs typeface="+mn-cs"/>
              </a:rPr>
              <a:t>Sources: 1. </a:t>
            </a:r>
            <a:r>
              <a:rPr kumimoji="0" lang="en-CA" sz="900" b="0" i="0" u="none" strike="noStrike" kern="1200" cap="none" spc="0" normalizeH="0" baseline="0" noProof="0">
                <a:ln>
                  <a:noFill/>
                </a:ln>
                <a:solidFill>
                  <a:srgbClr val="313131"/>
                </a:solidFill>
                <a:effectLst/>
                <a:uLnTx/>
                <a:uFillTx/>
                <a:latin typeface="Calibri"/>
                <a:ea typeface="+mn-ea"/>
                <a:cs typeface="+mn-cs"/>
                <a:hlinkClick r:id="rId7"/>
              </a:rPr>
              <a:t>Social Capital Markets 2025 Report</a:t>
            </a:r>
            <a:r>
              <a:rPr kumimoji="0" lang="en-CA" sz="900" b="0" i="0" u="none" strike="noStrike" kern="1200" cap="none" spc="0" normalizeH="0" baseline="0" noProof="0">
                <a:ln>
                  <a:noFill/>
                </a:ln>
                <a:solidFill>
                  <a:srgbClr val="313131"/>
                </a:solidFill>
                <a:effectLst/>
                <a:uLnTx/>
                <a:uFillTx/>
                <a:latin typeface="Calibri"/>
                <a:ea typeface="+mn-ea"/>
                <a:cs typeface="+mn-cs"/>
              </a:rPr>
              <a:t>; 2. </a:t>
            </a:r>
            <a:r>
              <a:rPr kumimoji="0" lang="en-CA" sz="900" b="0" i="0" u="none" strike="noStrike" kern="1200" cap="none" spc="0" normalizeH="0" baseline="0" noProof="0">
                <a:ln>
                  <a:noFill/>
                </a:ln>
                <a:solidFill>
                  <a:srgbClr val="313131"/>
                </a:solidFill>
                <a:effectLst/>
                <a:uLnTx/>
                <a:uFillTx/>
                <a:latin typeface="Calibri"/>
                <a:ea typeface="+mn-ea"/>
                <a:cs typeface="+mn-cs"/>
                <a:hlinkClick r:id="rId8"/>
              </a:rPr>
              <a:t>Federal Trade Commission (FTC): A Scammy Snapshot of 2022</a:t>
            </a:r>
            <a:r>
              <a:rPr kumimoji="0" lang="en-CA" sz="900" b="0" i="0" u="none" strike="noStrike" kern="1200" cap="none" spc="0" normalizeH="0" baseline="0" noProof="0">
                <a:ln>
                  <a:noFill/>
                </a:ln>
                <a:solidFill>
                  <a:srgbClr val="313131"/>
                </a:solidFill>
                <a:effectLst/>
                <a:uLnTx/>
                <a:uFillTx/>
                <a:latin typeface="Calibri"/>
                <a:ea typeface="+mn-ea"/>
                <a:cs typeface="+mn-cs"/>
              </a:rPr>
              <a:t>; 3. </a:t>
            </a:r>
            <a:r>
              <a:rPr kumimoji="0" lang="en-CA" sz="900" b="0" i="0" u="none" strike="noStrike" kern="1200" cap="none" spc="0" normalizeH="0" baseline="0" noProof="0">
                <a:ln>
                  <a:noFill/>
                </a:ln>
                <a:solidFill>
                  <a:srgbClr val="313131"/>
                </a:solidFill>
                <a:effectLst/>
                <a:uLnTx/>
                <a:uFillTx/>
                <a:latin typeface="Calibri"/>
                <a:ea typeface="+mn-ea"/>
                <a:cs typeface="+mn-cs"/>
                <a:hlinkClick r:id="rId9"/>
              </a:rPr>
              <a:t>Ontario Securities Commission (OSC): Gamification Revisited – New Experimental Findings in Retail Investing</a:t>
            </a:r>
            <a:r>
              <a:rPr kumimoji="0" lang="en-CA" sz="900" b="0" i="0" u="none" strike="noStrike" kern="1200" cap="none" spc="0" normalizeH="0" baseline="0" noProof="0">
                <a:ln>
                  <a:noFill/>
                </a:ln>
                <a:solidFill>
                  <a:srgbClr val="313131"/>
                </a:solidFill>
                <a:effectLst/>
                <a:uLnTx/>
                <a:uFillTx/>
                <a:latin typeface="Calibri"/>
                <a:ea typeface="+mn-ea"/>
                <a:cs typeface="+mn-cs"/>
              </a:rPr>
              <a:t>; 4. </a:t>
            </a:r>
            <a:r>
              <a:rPr kumimoji="0" lang="en-CA" sz="900" b="0" i="0" u="none" strike="noStrike" kern="1200" cap="none" spc="0" normalizeH="0" baseline="0" noProof="0">
                <a:ln>
                  <a:noFill/>
                </a:ln>
                <a:solidFill>
                  <a:srgbClr val="313131"/>
                </a:solidFill>
                <a:effectLst/>
                <a:uLnTx/>
                <a:uFillTx/>
                <a:latin typeface="Calibri"/>
                <a:ea typeface="+mn-ea"/>
                <a:cs typeface="+mn-cs"/>
                <a:hlinkClick r:id="rId10"/>
              </a:rPr>
              <a:t>Determinants of Leadership in Online Social Trading (Kromidha &amp; Li, 2019)</a:t>
            </a:r>
            <a:endParaRPr kumimoji="0" lang="en-CA" sz="900" b="0" i="0" u="none" strike="noStrike" kern="1200" cap="none" spc="0" normalizeH="0" baseline="0" noProof="0">
              <a:ln>
                <a:noFill/>
              </a:ln>
              <a:solidFill>
                <a:srgbClr val="313131"/>
              </a:solidFill>
              <a:effectLst/>
              <a:uLnTx/>
              <a:uFillTx/>
              <a:latin typeface="Calibri"/>
              <a:ea typeface="+mn-ea"/>
              <a:cs typeface="+mn-cs"/>
            </a:endParaRPr>
          </a:p>
        </p:txBody>
      </p:sp>
      <p:sp>
        <p:nvSpPr>
          <p:cNvPr id="85" name="TextBox 84">
            <a:extLst>
              <a:ext uri="{FF2B5EF4-FFF2-40B4-BE49-F238E27FC236}">
                <a16:creationId xmlns:a16="http://schemas.microsoft.com/office/drawing/2014/main" id="{0DB7AF6F-C027-62DE-E2DC-C18AC1F3F0FC}"/>
              </a:ext>
            </a:extLst>
          </p:cNvPr>
          <p:cNvSpPr txBox="1">
            <a:spLocks/>
          </p:cNvSpPr>
          <p:nvPr/>
        </p:nvSpPr>
        <p:spPr>
          <a:xfrm>
            <a:off x="152217" y="1918690"/>
            <a:ext cx="2100935" cy="397201"/>
          </a:xfrm>
          <a:prstGeom prst="rect">
            <a:avLst/>
          </a:prstGeom>
          <a:noFill/>
        </p:spPr>
        <p:txBody>
          <a:bodyPr wrap="square" lIns="90000" tIns="90000" rIns="90000" bIns="90000">
            <a:spAutoFit/>
          </a:body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Calibri"/>
                <a:ea typeface="+mn-ea"/>
                <a:cs typeface="+mn-cs"/>
              </a:rPr>
              <a:t>Enabling Conditions</a:t>
            </a:r>
            <a:endParaRPr lang="en-US" sz="1400" b="1">
              <a:solidFill>
                <a:srgbClr val="000000"/>
              </a:solidFill>
              <a:latin typeface="Calibri"/>
            </a:endParaRPr>
          </a:p>
        </p:txBody>
      </p:sp>
      <p:pic>
        <p:nvPicPr>
          <p:cNvPr id="94" name="Picture 93">
            <a:extLst>
              <a:ext uri="{FF2B5EF4-FFF2-40B4-BE49-F238E27FC236}">
                <a16:creationId xmlns:a16="http://schemas.microsoft.com/office/drawing/2014/main" id="{BEED5EAF-4F67-158B-1BB5-7DDB5518291C}"/>
              </a:ext>
            </a:extLst>
          </p:cNvPr>
          <p:cNvPicPr>
            <a:picLocks noChangeAspect="1"/>
          </p:cNvPicPr>
          <p:nvPr/>
        </p:nvPicPr>
        <p:blipFill>
          <a:blip r:embed="rId11">
            <a:biLevel thresh="50000"/>
          </a:blip>
          <a:stretch>
            <a:fillRect/>
          </a:stretch>
        </p:blipFill>
        <p:spPr>
          <a:xfrm>
            <a:off x="345438" y="411569"/>
            <a:ext cx="515517" cy="515517"/>
          </a:xfrm>
          <a:prstGeom prst="rect">
            <a:avLst/>
          </a:prstGeom>
        </p:spPr>
      </p:pic>
      <p:sp>
        <p:nvSpPr>
          <p:cNvPr id="102" name="TextBox 101">
            <a:extLst>
              <a:ext uri="{FF2B5EF4-FFF2-40B4-BE49-F238E27FC236}">
                <a16:creationId xmlns:a16="http://schemas.microsoft.com/office/drawing/2014/main" id="{8EAB9741-9570-1ECB-2DDB-F9AC13DADB08}"/>
              </a:ext>
            </a:extLst>
          </p:cNvPr>
          <p:cNvSpPr txBox="1">
            <a:spLocks/>
          </p:cNvSpPr>
          <p:nvPr/>
        </p:nvSpPr>
        <p:spPr>
          <a:xfrm>
            <a:off x="3287878" y="1892182"/>
            <a:ext cx="3816000" cy="1338828"/>
          </a:xfrm>
          <a:prstGeom prst="rect">
            <a:avLst/>
          </a:prstGeom>
          <a:noFill/>
        </p:spPr>
        <p:txBody>
          <a:bodyPr wrap="square" rtlCol="0">
            <a:spAutoFit/>
          </a:bodyPr>
          <a:lstStyle/>
          <a:p>
            <a:pPr marL="0" marR="0" lvl="0" indent="0" algn="l" defTabSz="914400" eaLnBrk="1" fontAlgn="auto" latinLnBrk="0" hangingPunct="1">
              <a:lnSpc>
                <a:spcPct val="100000"/>
              </a:lnSpc>
              <a:spcBef>
                <a:spcPts val="0"/>
              </a:spcBef>
              <a:spcAft>
                <a:spcPts val="300"/>
              </a:spcAft>
              <a:buClrTx/>
              <a:buSzTx/>
              <a:buFontTx/>
              <a:buNone/>
              <a:tabLst/>
              <a:defRPr/>
            </a:pPr>
            <a:r>
              <a:rPr kumimoji="0" lang="en-CA" sz="1600" b="1" i="0" u="none" strike="noStrike" kern="1200" cap="none" spc="0" normalizeH="0" baseline="0" noProof="0">
                <a:ln>
                  <a:noFill/>
                </a:ln>
                <a:solidFill>
                  <a:srgbClr val="000000"/>
                </a:solidFill>
                <a:effectLst/>
                <a:uLnTx/>
                <a:uFillTx/>
                <a:latin typeface="+mj-lt"/>
                <a:ea typeface="+mn-ea"/>
                <a:cs typeface="+mn-cs"/>
              </a:rPr>
              <a:t>Unregistered Individuals</a:t>
            </a:r>
          </a:p>
          <a:p>
            <a:pPr>
              <a:spcAft>
                <a:spcPts val="300"/>
              </a:spcAft>
              <a:defRPr/>
            </a:pPr>
            <a:r>
              <a:rPr kumimoji="0" lang="en-CA" sz="1200" b="0" i="0" u="none" strike="noStrike" kern="1200" cap="none" spc="0" normalizeH="0" baseline="0" noProof="0">
                <a:ln>
                  <a:noFill/>
                </a:ln>
                <a:solidFill>
                  <a:srgbClr val="000000"/>
                </a:solidFill>
                <a:effectLst/>
                <a:uLnTx/>
                <a:uFillTx/>
                <a:latin typeface="+mj-lt"/>
                <a:ea typeface="+mn-ea"/>
                <a:cs typeface="+mn-cs"/>
              </a:rPr>
              <a:t>Only 13% of influencers had the relevant qualifications and credentials to advise on finance matters</a:t>
            </a:r>
            <a:r>
              <a:rPr kumimoji="0" lang="en-CA" sz="1200" b="0" i="0" u="none" strike="noStrike" kern="1200" cap="none" spc="0" normalizeH="0" baseline="30000" noProof="0">
                <a:ln>
                  <a:noFill/>
                </a:ln>
                <a:solidFill>
                  <a:srgbClr val="000000"/>
                </a:solidFill>
                <a:effectLst/>
                <a:uLnTx/>
                <a:uFillTx/>
                <a:latin typeface="+mj-lt"/>
                <a:ea typeface="+mn-ea"/>
                <a:cs typeface="+mn-cs"/>
              </a:rPr>
              <a:t>1</a:t>
            </a:r>
          </a:p>
          <a:p>
            <a:pPr>
              <a:spcAft>
                <a:spcPts val="300"/>
              </a:spcAft>
              <a:defRPr/>
            </a:pPr>
            <a:r>
              <a:rPr kumimoji="0" lang="en-US" sz="1200" b="0" i="1" u="sng" strike="noStrike" kern="1200" cap="none" spc="0" normalizeH="0" baseline="0" noProof="0">
                <a:ln>
                  <a:noFill/>
                </a:ln>
                <a:solidFill>
                  <a:srgbClr val="000000"/>
                </a:solidFill>
                <a:effectLst/>
                <a:uLnTx/>
                <a:uFillTx/>
                <a:latin typeface="+mj-lt"/>
                <a:ea typeface="+mn-ea"/>
                <a:cs typeface="+mn-cs"/>
              </a:rPr>
              <a:t>Enforcement Action:</a:t>
            </a:r>
            <a:r>
              <a:rPr kumimoji="0" lang="en-US" sz="1200" b="0" i="1" strike="noStrike" kern="1200" cap="none" spc="0" normalizeH="0" baseline="0" noProof="0">
                <a:ln>
                  <a:noFill/>
                </a:ln>
                <a:solidFill>
                  <a:srgbClr val="000000"/>
                </a:solidFill>
                <a:effectLst/>
                <a:uLnTx/>
                <a:uFillTx/>
                <a:latin typeface="+mj-lt"/>
                <a:ea typeface="+mn-ea"/>
                <a:cs typeface="+mn-cs"/>
              </a:rPr>
              <a:t> </a:t>
            </a:r>
            <a:r>
              <a:rPr kumimoji="0" lang="en-US" sz="1200" b="0" i="0" u="none" strike="noStrike" kern="1200" cap="none" spc="0" normalizeH="0" baseline="0" noProof="0">
                <a:ln>
                  <a:noFill/>
                </a:ln>
                <a:solidFill>
                  <a:srgbClr val="000000"/>
                </a:solidFill>
                <a:effectLst/>
                <a:uLnTx/>
                <a:uFillTx/>
                <a:latin typeface="+mj-lt"/>
                <a:ea typeface="+mn-ea"/>
                <a:cs typeface="+mn-cs"/>
              </a:rPr>
              <a:t>In June 2025, the FCA led a global crackdown on illegal influencers, resulting in 3 arrests, 7 cease-and-desist letters, and 650+ take-down requests</a:t>
            </a:r>
          </a:p>
        </p:txBody>
      </p:sp>
      <p:sp>
        <p:nvSpPr>
          <p:cNvPr id="103" name="TextBox 102">
            <a:extLst>
              <a:ext uri="{FF2B5EF4-FFF2-40B4-BE49-F238E27FC236}">
                <a16:creationId xmlns:a16="http://schemas.microsoft.com/office/drawing/2014/main" id="{87E210E3-7C6E-BB07-AA6C-31FB824C5018}"/>
              </a:ext>
            </a:extLst>
          </p:cNvPr>
          <p:cNvSpPr txBox="1">
            <a:spLocks/>
          </p:cNvSpPr>
          <p:nvPr/>
        </p:nvSpPr>
        <p:spPr>
          <a:xfrm>
            <a:off x="3287878" y="3364268"/>
            <a:ext cx="3816000" cy="13388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CA" sz="1600" b="1" i="0" u="none" strike="noStrike" kern="1200" cap="none" spc="0" normalizeH="0" baseline="0" noProof="0">
                <a:ln>
                  <a:noFill/>
                </a:ln>
                <a:solidFill>
                  <a:srgbClr val="000000"/>
                </a:solidFill>
                <a:effectLst/>
                <a:uLnTx/>
                <a:uFillTx/>
                <a:latin typeface="Calibri"/>
                <a:ea typeface="+mn-ea"/>
                <a:cs typeface="+mn-cs"/>
              </a:rPr>
              <a:t>Misleading Advice</a:t>
            </a:r>
          </a:p>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CA" sz="1200" b="0" i="0" u="none" strike="noStrike" kern="1200" cap="none" spc="0" normalizeH="0" baseline="0" noProof="0">
                <a:ln>
                  <a:noFill/>
                </a:ln>
                <a:solidFill>
                  <a:srgbClr val="000000"/>
                </a:solidFill>
                <a:effectLst/>
                <a:uLnTx/>
                <a:uFillTx/>
                <a:latin typeface="Calibri"/>
                <a:ea typeface="+mn-ea"/>
                <a:cs typeface="+mn-cs"/>
              </a:rPr>
              <a:t>71% of financial advice consumed by Gen Z and Millennials is misleading</a:t>
            </a:r>
            <a:r>
              <a:rPr kumimoji="0" lang="en-CA" sz="1200" b="0" i="0" u="none" strike="noStrike" kern="1200" cap="none" spc="0" normalizeH="0" baseline="30000" noProof="0">
                <a:ln>
                  <a:noFill/>
                </a:ln>
                <a:solidFill>
                  <a:srgbClr val="000000"/>
                </a:solidFill>
                <a:effectLst/>
                <a:uLnTx/>
                <a:uFillTx/>
                <a:latin typeface="Calibri"/>
                <a:ea typeface="+mn-ea"/>
                <a:cs typeface="+mn-cs"/>
              </a:rPr>
              <a:t>1</a:t>
            </a:r>
            <a:endParaRPr kumimoji="0" lang="en-CA" sz="1200" b="0" i="0" u="none" strike="noStrike" kern="1200" cap="none" spc="0" normalizeH="0" baseline="0" noProof="0">
              <a:ln>
                <a:noFill/>
              </a:ln>
              <a:solidFill>
                <a:srgbClr val="000000"/>
              </a:solidFill>
              <a:effectLst/>
              <a:uLnTx/>
              <a:uFillTx/>
              <a:latin typeface="Calibri"/>
              <a:ea typeface="+mn-ea"/>
              <a:cs typeface="+mn-cs"/>
            </a:endParaRPr>
          </a:p>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CA" sz="1200" i="1" u="sng" strike="noStrike" kern="1200" cap="none" spc="0" normalizeH="0" baseline="0" noProof="0">
                <a:ln>
                  <a:noFill/>
                </a:ln>
                <a:solidFill>
                  <a:srgbClr val="000000"/>
                </a:solidFill>
                <a:effectLst/>
                <a:uLnTx/>
                <a:uFillTx/>
                <a:latin typeface="Calibri"/>
                <a:ea typeface="+mn-ea"/>
                <a:cs typeface="+mn-cs"/>
              </a:rPr>
              <a:t>Enforcement Action</a:t>
            </a:r>
            <a:r>
              <a:rPr kumimoji="0" lang="en-CA" sz="1200" i="1" u="none" strike="noStrike" kern="1200" cap="none" spc="0" normalizeH="0" baseline="0" noProof="0">
                <a:ln>
                  <a:noFill/>
                </a:ln>
                <a:solidFill>
                  <a:srgbClr val="000000"/>
                </a:solidFill>
                <a:effectLst/>
                <a:uLnTx/>
                <a:uFillTx/>
                <a:latin typeface="Calibri"/>
                <a:ea typeface="+mn-ea"/>
                <a:cs typeface="+mn-cs"/>
              </a:rPr>
              <a:t>: </a:t>
            </a:r>
            <a:r>
              <a:rPr kumimoji="0" lang="en-CA" sz="1200" b="0" i="0" u="none" strike="noStrike" kern="1200" cap="none" spc="0" normalizeH="0" baseline="0" noProof="0">
                <a:ln>
                  <a:noFill/>
                </a:ln>
                <a:solidFill>
                  <a:srgbClr val="000000"/>
                </a:solidFill>
                <a:effectLst/>
                <a:uLnTx/>
                <a:uFillTx/>
                <a:latin typeface="Calibri"/>
                <a:ea typeface="+mn-ea"/>
                <a:cs typeface="+mn-cs"/>
              </a:rPr>
              <a:t>In March 2024, M1 Finance was fined $850K by FINRA for failing to supervise 1,700 influencers whose posts included exaggerated or false claims</a:t>
            </a:r>
          </a:p>
        </p:txBody>
      </p:sp>
      <p:sp>
        <p:nvSpPr>
          <p:cNvPr id="104" name="TextBox 103">
            <a:extLst>
              <a:ext uri="{FF2B5EF4-FFF2-40B4-BE49-F238E27FC236}">
                <a16:creationId xmlns:a16="http://schemas.microsoft.com/office/drawing/2014/main" id="{6285402C-80B2-858F-2511-BCBEC4243CC7}"/>
              </a:ext>
            </a:extLst>
          </p:cNvPr>
          <p:cNvSpPr txBox="1">
            <a:spLocks/>
          </p:cNvSpPr>
          <p:nvPr/>
        </p:nvSpPr>
        <p:spPr>
          <a:xfrm>
            <a:off x="7994380" y="1892182"/>
            <a:ext cx="3816000" cy="13003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CA" sz="1600" b="1">
                <a:solidFill>
                  <a:srgbClr val="000000"/>
                </a:solidFill>
                <a:latin typeface="Calibri"/>
              </a:rPr>
              <a:t>Inherited Finfluencer Risks</a:t>
            </a:r>
            <a:endParaRPr kumimoji="0" lang="en-CA" sz="1600" b="1" i="0" u="none" strike="noStrike" kern="1200" cap="none" spc="0" normalizeH="0" baseline="0" noProof="0">
              <a:ln>
                <a:noFill/>
              </a:ln>
              <a:solidFill>
                <a:srgbClr val="000000"/>
              </a:solidFill>
              <a:effectLst/>
              <a:uLnTx/>
              <a:uFillTx/>
              <a:latin typeface="Calibri"/>
              <a:ea typeface="+mn-ea"/>
              <a:cs typeface="+mn-cs"/>
            </a:endParaRPr>
          </a:p>
          <a:p>
            <a:pPr marL="0" marR="0" lvl="0" indent="0" algn="l" defTabSz="1219170" rtl="0" eaLnBrk="1" fontAlgn="auto" latinLnBrk="0" hangingPunct="1">
              <a:lnSpc>
                <a:spcPct val="100000"/>
              </a:lnSpc>
              <a:spcBef>
                <a:spcPts val="0"/>
              </a:spcBef>
              <a:spcAft>
                <a:spcPts val="300"/>
              </a:spcAft>
              <a:buClrTx/>
              <a:buSzTx/>
              <a:buFontTx/>
              <a:buNone/>
              <a:tabLst/>
              <a:defRPr/>
            </a:pPr>
            <a:r>
              <a:rPr lang="en-US" sz="1200">
                <a:solidFill>
                  <a:srgbClr val="000000"/>
                </a:solidFill>
                <a:latin typeface="Calibri"/>
              </a:rPr>
              <a:t>All risks associated with finfluencers extend to copy trading, as the feature enables investors to directly follow and execute finfluencers’ recommendations; as such, customer copy trading complaints received by global regulators are often treated as issues of investment advice</a:t>
            </a:r>
          </a:p>
        </p:txBody>
      </p:sp>
      <p:sp>
        <p:nvSpPr>
          <p:cNvPr id="105" name="TextBox 104">
            <a:extLst>
              <a:ext uri="{FF2B5EF4-FFF2-40B4-BE49-F238E27FC236}">
                <a16:creationId xmlns:a16="http://schemas.microsoft.com/office/drawing/2014/main" id="{DEFD997C-FDAA-464F-12F4-F46543A984AF}"/>
              </a:ext>
            </a:extLst>
          </p:cNvPr>
          <p:cNvSpPr txBox="1">
            <a:spLocks/>
          </p:cNvSpPr>
          <p:nvPr/>
        </p:nvSpPr>
        <p:spPr>
          <a:xfrm>
            <a:off x="7994380" y="3364268"/>
            <a:ext cx="3816000" cy="11156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CA" sz="1600" b="1" i="0" u="none" strike="noStrike" kern="1200" cap="none" spc="0" normalizeH="0" baseline="0" noProof="0">
                <a:ln>
                  <a:noFill/>
                </a:ln>
                <a:solidFill>
                  <a:srgbClr val="000000"/>
                </a:solidFill>
                <a:effectLst/>
                <a:uLnTx/>
                <a:uFillTx/>
                <a:latin typeface="Calibri"/>
                <a:ea typeface="+mn-ea"/>
                <a:cs typeface="+mn-cs"/>
              </a:rPr>
              <a:t>Herding Behaviour</a:t>
            </a:r>
          </a:p>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CA" sz="1200" b="0" i="0" u="none" strike="noStrike" kern="1200" cap="none" spc="0" normalizeH="0" baseline="0" noProof="0">
                <a:ln>
                  <a:noFill/>
                </a:ln>
                <a:solidFill>
                  <a:srgbClr val="000000"/>
                </a:solidFill>
                <a:effectLst/>
                <a:uLnTx/>
                <a:uFillTx/>
                <a:latin typeface="Calibri"/>
                <a:ea typeface="+mn-ea"/>
                <a:cs typeface="+mn-cs"/>
              </a:rPr>
              <a:t>An OSC study</a:t>
            </a:r>
            <a:r>
              <a:rPr kumimoji="0" lang="en-CA" sz="1200" b="0" i="0" u="none" strike="noStrike" kern="1200" cap="none" spc="0" normalizeH="0" baseline="30000" noProof="0">
                <a:ln>
                  <a:noFill/>
                </a:ln>
                <a:solidFill>
                  <a:srgbClr val="000000"/>
                </a:solidFill>
                <a:effectLst/>
                <a:uLnTx/>
                <a:uFillTx/>
                <a:latin typeface="Calibri"/>
                <a:ea typeface="+mn-ea"/>
                <a:cs typeface="+mn-cs"/>
              </a:rPr>
              <a:t>3</a:t>
            </a:r>
            <a:r>
              <a:rPr kumimoji="0" lang="en-CA" sz="1200" b="0" i="0" u="none" strike="noStrike" kern="1200" cap="none" spc="0" normalizeH="0" baseline="0" noProof="0">
                <a:ln>
                  <a:noFill/>
                </a:ln>
                <a:solidFill>
                  <a:srgbClr val="000000"/>
                </a:solidFill>
                <a:effectLst/>
                <a:uLnTx/>
                <a:uFillTx/>
                <a:latin typeface="Calibri"/>
                <a:ea typeface="+mn-ea"/>
                <a:cs typeface="+mn-cs"/>
              </a:rPr>
              <a:t> shows investors who were given the option to copy a ‘high performing’ user traded 18% more in promoted stocks, likely leading to under-diversification and excessive risk-taking</a:t>
            </a:r>
          </a:p>
        </p:txBody>
      </p:sp>
      <p:sp>
        <p:nvSpPr>
          <p:cNvPr id="106" name="TextBox 105">
            <a:extLst>
              <a:ext uri="{FF2B5EF4-FFF2-40B4-BE49-F238E27FC236}">
                <a16:creationId xmlns:a16="http://schemas.microsoft.com/office/drawing/2014/main" id="{4333CC18-6923-77FA-9D09-2457A5135CD4}"/>
              </a:ext>
            </a:extLst>
          </p:cNvPr>
          <p:cNvSpPr txBox="1">
            <a:spLocks/>
          </p:cNvSpPr>
          <p:nvPr/>
        </p:nvSpPr>
        <p:spPr>
          <a:xfrm>
            <a:off x="7994380" y="4836355"/>
            <a:ext cx="3816000" cy="11156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CA" sz="1600" b="1" i="0" u="none" strike="noStrike" kern="1200" cap="none" spc="0" normalizeH="0" baseline="0" noProof="0">
                <a:ln>
                  <a:noFill/>
                </a:ln>
                <a:solidFill>
                  <a:srgbClr val="000000"/>
                </a:solidFill>
                <a:effectLst/>
                <a:uLnTx/>
                <a:uFillTx/>
                <a:latin typeface="Calibri"/>
                <a:ea typeface="+mn-ea"/>
                <a:cs typeface="+mn-cs"/>
              </a:rPr>
              <a:t>Followers’ Lack of Understanding</a:t>
            </a:r>
          </a:p>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CA" sz="1200" b="0" i="0" u="none" strike="noStrike" kern="1200" cap="none" spc="0" normalizeH="0" baseline="0" noProof="0">
                <a:ln>
                  <a:noFill/>
                </a:ln>
                <a:solidFill>
                  <a:srgbClr val="000000"/>
                </a:solidFill>
                <a:effectLst/>
                <a:uLnTx/>
                <a:uFillTx/>
                <a:latin typeface="Calibri"/>
                <a:ea typeface="+mn-ea"/>
                <a:cs typeface="+mn-cs"/>
              </a:rPr>
              <a:t>Users often choose lead traders to copy based on credentials or popularity, not actual performance or risk,</a:t>
            </a:r>
            <a:r>
              <a:rPr kumimoji="0" lang="en-CA" sz="1200" b="0" i="0" u="none" strike="noStrike" kern="1200" cap="none" spc="0" normalizeH="0" baseline="30000" noProof="0">
                <a:ln>
                  <a:noFill/>
                </a:ln>
                <a:solidFill>
                  <a:srgbClr val="000000"/>
                </a:solidFill>
                <a:effectLst/>
                <a:uLnTx/>
                <a:uFillTx/>
                <a:latin typeface="Calibri"/>
                <a:ea typeface="+mn-ea"/>
                <a:cs typeface="+mn-cs"/>
              </a:rPr>
              <a:t>4</a:t>
            </a:r>
            <a:r>
              <a:rPr kumimoji="0" lang="en-CA" sz="1200" b="0" i="0" u="none" strike="noStrike" kern="1200" cap="none" spc="0" normalizeH="0" baseline="0" noProof="0">
                <a:ln>
                  <a:noFill/>
                </a:ln>
                <a:solidFill>
                  <a:srgbClr val="000000"/>
                </a:solidFill>
                <a:effectLst/>
                <a:uLnTx/>
                <a:uFillTx/>
                <a:latin typeface="Calibri"/>
                <a:ea typeface="+mn-ea"/>
                <a:cs typeface="+mn-cs"/>
              </a:rPr>
              <a:t> which may result in investors copying unsuitable or risky strategies without proper assessment</a:t>
            </a:r>
          </a:p>
        </p:txBody>
      </p:sp>
      <p:cxnSp>
        <p:nvCxnSpPr>
          <p:cNvPr id="108" name="Straight Connector 107">
            <a:extLst>
              <a:ext uri="{FF2B5EF4-FFF2-40B4-BE49-F238E27FC236}">
                <a16:creationId xmlns:a16="http://schemas.microsoft.com/office/drawing/2014/main" id="{498B0C84-757B-E193-B60A-1D01A0D3CC92}"/>
              </a:ext>
            </a:extLst>
          </p:cNvPr>
          <p:cNvCxnSpPr>
            <a:cxnSpLocks/>
          </p:cNvCxnSpPr>
          <p:nvPr/>
        </p:nvCxnSpPr>
        <p:spPr>
          <a:xfrm>
            <a:off x="2683706" y="1748438"/>
            <a:ext cx="4303066"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A73296FE-EC2E-2B10-CDA1-0C1DD6BCF6D7}"/>
              </a:ext>
            </a:extLst>
          </p:cNvPr>
          <p:cNvSpPr>
            <a:spLocks/>
          </p:cNvSpPr>
          <p:nvPr/>
        </p:nvSpPr>
        <p:spPr>
          <a:xfrm>
            <a:off x="2683706" y="1409884"/>
            <a:ext cx="4303066" cy="338554"/>
          </a:xfrm>
          <a:prstGeom prst="rect">
            <a:avLst/>
          </a:prstGeom>
        </p:spPr>
        <p:txBody>
          <a:bodyPr wrap="square" lIns="0">
            <a:spAutoFit/>
          </a:bodyPr>
          <a:lstStyle/>
          <a:p>
            <a:pPr marL="0" marR="0" lvl="1" indent="0" defTabSz="914400" eaLnBrk="1" fontAlgn="auto" latinLnBrk="0" hangingPunct="1">
              <a:lnSpc>
                <a:spcPct val="100000"/>
              </a:lnSpc>
              <a:spcBef>
                <a:spcPts val="600"/>
              </a:spcBef>
              <a:spcAft>
                <a:spcPts val="0"/>
              </a:spcAft>
              <a:buClrTx/>
              <a:buSzPct val="100000"/>
              <a:buFontTx/>
              <a:buNone/>
              <a:tabLst/>
              <a:defRPr/>
            </a:pPr>
            <a:r>
              <a:rPr kumimoji="0" lang="en-CA"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Risks from Finfluencers</a:t>
            </a:r>
          </a:p>
        </p:txBody>
      </p:sp>
      <p:pic>
        <p:nvPicPr>
          <p:cNvPr id="114" name="Picture 113">
            <a:extLst>
              <a:ext uri="{FF2B5EF4-FFF2-40B4-BE49-F238E27FC236}">
                <a16:creationId xmlns:a16="http://schemas.microsoft.com/office/drawing/2014/main" id="{10100377-55E0-E0F1-A5E5-BBB4CA08DE78}"/>
              </a:ext>
            </a:extLst>
          </p:cNvPr>
          <p:cNvPicPr>
            <a:picLocks noChangeAspect="1"/>
          </p:cNvPicPr>
          <p:nvPr/>
        </p:nvPicPr>
        <p:blipFill>
          <a:blip r:embed="rId12"/>
          <a:stretch>
            <a:fillRect/>
          </a:stretch>
        </p:blipFill>
        <p:spPr>
          <a:xfrm>
            <a:off x="2768997" y="2370702"/>
            <a:ext cx="369416" cy="381789"/>
          </a:xfrm>
          <a:prstGeom prst="rect">
            <a:avLst/>
          </a:prstGeom>
        </p:spPr>
      </p:pic>
      <p:sp>
        <p:nvSpPr>
          <p:cNvPr id="115" name="Graphic 4">
            <a:extLst>
              <a:ext uri="{FF2B5EF4-FFF2-40B4-BE49-F238E27FC236}">
                <a16:creationId xmlns:a16="http://schemas.microsoft.com/office/drawing/2014/main" id="{724D00E7-9AF7-2532-AC9C-A9E2E8E5EB7F}"/>
              </a:ext>
            </a:extLst>
          </p:cNvPr>
          <p:cNvSpPr>
            <a:spLocks/>
          </p:cNvSpPr>
          <p:nvPr/>
        </p:nvSpPr>
        <p:spPr>
          <a:xfrm>
            <a:off x="2683705" y="2291596"/>
            <a:ext cx="540000" cy="540000"/>
          </a:xfrm>
          <a:custGeom>
            <a:avLst/>
            <a:gdLst>
              <a:gd name="connsiteX0" fmla="*/ 180836 w 361674"/>
              <a:gd name="connsiteY0" fmla="*/ 349204 h 361333"/>
              <a:gd name="connsiteX1" fmla="*/ 12780 w 361674"/>
              <a:gd name="connsiteY1" fmla="*/ 181305 h 361333"/>
              <a:gd name="connsiteX2" fmla="*/ 180836 w 361674"/>
              <a:gd name="connsiteY2" fmla="*/ 13407 h 361333"/>
              <a:gd name="connsiteX3" fmla="*/ 348890 w 361674"/>
              <a:gd name="connsiteY3" fmla="*/ 181305 h 361333"/>
              <a:gd name="connsiteX4" fmla="*/ 180836 w 361674"/>
              <a:gd name="connsiteY4" fmla="*/ 349204 h 361333"/>
              <a:gd name="connsiteX5" fmla="*/ 180836 w 361674"/>
              <a:gd name="connsiteY5" fmla="*/ 0 h 361333"/>
              <a:gd name="connsiteX6" fmla="*/ 0 w 361674"/>
              <a:gd name="connsiteY6" fmla="*/ 180667 h 361333"/>
              <a:gd name="connsiteX7" fmla="*/ 180836 w 361674"/>
              <a:gd name="connsiteY7" fmla="*/ 361334 h 361333"/>
              <a:gd name="connsiteX8" fmla="*/ 361670 w 361674"/>
              <a:gd name="connsiteY8" fmla="*/ 180667 h 361333"/>
              <a:gd name="connsiteX9" fmla="*/ 180836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6" y="349204"/>
                </a:moveTo>
                <a:cubicBezTo>
                  <a:pt x="88181" y="349204"/>
                  <a:pt x="12780" y="273873"/>
                  <a:pt x="12780" y="181305"/>
                </a:cubicBezTo>
                <a:cubicBezTo>
                  <a:pt x="12780" y="88738"/>
                  <a:pt x="88181" y="13407"/>
                  <a:pt x="180836" y="13407"/>
                </a:cubicBezTo>
                <a:cubicBezTo>
                  <a:pt x="273490" y="13407"/>
                  <a:pt x="348890" y="88738"/>
                  <a:pt x="348890" y="181305"/>
                </a:cubicBezTo>
                <a:cubicBezTo>
                  <a:pt x="349530" y="273234"/>
                  <a:pt x="274128" y="349204"/>
                  <a:pt x="180836" y="349204"/>
                </a:cubicBezTo>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path>
            </a:pathLst>
          </a:custGeom>
          <a:solidFill>
            <a:schemeClr val="accent1"/>
          </a:solidFill>
          <a:ln w="6390" cap="flat">
            <a:noFill/>
            <a:prstDash val="solid"/>
            <a:miter/>
          </a:ln>
        </p:spPr>
        <p:txBody>
          <a:bodyPr rtlCol="0" anchor="ctr"/>
          <a:lstStyle/>
          <a:p>
            <a:endParaRPr lang="en-US">
              <a:latin typeface="+mj-lt"/>
            </a:endParaRPr>
          </a:p>
        </p:txBody>
      </p:sp>
      <p:grpSp>
        <p:nvGrpSpPr>
          <p:cNvPr id="116" name="Group 115">
            <a:extLst>
              <a:ext uri="{FF2B5EF4-FFF2-40B4-BE49-F238E27FC236}">
                <a16:creationId xmlns:a16="http://schemas.microsoft.com/office/drawing/2014/main" id="{879EB85F-D706-3AC3-59E3-307968FE71F7}"/>
              </a:ext>
            </a:extLst>
          </p:cNvPr>
          <p:cNvGrpSpPr>
            <a:grpSpLocks/>
          </p:cNvGrpSpPr>
          <p:nvPr/>
        </p:nvGrpSpPr>
        <p:grpSpPr>
          <a:xfrm>
            <a:off x="2683705" y="3763682"/>
            <a:ext cx="540000" cy="540000"/>
            <a:chOff x="2617447" y="3170050"/>
            <a:chExt cx="540000" cy="540000"/>
          </a:xfrm>
        </p:grpSpPr>
        <p:pic>
          <p:nvPicPr>
            <p:cNvPr id="117" name="Picture 116">
              <a:extLst>
                <a:ext uri="{FF2B5EF4-FFF2-40B4-BE49-F238E27FC236}">
                  <a16:creationId xmlns:a16="http://schemas.microsoft.com/office/drawing/2014/main" id="{A48ABC31-EA04-9739-9D2B-5CFDBF58B9BB}"/>
                </a:ext>
              </a:extLst>
            </p:cNvPr>
            <p:cNvPicPr>
              <a:picLocks noChangeAspect="1"/>
            </p:cNvPicPr>
            <p:nvPr/>
          </p:nvPicPr>
          <p:blipFill>
            <a:blip r:embed="rId13"/>
            <a:stretch>
              <a:fillRect/>
            </a:stretch>
          </p:blipFill>
          <p:spPr>
            <a:xfrm>
              <a:off x="2721559" y="3268606"/>
              <a:ext cx="331777" cy="342889"/>
            </a:xfrm>
            <a:prstGeom prst="rect">
              <a:avLst/>
            </a:prstGeom>
          </p:spPr>
        </p:pic>
        <p:sp>
          <p:nvSpPr>
            <p:cNvPr id="118" name="Graphic 4">
              <a:extLst>
                <a:ext uri="{FF2B5EF4-FFF2-40B4-BE49-F238E27FC236}">
                  <a16:creationId xmlns:a16="http://schemas.microsoft.com/office/drawing/2014/main" id="{1D629F1D-FBDB-62F4-DA7F-D0B497878CF0}"/>
                </a:ext>
              </a:extLst>
            </p:cNvPr>
            <p:cNvSpPr>
              <a:spLocks/>
            </p:cNvSpPr>
            <p:nvPr/>
          </p:nvSpPr>
          <p:spPr>
            <a:xfrm>
              <a:off x="2617447" y="3170050"/>
              <a:ext cx="540000" cy="540000"/>
            </a:xfrm>
            <a:custGeom>
              <a:avLst/>
              <a:gdLst>
                <a:gd name="connsiteX0" fmla="*/ 180836 w 361674"/>
                <a:gd name="connsiteY0" fmla="*/ 349204 h 361333"/>
                <a:gd name="connsiteX1" fmla="*/ 12780 w 361674"/>
                <a:gd name="connsiteY1" fmla="*/ 181305 h 361333"/>
                <a:gd name="connsiteX2" fmla="*/ 180836 w 361674"/>
                <a:gd name="connsiteY2" fmla="*/ 13407 h 361333"/>
                <a:gd name="connsiteX3" fmla="*/ 348890 w 361674"/>
                <a:gd name="connsiteY3" fmla="*/ 181305 h 361333"/>
                <a:gd name="connsiteX4" fmla="*/ 180836 w 361674"/>
                <a:gd name="connsiteY4" fmla="*/ 349204 h 361333"/>
                <a:gd name="connsiteX5" fmla="*/ 180836 w 361674"/>
                <a:gd name="connsiteY5" fmla="*/ 0 h 361333"/>
                <a:gd name="connsiteX6" fmla="*/ 0 w 361674"/>
                <a:gd name="connsiteY6" fmla="*/ 180667 h 361333"/>
                <a:gd name="connsiteX7" fmla="*/ 180836 w 361674"/>
                <a:gd name="connsiteY7" fmla="*/ 361334 h 361333"/>
                <a:gd name="connsiteX8" fmla="*/ 361670 w 361674"/>
                <a:gd name="connsiteY8" fmla="*/ 180667 h 361333"/>
                <a:gd name="connsiteX9" fmla="*/ 180836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6" y="349204"/>
                  </a:moveTo>
                  <a:cubicBezTo>
                    <a:pt x="88181" y="349204"/>
                    <a:pt x="12780" y="273873"/>
                    <a:pt x="12780" y="181305"/>
                  </a:cubicBezTo>
                  <a:cubicBezTo>
                    <a:pt x="12780" y="88738"/>
                    <a:pt x="88181" y="13407"/>
                    <a:pt x="180836" y="13407"/>
                  </a:cubicBezTo>
                  <a:cubicBezTo>
                    <a:pt x="273490" y="13407"/>
                    <a:pt x="348890" y="88738"/>
                    <a:pt x="348890" y="181305"/>
                  </a:cubicBezTo>
                  <a:cubicBezTo>
                    <a:pt x="349530" y="273234"/>
                    <a:pt x="274128" y="349204"/>
                    <a:pt x="180836" y="349204"/>
                  </a:cubicBezTo>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path>
              </a:pathLst>
            </a:custGeom>
            <a:solidFill>
              <a:schemeClr val="accent1"/>
            </a:solidFill>
            <a:ln w="6390" cap="flat">
              <a:noFill/>
              <a:prstDash val="solid"/>
              <a:miter/>
            </a:ln>
          </p:spPr>
          <p:txBody>
            <a:bodyPr rtlCol="0" anchor="ctr"/>
            <a:lstStyle/>
            <a:p>
              <a:endParaRPr lang="en-US">
                <a:latin typeface="+mj-lt"/>
              </a:endParaRPr>
            </a:p>
          </p:txBody>
        </p:sp>
      </p:grpSp>
      <p:grpSp>
        <p:nvGrpSpPr>
          <p:cNvPr id="119" name="Group 118">
            <a:extLst>
              <a:ext uri="{FF2B5EF4-FFF2-40B4-BE49-F238E27FC236}">
                <a16:creationId xmlns:a16="http://schemas.microsoft.com/office/drawing/2014/main" id="{3381E0D0-66FF-7480-D63A-CFAB272D1826}"/>
              </a:ext>
            </a:extLst>
          </p:cNvPr>
          <p:cNvGrpSpPr>
            <a:grpSpLocks/>
          </p:cNvGrpSpPr>
          <p:nvPr/>
        </p:nvGrpSpPr>
        <p:grpSpPr>
          <a:xfrm>
            <a:off x="2683705" y="5216533"/>
            <a:ext cx="540000" cy="540000"/>
            <a:chOff x="2658375" y="4558318"/>
            <a:chExt cx="540000" cy="540000"/>
          </a:xfrm>
        </p:grpSpPr>
        <p:pic>
          <p:nvPicPr>
            <p:cNvPr id="120" name="Picture 119">
              <a:extLst>
                <a:ext uri="{FF2B5EF4-FFF2-40B4-BE49-F238E27FC236}">
                  <a16:creationId xmlns:a16="http://schemas.microsoft.com/office/drawing/2014/main" id="{3730A046-D652-83B3-17AD-76A74DC16AE6}"/>
                </a:ext>
              </a:extLst>
            </p:cNvPr>
            <p:cNvPicPr>
              <a:picLocks noChangeAspect="1"/>
            </p:cNvPicPr>
            <p:nvPr/>
          </p:nvPicPr>
          <p:blipFill>
            <a:blip r:embed="rId14"/>
            <a:stretch>
              <a:fillRect/>
            </a:stretch>
          </p:blipFill>
          <p:spPr>
            <a:xfrm>
              <a:off x="2762422" y="4656807"/>
              <a:ext cx="331906" cy="343022"/>
            </a:xfrm>
            <a:prstGeom prst="rect">
              <a:avLst/>
            </a:prstGeom>
          </p:spPr>
        </p:pic>
        <p:sp>
          <p:nvSpPr>
            <p:cNvPr id="121" name="Graphic 4">
              <a:extLst>
                <a:ext uri="{FF2B5EF4-FFF2-40B4-BE49-F238E27FC236}">
                  <a16:creationId xmlns:a16="http://schemas.microsoft.com/office/drawing/2014/main" id="{BDD4AC39-F335-9BD9-ACEC-F6F134C7B18F}"/>
                </a:ext>
              </a:extLst>
            </p:cNvPr>
            <p:cNvSpPr>
              <a:spLocks/>
            </p:cNvSpPr>
            <p:nvPr/>
          </p:nvSpPr>
          <p:spPr>
            <a:xfrm>
              <a:off x="2658375" y="4558318"/>
              <a:ext cx="540000" cy="540000"/>
            </a:xfrm>
            <a:custGeom>
              <a:avLst/>
              <a:gdLst>
                <a:gd name="connsiteX0" fmla="*/ 180836 w 361674"/>
                <a:gd name="connsiteY0" fmla="*/ 349204 h 361333"/>
                <a:gd name="connsiteX1" fmla="*/ 12780 w 361674"/>
                <a:gd name="connsiteY1" fmla="*/ 181305 h 361333"/>
                <a:gd name="connsiteX2" fmla="*/ 180836 w 361674"/>
                <a:gd name="connsiteY2" fmla="*/ 13407 h 361333"/>
                <a:gd name="connsiteX3" fmla="*/ 348890 w 361674"/>
                <a:gd name="connsiteY3" fmla="*/ 181305 h 361333"/>
                <a:gd name="connsiteX4" fmla="*/ 180836 w 361674"/>
                <a:gd name="connsiteY4" fmla="*/ 349204 h 361333"/>
                <a:gd name="connsiteX5" fmla="*/ 180836 w 361674"/>
                <a:gd name="connsiteY5" fmla="*/ 0 h 361333"/>
                <a:gd name="connsiteX6" fmla="*/ 0 w 361674"/>
                <a:gd name="connsiteY6" fmla="*/ 180667 h 361333"/>
                <a:gd name="connsiteX7" fmla="*/ 180836 w 361674"/>
                <a:gd name="connsiteY7" fmla="*/ 361334 h 361333"/>
                <a:gd name="connsiteX8" fmla="*/ 361670 w 361674"/>
                <a:gd name="connsiteY8" fmla="*/ 180667 h 361333"/>
                <a:gd name="connsiteX9" fmla="*/ 180836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6" y="349204"/>
                  </a:moveTo>
                  <a:cubicBezTo>
                    <a:pt x="88181" y="349204"/>
                    <a:pt x="12780" y="273873"/>
                    <a:pt x="12780" y="181305"/>
                  </a:cubicBezTo>
                  <a:cubicBezTo>
                    <a:pt x="12780" y="88738"/>
                    <a:pt x="88181" y="13407"/>
                    <a:pt x="180836" y="13407"/>
                  </a:cubicBezTo>
                  <a:cubicBezTo>
                    <a:pt x="273490" y="13407"/>
                    <a:pt x="348890" y="88738"/>
                    <a:pt x="348890" y="181305"/>
                  </a:cubicBezTo>
                  <a:cubicBezTo>
                    <a:pt x="349530" y="273234"/>
                    <a:pt x="274128" y="349204"/>
                    <a:pt x="180836" y="349204"/>
                  </a:cubicBezTo>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path>
              </a:pathLst>
            </a:custGeom>
            <a:solidFill>
              <a:schemeClr val="accent1"/>
            </a:solidFill>
            <a:ln w="6390" cap="flat">
              <a:noFill/>
              <a:prstDash val="solid"/>
              <a:miter/>
            </a:ln>
          </p:spPr>
          <p:txBody>
            <a:bodyPr rtlCol="0" anchor="ctr"/>
            <a:lstStyle/>
            <a:p>
              <a:endParaRPr lang="en-US">
                <a:latin typeface="+mj-lt"/>
              </a:endParaRPr>
            </a:p>
          </p:txBody>
        </p:sp>
      </p:grpSp>
      <p:grpSp>
        <p:nvGrpSpPr>
          <p:cNvPr id="122" name="Group 121">
            <a:extLst>
              <a:ext uri="{FF2B5EF4-FFF2-40B4-BE49-F238E27FC236}">
                <a16:creationId xmlns:a16="http://schemas.microsoft.com/office/drawing/2014/main" id="{DA639ED8-A2BC-109E-1572-150F36E08F9A}"/>
              </a:ext>
            </a:extLst>
          </p:cNvPr>
          <p:cNvGrpSpPr>
            <a:grpSpLocks/>
          </p:cNvGrpSpPr>
          <p:nvPr/>
        </p:nvGrpSpPr>
        <p:grpSpPr>
          <a:xfrm>
            <a:off x="7391898" y="3763682"/>
            <a:ext cx="540000" cy="540000"/>
            <a:chOff x="6317246" y="1922073"/>
            <a:chExt cx="540000" cy="540000"/>
          </a:xfrm>
        </p:grpSpPr>
        <p:sp>
          <p:nvSpPr>
            <p:cNvPr id="123" name="Graphic 4">
              <a:extLst>
                <a:ext uri="{FF2B5EF4-FFF2-40B4-BE49-F238E27FC236}">
                  <a16:creationId xmlns:a16="http://schemas.microsoft.com/office/drawing/2014/main" id="{0B515005-E6B3-09BD-448B-7E293CC26604}"/>
                </a:ext>
              </a:extLst>
            </p:cNvPr>
            <p:cNvSpPr>
              <a:spLocks/>
            </p:cNvSpPr>
            <p:nvPr/>
          </p:nvSpPr>
          <p:spPr>
            <a:xfrm>
              <a:off x="6317246" y="1922073"/>
              <a:ext cx="540000" cy="540000"/>
            </a:xfrm>
            <a:custGeom>
              <a:avLst/>
              <a:gdLst>
                <a:gd name="connsiteX0" fmla="*/ 180836 w 361674"/>
                <a:gd name="connsiteY0" fmla="*/ 349204 h 361333"/>
                <a:gd name="connsiteX1" fmla="*/ 12780 w 361674"/>
                <a:gd name="connsiteY1" fmla="*/ 181305 h 361333"/>
                <a:gd name="connsiteX2" fmla="*/ 180836 w 361674"/>
                <a:gd name="connsiteY2" fmla="*/ 13407 h 361333"/>
                <a:gd name="connsiteX3" fmla="*/ 348890 w 361674"/>
                <a:gd name="connsiteY3" fmla="*/ 181305 h 361333"/>
                <a:gd name="connsiteX4" fmla="*/ 180836 w 361674"/>
                <a:gd name="connsiteY4" fmla="*/ 349204 h 361333"/>
                <a:gd name="connsiteX5" fmla="*/ 180836 w 361674"/>
                <a:gd name="connsiteY5" fmla="*/ 0 h 361333"/>
                <a:gd name="connsiteX6" fmla="*/ 0 w 361674"/>
                <a:gd name="connsiteY6" fmla="*/ 180667 h 361333"/>
                <a:gd name="connsiteX7" fmla="*/ 180836 w 361674"/>
                <a:gd name="connsiteY7" fmla="*/ 361334 h 361333"/>
                <a:gd name="connsiteX8" fmla="*/ 361670 w 361674"/>
                <a:gd name="connsiteY8" fmla="*/ 180667 h 361333"/>
                <a:gd name="connsiteX9" fmla="*/ 180836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6" y="349204"/>
                  </a:moveTo>
                  <a:cubicBezTo>
                    <a:pt x="88181" y="349204"/>
                    <a:pt x="12780" y="273873"/>
                    <a:pt x="12780" y="181305"/>
                  </a:cubicBezTo>
                  <a:cubicBezTo>
                    <a:pt x="12780" y="88738"/>
                    <a:pt x="88181" y="13407"/>
                    <a:pt x="180836" y="13407"/>
                  </a:cubicBezTo>
                  <a:cubicBezTo>
                    <a:pt x="273490" y="13407"/>
                    <a:pt x="348890" y="88738"/>
                    <a:pt x="348890" y="181305"/>
                  </a:cubicBezTo>
                  <a:cubicBezTo>
                    <a:pt x="349530" y="273234"/>
                    <a:pt x="274128" y="349204"/>
                    <a:pt x="180836" y="349204"/>
                  </a:cubicBezTo>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path>
              </a:pathLst>
            </a:custGeom>
            <a:solidFill>
              <a:schemeClr val="accent1"/>
            </a:solidFill>
            <a:ln w="6390" cap="flat">
              <a:noFill/>
              <a:prstDash val="solid"/>
              <a:miter/>
            </a:ln>
          </p:spPr>
          <p:txBody>
            <a:bodyPr rtlCol="0" anchor="ctr"/>
            <a:lstStyle/>
            <a:p>
              <a:endParaRPr lang="en-US">
                <a:latin typeface="+mj-lt"/>
              </a:endParaRPr>
            </a:p>
          </p:txBody>
        </p:sp>
        <p:pic>
          <p:nvPicPr>
            <p:cNvPr id="124" name="Picture 123">
              <a:extLst>
                <a:ext uri="{FF2B5EF4-FFF2-40B4-BE49-F238E27FC236}">
                  <a16:creationId xmlns:a16="http://schemas.microsoft.com/office/drawing/2014/main" id="{41FAEC9A-783F-B262-D2C3-9D2EE08722FE}"/>
                </a:ext>
              </a:extLst>
            </p:cNvPr>
            <p:cNvPicPr>
              <a:picLocks noChangeAspect="1"/>
            </p:cNvPicPr>
            <p:nvPr/>
          </p:nvPicPr>
          <p:blipFill>
            <a:blip r:embed="rId15"/>
            <a:stretch>
              <a:fillRect/>
            </a:stretch>
          </p:blipFill>
          <p:spPr>
            <a:xfrm>
              <a:off x="6371346" y="1976173"/>
              <a:ext cx="431800" cy="431800"/>
            </a:xfrm>
            <a:prstGeom prst="rect">
              <a:avLst/>
            </a:prstGeom>
          </p:spPr>
        </p:pic>
      </p:grpSp>
      <p:grpSp>
        <p:nvGrpSpPr>
          <p:cNvPr id="125" name="Group 124">
            <a:extLst>
              <a:ext uri="{FF2B5EF4-FFF2-40B4-BE49-F238E27FC236}">
                <a16:creationId xmlns:a16="http://schemas.microsoft.com/office/drawing/2014/main" id="{38D8EC10-FE72-C0B8-44EA-D031685F8FDB}"/>
              </a:ext>
            </a:extLst>
          </p:cNvPr>
          <p:cNvGrpSpPr>
            <a:grpSpLocks/>
          </p:cNvGrpSpPr>
          <p:nvPr/>
        </p:nvGrpSpPr>
        <p:grpSpPr>
          <a:xfrm>
            <a:off x="7391898" y="5216533"/>
            <a:ext cx="540000" cy="540000"/>
            <a:chOff x="6312454" y="3261183"/>
            <a:chExt cx="540000" cy="540000"/>
          </a:xfrm>
        </p:grpSpPr>
        <p:sp>
          <p:nvSpPr>
            <p:cNvPr id="126" name="Graphic 4">
              <a:extLst>
                <a:ext uri="{FF2B5EF4-FFF2-40B4-BE49-F238E27FC236}">
                  <a16:creationId xmlns:a16="http://schemas.microsoft.com/office/drawing/2014/main" id="{12776124-D88C-66DF-8084-041BD3BFABF4}"/>
                </a:ext>
              </a:extLst>
            </p:cNvPr>
            <p:cNvSpPr>
              <a:spLocks/>
            </p:cNvSpPr>
            <p:nvPr/>
          </p:nvSpPr>
          <p:spPr>
            <a:xfrm>
              <a:off x="6312454" y="3261183"/>
              <a:ext cx="540000" cy="540000"/>
            </a:xfrm>
            <a:custGeom>
              <a:avLst/>
              <a:gdLst>
                <a:gd name="connsiteX0" fmla="*/ 180836 w 361674"/>
                <a:gd name="connsiteY0" fmla="*/ 349204 h 361333"/>
                <a:gd name="connsiteX1" fmla="*/ 12780 w 361674"/>
                <a:gd name="connsiteY1" fmla="*/ 181305 h 361333"/>
                <a:gd name="connsiteX2" fmla="*/ 180836 w 361674"/>
                <a:gd name="connsiteY2" fmla="*/ 13407 h 361333"/>
                <a:gd name="connsiteX3" fmla="*/ 348890 w 361674"/>
                <a:gd name="connsiteY3" fmla="*/ 181305 h 361333"/>
                <a:gd name="connsiteX4" fmla="*/ 180836 w 361674"/>
                <a:gd name="connsiteY4" fmla="*/ 349204 h 361333"/>
                <a:gd name="connsiteX5" fmla="*/ 180836 w 361674"/>
                <a:gd name="connsiteY5" fmla="*/ 0 h 361333"/>
                <a:gd name="connsiteX6" fmla="*/ 0 w 361674"/>
                <a:gd name="connsiteY6" fmla="*/ 180667 h 361333"/>
                <a:gd name="connsiteX7" fmla="*/ 180836 w 361674"/>
                <a:gd name="connsiteY7" fmla="*/ 361334 h 361333"/>
                <a:gd name="connsiteX8" fmla="*/ 361670 w 361674"/>
                <a:gd name="connsiteY8" fmla="*/ 180667 h 361333"/>
                <a:gd name="connsiteX9" fmla="*/ 180836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6" y="349204"/>
                  </a:moveTo>
                  <a:cubicBezTo>
                    <a:pt x="88181" y="349204"/>
                    <a:pt x="12780" y="273873"/>
                    <a:pt x="12780" y="181305"/>
                  </a:cubicBezTo>
                  <a:cubicBezTo>
                    <a:pt x="12780" y="88738"/>
                    <a:pt x="88181" y="13407"/>
                    <a:pt x="180836" y="13407"/>
                  </a:cubicBezTo>
                  <a:cubicBezTo>
                    <a:pt x="273490" y="13407"/>
                    <a:pt x="348890" y="88738"/>
                    <a:pt x="348890" y="181305"/>
                  </a:cubicBezTo>
                  <a:cubicBezTo>
                    <a:pt x="349530" y="273234"/>
                    <a:pt x="274128" y="349204"/>
                    <a:pt x="180836" y="349204"/>
                  </a:cubicBezTo>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path>
              </a:pathLst>
            </a:custGeom>
            <a:solidFill>
              <a:schemeClr val="accent1"/>
            </a:solidFill>
            <a:ln w="6390" cap="flat">
              <a:noFill/>
              <a:prstDash val="solid"/>
              <a:miter/>
            </a:ln>
          </p:spPr>
          <p:txBody>
            <a:bodyPr rtlCol="0" anchor="ctr"/>
            <a:lstStyle/>
            <a:p>
              <a:endParaRPr lang="en-US">
                <a:latin typeface="+mj-lt"/>
              </a:endParaRPr>
            </a:p>
          </p:txBody>
        </p:sp>
        <p:pic>
          <p:nvPicPr>
            <p:cNvPr id="127" name="Picture 126">
              <a:extLst>
                <a:ext uri="{FF2B5EF4-FFF2-40B4-BE49-F238E27FC236}">
                  <a16:creationId xmlns:a16="http://schemas.microsoft.com/office/drawing/2014/main" id="{F6F77CED-F332-4757-0252-C6630224714B}"/>
                </a:ext>
              </a:extLst>
            </p:cNvPr>
            <p:cNvPicPr>
              <a:picLocks noChangeAspect="1"/>
            </p:cNvPicPr>
            <p:nvPr/>
          </p:nvPicPr>
          <p:blipFill>
            <a:blip r:embed="rId16"/>
            <a:stretch>
              <a:fillRect/>
            </a:stretch>
          </p:blipFill>
          <p:spPr>
            <a:xfrm>
              <a:off x="6401479" y="3331158"/>
              <a:ext cx="361950" cy="361950"/>
            </a:xfrm>
            <a:prstGeom prst="rect">
              <a:avLst/>
            </a:prstGeom>
          </p:spPr>
        </p:pic>
      </p:grpSp>
      <p:cxnSp>
        <p:nvCxnSpPr>
          <p:cNvPr id="128" name="Straight Connector 127">
            <a:extLst>
              <a:ext uri="{FF2B5EF4-FFF2-40B4-BE49-F238E27FC236}">
                <a16:creationId xmlns:a16="http://schemas.microsoft.com/office/drawing/2014/main" id="{211741C4-82E4-CCE2-F9C4-EE4270E73662}"/>
              </a:ext>
            </a:extLst>
          </p:cNvPr>
          <p:cNvCxnSpPr>
            <a:cxnSpLocks/>
          </p:cNvCxnSpPr>
          <p:nvPr/>
        </p:nvCxnSpPr>
        <p:spPr>
          <a:xfrm>
            <a:off x="7189335" y="1892182"/>
            <a:ext cx="0" cy="4244529"/>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90EEC20F-16B5-7F5F-5226-62740ED67D06}"/>
              </a:ext>
            </a:extLst>
          </p:cNvPr>
          <p:cNvSpPr txBox="1">
            <a:spLocks/>
          </p:cNvSpPr>
          <p:nvPr/>
        </p:nvSpPr>
        <p:spPr>
          <a:xfrm>
            <a:off x="3287878" y="4836355"/>
            <a:ext cx="3816000" cy="13003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alibri"/>
                <a:ea typeface="+mn-ea"/>
                <a:cs typeface="+mn-cs"/>
              </a:rPr>
              <a:t>Market Manipulation</a:t>
            </a:r>
          </a:p>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a:ea typeface="+mn-ea"/>
                <a:cs typeface="+mn-cs"/>
              </a:rPr>
              <a:t>Investment scam losses in the U.S. doubled between 2021 and 2022 to $3.8B, with many originating on social media</a:t>
            </a:r>
            <a:r>
              <a:rPr kumimoji="0" lang="en-US" sz="1200" b="0" i="0" u="none" strike="noStrike" kern="1200" cap="none" spc="0" normalizeH="0" baseline="30000" noProof="0">
                <a:ln>
                  <a:noFill/>
                </a:ln>
                <a:solidFill>
                  <a:srgbClr val="000000"/>
                </a:solidFill>
                <a:effectLst/>
                <a:uLnTx/>
                <a:uFillTx/>
                <a:latin typeface="Calibri"/>
                <a:ea typeface="+mn-ea"/>
                <a:cs typeface="+mn-cs"/>
              </a:rPr>
              <a:t>2</a:t>
            </a:r>
            <a:endParaRPr kumimoji="0" lang="en-US" sz="1200" b="0" i="0" u="none" strike="noStrike" kern="1200" cap="none" spc="0" normalizeH="0" baseline="0" noProof="0">
              <a:ln>
                <a:noFill/>
              </a:ln>
              <a:solidFill>
                <a:srgbClr val="000000"/>
              </a:solidFill>
              <a:effectLst/>
              <a:uLnTx/>
              <a:uFillTx/>
              <a:latin typeface="Calibri"/>
              <a:ea typeface="+mn-ea"/>
              <a:cs typeface="+mn-cs"/>
            </a:endParaRPr>
          </a:p>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US" sz="1200" i="1" u="sng" strike="noStrike" kern="1200" cap="none" spc="0" normalizeH="0" baseline="0" noProof="0">
                <a:ln>
                  <a:noFill/>
                </a:ln>
                <a:solidFill>
                  <a:srgbClr val="000000"/>
                </a:solidFill>
                <a:effectLst/>
                <a:uLnTx/>
                <a:uFillTx/>
                <a:latin typeface="Calibri"/>
                <a:ea typeface="+mn-ea"/>
                <a:cs typeface="+mn-cs"/>
              </a:rPr>
              <a:t>Enforcement Action</a:t>
            </a:r>
            <a:r>
              <a:rPr kumimoji="0" lang="en-US" sz="1200" i="1" u="none" strike="noStrike" kern="1200" cap="none" spc="0" normalizeH="0" baseline="0" noProof="0">
                <a:ln>
                  <a:noFill/>
                </a:ln>
                <a:solidFill>
                  <a:srgbClr val="000000"/>
                </a:solidFill>
                <a:effectLst/>
                <a:uLnTx/>
                <a:uFillTx/>
                <a:latin typeface="Calibri"/>
                <a:ea typeface="+mn-ea"/>
                <a:cs typeface="+mn-cs"/>
              </a:rPr>
              <a:t>: </a:t>
            </a:r>
            <a:r>
              <a:rPr kumimoji="0" lang="en-US" sz="1200" b="0" i="0" u="none" strike="noStrike" kern="1200" cap="none" spc="0" normalizeH="0" baseline="0" noProof="0">
                <a:ln>
                  <a:noFill/>
                </a:ln>
                <a:solidFill>
                  <a:srgbClr val="000000"/>
                </a:solidFill>
                <a:effectLst/>
                <a:uLnTx/>
                <a:uFillTx/>
                <a:latin typeface="Calibri"/>
                <a:ea typeface="+mn-ea"/>
                <a:cs typeface="+mn-cs"/>
              </a:rPr>
              <a:t>In December 2022, the SEC charged 8 influencers with running a $100M pump-and-dump scheme by coordinating posts on X and Discord</a:t>
            </a:r>
            <a:endParaRPr kumimoji="0" lang="en-CA" sz="1400" b="0" i="0" u="none" strike="noStrike" kern="1200" cap="none" spc="0" normalizeH="0" baseline="0" noProof="0">
              <a:ln>
                <a:noFill/>
              </a:ln>
              <a:solidFill>
                <a:srgbClr val="000000"/>
              </a:solidFill>
              <a:effectLst/>
              <a:uLnTx/>
              <a:uFillTx/>
              <a:latin typeface="Calibri"/>
              <a:ea typeface="+mn-ea"/>
              <a:cs typeface="+mn-cs"/>
            </a:endParaRPr>
          </a:p>
        </p:txBody>
      </p:sp>
      <p:cxnSp>
        <p:nvCxnSpPr>
          <p:cNvPr id="138" name="Straight Connector 137">
            <a:extLst>
              <a:ext uri="{FF2B5EF4-FFF2-40B4-BE49-F238E27FC236}">
                <a16:creationId xmlns:a16="http://schemas.microsoft.com/office/drawing/2014/main" id="{5AF7A418-FF9E-2451-541B-A5FBC5C9BABD}"/>
              </a:ext>
            </a:extLst>
          </p:cNvPr>
          <p:cNvCxnSpPr>
            <a:cxnSpLocks/>
          </p:cNvCxnSpPr>
          <p:nvPr/>
        </p:nvCxnSpPr>
        <p:spPr>
          <a:xfrm>
            <a:off x="7391898" y="1748438"/>
            <a:ext cx="4303066"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5BD2D266-6E09-D2D3-E7D5-725AD94B5490}"/>
              </a:ext>
            </a:extLst>
          </p:cNvPr>
          <p:cNvSpPr>
            <a:spLocks/>
          </p:cNvSpPr>
          <p:nvPr/>
        </p:nvSpPr>
        <p:spPr>
          <a:xfrm>
            <a:off x="7391898" y="1409884"/>
            <a:ext cx="4303066" cy="338554"/>
          </a:xfrm>
          <a:prstGeom prst="rect">
            <a:avLst/>
          </a:prstGeom>
        </p:spPr>
        <p:txBody>
          <a:bodyPr wrap="square" lIns="0">
            <a:spAutoFit/>
          </a:bodyPr>
          <a:lstStyle/>
          <a:p>
            <a:pPr marL="0" marR="0" lvl="1" indent="0" defTabSz="914400" eaLnBrk="1" fontAlgn="auto" latinLnBrk="0" hangingPunct="1">
              <a:lnSpc>
                <a:spcPct val="100000"/>
              </a:lnSpc>
              <a:spcBef>
                <a:spcPts val="600"/>
              </a:spcBef>
              <a:spcAft>
                <a:spcPts val="0"/>
              </a:spcAft>
              <a:buClrTx/>
              <a:buSzPct val="100000"/>
              <a:buFontTx/>
              <a:buNone/>
              <a:tabLst/>
              <a:defRPr/>
            </a:pPr>
            <a:r>
              <a:rPr kumimoji="0" lang="en-CA" sz="16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Risks from Copy Trading</a:t>
            </a:r>
          </a:p>
        </p:txBody>
      </p:sp>
      <p:sp>
        <p:nvSpPr>
          <p:cNvPr id="131" name="Graphic 4">
            <a:extLst>
              <a:ext uri="{FF2B5EF4-FFF2-40B4-BE49-F238E27FC236}">
                <a16:creationId xmlns:a16="http://schemas.microsoft.com/office/drawing/2014/main" id="{1C4E1F4C-AF8B-DC13-5F3D-40864CA718DA}"/>
              </a:ext>
            </a:extLst>
          </p:cNvPr>
          <p:cNvSpPr>
            <a:spLocks/>
          </p:cNvSpPr>
          <p:nvPr/>
        </p:nvSpPr>
        <p:spPr>
          <a:xfrm>
            <a:off x="7391898" y="2291596"/>
            <a:ext cx="540000" cy="540000"/>
          </a:xfrm>
          <a:custGeom>
            <a:avLst/>
            <a:gdLst>
              <a:gd name="connsiteX0" fmla="*/ 180836 w 361674"/>
              <a:gd name="connsiteY0" fmla="*/ 349204 h 361333"/>
              <a:gd name="connsiteX1" fmla="*/ 12780 w 361674"/>
              <a:gd name="connsiteY1" fmla="*/ 181305 h 361333"/>
              <a:gd name="connsiteX2" fmla="*/ 180836 w 361674"/>
              <a:gd name="connsiteY2" fmla="*/ 13407 h 361333"/>
              <a:gd name="connsiteX3" fmla="*/ 348890 w 361674"/>
              <a:gd name="connsiteY3" fmla="*/ 181305 h 361333"/>
              <a:gd name="connsiteX4" fmla="*/ 180836 w 361674"/>
              <a:gd name="connsiteY4" fmla="*/ 349204 h 361333"/>
              <a:gd name="connsiteX5" fmla="*/ 180836 w 361674"/>
              <a:gd name="connsiteY5" fmla="*/ 0 h 361333"/>
              <a:gd name="connsiteX6" fmla="*/ 0 w 361674"/>
              <a:gd name="connsiteY6" fmla="*/ 180667 h 361333"/>
              <a:gd name="connsiteX7" fmla="*/ 180836 w 361674"/>
              <a:gd name="connsiteY7" fmla="*/ 361334 h 361333"/>
              <a:gd name="connsiteX8" fmla="*/ 361670 w 361674"/>
              <a:gd name="connsiteY8" fmla="*/ 180667 h 361333"/>
              <a:gd name="connsiteX9" fmla="*/ 180836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6" y="349204"/>
                </a:moveTo>
                <a:cubicBezTo>
                  <a:pt x="88181" y="349204"/>
                  <a:pt x="12780" y="273873"/>
                  <a:pt x="12780" y="181305"/>
                </a:cubicBezTo>
                <a:cubicBezTo>
                  <a:pt x="12780" y="88738"/>
                  <a:pt x="88181" y="13407"/>
                  <a:pt x="180836" y="13407"/>
                </a:cubicBezTo>
                <a:cubicBezTo>
                  <a:pt x="273490" y="13407"/>
                  <a:pt x="348890" y="88738"/>
                  <a:pt x="348890" y="181305"/>
                </a:cubicBezTo>
                <a:cubicBezTo>
                  <a:pt x="349530" y="273234"/>
                  <a:pt x="274128" y="349204"/>
                  <a:pt x="180836" y="349204"/>
                </a:cubicBezTo>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path>
            </a:pathLst>
          </a:custGeom>
          <a:solidFill>
            <a:schemeClr val="accent1"/>
          </a:solidFill>
          <a:ln w="6390" cap="flat">
            <a:noFill/>
            <a:prstDash val="solid"/>
            <a:miter/>
          </a:ln>
        </p:spPr>
        <p:txBody>
          <a:bodyPr rtlCol="0" anchor="ctr"/>
          <a:lstStyle/>
          <a:p>
            <a:endParaRPr lang="en-US">
              <a:latin typeface="+mj-lt"/>
            </a:endParaRPr>
          </a:p>
        </p:txBody>
      </p:sp>
      <p:pic>
        <p:nvPicPr>
          <p:cNvPr id="142" name="Picture 141">
            <a:extLst>
              <a:ext uri="{FF2B5EF4-FFF2-40B4-BE49-F238E27FC236}">
                <a16:creationId xmlns:a16="http://schemas.microsoft.com/office/drawing/2014/main" id="{2E929307-361D-7FA7-D6BE-46CC149FA4C7}"/>
              </a:ext>
            </a:extLst>
          </p:cNvPr>
          <p:cNvPicPr>
            <a:picLocks noChangeAspect="1"/>
          </p:cNvPicPr>
          <p:nvPr/>
        </p:nvPicPr>
        <p:blipFill>
          <a:blip r:embed="rId17"/>
          <a:stretch>
            <a:fillRect/>
          </a:stretch>
        </p:blipFill>
        <p:spPr>
          <a:xfrm>
            <a:off x="7331830" y="2223649"/>
            <a:ext cx="671110" cy="671110"/>
          </a:xfrm>
          <a:prstGeom prst="rect">
            <a:avLst/>
          </a:prstGeom>
        </p:spPr>
      </p:pic>
    </p:spTree>
    <p:extLst>
      <p:ext uri="{BB962C8B-B14F-4D97-AF65-F5344CB8AC3E}">
        <p14:creationId xmlns:p14="http://schemas.microsoft.com/office/powerpoint/2010/main" val="189615771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bg>
      <p:bgPr>
        <a:solidFill>
          <a:schemeClr val="bg1">
            <a:alpha val="70000"/>
          </a:schemeClr>
        </a:solidFill>
        <a:effectLst/>
      </p:bgPr>
    </p:bg>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1043500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21" name="Group 20">
            <a:extLst>
              <a:ext uri="{FF2B5EF4-FFF2-40B4-BE49-F238E27FC236}">
                <a16:creationId xmlns:a16="http://schemas.microsoft.com/office/drawing/2014/main" id="{9483751F-3846-ADF0-9ABC-4763187143B6}"/>
              </a:ext>
            </a:extLst>
          </p:cNvPr>
          <p:cNvGrpSpPr>
            <a:grpSpLocks/>
          </p:cNvGrpSpPr>
          <p:nvPr/>
        </p:nvGrpSpPr>
        <p:grpSpPr>
          <a:xfrm>
            <a:off x="2590801" y="1714500"/>
            <a:ext cx="9099550" cy="4530000"/>
            <a:chOff x="2590801" y="1714500"/>
            <a:chExt cx="9099550" cy="4530000"/>
          </a:xfrm>
        </p:grpSpPr>
        <p:sp>
          <p:nvSpPr>
            <p:cNvPr id="28" name="Rectangle 25">
              <a:extLst>
                <a:ext uri="{FF2B5EF4-FFF2-40B4-BE49-F238E27FC236}">
                  <a16:creationId xmlns:a16="http://schemas.microsoft.com/office/drawing/2014/main" id="{55DDADCF-684E-6FE3-7D21-8BB03997F32C}"/>
                </a:ext>
              </a:extLst>
            </p:cNvPr>
            <p:cNvSpPr>
              <a:spLocks/>
            </p:cNvSpPr>
            <p:nvPr/>
          </p:nvSpPr>
          <p:spPr bwMode="gray">
            <a:xfrm>
              <a:off x="2590801" y="1714500"/>
              <a:ext cx="9099550" cy="4530000"/>
            </a:xfrm>
            <a:prstGeom prst="roundRect">
              <a:avLst>
                <a:gd name="adj" fmla="val 4388"/>
              </a:avLst>
            </a:prstGeom>
            <a:gradFill>
              <a:gsLst>
                <a:gs pos="0">
                  <a:schemeClr val="accent3">
                    <a:lumMod val="20000"/>
                    <a:lumOff val="80000"/>
                  </a:schemeClr>
                </a:gs>
                <a:gs pos="80000">
                  <a:srgbClr val="EDF3B2"/>
                </a:gs>
                <a:gs pos="100000">
                  <a:srgbClr val="EDF3B2"/>
                </a:gs>
              </a:gsLst>
              <a:lin ang="16200000" scaled="1"/>
            </a:gra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sp>
          <p:nvSpPr>
            <p:cNvPr id="32" name="Rectangle 26">
              <a:extLst>
                <a:ext uri="{FF2B5EF4-FFF2-40B4-BE49-F238E27FC236}">
                  <a16:creationId xmlns:a16="http://schemas.microsoft.com/office/drawing/2014/main" id="{26807CAE-D198-A762-DE63-3B5E78AD0170}"/>
                </a:ext>
              </a:extLst>
            </p:cNvPr>
            <p:cNvSpPr>
              <a:spLocks/>
            </p:cNvSpPr>
            <p:nvPr/>
          </p:nvSpPr>
          <p:spPr bwMode="gray">
            <a:xfrm>
              <a:off x="2590802" y="1714500"/>
              <a:ext cx="9099549" cy="4530000"/>
            </a:xfrm>
            <a:prstGeom prst="roundRect">
              <a:avLst>
                <a:gd name="adj" fmla="val 4472"/>
              </a:avLst>
            </a:prstGeom>
            <a:solidFill>
              <a:schemeClr val="bg1">
                <a:alpha val="30000"/>
              </a:schemeClr>
            </a:solidFill>
            <a:ln w="19050" algn="ctr">
              <a:noFill/>
              <a:miter lim="800000"/>
              <a:headEnd/>
              <a:tailEnd/>
            </a:ln>
          </p:spPr>
          <p:txBody>
            <a:bodyPr wrap="square" lIns="432000" tIns="88900" rIns="432000" bIns="88900" rtlCol="0" anchor="ctr"/>
            <a:lstStyle/>
            <a:p>
              <a:pPr algn="ctr">
                <a:lnSpc>
                  <a:spcPct val="106000"/>
                </a:lnSpc>
                <a:buFont typeface="Wingdings 2" pitchFamily="18" charset="2"/>
                <a:buNone/>
              </a:pPr>
              <a:endParaRPr lang="en-CA" sz="1400" b="1"/>
            </a:p>
          </p:txBody>
        </p:sp>
      </p:grpSp>
      <p:sp>
        <p:nvSpPr>
          <p:cNvPr id="2" name="Text Placeholder 1">
            <a:extLst>
              <a:ext uri="{FF2B5EF4-FFF2-40B4-BE49-F238E27FC236}">
                <a16:creationId xmlns:a16="http://schemas.microsoft.com/office/drawing/2014/main" id="{738F0E80-AC91-4A1F-8E56-CCBC7BBA31F6}"/>
              </a:ext>
            </a:extLst>
          </p:cNvPr>
          <p:cNvSpPr>
            <a:spLocks noGrp="1"/>
          </p:cNvSpPr>
          <p:nvPr>
            <p:ph type="body" sz="quarter" idx="21"/>
          </p:nvPr>
        </p:nvSpPr>
        <p:spPr>
          <a:xfrm>
            <a:off x="501650" y="651600"/>
            <a:ext cx="11188700" cy="757255"/>
          </a:xfrm>
        </p:spPr>
        <p:txBody>
          <a:bodyPr/>
          <a:lstStyle/>
          <a:p>
            <a:r>
              <a:rPr lang="en-US"/>
              <a:t>The Proposed Guidance empowers OEOs to design end-to-end, guided investor journeys that fulfill all DIY investing needs on their platform</a:t>
            </a:r>
          </a:p>
        </p:txBody>
      </p:sp>
      <p:sp>
        <p:nvSpPr>
          <p:cNvPr id="4" name="Title 3"/>
          <p:cNvSpPr>
            <a:spLocks noGrp="1"/>
          </p:cNvSpPr>
          <p:nvPr>
            <p:ph type="title"/>
          </p:nvPr>
        </p:nvSpPr>
        <p:spPr/>
        <p:txBody>
          <a:bodyPr vert="horz"/>
          <a:lstStyle/>
          <a:p>
            <a:r>
              <a:rPr lang="en-US"/>
              <a:t>Orchestrated Journey: </a:t>
            </a:r>
            <a:r>
              <a:rPr lang="en-US" noProof="0"/>
              <a:t>Combining Decision-Making Supports</a:t>
            </a:r>
          </a:p>
        </p:txBody>
      </p:sp>
      <p:sp>
        <p:nvSpPr>
          <p:cNvPr id="5" name="Slide Number Placeholder 4"/>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16</a:t>
            </a:fld>
            <a:endParaRPr lang="en-US"/>
          </a:p>
        </p:txBody>
      </p:sp>
      <p:sp>
        <p:nvSpPr>
          <p:cNvPr id="80" name="TextBox 79">
            <a:extLst>
              <a:ext uri="{FF2B5EF4-FFF2-40B4-BE49-F238E27FC236}">
                <a16:creationId xmlns:a16="http://schemas.microsoft.com/office/drawing/2014/main" id="{29398DA2-FAA0-1B27-36D9-9DFD3AEF27F0}"/>
              </a:ext>
            </a:extLst>
          </p:cNvPr>
          <p:cNvSpPr txBox="1">
            <a:spLocks/>
          </p:cNvSpPr>
          <p:nvPr/>
        </p:nvSpPr>
        <p:spPr>
          <a:xfrm>
            <a:off x="3025625" y="1442977"/>
            <a:ext cx="2510134" cy="246221"/>
          </a:xfrm>
          <a:prstGeom prst="rect">
            <a:avLst/>
          </a:prstGeom>
          <a:noFill/>
        </p:spPr>
        <p:txBody>
          <a:bodyPr wrap="square" lIns="0" tIns="0" rIns="0" bIns="0" rtlCol="0">
            <a:spAutoFit/>
          </a:bodyPr>
          <a:lstStyle/>
          <a:p>
            <a:pPr>
              <a:spcBef>
                <a:spcPts val="600"/>
              </a:spcBef>
              <a:buSzPct val="100000"/>
            </a:pPr>
            <a:r>
              <a:rPr lang="en-CA" sz="1600" b="1" i="1" u="sng">
                <a:solidFill>
                  <a:schemeClr val="bg2">
                    <a:lumMod val="50000"/>
                  </a:schemeClr>
                </a:solidFill>
              </a:rPr>
              <a:t>Before Proposed Guidance:</a:t>
            </a:r>
          </a:p>
        </p:txBody>
      </p:sp>
      <p:sp>
        <p:nvSpPr>
          <p:cNvPr id="81" name="TextBox 80">
            <a:extLst>
              <a:ext uri="{FF2B5EF4-FFF2-40B4-BE49-F238E27FC236}">
                <a16:creationId xmlns:a16="http://schemas.microsoft.com/office/drawing/2014/main" id="{D40B6014-1886-B337-24D9-DB6F2F82C361}"/>
              </a:ext>
            </a:extLst>
          </p:cNvPr>
          <p:cNvSpPr txBox="1">
            <a:spLocks/>
          </p:cNvSpPr>
          <p:nvPr/>
        </p:nvSpPr>
        <p:spPr>
          <a:xfrm>
            <a:off x="3025625" y="6270350"/>
            <a:ext cx="2510134" cy="246221"/>
          </a:xfrm>
          <a:prstGeom prst="rect">
            <a:avLst/>
          </a:prstGeom>
          <a:noFill/>
        </p:spPr>
        <p:txBody>
          <a:bodyPr wrap="square" lIns="0" tIns="0" rIns="0" bIns="0" rtlCol="0">
            <a:spAutoFit/>
          </a:bodyPr>
          <a:lstStyle/>
          <a:p>
            <a:pPr>
              <a:spcBef>
                <a:spcPts val="600"/>
              </a:spcBef>
              <a:buSzPct val="100000"/>
            </a:pPr>
            <a:r>
              <a:rPr lang="en-CA" sz="1600" b="1" i="1" u="sng"/>
              <a:t>After Proposed Guidance:</a:t>
            </a:r>
          </a:p>
        </p:txBody>
      </p:sp>
      <p:sp>
        <p:nvSpPr>
          <p:cNvPr id="12" name="Rectangle: Rounded Corners 11">
            <a:extLst>
              <a:ext uri="{FF2B5EF4-FFF2-40B4-BE49-F238E27FC236}">
                <a16:creationId xmlns:a16="http://schemas.microsoft.com/office/drawing/2014/main" id="{21D36E12-1629-C004-5007-731CC3126577}"/>
              </a:ext>
            </a:extLst>
          </p:cNvPr>
          <p:cNvSpPr>
            <a:spLocks/>
          </p:cNvSpPr>
          <p:nvPr/>
        </p:nvSpPr>
        <p:spPr bwMode="gray">
          <a:xfrm>
            <a:off x="501650" y="2041512"/>
            <a:ext cx="1898650" cy="4202988"/>
          </a:xfrm>
          <a:prstGeom prst="roundRect">
            <a:avLst/>
          </a:prstGeom>
          <a:solidFill>
            <a:schemeClr val="bg1">
              <a:lumMod val="95000"/>
            </a:schemeClr>
          </a:solidFill>
          <a:ln w="19050" algn="ctr">
            <a:solidFill>
              <a:schemeClr val="bg2">
                <a:lumMod val="90000"/>
              </a:schemeClr>
            </a:solidFill>
            <a:prstDash val="sysDash"/>
            <a:miter lim="800000"/>
            <a:headEnd/>
            <a:tailEnd/>
          </a:ln>
        </p:spPr>
        <p:txBody>
          <a:bodyPr wrap="square" lIns="88900" tIns="288000" rIns="88900" bIns="88900" rtlCol="0" anchor="t"/>
          <a:lstStyle/>
          <a:p>
            <a:pPr algn="ctr">
              <a:spcAft>
                <a:spcPts val="600"/>
              </a:spcAft>
              <a:buFont typeface="Wingdings 2" pitchFamily="18" charset="2"/>
              <a:buNone/>
            </a:pPr>
            <a:r>
              <a:rPr lang="en-CA" sz="1400" b="1"/>
              <a:t>Meet Sallie!</a:t>
            </a:r>
          </a:p>
          <a:p>
            <a:pPr>
              <a:spcAft>
                <a:spcPts val="600"/>
              </a:spcAft>
              <a:buFont typeface="Wingdings 2" pitchFamily="18" charset="2"/>
              <a:buNone/>
            </a:pPr>
            <a:r>
              <a:rPr lang="en-US" sz="1100" b="1"/>
              <a:t>Age: </a:t>
            </a:r>
            <a:r>
              <a:rPr lang="en-US" sz="1100"/>
              <a:t>32</a:t>
            </a:r>
          </a:p>
          <a:p>
            <a:pPr>
              <a:spcAft>
                <a:spcPts val="600"/>
              </a:spcAft>
              <a:buFont typeface="Wingdings 2" pitchFamily="18" charset="2"/>
              <a:buNone/>
            </a:pPr>
            <a:r>
              <a:rPr lang="en-US" sz="1100" b="1"/>
              <a:t>Location: </a:t>
            </a:r>
            <a:r>
              <a:rPr lang="en-US" sz="1100"/>
              <a:t>Toronto</a:t>
            </a:r>
          </a:p>
          <a:p>
            <a:pPr>
              <a:spcAft>
                <a:spcPts val="600"/>
              </a:spcAft>
              <a:buFont typeface="Wingdings 2" pitchFamily="18" charset="2"/>
              <a:buNone/>
            </a:pPr>
            <a:r>
              <a:rPr lang="en-US" sz="1100" b="1"/>
              <a:t>Profile: </a:t>
            </a:r>
            <a:r>
              <a:rPr lang="en-US" sz="1100"/>
              <a:t>Marketing professional, mid-career</a:t>
            </a:r>
          </a:p>
          <a:p>
            <a:pPr>
              <a:spcAft>
                <a:spcPts val="600"/>
              </a:spcAft>
              <a:buFont typeface="Wingdings 2" pitchFamily="18" charset="2"/>
              <a:buNone/>
            </a:pPr>
            <a:r>
              <a:rPr lang="en-US" sz="1100" b="1"/>
              <a:t>Investor Type: </a:t>
            </a:r>
            <a:r>
              <a:rPr lang="en-US" sz="1100"/>
              <a:t>Emerging mass affluent, new to investing</a:t>
            </a:r>
          </a:p>
          <a:p>
            <a:pPr>
              <a:spcAft>
                <a:spcPts val="600"/>
              </a:spcAft>
              <a:buFont typeface="Wingdings 2" pitchFamily="18" charset="2"/>
              <a:buNone/>
            </a:pPr>
            <a:r>
              <a:rPr lang="en-US" sz="1100" b="1"/>
              <a:t>Goals</a:t>
            </a:r>
            <a:r>
              <a:rPr lang="en-US" sz="1100"/>
              <a:t>: Saving for her first home purchase and retirement</a:t>
            </a:r>
          </a:p>
          <a:p>
            <a:pPr>
              <a:spcAft>
                <a:spcPts val="600"/>
              </a:spcAft>
              <a:buFont typeface="Wingdings 2" pitchFamily="18" charset="2"/>
              <a:buNone/>
            </a:pPr>
            <a:r>
              <a:rPr lang="en-CA" sz="1100" b="1"/>
              <a:t>Approach</a:t>
            </a:r>
            <a:r>
              <a:rPr lang="en-CA" sz="1100"/>
              <a:t>: Digitally savvy, prefers self-directed investing to keep costs low</a:t>
            </a:r>
          </a:p>
          <a:p>
            <a:pPr>
              <a:spcAft>
                <a:spcPts val="600"/>
              </a:spcAft>
              <a:buFont typeface="Wingdings 2" pitchFamily="18" charset="2"/>
              <a:buNone/>
            </a:pPr>
            <a:r>
              <a:rPr lang="en-CA" sz="1100" b="1"/>
              <a:t>Challenge</a:t>
            </a:r>
            <a:r>
              <a:rPr lang="en-CA" sz="1100"/>
              <a:t>: Limited financial knowledge, unsure how to set goals or manage risks</a:t>
            </a:r>
          </a:p>
        </p:txBody>
      </p:sp>
      <p:pic>
        <p:nvPicPr>
          <p:cNvPr id="15" name="Picture 2">
            <a:extLst>
              <a:ext uri="{FF2B5EF4-FFF2-40B4-BE49-F238E27FC236}">
                <a16:creationId xmlns:a16="http://schemas.microsoft.com/office/drawing/2014/main" id="{6022825A-CD8D-192F-68D8-D26B0432F6CC}"/>
              </a:ext>
            </a:extLst>
          </p:cNvPr>
          <p:cNvPicPr>
            <a:picLocks/>
          </p:cNvPicPr>
          <p:nvPr/>
        </p:nvPicPr>
        <p:blipFill rotWithShape="1">
          <a:blip r:embed="rId6">
            <a:extLst>
              <a:ext uri="{28A0092B-C50C-407E-A947-70E740481C1C}">
                <a14:useLocalDpi xmlns:a14="http://schemas.microsoft.com/office/drawing/2010/main" val="0"/>
              </a:ext>
            </a:extLst>
          </a:blip>
          <a:srcRect l="29036" t="2158" r="37667" b="49507"/>
          <a:stretch/>
        </p:blipFill>
        <p:spPr bwMode="auto">
          <a:xfrm>
            <a:off x="1126975" y="1714500"/>
            <a:ext cx="648000" cy="648000"/>
          </a:xfrm>
          <a:prstGeom prst="ellipse">
            <a:avLst/>
          </a:prstGeom>
          <a:noFill/>
          <a:ln>
            <a:solidFill>
              <a:schemeClr val="tx1"/>
            </a:solidFill>
          </a:ln>
          <a:extLst>
            <a:ext uri="{909E8E84-426E-40DD-AFC4-6F175D3DCCD1}">
              <a14:hiddenFill xmlns:a14="http://schemas.microsoft.com/office/drawing/2010/main">
                <a:solidFill>
                  <a:srgbClr val="FFFFFF"/>
                </a:solidFill>
              </a14:hiddenFill>
            </a:ext>
          </a:extLst>
        </p:spPr>
      </p:pic>
      <p:grpSp>
        <p:nvGrpSpPr>
          <p:cNvPr id="45" name="Group 44">
            <a:extLst>
              <a:ext uri="{FF2B5EF4-FFF2-40B4-BE49-F238E27FC236}">
                <a16:creationId xmlns:a16="http://schemas.microsoft.com/office/drawing/2014/main" id="{E0E1DC0C-3511-9D0A-1749-067BA5CECC9E}"/>
              </a:ext>
            </a:extLst>
          </p:cNvPr>
          <p:cNvGrpSpPr>
            <a:grpSpLocks/>
          </p:cNvGrpSpPr>
          <p:nvPr/>
        </p:nvGrpSpPr>
        <p:grpSpPr>
          <a:xfrm>
            <a:off x="2842319" y="1877496"/>
            <a:ext cx="8610364" cy="4204009"/>
            <a:chOff x="2842319" y="1859496"/>
            <a:chExt cx="8610364" cy="4204009"/>
          </a:xfrm>
        </p:grpSpPr>
        <p:sp>
          <p:nvSpPr>
            <p:cNvPr id="7" name="Freeform 4">
              <a:extLst>
                <a:ext uri="{FF2B5EF4-FFF2-40B4-BE49-F238E27FC236}">
                  <a16:creationId xmlns:a16="http://schemas.microsoft.com/office/drawing/2014/main" id="{ED1D832C-3A30-54E3-DF9C-AE6C46E66580}"/>
                </a:ext>
              </a:extLst>
            </p:cNvPr>
            <p:cNvSpPr>
              <a:spLocks/>
            </p:cNvSpPr>
            <p:nvPr/>
          </p:nvSpPr>
          <p:spPr>
            <a:xfrm>
              <a:off x="2842319" y="3384307"/>
              <a:ext cx="8610364" cy="792775"/>
            </a:xfrm>
            <a:custGeom>
              <a:avLst/>
              <a:gdLst>
                <a:gd name="connsiteX0" fmla="*/ 0 w 8617527"/>
                <a:gd name="connsiteY0" fmla="*/ 651164 h 1191491"/>
                <a:gd name="connsiteX1" fmla="*/ 2673927 w 8617527"/>
                <a:gd name="connsiteY1" fmla="*/ 0 h 1191491"/>
                <a:gd name="connsiteX2" fmla="*/ 6483927 w 8617527"/>
                <a:gd name="connsiteY2" fmla="*/ 1191491 h 1191491"/>
                <a:gd name="connsiteX3" fmla="*/ 8617527 w 8617527"/>
                <a:gd name="connsiteY3" fmla="*/ 498764 h 1191491"/>
                <a:gd name="connsiteX0" fmla="*/ 0 w 8617527"/>
                <a:gd name="connsiteY0" fmla="*/ 661463 h 1201790"/>
                <a:gd name="connsiteX1" fmla="*/ 2673927 w 8617527"/>
                <a:gd name="connsiteY1" fmla="*/ 10299 h 1201790"/>
                <a:gd name="connsiteX2" fmla="*/ 6483927 w 8617527"/>
                <a:gd name="connsiteY2" fmla="*/ 1201790 h 1201790"/>
                <a:gd name="connsiteX3" fmla="*/ 8617527 w 8617527"/>
                <a:gd name="connsiteY3" fmla="*/ 509063 h 1201790"/>
                <a:gd name="connsiteX0" fmla="*/ 0 w 8617527"/>
                <a:gd name="connsiteY0" fmla="*/ 651245 h 1191572"/>
                <a:gd name="connsiteX1" fmla="*/ 2673927 w 8617527"/>
                <a:gd name="connsiteY1" fmla="*/ 81 h 1191572"/>
                <a:gd name="connsiteX2" fmla="*/ 6483927 w 8617527"/>
                <a:gd name="connsiteY2" fmla="*/ 1191572 h 1191572"/>
                <a:gd name="connsiteX3" fmla="*/ 8617527 w 8617527"/>
                <a:gd name="connsiteY3" fmla="*/ 498845 h 1191572"/>
                <a:gd name="connsiteX0" fmla="*/ 0 w 8617527"/>
                <a:gd name="connsiteY0" fmla="*/ 651245 h 1217033"/>
                <a:gd name="connsiteX1" fmla="*/ 2673927 w 8617527"/>
                <a:gd name="connsiteY1" fmla="*/ 81 h 1217033"/>
                <a:gd name="connsiteX2" fmla="*/ 6483927 w 8617527"/>
                <a:gd name="connsiteY2" fmla="*/ 1191572 h 1217033"/>
                <a:gd name="connsiteX3" fmla="*/ 8617527 w 8617527"/>
                <a:gd name="connsiteY3" fmla="*/ 498845 h 1217033"/>
                <a:gd name="connsiteX0" fmla="*/ 0 w 8617527"/>
                <a:gd name="connsiteY0" fmla="*/ 651245 h 1191898"/>
                <a:gd name="connsiteX1" fmla="*/ 2673927 w 8617527"/>
                <a:gd name="connsiteY1" fmla="*/ 81 h 1191898"/>
                <a:gd name="connsiteX2" fmla="*/ 6483927 w 8617527"/>
                <a:gd name="connsiteY2" fmla="*/ 1191572 h 1191898"/>
                <a:gd name="connsiteX3" fmla="*/ 8617527 w 8617527"/>
                <a:gd name="connsiteY3" fmla="*/ 498845 h 1191898"/>
                <a:gd name="connsiteX0" fmla="*/ 0 w 8617527"/>
                <a:gd name="connsiteY0" fmla="*/ 651245 h 1191625"/>
                <a:gd name="connsiteX1" fmla="*/ 2673927 w 8617527"/>
                <a:gd name="connsiteY1" fmla="*/ 81 h 1191625"/>
                <a:gd name="connsiteX2" fmla="*/ 6483927 w 8617527"/>
                <a:gd name="connsiteY2" fmla="*/ 1191572 h 1191625"/>
                <a:gd name="connsiteX3" fmla="*/ 8617527 w 8617527"/>
                <a:gd name="connsiteY3" fmla="*/ 498845 h 1191625"/>
                <a:gd name="connsiteX0" fmla="*/ 0 w 8617527"/>
                <a:gd name="connsiteY0" fmla="*/ 651245 h 1196985"/>
                <a:gd name="connsiteX1" fmla="*/ 2673927 w 8617527"/>
                <a:gd name="connsiteY1" fmla="*/ 81 h 1196985"/>
                <a:gd name="connsiteX2" fmla="*/ 6483927 w 8617527"/>
                <a:gd name="connsiteY2" fmla="*/ 1191572 h 1196985"/>
                <a:gd name="connsiteX3" fmla="*/ 8617527 w 8617527"/>
                <a:gd name="connsiteY3" fmla="*/ 415718 h 1196985"/>
                <a:gd name="connsiteX0" fmla="*/ 0 w 8617527"/>
                <a:gd name="connsiteY0" fmla="*/ 662395 h 1235629"/>
                <a:gd name="connsiteX1" fmla="*/ 2673927 w 8617527"/>
                <a:gd name="connsiteY1" fmla="*/ 11231 h 1235629"/>
                <a:gd name="connsiteX2" fmla="*/ 6276108 w 8617527"/>
                <a:gd name="connsiteY2" fmla="*/ 1230431 h 1235629"/>
                <a:gd name="connsiteX3" fmla="*/ 8617527 w 8617527"/>
                <a:gd name="connsiteY3" fmla="*/ 426868 h 1235629"/>
                <a:gd name="connsiteX0" fmla="*/ 0 w 8617527"/>
                <a:gd name="connsiteY0" fmla="*/ 662395 h 1230431"/>
                <a:gd name="connsiteX1" fmla="*/ 2673927 w 8617527"/>
                <a:gd name="connsiteY1" fmla="*/ 11231 h 1230431"/>
                <a:gd name="connsiteX2" fmla="*/ 6276108 w 8617527"/>
                <a:gd name="connsiteY2" fmla="*/ 1230431 h 1230431"/>
                <a:gd name="connsiteX3" fmla="*/ 8617527 w 8617527"/>
                <a:gd name="connsiteY3" fmla="*/ 426868 h 1230431"/>
                <a:gd name="connsiteX0" fmla="*/ 0 w 8645236"/>
                <a:gd name="connsiteY0" fmla="*/ 662395 h 1238608"/>
                <a:gd name="connsiteX1" fmla="*/ 2673927 w 8645236"/>
                <a:gd name="connsiteY1" fmla="*/ 11231 h 1238608"/>
                <a:gd name="connsiteX2" fmla="*/ 6276108 w 8645236"/>
                <a:gd name="connsiteY2" fmla="*/ 1230431 h 1238608"/>
                <a:gd name="connsiteX3" fmla="*/ 8645236 w 8645236"/>
                <a:gd name="connsiteY3" fmla="*/ 509995 h 1238608"/>
                <a:gd name="connsiteX0" fmla="*/ 0 w 8645236"/>
                <a:gd name="connsiteY0" fmla="*/ 662395 h 1238608"/>
                <a:gd name="connsiteX1" fmla="*/ 2673927 w 8645236"/>
                <a:gd name="connsiteY1" fmla="*/ 11231 h 1238608"/>
                <a:gd name="connsiteX2" fmla="*/ 6276108 w 8645236"/>
                <a:gd name="connsiteY2" fmla="*/ 1230431 h 1238608"/>
                <a:gd name="connsiteX3" fmla="*/ 8645236 w 8645236"/>
                <a:gd name="connsiteY3" fmla="*/ 509995 h 1238608"/>
                <a:gd name="connsiteX0" fmla="*/ 0 w 8645282"/>
                <a:gd name="connsiteY0" fmla="*/ 662395 h 1236431"/>
                <a:gd name="connsiteX1" fmla="*/ 2673927 w 8645282"/>
                <a:gd name="connsiteY1" fmla="*/ 11231 h 1236431"/>
                <a:gd name="connsiteX2" fmla="*/ 6276108 w 8645282"/>
                <a:gd name="connsiteY2" fmla="*/ 1230431 h 1236431"/>
                <a:gd name="connsiteX3" fmla="*/ 8645236 w 8645282"/>
                <a:gd name="connsiteY3" fmla="*/ 509995 h 1236431"/>
                <a:gd name="connsiteX0" fmla="*/ 0 w 8631428"/>
                <a:gd name="connsiteY0" fmla="*/ 662395 h 1234327"/>
                <a:gd name="connsiteX1" fmla="*/ 2673927 w 8631428"/>
                <a:gd name="connsiteY1" fmla="*/ 11231 h 1234327"/>
                <a:gd name="connsiteX2" fmla="*/ 6276108 w 8631428"/>
                <a:gd name="connsiteY2" fmla="*/ 1230431 h 1234327"/>
                <a:gd name="connsiteX3" fmla="*/ 8631382 w 8631428"/>
                <a:gd name="connsiteY3" fmla="*/ 426868 h 1234327"/>
                <a:gd name="connsiteX0" fmla="*/ 0 w 8617574"/>
                <a:gd name="connsiteY0" fmla="*/ 1081098 h 1223539"/>
                <a:gd name="connsiteX1" fmla="*/ 2660073 w 8617574"/>
                <a:gd name="connsiteY1" fmla="*/ 443 h 1223539"/>
                <a:gd name="connsiteX2" fmla="*/ 6262254 w 8617574"/>
                <a:gd name="connsiteY2" fmla="*/ 1219643 h 1223539"/>
                <a:gd name="connsiteX3" fmla="*/ 8617528 w 8617574"/>
                <a:gd name="connsiteY3" fmla="*/ 416080 h 1223539"/>
                <a:gd name="connsiteX0" fmla="*/ 0 w 8617574"/>
                <a:gd name="connsiteY0" fmla="*/ 1039556 h 1181296"/>
                <a:gd name="connsiteX1" fmla="*/ 2660073 w 8617574"/>
                <a:gd name="connsiteY1" fmla="*/ 465 h 1181296"/>
                <a:gd name="connsiteX2" fmla="*/ 6262254 w 8617574"/>
                <a:gd name="connsiteY2" fmla="*/ 1178101 h 1181296"/>
                <a:gd name="connsiteX3" fmla="*/ 8617528 w 8617574"/>
                <a:gd name="connsiteY3" fmla="*/ 374538 h 1181296"/>
                <a:gd name="connsiteX0" fmla="*/ 0 w 8617574"/>
                <a:gd name="connsiteY0" fmla="*/ 1039761 h 1181501"/>
                <a:gd name="connsiteX1" fmla="*/ 2660073 w 8617574"/>
                <a:gd name="connsiteY1" fmla="*/ 670 h 1181501"/>
                <a:gd name="connsiteX2" fmla="*/ 6262254 w 8617574"/>
                <a:gd name="connsiteY2" fmla="*/ 1178306 h 1181501"/>
                <a:gd name="connsiteX3" fmla="*/ 8617528 w 8617574"/>
                <a:gd name="connsiteY3" fmla="*/ 374743 h 1181501"/>
                <a:gd name="connsiteX0" fmla="*/ 0 w 8617574"/>
                <a:gd name="connsiteY0" fmla="*/ 1039761 h 1181501"/>
                <a:gd name="connsiteX1" fmla="*/ 2660073 w 8617574"/>
                <a:gd name="connsiteY1" fmla="*/ 670 h 1181501"/>
                <a:gd name="connsiteX2" fmla="*/ 6262254 w 8617574"/>
                <a:gd name="connsiteY2" fmla="*/ 1178306 h 1181501"/>
                <a:gd name="connsiteX3" fmla="*/ 8617528 w 8617574"/>
                <a:gd name="connsiteY3" fmla="*/ 374743 h 1181501"/>
                <a:gd name="connsiteX0" fmla="*/ 0 w 8603720"/>
                <a:gd name="connsiteY0" fmla="*/ 1039774 h 1185059"/>
                <a:gd name="connsiteX1" fmla="*/ 2660073 w 8603720"/>
                <a:gd name="connsiteY1" fmla="*/ 683 h 1185059"/>
                <a:gd name="connsiteX2" fmla="*/ 6262254 w 8603720"/>
                <a:gd name="connsiteY2" fmla="*/ 1178319 h 1185059"/>
                <a:gd name="connsiteX3" fmla="*/ 8603674 w 8603720"/>
                <a:gd name="connsiteY3" fmla="*/ 513302 h 1185059"/>
                <a:gd name="connsiteX0" fmla="*/ 0 w 8646540"/>
                <a:gd name="connsiteY0" fmla="*/ 1039774 h 1183120"/>
                <a:gd name="connsiteX1" fmla="*/ 2660073 w 8646540"/>
                <a:gd name="connsiteY1" fmla="*/ 683 h 1183120"/>
                <a:gd name="connsiteX2" fmla="*/ 6262254 w 8646540"/>
                <a:gd name="connsiteY2" fmla="*/ 1178319 h 1183120"/>
                <a:gd name="connsiteX3" fmla="*/ 8646495 w 8646540"/>
                <a:gd name="connsiteY3" fmla="*/ 185311 h 1183120"/>
                <a:gd name="connsiteX0" fmla="*/ 0 w 8646549"/>
                <a:gd name="connsiteY0" fmla="*/ 1039497 h 1182843"/>
                <a:gd name="connsiteX1" fmla="*/ 2660073 w 8646549"/>
                <a:gd name="connsiteY1" fmla="*/ 406 h 1182843"/>
                <a:gd name="connsiteX2" fmla="*/ 6497771 w 8646549"/>
                <a:gd name="connsiteY2" fmla="*/ 1178042 h 1182843"/>
                <a:gd name="connsiteX3" fmla="*/ 8646495 w 8646549"/>
                <a:gd name="connsiteY3" fmla="*/ 185034 h 1182843"/>
                <a:gd name="connsiteX0" fmla="*/ 0 w 8646550"/>
                <a:gd name="connsiteY0" fmla="*/ 1039497 h 1178042"/>
                <a:gd name="connsiteX1" fmla="*/ 2660073 w 8646550"/>
                <a:gd name="connsiteY1" fmla="*/ 406 h 1178042"/>
                <a:gd name="connsiteX2" fmla="*/ 6497771 w 8646550"/>
                <a:gd name="connsiteY2" fmla="*/ 1178042 h 1178042"/>
                <a:gd name="connsiteX3" fmla="*/ 8646495 w 8646550"/>
                <a:gd name="connsiteY3" fmla="*/ 185034 h 1178042"/>
                <a:gd name="connsiteX0" fmla="*/ 0 w 8646550"/>
                <a:gd name="connsiteY0" fmla="*/ 1039497 h 1178052"/>
                <a:gd name="connsiteX1" fmla="*/ 2660073 w 8646550"/>
                <a:gd name="connsiteY1" fmla="*/ 406 h 1178052"/>
                <a:gd name="connsiteX2" fmla="*/ 6497771 w 8646550"/>
                <a:gd name="connsiteY2" fmla="*/ 1178042 h 1178052"/>
                <a:gd name="connsiteX3" fmla="*/ 8646495 w 8646550"/>
                <a:gd name="connsiteY3" fmla="*/ 185034 h 1178052"/>
                <a:gd name="connsiteX0" fmla="*/ 0 w 8646549"/>
                <a:gd name="connsiteY0" fmla="*/ 1039093 h 1048441"/>
                <a:gd name="connsiteX1" fmla="*/ 2660073 w 8646549"/>
                <a:gd name="connsiteY1" fmla="*/ 2 h 1048441"/>
                <a:gd name="connsiteX2" fmla="*/ 6465655 w 8646549"/>
                <a:gd name="connsiteY2" fmla="*/ 1048430 h 1048441"/>
                <a:gd name="connsiteX3" fmla="*/ 8646495 w 8646549"/>
                <a:gd name="connsiteY3" fmla="*/ 184630 h 1048441"/>
              </a:gdLst>
              <a:ahLst/>
              <a:cxnLst>
                <a:cxn ang="0">
                  <a:pos x="connsiteX0" y="connsiteY0"/>
                </a:cxn>
                <a:cxn ang="0">
                  <a:pos x="connsiteX1" y="connsiteY1"/>
                </a:cxn>
                <a:cxn ang="0">
                  <a:pos x="connsiteX2" y="connsiteY2"/>
                </a:cxn>
                <a:cxn ang="0">
                  <a:pos x="connsiteX3" y="connsiteY3"/>
                </a:cxn>
              </a:cxnLst>
              <a:rect l="l" t="t" r="r" b="b"/>
              <a:pathLst>
                <a:path w="8646549" h="1048441">
                  <a:moveTo>
                    <a:pt x="0" y="1039093"/>
                  </a:moveTo>
                  <a:cubicBezTo>
                    <a:pt x="18473" y="946729"/>
                    <a:pt x="1582464" y="-1554"/>
                    <a:pt x="2660073" y="2"/>
                  </a:cubicBezTo>
                  <a:cubicBezTo>
                    <a:pt x="3737682" y="1558"/>
                    <a:pt x="5442940" y="1052446"/>
                    <a:pt x="6465655" y="1048430"/>
                  </a:cubicBezTo>
                  <a:cubicBezTo>
                    <a:pt x="7488370" y="1044414"/>
                    <a:pt x="8655731" y="180011"/>
                    <a:pt x="8646495" y="184630"/>
                  </a:cubicBezTo>
                </a:path>
              </a:pathLst>
            </a:custGeom>
            <a:noFill/>
            <a:ln w="19050" cap="flat">
              <a:solidFill>
                <a:schemeClr val="tx2"/>
              </a:solidFill>
              <a:prstDash val="sysDash"/>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a:ea typeface="+mn-ea"/>
                <a:cs typeface="+mn-cs"/>
              </a:endParaRPr>
            </a:p>
          </p:txBody>
        </p:sp>
        <p:grpSp>
          <p:nvGrpSpPr>
            <p:cNvPr id="36" name="Group 35">
              <a:extLst>
                <a:ext uri="{FF2B5EF4-FFF2-40B4-BE49-F238E27FC236}">
                  <a16:creationId xmlns:a16="http://schemas.microsoft.com/office/drawing/2014/main" id="{4212B032-B8EC-1375-2D86-40E2C8F9DE8B}"/>
                </a:ext>
              </a:extLst>
            </p:cNvPr>
            <p:cNvGrpSpPr>
              <a:grpSpLocks/>
            </p:cNvGrpSpPr>
            <p:nvPr/>
          </p:nvGrpSpPr>
          <p:grpSpPr>
            <a:xfrm>
              <a:off x="5058736" y="2515964"/>
              <a:ext cx="1944000" cy="2681538"/>
              <a:chOff x="5156767" y="2515964"/>
              <a:chExt cx="1944000" cy="2681538"/>
            </a:xfrm>
          </p:grpSpPr>
          <p:sp>
            <p:nvSpPr>
              <p:cNvPr id="16" name="TextBox 15">
                <a:extLst>
                  <a:ext uri="{FF2B5EF4-FFF2-40B4-BE49-F238E27FC236}">
                    <a16:creationId xmlns:a16="http://schemas.microsoft.com/office/drawing/2014/main" id="{C2EADAF5-E775-1413-75DC-B145CC31B7D6}"/>
                  </a:ext>
                </a:extLst>
              </p:cNvPr>
              <p:cNvSpPr txBox="1">
                <a:spLocks/>
              </p:cNvSpPr>
              <p:nvPr/>
            </p:nvSpPr>
            <p:spPr>
              <a:xfrm>
                <a:off x="5156767" y="3935618"/>
                <a:ext cx="1944000" cy="1261884"/>
              </a:xfrm>
              <a:prstGeom prst="rect">
                <a:avLst/>
              </a:prstGeom>
              <a:noFill/>
            </p:spPr>
            <p:txBody>
              <a:bodyPr wrap="square" lIns="0" tIns="0" rIns="0" bIns="0" rtlCol="0">
                <a:spAutoFit/>
              </a:bodyPr>
              <a:lstStyle/>
              <a:p>
                <a:pPr algn="ctr" defTabSz="1219170">
                  <a:spcAft>
                    <a:spcPts val="600"/>
                  </a:spcAft>
                  <a:buSzPct val="100000"/>
                  <a:defRPr/>
                </a:pPr>
                <a:r>
                  <a:rPr lang="en-US" sz="1400" b="1">
                    <a:effectLst/>
                    <a:latin typeface="Calibri"/>
                  </a:rPr>
                  <a:t>Portfolio Construction</a:t>
                </a:r>
              </a:p>
              <a:p>
                <a:pPr marL="0" marR="0" lvl="0" indent="0" algn="ctr" defTabSz="1219170" rtl="0" eaLnBrk="1" fontAlgn="auto" latinLnBrk="0" hangingPunct="1">
                  <a:spcBef>
                    <a:spcPts val="0"/>
                  </a:spcBef>
                  <a:spcAft>
                    <a:spcPts val="600"/>
                  </a:spcAft>
                  <a:buClrTx/>
                  <a:buSzPct val="100000"/>
                  <a:buFontTx/>
                  <a:buNone/>
                  <a:tabLst/>
                  <a:defRPr/>
                </a:pPr>
                <a:r>
                  <a:rPr kumimoji="0" lang="en-US" sz="1050" i="0" u="none" strike="noStrike" kern="1200" cap="none" spc="0" normalizeH="0" baseline="0" noProof="0">
                    <a:ln>
                      <a:noFill/>
                    </a:ln>
                    <a:effectLst/>
                    <a:uLnTx/>
                    <a:uFillTx/>
                    <a:latin typeface="Calibri"/>
                    <a:ea typeface="Open Sans" panose="020B0606030504020204" pitchFamily="34" charset="0"/>
                    <a:cs typeface="Calibri" panose="020F0502020204030204" pitchFamily="34" charset="0"/>
                  </a:rPr>
                  <a:t>Based </a:t>
                </a:r>
                <a:r>
                  <a:rPr lang="en-US" sz="1050">
                    <a:latin typeface="Calibri"/>
                    <a:ea typeface="Open Sans" panose="020B0606030504020204" pitchFamily="34" charset="0"/>
                    <a:cs typeface="Calibri" panose="020F0502020204030204" pitchFamily="34" charset="0"/>
                  </a:rPr>
                  <a:t>on</a:t>
                </a:r>
                <a:r>
                  <a:rPr kumimoji="0" lang="en-US" sz="1050" i="0" u="none" strike="noStrike" kern="1200" cap="none" spc="0" normalizeH="0" baseline="0" noProof="0">
                    <a:ln>
                      <a:noFill/>
                    </a:ln>
                    <a:effectLst/>
                    <a:uLnTx/>
                    <a:uFillTx/>
                    <a:latin typeface="Calibri"/>
                    <a:ea typeface="Open Sans" panose="020B0606030504020204" pitchFamily="34" charset="0"/>
                    <a:cs typeface="Calibri" panose="020F0502020204030204" pitchFamily="34" charset="0"/>
                  </a:rPr>
                  <a:t> her self-assessment results, Sallie selects an appropriate asset allocation through </a:t>
                </a:r>
                <a:r>
                  <a:rPr lang="en-US" sz="1050" b="1">
                    <a:solidFill>
                      <a:schemeClr val="accent3"/>
                    </a:solidFill>
                    <a:latin typeface="Calibri"/>
                  </a:rPr>
                  <a:t>sample portfolios</a:t>
                </a:r>
                <a:r>
                  <a:rPr lang="en-US" sz="1050" b="1">
                    <a:solidFill>
                      <a:schemeClr val="accent2"/>
                    </a:solidFill>
                    <a:latin typeface="Calibri"/>
                  </a:rPr>
                  <a:t> </a:t>
                </a:r>
                <a:r>
                  <a:rPr kumimoji="0" lang="en-US" sz="1050" i="0" u="none" strike="noStrike" kern="1200" cap="none" spc="0" normalizeH="0" baseline="0" noProof="0">
                    <a:ln>
                      <a:noFill/>
                    </a:ln>
                    <a:effectLst/>
                    <a:uLnTx/>
                    <a:uFillTx/>
                    <a:latin typeface="Calibri"/>
                    <a:ea typeface="Open Sans" panose="020B0606030504020204" pitchFamily="34" charset="0"/>
                    <a:cs typeface="Calibri" panose="020F0502020204030204" pitchFamily="34" charset="0"/>
                  </a:rPr>
                  <a:t>and uses</a:t>
                </a:r>
                <a:r>
                  <a:rPr lang="en-US" sz="1050">
                    <a:latin typeface="Calibri"/>
                    <a:ea typeface="Open Sans" panose="020B0606030504020204" pitchFamily="34" charset="0"/>
                    <a:cs typeface="Calibri" panose="020F0502020204030204" pitchFamily="34" charset="0"/>
                  </a:rPr>
                  <a:t> </a:t>
                </a:r>
                <a:r>
                  <a:rPr lang="en-US" sz="1050" b="1">
                    <a:solidFill>
                      <a:schemeClr val="accent3"/>
                    </a:solidFill>
                    <a:latin typeface="Calibri"/>
                  </a:rPr>
                  <a:t>filtering tools </a:t>
                </a:r>
                <a:r>
                  <a:rPr kumimoji="0" lang="en-US" sz="1050" i="0" u="none" strike="noStrike" kern="1200" cap="none" spc="0" normalizeH="0" baseline="0" noProof="0">
                    <a:ln>
                      <a:noFill/>
                    </a:ln>
                    <a:effectLst/>
                    <a:uLnTx/>
                    <a:uFillTx/>
                    <a:latin typeface="Calibri"/>
                    <a:ea typeface="Open Sans" panose="020B0606030504020204" pitchFamily="34" charset="0"/>
                    <a:cs typeface="Calibri" panose="020F0502020204030204" pitchFamily="34" charset="0"/>
                  </a:rPr>
                  <a:t>to </a:t>
                </a:r>
                <a:r>
                  <a:rPr lang="en-US" sz="1050">
                    <a:latin typeface="Calibri"/>
                    <a:ea typeface="Open Sans" panose="020B0606030504020204" pitchFamily="34" charset="0"/>
                    <a:cs typeface="Calibri" panose="020F0502020204030204" pitchFamily="34" charset="0"/>
                  </a:rPr>
                  <a:t>choose securities that provide the right exposures</a:t>
                </a:r>
                <a:endParaRPr kumimoji="0" lang="en-US" sz="1050" b="0" i="0" u="none" strike="noStrike" kern="1200" cap="none" spc="0" normalizeH="0" baseline="0" noProof="0">
                  <a:ln>
                    <a:noFill/>
                  </a:ln>
                  <a:effectLst/>
                  <a:uLnTx/>
                  <a:uFillTx/>
                  <a:latin typeface="Calibri"/>
                  <a:ea typeface="Open Sans" panose="020B0606030504020204" pitchFamily="34" charset="0"/>
                  <a:cs typeface="Calibri" panose="020F0502020204030204" pitchFamily="34" charset="0"/>
                </a:endParaRPr>
              </a:p>
            </p:txBody>
          </p:sp>
          <p:sp>
            <p:nvSpPr>
              <p:cNvPr id="72" name="TextBox 71">
                <a:extLst>
                  <a:ext uri="{FF2B5EF4-FFF2-40B4-BE49-F238E27FC236}">
                    <a16:creationId xmlns:a16="http://schemas.microsoft.com/office/drawing/2014/main" id="{169B9FD9-4197-1436-4C83-F64032F7FA36}"/>
                  </a:ext>
                </a:extLst>
              </p:cNvPr>
              <p:cNvSpPr txBox="1">
                <a:spLocks/>
              </p:cNvSpPr>
              <p:nvPr/>
            </p:nvSpPr>
            <p:spPr>
              <a:xfrm>
                <a:off x="5156767" y="2515964"/>
                <a:ext cx="1944000" cy="484748"/>
              </a:xfrm>
              <a:prstGeom prst="rect">
                <a:avLst/>
              </a:prstGeom>
              <a:noFill/>
            </p:spPr>
            <p:txBody>
              <a:bodyPr wrap="square" lIns="0" tIns="0" rIns="0" bIns="0" rtlCol="0" anchor="b">
                <a:spAutoFit/>
              </a:bodyPr>
              <a:lstStyle/>
              <a:p>
                <a:pPr marL="0" marR="0" lvl="0" indent="0" algn="ctr" defTabSz="1219170" rtl="0" eaLnBrk="1" fontAlgn="auto" latinLnBrk="0" hangingPunct="1">
                  <a:spcBef>
                    <a:spcPts val="0"/>
                  </a:spcBef>
                  <a:spcAft>
                    <a:spcPts val="600"/>
                  </a:spcAft>
                  <a:buClrTx/>
                  <a:buSzPct val="100000"/>
                  <a:buFontTx/>
                  <a:buNone/>
                  <a:tabLst/>
                  <a:defRPr/>
                </a:pPr>
                <a:r>
                  <a:rPr kumimoji="0" lang="en-US" sz="1050" b="0" i="0" u="none" strike="noStrike" kern="1200" cap="none" spc="0" normalizeH="0" baseline="0" noProof="0">
                    <a:ln>
                      <a:noFill/>
                    </a:ln>
                    <a:solidFill>
                      <a:schemeClr val="bg2">
                        <a:lumMod val="50000"/>
                      </a:schemeClr>
                    </a:solidFill>
                    <a:effectLst/>
                    <a:uLnTx/>
                    <a:uFillTx/>
                    <a:latin typeface="Calibri"/>
                    <a:ea typeface="Open Sans" panose="020B0606030504020204" pitchFamily="34" charset="0"/>
                    <a:cs typeface="Calibri" panose="020F0502020204030204" pitchFamily="34" charset="0"/>
                  </a:rPr>
                  <a:t>Sallie builds her portfolio security by security with little framework for sufficient diversification</a:t>
                </a:r>
              </a:p>
            </p:txBody>
          </p:sp>
          <p:grpSp>
            <p:nvGrpSpPr>
              <p:cNvPr id="33" name="Group 32">
                <a:extLst>
                  <a:ext uri="{FF2B5EF4-FFF2-40B4-BE49-F238E27FC236}">
                    <a16:creationId xmlns:a16="http://schemas.microsoft.com/office/drawing/2014/main" id="{79F0E257-BAA8-60C9-1951-B7AFCC4E4DF7}"/>
                  </a:ext>
                </a:extLst>
              </p:cNvPr>
              <p:cNvGrpSpPr>
                <a:grpSpLocks/>
              </p:cNvGrpSpPr>
              <p:nvPr/>
            </p:nvGrpSpPr>
            <p:grpSpPr>
              <a:xfrm>
                <a:off x="5858767" y="3180165"/>
                <a:ext cx="540000" cy="540000"/>
                <a:chOff x="5969023" y="3180165"/>
                <a:chExt cx="540000" cy="540000"/>
              </a:xfrm>
            </p:grpSpPr>
            <p:sp>
              <p:nvSpPr>
                <p:cNvPr id="93" name="Oval 92">
                  <a:extLst>
                    <a:ext uri="{FF2B5EF4-FFF2-40B4-BE49-F238E27FC236}">
                      <a16:creationId xmlns:a16="http://schemas.microsoft.com/office/drawing/2014/main" id="{657A2A24-5E73-07CD-7DA8-A0E83DD4E72B}"/>
                    </a:ext>
                  </a:extLst>
                </p:cNvPr>
                <p:cNvSpPr>
                  <a:spLocks/>
                </p:cNvSpPr>
                <p:nvPr/>
              </p:nvSpPr>
              <p:spPr bwMode="gray">
                <a:xfrm>
                  <a:off x="5969023" y="3180165"/>
                  <a:ext cx="540000" cy="540000"/>
                </a:xfrm>
                <a:prstGeom prst="ellipse">
                  <a:avLst/>
                </a:prstGeom>
                <a:solidFill>
                  <a:schemeClr val="bg1"/>
                </a:solidFill>
                <a:ln w="28575"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94" name="Picture 93">
                  <a:extLst>
                    <a:ext uri="{FF2B5EF4-FFF2-40B4-BE49-F238E27FC236}">
                      <a16:creationId xmlns:a16="http://schemas.microsoft.com/office/drawing/2014/main" id="{53FDD6D3-B2A2-7B19-9399-758FE8B3C2CC}"/>
                    </a:ext>
                  </a:extLst>
                </p:cNvPr>
                <p:cNvPicPr>
                  <a:picLocks noChangeAspect="1"/>
                </p:cNvPicPr>
                <p:nvPr/>
              </p:nvPicPr>
              <p:blipFill>
                <a:blip r:embed="rId7"/>
                <a:stretch>
                  <a:fillRect/>
                </a:stretch>
              </p:blipFill>
              <p:spPr>
                <a:xfrm>
                  <a:off x="6056763" y="3267905"/>
                  <a:ext cx="364520" cy="364520"/>
                </a:xfrm>
                <a:prstGeom prst="rect">
                  <a:avLst/>
                </a:prstGeom>
              </p:spPr>
            </p:pic>
          </p:grpSp>
        </p:grpSp>
        <p:sp>
          <p:nvSpPr>
            <p:cNvPr id="22" name="TextBox 21">
              <a:extLst>
                <a:ext uri="{FF2B5EF4-FFF2-40B4-BE49-F238E27FC236}">
                  <a16:creationId xmlns:a16="http://schemas.microsoft.com/office/drawing/2014/main" id="{37E47008-6DA4-FFFB-991C-A2A9D165844E}"/>
                </a:ext>
              </a:extLst>
            </p:cNvPr>
            <p:cNvSpPr txBox="1">
              <a:spLocks/>
            </p:cNvSpPr>
            <p:nvPr/>
          </p:nvSpPr>
          <p:spPr>
            <a:xfrm>
              <a:off x="6015085" y="5643863"/>
              <a:ext cx="4788000" cy="335285"/>
            </a:xfrm>
            <a:prstGeom prst="rect">
              <a:avLst/>
            </a:prstGeom>
            <a:noFill/>
          </p:spPr>
          <p:txBody>
            <a:bodyPr wrap="square" lIns="0" tIns="0" rIns="0" bIns="0" rtlCol="0">
              <a:spAutoFit/>
            </a:bodyPr>
            <a:lstStyle/>
            <a:p>
              <a:pPr marL="0" marR="0" lvl="0" indent="0" algn="ctr" defTabSz="1219170" rtl="0" eaLnBrk="1" fontAlgn="auto" latinLnBrk="0" hangingPunct="1">
                <a:lnSpc>
                  <a:spcPct val="106000"/>
                </a:lnSpc>
                <a:spcBef>
                  <a:spcPts val="0"/>
                </a:spcBef>
                <a:spcAft>
                  <a:spcPts val="600"/>
                </a:spcAft>
                <a:buClrTx/>
                <a:buSzPct val="100000"/>
                <a:buFontTx/>
                <a:buNone/>
                <a:tabLst/>
                <a:defRPr/>
              </a:pPr>
              <a:r>
                <a:rPr kumimoji="0" lang="en-US" sz="1050" b="0" i="0" u="none" strike="noStrike" kern="1200" cap="none" spc="0" normalizeH="0" baseline="0" noProof="0">
                  <a:ln>
                    <a:noFill/>
                  </a:ln>
                  <a:effectLst/>
                  <a:uLnTx/>
                  <a:uFillTx/>
                  <a:latin typeface="Calibri"/>
                  <a:ea typeface="Open Sans" panose="020B0606030504020204" pitchFamily="34" charset="0"/>
                  <a:cs typeface="Calibri" panose="020F0502020204030204" pitchFamily="34" charset="0"/>
                </a:rPr>
                <a:t>Sallie learns through trustworthy, high-quality </a:t>
              </a:r>
              <a:r>
                <a:rPr lang="en-US" sz="1050" b="1">
                  <a:solidFill>
                    <a:schemeClr val="accent3"/>
                  </a:solidFill>
                  <a:latin typeface="Calibri"/>
                </a:rPr>
                <a:t>educational information </a:t>
              </a:r>
              <a:r>
                <a:rPr kumimoji="0" lang="en-US" sz="1050" b="0" i="0" u="none" strike="noStrike" kern="1200" cap="none" spc="0" normalizeH="0" baseline="0" noProof="0">
                  <a:ln>
                    <a:noFill/>
                  </a:ln>
                  <a:effectLst/>
                  <a:uLnTx/>
                  <a:uFillTx/>
                  <a:latin typeface="Calibri"/>
                  <a:ea typeface="Open Sans" panose="020B0606030504020204" pitchFamily="34" charset="0"/>
                  <a:cs typeface="Calibri" panose="020F0502020204030204" pitchFamily="34" charset="0"/>
                </a:rPr>
                <a:t>embedded in the OEO platform, giving her reliable </a:t>
              </a:r>
              <a:r>
                <a:rPr lang="en-US" sz="1050">
                  <a:latin typeface="Calibri"/>
                  <a:ea typeface="Open Sans" panose="020B0606030504020204" pitchFamily="34" charset="0"/>
                  <a:cs typeface="Calibri" panose="020F0502020204030204" pitchFamily="34" charset="0"/>
                </a:rPr>
                <a:t>insights</a:t>
              </a:r>
              <a:r>
                <a:rPr kumimoji="0" lang="en-US" sz="1050" b="0" i="0" u="none" strike="noStrike" kern="1200" cap="none" spc="0" normalizeH="0" baseline="0" noProof="0">
                  <a:ln>
                    <a:noFill/>
                  </a:ln>
                  <a:effectLst/>
                  <a:uLnTx/>
                  <a:uFillTx/>
                  <a:latin typeface="Calibri"/>
                  <a:ea typeface="Open Sans" panose="020B0606030504020204" pitchFamily="34" charset="0"/>
                  <a:cs typeface="Calibri" panose="020F0502020204030204" pitchFamily="34" charset="0"/>
                </a:rPr>
                <a:t> at every step of her investing journey</a:t>
              </a:r>
            </a:p>
          </p:txBody>
        </p:sp>
        <p:grpSp>
          <p:nvGrpSpPr>
            <p:cNvPr id="37" name="Group 36">
              <a:extLst>
                <a:ext uri="{FF2B5EF4-FFF2-40B4-BE49-F238E27FC236}">
                  <a16:creationId xmlns:a16="http://schemas.microsoft.com/office/drawing/2014/main" id="{6B0F43C9-65F4-DFB2-650D-A18667EF77B5}"/>
                </a:ext>
              </a:extLst>
            </p:cNvPr>
            <p:cNvGrpSpPr>
              <a:grpSpLocks/>
            </p:cNvGrpSpPr>
            <p:nvPr/>
          </p:nvGrpSpPr>
          <p:grpSpPr>
            <a:xfrm>
              <a:off x="7275153" y="2913519"/>
              <a:ext cx="1944000" cy="2507782"/>
              <a:chOff x="7368513" y="2913519"/>
              <a:chExt cx="1944000" cy="2507782"/>
            </a:xfrm>
          </p:grpSpPr>
          <p:grpSp>
            <p:nvGrpSpPr>
              <p:cNvPr id="100" name="Group 99">
                <a:extLst>
                  <a:ext uri="{FF2B5EF4-FFF2-40B4-BE49-F238E27FC236}">
                    <a16:creationId xmlns:a16="http://schemas.microsoft.com/office/drawing/2014/main" id="{4BD1A713-3EA7-5B46-0B88-E9F95EF0E797}"/>
                  </a:ext>
                </a:extLst>
              </p:cNvPr>
              <p:cNvGrpSpPr>
                <a:grpSpLocks/>
              </p:cNvGrpSpPr>
              <p:nvPr/>
            </p:nvGrpSpPr>
            <p:grpSpPr>
              <a:xfrm>
                <a:off x="8070513" y="3733035"/>
                <a:ext cx="540000" cy="540000"/>
                <a:chOff x="7914780" y="1688417"/>
                <a:chExt cx="720000" cy="720000"/>
              </a:xfrm>
            </p:grpSpPr>
            <p:sp>
              <p:nvSpPr>
                <p:cNvPr id="90" name="Oval 89">
                  <a:extLst>
                    <a:ext uri="{FF2B5EF4-FFF2-40B4-BE49-F238E27FC236}">
                      <a16:creationId xmlns:a16="http://schemas.microsoft.com/office/drawing/2014/main" id="{D819E0FC-20DC-9EE1-997A-A2960B914E65}"/>
                    </a:ext>
                  </a:extLst>
                </p:cNvPr>
                <p:cNvSpPr>
                  <a:spLocks/>
                </p:cNvSpPr>
                <p:nvPr/>
              </p:nvSpPr>
              <p:spPr bwMode="gray">
                <a:xfrm>
                  <a:off x="7914780" y="1688417"/>
                  <a:ext cx="720000" cy="720000"/>
                </a:xfrm>
                <a:prstGeom prst="ellipse">
                  <a:avLst/>
                </a:prstGeom>
                <a:solidFill>
                  <a:schemeClr val="bg1"/>
                </a:solidFill>
                <a:ln w="28575" algn="ctr">
                  <a:solidFill>
                    <a:schemeClr val="accent4"/>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91" name="Picture 90">
                  <a:extLst>
                    <a:ext uri="{FF2B5EF4-FFF2-40B4-BE49-F238E27FC236}">
                      <a16:creationId xmlns:a16="http://schemas.microsoft.com/office/drawing/2014/main" id="{F3A89E93-9349-AD19-F87D-B7D899B36D80}"/>
                    </a:ext>
                  </a:extLst>
                </p:cNvPr>
                <p:cNvPicPr>
                  <a:picLocks noChangeAspect="1"/>
                </p:cNvPicPr>
                <p:nvPr/>
              </p:nvPicPr>
              <p:blipFill>
                <a:blip r:embed="rId8"/>
                <a:stretch>
                  <a:fillRect/>
                </a:stretch>
              </p:blipFill>
              <p:spPr>
                <a:xfrm>
                  <a:off x="8047512" y="1821149"/>
                  <a:ext cx="454537" cy="454537"/>
                </a:xfrm>
                <a:prstGeom prst="rect">
                  <a:avLst/>
                </a:prstGeom>
              </p:spPr>
            </p:pic>
          </p:grpSp>
          <p:sp>
            <p:nvSpPr>
              <p:cNvPr id="14" name="TextBox 13">
                <a:extLst>
                  <a:ext uri="{FF2B5EF4-FFF2-40B4-BE49-F238E27FC236}">
                    <a16:creationId xmlns:a16="http://schemas.microsoft.com/office/drawing/2014/main" id="{9B7E76AA-E2A2-FCE3-84A6-01AF9AE64D16}"/>
                  </a:ext>
                </a:extLst>
              </p:cNvPr>
              <p:cNvSpPr txBox="1">
                <a:spLocks/>
              </p:cNvSpPr>
              <p:nvPr/>
            </p:nvSpPr>
            <p:spPr>
              <a:xfrm>
                <a:off x="7368513" y="4482582"/>
                <a:ext cx="1944000" cy="938719"/>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600"/>
                  </a:spcAft>
                  <a:buClrTx/>
                  <a:buSzPct val="100000"/>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Portfolio Maintenance</a:t>
                </a:r>
              </a:p>
              <a:p>
                <a:pPr marL="0" marR="0" lvl="0" indent="0" algn="ctr" defTabSz="1219170" rtl="0" eaLnBrk="1" fontAlgn="auto" latinLnBrk="0" hangingPunct="1">
                  <a:lnSpc>
                    <a:spcPct val="100000"/>
                  </a:lnSpc>
                  <a:spcBef>
                    <a:spcPts val="0"/>
                  </a:spcBef>
                  <a:spcAft>
                    <a:spcPts val="600"/>
                  </a:spcAft>
                  <a:buClrTx/>
                  <a:buSzPct val="100000"/>
                  <a:buFontTx/>
                  <a:buNone/>
                  <a:tabLst/>
                  <a:defRPr/>
                </a:pPr>
                <a:r>
                  <a:rPr kumimoji="0" lang="en-US" sz="1050" b="0" i="0" u="none" strike="noStrike" kern="1200" cap="none" spc="0" normalizeH="0" baseline="0" noProof="0">
                    <a:ln>
                      <a:noFill/>
                    </a:ln>
                    <a:solidFill>
                      <a:prstClr val="black"/>
                    </a:solidFill>
                    <a:effectLst/>
                    <a:uLnTx/>
                    <a:uFillTx/>
                    <a:latin typeface="Calibri"/>
                    <a:ea typeface="+mn-ea"/>
                    <a:cs typeface="+mn-cs"/>
                  </a:rPr>
                  <a:t>Sallie uses </a:t>
                </a:r>
                <a:r>
                  <a:rPr kumimoji="0" lang="en-US" sz="1050" b="1" i="0" u="none" strike="noStrike" kern="1200" cap="none" spc="0" normalizeH="0" baseline="0" noProof="0">
                    <a:ln>
                      <a:noFill/>
                    </a:ln>
                    <a:solidFill>
                      <a:schemeClr val="accent3"/>
                    </a:solidFill>
                    <a:effectLst/>
                    <a:uLnTx/>
                    <a:uFillTx/>
                    <a:latin typeface="Calibri"/>
                    <a:ea typeface="+mn-ea"/>
                    <a:cs typeface="+mn-cs"/>
                  </a:rPr>
                  <a:t>rebalancing tools </a:t>
                </a:r>
                <a:r>
                  <a:rPr kumimoji="0" lang="en-US" sz="1050" b="0" i="0" u="none" strike="noStrike" kern="1200" cap="none" spc="0" normalizeH="0" baseline="0" noProof="0">
                    <a:ln>
                      <a:noFill/>
                    </a:ln>
                    <a:solidFill>
                      <a:prstClr val="black"/>
                    </a:solidFill>
                    <a:effectLst/>
                    <a:uLnTx/>
                    <a:uFillTx/>
                    <a:latin typeface="Calibri"/>
                    <a:ea typeface="+mn-ea"/>
                    <a:cs typeface="+mn-cs"/>
                  </a:rPr>
                  <a:t>to pre-populate </a:t>
                </a:r>
                <a:r>
                  <a:rPr lang="en-US" sz="1050">
                    <a:solidFill>
                      <a:prstClr val="black"/>
                    </a:solidFill>
                    <a:latin typeface="Calibri"/>
                  </a:rPr>
                  <a:t>trades</a:t>
                </a:r>
                <a:r>
                  <a:rPr kumimoji="0" lang="en-US" sz="1050" b="0" i="0" u="none" strike="noStrike" kern="1200" cap="none" spc="0" normalizeH="0" baseline="0" noProof="0">
                    <a:ln>
                      <a:noFill/>
                    </a:ln>
                    <a:solidFill>
                      <a:prstClr val="black"/>
                    </a:solidFill>
                    <a:effectLst/>
                    <a:uLnTx/>
                    <a:uFillTx/>
                    <a:latin typeface="Calibri"/>
                    <a:ea typeface="+mn-ea"/>
                    <a:cs typeface="+mn-cs"/>
                  </a:rPr>
                  <a:t> that she can execute to keep her portfolio aligned with her target allocations</a:t>
                </a:r>
                <a:endParaRPr kumimoji="0" lang="en-US" sz="1050" b="0" i="0" u="none" strike="noStrike" kern="1200" cap="none" spc="0" normalizeH="0" baseline="30000" noProof="0">
                  <a:ln>
                    <a:noFill/>
                  </a:ln>
                  <a:solidFill>
                    <a:prstClr val="black"/>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05E0A400-855A-2F78-C62E-D4BF58E3293C}"/>
                  </a:ext>
                </a:extLst>
              </p:cNvPr>
              <p:cNvSpPr txBox="1">
                <a:spLocks/>
              </p:cNvSpPr>
              <p:nvPr/>
            </p:nvSpPr>
            <p:spPr>
              <a:xfrm>
                <a:off x="7368513" y="2913519"/>
                <a:ext cx="1944000" cy="646331"/>
              </a:xfrm>
              <a:prstGeom prst="rect">
                <a:avLst/>
              </a:prstGeom>
              <a:noFill/>
            </p:spPr>
            <p:txBody>
              <a:bodyPr wrap="square" lIns="0" tIns="0" rIns="0" bIns="0" rtlCol="0" anchor="b">
                <a:spAutoFit/>
              </a:bodyPr>
              <a:lstStyle/>
              <a:p>
                <a:pPr marL="0" marR="0" lvl="0" indent="0" algn="ctr" defTabSz="1219170" rtl="0" eaLnBrk="1" fontAlgn="auto" latinLnBrk="0" hangingPunct="1">
                  <a:lnSpc>
                    <a:spcPct val="100000"/>
                  </a:lnSpc>
                  <a:spcBef>
                    <a:spcPts val="0"/>
                  </a:spcBef>
                  <a:spcAft>
                    <a:spcPts val="600"/>
                  </a:spcAft>
                  <a:buClrTx/>
                  <a:buSzPct val="100000"/>
                  <a:buFontTx/>
                  <a:buNone/>
                  <a:tabLst/>
                  <a:defRPr/>
                </a:pPr>
                <a:r>
                  <a:rPr kumimoji="0" lang="en-US" sz="1050" b="0" i="0" u="none" strike="noStrike" kern="1200" cap="none" spc="0" normalizeH="0" baseline="0" noProof="0">
                    <a:ln>
                      <a:noFill/>
                    </a:ln>
                    <a:solidFill>
                      <a:schemeClr val="bg2">
                        <a:lumMod val="50000"/>
                      </a:schemeClr>
                    </a:solidFill>
                    <a:effectLst/>
                    <a:uLnTx/>
                    <a:uFillTx/>
                    <a:latin typeface="Calibri"/>
                    <a:ea typeface="+mn-ea"/>
                    <a:cs typeface="+mn-cs"/>
                  </a:rPr>
                  <a:t>Rebalancing is manual and effort-intensive, so Sallie avoids it, leading to portfolio drift and unintended risk exposures</a:t>
                </a:r>
                <a:endParaRPr kumimoji="0" lang="en-US" sz="1050" b="0" i="0" u="none" strike="noStrike" kern="1200" cap="none" spc="0" normalizeH="0" baseline="30000" noProof="0">
                  <a:ln>
                    <a:noFill/>
                  </a:ln>
                  <a:solidFill>
                    <a:schemeClr val="bg2">
                      <a:lumMod val="50000"/>
                    </a:schemeClr>
                  </a:solidFill>
                  <a:effectLst/>
                  <a:uLnTx/>
                  <a:uFillTx/>
                  <a:latin typeface="Calibri"/>
                  <a:ea typeface="+mn-ea"/>
                  <a:cs typeface="+mn-cs"/>
                </a:endParaRPr>
              </a:p>
            </p:txBody>
          </p:sp>
        </p:grpSp>
        <p:grpSp>
          <p:nvGrpSpPr>
            <p:cNvPr id="41" name="Group 40">
              <a:extLst>
                <a:ext uri="{FF2B5EF4-FFF2-40B4-BE49-F238E27FC236}">
                  <a16:creationId xmlns:a16="http://schemas.microsoft.com/office/drawing/2014/main" id="{B00F08CB-E433-1E46-1129-C941620CBCA1}"/>
                </a:ext>
              </a:extLst>
            </p:cNvPr>
            <p:cNvGrpSpPr>
              <a:grpSpLocks/>
            </p:cNvGrpSpPr>
            <p:nvPr/>
          </p:nvGrpSpPr>
          <p:grpSpPr>
            <a:xfrm>
              <a:off x="9491570" y="2955459"/>
              <a:ext cx="1944000" cy="2381293"/>
              <a:chOff x="9554710" y="2955459"/>
              <a:chExt cx="1944000" cy="2381293"/>
            </a:xfrm>
          </p:grpSpPr>
          <p:sp>
            <p:nvSpPr>
              <p:cNvPr id="40" name="TextBox 39">
                <a:extLst>
                  <a:ext uri="{FF2B5EF4-FFF2-40B4-BE49-F238E27FC236}">
                    <a16:creationId xmlns:a16="http://schemas.microsoft.com/office/drawing/2014/main" id="{6BAD5E72-906E-32A0-06A1-2E57C57E0FD6}"/>
                  </a:ext>
                </a:extLst>
              </p:cNvPr>
              <p:cNvSpPr txBox="1">
                <a:spLocks/>
              </p:cNvSpPr>
              <p:nvPr/>
            </p:nvSpPr>
            <p:spPr>
              <a:xfrm>
                <a:off x="9554710" y="4398033"/>
                <a:ext cx="1944000" cy="938719"/>
              </a:xfrm>
              <a:prstGeom prst="rect">
                <a:avLst/>
              </a:prstGeom>
              <a:noFill/>
            </p:spPr>
            <p:txBody>
              <a:bodyPr wrap="square" lIns="0" tIns="0" rIns="0" bIns="0" rtlCol="0">
                <a:spAutoFit/>
              </a:bodyPr>
              <a:lstStyle/>
              <a:p>
                <a:pPr marL="0" marR="0" lvl="0" indent="0" algn="ctr" defTabSz="1219170" rtl="0" eaLnBrk="1" fontAlgn="auto" latinLnBrk="0" hangingPunct="1">
                  <a:lnSpc>
                    <a:spcPct val="100000"/>
                  </a:lnSpc>
                  <a:spcBef>
                    <a:spcPts val="0"/>
                  </a:spcBef>
                  <a:spcAft>
                    <a:spcPts val="600"/>
                  </a:spcAft>
                  <a:buClrTx/>
                  <a:buSzPct val="100000"/>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Ongoing Monitoring</a:t>
                </a:r>
              </a:p>
              <a:p>
                <a:pPr marL="0" marR="0" lvl="0" indent="0" algn="ctr" defTabSz="1219170" rtl="0" eaLnBrk="1" fontAlgn="auto" latinLnBrk="0" hangingPunct="1">
                  <a:lnSpc>
                    <a:spcPct val="100000"/>
                  </a:lnSpc>
                  <a:spcBef>
                    <a:spcPts val="0"/>
                  </a:spcBef>
                  <a:spcAft>
                    <a:spcPts val="600"/>
                  </a:spcAft>
                  <a:buClrTx/>
                  <a:buSzPct val="100000"/>
                  <a:buFontTx/>
                  <a:buNone/>
                  <a:tabLst/>
                  <a:defRPr/>
                </a:pPr>
                <a:r>
                  <a:rPr kumimoji="0" lang="en-US" sz="1050" b="0" i="0" u="none" strike="noStrike" kern="1200" cap="none" spc="0" normalizeH="0" baseline="0" noProof="0">
                    <a:ln>
                      <a:noFill/>
                    </a:ln>
                    <a:solidFill>
                      <a:prstClr val="black"/>
                    </a:solidFill>
                    <a:effectLst/>
                    <a:uLnTx/>
                    <a:uFillTx/>
                    <a:latin typeface="Calibri"/>
                    <a:ea typeface="Open Sans" panose="020B0606030504020204" pitchFamily="34" charset="0"/>
                    <a:cs typeface="Calibri" panose="020F0502020204030204" pitchFamily="34" charset="0"/>
                  </a:rPr>
                  <a:t>Sallie configures and receives </a:t>
                </a:r>
                <a:r>
                  <a:rPr kumimoji="0" lang="en-US" sz="1050" b="1" i="0" u="none" strike="noStrike" kern="1200" cap="none" spc="0" normalizeH="0" baseline="0" noProof="0">
                    <a:ln>
                      <a:noFill/>
                    </a:ln>
                    <a:solidFill>
                      <a:schemeClr val="accent3"/>
                    </a:solidFill>
                    <a:effectLst/>
                    <a:uLnTx/>
                    <a:uFillTx/>
                    <a:latin typeface="Calibri"/>
                    <a:ea typeface="+mn-ea"/>
                    <a:cs typeface="+mn-cs"/>
                  </a:rPr>
                  <a:t>alerts and notifications</a:t>
                </a:r>
                <a:r>
                  <a:rPr kumimoji="0" lang="en-US" sz="1050" b="1" i="0" u="none" strike="noStrike" kern="1200" cap="none" spc="0" normalizeH="0" baseline="0" noProof="0">
                    <a:ln>
                      <a:noFill/>
                    </a:ln>
                    <a:solidFill>
                      <a:srgbClr val="43B02A"/>
                    </a:solidFill>
                    <a:effectLst/>
                    <a:uLnTx/>
                    <a:uFillTx/>
                    <a:latin typeface="Calibri"/>
                    <a:ea typeface="+mn-ea"/>
                    <a:cs typeface="+mn-cs"/>
                  </a:rPr>
                  <a:t> </a:t>
                </a:r>
                <a:r>
                  <a:rPr kumimoji="0" lang="en-US" sz="1050" b="0" i="0" u="none" strike="noStrike" kern="1200" cap="none" spc="0" normalizeH="0" baseline="0" noProof="0">
                    <a:ln>
                      <a:noFill/>
                    </a:ln>
                    <a:solidFill>
                      <a:prstClr val="black"/>
                    </a:solidFill>
                    <a:effectLst/>
                    <a:uLnTx/>
                    <a:uFillTx/>
                    <a:latin typeface="Calibri"/>
                    <a:ea typeface="Open Sans" panose="020B0606030504020204" pitchFamily="34" charset="0"/>
                    <a:cs typeface="Calibri" panose="020F0502020204030204" pitchFamily="34" charset="0"/>
                  </a:rPr>
                  <a:t>that flag idle cash and highlight market events relevant to her portfolio</a:t>
                </a:r>
              </a:p>
            </p:txBody>
          </p:sp>
          <p:sp>
            <p:nvSpPr>
              <p:cNvPr id="78" name="TextBox 77">
                <a:extLst>
                  <a:ext uri="{FF2B5EF4-FFF2-40B4-BE49-F238E27FC236}">
                    <a16:creationId xmlns:a16="http://schemas.microsoft.com/office/drawing/2014/main" id="{736932D4-55F9-FA7F-BF31-9E325665941F}"/>
                  </a:ext>
                </a:extLst>
              </p:cNvPr>
              <p:cNvSpPr txBox="1">
                <a:spLocks/>
              </p:cNvSpPr>
              <p:nvPr/>
            </p:nvSpPr>
            <p:spPr>
              <a:xfrm>
                <a:off x="9554710" y="2955459"/>
                <a:ext cx="1944000" cy="484748"/>
              </a:xfrm>
              <a:prstGeom prst="rect">
                <a:avLst/>
              </a:prstGeom>
              <a:noFill/>
            </p:spPr>
            <p:txBody>
              <a:bodyPr wrap="square" lIns="0" tIns="0" rIns="0" bIns="0" rtlCol="0" anchor="b">
                <a:spAutoFit/>
              </a:bodyPr>
              <a:lstStyle/>
              <a:p>
                <a:pPr lvl="0" algn="ctr" defTabSz="1219170">
                  <a:spcAft>
                    <a:spcPts val="600"/>
                  </a:spcAft>
                  <a:buSzPct val="100000"/>
                  <a:defRPr/>
                </a:pPr>
                <a:r>
                  <a:rPr kumimoji="0" lang="en-US" sz="1050" b="0" i="0" u="none" strike="noStrike" kern="1200" cap="none" spc="0" normalizeH="0" baseline="0" noProof="0">
                    <a:ln>
                      <a:noFill/>
                    </a:ln>
                    <a:solidFill>
                      <a:schemeClr val="bg2">
                        <a:lumMod val="50000"/>
                      </a:schemeClr>
                    </a:solidFill>
                    <a:effectLst/>
                    <a:uLnTx/>
                    <a:uFillTx/>
                    <a:latin typeface="Calibri"/>
                    <a:ea typeface="+mn-ea"/>
                    <a:cs typeface="+mn-cs"/>
                  </a:rPr>
                  <a:t>Sallie receives no alerts when her cash deposits sit idle or when market events affect her holdings</a:t>
                </a:r>
              </a:p>
            </p:txBody>
          </p:sp>
          <p:grpSp>
            <p:nvGrpSpPr>
              <p:cNvPr id="18" name="Group 17">
                <a:extLst>
                  <a:ext uri="{FF2B5EF4-FFF2-40B4-BE49-F238E27FC236}">
                    <a16:creationId xmlns:a16="http://schemas.microsoft.com/office/drawing/2014/main" id="{0089B355-F8A7-5FC7-51A8-927D2B4CC57A}"/>
                  </a:ext>
                </a:extLst>
              </p:cNvPr>
              <p:cNvGrpSpPr>
                <a:grpSpLocks/>
              </p:cNvGrpSpPr>
              <p:nvPr/>
            </p:nvGrpSpPr>
            <p:grpSpPr>
              <a:xfrm>
                <a:off x="10256710" y="3637425"/>
                <a:ext cx="540000" cy="540000"/>
                <a:chOff x="7825645" y="1608551"/>
                <a:chExt cx="612000" cy="612000"/>
              </a:xfrm>
              <a:noFill/>
            </p:grpSpPr>
            <p:sp>
              <p:nvSpPr>
                <p:cNvPr id="19" name="Oval 18">
                  <a:extLst>
                    <a:ext uri="{FF2B5EF4-FFF2-40B4-BE49-F238E27FC236}">
                      <a16:creationId xmlns:a16="http://schemas.microsoft.com/office/drawing/2014/main" id="{73ECD460-19F5-BCE1-85D9-016B091C574F}"/>
                    </a:ext>
                  </a:extLst>
                </p:cNvPr>
                <p:cNvSpPr>
                  <a:spLocks/>
                </p:cNvSpPr>
                <p:nvPr/>
              </p:nvSpPr>
              <p:spPr bwMode="gray">
                <a:xfrm>
                  <a:off x="7825645" y="1608551"/>
                  <a:ext cx="612000" cy="612000"/>
                </a:xfrm>
                <a:prstGeom prst="ellipse">
                  <a:avLst/>
                </a:prstGeom>
                <a:solidFill>
                  <a:schemeClr val="bg1"/>
                </a:solidFill>
                <a:ln w="28575"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24" name="Picture 23">
                  <a:extLst>
                    <a:ext uri="{FF2B5EF4-FFF2-40B4-BE49-F238E27FC236}">
                      <a16:creationId xmlns:a16="http://schemas.microsoft.com/office/drawing/2014/main" id="{D45CC6D6-23ED-EF2E-C4FF-394A10AD3E32}"/>
                    </a:ext>
                  </a:extLst>
                </p:cNvPr>
                <p:cNvPicPr>
                  <a:picLocks noChangeAspect="1"/>
                </p:cNvPicPr>
                <p:nvPr/>
              </p:nvPicPr>
              <p:blipFill>
                <a:blip r:embed="rId9"/>
                <a:stretch>
                  <a:fillRect/>
                </a:stretch>
              </p:blipFill>
              <p:spPr>
                <a:xfrm>
                  <a:off x="7875622" y="1658528"/>
                  <a:ext cx="512048" cy="512048"/>
                </a:xfrm>
                <a:prstGeom prst="rect">
                  <a:avLst/>
                </a:prstGeom>
                <a:grpFill/>
              </p:spPr>
            </p:pic>
          </p:grpSp>
        </p:grpSp>
        <p:grpSp>
          <p:nvGrpSpPr>
            <p:cNvPr id="35" name="Group 34">
              <a:extLst>
                <a:ext uri="{FF2B5EF4-FFF2-40B4-BE49-F238E27FC236}">
                  <a16:creationId xmlns:a16="http://schemas.microsoft.com/office/drawing/2014/main" id="{AA66FD5A-E987-A93F-6D1D-60DDA2668936}"/>
                </a:ext>
              </a:extLst>
            </p:cNvPr>
            <p:cNvGrpSpPr>
              <a:grpSpLocks/>
            </p:cNvGrpSpPr>
            <p:nvPr/>
          </p:nvGrpSpPr>
          <p:grpSpPr>
            <a:xfrm>
              <a:off x="2842319" y="2622031"/>
              <a:ext cx="1944000" cy="2619243"/>
              <a:chOff x="2996122" y="2622031"/>
              <a:chExt cx="1944000" cy="2619243"/>
            </a:xfrm>
          </p:grpSpPr>
          <p:sp>
            <p:nvSpPr>
              <p:cNvPr id="13" name="TextBox 12">
                <a:extLst>
                  <a:ext uri="{FF2B5EF4-FFF2-40B4-BE49-F238E27FC236}">
                    <a16:creationId xmlns:a16="http://schemas.microsoft.com/office/drawing/2014/main" id="{B8EAB7C9-84C1-D718-D0E6-41CBF6EB34A1}"/>
                  </a:ext>
                </a:extLst>
              </p:cNvPr>
              <p:cNvSpPr txBox="1">
                <a:spLocks/>
              </p:cNvSpPr>
              <p:nvPr/>
            </p:nvSpPr>
            <p:spPr>
              <a:xfrm>
                <a:off x="2996122" y="4140973"/>
                <a:ext cx="1944000" cy="1100301"/>
              </a:xfrm>
              <a:prstGeom prst="rect">
                <a:avLst/>
              </a:prstGeom>
              <a:noFill/>
            </p:spPr>
            <p:txBody>
              <a:bodyPr wrap="square" lIns="0" tIns="0" rIns="0" bIns="0" rtlCol="0">
                <a:spAutoFit/>
              </a:bodyPr>
              <a:lstStyle/>
              <a:p>
                <a:pPr algn="ctr" defTabSz="1219170">
                  <a:spcAft>
                    <a:spcPts val="600"/>
                  </a:spcAft>
                  <a:buSzPct val="100000"/>
                  <a:defRPr/>
                </a:pPr>
                <a:r>
                  <a:rPr lang="en-US" sz="1400" b="1">
                    <a:effectLst/>
                    <a:latin typeface="Calibri"/>
                  </a:rPr>
                  <a:t>Self-Assessment</a:t>
                </a:r>
              </a:p>
              <a:p>
                <a:pPr marL="0" marR="0" lvl="0" indent="0" algn="ctr" defTabSz="1219170" rtl="0" eaLnBrk="1" fontAlgn="auto" latinLnBrk="0" hangingPunct="1">
                  <a:spcBef>
                    <a:spcPts val="0"/>
                  </a:spcBef>
                  <a:spcAft>
                    <a:spcPts val="600"/>
                  </a:spcAft>
                  <a:buClrTx/>
                  <a:buSzPct val="100000"/>
                  <a:buFontTx/>
                  <a:buNone/>
                  <a:tabLst/>
                  <a:defRPr/>
                </a:pPr>
                <a:r>
                  <a:rPr kumimoji="0" lang="en-US" sz="1050" b="0" i="0" u="none" strike="noStrike" kern="1200" cap="none" spc="0" normalizeH="0" baseline="0" noProof="0">
                    <a:ln>
                      <a:noFill/>
                    </a:ln>
                    <a:effectLst/>
                    <a:uLnTx/>
                    <a:uFillTx/>
                    <a:latin typeface="Calibri"/>
                    <a:ea typeface="+mn-ea"/>
                    <a:cs typeface="+mn-cs"/>
                  </a:rPr>
                  <a:t>Sallie </a:t>
                </a:r>
                <a:r>
                  <a:rPr kumimoji="0" lang="en-US" sz="1050" i="0" u="none" strike="noStrike" kern="1200" cap="none" spc="0" normalizeH="0" baseline="0" noProof="0">
                    <a:ln>
                      <a:noFill/>
                    </a:ln>
                    <a:effectLst/>
                    <a:uLnTx/>
                    <a:uFillTx/>
                    <a:latin typeface="Calibri"/>
                    <a:ea typeface="+mn-ea"/>
                    <a:cs typeface="+mn-cs"/>
                  </a:rPr>
                  <a:t>uses </a:t>
                </a:r>
                <a:r>
                  <a:rPr kumimoji="0" lang="en-US" sz="1050" b="1" i="0" strike="noStrike" kern="1200" cap="none" spc="0" normalizeH="0" baseline="0" noProof="0">
                    <a:ln>
                      <a:noFill/>
                    </a:ln>
                    <a:solidFill>
                      <a:schemeClr val="accent3"/>
                    </a:solidFill>
                    <a:effectLst/>
                    <a:uLnTx/>
                    <a:uFillTx/>
                    <a:latin typeface="Calibri"/>
                    <a:ea typeface="+mn-ea"/>
                    <a:cs typeface="+mn-cs"/>
                  </a:rPr>
                  <a:t>self-assessment tools </a:t>
                </a:r>
                <a:r>
                  <a:rPr kumimoji="0" lang="en-US" sz="1050" i="0" u="none" strike="noStrike" kern="1200" cap="none" spc="0" normalizeH="0" baseline="0" noProof="0">
                    <a:ln>
                      <a:noFill/>
                    </a:ln>
                    <a:effectLst/>
                    <a:uLnTx/>
                    <a:uFillTx/>
                    <a:latin typeface="Calibri"/>
                    <a:ea typeface="+mn-ea"/>
                    <a:cs typeface="+mn-cs"/>
                  </a:rPr>
                  <a:t>to set her financial goals and determine </a:t>
                </a:r>
                <a:r>
                  <a:rPr lang="en-US" sz="1050">
                    <a:latin typeface="Calibri"/>
                  </a:rPr>
                  <a:t>her</a:t>
                </a:r>
                <a:r>
                  <a:rPr kumimoji="0" lang="en-US" sz="1050" i="0" u="none" strike="noStrike" kern="1200" cap="none" spc="0" normalizeH="0" baseline="0" noProof="0">
                    <a:ln>
                      <a:noFill/>
                    </a:ln>
                    <a:effectLst/>
                    <a:uLnTx/>
                    <a:uFillTx/>
                    <a:latin typeface="Calibri"/>
                    <a:ea typeface="+mn-ea"/>
                    <a:cs typeface="+mn-cs"/>
                  </a:rPr>
                  <a:t> investor profile, including risk tolerance, investing experience, and time horizon</a:t>
                </a:r>
                <a:endParaRPr kumimoji="0" lang="en-US" sz="1050" i="0" u="none" strike="noStrike" kern="1200" cap="none" spc="0" normalizeH="0" baseline="30000" noProof="0">
                  <a:ln>
                    <a:noFill/>
                  </a:ln>
                  <a:effectLst/>
                  <a:uLnTx/>
                  <a:uFillTx/>
                  <a:latin typeface="Calibri"/>
                  <a:ea typeface="+mn-ea"/>
                  <a:cs typeface="+mn-cs"/>
                </a:endParaRPr>
              </a:p>
            </p:txBody>
          </p:sp>
          <p:sp>
            <p:nvSpPr>
              <p:cNvPr id="71" name="TextBox 70">
                <a:extLst>
                  <a:ext uri="{FF2B5EF4-FFF2-40B4-BE49-F238E27FC236}">
                    <a16:creationId xmlns:a16="http://schemas.microsoft.com/office/drawing/2014/main" id="{759EE840-9873-B408-C3EB-E95DD6BD704D}"/>
                  </a:ext>
                </a:extLst>
              </p:cNvPr>
              <p:cNvSpPr txBox="1">
                <a:spLocks/>
              </p:cNvSpPr>
              <p:nvPr/>
            </p:nvSpPr>
            <p:spPr>
              <a:xfrm>
                <a:off x="2996122" y="2622031"/>
                <a:ext cx="1944000" cy="646331"/>
              </a:xfrm>
              <a:prstGeom prst="rect">
                <a:avLst/>
              </a:prstGeom>
              <a:noFill/>
            </p:spPr>
            <p:txBody>
              <a:bodyPr wrap="square" lIns="0" tIns="0" rIns="0" bIns="0" rtlCol="0" anchor="b">
                <a:spAutoFit/>
              </a:bodyPr>
              <a:lstStyle/>
              <a:p>
                <a:pPr marL="0" marR="0" lvl="0" indent="0" algn="ctr" defTabSz="1219170" rtl="0" eaLnBrk="1" fontAlgn="auto" latinLnBrk="0" hangingPunct="1">
                  <a:spcBef>
                    <a:spcPts val="0"/>
                  </a:spcBef>
                  <a:spcAft>
                    <a:spcPts val="600"/>
                  </a:spcAft>
                  <a:buClrTx/>
                  <a:buSzPct val="100000"/>
                  <a:buFontTx/>
                  <a:buNone/>
                  <a:tabLst/>
                  <a:defRPr/>
                </a:pPr>
                <a:r>
                  <a:rPr lang="en-US" sz="1050">
                    <a:solidFill>
                      <a:schemeClr val="bg2">
                        <a:lumMod val="50000"/>
                      </a:schemeClr>
                    </a:solidFill>
                    <a:latin typeface="Calibri"/>
                  </a:rPr>
                  <a:t>Sallie has no structured way to assess her risk tolerance or set clear goals, so she makes guesses that may not align with her needs</a:t>
                </a:r>
                <a:endParaRPr kumimoji="0" lang="en-US" sz="1000" i="0" u="none" strike="noStrike" kern="1200" cap="none" spc="0" normalizeH="0" baseline="30000" noProof="0">
                  <a:ln>
                    <a:noFill/>
                  </a:ln>
                  <a:solidFill>
                    <a:schemeClr val="bg2">
                      <a:lumMod val="50000"/>
                    </a:schemeClr>
                  </a:solidFill>
                  <a:effectLst/>
                  <a:uLnTx/>
                  <a:uFillTx/>
                  <a:latin typeface="Calibri"/>
                  <a:ea typeface="+mn-ea"/>
                  <a:cs typeface="+mn-cs"/>
                </a:endParaRPr>
              </a:p>
            </p:txBody>
          </p:sp>
          <p:grpSp>
            <p:nvGrpSpPr>
              <p:cNvPr id="34" name="Group 33">
                <a:extLst>
                  <a:ext uri="{FF2B5EF4-FFF2-40B4-BE49-F238E27FC236}">
                    <a16:creationId xmlns:a16="http://schemas.microsoft.com/office/drawing/2014/main" id="{731F32A4-4F98-798C-B7FD-25A310BA160D}"/>
                  </a:ext>
                </a:extLst>
              </p:cNvPr>
              <p:cNvGrpSpPr>
                <a:grpSpLocks/>
              </p:cNvGrpSpPr>
              <p:nvPr/>
            </p:nvGrpSpPr>
            <p:grpSpPr>
              <a:xfrm>
                <a:off x="3695399" y="3416667"/>
                <a:ext cx="545447" cy="576000"/>
                <a:chOff x="3782826" y="3416667"/>
                <a:chExt cx="545447" cy="576000"/>
              </a:xfrm>
            </p:grpSpPr>
            <p:sp>
              <p:nvSpPr>
                <p:cNvPr id="102" name="Oval 101">
                  <a:extLst>
                    <a:ext uri="{FF2B5EF4-FFF2-40B4-BE49-F238E27FC236}">
                      <a16:creationId xmlns:a16="http://schemas.microsoft.com/office/drawing/2014/main" id="{AAE7BAD8-B6E7-4A70-11B8-FB9DA30BC801}"/>
                    </a:ext>
                  </a:extLst>
                </p:cNvPr>
                <p:cNvSpPr>
                  <a:spLocks/>
                </p:cNvSpPr>
                <p:nvPr/>
              </p:nvSpPr>
              <p:spPr bwMode="gray">
                <a:xfrm>
                  <a:off x="3782826" y="3416667"/>
                  <a:ext cx="545447" cy="576000"/>
                </a:xfrm>
                <a:prstGeom prst="ellipse">
                  <a:avLst/>
                </a:prstGeom>
                <a:solidFill>
                  <a:schemeClr val="bg1"/>
                </a:solidFill>
                <a:ln w="28575" algn="ctr">
                  <a:solidFill>
                    <a:schemeClr val="accent1">
                      <a:lumMod val="7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6" name="Picture 5">
                  <a:extLst>
                    <a:ext uri="{FF2B5EF4-FFF2-40B4-BE49-F238E27FC236}">
                      <a16:creationId xmlns:a16="http://schemas.microsoft.com/office/drawing/2014/main" id="{15425D3F-5C74-7464-789E-3F2779C8DA09}"/>
                    </a:ext>
                  </a:extLst>
                </p:cNvPr>
                <p:cNvPicPr>
                  <a:picLocks noChangeAspect="1"/>
                </p:cNvPicPr>
                <p:nvPr/>
              </p:nvPicPr>
              <p:blipFill>
                <a:blip r:embed="rId10"/>
                <a:stretch>
                  <a:fillRect/>
                </a:stretch>
              </p:blipFill>
              <p:spPr>
                <a:xfrm>
                  <a:off x="3822088" y="3458129"/>
                  <a:ext cx="466922" cy="493076"/>
                </a:xfrm>
                <a:prstGeom prst="rect">
                  <a:avLst/>
                </a:prstGeom>
              </p:spPr>
            </p:pic>
          </p:grpSp>
        </p:grpSp>
        <p:sp>
          <p:nvSpPr>
            <p:cNvPr id="23" name="TextBox 22">
              <a:extLst>
                <a:ext uri="{FF2B5EF4-FFF2-40B4-BE49-F238E27FC236}">
                  <a16:creationId xmlns:a16="http://schemas.microsoft.com/office/drawing/2014/main" id="{12F6BADD-EE1C-2B8E-9AFF-EA1DD3DBB31C}"/>
                </a:ext>
              </a:extLst>
            </p:cNvPr>
            <p:cNvSpPr txBox="1">
              <a:spLocks/>
            </p:cNvSpPr>
            <p:nvPr/>
          </p:nvSpPr>
          <p:spPr>
            <a:xfrm>
              <a:off x="6015085" y="1979854"/>
              <a:ext cx="4788000" cy="335285"/>
            </a:xfrm>
            <a:prstGeom prst="rect">
              <a:avLst/>
            </a:prstGeom>
            <a:noFill/>
          </p:spPr>
          <p:txBody>
            <a:bodyPr wrap="square" lIns="0" tIns="0" rIns="0" bIns="0" rtlCol="0">
              <a:spAutoFit/>
            </a:bodyPr>
            <a:lstStyle/>
            <a:p>
              <a:pPr algn="ctr" defTabSz="1219170">
                <a:lnSpc>
                  <a:spcPct val="106000"/>
                </a:lnSpc>
                <a:spcAft>
                  <a:spcPts val="600"/>
                </a:spcAft>
                <a:buSzPct val="100000"/>
                <a:defRPr/>
              </a:pPr>
              <a:r>
                <a:rPr lang="en-US" sz="1050">
                  <a:solidFill>
                    <a:schemeClr val="bg2">
                      <a:lumMod val="50000"/>
                    </a:schemeClr>
                  </a:solidFill>
                  <a:latin typeface="Calibri"/>
                  <a:ea typeface="Open Sans" panose="020B0606030504020204" pitchFamily="34" charset="0"/>
                  <a:cs typeface="Calibri" panose="020F0502020204030204" pitchFamily="34" charset="0"/>
                </a:rPr>
                <a:t>Sallie turns to social media and finfluencers for guidance, but the information she finds</a:t>
              </a:r>
              <a:br>
                <a:rPr lang="en-US" sz="1050">
                  <a:solidFill>
                    <a:schemeClr val="bg2">
                      <a:lumMod val="50000"/>
                    </a:schemeClr>
                  </a:solidFill>
                  <a:latin typeface="Calibri"/>
                  <a:ea typeface="Open Sans" panose="020B0606030504020204" pitchFamily="34" charset="0"/>
                  <a:cs typeface="Calibri" panose="020F0502020204030204" pitchFamily="34" charset="0"/>
                </a:rPr>
              </a:br>
              <a:r>
                <a:rPr lang="en-US" sz="1050">
                  <a:solidFill>
                    <a:schemeClr val="bg2">
                      <a:lumMod val="50000"/>
                    </a:schemeClr>
                  </a:solidFill>
                  <a:latin typeface="Calibri"/>
                  <a:ea typeface="Open Sans" panose="020B0606030504020204" pitchFamily="34" charset="0"/>
                  <a:cs typeface="Calibri" panose="020F0502020204030204" pitchFamily="34" charset="0"/>
                </a:rPr>
                <a:t>is often exaggerated, biased, or misleading</a:t>
              </a:r>
            </a:p>
          </p:txBody>
        </p:sp>
        <p:sp>
          <p:nvSpPr>
            <p:cNvPr id="3" name="TextBox 2">
              <a:extLst>
                <a:ext uri="{FF2B5EF4-FFF2-40B4-BE49-F238E27FC236}">
                  <a16:creationId xmlns:a16="http://schemas.microsoft.com/office/drawing/2014/main" id="{5ABB73F5-8A3F-27C8-7482-3AD156651E09}"/>
                </a:ext>
              </a:extLst>
            </p:cNvPr>
            <p:cNvSpPr txBox="1">
              <a:spLocks/>
            </p:cNvSpPr>
            <p:nvPr/>
          </p:nvSpPr>
          <p:spPr>
            <a:xfrm>
              <a:off x="4176642" y="2039774"/>
              <a:ext cx="1763256" cy="215444"/>
            </a:xfrm>
            <a:prstGeom prst="rect">
              <a:avLst/>
            </a:prstGeom>
            <a:noFill/>
          </p:spPr>
          <p:txBody>
            <a:bodyPr wrap="square" lIns="0" tIns="0" rIns="0" bIns="0" rtlCol="0">
              <a:spAutoFit/>
            </a:bodyPr>
            <a:lstStyle/>
            <a:p>
              <a:pPr algn="ctr" defTabSz="1219170">
                <a:spcAft>
                  <a:spcPts val="600"/>
                </a:spcAft>
                <a:buSzPct val="100000"/>
                <a:defRPr/>
              </a:pPr>
              <a:r>
                <a:rPr lang="en-US" sz="1400" b="1">
                  <a:solidFill>
                    <a:schemeClr val="bg2">
                      <a:lumMod val="50000"/>
                    </a:schemeClr>
                  </a:solidFill>
                  <a:effectLst/>
                  <a:latin typeface="Calibri"/>
                </a:rPr>
                <a:t>Education &amp; Research</a:t>
              </a:r>
            </a:p>
          </p:txBody>
        </p:sp>
        <p:grpSp>
          <p:nvGrpSpPr>
            <p:cNvPr id="39" name="Group 38">
              <a:extLst>
                <a:ext uri="{FF2B5EF4-FFF2-40B4-BE49-F238E27FC236}">
                  <a16:creationId xmlns:a16="http://schemas.microsoft.com/office/drawing/2014/main" id="{584016DA-035C-95EB-39A0-849FE338E3FC}"/>
                </a:ext>
              </a:extLst>
            </p:cNvPr>
            <p:cNvGrpSpPr>
              <a:grpSpLocks/>
            </p:cNvGrpSpPr>
            <p:nvPr/>
          </p:nvGrpSpPr>
          <p:grpSpPr>
            <a:xfrm>
              <a:off x="3537162" y="1859496"/>
              <a:ext cx="540000" cy="540000"/>
              <a:chOff x="4115127" y="1746934"/>
              <a:chExt cx="576000" cy="576000"/>
            </a:xfrm>
          </p:grpSpPr>
          <p:sp>
            <p:nvSpPr>
              <p:cNvPr id="31" name="Oval 30">
                <a:extLst>
                  <a:ext uri="{FF2B5EF4-FFF2-40B4-BE49-F238E27FC236}">
                    <a16:creationId xmlns:a16="http://schemas.microsoft.com/office/drawing/2014/main" id="{DC26BBA8-4693-845C-35CC-49783B19EEDB}"/>
                  </a:ext>
                </a:extLst>
              </p:cNvPr>
              <p:cNvSpPr>
                <a:spLocks/>
              </p:cNvSpPr>
              <p:nvPr/>
            </p:nvSpPr>
            <p:spPr bwMode="gray">
              <a:xfrm>
                <a:off x="4115127" y="1746934"/>
                <a:ext cx="576000" cy="576000"/>
              </a:xfrm>
              <a:prstGeom prst="ellipse">
                <a:avLst/>
              </a:prstGeom>
              <a:solidFill>
                <a:schemeClr val="bg1"/>
              </a:solidFill>
              <a:ln w="28575" algn="ctr">
                <a:solidFill>
                  <a:schemeClr val="accent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38" name="Picture 37">
                <a:extLst>
                  <a:ext uri="{FF2B5EF4-FFF2-40B4-BE49-F238E27FC236}">
                    <a16:creationId xmlns:a16="http://schemas.microsoft.com/office/drawing/2014/main" id="{FC9707E9-75D3-745B-A6A9-5484C1D0F16A}"/>
                  </a:ext>
                </a:extLst>
              </p:cNvPr>
              <p:cNvPicPr>
                <a:picLocks noChangeAspect="1"/>
              </p:cNvPicPr>
              <p:nvPr/>
            </p:nvPicPr>
            <p:blipFill>
              <a:blip r:embed="rId11"/>
              <a:stretch>
                <a:fillRect/>
              </a:stretch>
            </p:blipFill>
            <p:spPr>
              <a:xfrm>
                <a:off x="4118775" y="1750582"/>
                <a:ext cx="568704" cy="568704"/>
              </a:xfrm>
              <a:prstGeom prst="rect">
                <a:avLst/>
              </a:prstGeom>
            </p:spPr>
          </p:pic>
        </p:grpSp>
        <p:grpSp>
          <p:nvGrpSpPr>
            <p:cNvPr id="55" name="Group 54">
              <a:extLst>
                <a:ext uri="{FF2B5EF4-FFF2-40B4-BE49-F238E27FC236}">
                  <a16:creationId xmlns:a16="http://schemas.microsoft.com/office/drawing/2014/main" id="{78C95EE7-4157-964C-9B5E-0190C7E01A47}"/>
                </a:ext>
              </a:extLst>
            </p:cNvPr>
            <p:cNvGrpSpPr>
              <a:grpSpLocks/>
            </p:cNvGrpSpPr>
            <p:nvPr/>
          </p:nvGrpSpPr>
          <p:grpSpPr>
            <a:xfrm>
              <a:off x="2847825" y="2157677"/>
              <a:ext cx="545447" cy="161926"/>
              <a:chOff x="2898775" y="142874"/>
              <a:chExt cx="758825" cy="161926"/>
            </a:xfrm>
          </p:grpSpPr>
          <p:cxnSp>
            <p:nvCxnSpPr>
              <p:cNvPr id="50" name="Straight Connector 49">
                <a:extLst>
                  <a:ext uri="{FF2B5EF4-FFF2-40B4-BE49-F238E27FC236}">
                    <a16:creationId xmlns:a16="http://schemas.microsoft.com/office/drawing/2014/main" id="{68B27143-2E14-3F6A-32BC-7A592EBC77DB}"/>
                  </a:ext>
                </a:extLst>
              </p:cNvPr>
              <p:cNvCxnSpPr>
                <a:cxnSpLocks/>
              </p:cNvCxnSpPr>
              <p:nvPr/>
            </p:nvCxnSpPr>
            <p:spPr>
              <a:xfrm>
                <a:off x="2933700" y="142875"/>
                <a:ext cx="72390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95DB2D4-158C-1693-AD57-6EC2EB152F8F}"/>
                  </a:ext>
                </a:extLst>
              </p:cNvPr>
              <p:cNvCxnSpPr>
                <a:cxnSpLocks/>
              </p:cNvCxnSpPr>
              <p:nvPr/>
            </p:nvCxnSpPr>
            <p:spPr>
              <a:xfrm flipV="1">
                <a:off x="2898775" y="142874"/>
                <a:ext cx="34925" cy="16192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5CC6A6A3-BF0D-6FBE-BEF8-05B39E3F58F9}"/>
                </a:ext>
              </a:extLst>
            </p:cNvPr>
            <p:cNvGrpSpPr>
              <a:grpSpLocks/>
            </p:cNvGrpSpPr>
            <p:nvPr/>
          </p:nvGrpSpPr>
          <p:grpSpPr>
            <a:xfrm flipH="1">
              <a:off x="10888370" y="2157677"/>
              <a:ext cx="547200" cy="161926"/>
              <a:chOff x="2898775" y="142874"/>
              <a:chExt cx="758825" cy="161926"/>
            </a:xfrm>
          </p:grpSpPr>
          <p:cxnSp>
            <p:nvCxnSpPr>
              <p:cNvPr id="57" name="Straight Connector 56">
                <a:extLst>
                  <a:ext uri="{FF2B5EF4-FFF2-40B4-BE49-F238E27FC236}">
                    <a16:creationId xmlns:a16="http://schemas.microsoft.com/office/drawing/2014/main" id="{89941D86-9B00-A9F3-7EA8-08E7E41349DF}"/>
                  </a:ext>
                </a:extLst>
              </p:cNvPr>
              <p:cNvCxnSpPr>
                <a:cxnSpLocks/>
              </p:cNvCxnSpPr>
              <p:nvPr/>
            </p:nvCxnSpPr>
            <p:spPr>
              <a:xfrm>
                <a:off x="2933700" y="142875"/>
                <a:ext cx="72390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37E34576-6C97-ADCA-8DC7-8CB1D4A68598}"/>
                  </a:ext>
                </a:extLst>
              </p:cNvPr>
              <p:cNvCxnSpPr>
                <a:cxnSpLocks/>
              </p:cNvCxnSpPr>
              <p:nvPr/>
            </p:nvCxnSpPr>
            <p:spPr>
              <a:xfrm flipV="1">
                <a:off x="2898775" y="142874"/>
                <a:ext cx="34925" cy="16192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a16="http://schemas.microsoft.com/office/drawing/2014/main" id="{052DEA1D-0B47-8E04-1F15-293080E91283}"/>
                </a:ext>
              </a:extLst>
            </p:cNvPr>
            <p:cNvGrpSpPr>
              <a:grpSpLocks/>
            </p:cNvGrpSpPr>
            <p:nvPr/>
          </p:nvGrpSpPr>
          <p:grpSpPr>
            <a:xfrm flipV="1">
              <a:off x="2847825" y="5730542"/>
              <a:ext cx="545447" cy="161926"/>
              <a:chOff x="2898775" y="142874"/>
              <a:chExt cx="758825" cy="161926"/>
            </a:xfrm>
          </p:grpSpPr>
          <p:cxnSp>
            <p:nvCxnSpPr>
              <p:cNvPr id="64" name="Straight Connector 63">
                <a:extLst>
                  <a:ext uri="{FF2B5EF4-FFF2-40B4-BE49-F238E27FC236}">
                    <a16:creationId xmlns:a16="http://schemas.microsoft.com/office/drawing/2014/main" id="{F0961232-A878-7B33-88BE-B44C8B2EB864}"/>
                  </a:ext>
                </a:extLst>
              </p:cNvPr>
              <p:cNvCxnSpPr>
                <a:cxnSpLocks/>
              </p:cNvCxnSpPr>
              <p:nvPr/>
            </p:nvCxnSpPr>
            <p:spPr>
              <a:xfrm>
                <a:off x="2933700" y="142875"/>
                <a:ext cx="72390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CBDAD5F-C61A-7F17-0FE7-518802B9E657}"/>
                  </a:ext>
                </a:extLst>
              </p:cNvPr>
              <p:cNvCxnSpPr>
                <a:cxnSpLocks/>
              </p:cNvCxnSpPr>
              <p:nvPr/>
            </p:nvCxnSpPr>
            <p:spPr>
              <a:xfrm flipV="1">
                <a:off x="2898775" y="142874"/>
                <a:ext cx="34925" cy="16192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6742B4C7-39B6-524C-9CA2-203A194FBC55}"/>
                </a:ext>
              </a:extLst>
            </p:cNvPr>
            <p:cNvGrpSpPr>
              <a:grpSpLocks/>
            </p:cNvGrpSpPr>
            <p:nvPr/>
          </p:nvGrpSpPr>
          <p:grpSpPr>
            <a:xfrm flipH="1" flipV="1">
              <a:off x="10888370" y="5730542"/>
              <a:ext cx="547200" cy="161926"/>
              <a:chOff x="2898775" y="142874"/>
              <a:chExt cx="758825" cy="161926"/>
            </a:xfrm>
          </p:grpSpPr>
          <p:cxnSp>
            <p:nvCxnSpPr>
              <p:cNvPr id="67" name="Straight Connector 66">
                <a:extLst>
                  <a:ext uri="{FF2B5EF4-FFF2-40B4-BE49-F238E27FC236}">
                    <a16:creationId xmlns:a16="http://schemas.microsoft.com/office/drawing/2014/main" id="{8B93B9EE-0208-34F1-1C5A-CED3E8252977}"/>
                  </a:ext>
                </a:extLst>
              </p:cNvPr>
              <p:cNvCxnSpPr>
                <a:cxnSpLocks/>
              </p:cNvCxnSpPr>
              <p:nvPr/>
            </p:nvCxnSpPr>
            <p:spPr>
              <a:xfrm>
                <a:off x="2933700" y="142875"/>
                <a:ext cx="723900" cy="0"/>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5F09396-7471-7A74-7BD4-EBFBFE5B1CB0}"/>
                  </a:ext>
                </a:extLst>
              </p:cNvPr>
              <p:cNvCxnSpPr>
                <a:cxnSpLocks/>
              </p:cNvCxnSpPr>
              <p:nvPr/>
            </p:nvCxnSpPr>
            <p:spPr>
              <a:xfrm flipV="1">
                <a:off x="2898775" y="142874"/>
                <a:ext cx="34925" cy="161926"/>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sp>
          <p:nvSpPr>
            <p:cNvPr id="69" name="TextBox 68">
              <a:extLst>
                <a:ext uri="{FF2B5EF4-FFF2-40B4-BE49-F238E27FC236}">
                  <a16:creationId xmlns:a16="http://schemas.microsoft.com/office/drawing/2014/main" id="{23A3D417-4831-E879-E90B-D498574CB81B}"/>
                </a:ext>
              </a:extLst>
            </p:cNvPr>
            <p:cNvSpPr txBox="1">
              <a:spLocks/>
            </p:cNvSpPr>
            <p:nvPr/>
          </p:nvSpPr>
          <p:spPr>
            <a:xfrm>
              <a:off x="4176642" y="5703783"/>
              <a:ext cx="1763256" cy="215444"/>
            </a:xfrm>
            <a:prstGeom prst="rect">
              <a:avLst/>
            </a:prstGeom>
            <a:noFill/>
          </p:spPr>
          <p:txBody>
            <a:bodyPr wrap="square" lIns="0" tIns="0" rIns="0" bIns="0" rtlCol="0">
              <a:spAutoFit/>
            </a:bodyPr>
            <a:lstStyle/>
            <a:p>
              <a:pPr algn="ctr" defTabSz="1219170">
                <a:spcAft>
                  <a:spcPts val="600"/>
                </a:spcAft>
                <a:buSzPct val="100000"/>
                <a:defRPr/>
              </a:pPr>
              <a:r>
                <a:rPr lang="en-US" sz="1400" b="1">
                  <a:effectLst/>
                  <a:latin typeface="Calibri"/>
                </a:rPr>
                <a:t>Education &amp; Research</a:t>
              </a:r>
            </a:p>
          </p:txBody>
        </p:sp>
        <p:grpSp>
          <p:nvGrpSpPr>
            <p:cNvPr id="70" name="Group 69">
              <a:extLst>
                <a:ext uri="{FF2B5EF4-FFF2-40B4-BE49-F238E27FC236}">
                  <a16:creationId xmlns:a16="http://schemas.microsoft.com/office/drawing/2014/main" id="{FAEED765-F27D-5CB3-7CE6-C43443B22472}"/>
                </a:ext>
              </a:extLst>
            </p:cNvPr>
            <p:cNvGrpSpPr>
              <a:grpSpLocks/>
            </p:cNvGrpSpPr>
            <p:nvPr/>
          </p:nvGrpSpPr>
          <p:grpSpPr>
            <a:xfrm>
              <a:off x="3537162" y="5523505"/>
              <a:ext cx="540000" cy="540000"/>
              <a:chOff x="4115127" y="1746934"/>
              <a:chExt cx="576000" cy="576000"/>
            </a:xfrm>
          </p:grpSpPr>
          <p:sp>
            <p:nvSpPr>
              <p:cNvPr id="73" name="Oval 72">
                <a:extLst>
                  <a:ext uri="{FF2B5EF4-FFF2-40B4-BE49-F238E27FC236}">
                    <a16:creationId xmlns:a16="http://schemas.microsoft.com/office/drawing/2014/main" id="{2ED87E5C-2417-82C7-6B53-7529674D47F2}"/>
                  </a:ext>
                </a:extLst>
              </p:cNvPr>
              <p:cNvSpPr>
                <a:spLocks/>
              </p:cNvSpPr>
              <p:nvPr/>
            </p:nvSpPr>
            <p:spPr bwMode="gray">
              <a:xfrm>
                <a:off x="4115127" y="1746934"/>
                <a:ext cx="576000" cy="576000"/>
              </a:xfrm>
              <a:prstGeom prst="ellipse">
                <a:avLst/>
              </a:prstGeom>
              <a:solidFill>
                <a:schemeClr val="bg1"/>
              </a:solidFill>
              <a:ln w="28575" algn="ctr">
                <a:solidFill>
                  <a:schemeClr val="accent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74" name="Picture 73">
                <a:extLst>
                  <a:ext uri="{FF2B5EF4-FFF2-40B4-BE49-F238E27FC236}">
                    <a16:creationId xmlns:a16="http://schemas.microsoft.com/office/drawing/2014/main" id="{0F84BCCB-8EA0-4F50-EB4E-8C6B64D4380F}"/>
                  </a:ext>
                </a:extLst>
              </p:cNvPr>
              <p:cNvPicPr>
                <a:picLocks noChangeAspect="1"/>
              </p:cNvPicPr>
              <p:nvPr/>
            </p:nvPicPr>
            <p:blipFill>
              <a:blip r:embed="rId11"/>
              <a:stretch>
                <a:fillRect/>
              </a:stretch>
            </p:blipFill>
            <p:spPr>
              <a:xfrm>
                <a:off x="4118775" y="1750582"/>
                <a:ext cx="568704" cy="568704"/>
              </a:xfrm>
              <a:prstGeom prst="rect">
                <a:avLst/>
              </a:prstGeom>
            </p:spPr>
          </p:pic>
        </p:grpSp>
      </p:grpSp>
    </p:spTree>
    <p:extLst>
      <p:ext uri="{BB962C8B-B14F-4D97-AF65-F5344CB8AC3E}">
        <p14:creationId xmlns:p14="http://schemas.microsoft.com/office/powerpoint/2010/main" val="121448806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27328212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8F0E80-AC91-4A1F-8E56-CCBC7BBA31F6}"/>
              </a:ext>
            </a:extLst>
          </p:cNvPr>
          <p:cNvSpPr>
            <a:spLocks noGrp="1"/>
          </p:cNvSpPr>
          <p:nvPr>
            <p:ph type="body" sz="quarter" idx="21"/>
          </p:nvPr>
        </p:nvSpPr>
        <p:spPr>
          <a:xfrm>
            <a:off x="501650" y="651600"/>
            <a:ext cx="11188700" cy="757255"/>
          </a:xfrm>
        </p:spPr>
        <p:txBody>
          <a:bodyPr/>
          <a:lstStyle/>
          <a:p>
            <a:r>
              <a:rPr lang="en-US"/>
              <a:t>While the Proposed Guidance does not represent a major shift in required safeguards, it is important for OEOs to maintain appropriate safeguards when deploying additional decision-making supports</a:t>
            </a:r>
          </a:p>
        </p:txBody>
      </p:sp>
      <p:sp>
        <p:nvSpPr>
          <p:cNvPr id="4" name="Title 3"/>
          <p:cNvSpPr>
            <a:spLocks noGrp="1"/>
          </p:cNvSpPr>
          <p:nvPr>
            <p:ph type="title"/>
          </p:nvPr>
        </p:nvSpPr>
        <p:spPr/>
        <p:txBody>
          <a:bodyPr vert="horz"/>
          <a:lstStyle/>
          <a:p>
            <a:r>
              <a:rPr lang="en-US" noProof="0"/>
              <a:t>Safeguards</a:t>
            </a:r>
          </a:p>
        </p:txBody>
      </p:sp>
      <p:sp>
        <p:nvSpPr>
          <p:cNvPr id="5" name="Slide Number Placeholder 4"/>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17</a:t>
            </a:fld>
            <a:endParaRPr lang="en-US"/>
          </a:p>
        </p:txBody>
      </p:sp>
      <p:grpSp>
        <p:nvGrpSpPr>
          <p:cNvPr id="18" name="Group 17">
            <a:extLst>
              <a:ext uri="{FF2B5EF4-FFF2-40B4-BE49-F238E27FC236}">
                <a16:creationId xmlns:a16="http://schemas.microsoft.com/office/drawing/2014/main" id="{0D8333CE-D5E7-E830-60B3-D0A1682B0243}"/>
              </a:ext>
            </a:extLst>
          </p:cNvPr>
          <p:cNvGrpSpPr>
            <a:grpSpLocks/>
          </p:cNvGrpSpPr>
          <p:nvPr/>
        </p:nvGrpSpPr>
        <p:grpSpPr>
          <a:xfrm>
            <a:off x="501649" y="1248981"/>
            <a:ext cx="11201401" cy="955793"/>
            <a:chOff x="501650" y="1304025"/>
            <a:chExt cx="11201401" cy="955793"/>
          </a:xfrm>
        </p:grpSpPr>
        <p:grpSp>
          <p:nvGrpSpPr>
            <p:cNvPr id="46" name="Group 45">
              <a:extLst>
                <a:ext uri="{FF2B5EF4-FFF2-40B4-BE49-F238E27FC236}">
                  <a16:creationId xmlns:a16="http://schemas.microsoft.com/office/drawing/2014/main" id="{AEE934FA-04CE-C274-BEF1-1E51CC7736CC}"/>
                </a:ext>
              </a:extLst>
            </p:cNvPr>
            <p:cNvGrpSpPr>
              <a:grpSpLocks/>
            </p:cNvGrpSpPr>
            <p:nvPr/>
          </p:nvGrpSpPr>
          <p:grpSpPr>
            <a:xfrm>
              <a:off x="579061" y="1640596"/>
              <a:ext cx="11033877" cy="532939"/>
              <a:chOff x="593055" y="5081724"/>
              <a:chExt cx="9275369" cy="587300"/>
            </a:xfrm>
          </p:grpSpPr>
          <p:sp>
            <p:nvSpPr>
              <p:cNvPr id="69" name="Rectangle: Rounded Corners 68">
                <a:extLst>
                  <a:ext uri="{FF2B5EF4-FFF2-40B4-BE49-F238E27FC236}">
                    <a16:creationId xmlns:a16="http://schemas.microsoft.com/office/drawing/2014/main" id="{331B07E1-F1C3-45F2-C8D5-4EBC30F53407}"/>
                  </a:ext>
                </a:extLst>
              </p:cNvPr>
              <p:cNvSpPr>
                <a:spLocks/>
              </p:cNvSpPr>
              <p:nvPr/>
            </p:nvSpPr>
            <p:spPr bwMode="gray">
              <a:xfrm>
                <a:off x="593055" y="5087127"/>
                <a:ext cx="1731433" cy="577150"/>
              </a:xfrm>
              <a:prstGeom prst="roundRect">
                <a:avLst>
                  <a:gd name="adj" fmla="val 2999"/>
                </a:avLst>
              </a:prstGeom>
              <a:solidFill>
                <a:schemeClr val="bg1">
                  <a:lumMod val="95000"/>
                </a:schemeClr>
              </a:solidFill>
              <a:ln w="19050" algn="ctr">
                <a:noFill/>
                <a:miter lim="800000"/>
                <a:headEnd/>
                <a:tailEnd/>
              </a:ln>
            </p:spPr>
            <p:txBody>
              <a:bodyPr wrap="square" lIns="88900" tIns="88900" rIns="88900" bIns="144000" rtlCol="0" anchor="ctr"/>
              <a:lstStyle/>
              <a:p>
                <a:pPr algn="ctr">
                  <a:lnSpc>
                    <a:spcPct val="106000"/>
                  </a:lnSpc>
                  <a:defRPr/>
                </a:pPr>
                <a:r>
                  <a:rPr lang="en-US" sz="1400" b="1" noProof="0">
                    <a:solidFill>
                      <a:srgbClr val="000000"/>
                    </a:solidFill>
                    <a:latin typeface="+mj-lt"/>
                    <a:ea typeface="Open Sans" panose="020B0606030504020204" pitchFamily="34" charset="0"/>
                    <a:cs typeface="Calibri" panose="020F0502020204030204" pitchFamily="34" charset="0"/>
                  </a:rPr>
                  <a:t>Strengthen</a:t>
                </a:r>
                <a:br>
                  <a:rPr lang="en-US" sz="1400" b="1" noProof="0">
                    <a:solidFill>
                      <a:srgbClr val="000000"/>
                    </a:solidFill>
                    <a:latin typeface="+mj-lt"/>
                    <a:ea typeface="Open Sans" panose="020B0606030504020204" pitchFamily="34" charset="0"/>
                    <a:cs typeface="Calibri" panose="020F0502020204030204" pitchFamily="34" charset="0"/>
                  </a:rPr>
                </a:br>
                <a:r>
                  <a:rPr lang="en-US" sz="1400" b="1" noProof="0">
                    <a:solidFill>
                      <a:srgbClr val="000000"/>
                    </a:solidFill>
                    <a:latin typeface="+mj-lt"/>
                    <a:ea typeface="Open Sans" panose="020B0606030504020204" pitchFamily="34" charset="0"/>
                    <a:cs typeface="Calibri" panose="020F0502020204030204" pitchFamily="34" charset="0"/>
                  </a:rPr>
                  <a:t>Disclosures</a:t>
                </a:r>
              </a:p>
            </p:txBody>
          </p:sp>
          <p:sp>
            <p:nvSpPr>
              <p:cNvPr id="66" name="Rectangle: Rounded Corners 65">
                <a:extLst>
                  <a:ext uri="{FF2B5EF4-FFF2-40B4-BE49-F238E27FC236}">
                    <a16:creationId xmlns:a16="http://schemas.microsoft.com/office/drawing/2014/main" id="{C03C1B7E-2A1A-D63D-AB4A-6BF3DE269F91}"/>
                  </a:ext>
                </a:extLst>
              </p:cNvPr>
              <p:cNvSpPr>
                <a:spLocks/>
              </p:cNvSpPr>
              <p:nvPr/>
            </p:nvSpPr>
            <p:spPr bwMode="gray">
              <a:xfrm>
                <a:off x="2499567" y="5084341"/>
                <a:ext cx="1731433" cy="577150"/>
              </a:xfrm>
              <a:prstGeom prst="roundRect">
                <a:avLst>
                  <a:gd name="adj" fmla="val 2999"/>
                </a:avLst>
              </a:prstGeom>
              <a:solidFill>
                <a:schemeClr val="bg1">
                  <a:lumMod val="95000"/>
                </a:schemeClr>
              </a:solidFill>
              <a:ln w="19050" algn="ctr">
                <a:noFill/>
                <a:miter lim="800000"/>
                <a:headEnd/>
                <a:tailEnd/>
              </a:ln>
            </p:spPr>
            <p:txBody>
              <a:bodyPr wrap="square" lIns="88900" tIns="88900" rIns="88900" bIns="144000" rtlCol="0" anchor="ctr"/>
              <a:lstStyle/>
              <a:p>
                <a:pPr algn="ctr">
                  <a:lnSpc>
                    <a:spcPct val="106000"/>
                  </a:lnSpc>
                  <a:defRPr/>
                </a:pPr>
                <a:r>
                  <a:rPr lang="en-US" sz="1400" b="1" noProof="0">
                    <a:solidFill>
                      <a:srgbClr val="000000"/>
                    </a:solidFill>
                    <a:latin typeface="+mj-lt"/>
                    <a:ea typeface="Open Sans" panose="020B0606030504020204" pitchFamily="34" charset="0"/>
                    <a:cs typeface="Calibri" panose="020F0502020204030204" pitchFamily="34" charset="0"/>
                  </a:rPr>
                  <a:t>Apply</a:t>
                </a:r>
                <a:r>
                  <a:rPr lang="en-US" sz="1400" b="1">
                    <a:solidFill>
                      <a:srgbClr val="000000"/>
                    </a:solidFill>
                    <a:latin typeface="+mj-lt"/>
                    <a:ea typeface="Open Sans" panose="020B0606030504020204" pitchFamily="34" charset="0"/>
                    <a:cs typeface="Calibri" panose="020F0502020204030204" pitchFamily="34" charset="0"/>
                  </a:rPr>
                  <a:t> </a:t>
                </a:r>
                <a:r>
                  <a:rPr lang="en-US" sz="1400" b="1" noProof="0">
                    <a:solidFill>
                      <a:srgbClr val="000000"/>
                    </a:solidFill>
                    <a:latin typeface="+mj-lt"/>
                    <a:ea typeface="Open Sans" panose="020B0606030504020204" pitchFamily="34" charset="0"/>
                    <a:cs typeface="Calibri" panose="020F0502020204030204" pitchFamily="34" charset="0"/>
                  </a:rPr>
                  <a:t>Objective</a:t>
                </a:r>
                <a:br>
                  <a:rPr lang="en-US" sz="1400" b="1" noProof="0">
                    <a:solidFill>
                      <a:srgbClr val="000000"/>
                    </a:solidFill>
                    <a:latin typeface="+mj-lt"/>
                    <a:ea typeface="Open Sans" panose="020B0606030504020204" pitchFamily="34" charset="0"/>
                    <a:cs typeface="Calibri" panose="020F0502020204030204" pitchFamily="34" charset="0"/>
                  </a:rPr>
                </a:br>
                <a:r>
                  <a:rPr lang="en-US" sz="1400" b="1" noProof="0">
                    <a:solidFill>
                      <a:srgbClr val="000000"/>
                    </a:solidFill>
                    <a:latin typeface="+mj-lt"/>
                    <a:ea typeface="Open Sans" panose="020B0606030504020204" pitchFamily="34" charset="0"/>
                    <a:cs typeface="Calibri" panose="020F0502020204030204" pitchFamily="34" charset="0"/>
                  </a:rPr>
                  <a:t>Criteria</a:t>
                </a:r>
              </a:p>
            </p:txBody>
          </p:sp>
          <p:sp>
            <p:nvSpPr>
              <p:cNvPr id="63" name="Rectangle: Rounded Corners 62">
                <a:extLst>
                  <a:ext uri="{FF2B5EF4-FFF2-40B4-BE49-F238E27FC236}">
                    <a16:creationId xmlns:a16="http://schemas.microsoft.com/office/drawing/2014/main" id="{599ED502-99EF-2B18-E6A1-6EEE43C8F6E1}"/>
                  </a:ext>
                </a:extLst>
              </p:cNvPr>
              <p:cNvSpPr>
                <a:spLocks/>
              </p:cNvSpPr>
              <p:nvPr/>
            </p:nvSpPr>
            <p:spPr bwMode="gray">
              <a:xfrm>
                <a:off x="4365024" y="5083310"/>
                <a:ext cx="1731433" cy="577150"/>
              </a:xfrm>
              <a:prstGeom prst="roundRect">
                <a:avLst>
                  <a:gd name="adj" fmla="val 2999"/>
                </a:avLst>
              </a:prstGeom>
              <a:solidFill>
                <a:schemeClr val="bg1">
                  <a:lumMod val="95000"/>
                </a:schemeClr>
              </a:solidFill>
              <a:ln w="19050" algn="ctr">
                <a:noFill/>
                <a:miter lim="800000"/>
                <a:headEnd/>
                <a:tailEnd/>
              </a:ln>
            </p:spPr>
            <p:txBody>
              <a:bodyPr wrap="square" lIns="88900" tIns="88900" rIns="88900" bIns="144000" rtlCol="0" anchor="ctr"/>
              <a:lstStyle/>
              <a:p>
                <a:pPr algn="ctr">
                  <a:lnSpc>
                    <a:spcPct val="106000"/>
                  </a:lnSpc>
                  <a:defRPr/>
                </a:pPr>
                <a:r>
                  <a:rPr lang="en-US" sz="1400" b="1" noProof="0">
                    <a:solidFill>
                      <a:srgbClr val="000000"/>
                    </a:solidFill>
                    <a:latin typeface="+mj-lt"/>
                    <a:ea typeface="Open Sans" panose="020B0606030504020204" pitchFamily="34" charset="0"/>
                    <a:cs typeface="Calibri" panose="020F0502020204030204" pitchFamily="34" charset="0"/>
                  </a:rPr>
                  <a:t>Manage Conflicts </a:t>
                </a:r>
                <a:br>
                  <a:rPr lang="en-US" sz="1400" b="1" noProof="0">
                    <a:solidFill>
                      <a:srgbClr val="000000"/>
                    </a:solidFill>
                    <a:latin typeface="+mj-lt"/>
                    <a:ea typeface="Open Sans" panose="020B0606030504020204" pitchFamily="34" charset="0"/>
                    <a:cs typeface="Calibri" panose="020F0502020204030204" pitchFamily="34" charset="0"/>
                  </a:rPr>
                </a:br>
                <a:r>
                  <a:rPr lang="en-US" sz="1400" b="1" noProof="0">
                    <a:solidFill>
                      <a:srgbClr val="000000"/>
                    </a:solidFill>
                    <a:latin typeface="+mj-lt"/>
                    <a:ea typeface="Open Sans" panose="020B0606030504020204" pitchFamily="34" charset="0"/>
                    <a:cs typeface="Calibri" panose="020F0502020204030204" pitchFamily="34" charset="0"/>
                  </a:rPr>
                  <a:t>of Interest</a:t>
                </a:r>
              </a:p>
            </p:txBody>
          </p:sp>
          <p:sp>
            <p:nvSpPr>
              <p:cNvPr id="59" name="Rectangle: Rounded Corners 58">
                <a:extLst>
                  <a:ext uri="{FF2B5EF4-FFF2-40B4-BE49-F238E27FC236}">
                    <a16:creationId xmlns:a16="http://schemas.microsoft.com/office/drawing/2014/main" id="{6CC7D5EB-BE16-C37A-D294-4D4939A2533D}"/>
                  </a:ext>
                </a:extLst>
              </p:cNvPr>
              <p:cNvSpPr>
                <a:spLocks/>
              </p:cNvSpPr>
              <p:nvPr/>
            </p:nvSpPr>
            <p:spPr bwMode="gray">
              <a:xfrm>
                <a:off x="6267303" y="5081724"/>
                <a:ext cx="1731433" cy="577150"/>
              </a:xfrm>
              <a:prstGeom prst="roundRect">
                <a:avLst>
                  <a:gd name="adj" fmla="val 2999"/>
                </a:avLst>
              </a:prstGeom>
              <a:solidFill>
                <a:schemeClr val="bg1">
                  <a:lumMod val="95000"/>
                </a:schemeClr>
              </a:solidFill>
              <a:ln w="19050" algn="ctr">
                <a:noFill/>
                <a:miter lim="800000"/>
                <a:headEnd/>
                <a:tailEnd/>
              </a:ln>
            </p:spPr>
            <p:txBody>
              <a:bodyPr wrap="square" lIns="88900" tIns="88900" rIns="88900" bIns="144000" rtlCol="0" anchor="ctr"/>
              <a:lstStyle/>
              <a:p>
                <a:pPr algn="ctr">
                  <a:lnSpc>
                    <a:spcPct val="106000"/>
                  </a:lnSpc>
                  <a:defRPr/>
                </a:pPr>
                <a:r>
                  <a:rPr lang="en-US" sz="1400" b="1" noProof="0">
                    <a:solidFill>
                      <a:srgbClr val="000000"/>
                    </a:solidFill>
                    <a:latin typeface="+mj-lt"/>
                    <a:ea typeface="Open Sans" panose="020B0606030504020204" pitchFamily="34" charset="0"/>
                    <a:cs typeface="Calibri" panose="020F0502020204030204" pitchFamily="34" charset="0"/>
                  </a:rPr>
                  <a:t>Monitor and </a:t>
                </a:r>
                <a:br>
                  <a:rPr lang="en-US" sz="1400" b="1" noProof="0">
                    <a:solidFill>
                      <a:srgbClr val="000000"/>
                    </a:solidFill>
                    <a:latin typeface="+mj-lt"/>
                    <a:ea typeface="Open Sans" panose="020B0606030504020204" pitchFamily="34" charset="0"/>
                    <a:cs typeface="Calibri" panose="020F0502020204030204" pitchFamily="34" charset="0"/>
                  </a:rPr>
                </a:br>
                <a:r>
                  <a:rPr lang="en-US" sz="1400" b="1" noProof="0">
                    <a:solidFill>
                      <a:srgbClr val="000000"/>
                    </a:solidFill>
                    <a:latin typeface="+mj-lt"/>
                    <a:ea typeface="Open Sans" panose="020B0606030504020204" pitchFamily="34" charset="0"/>
                    <a:cs typeface="Calibri" panose="020F0502020204030204" pitchFamily="34" charset="0"/>
                  </a:rPr>
                  <a:t>Update Regularly</a:t>
                </a:r>
              </a:p>
            </p:txBody>
          </p:sp>
          <p:sp>
            <p:nvSpPr>
              <p:cNvPr id="55" name="Rectangle: Rounded Corners 54">
                <a:extLst>
                  <a:ext uri="{FF2B5EF4-FFF2-40B4-BE49-F238E27FC236}">
                    <a16:creationId xmlns:a16="http://schemas.microsoft.com/office/drawing/2014/main" id="{EA89B31E-E564-1DF6-05FD-565EEF8DFFBB}"/>
                  </a:ext>
                </a:extLst>
              </p:cNvPr>
              <p:cNvSpPr>
                <a:spLocks/>
              </p:cNvSpPr>
              <p:nvPr/>
            </p:nvSpPr>
            <p:spPr bwMode="gray">
              <a:xfrm>
                <a:off x="8136991" y="5091874"/>
                <a:ext cx="1731433" cy="577150"/>
              </a:xfrm>
              <a:prstGeom prst="roundRect">
                <a:avLst>
                  <a:gd name="adj" fmla="val 2999"/>
                </a:avLst>
              </a:prstGeom>
              <a:solidFill>
                <a:schemeClr val="bg1">
                  <a:lumMod val="95000"/>
                </a:schemeClr>
              </a:solidFill>
              <a:ln w="19050" algn="ctr">
                <a:noFill/>
                <a:miter lim="800000"/>
                <a:headEnd/>
                <a:tailEnd/>
              </a:ln>
            </p:spPr>
            <p:txBody>
              <a:bodyPr wrap="square" lIns="88900" tIns="88900" rIns="88900" bIns="144000" rtlCol="0" anchor="ctr"/>
              <a:lstStyle/>
              <a:p>
                <a:pPr algn="ctr">
                  <a:lnSpc>
                    <a:spcPct val="106000"/>
                  </a:lnSpc>
                  <a:defRPr/>
                </a:pPr>
                <a:r>
                  <a:rPr lang="en-US" sz="1400" b="1" noProof="0">
                    <a:solidFill>
                      <a:srgbClr val="000000"/>
                    </a:solidFill>
                    <a:latin typeface="+mj-lt"/>
                    <a:ea typeface="Open Sans" panose="020B0606030504020204" pitchFamily="34" charset="0"/>
                    <a:cs typeface="Calibri" panose="020F0502020204030204" pitchFamily="34" charset="0"/>
                  </a:rPr>
                  <a:t>Reinforce Investor Education</a:t>
                </a:r>
              </a:p>
            </p:txBody>
          </p:sp>
        </p:grpSp>
        <p:sp>
          <p:nvSpPr>
            <p:cNvPr id="12" name="Rectangle 11">
              <a:extLst>
                <a:ext uri="{FF2B5EF4-FFF2-40B4-BE49-F238E27FC236}">
                  <a16:creationId xmlns:a16="http://schemas.microsoft.com/office/drawing/2014/main" id="{8579704E-94AC-3271-70D7-6EFAE45E752D}"/>
                </a:ext>
              </a:extLst>
            </p:cNvPr>
            <p:cNvSpPr>
              <a:spLocks/>
            </p:cNvSpPr>
            <p:nvPr/>
          </p:nvSpPr>
          <p:spPr bwMode="gray">
            <a:xfrm>
              <a:off x="501650" y="1521879"/>
              <a:ext cx="11201401" cy="737939"/>
            </a:xfrm>
            <a:prstGeom prst="rect">
              <a:avLst/>
            </a:prstGeom>
            <a:noFill/>
            <a:ln w="19050" algn="ctr">
              <a:solidFill>
                <a:schemeClr val="accent1"/>
              </a:solidFill>
              <a:prstDash val="solid"/>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11" name="TextBox 10">
              <a:extLst>
                <a:ext uri="{FF2B5EF4-FFF2-40B4-BE49-F238E27FC236}">
                  <a16:creationId xmlns:a16="http://schemas.microsoft.com/office/drawing/2014/main" id="{EC670C9A-E426-B15D-61CD-E33B27492CF1}"/>
                </a:ext>
              </a:extLst>
            </p:cNvPr>
            <p:cNvSpPr txBox="1">
              <a:spLocks/>
            </p:cNvSpPr>
            <p:nvPr/>
          </p:nvSpPr>
          <p:spPr>
            <a:xfrm>
              <a:off x="5334893" y="1304025"/>
              <a:ext cx="1534914" cy="342210"/>
            </a:xfrm>
            <a:prstGeom prst="rect">
              <a:avLst/>
            </a:prstGeom>
            <a:solidFill>
              <a:schemeClr val="bg1"/>
            </a:solidFill>
          </p:spPr>
          <p:txBody>
            <a:bodyPr wrap="square">
              <a:spAutoFit/>
            </a:bodyPr>
            <a:lstStyle/>
            <a:p>
              <a:pPr algn="ctr" defTabSz="671718" fontAlgn="base">
                <a:lnSpc>
                  <a:spcPct val="106000"/>
                </a:lnSpc>
                <a:spcBef>
                  <a:spcPct val="0"/>
                </a:spcBef>
                <a:spcAft>
                  <a:spcPct val="0"/>
                </a:spcAft>
                <a:defRPr/>
              </a:pPr>
              <a:r>
                <a:rPr lang="en-US" sz="1600" b="1">
                  <a:latin typeface="+mj-lt"/>
                  <a:sym typeface="Gotham Book" charset="0"/>
                </a:rPr>
                <a:t>Key Safeguards</a:t>
              </a:r>
            </a:p>
          </p:txBody>
        </p:sp>
      </p:grpSp>
      <p:grpSp>
        <p:nvGrpSpPr>
          <p:cNvPr id="23" name="Group 22">
            <a:extLst>
              <a:ext uri="{FF2B5EF4-FFF2-40B4-BE49-F238E27FC236}">
                <a16:creationId xmlns:a16="http://schemas.microsoft.com/office/drawing/2014/main" id="{E0A4CD7A-4A11-AB9C-DAEF-CDEDFAE13343}"/>
              </a:ext>
            </a:extLst>
          </p:cNvPr>
          <p:cNvGrpSpPr>
            <a:grpSpLocks/>
          </p:cNvGrpSpPr>
          <p:nvPr/>
        </p:nvGrpSpPr>
        <p:grpSpPr>
          <a:xfrm>
            <a:off x="495298" y="5400958"/>
            <a:ext cx="11201401" cy="999848"/>
            <a:chOff x="495298" y="5427079"/>
            <a:chExt cx="11201401" cy="967905"/>
          </a:xfrm>
        </p:grpSpPr>
        <p:sp>
          <p:nvSpPr>
            <p:cNvPr id="45" name="TextBox 44">
              <a:extLst>
                <a:ext uri="{FF2B5EF4-FFF2-40B4-BE49-F238E27FC236}">
                  <a16:creationId xmlns:a16="http://schemas.microsoft.com/office/drawing/2014/main" id="{4042F4AC-BAC7-F66B-D728-D81763C97A23}"/>
                </a:ext>
              </a:extLst>
            </p:cNvPr>
            <p:cNvSpPr txBox="1">
              <a:spLocks/>
            </p:cNvSpPr>
            <p:nvPr/>
          </p:nvSpPr>
          <p:spPr>
            <a:xfrm>
              <a:off x="603248" y="5699583"/>
              <a:ext cx="10985500" cy="646331"/>
            </a:xfrm>
            <a:prstGeom prst="rect">
              <a:avLst/>
            </a:prstGeom>
            <a:noFill/>
          </p:spPr>
          <p:txBody>
            <a:bodyPr wrap="square">
              <a:spAutoFit/>
            </a:bodyPr>
            <a:lstStyle/>
            <a:p>
              <a:pPr marL="0" marR="0" lvl="1" indent="0" algn="ctr" defTabSz="914400" rtl="0" eaLnBrk="1" fontAlgn="auto" latinLnBrk="0" hangingPunct="1">
                <a:lnSpc>
                  <a:spcPct val="100000"/>
                </a:lnSpc>
                <a:spcBef>
                  <a:spcPts val="600"/>
                </a:spcBef>
                <a:spcAft>
                  <a:spcPts val="0"/>
                </a:spcAft>
                <a:buClrTx/>
                <a:buSzPct val="100000"/>
                <a:buFontTx/>
                <a:buNone/>
                <a:tabLst/>
                <a:defRPr/>
              </a:pPr>
              <a:r>
                <a:rPr lang="en-US" sz="1200">
                  <a:solidFill>
                    <a:srgbClr val="000000"/>
                  </a:solidFill>
                  <a:latin typeface="+mj-lt"/>
                  <a:ea typeface="Open Sans" panose="020B0606030504020204" pitchFamily="34" charset="0"/>
                  <a:cs typeface="Calibri" panose="020F0502020204030204" pitchFamily="34" charset="0"/>
                </a:rPr>
                <a:t>While the Proposed Guidance does not explicitly reference AI, its approach is flexible enough to allow OEOs to integrate AI-enabled tools into their platforms. However, because AI introduces significant risks, such as bias, model drift, and hallucinations, firms must apply an additional layer of safeguards, including explainability, human oversight, and extensive testing before rolling out any AI-driven supports</a:t>
              </a:r>
              <a:endParaRPr kumimoji="0" lang="en-US" sz="18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6A8A423C-5E33-698A-D531-3AFD664DDA05}"/>
                </a:ext>
              </a:extLst>
            </p:cNvPr>
            <p:cNvSpPr>
              <a:spLocks/>
            </p:cNvSpPr>
            <p:nvPr/>
          </p:nvSpPr>
          <p:spPr bwMode="gray">
            <a:xfrm>
              <a:off x="495298" y="5598184"/>
              <a:ext cx="11201401" cy="796800"/>
            </a:xfrm>
            <a:prstGeom prst="rect">
              <a:avLst/>
            </a:prstGeom>
            <a:noFill/>
            <a:ln w="19050" algn="ctr">
              <a:solidFill>
                <a:schemeClr val="accent1"/>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42" name="TextBox 41">
              <a:extLst>
                <a:ext uri="{FF2B5EF4-FFF2-40B4-BE49-F238E27FC236}">
                  <a16:creationId xmlns:a16="http://schemas.microsoft.com/office/drawing/2014/main" id="{F0E00E08-7A53-C600-3687-E2537F09D187}"/>
                </a:ext>
              </a:extLst>
            </p:cNvPr>
            <p:cNvSpPr txBox="1">
              <a:spLocks/>
            </p:cNvSpPr>
            <p:nvPr/>
          </p:nvSpPr>
          <p:spPr>
            <a:xfrm>
              <a:off x="4794520" y="5427079"/>
              <a:ext cx="2602957" cy="342210"/>
            </a:xfrm>
            <a:prstGeom prst="rect">
              <a:avLst/>
            </a:prstGeom>
            <a:solidFill>
              <a:schemeClr val="bg1"/>
            </a:solidFill>
          </p:spPr>
          <p:txBody>
            <a:bodyPr wrap="square">
              <a:spAutoFit/>
            </a:bodyPr>
            <a:lstStyle/>
            <a:p>
              <a:pPr algn="ctr" defTabSz="671718" fontAlgn="base">
                <a:lnSpc>
                  <a:spcPct val="106000"/>
                </a:lnSpc>
                <a:spcBef>
                  <a:spcPct val="0"/>
                </a:spcBef>
                <a:spcAft>
                  <a:spcPct val="0"/>
                </a:spcAft>
                <a:defRPr/>
              </a:pPr>
              <a:r>
                <a:rPr lang="en-US" sz="1600" b="1">
                  <a:latin typeface="+mj-lt"/>
                  <a:ea typeface="ヒラギノ角ゴ ProN W3" charset="0"/>
                  <a:sym typeface="Gotham Book" charset="0"/>
                </a:rPr>
                <a:t>Caveat: Artificial Intelligence</a:t>
              </a:r>
            </a:p>
          </p:txBody>
        </p:sp>
      </p:grpSp>
      <p:grpSp>
        <p:nvGrpSpPr>
          <p:cNvPr id="67" name="Group 66">
            <a:extLst>
              <a:ext uri="{FF2B5EF4-FFF2-40B4-BE49-F238E27FC236}">
                <a16:creationId xmlns:a16="http://schemas.microsoft.com/office/drawing/2014/main" id="{3EEB9563-FF02-BB78-1737-39404C7FA598}"/>
              </a:ext>
            </a:extLst>
          </p:cNvPr>
          <p:cNvGrpSpPr>
            <a:grpSpLocks/>
          </p:cNvGrpSpPr>
          <p:nvPr/>
        </p:nvGrpSpPr>
        <p:grpSpPr>
          <a:xfrm>
            <a:off x="501649" y="2925828"/>
            <a:ext cx="2219510" cy="2352956"/>
            <a:chOff x="487342" y="2906778"/>
            <a:chExt cx="2219510" cy="2352956"/>
          </a:xfrm>
        </p:grpSpPr>
        <p:sp>
          <p:nvSpPr>
            <p:cNvPr id="25" name="Rectangle 24">
              <a:extLst>
                <a:ext uri="{FF2B5EF4-FFF2-40B4-BE49-F238E27FC236}">
                  <a16:creationId xmlns:a16="http://schemas.microsoft.com/office/drawing/2014/main" id="{305FD2B0-B6AA-E99F-772A-333019D15715}"/>
                </a:ext>
              </a:extLst>
            </p:cNvPr>
            <p:cNvSpPr>
              <a:spLocks/>
            </p:cNvSpPr>
            <p:nvPr/>
          </p:nvSpPr>
          <p:spPr>
            <a:xfrm>
              <a:off x="487342" y="3736240"/>
              <a:ext cx="2219510" cy="1523494"/>
            </a:xfrm>
            <a:prstGeom prst="rect">
              <a:avLst/>
            </a:prstGeom>
          </p:spPr>
          <p:txBody>
            <a:bodyPr wrap="square">
              <a:spAutoFit/>
            </a:bodyPr>
            <a:lstStyle/>
            <a:p>
              <a:pPr marL="0" marR="0" lvl="1" indent="0" algn="l" defTabSz="914400" rtl="0" eaLnBrk="1" fontAlgn="auto" latinLnBrk="0" hangingPunct="1">
                <a:lnSpc>
                  <a:spcPct val="100000"/>
                </a:lnSpc>
                <a:spcBef>
                  <a:spcPts val="600"/>
                </a:spcBef>
                <a:spcAft>
                  <a:spcPts val="0"/>
                </a:spcAft>
                <a:buClrTx/>
                <a:buSzPct val="100000"/>
                <a:buFontTx/>
                <a:buNone/>
                <a:tabLst/>
                <a:defRPr/>
              </a:pPr>
              <a:r>
                <a:rPr kumimoji="0" lang="en-US" sz="1400" b="1"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Ensuring</a:t>
              </a:r>
              <a:r>
                <a:rPr kumimoji="0" lang="en-US" sz="14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 Clarity of Boundaries</a:t>
              </a:r>
            </a:p>
            <a:p>
              <a:pPr marL="0" marR="0" lvl="1" indent="0" algn="l" defTabSz="914400" rtl="0" eaLnBrk="1" fontAlgn="auto" latinLnBrk="0" hangingPunct="1">
                <a:lnSpc>
                  <a:spcPct val="100000"/>
                </a:lnSpc>
                <a:spcBef>
                  <a:spcPts val="600"/>
                </a:spcBef>
                <a:spcAft>
                  <a:spcPts val="0"/>
                </a:spcAft>
                <a:buClrTx/>
                <a:buSzPct val="100000"/>
                <a:buFontTx/>
                <a:buNone/>
                <a:tabLst/>
                <a:defRPr/>
              </a:pPr>
              <a:r>
                <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OEOs must be mindful of the distinctions between permitted supports and prohibited recommendations, as well as the combined use of </a:t>
              </a:r>
              <a:r>
                <a:rPr lang="en-US" sz="1200">
                  <a:solidFill>
                    <a:srgbClr val="000000"/>
                  </a:solidFill>
                  <a:latin typeface="+mj-lt"/>
                  <a:ea typeface="Open Sans" panose="020B0606030504020204" pitchFamily="34" charset="0"/>
                  <a:cs typeface="Calibri" panose="020F0502020204030204" pitchFamily="34" charset="0"/>
                </a:rPr>
                <a:t>supports</a:t>
              </a:r>
              <a:endPar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endParaRPr>
            </a:p>
          </p:txBody>
        </p:sp>
        <p:grpSp>
          <p:nvGrpSpPr>
            <p:cNvPr id="26" name="Group 25">
              <a:extLst>
                <a:ext uri="{FF2B5EF4-FFF2-40B4-BE49-F238E27FC236}">
                  <a16:creationId xmlns:a16="http://schemas.microsoft.com/office/drawing/2014/main" id="{5EDCD869-A336-3A83-2735-FF15CF3D715A}"/>
                </a:ext>
              </a:extLst>
            </p:cNvPr>
            <p:cNvGrpSpPr>
              <a:grpSpLocks/>
            </p:cNvGrpSpPr>
            <p:nvPr/>
          </p:nvGrpSpPr>
          <p:grpSpPr>
            <a:xfrm>
              <a:off x="568661" y="2906778"/>
              <a:ext cx="784925" cy="784925"/>
              <a:chOff x="591375" y="2502904"/>
              <a:chExt cx="784925" cy="784925"/>
            </a:xfrm>
          </p:grpSpPr>
          <p:sp>
            <p:nvSpPr>
              <p:cNvPr id="50" name="Oval 49">
                <a:extLst>
                  <a:ext uri="{FF2B5EF4-FFF2-40B4-BE49-F238E27FC236}">
                    <a16:creationId xmlns:a16="http://schemas.microsoft.com/office/drawing/2014/main" id="{4942E919-FE01-FC28-B229-2A536A3BD096}"/>
                  </a:ext>
                </a:extLst>
              </p:cNvPr>
              <p:cNvSpPr>
                <a:spLocks/>
              </p:cNvSpPr>
              <p:nvPr/>
            </p:nvSpPr>
            <p:spPr bwMode="gray">
              <a:xfrm>
                <a:off x="623838" y="2534654"/>
                <a:ext cx="720000" cy="720000"/>
              </a:xfrm>
              <a:prstGeom prst="ellipse">
                <a:avLst/>
              </a:prstGeom>
              <a:noFill/>
              <a:ln w="28575"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51" name="Picture 50">
                <a:extLst>
                  <a:ext uri="{FF2B5EF4-FFF2-40B4-BE49-F238E27FC236}">
                    <a16:creationId xmlns:a16="http://schemas.microsoft.com/office/drawing/2014/main" id="{B4DB97CF-20F1-9DB1-6F84-349BE5D83E37}"/>
                  </a:ext>
                </a:extLst>
              </p:cNvPr>
              <p:cNvPicPr>
                <a:picLocks noChangeAspect="1"/>
              </p:cNvPicPr>
              <p:nvPr/>
            </p:nvPicPr>
            <p:blipFill>
              <a:blip r:embed="rId6"/>
              <a:stretch>
                <a:fillRect/>
              </a:stretch>
            </p:blipFill>
            <p:spPr>
              <a:xfrm>
                <a:off x="591375" y="2502904"/>
                <a:ext cx="784925" cy="784925"/>
              </a:xfrm>
              <a:prstGeom prst="rect">
                <a:avLst/>
              </a:prstGeom>
            </p:spPr>
          </p:pic>
        </p:grpSp>
      </p:grpSp>
      <p:grpSp>
        <p:nvGrpSpPr>
          <p:cNvPr id="68" name="Group 67">
            <a:extLst>
              <a:ext uri="{FF2B5EF4-FFF2-40B4-BE49-F238E27FC236}">
                <a16:creationId xmlns:a16="http://schemas.microsoft.com/office/drawing/2014/main" id="{C144EC09-EA4C-96A8-0AEA-E1B4956AF87E}"/>
              </a:ext>
            </a:extLst>
          </p:cNvPr>
          <p:cNvGrpSpPr>
            <a:grpSpLocks/>
          </p:cNvGrpSpPr>
          <p:nvPr/>
        </p:nvGrpSpPr>
        <p:grpSpPr>
          <a:xfrm>
            <a:off x="3495049" y="2949970"/>
            <a:ext cx="2219510" cy="2328814"/>
            <a:chOff x="2785919" y="2930920"/>
            <a:chExt cx="2219510" cy="2328814"/>
          </a:xfrm>
        </p:grpSpPr>
        <p:sp>
          <p:nvSpPr>
            <p:cNvPr id="28" name="Rectangle 27">
              <a:extLst>
                <a:ext uri="{FF2B5EF4-FFF2-40B4-BE49-F238E27FC236}">
                  <a16:creationId xmlns:a16="http://schemas.microsoft.com/office/drawing/2014/main" id="{B3B6353B-6AB2-28AE-D5CF-E08840FFC63C}"/>
                </a:ext>
              </a:extLst>
            </p:cNvPr>
            <p:cNvSpPr>
              <a:spLocks/>
            </p:cNvSpPr>
            <p:nvPr/>
          </p:nvSpPr>
          <p:spPr>
            <a:xfrm>
              <a:off x="2785919" y="3736240"/>
              <a:ext cx="2219510" cy="1523494"/>
            </a:xfrm>
            <a:prstGeom prst="rect">
              <a:avLst/>
            </a:prstGeom>
          </p:spPr>
          <p:txBody>
            <a:bodyPr wrap="square">
              <a:spAutoFit/>
            </a:bodyPr>
            <a:lstStyle/>
            <a:p>
              <a:pPr marL="0" marR="0" lvl="1"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Building</a:t>
              </a:r>
              <a:r>
                <a:rPr kumimoji="0" lang="en-US" sz="14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 on Existing Controls</a:t>
              </a:r>
            </a:p>
            <a:p>
              <a:pPr marL="0" marR="0" lvl="1" indent="0" algn="l" defTabSz="914400" rtl="0" eaLnBrk="1" fontAlgn="auto" latinLnBrk="0" hangingPunct="1">
                <a:lnSpc>
                  <a:spcPct val="100000"/>
                </a:lnSpc>
                <a:spcBef>
                  <a:spcPts val="600"/>
                </a:spcBef>
                <a:spcAft>
                  <a:spcPts val="0"/>
                </a:spcAft>
                <a:buClrTx/>
                <a:buSzPct val="100000"/>
                <a:buFontTx/>
                <a:buNone/>
                <a:tabLst/>
                <a:defRPr/>
              </a:pPr>
              <a:r>
                <a:rPr lang="en-US" sz="1200">
                  <a:solidFill>
                    <a:srgbClr val="000000"/>
                  </a:solidFill>
                  <a:latin typeface="+mj-lt"/>
                  <a:ea typeface="Open Sans" panose="020B0606030504020204" pitchFamily="34" charset="0"/>
                  <a:cs typeface="Calibri" panose="020F0502020204030204" pitchFamily="34" charset="0"/>
                </a:rPr>
                <a:t>Types of safeguards remain largely similar – disclosures, objective criteria, conflict of interest management, ongoing monitoring, and education</a:t>
              </a:r>
              <a:endParaRPr kumimoji="0" lang="en-US" sz="12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endParaRPr>
            </a:p>
          </p:txBody>
        </p:sp>
        <p:grpSp>
          <p:nvGrpSpPr>
            <p:cNvPr id="32" name="Group 31">
              <a:extLst>
                <a:ext uri="{FF2B5EF4-FFF2-40B4-BE49-F238E27FC236}">
                  <a16:creationId xmlns:a16="http://schemas.microsoft.com/office/drawing/2014/main" id="{E7B4174C-3C67-D4BA-B3F7-99FD21449B4B}"/>
                </a:ext>
              </a:extLst>
            </p:cNvPr>
            <p:cNvGrpSpPr>
              <a:grpSpLocks/>
            </p:cNvGrpSpPr>
            <p:nvPr/>
          </p:nvGrpSpPr>
          <p:grpSpPr>
            <a:xfrm>
              <a:off x="2899701" y="2930920"/>
              <a:ext cx="720000" cy="720000"/>
              <a:chOff x="3535014" y="2534654"/>
              <a:chExt cx="720000" cy="720000"/>
            </a:xfrm>
          </p:grpSpPr>
          <p:sp>
            <p:nvSpPr>
              <p:cNvPr id="47" name="Oval 46">
                <a:extLst>
                  <a:ext uri="{FF2B5EF4-FFF2-40B4-BE49-F238E27FC236}">
                    <a16:creationId xmlns:a16="http://schemas.microsoft.com/office/drawing/2014/main" id="{D757D525-05A7-7E10-F28A-2E7E754BF7EF}"/>
                  </a:ext>
                </a:extLst>
              </p:cNvPr>
              <p:cNvSpPr>
                <a:spLocks/>
              </p:cNvSpPr>
              <p:nvPr/>
            </p:nvSpPr>
            <p:spPr bwMode="gray">
              <a:xfrm>
                <a:off x="3535014" y="2534654"/>
                <a:ext cx="720000" cy="720000"/>
              </a:xfrm>
              <a:prstGeom prst="ellipse">
                <a:avLst/>
              </a:prstGeom>
              <a:noFill/>
              <a:ln w="28575" algn="ctr">
                <a:solidFill>
                  <a:schemeClr val="accent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49" name="Graphic 48">
                <a:extLst>
                  <a:ext uri="{FF2B5EF4-FFF2-40B4-BE49-F238E27FC236}">
                    <a16:creationId xmlns:a16="http://schemas.microsoft.com/office/drawing/2014/main" id="{DC55E270-5C11-4AFD-AFC0-49CE4F832DD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35382" y="2636249"/>
                <a:ext cx="519264" cy="519264"/>
              </a:xfrm>
              <a:prstGeom prst="rect">
                <a:avLst/>
              </a:prstGeom>
            </p:spPr>
          </p:pic>
        </p:grpSp>
      </p:grpSp>
      <p:grpSp>
        <p:nvGrpSpPr>
          <p:cNvPr id="71" name="Group 70">
            <a:extLst>
              <a:ext uri="{FF2B5EF4-FFF2-40B4-BE49-F238E27FC236}">
                <a16:creationId xmlns:a16="http://schemas.microsoft.com/office/drawing/2014/main" id="{44DEEE7A-0AC5-CF08-EEB8-69975445F8AF}"/>
              </a:ext>
            </a:extLst>
          </p:cNvPr>
          <p:cNvGrpSpPr>
            <a:grpSpLocks/>
          </p:cNvGrpSpPr>
          <p:nvPr/>
        </p:nvGrpSpPr>
        <p:grpSpPr>
          <a:xfrm>
            <a:off x="9481850" y="2949970"/>
            <a:ext cx="2221200" cy="2328814"/>
            <a:chOff x="9681650" y="2930920"/>
            <a:chExt cx="2221200" cy="2328814"/>
          </a:xfrm>
        </p:grpSpPr>
        <p:sp>
          <p:nvSpPr>
            <p:cNvPr id="29" name="Rectangle 28">
              <a:extLst>
                <a:ext uri="{FF2B5EF4-FFF2-40B4-BE49-F238E27FC236}">
                  <a16:creationId xmlns:a16="http://schemas.microsoft.com/office/drawing/2014/main" id="{D588A52E-CFCB-370D-26E8-594833C26B85}"/>
                </a:ext>
              </a:extLst>
            </p:cNvPr>
            <p:cNvSpPr>
              <a:spLocks/>
            </p:cNvSpPr>
            <p:nvPr/>
          </p:nvSpPr>
          <p:spPr>
            <a:xfrm>
              <a:off x="9681650" y="3736240"/>
              <a:ext cx="2221200" cy="1523494"/>
            </a:xfrm>
            <a:prstGeom prst="rect">
              <a:avLst/>
            </a:prstGeom>
          </p:spPr>
          <p:txBody>
            <a:bodyPr wrap="square">
              <a:spAutoFit/>
            </a:bodyPr>
            <a:lstStyle/>
            <a:p>
              <a:pPr marL="0" marR="0" lvl="1"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Increased Confidence</a:t>
              </a:r>
              <a:br>
                <a:rPr lang="en-US" sz="1400" b="1">
                  <a:solidFill>
                    <a:srgbClr val="000000"/>
                  </a:solidFill>
                  <a:latin typeface="Calibri"/>
                  <a:ea typeface="Open Sans" panose="020B0606030504020204" pitchFamily="34" charset="0"/>
                  <a:cs typeface="Calibri" panose="020F0502020204030204" pitchFamily="34" charset="0"/>
                </a:rPr>
              </a:br>
              <a:r>
                <a:rPr kumimoji="0" lang="en-US" sz="1400" b="1"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to Scale</a:t>
              </a:r>
            </a:p>
            <a:p>
              <a:pPr marL="0" marR="0" lvl="1" indent="0" algn="l" defTabSz="914400" rtl="0" eaLnBrk="1" fontAlgn="auto" latinLnBrk="0" hangingPunct="1">
                <a:lnSpc>
                  <a:spcPct val="100000"/>
                </a:lnSpc>
                <a:spcBef>
                  <a:spcPts val="600"/>
                </a:spcBef>
                <a:spcAft>
                  <a:spcPts val="0"/>
                </a:spcAft>
                <a:buClrTx/>
                <a:buSzPct val="100000"/>
                <a:buFontTx/>
                <a:buNone/>
                <a:tabLst/>
                <a:defRPr/>
              </a:pPr>
              <a:r>
                <a:rPr kumimoji="0" lang="en-US" sz="1200" b="0" i="0" u="none" strike="noStrike" kern="1200" cap="none" spc="0" normalizeH="0" baseline="0" noProof="0">
                  <a:ln>
                    <a:noFill/>
                  </a:ln>
                  <a:solidFill>
                    <a:srgbClr val="000000"/>
                  </a:solidFill>
                  <a:effectLst/>
                  <a:uLnTx/>
                  <a:uFillTx/>
                  <a:latin typeface="Calibri"/>
                  <a:ea typeface="Open Sans" panose="020B0606030504020204" pitchFamily="34" charset="0"/>
                  <a:cs typeface="Calibri" panose="020F0502020204030204" pitchFamily="34" charset="0"/>
                </a:rPr>
                <a:t>With increased certainty regarding safeguards, OEOs have more confidence to innovate responsibly and implement changes strategically</a:t>
              </a:r>
            </a:p>
          </p:txBody>
        </p:sp>
        <p:grpSp>
          <p:nvGrpSpPr>
            <p:cNvPr id="34" name="Group 33">
              <a:extLst>
                <a:ext uri="{FF2B5EF4-FFF2-40B4-BE49-F238E27FC236}">
                  <a16:creationId xmlns:a16="http://schemas.microsoft.com/office/drawing/2014/main" id="{F72FD889-EE8B-7371-70ED-68F7F060C965}"/>
                </a:ext>
              </a:extLst>
            </p:cNvPr>
            <p:cNvGrpSpPr>
              <a:grpSpLocks/>
            </p:cNvGrpSpPr>
            <p:nvPr/>
          </p:nvGrpSpPr>
          <p:grpSpPr>
            <a:xfrm>
              <a:off x="9795432" y="2930920"/>
              <a:ext cx="720000" cy="720000"/>
              <a:chOff x="9357365" y="2547780"/>
              <a:chExt cx="720000" cy="720000"/>
            </a:xfrm>
          </p:grpSpPr>
          <p:sp>
            <p:nvSpPr>
              <p:cNvPr id="43" name="Oval 42">
                <a:extLst>
                  <a:ext uri="{FF2B5EF4-FFF2-40B4-BE49-F238E27FC236}">
                    <a16:creationId xmlns:a16="http://schemas.microsoft.com/office/drawing/2014/main" id="{F63DD885-657B-10AD-0A19-CB6C74E9A885}"/>
                  </a:ext>
                </a:extLst>
              </p:cNvPr>
              <p:cNvSpPr>
                <a:spLocks/>
              </p:cNvSpPr>
              <p:nvPr/>
            </p:nvSpPr>
            <p:spPr bwMode="gray">
              <a:xfrm>
                <a:off x="9357365" y="2547780"/>
                <a:ext cx="720000" cy="720000"/>
              </a:xfrm>
              <a:prstGeom prst="ellipse">
                <a:avLst/>
              </a:prstGeom>
              <a:noFill/>
              <a:ln w="28575" algn="ctr">
                <a:solidFill>
                  <a:schemeClr val="accent4"/>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44" name="Graphic 43">
                <a:extLst>
                  <a:ext uri="{FF2B5EF4-FFF2-40B4-BE49-F238E27FC236}">
                    <a16:creationId xmlns:a16="http://schemas.microsoft.com/office/drawing/2014/main" id="{84B77198-9A5A-DC2B-40DC-B8F04B2EB68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06224" y="2702071"/>
                <a:ext cx="415610" cy="415610"/>
              </a:xfrm>
              <a:prstGeom prst="rect">
                <a:avLst/>
              </a:prstGeom>
            </p:spPr>
          </p:pic>
        </p:grpSp>
      </p:grpSp>
      <p:sp>
        <p:nvSpPr>
          <p:cNvPr id="53" name="Isosceles Triangle 52">
            <a:extLst>
              <a:ext uri="{FF2B5EF4-FFF2-40B4-BE49-F238E27FC236}">
                <a16:creationId xmlns:a16="http://schemas.microsoft.com/office/drawing/2014/main" id="{C29169F0-16F7-234C-C5E7-5519CAFAA36E}"/>
              </a:ext>
            </a:extLst>
          </p:cNvPr>
          <p:cNvSpPr>
            <a:spLocks/>
          </p:cNvSpPr>
          <p:nvPr/>
        </p:nvSpPr>
        <p:spPr bwMode="gray">
          <a:xfrm rot="10800000">
            <a:off x="4922679" y="2266684"/>
            <a:ext cx="2359339" cy="240545"/>
          </a:xfrm>
          <a:prstGeom prst="triangle">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200" b="1">
              <a:solidFill>
                <a:schemeClr val="bg1"/>
              </a:solidFill>
            </a:endParaRPr>
          </a:p>
        </p:txBody>
      </p:sp>
      <p:grpSp>
        <p:nvGrpSpPr>
          <p:cNvPr id="33" name="Group 32">
            <a:extLst>
              <a:ext uri="{FF2B5EF4-FFF2-40B4-BE49-F238E27FC236}">
                <a16:creationId xmlns:a16="http://schemas.microsoft.com/office/drawing/2014/main" id="{6E07D892-C264-468F-5510-8CD3CAA3D274}"/>
              </a:ext>
            </a:extLst>
          </p:cNvPr>
          <p:cNvGrpSpPr>
            <a:grpSpLocks/>
          </p:cNvGrpSpPr>
          <p:nvPr/>
        </p:nvGrpSpPr>
        <p:grpSpPr>
          <a:xfrm>
            <a:off x="489593" y="2509500"/>
            <a:ext cx="11200757" cy="342210"/>
            <a:chOff x="489593" y="2635489"/>
            <a:chExt cx="11200757" cy="342210"/>
          </a:xfrm>
        </p:grpSpPr>
        <p:cxnSp>
          <p:nvCxnSpPr>
            <p:cNvPr id="38" name="Straight Connector 37">
              <a:extLst>
                <a:ext uri="{FF2B5EF4-FFF2-40B4-BE49-F238E27FC236}">
                  <a16:creationId xmlns:a16="http://schemas.microsoft.com/office/drawing/2014/main" id="{95504EB7-760E-F5BA-B7C3-E0282A1C24C3}"/>
                </a:ext>
              </a:extLst>
            </p:cNvPr>
            <p:cNvCxnSpPr>
              <a:cxnSpLocks/>
            </p:cNvCxnSpPr>
            <p:nvPr/>
          </p:nvCxnSpPr>
          <p:spPr>
            <a:xfrm>
              <a:off x="489593" y="2811598"/>
              <a:ext cx="11200757"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5D66CD74-EC5B-C25F-8545-DC36620E27C1}"/>
                </a:ext>
              </a:extLst>
            </p:cNvPr>
            <p:cNvSpPr txBox="1">
              <a:spLocks/>
            </p:cNvSpPr>
            <p:nvPr/>
          </p:nvSpPr>
          <p:spPr>
            <a:xfrm>
              <a:off x="5482212" y="2635489"/>
              <a:ext cx="1279268" cy="342210"/>
            </a:xfrm>
            <a:prstGeom prst="rect">
              <a:avLst/>
            </a:prstGeom>
            <a:solidFill>
              <a:schemeClr val="bg1"/>
            </a:solidFill>
          </p:spPr>
          <p:txBody>
            <a:bodyPr wrap="square">
              <a:spAutoFit/>
            </a:bodyPr>
            <a:lstStyle/>
            <a:p>
              <a:pPr algn="ctr" defTabSz="671718" fontAlgn="base">
                <a:lnSpc>
                  <a:spcPct val="106000"/>
                </a:lnSpc>
                <a:spcBef>
                  <a:spcPct val="0"/>
                </a:spcBef>
                <a:spcAft>
                  <a:spcPct val="0"/>
                </a:spcAft>
                <a:defRPr/>
              </a:pPr>
              <a:r>
                <a:rPr lang="en-US" sz="1600" b="1">
                  <a:latin typeface="+mj-lt"/>
                  <a:ea typeface="ヒラギノ角ゴ ProN W3" charset="0"/>
                  <a:sym typeface="Gotham Book" charset="0"/>
                </a:rPr>
                <a:t>Implications</a:t>
              </a:r>
            </a:p>
          </p:txBody>
        </p:sp>
      </p:grpSp>
      <p:grpSp>
        <p:nvGrpSpPr>
          <p:cNvPr id="70" name="Group 69">
            <a:extLst>
              <a:ext uri="{FF2B5EF4-FFF2-40B4-BE49-F238E27FC236}">
                <a16:creationId xmlns:a16="http://schemas.microsoft.com/office/drawing/2014/main" id="{57BA618A-4301-D5D3-5546-F20EC6842860}"/>
              </a:ext>
            </a:extLst>
          </p:cNvPr>
          <p:cNvGrpSpPr>
            <a:grpSpLocks/>
          </p:cNvGrpSpPr>
          <p:nvPr/>
        </p:nvGrpSpPr>
        <p:grpSpPr>
          <a:xfrm>
            <a:off x="6488449" y="2949970"/>
            <a:ext cx="2219510" cy="2328814"/>
            <a:chOff x="7383073" y="2930920"/>
            <a:chExt cx="2219510" cy="2328814"/>
          </a:xfrm>
        </p:grpSpPr>
        <p:sp>
          <p:nvSpPr>
            <p:cNvPr id="15" name="Rectangle 14">
              <a:extLst>
                <a:ext uri="{FF2B5EF4-FFF2-40B4-BE49-F238E27FC236}">
                  <a16:creationId xmlns:a16="http://schemas.microsoft.com/office/drawing/2014/main" id="{0F694FEB-DC74-115B-DA6D-42C7D2920CCC}"/>
                </a:ext>
              </a:extLst>
            </p:cNvPr>
            <p:cNvSpPr>
              <a:spLocks/>
            </p:cNvSpPr>
            <p:nvPr/>
          </p:nvSpPr>
          <p:spPr>
            <a:xfrm>
              <a:off x="7383073" y="3736240"/>
              <a:ext cx="2219510" cy="1523494"/>
            </a:xfrm>
            <a:prstGeom prst="rect">
              <a:avLst/>
            </a:prstGeom>
          </p:spPr>
          <p:txBody>
            <a:bodyPr wrap="square">
              <a:spAutoFit/>
            </a:bodyPr>
            <a:lstStyle/>
            <a:p>
              <a:pPr marL="0" marR="0" lvl="1" indent="0" algn="l" defTabSz="914400" rtl="0" eaLnBrk="1" fontAlgn="auto" latinLnBrk="0" hangingPunct="1">
                <a:lnSpc>
                  <a:spcPct val="100000"/>
                </a:lnSpc>
                <a:spcBef>
                  <a:spcPts val="600"/>
                </a:spcBef>
                <a:spcAft>
                  <a:spcPts val="0"/>
                </a:spcAft>
                <a:buClrTx/>
                <a:buSzPct val="100000"/>
                <a:buFontTx/>
                <a:buNone/>
                <a:tabLst/>
                <a:defRPr/>
              </a:pPr>
              <a:r>
                <a:rPr kumimoji="0" lang="en-US" sz="14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Oversight of Finfluencer-Led Models</a:t>
              </a:r>
            </a:p>
            <a:p>
              <a:pPr marL="0" marR="0" lvl="1" indent="0" algn="l" defTabSz="914400" rtl="0" eaLnBrk="1" fontAlgn="auto" latinLnBrk="0" hangingPunct="1">
                <a:lnSpc>
                  <a:spcPct val="100000"/>
                </a:lnSpc>
                <a:spcBef>
                  <a:spcPts val="600"/>
                </a:spcBef>
                <a:spcAft>
                  <a:spcPts val="0"/>
                </a:spcAft>
                <a:buClrTx/>
                <a:buSzPct val="100000"/>
                <a:buFontTx/>
                <a:buNone/>
                <a:tabLst/>
                <a:defRPr/>
              </a:pPr>
              <a:r>
                <a:rPr lang="en-US" sz="1200">
                  <a:solidFill>
                    <a:srgbClr val="000000"/>
                  </a:solidFill>
                  <a:latin typeface="+mj-lt"/>
                  <a:ea typeface="Open Sans" panose="020B0606030504020204" pitchFamily="34" charset="0"/>
                  <a:cs typeface="Calibri" panose="020F0502020204030204" pitchFamily="34" charset="0"/>
                </a:rPr>
                <a:t>These models carry elevated risks; OEOs must apply strict controls to avoid facilitating unregistered advice or recommendation-like activity</a:t>
              </a:r>
            </a:p>
          </p:txBody>
        </p:sp>
        <p:grpSp>
          <p:nvGrpSpPr>
            <p:cNvPr id="48" name="Group 47">
              <a:extLst>
                <a:ext uri="{FF2B5EF4-FFF2-40B4-BE49-F238E27FC236}">
                  <a16:creationId xmlns:a16="http://schemas.microsoft.com/office/drawing/2014/main" id="{190D925E-E3F0-85C0-DFDF-41220D8FF4E3}"/>
                </a:ext>
              </a:extLst>
            </p:cNvPr>
            <p:cNvGrpSpPr>
              <a:grpSpLocks/>
            </p:cNvGrpSpPr>
            <p:nvPr/>
          </p:nvGrpSpPr>
          <p:grpSpPr>
            <a:xfrm>
              <a:off x="7496855" y="2930920"/>
              <a:ext cx="720000" cy="720000"/>
              <a:chOff x="7496855" y="2930920"/>
              <a:chExt cx="720000" cy="720000"/>
            </a:xfrm>
          </p:grpSpPr>
          <p:sp>
            <p:nvSpPr>
              <p:cNvPr id="17" name="Oval 16">
                <a:extLst>
                  <a:ext uri="{FF2B5EF4-FFF2-40B4-BE49-F238E27FC236}">
                    <a16:creationId xmlns:a16="http://schemas.microsoft.com/office/drawing/2014/main" id="{F7FA458B-6AC3-B982-811D-1DF27978FE94}"/>
                  </a:ext>
                </a:extLst>
              </p:cNvPr>
              <p:cNvSpPr>
                <a:spLocks/>
              </p:cNvSpPr>
              <p:nvPr/>
            </p:nvSpPr>
            <p:spPr bwMode="gray">
              <a:xfrm>
                <a:off x="7496855" y="2930920"/>
                <a:ext cx="720000" cy="720000"/>
              </a:xfrm>
              <a:prstGeom prst="ellipse">
                <a:avLst/>
              </a:prstGeom>
              <a:noFill/>
              <a:ln w="28575"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pic>
            <p:nvPicPr>
              <p:cNvPr id="37" name="Graphic 36">
                <a:extLst>
                  <a:ext uri="{FF2B5EF4-FFF2-40B4-BE49-F238E27FC236}">
                    <a16:creationId xmlns:a16="http://schemas.microsoft.com/office/drawing/2014/main" id="{5D208F49-3521-14A4-CF7F-D942BA24988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73146" y="3007211"/>
                <a:ext cx="567418" cy="567418"/>
              </a:xfrm>
              <a:prstGeom prst="rect">
                <a:avLst/>
              </a:prstGeom>
            </p:spPr>
          </p:pic>
        </p:grpSp>
      </p:grpSp>
    </p:spTree>
    <p:extLst>
      <p:ext uri="{BB962C8B-B14F-4D97-AF65-F5344CB8AC3E}">
        <p14:creationId xmlns:p14="http://schemas.microsoft.com/office/powerpoint/2010/main" val="398953031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9AE9550-9494-5812-F4AF-5D2467B5E769}"/>
              </a:ext>
            </a:extLst>
          </p:cNvPr>
          <p:cNvGraphicFramePr>
            <a:graphicFrameLocks noChangeAspect="1"/>
          </p:cNvGraphicFramePr>
          <p:nvPr>
            <p:custDataLst>
              <p:tags r:id="rId1"/>
            </p:custDataLst>
            <p:extLst>
              <p:ext uri="{D42A27DB-BD31-4B8C-83A1-F6EECF244321}">
                <p14:modId xmlns:p14="http://schemas.microsoft.com/office/powerpoint/2010/main" val="6297689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6" name="think-cell data - do not delete" hidden="1">
                        <a:extLst>
                          <a:ext uri="{FF2B5EF4-FFF2-40B4-BE49-F238E27FC236}">
                            <a16:creationId xmlns:a16="http://schemas.microsoft.com/office/drawing/2014/main" id="{19AE9550-9494-5812-F4AF-5D2467B5E76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itle 10"/>
          <p:cNvSpPr>
            <a:spLocks noGrp="1"/>
          </p:cNvSpPr>
          <p:nvPr>
            <p:ph type="title"/>
          </p:nvPr>
        </p:nvSpPr>
        <p:spPr/>
        <p:txBody>
          <a:bodyPr vert="horz"/>
          <a:lstStyle/>
          <a:p>
            <a:r>
              <a:rPr lang="en-US" noProof="0">
                <a:cs typeface="Calibri" panose="020F0502020204030204" pitchFamily="34" charset="0"/>
              </a:rPr>
              <a:t>4. Path Forward</a:t>
            </a:r>
          </a:p>
        </p:txBody>
      </p:sp>
      <p:sp>
        <p:nvSpPr>
          <p:cNvPr id="4" name="Slide Number Placeholder 3"/>
          <p:cNvSpPr>
            <a:spLocks noGrp="1"/>
          </p:cNvSpPr>
          <p:nvPr>
            <p:ph type="sldNum" sz="quarter" idx="4"/>
          </p:nvPr>
        </p:nvSpPr>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18</a:t>
            </a:fld>
            <a:endParaRPr lang="en-US"/>
          </a:p>
        </p:txBody>
      </p:sp>
    </p:spTree>
    <p:extLst>
      <p:ext uri="{BB962C8B-B14F-4D97-AF65-F5344CB8AC3E}">
        <p14:creationId xmlns:p14="http://schemas.microsoft.com/office/powerpoint/2010/main" val="36232170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0" name="think-cell data - do not delete" hidden="1">
            <a:extLst>
              <a:ext uri="{FF2B5EF4-FFF2-40B4-BE49-F238E27FC236}">
                <a16:creationId xmlns:a16="http://schemas.microsoft.com/office/drawing/2014/main" id="{8FEC2D23-8F35-3288-96F6-EAA48DFE39F6}"/>
              </a:ext>
            </a:extLst>
          </p:cNvPr>
          <p:cNvGraphicFramePr>
            <a:graphicFrameLocks noChangeAspect="1"/>
          </p:cNvGraphicFramePr>
          <p:nvPr>
            <p:custDataLst>
              <p:tags r:id="rId1"/>
            </p:custDataLst>
            <p:extLst>
              <p:ext uri="{D42A27DB-BD31-4B8C-83A1-F6EECF244321}">
                <p14:modId xmlns:p14="http://schemas.microsoft.com/office/powerpoint/2010/main" val="24223078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0" name="think-cell data - do not delete" hidden="1">
                        <a:extLst>
                          <a:ext uri="{FF2B5EF4-FFF2-40B4-BE49-F238E27FC236}">
                            <a16:creationId xmlns:a16="http://schemas.microsoft.com/office/drawing/2014/main" id="{8FEC2D23-8F35-3288-96F6-EAA48DFE39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38F0E80-AC91-4A1F-8E56-CCBC7BBA31F6}"/>
              </a:ext>
            </a:extLst>
          </p:cNvPr>
          <p:cNvSpPr>
            <a:spLocks noGrp="1"/>
          </p:cNvSpPr>
          <p:nvPr>
            <p:ph type="body" sz="quarter" idx="21"/>
          </p:nvPr>
        </p:nvSpPr>
        <p:spPr>
          <a:xfrm>
            <a:off x="501650" y="651600"/>
            <a:ext cx="11188700" cy="757255"/>
          </a:xfrm>
        </p:spPr>
        <p:txBody>
          <a:bodyPr/>
          <a:lstStyle/>
          <a:p>
            <a:r>
              <a:rPr lang="en-US"/>
              <a:t>The Proposed Guidance introduces a mix of no-regret actions and strategic choices for OEOs; firms that act now and align on critical priorities will shape the market and investor expectations, while those that wait risk being left behind</a:t>
            </a:r>
          </a:p>
        </p:txBody>
      </p:sp>
      <p:sp>
        <p:nvSpPr>
          <p:cNvPr id="4" name="Title 3"/>
          <p:cNvSpPr>
            <a:spLocks noGrp="1"/>
          </p:cNvSpPr>
          <p:nvPr>
            <p:ph type="title"/>
          </p:nvPr>
        </p:nvSpPr>
        <p:spPr/>
        <p:txBody>
          <a:bodyPr vert="horz"/>
          <a:lstStyle/>
          <a:p>
            <a:r>
              <a:rPr lang="en-US"/>
              <a:t>Path Forward for OEOs</a:t>
            </a:r>
            <a:endParaRPr lang="en-US" noProof="0"/>
          </a:p>
        </p:txBody>
      </p:sp>
      <p:sp>
        <p:nvSpPr>
          <p:cNvPr id="23" name="Rectangle 22">
            <a:extLst>
              <a:ext uri="{FF2B5EF4-FFF2-40B4-BE49-F238E27FC236}">
                <a16:creationId xmlns:a16="http://schemas.microsoft.com/office/drawing/2014/main" id="{2BDC6E09-14CB-B087-EFC4-8DC85EEB57A3}"/>
              </a:ext>
            </a:extLst>
          </p:cNvPr>
          <p:cNvSpPr>
            <a:spLocks/>
          </p:cNvSpPr>
          <p:nvPr/>
        </p:nvSpPr>
        <p:spPr bwMode="gray">
          <a:xfrm>
            <a:off x="495299" y="1336739"/>
            <a:ext cx="11201401" cy="339076"/>
          </a:xfrm>
          <a:prstGeom prst="rect">
            <a:avLst/>
          </a:prstGeom>
          <a:solidFill>
            <a:schemeClr val="bg1">
              <a:lumMod val="95000"/>
            </a:schemeClr>
          </a:solidFill>
          <a:ln w="19050" algn="ctr">
            <a:noFill/>
            <a:miter lim="800000"/>
            <a:headEnd/>
            <a:tailEnd/>
          </a:ln>
        </p:spPr>
        <p:txBody>
          <a:bodyPr wrap="square" lIns="88900" tIns="88900" rIns="88900" bIns="88900" rtlCol="0" anchor="ctr"/>
          <a:lstStyle/>
          <a:p>
            <a:pPr algn="ctr">
              <a:lnSpc>
                <a:spcPct val="106000"/>
              </a:lnSpc>
            </a:pPr>
            <a:r>
              <a:rPr kumimoji="0" lang="en-US" sz="1400" b="1"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To take advantage of this guidance, OEOs must…</a:t>
            </a:r>
          </a:p>
        </p:txBody>
      </p:sp>
      <p:sp>
        <p:nvSpPr>
          <p:cNvPr id="28" name="Rectangle 27">
            <a:extLst>
              <a:ext uri="{FF2B5EF4-FFF2-40B4-BE49-F238E27FC236}">
                <a16:creationId xmlns:a16="http://schemas.microsoft.com/office/drawing/2014/main" id="{E4201F46-1AC3-68F7-E690-A273E73812B1}"/>
              </a:ext>
            </a:extLst>
          </p:cNvPr>
          <p:cNvSpPr>
            <a:spLocks/>
          </p:cNvSpPr>
          <p:nvPr/>
        </p:nvSpPr>
        <p:spPr>
          <a:xfrm>
            <a:off x="686003" y="5346443"/>
            <a:ext cx="3420000" cy="8885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First-mover advantage and </a:t>
            </a:r>
            <a:r>
              <a:rPr kumimoji="0" lang="en-US" sz="1200" b="1"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associated benefits </a:t>
            </a:r>
            <a:r>
              <a:rPr kumimoji="0" lang="en-US" sz="1200" b="0"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(e.g., client acquisition) will be </a:t>
            </a:r>
            <a:r>
              <a:rPr kumimoji="0" lang="en-US" sz="1200" b="1"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time-bound</a:t>
            </a:r>
            <a:r>
              <a:rPr kumimoji="0" lang="en-US" sz="1200" b="0"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 and </a:t>
            </a:r>
            <a:r>
              <a:rPr kumimoji="0" lang="en-US" sz="1200"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sustained</a:t>
            </a:r>
            <a:r>
              <a:rPr kumimoji="0" lang="en-US" sz="1200" b="1"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 competitive differentiation will be challenging</a:t>
            </a:r>
            <a:r>
              <a:rPr kumimoji="0" lang="en-US" sz="1200" b="0"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 as competitors copy features</a:t>
            </a:r>
          </a:p>
        </p:txBody>
      </p:sp>
      <p:sp>
        <p:nvSpPr>
          <p:cNvPr id="37" name="Rectangle 36">
            <a:extLst>
              <a:ext uri="{FF2B5EF4-FFF2-40B4-BE49-F238E27FC236}">
                <a16:creationId xmlns:a16="http://schemas.microsoft.com/office/drawing/2014/main" id="{8635D837-2162-ECE2-72CB-FBF2CCF6CD41}"/>
              </a:ext>
            </a:extLst>
          </p:cNvPr>
          <p:cNvSpPr>
            <a:spLocks/>
          </p:cNvSpPr>
          <p:nvPr/>
        </p:nvSpPr>
        <p:spPr>
          <a:xfrm>
            <a:off x="8081700" y="5346443"/>
            <a:ext cx="3420000" cy="8885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Generic nudges or </a:t>
            </a:r>
            <a:r>
              <a:rPr kumimoji="0" lang="en-US" sz="1200" b="1"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tools delivered in isolation </a:t>
            </a:r>
            <a:r>
              <a:rPr kumimoji="0" lang="en-US" sz="1200" b="0"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without being integrated into a cohesive, well-designed client journey </a:t>
            </a:r>
            <a:r>
              <a:rPr kumimoji="0" lang="en-US" sz="1200" b="1"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risk failing to deliver meaningful value</a:t>
            </a:r>
            <a:r>
              <a:rPr kumimoji="0" lang="en-US" sz="1200" b="0"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 leading to investor skepticism</a:t>
            </a:r>
          </a:p>
        </p:txBody>
      </p:sp>
      <p:sp>
        <p:nvSpPr>
          <p:cNvPr id="149" name="Rectangle 148">
            <a:extLst>
              <a:ext uri="{FF2B5EF4-FFF2-40B4-BE49-F238E27FC236}">
                <a16:creationId xmlns:a16="http://schemas.microsoft.com/office/drawing/2014/main" id="{B378897D-4508-0ECA-F4F8-750FFC8B3F2F}"/>
              </a:ext>
            </a:extLst>
          </p:cNvPr>
          <p:cNvSpPr>
            <a:spLocks/>
          </p:cNvSpPr>
          <p:nvPr/>
        </p:nvSpPr>
        <p:spPr bwMode="gray">
          <a:xfrm>
            <a:off x="501650" y="1887225"/>
            <a:ext cx="5507264" cy="3038468"/>
          </a:xfrm>
          <a:prstGeom prst="rect">
            <a:avLst/>
          </a:prstGeom>
          <a:noFill/>
          <a:ln w="19050" algn="ctr">
            <a:solidFill>
              <a:schemeClr val="accent1"/>
            </a:solidFill>
            <a:prstDash val="sysDash"/>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150" name="Rectangle 149">
            <a:extLst>
              <a:ext uri="{FF2B5EF4-FFF2-40B4-BE49-F238E27FC236}">
                <a16:creationId xmlns:a16="http://schemas.microsoft.com/office/drawing/2014/main" id="{C107BE92-C0B7-1AD8-05EA-75AF64680B51}"/>
              </a:ext>
            </a:extLst>
          </p:cNvPr>
          <p:cNvSpPr>
            <a:spLocks/>
          </p:cNvSpPr>
          <p:nvPr/>
        </p:nvSpPr>
        <p:spPr>
          <a:xfrm>
            <a:off x="2172469" y="1734031"/>
            <a:ext cx="2165625" cy="303416"/>
          </a:xfrm>
          <a:prstGeom prst="rect">
            <a:avLst/>
          </a:prstGeom>
          <a:solidFill>
            <a:schemeClr val="bg1"/>
          </a:solidFill>
        </p:spPr>
        <p:txBody>
          <a:bodyPr wrap="square">
            <a:spAutoFit/>
          </a:bodyPr>
          <a:lstStyle/>
          <a:p>
            <a:pPr marL="12700" marR="0" lvl="0" indent="0" algn="ctr" defTabSz="914400" rtl="0" eaLnBrk="1" fontAlgn="auto" latinLnBrk="0" hangingPunct="1">
              <a:lnSpc>
                <a:spcPct val="85000"/>
              </a:lnSpc>
              <a:spcBef>
                <a:spcPts val="600"/>
              </a:spcBef>
              <a:spcAft>
                <a:spcPts val="0"/>
              </a:spcAft>
              <a:buClrTx/>
              <a:buSzTx/>
              <a:buFontTx/>
              <a:buNone/>
              <a:tabLst/>
              <a:defRPr/>
            </a:pPr>
            <a:r>
              <a:rPr kumimoji="0" lang="en-US" sz="1600" b="1" i="0" u="sng" strike="noStrike" kern="1200" cap="none" spc="0" normalizeH="0" baseline="0" noProof="0">
                <a:ln>
                  <a:noFill/>
                </a:ln>
                <a:solidFill>
                  <a:schemeClr val="accent1"/>
                </a:solidFill>
                <a:effectLst/>
                <a:uLnTx/>
                <a:uFillTx/>
                <a:latin typeface="+mj-lt"/>
                <a:ea typeface="Chronicle Display Black" charset="0"/>
                <a:cs typeface="Calibri" panose="020F0502020204030204" pitchFamily="34" charset="0"/>
              </a:rPr>
              <a:t>Act on</a:t>
            </a:r>
            <a:r>
              <a:rPr kumimoji="0" lang="en-US" sz="1600" b="1" i="0" u="none" strike="noStrike" kern="1200" cap="none" spc="0" normalizeH="0" baseline="0" noProof="0">
                <a:ln>
                  <a:noFill/>
                </a:ln>
                <a:solidFill>
                  <a:schemeClr val="accent1"/>
                </a:solidFill>
                <a:effectLst/>
                <a:uLnTx/>
                <a:uFillTx/>
                <a:latin typeface="+mj-lt"/>
                <a:ea typeface="Chronicle Display Black" charset="0"/>
                <a:cs typeface="Calibri" panose="020F0502020204030204" pitchFamily="34" charset="0"/>
              </a:rPr>
              <a:t> No-Regret Items</a:t>
            </a:r>
          </a:p>
        </p:txBody>
      </p:sp>
      <p:sp>
        <p:nvSpPr>
          <p:cNvPr id="170" name="Rectangle 169">
            <a:extLst>
              <a:ext uri="{FF2B5EF4-FFF2-40B4-BE49-F238E27FC236}">
                <a16:creationId xmlns:a16="http://schemas.microsoft.com/office/drawing/2014/main" id="{53C27E70-32A4-0BE9-75D0-516064F6A472}"/>
              </a:ext>
            </a:extLst>
          </p:cNvPr>
          <p:cNvSpPr>
            <a:spLocks/>
          </p:cNvSpPr>
          <p:nvPr/>
        </p:nvSpPr>
        <p:spPr bwMode="gray">
          <a:xfrm>
            <a:off x="6183086" y="1887225"/>
            <a:ext cx="5507264" cy="3038468"/>
          </a:xfrm>
          <a:prstGeom prst="rect">
            <a:avLst/>
          </a:prstGeom>
          <a:noFill/>
          <a:ln w="19050" algn="ctr">
            <a:solidFill>
              <a:schemeClr val="accent1"/>
            </a:solidFill>
            <a:prstDash val="sysDash"/>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88" name="Rectangle 87">
            <a:extLst>
              <a:ext uri="{FF2B5EF4-FFF2-40B4-BE49-F238E27FC236}">
                <a16:creationId xmlns:a16="http://schemas.microsoft.com/office/drawing/2014/main" id="{65975BBE-5BF6-52BE-551B-8AC515F4AE67}"/>
              </a:ext>
            </a:extLst>
          </p:cNvPr>
          <p:cNvSpPr>
            <a:spLocks/>
          </p:cNvSpPr>
          <p:nvPr/>
        </p:nvSpPr>
        <p:spPr>
          <a:xfrm>
            <a:off x="7731714" y="1734895"/>
            <a:ext cx="2410008" cy="303416"/>
          </a:xfrm>
          <a:prstGeom prst="rect">
            <a:avLst/>
          </a:prstGeom>
          <a:solidFill>
            <a:schemeClr val="bg1"/>
          </a:solidFill>
        </p:spPr>
        <p:txBody>
          <a:bodyPr wrap="square">
            <a:spAutoFit/>
          </a:bodyPr>
          <a:lstStyle/>
          <a:p>
            <a:pPr marL="12700" marR="0" lvl="0" indent="0" algn="ctr" defTabSz="914400" rtl="0" eaLnBrk="1" fontAlgn="auto" latinLnBrk="0" hangingPunct="1">
              <a:lnSpc>
                <a:spcPct val="85000"/>
              </a:lnSpc>
              <a:spcBef>
                <a:spcPts val="600"/>
              </a:spcBef>
              <a:spcAft>
                <a:spcPts val="0"/>
              </a:spcAft>
              <a:buClrTx/>
              <a:buSzTx/>
              <a:buFontTx/>
              <a:buNone/>
              <a:tabLst/>
              <a:defRPr/>
            </a:pPr>
            <a:r>
              <a:rPr kumimoji="0" lang="en-US" sz="1600" b="1" i="0" u="sng" strike="noStrike" kern="1200" cap="none" spc="0" normalizeH="0" baseline="0" noProof="0">
                <a:ln>
                  <a:noFill/>
                </a:ln>
                <a:solidFill>
                  <a:schemeClr val="accent1"/>
                </a:solidFill>
                <a:effectLst/>
                <a:uLnTx/>
                <a:uFillTx/>
                <a:latin typeface="+mj-lt"/>
                <a:ea typeface="Chronicle Display Black" charset="0"/>
                <a:cs typeface="Calibri" panose="020F0502020204030204" pitchFamily="34" charset="0"/>
              </a:rPr>
              <a:t>Navigate</a:t>
            </a:r>
            <a:r>
              <a:rPr kumimoji="0" lang="en-US" sz="1600" b="1" i="0" u="none" strike="noStrike" kern="1200" cap="none" spc="0" normalizeH="0" baseline="0" noProof="0">
                <a:ln>
                  <a:noFill/>
                </a:ln>
                <a:solidFill>
                  <a:schemeClr val="accent1"/>
                </a:solidFill>
                <a:effectLst/>
                <a:uLnTx/>
                <a:uFillTx/>
                <a:latin typeface="+mj-lt"/>
                <a:ea typeface="Chronicle Display Black" charset="0"/>
                <a:cs typeface="Calibri" panose="020F0502020204030204" pitchFamily="34" charset="0"/>
              </a:rPr>
              <a:t> Strategic Choices</a:t>
            </a:r>
          </a:p>
        </p:txBody>
      </p:sp>
      <p:sp>
        <p:nvSpPr>
          <p:cNvPr id="168" name="TextBox 167">
            <a:extLst>
              <a:ext uri="{FF2B5EF4-FFF2-40B4-BE49-F238E27FC236}">
                <a16:creationId xmlns:a16="http://schemas.microsoft.com/office/drawing/2014/main" id="{FA4680D2-BFED-9238-6C4B-C48A87C52FC8}"/>
              </a:ext>
            </a:extLst>
          </p:cNvPr>
          <p:cNvSpPr txBox="1">
            <a:spLocks/>
          </p:cNvSpPr>
          <p:nvPr/>
        </p:nvSpPr>
        <p:spPr>
          <a:xfrm>
            <a:off x="6972406" y="3971471"/>
            <a:ext cx="4521600" cy="85408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j-lt"/>
                <a:ea typeface="+mn-ea"/>
                <a:cs typeface="+mn-cs"/>
              </a:rPr>
              <a:t>Align on Approach to Finfluencers &amp; Copy Trading</a:t>
            </a:r>
            <a:endParaRPr lang="en-US" sz="1400" b="1">
              <a:solidFill>
                <a:srgbClr val="000000"/>
              </a:solidFill>
              <a:latin typeface="+mj-lt"/>
            </a:endParaRPr>
          </a:p>
          <a:p>
            <a:pPr marL="0" marR="0" lvl="0" indent="0" defTabSz="914400" rtl="0" eaLnBrk="1" fontAlgn="auto" latinLnBrk="0" hangingPunct="1">
              <a:lnSpc>
                <a:spcPct val="100000"/>
              </a:lnSpc>
              <a:spcBef>
                <a:spcPts val="0"/>
              </a:spcBef>
              <a:spcAft>
                <a:spcPts val="300"/>
              </a:spcAft>
              <a:buClrTx/>
              <a:buSzTx/>
              <a:buFontTx/>
              <a:buNone/>
              <a:tabLst/>
              <a:defRPr/>
            </a:pPr>
            <a:r>
              <a:rPr kumimoji="0" lang="en-US" sz="11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Determine if and how to engage with these topics, weighing potential for client acquisition and engagement against significant regulatory, reputational, and investor protection risks</a:t>
            </a:r>
            <a:endParaRPr lang="en-US" sz="1100">
              <a:solidFill>
                <a:srgbClr val="000000"/>
              </a:solidFill>
              <a:latin typeface="+mj-lt"/>
              <a:ea typeface="Open Sans" panose="020B0606030504020204" pitchFamily="34" charset="0"/>
              <a:cs typeface="Calibri" panose="020F0502020204030204" pitchFamily="34" charset="0"/>
            </a:endParaRPr>
          </a:p>
        </p:txBody>
      </p:sp>
      <p:grpSp>
        <p:nvGrpSpPr>
          <p:cNvPr id="14" name="Group 13">
            <a:extLst>
              <a:ext uri="{FF2B5EF4-FFF2-40B4-BE49-F238E27FC236}">
                <a16:creationId xmlns:a16="http://schemas.microsoft.com/office/drawing/2014/main" id="{DF1449D6-5112-C2EA-BA9B-6A570C817D8E}"/>
              </a:ext>
            </a:extLst>
          </p:cNvPr>
          <p:cNvGrpSpPr>
            <a:grpSpLocks/>
          </p:cNvGrpSpPr>
          <p:nvPr/>
        </p:nvGrpSpPr>
        <p:grpSpPr>
          <a:xfrm>
            <a:off x="6367928" y="4128511"/>
            <a:ext cx="540000" cy="540000"/>
            <a:chOff x="6270770" y="3964298"/>
            <a:chExt cx="540000" cy="540000"/>
          </a:xfrm>
        </p:grpSpPr>
        <p:sp>
          <p:nvSpPr>
            <p:cNvPr id="169" name="Graphic 4">
              <a:extLst>
                <a:ext uri="{FF2B5EF4-FFF2-40B4-BE49-F238E27FC236}">
                  <a16:creationId xmlns:a16="http://schemas.microsoft.com/office/drawing/2014/main" id="{476F8020-78A6-F37A-705D-C4E727CC9937}"/>
                </a:ext>
              </a:extLst>
            </p:cNvPr>
            <p:cNvSpPr>
              <a:spLocks/>
            </p:cNvSpPr>
            <p:nvPr/>
          </p:nvSpPr>
          <p:spPr>
            <a:xfrm>
              <a:off x="6270770" y="3964298"/>
              <a:ext cx="540000" cy="540000"/>
            </a:xfrm>
            <a:custGeom>
              <a:avLst/>
              <a:gdLst>
                <a:gd name="connsiteX0" fmla="*/ 181474 w 362309"/>
                <a:gd name="connsiteY0" fmla="*/ 0 h 362610"/>
                <a:gd name="connsiteX1" fmla="*/ 0 w 362309"/>
                <a:gd name="connsiteY1" fmla="*/ 181305 h 362610"/>
                <a:gd name="connsiteX2" fmla="*/ 181474 w 362309"/>
                <a:gd name="connsiteY2" fmla="*/ 362610 h 362610"/>
                <a:gd name="connsiteX3" fmla="*/ 362309 w 362309"/>
                <a:gd name="connsiteY3" fmla="*/ 181305 h 362610"/>
                <a:gd name="connsiteX4" fmla="*/ 181474 w 362309"/>
                <a:gd name="connsiteY4" fmla="*/ 0 h 362610"/>
                <a:gd name="connsiteX5" fmla="*/ 181474 w 362309"/>
                <a:gd name="connsiteY5" fmla="*/ 0 h 362610"/>
                <a:gd name="connsiteX6" fmla="*/ 181474 w 362309"/>
                <a:gd name="connsiteY6" fmla="*/ 349204 h 362610"/>
                <a:gd name="connsiteX7" fmla="*/ 13419 w 362309"/>
                <a:gd name="connsiteY7" fmla="*/ 180667 h 362610"/>
                <a:gd name="connsiteX8" fmla="*/ 181474 w 362309"/>
                <a:gd name="connsiteY8" fmla="*/ 12130 h 362610"/>
                <a:gd name="connsiteX9" fmla="*/ 349530 w 362309"/>
                <a:gd name="connsiteY9" fmla="*/ 180667 h 362610"/>
                <a:gd name="connsiteX10" fmla="*/ 349530 w 362309"/>
                <a:gd name="connsiteY10" fmla="*/ 180667 h 362610"/>
                <a:gd name="connsiteX11" fmla="*/ 181474 w 362309"/>
                <a:gd name="connsiteY11" fmla="*/ 3492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2610">
                  <a:moveTo>
                    <a:pt x="181474" y="0"/>
                  </a:moveTo>
                  <a:cubicBezTo>
                    <a:pt x="81152" y="0"/>
                    <a:pt x="0" y="81077"/>
                    <a:pt x="0" y="181305"/>
                  </a:cubicBezTo>
                  <a:cubicBezTo>
                    <a:pt x="0" y="281534"/>
                    <a:pt x="81152" y="362610"/>
                    <a:pt x="181474" y="362610"/>
                  </a:cubicBezTo>
                  <a:cubicBezTo>
                    <a:pt x="281796" y="362610"/>
                    <a:pt x="362309" y="281534"/>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130"/>
                    <a:pt x="181474" y="12130"/>
                  </a:cubicBezTo>
                  <a:cubicBezTo>
                    <a:pt x="274128" y="12130"/>
                    <a:pt x="349530" y="87461"/>
                    <a:pt x="349530" y="180667"/>
                  </a:cubicBezTo>
                  <a:cubicBezTo>
                    <a:pt x="349530" y="180667"/>
                    <a:pt x="349530" y="180667"/>
                    <a:pt x="349530" y="180667"/>
                  </a:cubicBezTo>
                  <a:cubicBezTo>
                    <a:pt x="349530" y="273873"/>
                    <a:pt x="274128" y="349204"/>
                    <a:pt x="181474" y="349204"/>
                  </a:cubicBezTo>
                  <a:close/>
                </a:path>
              </a:pathLst>
            </a:custGeom>
            <a:solidFill>
              <a:schemeClr val="accent1"/>
            </a:solidFill>
            <a:ln w="6390" cap="flat">
              <a:noFill/>
              <a:prstDash val="solid"/>
              <a:miter/>
            </a:ln>
          </p:spPr>
          <p:txBody>
            <a:bodyPr rtlCol="0" anchor="ctr"/>
            <a:lstStyle/>
            <a:p>
              <a:endParaRPr lang="en-US">
                <a:latin typeface="+mj-lt"/>
              </a:endParaRPr>
            </a:p>
          </p:txBody>
        </p:sp>
        <p:pic>
          <p:nvPicPr>
            <p:cNvPr id="172" name="Graphic 171">
              <a:extLst>
                <a:ext uri="{FF2B5EF4-FFF2-40B4-BE49-F238E27FC236}">
                  <a16:creationId xmlns:a16="http://schemas.microsoft.com/office/drawing/2014/main" id="{A32CF77B-7B25-4490-CD48-1F75309720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80465" y="4073993"/>
              <a:ext cx="320611" cy="320611"/>
            </a:xfrm>
            <a:prstGeom prst="rect">
              <a:avLst/>
            </a:prstGeom>
          </p:spPr>
        </p:pic>
      </p:grpSp>
      <p:sp>
        <p:nvSpPr>
          <p:cNvPr id="103" name="TextBox 102">
            <a:extLst>
              <a:ext uri="{FF2B5EF4-FFF2-40B4-BE49-F238E27FC236}">
                <a16:creationId xmlns:a16="http://schemas.microsoft.com/office/drawing/2014/main" id="{E70D7816-5643-7259-4DC5-8A059F53FDAB}"/>
              </a:ext>
            </a:extLst>
          </p:cNvPr>
          <p:cNvSpPr txBox="1">
            <a:spLocks/>
          </p:cNvSpPr>
          <p:nvPr/>
        </p:nvSpPr>
        <p:spPr>
          <a:xfrm>
            <a:off x="1300000" y="2100813"/>
            <a:ext cx="4519217" cy="85408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j-lt"/>
                <a:ea typeface="+mn-ea"/>
                <a:cs typeface="+mn-cs"/>
              </a:rPr>
              <a:t>Move Early to Capture </a:t>
            </a:r>
            <a:r>
              <a:rPr lang="en-US" sz="1400" b="1">
                <a:solidFill>
                  <a:srgbClr val="000000"/>
                </a:solidFill>
                <a:latin typeface="+mj-lt"/>
              </a:rPr>
              <a:t>Demand</a:t>
            </a:r>
          </a:p>
          <a:p>
            <a:pPr marL="0" marR="0" lvl="0" indent="0" defTabSz="914400" rtl="0" eaLnBrk="1" fontAlgn="auto" latinLnBrk="0" hangingPunct="1">
              <a:lnSpc>
                <a:spcPct val="100000"/>
              </a:lnSpc>
              <a:spcBef>
                <a:spcPts val="0"/>
              </a:spcBef>
              <a:spcAft>
                <a:spcPts val="300"/>
              </a:spcAft>
              <a:buClrTx/>
              <a:buSzTx/>
              <a:buFontTx/>
              <a:buNone/>
              <a:tabLst/>
              <a:defRPr/>
            </a:pPr>
            <a:r>
              <a:rPr kumimoji="0" lang="en-US" sz="1100" i="0" u="none" strike="noStrike" kern="1200" cap="none" spc="0" normalizeH="0" baseline="0" noProof="0">
                <a:ln>
                  <a:noFill/>
                </a:ln>
                <a:solidFill>
                  <a:srgbClr val="000000"/>
                </a:solidFill>
                <a:effectLst/>
                <a:uLnTx/>
                <a:uFillTx/>
                <a:latin typeface="+mj-lt"/>
                <a:ea typeface="Open Sans" panose="020B0606030504020204" pitchFamily="34" charset="0"/>
                <a:cs typeface="Calibri" panose="020F0502020204030204" pitchFamily="34" charset="0"/>
              </a:rPr>
              <a:t>Set the tone for how the market interprets and applies the new guidance as a first-mover, shape investor expectations around what ‘good’ looks like, and capture self-directed investors eager for enhanced supports</a:t>
            </a:r>
            <a:endParaRPr lang="en-US" sz="1100">
              <a:solidFill>
                <a:srgbClr val="000000"/>
              </a:solidFill>
              <a:latin typeface="+mj-lt"/>
              <a:ea typeface="Open Sans" panose="020B0606030504020204" pitchFamily="34" charset="0"/>
              <a:cs typeface="Calibri" panose="020F0502020204030204" pitchFamily="34" charset="0"/>
            </a:endParaRPr>
          </a:p>
        </p:txBody>
      </p:sp>
      <p:grpSp>
        <p:nvGrpSpPr>
          <p:cNvPr id="11" name="Group 10">
            <a:extLst>
              <a:ext uri="{FF2B5EF4-FFF2-40B4-BE49-F238E27FC236}">
                <a16:creationId xmlns:a16="http://schemas.microsoft.com/office/drawing/2014/main" id="{4D4CD0C3-FDD4-908F-F6AE-318ADE4B2E1A}"/>
              </a:ext>
            </a:extLst>
          </p:cNvPr>
          <p:cNvGrpSpPr>
            <a:grpSpLocks/>
          </p:cNvGrpSpPr>
          <p:nvPr/>
        </p:nvGrpSpPr>
        <p:grpSpPr>
          <a:xfrm>
            <a:off x="686003" y="2257853"/>
            <a:ext cx="540000" cy="540000"/>
            <a:chOff x="617164" y="3983960"/>
            <a:chExt cx="540000" cy="540000"/>
          </a:xfrm>
        </p:grpSpPr>
        <p:sp>
          <p:nvSpPr>
            <p:cNvPr id="121" name="Graphic 4">
              <a:extLst>
                <a:ext uri="{FF2B5EF4-FFF2-40B4-BE49-F238E27FC236}">
                  <a16:creationId xmlns:a16="http://schemas.microsoft.com/office/drawing/2014/main" id="{72599250-7BFE-F9B6-0BBB-62C0AB63EEBF}"/>
                </a:ext>
              </a:extLst>
            </p:cNvPr>
            <p:cNvSpPr>
              <a:spLocks/>
            </p:cNvSpPr>
            <p:nvPr/>
          </p:nvSpPr>
          <p:spPr>
            <a:xfrm>
              <a:off x="617164" y="3983960"/>
              <a:ext cx="540000" cy="540000"/>
            </a:xfrm>
            <a:custGeom>
              <a:avLst/>
              <a:gdLst>
                <a:gd name="connsiteX0" fmla="*/ 181474 w 362309"/>
                <a:gd name="connsiteY0" fmla="*/ 0 h 362610"/>
                <a:gd name="connsiteX1" fmla="*/ 0 w 362309"/>
                <a:gd name="connsiteY1" fmla="*/ 181305 h 362610"/>
                <a:gd name="connsiteX2" fmla="*/ 181474 w 362309"/>
                <a:gd name="connsiteY2" fmla="*/ 362610 h 362610"/>
                <a:gd name="connsiteX3" fmla="*/ 362309 w 362309"/>
                <a:gd name="connsiteY3" fmla="*/ 181305 h 362610"/>
                <a:gd name="connsiteX4" fmla="*/ 181474 w 362309"/>
                <a:gd name="connsiteY4" fmla="*/ 0 h 362610"/>
                <a:gd name="connsiteX5" fmla="*/ 181474 w 362309"/>
                <a:gd name="connsiteY5" fmla="*/ 0 h 362610"/>
                <a:gd name="connsiteX6" fmla="*/ 181474 w 362309"/>
                <a:gd name="connsiteY6" fmla="*/ 349204 h 362610"/>
                <a:gd name="connsiteX7" fmla="*/ 13419 w 362309"/>
                <a:gd name="connsiteY7" fmla="*/ 180667 h 362610"/>
                <a:gd name="connsiteX8" fmla="*/ 181474 w 362309"/>
                <a:gd name="connsiteY8" fmla="*/ 12130 h 362610"/>
                <a:gd name="connsiteX9" fmla="*/ 349530 w 362309"/>
                <a:gd name="connsiteY9" fmla="*/ 180667 h 362610"/>
                <a:gd name="connsiteX10" fmla="*/ 349530 w 362309"/>
                <a:gd name="connsiteY10" fmla="*/ 180667 h 362610"/>
                <a:gd name="connsiteX11" fmla="*/ 181474 w 362309"/>
                <a:gd name="connsiteY11" fmla="*/ 349204 h 3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309" h="362610">
                  <a:moveTo>
                    <a:pt x="181474" y="0"/>
                  </a:moveTo>
                  <a:cubicBezTo>
                    <a:pt x="81152" y="0"/>
                    <a:pt x="0" y="81077"/>
                    <a:pt x="0" y="181305"/>
                  </a:cubicBezTo>
                  <a:cubicBezTo>
                    <a:pt x="0" y="281534"/>
                    <a:pt x="81152" y="362610"/>
                    <a:pt x="181474" y="362610"/>
                  </a:cubicBezTo>
                  <a:cubicBezTo>
                    <a:pt x="281796" y="362610"/>
                    <a:pt x="362309" y="281534"/>
                    <a:pt x="362309" y="181305"/>
                  </a:cubicBezTo>
                  <a:cubicBezTo>
                    <a:pt x="362309" y="81077"/>
                    <a:pt x="281796" y="0"/>
                    <a:pt x="181474" y="0"/>
                  </a:cubicBezTo>
                  <a:cubicBezTo>
                    <a:pt x="181474" y="0"/>
                    <a:pt x="181474" y="0"/>
                    <a:pt x="181474" y="0"/>
                  </a:cubicBezTo>
                  <a:close/>
                  <a:moveTo>
                    <a:pt x="181474" y="349204"/>
                  </a:moveTo>
                  <a:cubicBezTo>
                    <a:pt x="88181" y="349204"/>
                    <a:pt x="13419" y="273873"/>
                    <a:pt x="13419" y="180667"/>
                  </a:cubicBezTo>
                  <a:cubicBezTo>
                    <a:pt x="13419" y="87461"/>
                    <a:pt x="88820" y="12130"/>
                    <a:pt x="181474" y="12130"/>
                  </a:cubicBezTo>
                  <a:cubicBezTo>
                    <a:pt x="274128" y="12130"/>
                    <a:pt x="349530" y="87461"/>
                    <a:pt x="349530" y="180667"/>
                  </a:cubicBezTo>
                  <a:cubicBezTo>
                    <a:pt x="349530" y="180667"/>
                    <a:pt x="349530" y="180667"/>
                    <a:pt x="349530" y="180667"/>
                  </a:cubicBezTo>
                  <a:cubicBezTo>
                    <a:pt x="349530" y="273873"/>
                    <a:pt x="274128" y="349204"/>
                    <a:pt x="181474" y="349204"/>
                  </a:cubicBezTo>
                  <a:close/>
                </a:path>
              </a:pathLst>
            </a:custGeom>
            <a:solidFill>
              <a:schemeClr val="accent1"/>
            </a:solidFill>
            <a:ln w="6390" cap="flat">
              <a:noFill/>
              <a:prstDash val="solid"/>
              <a:miter/>
            </a:ln>
          </p:spPr>
          <p:txBody>
            <a:bodyPr rtlCol="0" anchor="ctr"/>
            <a:lstStyle/>
            <a:p>
              <a:endParaRPr lang="en-US">
                <a:latin typeface="+mj-lt"/>
              </a:endParaRPr>
            </a:p>
          </p:txBody>
        </p:sp>
        <p:pic>
          <p:nvPicPr>
            <p:cNvPr id="174" name="Graphic 173">
              <a:extLst>
                <a:ext uri="{FF2B5EF4-FFF2-40B4-BE49-F238E27FC236}">
                  <a16:creationId xmlns:a16="http://schemas.microsoft.com/office/drawing/2014/main" id="{C1526BA3-C585-8DBB-4708-BC695CECE87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7038" y="4073834"/>
              <a:ext cx="360252" cy="360252"/>
            </a:xfrm>
            <a:prstGeom prst="rect">
              <a:avLst/>
            </a:prstGeom>
          </p:spPr>
        </p:pic>
      </p:grpSp>
      <p:sp>
        <p:nvSpPr>
          <p:cNvPr id="164" name="TextBox 163">
            <a:extLst>
              <a:ext uri="{FF2B5EF4-FFF2-40B4-BE49-F238E27FC236}">
                <a16:creationId xmlns:a16="http://schemas.microsoft.com/office/drawing/2014/main" id="{6CC1E1B5-2FDF-F72D-C6A5-F4D99089ADEF}"/>
              </a:ext>
            </a:extLst>
          </p:cNvPr>
          <p:cNvSpPr txBox="1">
            <a:spLocks/>
          </p:cNvSpPr>
          <p:nvPr/>
        </p:nvSpPr>
        <p:spPr>
          <a:xfrm>
            <a:off x="6981925" y="3035476"/>
            <a:ext cx="4521600" cy="85408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j-lt"/>
                <a:ea typeface="+mn-ea"/>
                <a:cs typeface="+mn-cs"/>
              </a:rPr>
              <a:t>Evaluate Monetization Strategies</a:t>
            </a:r>
          </a:p>
          <a:p>
            <a:pPr marL="0" marR="0" lvl="0" indent="0" defTabSz="914400" rtl="0" eaLnBrk="1" fontAlgn="auto" latinLnBrk="0" hangingPunct="1">
              <a:lnSpc>
                <a:spcPct val="100000"/>
              </a:lnSpc>
              <a:spcBef>
                <a:spcPts val="0"/>
              </a:spcBef>
              <a:spcAft>
                <a:spcPts val="300"/>
              </a:spcAft>
              <a:buClrTx/>
              <a:buSzTx/>
              <a:buFontTx/>
              <a:buNone/>
              <a:tabLst/>
              <a:defRPr/>
            </a:pPr>
            <a:r>
              <a:rPr kumimoji="0" lang="en-US" sz="1100" b="0" i="0" u="none" strike="noStrike" kern="1200" cap="none" spc="0" normalizeH="0" baseline="0" noProof="0">
                <a:ln>
                  <a:noFill/>
                </a:ln>
                <a:solidFill>
                  <a:prstClr val="black"/>
                </a:solidFill>
                <a:effectLst/>
                <a:uLnTx/>
                <a:uFillTx/>
                <a:latin typeface="+mj-lt"/>
                <a:ea typeface="+mn-ea"/>
                <a:cs typeface="+mn-cs"/>
              </a:rPr>
              <a:t>Assess whether to bundle these supports as standard, free features or offer them as premium, paid options, taking into account the impact on client engagement and business objectives</a:t>
            </a:r>
          </a:p>
        </p:txBody>
      </p:sp>
      <p:grpSp>
        <p:nvGrpSpPr>
          <p:cNvPr id="13" name="Group 12">
            <a:extLst>
              <a:ext uri="{FF2B5EF4-FFF2-40B4-BE49-F238E27FC236}">
                <a16:creationId xmlns:a16="http://schemas.microsoft.com/office/drawing/2014/main" id="{DCE70B0E-BE0E-E1A3-6E5C-B06C964D878E}"/>
              </a:ext>
            </a:extLst>
          </p:cNvPr>
          <p:cNvGrpSpPr>
            <a:grpSpLocks/>
          </p:cNvGrpSpPr>
          <p:nvPr/>
        </p:nvGrpSpPr>
        <p:grpSpPr>
          <a:xfrm>
            <a:off x="6367928" y="3192516"/>
            <a:ext cx="540000" cy="540000"/>
            <a:chOff x="6270770" y="3056195"/>
            <a:chExt cx="540000" cy="540000"/>
          </a:xfrm>
        </p:grpSpPr>
        <p:sp>
          <p:nvSpPr>
            <p:cNvPr id="166" name="Graphic 4">
              <a:extLst>
                <a:ext uri="{FF2B5EF4-FFF2-40B4-BE49-F238E27FC236}">
                  <a16:creationId xmlns:a16="http://schemas.microsoft.com/office/drawing/2014/main" id="{0E2420C8-D2F2-BD0F-A8B0-655C9CE006C6}"/>
                </a:ext>
              </a:extLst>
            </p:cNvPr>
            <p:cNvSpPr>
              <a:spLocks/>
            </p:cNvSpPr>
            <p:nvPr/>
          </p:nvSpPr>
          <p:spPr>
            <a:xfrm>
              <a:off x="6270770" y="3056195"/>
              <a:ext cx="540000" cy="540000"/>
            </a:xfrm>
            <a:custGeom>
              <a:avLst/>
              <a:gdLst>
                <a:gd name="connsiteX0" fmla="*/ 180835 w 361674"/>
                <a:gd name="connsiteY0" fmla="*/ 349204 h 361333"/>
                <a:gd name="connsiteX1" fmla="*/ 12780 w 361674"/>
                <a:gd name="connsiteY1" fmla="*/ 181305 h 361333"/>
                <a:gd name="connsiteX2" fmla="*/ 180835 w 361674"/>
                <a:gd name="connsiteY2" fmla="*/ 13406 h 361333"/>
                <a:gd name="connsiteX3" fmla="*/ 348890 w 361674"/>
                <a:gd name="connsiteY3" fmla="*/ 181305 h 361333"/>
                <a:gd name="connsiteX4" fmla="*/ 180835 w 361674"/>
                <a:gd name="connsiteY4" fmla="*/ 349204 h 361333"/>
                <a:gd name="connsiteX5" fmla="*/ 180835 w 361674"/>
                <a:gd name="connsiteY5" fmla="*/ 0 h 361333"/>
                <a:gd name="connsiteX6" fmla="*/ 0 w 361674"/>
                <a:gd name="connsiteY6" fmla="*/ 180667 h 361333"/>
                <a:gd name="connsiteX7" fmla="*/ 180835 w 361674"/>
                <a:gd name="connsiteY7" fmla="*/ 361333 h 361333"/>
                <a:gd name="connsiteX8" fmla="*/ 361670 w 361674"/>
                <a:gd name="connsiteY8" fmla="*/ 180667 h 361333"/>
                <a:gd name="connsiteX9" fmla="*/ 180835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5" y="349204"/>
                  </a:moveTo>
                  <a:cubicBezTo>
                    <a:pt x="88181" y="349204"/>
                    <a:pt x="12780" y="273873"/>
                    <a:pt x="12780" y="181305"/>
                  </a:cubicBezTo>
                  <a:cubicBezTo>
                    <a:pt x="12780" y="88737"/>
                    <a:pt x="88181" y="13406"/>
                    <a:pt x="180835" y="13406"/>
                  </a:cubicBezTo>
                  <a:cubicBezTo>
                    <a:pt x="273489" y="13406"/>
                    <a:pt x="348890" y="88737"/>
                    <a:pt x="348890" y="181305"/>
                  </a:cubicBezTo>
                  <a:cubicBezTo>
                    <a:pt x="349529" y="273873"/>
                    <a:pt x="273489" y="349204"/>
                    <a:pt x="180835" y="349204"/>
                  </a:cubicBezTo>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path>
              </a:pathLst>
            </a:custGeom>
            <a:solidFill>
              <a:schemeClr val="accent1"/>
            </a:solidFill>
            <a:ln w="6390" cap="flat">
              <a:noFill/>
              <a:prstDash val="solid"/>
              <a:miter/>
            </a:ln>
          </p:spPr>
          <p:txBody>
            <a:bodyPr rtlCol="0" anchor="ctr"/>
            <a:lstStyle/>
            <a:p>
              <a:endParaRPr lang="en-US">
                <a:latin typeface="+mj-lt"/>
              </a:endParaRPr>
            </a:p>
          </p:txBody>
        </p:sp>
        <p:pic>
          <p:nvPicPr>
            <p:cNvPr id="176" name="Graphic 175">
              <a:extLst>
                <a:ext uri="{FF2B5EF4-FFF2-40B4-BE49-F238E27FC236}">
                  <a16:creationId xmlns:a16="http://schemas.microsoft.com/office/drawing/2014/main" id="{4930BBE0-7331-3102-41A7-867F6964AC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73068" y="3158493"/>
              <a:ext cx="335404" cy="335404"/>
            </a:xfrm>
            <a:prstGeom prst="rect">
              <a:avLst/>
            </a:prstGeom>
          </p:spPr>
        </p:pic>
      </p:grpSp>
      <p:sp>
        <p:nvSpPr>
          <p:cNvPr id="162" name="TextBox 161">
            <a:extLst>
              <a:ext uri="{FF2B5EF4-FFF2-40B4-BE49-F238E27FC236}">
                <a16:creationId xmlns:a16="http://schemas.microsoft.com/office/drawing/2014/main" id="{A98F91C2-2055-0994-9DDD-4A4F87E62521}"/>
              </a:ext>
            </a:extLst>
          </p:cNvPr>
          <p:cNvSpPr txBox="1">
            <a:spLocks/>
          </p:cNvSpPr>
          <p:nvPr/>
        </p:nvSpPr>
        <p:spPr>
          <a:xfrm>
            <a:off x="6981925" y="2081577"/>
            <a:ext cx="4521600" cy="854080"/>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300"/>
              </a:spcAft>
              <a:buClrTx/>
              <a:buSzTx/>
              <a:buFontTx/>
              <a:buNone/>
              <a:tabLst/>
              <a:defRPr/>
            </a:pPr>
            <a:r>
              <a:rPr lang="en-US" sz="1400" b="1">
                <a:solidFill>
                  <a:srgbClr val="000000"/>
                </a:solidFill>
                <a:latin typeface="+mj-lt"/>
              </a:rPr>
              <a:t>Decide on a Clear Channel Strategy</a:t>
            </a:r>
          </a:p>
          <a:p>
            <a:pPr marL="0" marR="0" lvl="0" indent="0" algn="l" defTabSz="1219170" rtl="0" eaLnBrk="1" fontAlgn="auto" latinLnBrk="0" hangingPunct="1">
              <a:lnSpc>
                <a:spcPct val="100000"/>
              </a:lnSpc>
              <a:spcBef>
                <a:spcPts val="0"/>
              </a:spcBef>
              <a:spcAft>
                <a:spcPts val="300"/>
              </a:spcAft>
              <a:buClrTx/>
              <a:buSzTx/>
              <a:buFontTx/>
              <a:buNone/>
              <a:tabLst/>
              <a:defRPr/>
            </a:pPr>
            <a:r>
              <a:rPr lang="en-US" sz="1100"/>
              <a:t>Make deliberate choices about service offerings across OEO, robo, and branch channels, ensuring internal alignment to minimize cannibalization and reinforce a clear, differentiated value proposition for each</a:t>
            </a:r>
            <a:endParaRPr kumimoji="0" lang="en-US" sz="1100" b="0" i="0" u="none" strike="noStrike" kern="1200" cap="none" spc="0" normalizeH="0" baseline="0" noProof="0">
              <a:ln>
                <a:noFill/>
              </a:ln>
              <a:solidFill>
                <a:srgbClr val="000000"/>
              </a:solidFill>
              <a:effectLst/>
              <a:highlight>
                <a:srgbClr val="FFFF00"/>
              </a:highlight>
              <a:uLnTx/>
              <a:uFillTx/>
              <a:latin typeface="+mj-lt"/>
              <a:ea typeface="+mn-ea"/>
              <a:cs typeface="+mn-cs"/>
            </a:endParaRPr>
          </a:p>
        </p:txBody>
      </p:sp>
      <p:grpSp>
        <p:nvGrpSpPr>
          <p:cNvPr id="12" name="Group 11">
            <a:extLst>
              <a:ext uri="{FF2B5EF4-FFF2-40B4-BE49-F238E27FC236}">
                <a16:creationId xmlns:a16="http://schemas.microsoft.com/office/drawing/2014/main" id="{24A3B555-A7EB-ACB5-199E-670CE38B8EFA}"/>
              </a:ext>
            </a:extLst>
          </p:cNvPr>
          <p:cNvGrpSpPr>
            <a:grpSpLocks/>
          </p:cNvGrpSpPr>
          <p:nvPr/>
        </p:nvGrpSpPr>
        <p:grpSpPr>
          <a:xfrm>
            <a:off x="6367928" y="2238617"/>
            <a:ext cx="540000" cy="540000"/>
            <a:chOff x="6270771" y="2156775"/>
            <a:chExt cx="540000" cy="540000"/>
          </a:xfrm>
        </p:grpSpPr>
        <p:sp>
          <p:nvSpPr>
            <p:cNvPr id="163" name="Graphic 4">
              <a:extLst>
                <a:ext uri="{FF2B5EF4-FFF2-40B4-BE49-F238E27FC236}">
                  <a16:creationId xmlns:a16="http://schemas.microsoft.com/office/drawing/2014/main" id="{2658E675-E66B-58ED-6DD6-BDBB91DE25A2}"/>
                </a:ext>
              </a:extLst>
            </p:cNvPr>
            <p:cNvSpPr>
              <a:spLocks/>
            </p:cNvSpPr>
            <p:nvPr/>
          </p:nvSpPr>
          <p:spPr>
            <a:xfrm>
              <a:off x="6270771" y="2156775"/>
              <a:ext cx="540000" cy="540000"/>
            </a:xfrm>
            <a:custGeom>
              <a:avLst/>
              <a:gdLst>
                <a:gd name="connsiteX0" fmla="*/ 180836 w 361674"/>
                <a:gd name="connsiteY0" fmla="*/ 349204 h 361333"/>
                <a:gd name="connsiteX1" fmla="*/ 12780 w 361674"/>
                <a:gd name="connsiteY1" fmla="*/ 181305 h 361333"/>
                <a:gd name="connsiteX2" fmla="*/ 180836 w 361674"/>
                <a:gd name="connsiteY2" fmla="*/ 13407 h 361333"/>
                <a:gd name="connsiteX3" fmla="*/ 348890 w 361674"/>
                <a:gd name="connsiteY3" fmla="*/ 181305 h 361333"/>
                <a:gd name="connsiteX4" fmla="*/ 180836 w 361674"/>
                <a:gd name="connsiteY4" fmla="*/ 349204 h 361333"/>
                <a:gd name="connsiteX5" fmla="*/ 180836 w 361674"/>
                <a:gd name="connsiteY5" fmla="*/ 0 h 361333"/>
                <a:gd name="connsiteX6" fmla="*/ 0 w 361674"/>
                <a:gd name="connsiteY6" fmla="*/ 180667 h 361333"/>
                <a:gd name="connsiteX7" fmla="*/ 180836 w 361674"/>
                <a:gd name="connsiteY7" fmla="*/ 361334 h 361333"/>
                <a:gd name="connsiteX8" fmla="*/ 361670 w 361674"/>
                <a:gd name="connsiteY8" fmla="*/ 180667 h 361333"/>
                <a:gd name="connsiteX9" fmla="*/ 180836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6" y="349204"/>
                  </a:moveTo>
                  <a:cubicBezTo>
                    <a:pt x="88181" y="349204"/>
                    <a:pt x="12780" y="273873"/>
                    <a:pt x="12780" y="181305"/>
                  </a:cubicBezTo>
                  <a:cubicBezTo>
                    <a:pt x="12780" y="88738"/>
                    <a:pt x="88181" y="13407"/>
                    <a:pt x="180836" y="13407"/>
                  </a:cubicBezTo>
                  <a:cubicBezTo>
                    <a:pt x="273490" y="13407"/>
                    <a:pt x="348890" y="88738"/>
                    <a:pt x="348890" y="181305"/>
                  </a:cubicBezTo>
                  <a:cubicBezTo>
                    <a:pt x="349530" y="273234"/>
                    <a:pt x="274128" y="349204"/>
                    <a:pt x="180836" y="349204"/>
                  </a:cubicBezTo>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path>
              </a:pathLst>
            </a:custGeom>
            <a:solidFill>
              <a:schemeClr val="accent1"/>
            </a:solidFill>
            <a:ln w="6390" cap="flat">
              <a:noFill/>
              <a:prstDash val="solid"/>
              <a:miter/>
            </a:ln>
          </p:spPr>
          <p:txBody>
            <a:bodyPr rtlCol="0" anchor="ctr"/>
            <a:lstStyle/>
            <a:p>
              <a:endParaRPr lang="en-US">
                <a:latin typeface="+mj-lt"/>
              </a:endParaRPr>
            </a:p>
          </p:txBody>
        </p:sp>
        <p:pic>
          <p:nvPicPr>
            <p:cNvPr id="178" name="Graphic 177">
              <a:extLst>
                <a:ext uri="{FF2B5EF4-FFF2-40B4-BE49-F238E27FC236}">
                  <a16:creationId xmlns:a16="http://schemas.microsoft.com/office/drawing/2014/main" id="{12C4A124-FE58-3941-FAFC-312E2936518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52963" y="2238967"/>
              <a:ext cx="375616" cy="375616"/>
            </a:xfrm>
            <a:prstGeom prst="rect">
              <a:avLst/>
            </a:prstGeom>
          </p:spPr>
        </p:pic>
      </p:grpSp>
      <p:sp>
        <p:nvSpPr>
          <p:cNvPr id="106" name="TextBox 105">
            <a:extLst>
              <a:ext uri="{FF2B5EF4-FFF2-40B4-BE49-F238E27FC236}">
                <a16:creationId xmlns:a16="http://schemas.microsoft.com/office/drawing/2014/main" id="{D2EE6477-2EAA-97BF-CB3D-FFCC1898A08F}"/>
              </a:ext>
            </a:extLst>
          </p:cNvPr>
          <p:cNvSpPr txBox="1">
            <a:spLocks/>
          </p:cNvSpPr>
          <p:nvPr/>
        </p:nvSpPr>
        <p:spPr>
          <a:xfrm>
            <a:off x="1300000" y="3988046"/>
            <a:ext cx="4519775" cy="68480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j-lt"/>
                <a:ea typeface="+mn-ea"/>
                <a:cs typeface="+mn-cs"/>
              </a:rPr>
              <a:t>Strengthen Disclosures and Guardrails</a:t>
            </a:r>
          </a:p>
          <a:p>
            <a:pPr marL="0" marR="0" lvl="0" indent="0" defTabSz="914400" rtl="0" eaLnBrk="1" fontAlgn="auto" latinLnBrk="0" hangingPunct="1">
              <a:lnSpc>
                <a:spcPct val="100000"/>
              </a:lnSpc>
              <a:spcBef>
                <a:spcPts val="0"/>
              </a:spcBef>
              <a:spcAft>
                <a:spcPts val="300"/>
              </a:spcAft>
              <a:buClrTx/>
              <a:buSzTx/>
              <a:buFontTx/>
              <a:buNone/>
              <a:tabLst/>
              <a:defRPr/>
            </a:pPr>
            <a:r>
              <a:rPr kumimoji="0" lang="en-US" sz="1100" b="0" i="0" u="none" strike="noStrike" kern="1200" cap="none" spc="0" normalizeH="0" baseline="0" noProof="0">
                <a:ln>
                  <a:noFill/>
                </a:ln>
                <a:solidFill>
                  <a:prstClr val="black"/>
                </a:solidFill>
                <a:effectLst/>
                <a:uLnTx/>
                <a:uFillTx/>
                <a:latin typeface="+mj-lt"/>
                <a:ea typeface="+mn-ea"/>
                <a:cs typeface="+mn-cs"/>
              </a:rPr>
              <a:t>Refine investor communications and reinforce compliance boundaries to ensure tools serve as mechanisms of ‘support’ </a:t>
            </a:r>
            <a:r>
              <a:rPr lang="en-US" sz="1100">
                <a:solidFill>
                  <a:prstClr val="black"/>
                </a:solidFill>
                <a:latin typeface="+mj-lt"/>
              </a:rPr>
              <a:t>rather than</a:t>
            </a:r>
            <a:r>
              <a:rPr kumimoji="0" lang="en-US" sz="1100" b="0" i="0" u="none" strike="noStrike" kern="1200" cap="none" spc="0" normalizeH="0" baseline="0" noProof="0">
                <a:ln>
                  <a:noFill/>
                </a:ln>
                <a:solidFill>
                  <a:prstClr val="black"/>
                </a:solidFill>
                <a:effectLst/>
                <a:uLnTx/>
                <a:uFillTx/>
                <a:latin typeface="+mj-lt"/>
                <a:ea typeface="+mn-ea"/>
                <a:cs typeface="+mn-cs"/>
              </a:rPr>
              <a:t> ‘advice’</a:t>
            </a:r>
          </a:p>
        </p:txBody>
      </p:sp>
      <p:grpSp>
        <p:nvGrpSpPr>
          <p:cNvPr id="10" name="Group 9">
            <a:extLst>
              <a:ext uri="{FF2B5EF4-FFF2-40B4-BE49-F238E27FC236}">
                <a16:creationId xmlns:a16="http://schemas.microsoft.com/office/drawing/2014/main" id="{A5CCC5C6-DCB2-D7BB-D3E9-4344A6B4922E}"/>
              </a:ext>
            </a:extLst>
          </p:cNvPr>
          <p:cNvGrpSpPr>
            <a:grpSpLocks/>
          </p:cNvGrpSpPr>
          <p:nvPr/>
        </p:nvGrpSpPr>
        <p:grpSpPr>
          <a:xfrm>
            <a:off x="686003" y="4128511"/>
            <a:ext cx="540000" cy="540000"/>
            <a:chOff x="617164" y="3075857"/>
            <a:chExt cx="540000" cy="540000"/>
          </a:xfrm>
        </p:grpSpPr>
        <p:sp>
          <p:nvSpPr>
            <p:cNvPr id="117" name="Graphic 4">
              <a:extLst>
                <a:ext uri="{FF2B5EF4-FFF2-40B4-BE49-F238E27FC236}">
                  <a16:creationId xmlns:a16="http://schemas.microsoft.com/office/drawing/2014/main" id="{358621A9-79B7-B300-6867-8FBF0EF8F4FF}"/>
                </a:ext>
              </a:extLst>
            </p:cNvPr>
            <p:cNvSpPr>
              <a:spLocks/>
            </p:cNvSpPr>
            <p:nvPr/>
          </p:nvSpPr>
          <p:spPr>
            <a:xfrm>
              <a:off x="617164" y="3075857"/>
              <a:ext cx="540000" cy="540000"/>
            </a:xfrm>
            <a:custGeom>
              <a:avLst/>
              <a:gdLst>
                <a:gd name="connsiteX0" fmla="*/ 180835 w 361674"/>
                <a:gd name="connsiteY0" fmla="*/ 349204 h 361333"/>
                <a:gd name="connsiteX1" fmla="*/ 12780 w 361674"/>
                <a:gd name="connsiteY1" fmla="*/ 181305 h 361333"/>
                <a:gd name="connsiteX2" fmla="*/ 180835 w 361674"/>
                <a:gd name="connsiteY2" fmla="*/ 13406 h 361333"/>
                <a:gd name="connsiteX3" fmla="*/ 348890 w 361674"/>
                <a:gd name="connsiteY3" fmla="*/ 181305 h 361333"/>
                <a:gd name="connsiteX4" fmla="*/ 180835 w 361674"/>
                <a:gd name="connsiteY4" fmla="*/ 349204 h 361333"/>
                <a:gd name="connsiteX5" fmla="*/ 180835 w 361674"/>
                <a:gd name="connsiteY5" fmla="*/ 0 h 361333"/>
                <a:gd name="connsiteX6" fmla="*/ 0 w 361674"/>
                <a:gd name="connsiteY6" fmla="*/ 180667 h 361333"/>
                <a:gd name="connsiteX7" fmla="*/ 180835 w 361674"/>
                <a:gd name="connsiteY7" fmla="*/ 361333 h 361333"/>
                <a:gd name="connsiteX8" fmla="*/ 361670 w 361674"/>
                <a:gd name="connsiteY8" fmla="*/ 180667 h 361333"/>
                <a:gd name="connsiteX9" fmla="*/ 180835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5" y="349204"/>
                  </a:moveTo>
                  <a:cubicBezTo>
                    <a:pt x="88181" y="349204"/>
                    <a:pt x="12780" y="273873"/>
                    <a:pt x="12780" y="181305"/>
                  </a:cubicBezTo>
                  <a:cubicBezTo>
                    <a:pt x="12780" y="88737"/>
                    <a:pt x="88181" y="13406"/>
                    <a:pt x="180835" y="13406"/>
                  </a:cubicBezTo>
                  <a:cubicBezTo>
                    <a:pt x="273489" y="13406"/>
                    <a:pt x="348890" y="88737"/>
                    <a:pt x="348890" y="181305"/>
                  </a:cubicBezTo>
                  <a:cubicBezTo>
                    <a:pt x="349529" y="273873"/>
                    <a:pt x="273489" y="349204"/>
                    <a:pt x="180835" y="349204"/>
                  </a:cubicBezTo>
                  <a:moveTo>
                    <a:pt x="180835" y="0"/>
                  </a:moveTo>
                  <a:cubicBezTo>
                    <a:pt x="80513" y="0"/>
                    <a:pt x="0" y="81077"/>
                    <a:pt x="0" y="180667"/>
                  </a:cubicBezTo>
                  <a:cubicBezTo>
                    <a:pt x="0" y="280895"/>
                    <a:pt x="81152" y="361333"/>
                    <a:pt x="180835" y="361333"/>
                  </a:cubicBezTo>
                  <a:cubicBezTo>
                    <a:pt x="281157" y="361333"/>
                    <a:pt x="361670" y="280257"/>
                    <a:pt x="361670" y="180667"/>
                  </a:cubicBezTo>
                  <a:cubicBezTo>
                    <a:pt x="362309" y="81077"/>
                    <a:pt x="281157" y="0"/>
                    <a:pt x="180835" y="0"/>
                  </a:cubicBezTo>
                </a:path>
              </a:pathLst>
            </a:custGeom>
            <a:solidFill>
              <a:schemeClr val="accent1"/>
            </a:solidFill>
            <a:ln w="6390" cap="flat">
              <a:noFill/>
              <a:prstDash val="solid"/>
              <a:miter/>
            </a:ln>
          </p:spPr>
          <p:txBody>
            <a:bodyPr rtlCol="0" anchor="ctr"/>
            <a:lstStyle/>
            <a:p>
              <a:endParaRPr lang="en-US">
                <a:latin typeface="+mj-lt"/>
              </a:endParaRPr>
            </a:p>
          </p:txBody>
        </p:sp>
        <p:pic>
          <p:nvPicPr>
            <p:cNvPr id="180" name="Graphic 179">
              <a:extLst>
                <a:ext uri="{FF2B5EF4-FFF2-40B4-BE49-F238E27FC236}">
                  <a16:creationId xmlns:a16="http://schemas.microsoft.com/office/drawing/2014/main" id="{CFE4A593-E2CE-1E25-CD1F-C02E698A596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3889" y="3172582"/>
              <a:ext cx="346550" cy="346550"/>
            </a:xfrm>
            <a:prstGeom prst="rect">
              <a:avLst/>
            </a:prstGeom>
          </p:spPr>
        </p:pic>
      </p:grpSp>
      <p:sp>
        <p:nvSpPr>
          <p:cNvPr id="92" name="TextBox 91">
            <a:extLst>
              <a:ext uri="{FF2B5EF4-FFF2-40B4-BE49-F238E27FC236}">
                <a16:creationId xmlns:a16="http://schemas.microsoft.com/office/drawing/2014/main" id="{36D2A300-BF76-A262-A5A1-5BA9BB404EA1}"/>
              </a:ext>
            </a:extLst>
          </p:cNvPr>
          <p:cNvSpPr txBox="1">
            <a:spLocks/>
          </p:cNvSpPr>
          <p:nvPr/>
        </p:nvSpPr>
        <p:spPr>
          <a:xfrm>
            <a:off x="1302392" y="3035476"/>
            <a:ext cx="4519775" cy="854080"/>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000000"/>
                </a:solidFill>
                <a:effectLst/>
                <a:uLnTx/>
                <a:uFillTx/>
                <a:latin typeface="+mj-lt"/>
                <a:ea typeface="+mn-ea"/>
                <a:cs typeface="+mn-cs"/>
              </a:rPr>
              <a:t>Raise the Bar on Investor </a:t>
            </a:r>
            <a:r>
              <a:rPr lang="en-US" sz="1400" b="1">
                <a:solidFill>
                  <a:srgbClr val="000000"/>
                </a:solidFill>
                <a:latin typeface="+mj-lt"/>
              </a:rPr>
              <a:t>Experience</a:t>
            </a:r>
          </a:p>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j-lt"/>
                <a:ea typeface="+mn-ea"/>
                <a:cs typeface="+mn-cs"/>
              </a:rPr>
              <a:t>Deploy CIRO-approved decision-making supports (e.g., alerts, tools, sample portfolios), prioritizing those that drive client engagement, deepen investor trust, and serve as points of differentiation in a crowded market</a:t>
            </a:r>
            <a:endParaRPr kumimoji="0" lang="en-US" sz="1100" b="0" i="0" u="none" strike="noStrike" kern="1200" cap="none" spc="0" normalizeH="0" baseline="0" noProof="0">
              <a:ln>
                <a:noFill/>
              </a:ln>
              <a:solidFill>
                <a:srgbClr val="000000"/>
              </a:solidFill>
              <a:effectLst/>
              <a:highlight>
                <a:srgbClr val="00FFFF"/>
              </a:highlight>
              <a:uLnTx/>
              <a:uFillTx/>
              <a:latin typeface="+mj-lt"/>
              <a:ea typeface="+mn-ea"/>
              <a:cs typeface="+mn-cs"/>
            </a:endParaRPr>
          </a:p>
        </p:txBody>
      </p:sp>
      <p:sp>
        <p:nvSpPr>
          <p:cNvPr id="109" name="Graphic 4">
            <a:extLst>
              <a:ext uri="{FF2B5EF4-FFF2-40B4-BE49-F238E27FC236}">
                <a16:creationId xmlns:a16="http://schemas.microsoft.com/office/drawing/2014/main" id="{46B57861-0B35-9305-A6FF-DDD80CCF06A5}"/>
              </a:ext>
            </a:extLst>
          </p:cNvPr>
          <p:cNvSpPr>
            <a:spLocks/>
          </p:cNvSpPr>
          <p:nvPr/>
        </p:nvSpPr>
        <p:spPr>
          <a:xfrm>
            <a:off x="688395" y="3192516"/>
            <a:ext cx="540000" cy="540000"/>
          </a:xfrm>
          <a:custGeom>
            <a:avLst/>
            <a:gdLst>
              <a:gd name="connsiteX0" fmla="*/ 180836 w 361674"/>
              <a:gd name="connsiteY0" fmla="*/ 349204 h 361333"/>
              <a:gd name="connsiteX1" fmla="*/ 12780 w 361674"/>
              <a:gd name="connsiteY1" fmla="*/ 181305 h 361333"/>
              <a:gd name="connsiteX2" fmla="*/ 180836 w 361674"/>
              <a:gd name="connsiteY2" fmla="*/ 13407 h 361333"/>
              <a:gd name="connsiteX3" fmla="*/ 348890 w 361674"/>
              <a:gd name="connsiteY3" fmla="*/ 181305 h 361333"/>
              <a:gd name="connsiteX4" fmla="*/ 180836 w 361674"/>
              <a:gd name="connsiteY4" fmla="*/ 349204 h 361333"/>
              <a:gd name="connsiteX5" fmla="*/ 180836 w 361674"/>
              <a:gd name="connsiteY5" fmla="*/ 0 h 361333"/>
              <a:gd name="connsiteX6" fmla="*/ 0 w 361674"/>
              <a:gd name="connsiteY6" fmla="*/ 180667 h 361333"/>
              <a:gd name="connsiteX7" fmla="*/ 180836 w 361674"/>
              <a:gd name="connsiteY7" fmla="*/ 361334 h 361333"/>
              <a:gd name="connsiteX8" fmla="*/ 361670 w 361674"/>
              <a:gd name="connsiteY8" fmla="*/ 180667 h 361333"/>
              <a:gd name="connsiteX9" fmla="*/ 180836 w 361674"/>
              <a:gd name="connsiteY9" fmla="*/ 0 h 361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1674" h="361333">
                <a:moveTo>
                  <a:pt x="180836" y="349204"/>
                </a:moveTo>
                <a:cubicBezTo>
                  <a:pt x="88181" y="349204"/>
                  <a:pt x="12780" y="273873"/>
                  <a:pt x="12780" y="181305"/>
                </a:cubicBezTo>
                <a:cubicBezTo>
                  <a:pt x="12780" y="88738"/>
                  <a:pt x="88181" y="13407"/>
                  <a:pt x="180836" y="13407"/>
                </a:cubicBezTo>
                <a:cubicBezTo>
                  <a:pt x="273490" y="13407"/>
                  <a:pt x="348890" y="88738"/>
                  <a:pt x="348890" y="181305"/>
                </a:cubicBezTo>
                <a:cubicBezTo>
                  <a:pt x="349530" y="273234"/>
                  <a:pt x="274128" y="349204"/>
                  <a:pt x="180836" y="349204"/>
                </a:cubicBezTo>
                <a:moveTo>
                  <a:pt x="180836" y="0"/>
                </a:moveTo>
                <a:cubicBezTo>
                  <a:pt x="80513" y="0"/>
                  <a:pt x="0" y="81077"/>
                  <a:pt x="0" y="180667"/>
                </a:cubicBezTo>
                <a:cubicBezTo>
                  <a:pt x="0" y="280895"/>
                  <a:pt x="81153" y="361334"/>
                  <a:pt x="180836" y="361334"/>
                </a:cubicBezTo>
                <a:cubicBezTo>
                  <a:pt x="280518" y="361334"/>
                  <a:pt x="361670" y="280257"/>
                  <a:pt x="361670" y="180667"/>
                </a:cubicBezTo>
                <a:cubicBezTo>
                  <a:pt x="362310" y="81077"/>
                  <a:pt x="281157" y="0"/>
                  <a:pt x="180836" y="0"/>
                </a:cubicBezTo>
              </a:path>
            </a:pathLst>
          </a:custGeom>
          <a:solidFill>
            <a:schemeClr val="accent1"/>
          </a:solidFill>
          <a:ln w="6390" cap="flat">
            <a:noFill/>
            <a:prstDash val="solid"/>
            <a:miter/>
          </a:ln>
        </p:spPr>
        <p:txBody>
          <a:bodyPr rtlCol="0" anchor="ctr"/>
          <a:lstStyle/>
          <a:p>
            <a:endParaRPr lang="en-US">
              <a:latin typeface="+mj-lt"/>
            </a:endParaRPr>
          </a:p>
        </p:txBody>
      </p:sp>
      <p:pic>
        <p:nvPicPr>
          <p:cNvPr id="182" name="Graphic 181">
            <a:extLst>
              <a:ext uri="{FF2B5EF4-FFF2-40B4-BE49-F238E27FC236}">
                <a16:creationId xmlns:a16="http://schemas.microsoft.com/office/drawing/2014/main" id="{38DA1D19-FCA7-5362-FB34-974EE252CE9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9306" y="3297104"/>
            <a:ext cx="318179" cy="318179"/>
          </a:xfrm>
          <a:prstGeom prst="rect">
            <a:avLst/>
          </a:prstGeom>
        </p:spPr>
      </p:pic>
      <p:sp>
        <p:nvSpPr>
          <p:cNvPr id="7" name="Rectangle 6">
            <a:extLst>
              <a:ext uri="{FF2B5EF4-FFF2-40B4-BE49-F238E27FC236}">
                <a16:creationId xmlns:a16="http://schemas.microsoft.com/office/drawing/2014/main" id="{0DE3A8C1-FD0A-455B-E106-DF70BAD9ED64}"/>
              </a:ext>
            </a:extLst>
          </p:cNvPr>
          <p:cNvSpPr>
            <a:spLocks/>
          </p:cNvSpPr>
          <p:nvPr/>
        </p:nvSpPr>
        <p:spPr bwMode="gray">
          <a:xfrm>
            <a:off x="495298" y="5140696"/>
            <a:ext cx="11201401" cy="1207097"/>
          </a:xfrm>
          <a:prstGeom prst="rect">
            <a:avLst/>
          </a:prstGeom>
          <a:noFill/>
          <a:ln w="19050" algn="ctr">
            <a:solidFill>
              <a:schemeClr val="accent1"/>
            </a:solidFill>
            <a:prstDash val="sysDash"/>
            <a:miter lim="800000"/>
            <a:headEnd/>
            <a:tailEnd/>
          </a:ln>
        </p:spPr>
        <p:txBody>
          <a:bodyPr wrap="square" lIns="88900" tIns="88900" rIns="88900" bIns="88900" rtlCol="0" anchor="ctr"/>
          <a:lstStyle/>
          <a:p>
            <a:pPr algn="ctr">
              <a:lnSpc>
                <a:spcPct val="106000"/>
              </a:lnSpc>
              <a:buFont typeface="Wingdings 2" pitchFamily="18" charset="2"/>
              <a:buNone/>
            </a:pPr>
            <a:endParaRPr lang="en-CA" sz="1600" b="1">
              <a:solidFill>
                <a:schemeClr val="bg1"/>
              </a:solidFill>
            </a:endParaRPr>
          </a:p>
        </p:txBody>
      </p:sp>
      <p:sp>
        <p:nvSpPr>
          <p:cNvPr id="55" name="TextBox 54">
            <a:extLst>
              <a:ext uri="{FF2B5EF4-FFF2-40B4-BE49-F238E27FC236}">
                <a16:creationId xmlns:a16="http://schemas.microsoft.com/office/drawing/2014/main" id="{1E8C3F09-274B-BDDD-FD69-548D002B5459}"/>
              </a:ext>
            </a:extLst>
          </p:cNvPr>
          <p:cNvSpPr txBox="1">
            <a:spLocks/>
          </p:cNvSpPr>
          <p:nvPr/>
        </p:nvSpPr>
        <p:spPr>
          <a:xfrm>
            <a:off x="4985450" y="4975659"/>
            <a:ext cx="2232810" cy="342210"/>
          </a:xfrm>
          <a:prstGeom prst="rect">
            <a:avLst/>
          </a:prstGeom>
          <a:solidFill>
            <a:schemeClr val="bg1"/>
          </a:solidFill>
        </p:spPr>
        <p:txBody>
          <a:bodyPr wrap="square">
            <a:spAutoFit/>
          </a:bodyPr>
          <a:lstStyle/>
          <a:p>
            <a:pPr algn="ctr" defTabSz="671718" fontAlgn="base">
              <a:lnSpc>
                <a:spcPct val="106000"/>
              </a:lnSpc>
              <a:spcBef>
                <a:spcPct val="0"/>
              </a:spcBef>
              <a:spcAft>
                <a:spcPct val="0"/>
              </a:spcAft>
              <a:defRPr/>
            </a:pPr>
            <a:r>
              <a:rPr lang="en-US" sz="1600" b="1" u="sng">
                <a:solidFill>
                  <a:schemeClr val="accent1"/>
                </a:solidFill>
                <a:latin typeface="+mj-lt"/>
                <a:ea typeface="ヒラギノ角ゴ ProN W3" charset="0"/>
                <a:sym typeface="Gotham Book" charset="0"/>
              </a:rPr>
              <a:t>Manage</a:t>
            </a:r>
            <a:r>
              <a:rPr lang="en-US" sz="1600" b="1">
                <a:solidFill>
                  <a:schemeClr val="accent1"/>
                </a:solidFill>
                <a:latin typeface="+mj-lt"/>
                <a:ea typeface="ヒラギノ角ゴ ProN W3" charset="0"/>
                <a:sym typeface="Gotham Book" charset="0"/>
              </a:rPr>
              <a:t> Emerging Risks</a:t>
            </a:r>
          </a:p>
        </p:txBody>
      </p:sp>
      <p:sp>
        <p:nvSpPr>
          <p:cNvPr id="38" name="Rectangle 37">
            <a:extLst>
              <a:ext uri="{FF2B5EF4-FFF2-40B4-BE49-F238E27FC236}">
                <a16:creationId xmlns:a16="http://schemas.microsoft.com/office/drawing/2014/main" id="{12295685-0CD1-04CF-D217-61EFCB8AD11C}"/>
              </a:ext>
            </a:extLst>
          </p:cNvPr>
          <p:cNvSpPr>
            <a:spLocks/>
          </p:cNvSpPr>
          <p:nvPr/>
        </p:nvSpPr>
        <p:spPr>
          <a:xfrm>
            <a:off x="4383852" y="5346443"/>
            <a:ext cx="3420000" cy="88853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Overbuilt or poorly designed supports</a:t>
            </a:r>
            <a:r>
              <a:rPr kumimoji="0" lang="en-US" sz="1200" b="0" i="0" u="none" strike="noStrike" kern="1200" cap="none" spc="0" normalizeH="0" baseline="0" noProof="0">
                <a:ln>
                  <a:noFill/>
                </a:ln>
                <a:solidFill>
                  <a:srgbClr val="242523"/>
                </a:solidFill>
                <a:effectLst/>
                <a:uLnTx/>
                <a:uFillTx/>
                <a:latin typeface="+mj-lt"/>
                <a:ea typeface="Ubuntu" charset="0"/>
                <a:cs typeface="Calibri" panose="020F0502020204030204" pitchFamily="34" charset="0"/>
              </a:rPr>
              <a:t> risk breaching the advice boundary, especially if there is lack of continued monitoring</a:t>
            </a:r>
          </a:p>
        </p:txBody>
      </p:sp>
      <p:sp>
        <p:nvSpPr>
          <p:cNvPr id="3" name="Slide Number Placeholder 4">
            <a:extLst>
              <a:ext uri="{FF2B5EF4-FFF2-40B4-BE49-F238E27FC236}">
                <a16:creationId xmlns:a16="http://schemas.microsoft.com/office/drawing/2014/main" id="{B3E99130-95BD-D54D-6504-F1365F6FD1BC}"/>
              </a:ext>
            </a:extLst>
          </p:cNvPr>
          <p:cNvSpPr>
            <a:spLocks noGrp="1"/>
          </p:cNvSpPr>
          <p:nvPr>
            <p:ph type="sldNum" sz="quarter" idx="4"/>
          </p:nvPr>
        </p:nvSpPr>
        <p:spPr>
          <a:xfrm>
            <a:off x="11346395" y="6477000"/>
            <a:ext cx="343955" cy="138499"/>
          </a:xfrm>
        </p:spPr>
        <p:txBody>
          <a:body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19</a:t>
            </a:fld>
            <a:endParaRPr lang="en-US"/>
          </a:p>
        </p:txBody>
      </p:sp>
    </p:spTree>
    <p:extLst>
      <p:ext uri="{BB962C8B-B14F-4D97-AF65-F5344CB8AC3E}">
        <p14:creationId xmlns:p14="http://schemas.microsoft.com/office/powerpoint/2010/main" val="114352535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bg>
      <p:bgPr>
        <a:solidFill>
          <a:srgbClr val="050607"/>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ED72737-A293-A444-3062-D23633DD7B78}"/>
              </a:ext>
            </a:extLst>
          </p:cNvPr>
          <p:cNvGraphicFramePr>
            <a:graphicFrameLocks noChangeAspect="1"/>
          </p:cNvGraphicFramePr>
          <p:nvPr>
            <p:custDataLst>
              <p:tags r:id="rId1"/>
            </p:custDataLst>
            <p:extLst>
              <p:ext uri="{D42A27DB-BD31-4B8C-83A1-F6EECF244321}">
                <p14:modId xmlns:p14="http://schemas.microsoft.com/office/powerpoint/2010/main" val="29246395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2" name="think-cell data - do not delete" hidden="1">
                        <a:extLst>
                          <a:ext uri="{FF2B5EF4-FFF2-40B4-BE49-F238E27FC236}">
                            <a16:creationId xmlns:a16="http://schemas.microsoft.com/office/drawing/2014/main" id="{7ED72737-A293-A444-3062-D23633DD7B7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DEDD5E64-513D-041F-F772-6C501DDFEEAB}"/>
              </a:ext>
            </a:extLst>
          </p:cNvPr>
          <p:cNvSpPr>
            <a:spLocks noGrp="1"/>
          </p:cNvSpPr>
          <p:nvPr>
            <p:ph type="body" sz="quarter" idx="13"/>
          </p:nvPr>
        </p:nvSpPr>
        <p:spPr/>
        <p:txBody>
          <a:bodyPr/>
          <a:lstStyle/>
          <a:p>
            <a:pPr marL="0" marR="0" lvl="0" indent="0" algn="l" defTabSz="914400" rtl="0" eaLnBrk="1" fontAlgn="auto" latinLnBrk="0" hangingPunct="1">
              <a:lnSpc>
                <a:spcPct val="100000"/>
              </a:lnSpc>
              <a:spcBef>
                <a:spcPts val="0"/>
              </a:spcBef>
              <a:spcAft>
                <a:spcPts val="600"/>
              </a:spcAft>
              <a:buClrTx/>
              <a:buSzPct val="100000"/>
              <a:buFontTx/>
              <a:buNone/>
              <a:tabLst/>
              <a:defRPr/>
            </a:pPr>
            <a:r>
              <a:rPr kumimoji="0" lang="en-US" sz="900" b="0" i="0" u="none" strike="noStrike" kern="1200" cap="none" spc="0" normalizeH="0" baseline="0" noProof="0">
                <a:ln>
                  <a:noFill/>
                </a:ln>
                <a:effectLst/>
                <a:uLnTx/>
                <a:uFillTx/>
                <a:latin typeface="+mj-lt"/>
                <a:ea typeface="+mn-ea"/>
              </a:rPr>
              <a:t>Deloitte refers to one or more of Deloitte Touche Tohmatsu Limited (DTTL), its global network of member firms, and their related entities (collectively, the "Deloitte organization"). DTTL (also referred to as "Deloitte Global") and each of its member firms and related entities are legally separate and independent entities, which cannot obligate or bind each other in respect of third parties. DTTL and each DTTL member firm and related entity is liable only for its own acts and omissions, and not those of each other. DTTL does not provide services to clients. Please see </a:t>
            </a:r>
            <a:r>
              <a:rPr kumimoji="0" lang="en-US" sz="900" b="0" i="0" u="none" strike="noStrike" kern="1200" cap="none" spc="0" normalizeH="0" baseline="0" noProof="0">
                <a:ln>
                  <a:noFill/>
                </a:ln>
                <a:effectLst/>
                <a:uLnTx/>
                <a:uFillTx/>
                <a:latin typeface="+mj-lt"/>
                <a:ea typeface="+mn-ea"/>
                <a:hlinkClick r:id="rId6"/>
              </a:rPr>
              <a:t>www.deloitte.com/about</a:t>
            </a:r>
            <a:r>
              <a:rPr kumimoji="0" lang="en-US" sz="900" b="0" i="0" u="none" strike="noStrike" kern="1200" cap="none" spc="0" normalizeH="0" baseline="0" noProof="0">
                <a:ln>
                  <a:noFill/>
                </a:ln>
                <a:effectLst/>
                <a:uLnTx/>
                <a:uFillTx/>
                <a:latin typeface="+mj-lt"/>
                <a:ea typeface="+mn-ea"/>
              </a:rPr>
              <a:t> to learn more.</a:t>
            </a:r>
          </a:p>
          <a:p>
            <a:pPr marL="0" marR="0" lvl="0" indent="0" algn="l" defTabSz="914400" rtl="0" eaLnBrk="1" fontAlgn="auto" latinLnBrk="0" hangingPunct="1">
              <a:lnSpc>
                <a:spcPct val="100000"/>
              </a:lnSpc>
              <a:spcBef>
                <a:spcPts val="0"/>
              </a:spcBef>
              <a:spcAft>
                <a:spcPts val="600"/>
              </a:spcAft>
              <a:buClrTx/>
              <a:buSzPct val="100000"/>
              <a:buFontTx/>
              <a:buNone/>
              <a:tabLst/>
              <a:defRPr/>
            </a:pPr>
            <a:r>
              <a:rPr kumimoji="0" lang="en-US" sz="900" b="0" i="0" u="none" strike="noStrike" kern="1200" cap="none" spc="0" normalizeH="0" baseline="0" noProof="0">
                <a:ln>
                  <a:noFill/>
                </a:ln>
                <a:effectLst/>
                <a:uLnTx/>
                <a:uFillTx/>
                <a:latin typeface="+mj-lt"/>
                <a:ea typeface="+mn-ea"/>
              </a:rPr>
              <a:t>This communication and any attachment to it is for internal distribution among personnel of Deloitte Touche Tohmatsu Limited (DTTL), its global network of member firms and their related entities (collectively, the "Deloitte organization"). It may contain confidential information and is intended solely for the use of the individual or entity to whom it is addressed. If you are not the intended recipient, please notify us immediately, do not use this communication in any way and then delete it and all copies of it on your system.</a:t>
            </a:r>
          </a:p>
          <a:p>
            <a:pPr marL="0" marR="0" lvl="0" indent="0" algn="l" defTabSz="914400" rtl="0" eaLnBrk="1" fontAlgn="auto" latinLnBrk="0" hangingPunct="1">
              <a:lnSpc>
                <a:spcPct val="100000"/>
              </a:lnSpc>
              <a:spcBef>
                <a:spcPts val="0"/>
              </a:spcBef>
              <a:spcAft>
                <a:spcPts val="600"/>
              </a:spcAft>
              <a:buClrTx/>
              <a:buSzPct val="100000"/>
              <a:buFontTx/>
              <a:buNone/>
              <a:tabLst/>
              <a:defRPr/>
            </a:pPr>
            <a:r>
              <a:rPr kumimoji="0" lang="en-US" sz="900" b="0" i="0" u="none" strike="noStrike" kern="1200" cap="none" spc="0" normalizeH="0" baseline="0" noProof="0">
                <a:ln>
                  <a:noFill/>
                </a:ln>
                <a:effectLst/>
                <a:uLnTx/>
                <a:uFillTx/>
                <a:latin typeface="+mj-lt"/>
                <a:ea typeface="+mn-ea"/>
              </a:rPr>
              <a:t>None of DTTL, its member firms, related entities, employees or agents shall be responsible for any loss or damage whatsoever arising directly or indirectly in connection with any person relying on this communication.</a:t>
            </a:r>
          </a:p>
          <a:p>
            <a:pPr marL="0" marR="0" lvl="0" indent="0" algn="l" defTabSz="914400" rtl="0" eaLnBrk="1" fontAlgn="auto" latinLnBrk="0" hangingPunct="1">
              <a:lnSpc>
                <a:spcPct val="100000"/>
              </a:lnSpc>
              <a:spcBef>
                <a:spcPts val="0"/>
              </a:spcBef>
              <a:spcAft>
                <a:spcPts val="600"/>
              </a:spcAft>
              <a:buClrTx/>
              <a:buSzPct val="100000"/>
              <a:buFontTx/>
              <a:buNone/>
              <a:tabLst/>
              <a:defRPr/>
            </a:pPr>
            <a:r>
              <a:rPr kumimoji="0" lang="en-US" sz="900" b="0" i="0" u="none" strike="noStrike" kern="1200" cap="none" spc="0" normalizeH="0" baseline="0" noProof="0">
                <a:ln>
                  <a:noFill/>
                </a:ln>
                <a:effectLst/>
                <a:uLnTx/>
                <a:uFillTx/>
                <a:latin typeface="+mj-lt"/>
                <a:ea typeface="+mn-ea"/>
              </a:rPr>
              <a:t>© 2025. For information, contact Deloitte Touche Tohmatsu Limited.</a:t>
            </a:r>
          </a:p>
        </p:txBody>
      </p:sp>
    </p:spTree>
    <p:extLst>
      <p:ext uri="{BB962C8B-B14F-4D97-AF65-F5344CB8AC3E}">
        <p14:creationId xmlns:p14="http://schemas.microsoft.com/office/powerpoint/2010/main" val="2974348837"/>
      </p:ext>
    </p:extLst>
  </p:cSld>
  <p:clrMapOvr>
    <a:masterClrMapping/>
  </p:clrMapOvr>
  <mc:AlternateContent xmlns:mc="http://schemas.openxmlformats.org/markup-compatibility/2006" xmlns:p14="http://schemas.microsoft.com/office/powerpoint/2010/main">
    <mc:Choice Requires="p14">
      <p:transition spd="med" p14:dur="700"/>
    </mc:Choice>
    <mc:Fallback xmlns="">
      <p:transition spd="med"/>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28224&quot;&gt;&lt;version val=&quot;35766&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Brand Theme">
  <a:themeElements>
    <a:clrScheme name="Custom 89">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26890D"/>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lumMod val="20000"/>
            <a:lumOff val="80000"/>
          </a:schemeClr>
        </a:solidFill>
        <a:ln w="19050" algn="ctr">
          <a:noFill/>
          <a:miter lim="800000"/>
          <a:headEnd/>
          <a:tailEnd/>
        </a:ln>
      </a:spPr>
      <a:bodyPr wrap="square" lIns="432000" tIns="88900" rIns="432000" bIns="88900" rtlCol="0" anchor="ctr"/>
      <a:lstStyle>
        <a:defPPr algn="ctr">
          <a:lnSpc>
            <a:spcPct val="106000"/>
          </a:lnSpc>
          <a:buFont typeface="Wingdings 2" pitchFamily="18" charset="2"/>
          <a:buNone/>
          <a:defRPr sz="1400" b="1" dirty="0" smtClean="0"/>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16_9_Onscreen_EN.potx" id="{E4519BBC-D217-4D6D-B354-DBCA942B3A1E}" vid="{FC2F9647-6C95-4C78-9E7C-3D25F4EECF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D470B8DA2ECB848955FE498CB697C25" ma:contentTypeVersion="3" ma:contentTypeDescription="Create a new document." ma:contentTypeScope="" ma:versionID="be8fbe23ec24d826e17203589b0a6949">
  <xsd:schema xmlns:xsd="http://www.w3.org/2001/XMLSchema" xmlns:xs="http://www.w3.org/2001/XMLSchema" xmlns:p="http://schemas.microsoft.com/office/2006/metadata/properties" xmlns:ns2="cf750adb-5c9d-4f59-9400-334ff71a08a7" targetNamespace="http://schemas.microsoft.com/office/2006/metadata/properties" ma:root="true" ma:fieldsID="10c4e4860d646457b9f0c0363484563e" ns2:_="">
    <xsd:import namespace="cf750adb-5c9d-4f59-9400-334ff71a08a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750adb-5c9d-4f59-9400-334ff71a08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92CBCA-9331-4AA7-83EB-6F690306D579}">
  <ds:schemaRefs>
    <ds:schemaRef ds:uri="89efa3a3-ced9-4a0b-84eb-ce0ef16fa9d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CEFC3F4-993A-476F-AE36-2AA3046510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750adb-5c9d-4f59-9400-334ff71a08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6F8A89F-87C5-449B-9AF2-EDD9C39C0DF4}">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2 Deloitte 16X9 Onscreen Template EN</Template>
  <TotalTime>0</TotalTime>
  <Words>4429</Words>
  <Application>Microsoft Office PowerPoint</Application>
  <PresentationFormat>Widescreen</PresentationFormat>
  <Paragraphs>315</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Deloitte Brand Theme</vt:lpstr>
      <vt:lpstr>CIRO’s New OEO Guidance: Potential Opportunities</vt:lpstr>
      <vt:lpstr>Table of Contents</vt:lpstr>
      <vt:lpstr>1. Executive Summary</vt:lpstr>
      <vt:lpstr>Executive Summary</vt:lpstr>
      <vt:lpstr>2. Regulatory Context &amp; Market Implications</vt:lpstr>
      <vt:lpstr>Evolving Regulatory Approach</vt:lpstr>
      <vt:lpstr>Key Changes in Proposed Guidance</vt:lpstr>
      <vt:lpstr>How Global Regulators are Addressing the ‘Advice Gap’</vt:lpstr>
      <vt:lpstr>Impacts on Wealth Management Landscape</vt:lpstr>
      <vt:lpstr>3. Interpretation of Proposed Guidance</vt:lpstr>
      <vt:lpstr>Interpretation of Proposed Guidance</vt:lpstr>
      <vt:lpstr>Alerts &amp; Notifications </vt:lpstr>
      <vt:lpstr>Educational Information</vt:lpstr>
      <vt:lpstr>Self-Assessment Tools</vt:lpstr>
      <vt:lpstr>Finfluencers &amp; Copy Trading</vt:lpstr>
      <vt:lpstr>Orchestrated Journey: Combining Decision-Making Supports</vt:lpstr>
      <vt:lpstr>Safeguards</vt:lpstr>
      <vt:lpstr>4. Path Forward</vt:lpstr>
      <vt:lpstr>Path Forward for OEOs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
  <cp:revision>2</cp:revision>
  <dcterms:created xsi:type="dcterms:W3CDTF">2025-10-19T05:16:33Z</dcterms:created>
  <dcterms:modified xsi:type="dcterms:W3CDTF">2026-09-09T21:35:12Z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0x0101007D470B8DA2ECB848955FE498CB697C25</vt:lpwstr>
  </property>
</Properties>
</file>