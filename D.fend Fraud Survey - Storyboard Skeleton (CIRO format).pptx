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457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800454" y="598932"/>
            <a:ext cx="82296" cy="82296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" name="Shape 2"/>
          <p:cNvSpPr/>
          <p:nvPr/>
        </p:nvSpPr>
        <p:spPr>
          <a:xfrm>
            <a:off x="3392424" y="731520"/>
            <a:ext cx="5404104" cy="5404104"/>
          </a:xfrm>
          <a:prstGeom prst="rect">
            <a:avLst/>
          </a:prstGeom>
          <a:solidFill>
            <a:srgbClr val="0B1C14"/>
          </a:solidFill>
          <a:ln w="9525">
            <a:solidFill>
              <a:srgbClr val="86BC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92424" y="731520"/>
            <a:ext cx="5404104" cy="5404104"/>
          </a:xfrm>
          <a:prstGeom prst="rect">
            <a:avLst/>
          </a:prstGeom>
          <a:ln w="12700">
            <a:solidFill>
              <a:srgbClr val="86BC2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776472" y="1115568"/>
            <a:ext cx="4636008" cy="4636008"/>
          </a:xfrm>
          <a:prstGeom prst="rect">
            <a:avLst/>
          </a:prstGeom>
          <a:ln w="12700">
            <a:solidFill>
              <a:srgbClr val="0D839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160520" y="1499616"/>
            <a:ext cx="3867912" cy="3867912"/>
          </a:xfrm>
          <a:prstGeom prst="rect">
            <a:avLst/>
          </a:prstGeom>
          <a:ln w="12700">
            <a:solidFill>
              <a:srgbClr val="86BC2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544568" y="1883664"/>
            <a:ext cx="3099816" cy="3099816"/>
          </a:xfrm>
          <a:prstGeom prst="rect">
            <a:avLst/>
          </a:prstGeom>
          <a:ln w="12700">
            <a:solidFill>
              <a:srgbClr val="0D839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928616" y="2267712"/>
            <a:ext cx="2331720" cy="2331720"/>
          </a:xfrm>
          <a:prstGeom prst="rect">
            <a:avLst/>
          </a:prstGeom>
          <a:ln w="12700">
            <a:solidFill>
              <a:srgbClr val="86BC2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312664" y="2651760"/>
            <a:ext cx="1563624" cy="1563624"/>
          </a:xfrm>
          <a:prstGeom prst="rect">
            <a:avLst/>
          </a:prstGeom>
          <a:ln w="12700">
            <a:solidFill>
              <a:srgbClr val="0D839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849624" y="3067812"/>
            <a:ext cx="4489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451860"/>
            <a:ext cx="4489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LANDSCAPE SURVEY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006" y="4901184"/>
            <a:ext cx="86045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Insurance Fraud Landscape Survey: Key Findings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02006" y="5870448"/>
            <a:ext cx="7836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Deloitte Perspective — Storyboard (Skeleton)
</a:t>
            </a:r>
            <a:pPr algn="l" indent="0" marL="0">
              <a:buNone/>
            </a:pPr>
            <a:r>
              <a:rPr lang="en-US" sz="140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[Forum date — TBD]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317297"/>
            <a:ext cx="1118859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02006" y="651967"/>
            <a:ext cx="11188598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346790" y="6476695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98348" y="1709928"/>
            <a:ext cx="5221224" cy="7589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608076" y="1801368"/>
            <a:ext cx="557784" cy="57607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8076" y="1801368"/>
            <a:ext cx="5577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1308" y="1709928"/>
            <a:ext cx="4261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8348" y="2660904"/>
            <a:ext cx="5221224" cy="7589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608076" y="2752344"/>
            <a:ext cx="557784" cy="57607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8076" y="2752344"/>
            <a:ext cx="5577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1308" y="2660904"/>
            <a:ext cx="4261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Profile &amp; Methodology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8348" y="3611880"/>
            <a:ext cx="5221224" cy="7589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608076" y="3703320"/>
            <a:ext cx="557784" cy="57607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8076" y="3703320"/>
            <a:ext cx="5577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1308" y="3611880"/>
            <a:ext cx="4261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by Theme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8348" y="4562856"/>
            <a:ext cx="5221224" cy="7589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08076" y="4654296"/>
            <a:ext cx="557784" cy="57607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8076" y="4654296"/>
            <a:ext cx="5577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21308" y="4562856"/>
            <a:ext cx="4261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for the D.fend Forum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93408" y="1207008"/>
            <a:ext cx="4315968" cy="4315968"/>
          </a:xfrm>
          <a:prstGeom prst="ellipse">
            <a:avLst/>
          </a:prstGeom>
          <a:solidFill>
            <a:srgbClr val="F2F2F2"/>
          </a:solidFill>
          <a:ln w="12700">
            <a:solidFill>
              <a:srgbClr val="D0D0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12462" y="3044952"/>
            <a:ext cx="640080" cy="640080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8138" y="4358465"/>
            <a:ext cx="640080" cy="640080"/>
          </a:xfrm>
          <a:prstGeom prst="ellipse">
            <a:avLst/>
          </a:prstGeom>
          <a:solidFill>
            <a:srgbClr val="0D8390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14011" y="3856748"/>
            <a:ext cx="640080" cy="640080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14011" y="2233156"/>
            <a:ext cx="640080" cy="640080"/>
          </a:xfrm>
          <a:prstGeom prst="ellipse">
            <a:avLst/>
          </a:prstGeom>
          <a:solidFill>
            <a:srgbClr val="0D8390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58138" y="1731439"/>
            <a:ext cx="640080" cy="640080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693408" y="2953512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research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6B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99870"/>
            <a:ext cx="10415016" cy="15919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Executive Summary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346790" y="6476695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317297"/>
            <a:ext cx="1118859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02006" y="651967"/>
            <a:ext cx="11188598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survey shows a fraud landscape where identity is becoming the primary battleground for AI-driven fraud — across almost every theme, the same connective thread surfaces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346790" y="6476695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006" y="1665122"/>
            <a:ext cx="0" cy="539496"/>
          </a:xfrm>
          <a:prstGeom prst="line">
            <a:avLst/>
          </a:prstGeom>
          <a:noFill/>
          <a:ln w="50800">
            <a:solidFill>
              <a:srgbClr val="86BC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4886" y="1665122"/>
            <a:ext cx="1100571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quickly becoming the main target for AI-driven fraud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006" y="2643530"/>
            <a:ext cx="0" cy="539496"/>
          </a:xfrm>
          <a:prstGeom prst="line">
            <a:avLst/>
          </a:prstGeom>
          <a:noFill/>
          <a:ln w="50800">
            <a:solidFill>
              <a:srgbClr val="86BC2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4886" y="2643530"/>
            <a:ext cx="1100571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fraud data across companies is blocked by structure — legal rules and messy data — not unwillingness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006" y="3621938"/>
            <a:ext cx="0" cy="539496"/>
          </a:xfrm>
          <a:prstGeom prst="line">
            <a:avLst/>
          </a:prstGeom>
          <a:noFill/>
          <a:ln w="50800">
            <a:solidFill>
              <a:srgbClr val="86BC2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4886" y="3621938"/>
            <a:ext cx="1100571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insurers face very different third-party risks, so one fix won't work for both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006" y="4600346"/>
            <a:ext cx="0" cy="539496"/>
          </a:xfrm>
          <a:prstGeom prst="line">
            <a:avLst/>
          </a:prstGeom>
          <a:noFill/>
          <a:ln w="50800">
            <a:solidFill>
              <a:srgbClr val="86BC2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4886" y="4600346"/>
            <a:ext cx="1100571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programs feel mature on paper, but AI is already reshaping how they operate day to day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006" y="5578754"/>
            <a:ext cx="0" cy="539496"/>
          </a:xfrm>
          <a:prstGeom prst="line">
            <a:avLst/>
          </a:prstGeom>
          <a:noFill/>
          <a:ln w="50800">
            <a:solidFill>
              <a:srgbClr val="86BC2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4886" y="5578754"/>
            <a:ext cx="1100571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investment today is about catching up, not getting ahead — and identity/authentication is next in line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86B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99870"/>
            <a:ext cx="10415016" cy="15919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Respondent Profile &amp; Methodology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346790" y="6476695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317297"/>
            <a:ext cx="1118859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Profile &amp; Methodology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02006" y="651967"/>
            <a:ext cx="11188598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survey reached 100 senior fraud leaders across banking and insurance, sourced via GLG — fielding is complete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346790" y="6476695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006" y="2030882"/>
            <a:ext cx="251460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006" y="225948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02006" y="306415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respondents (fielding complete)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6646" y="2030882"/>
            <a:ext cx="251460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6646" y="225948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/ 25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336646" y="306415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Banking vs. Insurance split — matches target mix exactly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1286" y="2030882"/>
            <a:ext cx="251460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1286" y="225948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71286" y="306415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Director-level or above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05926" y="2030882"/>
            <a:ext cx="251460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05926" y="225948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33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9005926" y="306415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primary market: United States / Canada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006" y="4316882"/>
            <a:ext cx="0" cy="1737360"/>
          </a:xfrm>
          <a:prstGeom prst="line">
            <a:avLst/>
          </a:prstGeom>
          <a:noFill/>
          <a:ln w="50800">
            <a:solidFill>
              <a:srgbClr val="86BC2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4886" y="4316882"/>
            <a:ext cx="110057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represented: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Risk &amp; Governance, Fraud Operations, Fraud Strategy &amp; Transformation, Fraud Analytics/Intelligence, Special Investigations Unit, Fraud Investigations Unit
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covered: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States, Canada, United Kingdom, EU, Australia, Singapore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6B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99870"/>
            <a:ext cx="10415016" cy="15919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Findings by Theme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423514"/>
            <a:ext cx="1041501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research themes: Deepfake &amp; Emerging AI Risk, Fraud Information Sharing, Third-Party Fraud Risk, Operating Model Transformation, and Regulatory &amp; Market Change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46790" y="6476695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317297"/>
            <a:ext cx="1118859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 · Deepfake &amp; Emerging AI Risk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02006" y="651967"/>
            <a:ext cx="11188598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[Chart/visual TBD] Where AI-driven fraud vulnerability and obstacles are concentrated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346790" y="6476695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006" y="1802282"/>
            <a:ext cx="0" cy="1417320"/>
          </a:xfrm>
          <a:prstGeom prst="line">
            <a:avLst/>
          </a:prstGeom>
          <a:noFill/>
          <a:ln w="50800">
            <a:solidFill>
              <a:srgbClr val="86BC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4886" y="1802282"/>
            <a:ext cx="11005718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fraud is hitting identity checks the hardest — onboarding and payments, not the areas fraud teams traditionally focus on.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4886" y="2539289"/>
            <a:ext cx="11005718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onboarding/KYC ranks #1 vulnerability (28% rank-1; 71% top-3); payment/wire approvals close behind (64% top-3)  </a:t>
            </a:r>
            <a:pPr algn="l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[Q2]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006" y="3539642"/>
            <a:ext cx="0" cy="1417320"/>
          </a:xfrm>
          <a:prstGeom prst="line">
            <a:avLst/>
          </a:prstGeom>
          <a:noFill/>
          <a:ln w="50800">
            <a:solidFill>
              <a:srgbClr val="86BC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4886" y="3539642"/>
            <a:ext cx="11005718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problem is untrained staff, not missing technology.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4886" y="4276649"/>
            <a:ext cx="11005718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staff awareness/training is the top-cited obstacle (54%), ahead of any detection-technology or tooling gap (44–49%)  </a:t>
            </a:r>
            <a:pPr algn="l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[Q3]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317297"/>
            <a:ext cx="1118859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 · Fraud Information Sharing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02006" y="651967"/>
            <a:ext cx="11188598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[Chart/visual TBD] Barriers to sharing and the government actions leaders are asking for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346790" y="6476695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006" y="1802282"/>
            <a:ext cx="0" cy="1417320"/>
          </a:xfrm>
          <a:prstGeom prst="line">
            <a:avLst/>
          </a:prstGeom>
          <a:noFill/>
          <a:ln w="50800">
            <a:solidFill>
              <a:srgbClr val="86BC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4886" y="1802282"/>
            <a:ext cx="11005718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fraud data across companies is hard mainly because of messy data and legal rules — not unwillingness.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4886" y="2539289"/>
            <a:ext cx="11005718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data standards (77% top-3) and legal/privacy constraints (74% top-3) are the two dominant barriers  </a:t>
            </a:r>
            <a:pPr algn="l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[Q5]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006" y="3539642"/>
            <a:ext cx="0" cy="1417320"/>
          </a:xfrm>
          <a:prstGeom prst="line">
            <a:avLst/>
          </a:prstGeom>
          <a:noFill/>
          <a:ln w="50800">
            <a:solidFill>
              <a:srgbClr val="86BC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4886" y="3539642"/>
            <a:ext cx="11005718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want the government to build shared infrastructure, not just pass new laws.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4886" y="4276649"/>
            <a:ext cx="11005718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info-sharing platform/utility is the top ask (35%), followed by clearer legal frameworks (26%)  </a:t>
            </a:r>
            <a:pPr algn="l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[Q4]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317297"/>
            <a:ext cx="1118859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 · Third-Party Fraud Risk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02006" y="651967"/>
            <a:ext cx="11188598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[Chart/visual TBD] Third-party exposure by sector, and the preferred 3-year mitigation strategy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346790" y="6476695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006" y="1802282"/>
            <a:ext cx="0" cy="1417320"/>
          </a:xfrm>
          <a:prstGeom prst="line">
            <a:avLst/>
          </a:prstGeom>
          <a:noFill/>
          <a:ln w="50800">
            <a:solidFill>
              <a:srgbClr val="86BC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4886" y="1802282"/>
            <a:ext cx="11005718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insurers face very different third-party risks, so one fix won't work for both.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4886" y="2539289"/>
            <a:ext cx="11005718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Banking's exposure centers on Fintech partners (25%) and commercial clients (24%); Insurance's is dominated almost entirely by healthcare providers (40%)  </a:t>
            </a:r>
            <a:pPr algn="l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[Q6a / Q6b]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006" y="3539642"/>
            <a:ext cx="0" cy="1417320"/>
          </a:xfrm>
          <a:prstGeom prst="line">
            <a:avLst/>
          </a:prstGeom>
          <a:noFill/>
          <a:ln w="50800">
            <a:solidFill>
              <a:srgbClr val="86BC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4886" y="3539642"/>
            <a:ext cx="11005718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would rather get smarter about spotting risk than tighten the front door.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4886" y="4276649"/>
            <a:ext cx="11005718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Info-sharing/monitoring strategies (28%/27%) edge out tightening onboarding controls (25%) as the preferred 3-year approach  </a:t>
            </a:r>
            <a:pPr algn="l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[Q7]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317297"/>
            <a:ext cx="1118859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4 · Operating Model Transformation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02006" y="651967"/>
            <a:ext cx="11188598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[Chart/visual TBD] Self-reported maturity vs. AI-driven vulnerability, and the shift toward AI-enabled scaling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346790" y="6476695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006" y="1802282"/>
            <a:ext cx="0" cy="1417320"/>
          </a:xfrm>
          <a:prstGeom prst="line">
            <a:avLst/>
          </a:prstGeom>
          <a:noFill/>
          <a:ln w="50800">
            <a:solidFill>
              <a:srgbClr val="86BC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4886" y="1802282"/>
            <a:ext cx="11005718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think their programs are more advanced than the rest of the data suggests — worth putting to the room at the Forum.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4886" y="2539289"/>
            <a:ext cx="11005718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self-rate as “Integrated” or “Advanced”, yet this same group ranks AI-driven identity fraud as their top current exposure  </a:t>
            </a:r>
            <a:pPr algn="l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[Q1 / Q2]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006" y="3539642"/>
            <a:ext cx="0" cy="1417320"/>
          </a:xfrm>
          <a:prstGeom prst="line">
            <a:avLst/>
          </a:prstGeom>
          <a:noFill/>
          <a:ln w="50800">
            <a:solidFill>
              <a:srgbClr val="86BC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4886" y="3539642"/>
            <a:ext cx="11005718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already the top way fraud teams are scaling up, and its lead is only growing.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4886" y="4276649"/>
            <a:ext cx="11005718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augmentation is the #1 scaling approach today (35%) and grows further over the next 3 years (40%)  </a:t>
            </a:r>
            <a:pPr algn="l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[Q8 / Q9]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317297"/>
            <a:ext cx="1118859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5 · Regulatory &amp; Market Change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02006" y="651967"/>
            <a:ext cx="11188598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[Chart/visual TBD] Investment posture today vs. the disruption leaders see coming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346790" y="6476695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006" y="1802282"/>
            <a:ext cx="0" cy="1417320"/>
          </a:xfrm>
          <a:prstGeom prst="line">
            <a:avLst/>
          </a:prstGeom>
          <a:noFill/>
          <a:ln w="50800">
            <a:solidFill>
              <a:srgbClr val="86BC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4886" y="1802282"/>
            <a:ext cx="11005718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fraud spending today is about fixing past problems, not getting ahead of new ones.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4886" y="2539289"/>
            <a:ext cx="11005718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invest to remediate existing compliance gaps vs. 39% to prepare for upcoming rules  </a:t>
            </a:r>
            <a:pPr algn="l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[Q10]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006" y="3539642"/>
            <a:ext cx="0" cy="1417320"/>
          </a:xfrm>
          <a:prstGeom prst="line">
            <a:avLst/>
          </a:prstGeom>
          <a:noFill/>
          <a:ln w="50800">
            <a:solidFill>
              <a:srgbClr val="86BC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4886" y="3539642"/>
            <a:ext cx="11005718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authentication will be the next big challenge fraud programs have to face.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4886" y="4276649"/>
            <a:ext cx="11005718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identity/authentication is the top anticipated disruptor (25% rank-1, 70% top-3), narrowly ahead of payment innovation and AI governance/privacy (66% top-3 each)  </a:t>
            </a:r>
            <a:pPr algn="l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[Q11]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86B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99870"/>
            <a:ext cx="10415016" cy="15919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Implications for the D.fend Forum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346790" y="6476695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317297"/>
            <a:ext cx="1118859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Findings to Forum Agenda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02006" y="651967"/>
            <a:ext cx="11188598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to answer in their own words, leaders converge on the same trend — a strong basis for shaping the Forum's discussion topics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346790" y="6476695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006" y="1665122"/>
            <a:ext cx="0" cy="960120"/>
          </a:xfrm>
          <a:prstGeom prst="line">
            <a:avLst/>
          </a:prstGeom>
          <a:noFill/>
          <a:ln w="50800">
            <a:solidFill>
              <a:srgbClr val="86BC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4886" y="1665122"/>
            <a:ext cx="1100571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being prompted or led there, leaders point to the same story on their own.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4886" y="2164385"/>
            <a:ext cx="1100571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of 100 respondents answered the open-ended “3 years ahead” question; the dominant unprompted theme is the convergence of GenAI, synthetic identity, and real-time payments  </a:t>
            </a:r>
            <a:pPr algn="l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[Q12]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006" y="2853842"/>
            <a:ext cx="11188598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9166" y="285384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&amp; Emerging AI Risk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433926" y="2853842"/>
            <a:ext cx="71195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[Keynote / demo on identity-facing channels as the leading AI-fraud vulnerability]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006" y="3493922"/>
            <a:ext cx="11188598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9166" y="349392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Information Sharing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433926" y="3493922"/>
            <a:ext cx="71195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[Panel: industry &amp; regulators on breaking down structural sharing barriers]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006" y="4134002"/>
            <a:ext cx="11188598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9166" y="413400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Fraud Risk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433926" y="4134002"/>
            <a:ext cx="71195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[Breakout: sector-specific third-party control leading practices]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006" y="4774082"/>
            <a:ext cx="11188598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9166" y="477408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Transformation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433926" y="4774082"/>
            <a:ext cx="71195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[Workshop: testing the maturity self-assessment against AI-vulnerability data]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006" y="5414162"/>
            <a:ext cx="11188598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9166" y="541416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89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Market Change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433926" y="5414162"/>
            <a:ext cx="71195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[Executive roundtable: preparing for the identity/authentication disruption]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457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800454" y="598932"/>
            <a:ext cx="82296" cy="82296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006" y="4215384"/>
            <a:ext cx="853135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
</a:t>
            </a:r>
            <a:endParaRPr lang="en-US" sz="2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
</a:t>
            </a:r>
            <a:endParaRPr lang="en-US" sz="2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| Practice]
</a:t>
            </a:r>
            <a:endParaRPr lang="en-US" sz="2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[email@deloitte.com]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72600" y="4215384"/>
            <a:ext cx="2322576" cy="1728216"/>
          </a:xfrm>
          <a:prstGeom prst="rect">
            <a:avLst/>
          </a:prstGeom>
          <a:solidFill>
            <a:srgbClr val="0B1C14"/>
          </a:solidFill>
          <a:ln w="9525">
            <a:solidFill>
              <a:srgbClr val="86BC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72600" y="4892040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370771" y="601675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Crime Forum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2026-09-09T21:49:22Z</dcterms:created>
  <dcterms:modified xsi:type="dcterms:W3CDTF">2026-09-09T21:49:22Z</dcterms:modified>
</cp:coreProperties>
</file>