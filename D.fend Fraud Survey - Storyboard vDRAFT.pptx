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7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8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9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0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F3F3F"/>
                </a:solidFill>
                <a:latin typeface="Arial"/>
              </a:rPr>
              <a:t>Greatest increase in deepfake vulnerability, past 12 months (rank top 3)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(placeholder)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Contact center / phone-based authentication</c:v>
                  </c:pt>
                  <c:pt idx="1">
                    <c:v>Digital onboarding, KYC &amp; identity verification</c:v>
                  </c:pt>
                  <c:pt idx="2">
                    <c:v>Claims, underwriting, lending, or application review</c:v>
                  </c:pt>
                  <c:pt idx="3">
                    <c:v>Payment, wire, or transaction approvals</c:v>
                  </c:pt>
                  <c:pt idx="4">
                    <c:v>Video meetings &amp; remote advisory interactions</c:v>
                  </c:pt>
                  <c:pt idx="5">
                    <c:v>Executive / employee / broker / advisor impersonation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F3F3F"/>
                </a:solidFill>
                <a:latin typeface="Arial"/>
              </a:rPr>
              <a:t>Key obstacles to managing deepfake-related fraud risk (select all that apply)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(placeholder)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Insufficient identity verification / prevention capability</c:v>
                  </c:pt>
                  <c:pt idx="1">
                    <c:v>Lack of fraud detection technology</c:v>
                  </c:pt>
                  <c:pt idx="2">
                    <c:v>Limited 3rd-party fraud intelligence / consortium data</c:v>
                  </c:pt>
                  <c:pt idx="3">
                    <c:v>Limited staff awareness &amp; training</c:v>
                  </c:pt>
                  <c:pt idx="4">
                    <c:v>Not currently a significant concern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F3F3F"/>
                </a:solidFill>
                <a:latin typeface="Arial"/>
              </a:rPr>
              <a:t>Biggest barriers to effective fraud information sharing (rank top 3)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(placeholder)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Legal, privacy, or regulatory constraints</c:v>
                  </c:pt>
                  <c:pt idx="1">
                    <c:v>Limited data standardization / poor quality / differing definitions</c:v>
                  </c:pt>
                  <c:pt idx="2">
                    <c:v>Insufficient budget or resource investment</c:v>
                  </c:pt>
                  <c:pt idx="3">
                    <c:v>Lack of external industry participation or collaboration</c:v>
                  </c:pt>
                  <c:pt idx="4">
                    <c:v>Unclear internal ownership or governance</c:v>
                  </c:pt>
                  <c:pt idx="5">
                    <c:v>Difficulty demonstrating ROI or business value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F3F3F"/>
                </a:solidFill>
                <a:latin typeface="Arial"/>
              </a:rPr>
              <a:t>Government action with greatest impact on information sharing (single select)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(placeholder)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Clearer legal / regulatory frameworks</c:v>
                  </c:pt>
                  <c:pt idx="1">
                    <c:v>Common data standards &amp; definitions</c:v>
                  </c:pt>
                  <c:pt idx="2">
                    <c:v>Centralized info-sharing platform / utility</c:v>
                  </c:pt>
                  <c:pt idx="3">
                    <c:v>Greater public-private collaboration</c:v>
                  </c:pt>
                  <c:pt idx="4">
                    <c:v>Funding or incentives for participation</c:v>
                  </c:pt>
                  <c:pt idx="5">
                    <c:v>Prioritized industry use cases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F3F3F"/>
                </a:solidFill>
                <a:latin typeface="Arial"/>
              </a:rPr>
              <a:t>Banking respondents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(placeholder)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Mortgage brokers</c:v>
                  </c:pt>
                  <c:pt idx="1">
                    <c:v>Merchants</c:v>
                  </c:pt>
                  <c:pt idx="2">
                    <c:v>Fintech partners</c:v>
                  </c:pt>
                  <c:pt idx="3">
                    <c:v>Dealers &amp; indirect lending partners</c:v>
                  </c:pt>
                  <c:pt idx="4">
                    <c:v>Business &amp; commercial clients</c:v>
                  </c:pt>
                  <c:pt idx="5">
                    <c:v>Appraisers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F3F3F"/>
                </a:solidFill>
                <a:latin typeface="Arial"/>
              </a:rPr>
              <a:t>Insurance respondents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(placeholder)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Brokers &amp; distribution partners</c:v>
                  </c:pt>
                  <c:pt idx="1">
                    <c:v>Health care providers</c:v>
                  </c:pt>
                  <c:pt idx="2">
                    <c:v>Automotive service providers</c:v>
                  </c:pt>
                  <c:pt idx="3">
                    <c:v>Legal reps &amp; paralegals</c:v>
                  </c:pt>
                  <c:pt idx="4">
                    <c:v>Third-party administrators (TPAs)</c:v>
                  </c:pt>
                  <c:pt idx="5">
                    <c:v>Property claims service providers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F3F3F"/>
                </a:solidFill>
                <a:latin typeface="Arial"/>
              </a:rPr>
              <a:t>Strategy expected to have the greatest impact on reducing third-party fraud risk (next 3 years)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(placeholder)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Strengthen onboarding verification &amp; due diligence</c:v>
                  </c:pt>
                  <c:pt idx="1">
                    <c:v>Enhance ongoing monitoring &amp; detection (surveillance, analytics, anomaly detection)</c:v>
                  </c:pt>
                  <c:pt idx="2">
                    <c:v>Increase info sharing &amp; intelligence across onboarding and monitoring</c:v>
                  </c:pt>
                  <c:pt idx="3">
                    <c:v>Strengthen third-party oversight &amp; accountability (review, standards, contracts)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F3F3F"/>
                </a:solidFill>
                <a:latin typeface="Arial"/>
              </a:rPr>
              <a:t>Current approach to scaling ops vs. expected transformation focus (next 3 years)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Today (current approach)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Hiring / workforce expansion</c:v>
                  </c:pt>
                  <c:pt idx="1">
                    <c:v>Outsourcing (e.g., contractors)</c:v>
                  </c:pt>
                  <c:pt idx="2">
                    <c:v>Automating workflows (investigations, case mgmt.)</c:v>
                  </c:pt>
                  <c:pt idx="3">
                    <c:v>Augmenting capacity with AI-enabled tools</c:v>
                  </c:pt>
                  <c:pt idx="4">
                    <c:v>Redesigning processes &amp; playbooks</c:v>
                  </c:pt>
                  <c:pt idx="5">
                    <c:v>Combination of approaches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Next 3 years (transformation focus)</c:v>
                </c:pt>
              </c:strCache>
            </c:strRef>
          </c:tx>
          <c:spPr>
            <a:solidFill>
              <a:srgbClr val="86BC2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Hiring / workforce expansion</c:v>
                  </c:pt>
                  <c:pt idx="1">
                    <c:v>Outsourcing (e.g., contractors)</c:v>
                  </c:pt>
                  <c:pt idx="2">
                    <c:v>Automating workflows (investigations, case mgmt.)</c:v>
                  </c:pt>
                  <c:pt idx="3">
                    <c:v>Augmenting capacity with AI-enabled tools</c:v>
                  </c:pt>
                  <c:pt idx="4">
                    <c:v>Redesigning processes &amp; playbooks</c:v>
                  </c:pt>
                  <c:pt idx="5">
                    <c:v>Combination of approaches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F3F3F"/>
                </a:solidFill>
                <a:latin typeface="Arial"/>
              </a:rPr>
              <a:t>How fraud-related investment is allocated relative to regulatory requirements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(placeholder)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Investing to meet upcoming / draft regulatory requirements</c:v>
                  </c:pt>
                  <c:pt idx="1">
                    <c:v>Investing to remediate existing compliance &amp; control gaps</c:v>
                  </c:pt>
                  <c:pt idx="2">
                    <c:v>Regulation is not a primary investment driver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F3F3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F3F3F"/>
                </a:solidFill>
                <a:latin typeface="Arial"/>
              </a:rPr>
              <a:t>Upcoming regulatory / market change with greatest expected impact (rank top 3)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(placeholder)</c:v>
                </c:pt>
              </c:strCache>
            </c:strRef>
          </c:tx>
          <c:spPr>
            <a:solidFill>
              <a:srgbClr val="D6D6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Payment innovation (real-time payments, stablecoins, agentic payments)</c:v>
                  </c:pt>
                  <c:pt idx="1">
                    <c:v>Liability and reimbursement changes</c:v>
                  </c:pt>
                  <c:pt idx="2">
                    <c:v>Open Banking / consumer-driven banking initiatives</c:v>
                  </c:pt>
                  <c:pt idx="3">
                    <c:v>AML-related modernization initiatives</c:v>
                  </c:pt>
                  <c:pt idx="4">
                    <c:v>Privacy, data-sharing, and AI governance requirements</c:v>
                  </c:pt>
                  <c:pt idx="5">
                    <c:v>Customer identity, authentication &amp; digital trust expectations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3F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2743200"/>
            <a:ext cx="4937760" cy="237744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5A5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20840" y="2688336"/>
            <a:ext cx="4937760" cy="237744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2633472"/>
            <a:ext cx="4937760" cy="237744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5A5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12280" y="2578608"/>
            <a:ext cx="4937760" cy="237744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8A8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2523744"/>
            <a:ext cx="4937760" cy="237744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5A5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03720" y="2468880"/>
            <a:ext cx="4937760" cy="237744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8A8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0" y="2414016"/>
            <a:ext cx="4937760" cy="237744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5A5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95160" y="2359152"/>
            <a:ext cx="4937760" cy="237744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8A8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2304288"/>
            <a:ext cx="4937760" cy="237744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5A5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86600" y="2249424"/>
            <a:ext cx="4937760" cy="237744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8A8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17830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 &amp; Insurance Fraud Landscape Survey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/ Findings Skeleton — DRAFT (pre-fielding)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0" y="5394960"/>
            <a:ext cx="4206240" cy="11887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5577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 Name]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 | Practice]
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[email@deloitte.com]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08415" y="6309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[Forum date — TBD]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survey builds the data-driven backbone for the D.fend Forum agenda and Deloitte's fraud thought leadership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084832" cy="4114800"/>
          </a:xfrm>
          <a:prstGeom prst="roundRect">
            <a:avLst>
              <a:gd name="adj" fmla="val 2632"/>
            </a:avLst>
          </a:prstGeom>
          <a:solidFill>
            <a:srgbClr val="F4F4F4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43584" y="2103120"/>
            <a:ext cx="512064" cy="512064"/>
          </a:xfrm>
          <a:prstGeom prst="ellipse">
            <a:avLst/>
          </a:prstGeom>
          <a:solidFill>
            <a:srgbClr val="86BC2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43584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6" dirty="0"/>
          </a:p>
        </p:txBody>
      </p:sp>
      <p:sp>
        <p:nvSpPr>
          <p:cNvPr id="8" name="Text 6"/>
          <p:cNvSpPr/>
          <p:nvPr/>
        </p:nvSpPr>
        <p:spPr>
          <a:xfrm>
            <a:off x="594360" y="283464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 the agenda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3337560"/>
            <a:ext cx="17556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session topics, keynotes, and breakout tracks for the D.fend Forum around the issues leaders rank highest.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06624" y="1828800"/>
            <a:ext cx="2084832" cy="4114800"/>
          </a:xfrm>
          <a:prstGeom prst="roundRect">
            <a:avLst>
              <a:gd name="adj" fmla="val 2632"/>
            </a:avLst>
          </a:prstGeom>
          <a:solidFill>
            <a:srgbClr val="F4F4F4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93008" y="2103120"/>
            <a:ext cx="512064" cy="512064"/>
          </a:xfrm>
          <a:prstGeom prst="ellipse">
            <a:avLst/>
          </a:prstGeom>
          <a:solidFill>
            <a:srgbClr val="86BC2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93008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56" dirty="0"/>
          </a:p>
        </p:txBody>
      </p:sp>
      <p:sp>
        <p:nvSpPr>
          <p:cNvPr id="13" name="Text 11"/>
          <p:cNvSpPr/>
          <p:nvPr/>
        </p:nvSpPr>
        <p:spPr>
          <a:xfrm>
            <a:off x="2843784" y="283464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 matters most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71216" y="3337560"/>
            <a:ext cx="17556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which fraud risks, controls gaps, and operating model choices senior leaders see as most pressing today.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56048" y="1828800"/>
            <a:ext cx="2084832" cy="4114800"/>
          </a:xfrm>
          <a:prstGeom prst="roundRect">
            <a:avLst>
              <a:gd name="adj" fmla="val 2632"/>
            </a:avLst>
          </a:prstGeom>
          <a:solidFill>
            <a:srgbClr val="F4F4F4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42432" y="2103120"/>
            <a:ext cx="512064" cy="512064"/>
          </a:xfrm>
          <a:prstGeom prst="ellipse">
            <a:avLst/>
          </a:prstGeom>
          <a:solidFill>
            <a:srgbClr val="86BC2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42432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56" dirty="0"/>
          </a:p>
        </p:txBody>
      </p:sp>
      <p:sp>
        <p:nvSpPr>
          <p:cNvPr id="18" name="Text 16"/>
          <p:cNvSpPr/>
          <p:nvPr/>
        </p:nvSpPr>
        <p:spPr>
          <a:xfrm>
            <a:off x="5093208" y="283464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practice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3337560"/>
            <a:ext cx="17556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how banks and insurers are resourcing, scaling, and governing fraud programs relative to peers.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05472" y="1828800"/>
            <a:ext cx="2084832" cy="4114800"/>
          </a:xfrm>
          <a:prstGeom prst="roundRect">
            <a:avLst>
              <a:gd name="adj" fmla="val 2632"/>
            </a:avLst>
          </a:prstGeom>
          <a:solidFill>
            <a:srgbClr val="F4F4F4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91856" y="2103120"/>
            <a:ext cx="512064" cy="512064"/>
          </a:xfrm>
          <a:prstGeom prst="ellipse">
            <a:avLst/>
          </a:prstGeom>
          <a:solidFill>
            <a:srgbClr val="86BC2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91856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56" dirty="0"/>
          </a:p>
        </p:txBody>
      </p:sp>
      <p:sp>
        <p:nvSpPr>
          <p:cNvPr id="23" name="Text 21"/>
          <p:cNvSpPr/>
          <p:nvPr/>
        </p:nvSpPr>
        <p:spPr>
          <a:xfrm>
            <a:off x="7342632" y="283464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executive discussion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70064" y="3337560"/>
            <a:ext cx="17556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talking points and provocations for keynote panels and executive roundtables at the Forum.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54896" y="1828800"/>
            <a:ext cx="2084832" cy="4114800"/>
          </a:xfrm>
          <a:prstGeom prst="roundRect">
            <a:avLst>
              <a:gd name="adj" fmla="val 2632"/>
            </a:avLst>
          </a:prstGeom>
          <a:solidFill>
            <a:srgbClr val="F4F4F4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41280" y="2103120"/>
            <a:ext cx="512064" cy="512064"/>
          </a:xfrm>
          <a:prstGeom prst="ellipse">
            <a:avLst/>
          </a:prstGeom>
          <a:solidFill>
            <a:srgbClr val="86BC2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241280" y="21031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56" dirty="0"/>
          </a:p>
        </p:txBody>
      </p:sp>
      <p:sp>
        <p:nvSpPr>
          <p:cNvPr id="28" name="Text 26"/>
          <p:cNvSpPr/>
          <p:nvPr/>
        </p:nvSpPr>
        <p:spPr>
          <a:xfrm>
            <a:off x="9592056" y="283464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Deloitte POVs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19488" y="3337560"/>
            <a:ext cx="1755648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data points into future Deloitte thought leadership and points of view on fraud risk management.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  |  Banking &amp; Insurance Fraud Landscape Survey  |  DRAFT STORYBOARD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3512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 senior fraud leaders across banking and insurance, sourced via GLG, will inform the survey findings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SAMPLE (n≈100)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965960" y="20116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respondents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182112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965960" y="3182112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respondents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352544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Sr. Mgr 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965960" y="4352544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seniority qualified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34840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org. types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34840" y="1920240"/>
            <a:ext cx="2331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bank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/ corporate bank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union / cooperative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service provider (PSP)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76288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org. types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76288" y="1920240"/>
            <a:ext cx="2331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&amp; casualty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&amp; health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Reinsurance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insurer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317736" y="1600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represented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17736" y="1920240"/>
            <a:ext cx="2331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risk &amp; governance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operations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strategy &amp; transformation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analytics / intelligence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Investigations Unit (SIU)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investigations unit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34840" y="484632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qualification: United States, Canada, United Kingdom, EU member states, Australia, Singapore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18727" y="256032"/>
            <a:ext cx="2761488" cy="292608"/>
          </a:xfrm>
          <a:prstGeom prst="roundRect">
            <a:avLst>
              <a:gd name="adj" fmla="val 18750"/>
            </a:avLst>
          </a:prstGeom>
          <a:solidFill>
            <a:srgbClr val="FDECD8"/>
          </a:solidFill>
          <a:ln w="9525">
            <a:solidFill>
              <a:srgbClr val="B25E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18727" y="256032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2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n &amp; BREAKDOWN PENDING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  |  Banking &amp; Insurance Fraud Landscape Survey  |  DRAFT STORYBOARD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512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[Governing insight to be finalized once fielding closes — headline takeaway across the five research themes]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084832" cy="4160520"/>
          </a:xfrm>
          <a:prstGeom prst="roundRect">
            <a:avLst>
              <a:gd name="adj" fmla="val 2632"/>
            </a:avLst>
          </a:prstGeom>
          <a:solidFill>
            <a:srgbClr val="F4F4F4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[XX%]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18105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leaders rank [deepfake-enabled fraud vector] as their top emerging vulnerability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5349240"/>
            <a:ext cx="1719072" cy="1828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44068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&amp; Emerging Risk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06624" y="1783080"/>
            <a:ext cx="2084832" cy="4160520"/>
          </a:xfrm>
          <a:prstGeom prst="roundRect">
            <a:avLst>
              <a:gd name="adj" fmla="val 2632"/>
            </a:avLst>
          </a:prstGeom>
          <a:solidFill>
            <a:srgbClr val="F4F4F4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8064" y="2011680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[XX%]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843784" y="2834640"/>
            <a:ext cx="18105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[legal / privacy constraints] as the leading barrier to fraud information sharing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89504" y="5349240"/>
            <a:ext cx="1719072" cy="1828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4" name="Text 12"/>
          <p:cNvSpPr/>
          <p:nvPr/>
        </p:nvSpPr>
        <p:spPr>
          <a:xfrm>
            <a:off x="2798064" y="544068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Sharing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56048" y="1783080"/>
            <a:ext cx="2084832" cy="4160520"/>
          </a:xfrm>
          <a:prstGeom prst="roundRect">
            <a:avLst>
              <a:gd name="adj" fmla="val 2632"/>
            </a:avLst>
          </a:prstGeom>
          <a:solidFill>
            <a:srgbClr val="F4F4F4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011680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[XX%]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093208" y="2834640"/>
            <a:ext cx="18105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[third-party category] as their greatest external fraud exposure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38928" y="5349240"/>
            <a:ext cx="1719072" cy="1828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9" name="Text 17"/>
          <p:cNvSpPr/>
          <p:nvPr/>
        </p:nvSpPr>
        <p:spPr>
          <a:xfrm>
            <a:off x="5047488" y="544068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Risk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05472" y="1783080"/>
            <a:ext cx="2084832" cy="4160520"/>
          </a:xfrm>
          <a:prstGeom prst="roundRect">
            <a:avLst>
              <a:gd name="adj" fmla="val 2632"/>
            </a:avLst>
          </a:prstGeom>
          <a:solidFill>
            <a:srgbClr val="F4F4F4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6912" y="2011680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[XX%]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342632" y="2834640"/>
            <a:ext cx="18105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prioritizing [AI-enabled augmentation] to scale fraud operations over the next 3 years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88352" y="5349240"/>
            <a:ext cx="1719072" cy="1828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4" name="Text 22"/>
          <p:cNvSpPr/>
          <p:nvPr/>
        </p:nvSpPr>
        <p:spPr>
          <a:xfrm>
            <a:off x="7296912" y="544068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454896" y="1783080"/>
            <a:ext cx="2084832" cy="4160520"/>
          </a:xfrm>
          <a:prstGeom prst="roundRect">
            <a:avLst>
              <a:gd name="adj" fmla="val 2632"/>
            </a:avLst>
          </a:prstGeom>
          <a:solidFill>
            <a:srgbClr val="F4F4F4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46336" y="2011680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[XX%]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592056" y="2834640"/>
            <a:ext cx="18105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regulatory change is [a primary / secondary] driver of fraud investment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637776" y="5349240"/>
            <a:ext cx="1719072" cy="1828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9" name="Text 27"/>
          <p:cNvSpPr/>
          <p:nvPr/>
        </p:nvSpPr>
        <p:spPr>
          <a:xfrm>
            <a:off x="9546336" y="544068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Market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430207" y="256032"/>
            <a:ext cx="2350008" cy="292608"/>
          </a:xfrm>
          <a:prstGeom prst="roundRect">
            <a:avLst>
              <a:gd name="adj" fmla="val 18750"/>
            </a:avLst>
          </a:prstGeom>
          <a:solidFill>
            <a:srgbClr val="FDECD8"/>
          </a:solidFill>
          <a:ln w="9525">
            <a:solidFill>
              <a:srgbClr val="B25E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30207" y="256032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2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PLACEHOLDER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  |  Banking &amp; Insurance Fraud Landscape Survey  |  DRAFT STORYBOARD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3512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Summary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86BC2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640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34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THEME 1 OF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Deepfake and Emerging Fraud Risks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58368" y="3337560"/>
            <a:ext cx="2926080" cy="1828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657600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organizations are experiencing the greatest deepfake-related vulnerabilities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preventing effective deepfake detection and mitigation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  |  Banking &amp; Insurance Fraud Landscape Survey  |  DRAFT STORYBOARD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512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 · DEEPFAKE VULNERABILITY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[Governing insight — which area shows the greatest rise in deepfake-enabled fraud vulnerability]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641848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shown at equal length — placeholder only. Replace with fielded % once tabulations are received.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452360" y="1691640"/>
            <a:ext cx="4251960" cy="3977640"/>
          </a:xfrm>
          <a:prstGeom prst="roundRect">
            <a:avLst>
              <a:gd name="adj" fmla="val 1379"/>
            </a:avLst>
          </a:prstGeom>
          <a:solidFill>
            <a:srgbClr val="F4F4F4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0" y="1874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notes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0" y="224028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Callout the #1 and #2 ranked areas with a supporting verbatim.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cut planned: Banking vs. Insurance.</a:t>
            </a:r>
            <a:endParaRPr lang="en-US" sz="10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pairing with an external stat (industry deepfake loss data) for context, as in prior Deloitte decks.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335463" y="256032"/>
            <a:ext cx="1444752" cy="292608"/>
          </a:xfrm>
          <a:prstGeom prst="roundRect">
            <a:avLst>
              <a:gd name="adj" fmla="val 18750"/>
            </a:avLst>
          </a:prstGeom>
          <a:solidFill>
            <a:srgbClr val="FDECD8"/>
          </a:solidFill>
          <a:ln w="9525">
            <a:solidFill>
              <a:srgbClr val="B25E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35463" y="25603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2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PENDING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  |  Banking &amp; Insurance Fraud Landscape Survey  |  DRAFT STORYBOARD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3512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 · OBSTACLES TO MITIGATION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[Governing insight — leading capability gap preventing effective deepfake detection]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11247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641848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shown at equal length — placeholder only. Replace with fielded % once tabulations are received.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0335463" y="256032"/>
            <a:ext cx="1444752" cy="292608"/>
          </a:xfrm>
          <a:prstGeom prst="roundRect">
            <a:avLst>
              <a:gd name="adj" fmla="val 18750"/>
            </a:avLst>
          </a:prstGeom>
          <a:solidFill>
            <a:srgbClr val="FDECD8"/>
          </a:solidFill>
          <a:ln w="9525">
            <a:solidFill>
              <a:srgbClr val="B25E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5463" y="25603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2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PENDING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  |  Banking &amp; Insurance Fraud Landscape Survey  |  DRAFT STORYBOARD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512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86BC2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640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34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THEME 2 OF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Information Sharing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58368" y="3337560"/>
            <a:ext cx="2926080" cy="1828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657600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Barriers preventing effective information sharing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and industry actions that could improve collaboration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appetite for greater data sharing and consortium models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  |  Banking &amp; Insurance Fraud Landscape Survey  |  DRAFT STORYBOARD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512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 · BARRIERS TO SHARING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[Governing insight — the leading constraint on effective fraud information sharing]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11247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641848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shown at equal length — placeholder only. Replace with fielded % once tabulations are received.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0335463" y="256032"/>
            <a:ext cx="1444752" cy="292608"/>
          </a:xfrm>
          <a:prstGeom prst="roundRect">
            <a:avLst>
              <a:gd name="adj" fmla="val 18750"/>
            </a:avLst>
          </a:prstGeom>
          <a:solidFill>
            <a:srgbClr val="FDECD8"/>
          </a:solidFill>
          <a:ln w="9525">
            <a:solidFill>
              <a:srgbClr val="B25E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5463" y="25603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2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PENDING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  |  Banking &amp; Insurance Fraud Landscape Survey  |  DRAFT STORYBOARD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512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 · PATH TO COLLABORATION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[Governing insight — the government/industry action leaders most want to see, and appetite for consortium models]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641848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shown at equal length — placeholder only. Replace with fielded % once tabulations are received.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452360" y="1691640"/>
            <a:ext cx="4251960" cy="3977640"/>
          </a:xfrm>
          <a:prstGeom prst="roundRect">
            <a:avLst>
              <a:gd name="adj" fmla="val 1379"/>
            </a:avLst>
          </a:prstGeom>
          <a:solidFill>
            <a:srgbClr val="F4F4F4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0" y="1874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Consortium appetite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0" y="21945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[X%]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680960" y="315468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respondents express appetite for greater data-sharing / consortium participation — [add qualitative context]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0335463" y="256032"/>
            <a:ext cx="1444752" cy="292608"/>
          </a:xfrm>
          <a:prstGeom prst="roundRect">
            <a:avLst>
              <a:gd name="adj" fmla="val 18750"/>
            </a:avLst>
          </a:prstGeom>
          <a:solidFill>
            <a:srgbClr val="FDECD8"/>
          </a:solidFill>
          <a:ln w="9525">
            <a:solidFill>
              <a:srgbClr val="B25E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35463" y="25603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2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PENDING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  |  Banking &amp; Insurance Fraud Landscape Survey  |  DRAFT STORYBOARD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3512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86BC2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640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34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THEME 3 OF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Third-Party Fraud Risk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58368" y="3337560"/>
            <a:ext cx="2926080" cy="1828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657600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third parties currently create the greatest fraud exposure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organizations plan to reduce third-party fraud risk in the future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  |  Banking &amp; Insurance Fraud Landscape Survey  |  DRAFT STORYBOARD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512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 · GREATEST EXPOSURE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[Governing insight — which third-party category poses the greatest fraud exposure, by sector]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691640"/>
          <a:ext cx="55778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5641848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shown at equal length — placeholder only. Replace with fielded % once tabulations are received.</a:t>
            </a:r>
            <a:endParaRPr lang="en-US" sz="9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172200" y="1691640"/>
          <a:ext cx="55778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172200" y="5641848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shown at equal length — placeholder only. Replace with fielded % once tabulations are received.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0335463" y="256032"/>
            <a:ext cx="1444752" cy="292608"/>
          </a:xfrm>
          <a:prstGeom prst="roundRect">
            <a:avLst>
              <a:gd name="adj" fmla="val 18750"/>
            </a:avLst>
          </a:prstGeom>
          <a:solidFill>
            <a:srgbClr val="FDECD8"/>
          </a:solidFill>
          <a:ln w="9525">
            <a:solidFill>
              <a:srgbClr val="B25E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335463" y="25603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2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PENDING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  |  Banking &amp; Insurance Fraud Landscape Survey  |  DRAFT STORYBOARD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3512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 · REDUCING EXPOSURE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[Governing insight — the strategy expected to most reduce third-party fraud risk over the next 3 years]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11247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641848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shown at equal length — placeholder only. Replace with fielded % once tabulations are received.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0335463" y="256032"/>
            <a:ext cx="1444752" cy="292608"/>
          </a:xfrm>
          <a:prstGeom prst="roundRect">
            <a:avLst>
              <a:gd name="adj" fmla="val 18750"/>
            </a:avLst>
          </a:prstGeom>
          <a:solidFill>
            <a:srgbClr val="FDECD8"/>
          </a:solidFill>
          <a:ln w="9525">
            <a:solidFill>
              <a:srgbClr val="B25E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5463" y="25603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2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PENDING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  |  Banking &amp; Insurance Fraud Landscape Survey  |  DRAFT STORYBOARD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512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86BC2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640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34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THEME 4 OF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Operating Model Transformation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58368" y="3337560"/>
            <a:ext cx="2926080" cy="1828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657600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organizations are scaling fraud operations today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of automation, AI, outsourcing, and process redesign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operational transformation priorities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  |  Banking &amp; Insurance Fraud Landscape Survey  |  DRAFT STORYBOARD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512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4 · PROGRAM MATURITY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[Governing insight — where the majority of organizations sit on the fraud program maturity curve]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084832" cy="1188720"/>
          </a:xfrm>
          <a:prstGeom prst="roundRect">
            <a:avLst>
              <a:gd name="adj" fmla="val 4615"/>
            </a:avLst>
          </a:prstGeom>
          <a:solidFill>
            <a:srgbClr val="D8E8B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6712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51176" y="2514600"/>
            <a:ext cx="109728" cy="274320"/>
          </a:xfrm>
          <a:prstGeom prst="rightArrow">
            <a:avLst/>
          </a:prstGeom>
          <a:solidFill>
            <a:srgbClr val="75757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38328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[XX%]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670048" y="2057400"/>
            <a:ext cx="2084832" cy="1188720"/>
          </a:xfrm>
          <a:prstGeom prst="roundRect">
            <a:avLst>
              <a:gd name="adj" fmla="val 4615"/>
            </a:avLst>
          </a:prstGeom>
          <a:solidFill>
            <a:srgbClr val="C3DD8F"/>
          </a:solidFill>
          <a:ln/>
        </p:spPr>
      </p:sp>
      <p:sp>
        <p:nvSpPr>
          <p:cNvPr id="11" name="Text 9"/>
          <p:cNvSpPr/>
          <p:nvPr/>
        </p:nvSpPr>
        <p:spPr>
          <a:xfrm>
            <a:off x="2670048" y="216712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15768" y="251460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by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64024" y="2514600"/>
            <a:ext cx="109728" cy="274320"/>
          </a:xfrm>
          <a:prstGeom prst="rightArrow">
            <a:avLst/>
          </a:prstGeom>
          <a:solidFill>
            <a:srgbClr val="757575"/>
          </a:solidFill>
          <a:ln/>
        </p:spPr>
      </p:sp>
      <p:sp>
        <p:nvSpPr>
          <p:cNvPr id="14" name="Text 12"/>
          <p:cNvSpPr/>
          <p:nvPr/>
        </p:nvSpPr>
        <p:spPr>
          <a:xfrm>
            <a:off x="2670048" y="338328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[XX%]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882896" y="2057400"/>
            <a:ext cx="2084832" cy="1188720"/>
          </a:xfrm>
          <a:prstGeom prst="roundRect">
            <a:avLst>
              <a:gd name="adj" fmla="val 4615"/>
            </a:avLst>
          </a:prstGeom>
          <a:solidFill>
            <a:srgbClr val="AACB5E"/>
          </a:solidFill>
          <a:ln/>
        </p:spPr>
      </p:sp>
      <p:sp>
        <p:nvSpPr>
          <p:cNvPr id="16" name="Text 14"/>
          <p:cNvSpPr/>
          <p:nvPr/>
        </p:nvSpPr>
        <p:spPr>
          <a:xfrm>
            <a:off x="4882896" y="216712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28616" y="251460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governance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76872" y="2514600"/>
            <a:ext cx="109728" cy="274320"/>
          </a:xfrm>
          <a:prstGeom prst="rightArrow">
            <a:avLst/>
          </a:prstGeom>
          <a:solidFill>
            <a:srgbClr val="757575"/>
          </a:solidFill>
          <a:ln/>
        </p:spPr>
      </p:sp>
      <p:sp>
        <p:nvSpPr>
          <p:cNvPr id="19" name="Text 17"/>
          <p:cNvSpPr/>
          <p:nvPr/>
        </p:nvSpPr>
        <p:spPr>
          <a:xfrm>
            <a:off x="4882896" y="338328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[XX%]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095744" y="2057400"/>
            <a:ext cx="2084832" cy="1188720"/>
          </a:xfrm>
          <a:prstGeom prst="roundRect">
            <a:avLst>
              <a:gd name="adj" fmla="val 4615"/>
            </a:avLst>
          </a:prstGeom>
          <a:solidFill>
            <a:srgbClr val="97BE3E"/>
          </a:solidFill>
          <a:ln/>
        </p:spPr>
      </p:sp>
      <p:sp>
        <p:nvSpPr>
          <p:cNvPr id="21" name="Text 19"/>
          <p:cNvSpPr/>
          <p:nvPr/>
        </p:nvSpPr>
        <p:spPr>
          <a:xfrm>
            <a:off x="7095744" y="216712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41464" y="251460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Data/analytics/ops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189720" y="2514600"/>
            <a:ext cx="109728" cy="274320"/>
          </a:xfrm>
          <a:prstGeom prst="rightArrow">
            <a:avLst/>
          </a:prstGeom>
          <a:solidFill>
            <a:srgbClr val="757575"/>
          </a:solidFill>
          <a:ln/>
        </p:spPr>
      </p:sp>
      <p:sp>
        <p:nvSpPr>
          <p:cNvPr id="24" name="Text 22"/>
          <p:cNvSpPr/>
          <p:nvPr/>
        </p:nvSpPr>
        <p:spPr>
          <a:xfrm>
            <a:off x="7095744" y="338328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[XX%]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308592" y="2057400"/>
            <a:ext cx="2084832" cy="1188720"/>
          </a:xfrm>
          <a:prstGeom prst="roundRect">
            <a:avLst>
              <a:gd name="adj" fmla="val 4615"/>
            </a:avLst>
          </a:prstGeom>
          <a:solidFill>
            <a:srgbClr val="86BC25"/>
          </a:solidFill>
          <a:ln/>
        </p:spPr>
      </p:sp>
      <p:sp>
        <p:nvSpPr>
          <p:cNvPr id="26" name="Text 24"/>
          <p:cNvSpPr/>
          <p:nvPr/>
        </p:nvSpPr>
        <p:spPr>
          <a:xfrm>
            <a:off x="9308592" y="2167128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54312" y="251460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collaboration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308592" y="338328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[XX%]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57200" y="4023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respondents self-identifying at each maturity stage — placeholder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48056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F4F4F4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5720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note: pair with a callout on the gap between current maturity and where leaders aspire to be in 3 years.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335463" y="256032"/>
            <a:ext cx="1444752" cy="292608"/>
          </a:xfrm>
          <a:prstGeom prst="roundRect">
            <a:avLst>
              <a:gd name="adj" fmla="val 18750"/>
            </a:avLst>
          </a:prstGeom>
          <a:solidFill>
            <a:srgbClr val="FDECD8"/>
          </a:solidFill>
          <a:ln w="9525">
            <a:solidFill>
              <a:srgbClr val="B25E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35463" y="25603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2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PENDING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  |  Banking &amp; Insurance Fraud Landscape Survey  |  DRAFT STORYBOARD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3512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4 · SCALING TODAY VS. TOMORROW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[Governing insight — how the mix of hiring, outsourcing, automation, and AI shifts over the next 3 years]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112471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76072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placeholder series — replace with fielded % for both questions once tabulated.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0335463" y="256032"/>
            <a:ext cx="1444752" cy="292608"/>
          </a:xfrm>
          <a:prstGeom prst="roundRect">
            <a:avLst>
              <a:gd name="adj" fmla="val 18750"/>
            </a:avLst>
          </a:prstGeom>
          <a:solidFill>
            <a:srgbClr val="FDECD8"/>
          </a:solidFill>
          <a:ln w="9525">
            <a:solidFill>
              <a:srgbClr val="B25E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5463" y="25603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2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PENDING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  |  Banking &amp; Insurance Fraud Landscape Survey  |  DRAFT STORYBOARD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512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4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86BC2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640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34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THEME 5 OF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and Market Change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58368" y="3337560"/>
            <a:ext cx="2926080" cy="1828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657600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regulatory requirements are influencing fraud investment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upcoming changes are expected to most significantly impact fraud programs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  |  Banking &amp; Insurance Fraud Landscape Survey  |  DRAFT STORYBOARD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512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5 · INVESTMENT DRIVERS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[Governing insight — whether regulation is primarily driving new investment or remediation spend]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66751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001768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shown at equal length — placeholder only. Replace with fielded % once tabulations are received.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452360" y="1691640"/>
            <a:ext cx="4251960" cy="3337560"/>
          </a:xfrm>
          <a:prstGeom prst="roundRect">
            <a:avLst>
              <a:gd name="adj" fmla="val 1644"/>
            </a:avLst>
          </a:prstGeom>
          <a:solidFill>
            <a:srgbClr val="F4F4F4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0" y="1874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for the Forum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0" y="224028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[Frame whether the room is playing offense (new capability) or defense (remediation) on regulation — use as a panel provocation.]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335463" y="256032"/>
            <a:ext cx="1444752" cy="292608"/>
          </a:xfrm>
          <a:prstGeom prst="roundRect">
            <a:avLst>
              <a:gd name="adj" fmla="val 18750"/>
            </a:avLst>
          </a:prstGeom>
          <a:solidFill>
            <a:srgbClr val="FDECD8"/>
          </a:solidFill>
          <a:ln w="9525">
            <a:solidFill>
              <a:srgbClr val="B25E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35463" y="25603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2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PENDING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  |  Banking &amp; Insurance Fraud Landscape Survey  |  DRAFT STORYBOARD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3512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5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5 · UPCOMING CHANGE WITH GREATEST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[Governing insight — the regulatory / market shift expected to reshape fraud programs most over the next 3 years]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11247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641848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shown at equal length — placeholder only. Replace with fielded % once tabulations are received.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0335463" y="256032"/>
            <a:ext cx="1444752" cy="292608"/>
          </a:xfrm>
          <a:prstGeom prst="roundRect">
            <a:avLst>
              <a:gd name="adj" fmla="val 18750"/>
            </a:avLst>
          </a:prstGeom>
          <a:solidFill>
            <a:srgbClr val="FDECD8"/>
          </a:solidFill>
          <a:ln w="9525">
            <a:solidFill>
              <a:srgbClr val="B25E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5463" y="256032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2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PENDING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  |  Banking &amp; Insurance Fraud Landscape Survey  |  DRAFT STORYBOARD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3512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5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06240"/>
            <a:ext cx="4572000" cy="201168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98448" y="4160520"/>
            <a:ext cx="4572000" cy="201168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225296" y="4114800"/>
            <a:ext cx="4572000" cy="201168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152144" y="4069080"/>
            <a:ext cx="4572000" cy="201168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078992" y="4023360"/>
            <a:ext cx="4572000" cy="201168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005840" y="3977640"/>
            <a:ext cx="4572000" cy="201168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932688" y="3931920"/>
            <a:ext cx="4572000" cy="201168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859536" y="3886200"/>
            <a:ext cx="4572000" cy="2011680"/>
          </a:xfrm>
          <a:prstGeom prst="arc">
            <a:avLst>
              <a:gd name="adj1" fmla="val 0"/>
              <a:gd name="adj2" fmla="val 10800000"/>
            </a:avLst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9456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i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 [ One impactful verbatim response, pulled from the open-ended question, goes here ] ”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 / ROLE], [ORGANIZATION TYPE]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 three years: greatest expected impact on fraud risk management (open-ended, coded by theme)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06279" y="256032"/>
            <a:ext cx="1773936" cy="292608"/>
          </a:xfrm>
          <a:prstGeom prst="roundRect">
            <a:avLst>
              <a:gd name="adj" fmla="val 18750"/>
            </a:avLst>
          </a:prstGeom>
          <a:solidFill>
            <a:srgbClr val="FDECD8"/>
          </a:solidFill>
          <a:ln w="9525">
            <a:solidFill>
              <a:srgbClr val="B25E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06279" y="25603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2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PENDING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  |  Banking &amp; Insurance Fraud Landscape Survey  |  DRAFT STORYBOARD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3512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1127729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FINDINGS TO FORUM 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12772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results will directly shape the D.fend – Fin Crime Forum's session design and executive discussion topics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4F4F4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865376"/>
            <a:ext cx="457200" cy="457200"/>
          </a:xfrm>
          <a:prstGeom prst="ellipse">
            <a:avLst/>
          </a:prstGeom>
          <a:solidFill>
            <a:srgbClr val="86BC2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73736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&amp; Emerging Risk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63440" y="173736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[Keynote / demo on highest-ranked vulnerability area]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706624"/>
            <a:ext cx="457200" cy="457200"/>
          </a:xfrm>
          <a:prstGeom prst="ellipse">
            <a:avLst/>
          </a:prstGeom>
          <a:solidFill>
            <a:srgbClr val="86BC2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578608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Sharing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63440" y="2578608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[Panel: industry &amp; regulators on breaking down sharing barriers]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41985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4F4F4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547872"/>
            <a:ext cx="457200" cy="457200"/>
          </a:xfrm>
          <a:prstGeom prst="ellipse">
            <a:avLst/>
          </a:prstGeom>
          <a:solidFill>
            <a:srgbClr val="86BC2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419856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Fraud Risk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63440" y="3419856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[Breakout: sector-specific third-party control leading practices]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261104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4389120"/>
            <a:ext cx="457200" cy="457200"/>
          </a:xfrm>
          <a:prstGeom prst="ellipse">
            <a:avLst/>
          </a:prstGeom>
          <a:solidFill>
            <a:srgbClr val="86BC2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4261104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Transformation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261104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[Workshop: benchmarking maturity &amp; AI-enabled scaling]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510235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4F4F4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5230368"/>
            <a:ext cx="457200" cy="457200"/>
          </a:xfrm>
          <a:prstGeom prst="ellipse">
            <a:avLst/>
          </a:prstGeom>
          <a:solidFill>
            <a:srgbClr val="86BC2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510235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Market Change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663440" y="5102352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[Executive roundtable: prioritizing investment under upcoming change]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– Fin Crime Forum  |  Banking &amp; Insurance Fraud Landscape Survey  |  DRAFT STORYBOARD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35121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Agenda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Deloitte's Financial Crime practice can help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724912" cy="2834640"/>
          </a:xfrm>
          <a:prstGeom prst="roundRect">
            <a:avLst>
              <a:gd name="adj" fmla="val 2013"/>
            </a:avLst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1581912" y="1554480"/>
            <a:ext cx="475488" cy="475488"/>
          </a:xfrm>
          <a:prstGeom prst="ellipse">
            <a:avLst/>
          </a:prstGeom>
          <a:solidFill>
            <a:srgbClr val="86BC2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81912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2" dirty="0"/>
          </a:p>
        </p:txBody>
      </p:sp>
      <p:sp>
        <p:nvSpPr>
          <p:cNvPr id="7" name="Text 5"/>
          <p:cNvSpPr/>
          <p:nvPr/>
        </p:nvSpPr>
        <p:spPr>
          <a:xfrm>
            <a:off x="566928" y="219456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leadership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2697480"/>
            <a:ext cx="23957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[Positioning statement on Deloitte's fraud strategy consulting leadership and domain experience.]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724912" cy="2834640"/>
          </a:xfrm>
          <a:prstGeom prst="roundRect">
            <a:avLst>
              <a:gd name="adj" fmla="val 2013"/>
            </a:avLst>
          </a:prstGeom>
          <a:solidFill>
            <a:srgbClr val="F4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4416552" y="1554480"/>
            <a:ext cx="475488" cy="475488"/>
          </a:xfrm>
          <a:prstGeom prst="ellipse">
            <a:avLst/>
          </a:prstGeom>
          <a:solidFill>
            <a:srgbClr val="86BC2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16552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2" dirty="0"/>
          </a:p>
        </p:txBody>
      </p:sp>
      <p:sp>
        <p:nvSpPr>
          <p:cNvPr id="12" name="Text 10"/>
          <p:cNvSpPr/>
          <p:nvPr/>
        </p:nvSpPr>
        <p:spPr>
          <a:xfrm>
            <a:off x="3401568" y="219456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Ecosystems &amp; alliances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56432" y="2697480"/>
            <a:ext cx="23957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[Reference relevant technology, industry, and research alliances that inform leading practice.]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724912" cy="2834640"/>
          </a:xfrm>
          <a:prstGeom prst="roundRect">
            <a:avLst>
              <a:gd name="adj" fmla="val 2013"/>
            </a:avLst>
          </a:prstGeom>
          <a:solidFill>
            <a:srgbClr val="F4F4F4"/>
          </a:solidFill>
          <a:ln/>
        </p:spPr>
      </p:sp>
      <p:sp>
        <p:nvSpPr>
          <p:cNvPr id="15" name="Shape 13"/>
          <p:cNvSpPr/>
          <p:nvPr/>
        </p:nvSpPr>
        <p:spPr>
          <a:xfrm>
            <a:off x="7251192" y="1554480"/>
            <a:ext cx="475488" cy="475488"/>
          </a:xfrm>
          <a:prstGeom prst="ellipse">
            <a:avLst/>
          </a:prstGeom>
          <a:solidFill>
            <a:srgbClr val="86BC2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51192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2" dirty="0"/>
          </a:p>
        </p:txBody>
      </p:sp>
      <p:sp>
        <p:nvSpPr>
          <p:cNvPr id="17" name="Text 15"/>
          <p:cNvSpPr/>
          <p:nvPr/>
        </p:nvSpPr>
        <p:spPr>
          <a:xfrm>
            <a:off x="6236208" y="219456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Quantification of fraud risk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91072" y="2697480"/>
            <a:ext cx="23957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[Reference data-driven / statistical approach to fraud risk quantification.]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61120" y="1325880"/>
            <a:ext cx="2724912" cy="2834640"/>
          </a:xfrm>
          <a:prstGeom prst="roundRect">
            <a:avLst>
              <a:gd name="adj" fmla="val 2013"/>
            </a:avLst>
          </a:prstGeom>
          <a:solidFill>
            <a:srgbClr val="F4F4F4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85832" y="1554480"/>
            <a:ext cx="475488" cy="475488"/>
          </a:xfrm>
          <a:prstGeom prst="ellipse">
            <a:avLst/>
          </a:prstGeom>
          <a:solidFill>
            <a:srgbClr val="86BC25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85832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2" dirty="0"/>
          </a:p>
        </p:txBody>
      </p:sp>
      <p:sp>
        <p:nvSpPr>
          <p:cNvPr id="22" name="Text 20"/>
          <p:cNvSpPr/>
          <p:nvPr/>
        </p:nvSpPr>
        <p:spPr>
          <a:xfrm>
            <a:off x="9070848" y="219456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solutions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25712" y="2697480"/>
            <a:ext cx="23957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[Reference analytics-led approach to solving clients' most complex fraud issues.]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86BC25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572000"/>
            <a:ext cx="10789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[Fielding closes → tabulation &amp; analysis → draft findings review with team → finalize Forum deck] — insert target dates once fielding timeline is confirmed.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 Name]  |  [Title | Practice]  |  [email@deloitte.com]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36873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2026-08-18T18:32:37Z</dcterms:created>
  <dcterms:modified xsi:type="dcterms:W3CDTF">2026-08-18T18:32:37Z</dcterms:modified>
</cp:coreProperties>
</file>