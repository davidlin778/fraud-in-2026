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3.xml" ContentType="application/vnd.openxmlformats-officedocument.theme+xml"/>
  <Override PartName="/ppt/slideLayouts/slideLayout28.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omments/modernComment_14A_99EAD49.xml" ContentType="application/vnd.ms-powerpoint.comments+xml"/>
  <Override PartName="/ppt/notesSlides/notesSlide8.xml" ContentType="application/vnd.openxmlformats-officedocument.presentationml.notesSlide+xml"/>
  <Override PartName="/ppt/notesSlides/notesSlide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Override PartName="/ppt/charts/chart48.xml" ContentType="application/vnd.openxmlformats-officedocument.drawingml.chart+xml"/>
  <Override PartName="/ppt/charts/chart49.xml" ContentType="application/vnd.openxmlformats-officedocument.drawingml.chart+xml"/>
  <Override PartName="/ppt/charts/chart50.xml" ContentType="application/vnd.openxmlformats-officedocument.drawingml.chart+xml"/>
  <Override PartName="/ppt/charts/chart51.xml" ContentType="application/vnd.openxmlformats-officedocument.drawingml.chart+xml"/>
  <Override PartName="/ppt/charts/chart52.xml" ContentType="application/vnd.openxmlformats-officedocument.drawingml.chart+xml"/>
  <Override PartName="/ppt/charts/chart53.xml" ContentType="application/vnd.openxmlformats-officedocument.drawingml.chart+xml"/>
  <Override PartName="/ppt/charts/chart54.xml" ContentType="application/vnd.openxmlformats-officedocument.drawingml.chart+xml"/>
  <Override PartName="/ppt/charts/chart55.xml" ContentType="application/vnd.openxmlformats-officedocument.drawingml.chart+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8" r:id="rId1"/>
    <p:sldMasterId id="2147483680" r:id="rId2"/>
    <p:sldMasterId id="2147483686" r:id="rId3"/>
    <p:sldMasterId id="2147483698" r:id="rId4"/>
  </p:sldMasterIdLst>
  <p:notesMasterIdLst>
    <p:notesMasterId r:id="rId55"/>
  </p:notesMasterIdLst>
  <p:sldIdLst>
    <p:sldId id="2147483631" r:id="rId5"/>
    <p:sldId id="326" r:id="rId6"/>
    <p:sldId id="329" r:id="rId7"/>
    <p:sldId id="2147483632" r:id="rId8"/>
    <p:sldId id="323" r:id="rId9"/>
    <p:sldId id="315" r:id="rId10"/>
    <p:sldId id="316" r:id="rId11"/>
    <p:sldId id="317" r:id="rId12"/>
    <p:sldId id="330" r:id="rId13"/>
    <p:sldId id="293" r:id="rId14"/>
    <p:sldId id="327" r:id="rId15"/>
    <p:sldId id="319" r:id="rId16"/>
    <p:sldId id="332" r:id="rId17"/>
    <p:sldId id="9101" r:id="rId61"/>
    <p:sldId id="9102" r:id="rId62"/>
    <p:sldId id="9103" r:id="rId63"/>
    <p:sldId id="9104" r:id="rId64"/>
    <p:sldId id="9105" r:id="rId65"/>
    <p:sldId id="9106" r:id="rId66"/>
    <p:sldId id="9107" r:id="rId6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EA3D190-9A50-4EAB-B243-E24A11598C44}">
          <p14:sldIdLst>
            <p14:sldId id="2147483631"/>
            <p14:sldId id="326"/>
            <p14:sldId id="329"/>
            <p14:sldId id="2147483632"/>
            <p14:sldId id="323"/>
            <p14:sldId id="315"/>
            <p14:sldId id="316"/>
            <p14:sldId id="317"/>
            <p14:sldId id="330"/>
            <p14:sldId id="293"/>
            <p14:sldId id="327"/>
            <p14:sldId id="319"/>
            <p14:sldId id="332"/>
            <p14:sldId id="301"/>
            <p14:sldId id="258"/>
            <p14:sldId id="2147483641"/>
            <p14:sldId id="2147483642"/>
            <p14:sldId id="2147483643"/>
            <p14:sldId id="2147483644"/>
            <p14:sldId id="259"/>
            <p14:sldId id="260"/>
            <p14:sldId id="261"/>
            <p14:sldId id="262"/>
            <p14:sldId id="263"/>
            <p14:sldId id="265"/>
            <p14:sldId id="2147483645"/>
            <p14:sldId id="295"/>
            <p14:sldId id="264"/>
            <p14:sldId id="275"/>
            <p14:sldId id="318"/>
            <p14:sldId id="276"/>
            <p14:sldId id="277"/>
            <p14:sldId id="307"/>
            <p14:sldId id="280"/>
            <p14:sldId id="313"/>
            <p14:sldId id="282"/>
            <p14:sldId id="287"/>
            <p14:sldId id="281"/>
            <p14:sldId id="288"/>
            <p14:sldId id="289"/>
            <p14:sldId id="290"/>
            <p14:sldId id="291"/>
            <p14:sldId id="328"/>
            <p14:sldId id="294"/>
            <p14:sldId id="278"/>
          </p14:sldIdLst>
        </p14:section>
        <p14:section name="Example Appendicies from another survey" id="{43EF1A97-A2C0-439A-9F69-C944959AF1A2}">
          <p14:sldIdLst>
            <p14:sldId id="2147483612"/>
            <p14:sldId id="270"/>
            <p14:sldId id="271"/>
            <p14:sldId id="272"/>
            <p14:sldId id="2147483616"/>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296EFA7-0D1E-03B8-0ACB-0E639503A15F}" name="Bruce, Riley" initials="RB" userId="S::ribruce@deloitte.ca::fd24e7a2-1291-4fd2-836d-943cf2436b48" providerId="AD"/>
  <p188:author id="{41239FBB-7C6A-8AFA-2D62-F020A8490F80}" name="Lin, David" initials="DL" userId="S::davlin@deloitte.ca::ce1f04b3-c96a-433f-995d-d2a58be28702" providerId="AD"/>
  <p188:author id="{4D942AE9-6EA2-E243-FB88-4244E123F471}" name="Luh, Kevin" initials="KL" userId="S::kluh@deloitte.ca::b0cf5418-ad74-4820-a41c-cc0e018a4c6e"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826" autoAdjust="0"/>
    <p:restoredTop sz="69649" autoAdjust="0"/>
  </p:normalViewPr>
  <p:slideViewPr>
    <p:cSldViewPr snapToGrid="0">
      <p:cViewPr varScale="1">
        <p:scale>
          <a:sx n="77" d="100"/>
          <a:sy n="77" d="100"/>
        </p:scale>
        <p:origin x="1290" y="84"/>
      </p:cViewPr>
      <p:guideLst/>
    </p:cSldViewPr>
  </p:slideViewPr>
  <p:notesTextViewPr>
    <p:cViewPr>
      <p:scale>
        <a:sx n="1" d="1"/>
        <a:sy n="1" d="1"/>
      </p:scale>
      <p:origin x="0" y="0"/>
    </p:cViewPr>
  </p:notesTextViewPr>
  <p:gridSpacing cx="72008" cy="72008"/>
</p:viewPr>
</file>

<file path=ppt/_rels/presentation.xml.rels><?xml version="1.0" encoding="utf-8"?><Relationships xmlns="http://schemas.openxmlformats.org/package/2006/relationships"><Relationship Id="rId13" Type="http://schemas.openxmlformats.org/officeDocument/2006/relationships/slide" Target="slides/slide9.xml"/><Relationship Id="rId55" Type="http://schemas.openxmlformats.org/officeDocument/2006/relationships/notesMaster" Target="notesMasters/notesMaster1.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11" Type="http://schemas.openxmlformats.org/officeDocument/2006/relationships/slide" Target="slides/slide7.xml"/><Relationship Id="rId58" Type="http://schemas.openxmlformats.org/officeDocument/2006/relationships/theme" Target="theme/theme1.xml"/><Relationship Id="rId5" Type="http://schemas.openxmlformats.org/officeDocument/2006/relationships/slide" Target="slides/slide1.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56"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5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57" Type="http://schemas.openxmlformats.org/officeDocument/2006/relationships/viewProps" Target="viewProps.xml"/><Relationship Id="rId10" Type="http://schemas.openxmlformats.org/officeDocument/2006/relationships/slide" Target="slides/slide6.xml"/><Relationship Id="rId60" Type="http://schemas.microsoft.com/office/2018/10/relationships/authors" Target="authors.xml"/><Relationship Id="rId61" Type="http://schemas.openxmlformats.org/officeDocument/2006/relationships/slide" Target="slides/slide51.xml"/><Relationship Id="rId62" Type="http://schemas.openxmlformats.org/officeDocument/2006/relationships/slide" Target="slides/slide52.xml"/><Relationship Id="rId63" Type="http://schemas.openxmlformats.org/officeDocument/2006/relationships/slide" Target="slides/slide53.xml"/><Relationship Id="rId64" Type="http://schemas.openxmlformats.org/officeDocument/2006/relationships/slide" Target="slides/slide54.xml"/><Relationship Id="rId65" Type="http://schemas.openxmlformats.org/officeDocument/2006/relationships/slide" Target="slides/slide55.xml"/><Relationship Id="rId66" Type="http://schemas.openxmlformats.org/officeDocument/2006/relationships/slide" Target="slides/slide56.xml"/><Relationship Id="rId67" Type="http://schemas.openxmlformats.org/officeDocument/2006/relationships/slide" Target="slides/slide57.xml"/></Relationships>
</file>

<file path=ppt/charts/_rels/chart48.xml.rels><?xml version="1.0" encoding="UTF-8" standalone="yes"?><Relationships xmlns="http://schemas.openxmlformats.org/package/2006/relationships"><Relationship Id="rId1" Type="http://schemas.openxmlformats.org/officeDocument/2006/relationships/package" Target="../embeddings/Microsoft_Excel_Worksheet41.xlsx"/></Relationships>
</file>

<file path=ppt/charts/_rels/chart49.xml.rels><?xml version="1.0" encoding="UTF-8" standalone="yes"?><Relationships xmlns="http://schemas.openxmlformats.org/package/2006/relationships"><Relationship Id="rId1" Type="http://schemas.openxmlformats.org/officeDocument/2006/relationships/package" Target="../embeddings/Microsoft_Excel_Worksheet42.xlsx"/></Relationships>
</file>

<file path=ppt/charts/_rels/chart50.xml.rels><?xml version="1.0" encoding="UTF-8" standalone="yes"?><Relationships xmlns="http://schemas.openxmlformats.org/package/2006/relationships"><Relationship Id="rId1" Type="http://schemas.openxmlformats.org/officeDocument/2006/relationships/package" Target="../embeddings/Microsoft_Excel_Worksheet43.xlsx"/></Relationships>
</file>

<file path=ppt/charts/_rels/chart51.xml.rels><?xml version="1.0" encoding="UTF-8" standalone="yes"?><Relationships xmlns="http://schemas.openxmlformats.org/package/2006/relationships"><Relationship Id="rId1" Type="http://schemas.openxmlformats.org/officeDocument/2006/relationships/package" Target="../embeddings/Microsoft_Excel_Worksheet44.xlsx"/></Relationships>
</file>

<file path=ppt/charts/_rels/chart52.xml.rels><?xml version="1.0" encoding="UTF-8" standalone="yes"?><Relationships xmlns="http://schemas.openxmlformats.org/package/2006/relationships"><Relationship Id="rId1" Type="http://schemas.openxmlformats.org/officeDocument/2006/relationships/package" Target="../embeddings/Microsoft_Excel_Worksheet45.xlsx"/></Relationships>
</file>

<file path=ppt/charts/_rels/chart53.xml.rels><?xml version="1.0" encoding="UTF-8" standalone="yes"?><Relationships xmlns="http://schemas.openxmlformats.org/package/2006/relationships"><Relationship Id="rId1" Type="http://schemas.openxmlformats.org/officeDocument/2006/relationships/package" Target="../embeddings/Microsoft_Excel_Worksheet46.xlsx"/></Relationships>
</file>

<file path=ppt/charts/_rels/chart54.xml.rels><?xml version="1.0" encoding="UTF-8" standalone="yes"?><Relationships xmlns="http://schemas.openxmlformats.org/package/2006/relationships"><Relationship Id="rId1" Type="http://schemas.openxmlformats.org/officeDocument/2006/relationships/package" Target="../embeddings/Microsoft_Excel_Worksheet47.xlsx"/></Relationships>
</file>

<file path=ppt/charts/_rels/chart55.xml.rels><?xml version="1.0" encoding="UTF-8" standalone="yes"?><Relationships xmlns="http://schemas.openxmlformats.org/package/2006/relationships"><Relationship Id="rId1" Type="http://schemas.openxmlformats.org/officeDocument/2006/relationships/package" Target="../embeddings/Microsoft_Excel_Worksheet48.xlsx"/></Relationships>
</file>

<file path=ppt/charts/chart4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series</c:v>
                </c:pt>
              </c:strCache>
            </c:strRef>
          </c:tx>
          <c:spPr>
            <a:solidFill>
              <a:srgbClr val="86BC25"/>
            </a:solidFill>
            <a:effectLst/>
          </c:spPr>
          <c:invertIfNegative val="0"/>
          <c:dLbls>
            <c:numFmt formatCode="0&quot;%&quot;"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Onboarding &amp; KYC</c:v>
                  </c:pt>
                  <c:pt idx="1">
                    <c:v>Payment/txn approvals</c:v>
                  </c:pt>
                  <c:pt idx="2">
                    <c:v>Claims &amp; underwriting</c:v>
                  </c:pt>
                  <c:pt idx="3">
                    <c:v>Contact center auth</c:v>
                  </c:pt>
                  <c:pt idx="4">
                    <c:v>Exec/employee impersonation</c:v>
                  </c:pt>
                  <c:pt idx="5">
                    <c:v>Video meetings</c:v>
                  </c:pt>
                </c:lvl>
              </c:multiLvlStrCache>
            </c:multiLvlStrRef>
          </c:cat>
          <c:val>
            <c:numRef>
              <c:f>Sheet1!$B$2:$B$7</c:f>
              <c:numCache>
                <c:formatCode>General</c:formatCode>
                <c:ptCount val="6"/>
                <c:pt idx="0">
                  <c:v>70</c:v>
                </c:pt>
                <c:pt idx="1">
                  <c:v>64</c:v>
                </c:pt>
                <c:pt idx="2">
                  <c:v>53</c:v>
                </c:pt>
                <c:pt idx="3">
                  <c:v>52</c:v>
                </c:pt>
                <c:pt idx="4">
                  <c:v>43</c:v>
                </c:pt>
                <c:pt idx="5">
                  <c:v>15</c:v>
                </c:pt>
              </c:numCache>
            </c:numRef>
          </c:val>
        </c:ser>
        <c:dLbls>
          <c:numFmt formatCode="0&quot;%&quot;"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90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4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series</c:v>
                </c:pt>
              </c:strCache>
            </c:strRef>
          </c:tx>
          <c:spPr>
            <a:solidFill>
              <a:srgbClr val="046A38"/>
            </a:solidFill>
            <a:effectLst/>
          </c:spPr>
          <c:invertIfNegative val="0"/>
          <c:dLbls>
            <c:numFmt formatCode="0&quot;%&quot;"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Staff training</c:v>
                  </c:pt>
                  <c:pt idx="1">
                    <c:v>ID verification</c:v>
                  </c:pt>
                  <c:pt idx="2">
                    <c:v>Detection tech</c:v>
                  </c:pt>
                  <c:pt idx="3">
                    <c:v>3rd-party intel</c:v>
                  </c:pt>
                </c:lvl>
              </c:multiLvlStrCache>
            </c:multiLvlStrRef>
          </c:cat>
          <c:val>
            <c:numRef>
              <c:f>Sheet1!$B$2:$B$5</c:f>
              <c:numCache>
                <c:formatCode>General</c:formatCode>
                <c:ptCount val="4"/>
                <c:pt idx="0">
                  <c:v>53</c:v>
                </c:pt>
                <c:pt idx="1">
                  <c:v>50</c:v>
                </c:pt>
                <c:pt idx="2">
                  <c:v>46</c:v>
                </c:pt>
                <c:pt idx="3">
                  <c:v>43</c:v>
                </c:pt>
              </c:numCache>
            </c:numRef>
          </c:val>
        </c:ser>
        <c:dLbls>
          <c:numFmt formatCode="0&quot;%&quot;"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90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5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series</c:v>
                </c:pt>
              </c:strCache>
            </c:strRef>
          </c:tx>
          <c:spPr>
            <a:solidFill>
              <a:srgbClr val="86BC25"/>
            </a:solidFill>
            <a:effectLst/>
          </c:spPr>
          <c:invertIfNegative val="0"/>
          <c:dLbls>
            <c:numFmt formatCode="0&quot;%&quot;"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Data quality</c:v>
                  </c:pt>
                  <c:pt idx="1">
                    <c:v>Legal/regulatory</c:v>
                  </c:pt>
                  <c:pt idx="2">
                    <c:v>External particip.</c:v>
                  </c:pt>
                  <c:pt idx="3">
                    <c:v>Budget</c:v>
                  </c:pt>
                  <c:pt idx="4">
                    <c:v>ROI</c:v>
                  </c:pt>
                  <c:pt idx="5">
                    <c:v>Ownership</c:v>
                  </c:pt>
                </c:lvl>
              </c:multiLvlStrCache>
            </c:multiLvlStrRef>
          </c:cat>
          <c:val>
            <c:numRef>
              <c:f>Sheet1!$B$2:$B$7</c:f>
              <c:numCache>
                <c:formatCode>General</c:formatCode>
                <c:ptCount val="6"/>
                <c:pt idx="0">
                  <c:v>77</c:v>
                </c:pt>
                <c:pt idx="1">
                  <c:v>73</c:v>
                </c:pt>
                <c:pt idx="2">
                  <c:v>60</c:v>
                </c:pt>
                <c:pt idx="3">
                  <c:v>36</c:v>
                </c:pt>
                <c:pt idx="4">
                  <c:v>27</c:v>
                </c:pt>
                <c:pt idx="5">
                  <c:v>26</c:v>
                </c:pt>
              </c:numCache>
            </c:numRef>
          </c:val>
        </c:ser>
        <c:dLbls>
          <c:numFmt formatCode="0&quot;%&quot;"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90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5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series</c:v>
                </c:pt>
              </c:strCache>
            </c:strRef>
          </c:tx>
          <c:spPr>
            <a:solidFill>
              <a:srgbClr val="046A38"/>
            </a:solidFill>
            <a:effectLst/>
          </c:spPr>
          <c:invertIfNegative val="0"/>
          <c:dLbls>
            <c:numFmt formatCode="0&quot;%&quot;"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Platform/utility</c:v>
                  </c:pt>
                  <c:pt idx="1">
                    <c:v>Legal/regulatory</c:v>
                  </c:pt>
                  <c:pt idx="2">
                    <c:v>Data standards</c:v>
                  </c:pt>
                  <c:pt idx="3">
                    <c:v>Public-private collab.</c:v>
                  </c:pt>
                  <c:pt idx="4">
                    <c:v>Use cases</c:v>
                  </c:pt>
                  <c:pt idx="5">
                    <c:v>Funding</c:v>
                  </c:pt>
                </c:lvl>
              </c:multiLvlStrCache>
            </c:multiLvlStrRef>
          </c:cat>
          <c:val>
            <c:numRef>
              <c:f>Sheet1!$B$2:$B$7</c:f>
              <c:numCache>
                <c:formatCode>General</c:formatCode>
                <c:ptCount val="6"/>
                <c:pt idx="0">
                  <c:v>35</c:v>
                </c:pt>
                <c:pt idx="1">
                  <c:v>26</c:v>
                </c:pt>
                <c:pt idx="2">
                  <c:v>14</c:v>
                </c:pt>
                <c:pt idx="3">
                  <c:v>13</c:v>
                </c:pt>
                <c:pt idx="4">
                  <c:v>9</c:v>
                </c:pt>
                <c:pt idx="5">
                  <c:v>3</c:v>
                </c:pt>
              </c:numCache>
            </c:numRef>
          </c:val>
        </c:ser>
        <c:dLbls>
          <c:numFmt formatCode="0&quot;%&quot;"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90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5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series</c:v>
                </c:pt>
              </c:strCache>
            </c:strRef>
          </c:tx>
          <c:spPr>
            <a:solidFill>
              <a:srgbClr val="86BC25"/>
            </a:solidFill>
            <a:effectLst/>
          </c:spPr>
          <c:invertIfNegative val="0"/>
          <c:dLbls>
            <c:numFmt formatCode="0&quot;%&quot;"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cat>
            <c:multiLvlStrRef>
              <c:f>Sheet1!$A$2:$A$6</c:f>
              <c:multiLvlStrCache>
                <c:ptCount val="5"/>
                <c:lvl>
                  <c:pt idx="0">
                    <c:v>Reactive</c:v>
                  </c:pt>
                  <c:pt idx="1">
                    <c:v>Foundational</c:v>
                  </c:pt>
                  <c:pt idx="2">
                    <c:v>Managed</c:v>
                  </c:pt>
                  <c:pt idx="3">
                    <c:v>Integrated</c:v>
                  </c:pt>
                  <c:pt idx="4">
                    <c:v>Advanced</c:v>
                  </c:pt>
                </c:lvl>
              </c:multiLvlStrCache>
            </c:multiLvlStrRef>
          </c:cat>
          <c:val>
            <c:numRef>
              <c:f>Sheet1!$B$2:$B$6</c:f>
              <c:numCache>
                <c:formatCode>General</c:formatCode>
                <c:ptCount val="5"/>
                <c:pt idx="0">
                  <c:v>1</c:v>
                </c:pt>
                <c:pt idx="1">
                  <c:v>5</c:v>
                </c:pt>
                <c:pt idx="2">
                  <c:v>12</c:v>
                </c:pt>
                <c:pt idx="3">
                  <c:v>44</c:v>
                </c:pt>
                <c:pt idx="4">
                  <c:v>38</c:v>
                </c:pt>
              </c:numCache>
            </c:numRef>
          </c:val>
        </c:ser>
        <c:dLbls>
          <c:numFmt formatCode="0&quot;%&quot;"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90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5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Today</c:v>
                </c:pt>
              </c:strCache>
            </c:strRef>
          </c:tx>
          <c:spPr>
            <a:solidFill>
              <a:srgbClr val="86BC25"/>
            </a:solidFill>
            <a:effectLst/>
          </c:spPr>
          <c:invertIfNegative val="0"/>
          <c:dLbls>
            <c:numFmt formatCode="0&quot;%&quot;" sourceLinked="0"/>
            <c:txPr>
              <a:bodyPr/>
              <a:lstStyle/>
              <a:p>
                <a:pPr>
                  <a:defRPr b="0" i="0" strike="noStrike" sz="75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AI tools</c:v>
                  </c:pt>
                  <c:pt idx="1">
                    <c:v>Automate</c:v>
                  </c:pt>
                  <c:pt idx="2">
                    <c:v>Redesign</c:v>
                  </c:pt>
                  <c:pt idx="3">
                    <c:v>Outsource</c:v>
                  </c:pt>
                  <c:pt idx="4">
                    <c:v>Hire</c:v>
                  </c:pt>
                  <c:pt idx="5">
                    <c:v>Combo</c:v>
                  </c:pt>
                </c:lvl>
              </c:multiLvlStrCache>
            </c:multiLvlStrRef>
          </c:cat>
          <c:val>
            <c:numRef>
              <c:f>Sheet1!$B$2:$B$7</c:f>
              <c:numCache>
                <c:formatCode>General</c:formatCode>
                <c:ptCount val="6"/>
                <c:pt idx="0">
                  <c:v>34</c:v>
                </c:pt>
                <c:pt idx="1">
                  <c:v>29</c:v>
                </c:pt>
                <c:pt idx="2">
                  <c:v>10</c:v>
                </c:pt>
                <c:pt idx="3">
                  <c:v>10</c:v>
                </c:pt>
                <c:pt idx="4">
                  <c:v>10</c:v>
                </c:pt>
                <c:pt idx="5">
                  <c:v>7</c:v>
                </c:pt>
              </c:numCache>
            </c:numRef>
          </c:val>
        </c:ser>
        <c:ser>
          <c:idx val="1"/>
          <c:order val="1"/>
          <c:tx>
            <c:strRef>
              <c:f>Sheet1!$C$1</c:f>
              <c:strCache>
                <c:ptCount val="1"/>
                <c:pt idx="0">
                  <c:v>3-Year Focus</c:v>
                </c:pt>
              </c:strCache>
            </c:strRef>
          </c:tx>
          <c:spPr>
            <a:solidFill>
              <a:srgbClr val="046A38"/>
            </a:solidFill>
            <a:effectLst/>
          </c:spPr>
          <c:invertIfNegative val="0"/>
          <c:dLbls>
            <c:numFmt formatCode="0&quot;%&quot;" sourceLinked="0"/>
            <c:txPr>
              <a:bodyPr/>
              <a:lstStyle/>
              <a:p>
                <a:pPr>
                  <a:defRPr b="0" i="0" strike="noStrike" sz="75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AI tools</c:v>
                  </c:pt>
                  <c:pt idx="1">
                    <c:v>Automate</c:v>
                  </c:pt>
                  <c:pt idx="2">
                    <c:v>Redesign</c:v>
                  </c:pt>
                  <c:pt idx="3">
                    <c:v>Outsource</c:v>
                  </c:pt>
                  <c:pt idx="4">
                    <c:v>Hire</c:v>
                  </c:pt>
                  <c:pt idx="5">
                    <c:v>Combo</c:v>
                  </c:pt>
                </c:lvl>
              </c:multiLvlStrCache>
            </c:multiLvlStrRef>
          </c:cat>
          <c:val>
            <c:numRef>
              <c:f>Sheet1!$C$2:$C$7</c:f>
              <c:numCache>
                <c:formatCode>General</c:formatCode>
                <c:ptCount val="6"/>
                <c:pt idx="0">
                  <c:v>41</c:v>
                </c:pt>
                <c:pt idx="1">
                  <c:v>27</c:v>
                </c:pt>
                <c:pt idx="2">
                  <c:v>18</c:v>
                </c:pt>
                <c:pt idx="3">
                  <c:v>7</c:v>
                </c:pt>
                <c:pt idx="4">
                  <c:v>5</c:v>
                </c:pt>
                <c:pt idx="5">
                  <c:v>2</c:v>
                </c:pt>
              </c:numCache>
            </c:numRef>
          </c:val>
        </c:ser>
        <c:dLbls>
          <c:numFmt formatCode="0&quot;%&quot;" sourceLinked="0"/>
          <c:txPr>
            <a:bodyPr/>
            <a:lstStyle/>
            <a:p>
              <a:pPr>
                <a:defRPr b="0" i="0" strike="noStrike" sz="75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90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800">      </a:defRPr>
          </a:pPr>
          <a:endParaRPr lang="en-US"/>
        </a:p>
      </c:txPr>
    </c:legend>
    <c:plotVisOnly val="1"/>
    <c:dispBlanksAs val="span"/>
  </c:chart>
  <c:spPr>
    <a:noFill/>
    <a:ln>
      <a:noFill/>
    </a:ln>
    <a:effectLst/>
  </c:spPr>
  <c:externalData r:id="rId1">
    <c:autoUpdate val="0"/>
  </c:externalData>
</c:chartSpace>
</file>

<file path=ppt/charts/chart5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series</c:v>
                </c:pt>
              </c:strCache>
            </c:strRef>
          </c:tx>
          <c:spPr>
            <a:solidFill>
              <a:srgbClr val="86BC25"/>
            </a:solidFill>
            <a:effectLst/>
          </c:spPr>
          <c:invertIfNegative val="0"/>
          <c:dLbls>
            <c:numFmt formatCode="0&quot;%&quot;"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cat>
            <c:multiLvlStrRef>
              <c:f>Sheet1!$A$2:$A$4</c:f>
              <c:multiLvlStrCache>
                <c:ptCount val="3"/>
                <c:lvl>
                  <c:pt idx="0">
                    <c:v>Remediate gaps</c:v>
                  </c:pt>
                  <c:pt idx="1">
                    <c:v>Meet upcoming regs</c:v>
                  </c:pt>
                  <c:pt idx="2">
                    <c:v>Not primary driver</c:v>
                  </c:pt>
                </c:lvl>
              </c:multiLvlStrCache>
            </c:multiLvlStrRef>
          </c:cat>
          <c:val>
            <c:numRef>
              <c:f>Sheet1!$B$2:$B$4</c:f>
              <c:numCache>
                <c:formatCode>General</c:formatCode>
                <c:ptCount val="3"/>
                <c:pt idx="0">
                  <c:v>48</c:v>
                </c:pt>
                <c:pt idx="1">
                  <c:v>39</c:v>
                </c:pt>
                <c:pt idx="2">
                  <c:v>13</c:v>
                </c:pt>
              </c:numCache>
            </c:numRef>
          </c:val>
        </c:ser>
        <c:dLbls>
          <c:numFmt formatCode="0&quot;%&quot;"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90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5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series</c:v>
                </c:pt>
              </c:strCache>
            </c:strRef>
          </c:tx>
          <c:spPr>
            <a:solidFill>
              <a:srgbClr val="046A38"/>
            </a:solidFill>
            <a:effectLst/>
          </c:spPr>
          <c:invertIfNegative val="0"/>
          <c:dLbls>
            <c:numFmt formatCode="0&quot;%&quot;"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Identity &amp; auth</c:v>
                  </c:pt>
                  <c:pt idx="1">
                    <c:v>Privacy &amp; AI gov.</c:v>
                  </c:pt>
                  <c:pt idx="2">
                    <c:v>Payment innovation</c:v>
                  </c:pt>
                  <c:pt idx="3">
                    <c:v>Liability changes</c:v>
                  </c:pt>
                  <c:pt idx="4">
                    <c:v>AML modernization</c:v>
                  </c:pt>
                  <c:pt idx="5">
                    <c:v>Open Banking</c:v>
                  </c:pt>
                </c:lvl>
              </c:multiLvlStrCache>
            </c:multiLvlStrRef>
          </c:cat>
          <c:val>
            <c:numRef>
              <c:f>Sheet1!$B$2:$B$7</c:f>
              <c:numCache>
                <c:formatCode>General</c:formatCode>
                <c:ptCount val="6"/>
                <c:pt idx="0">
                  <c:v>71</c:v>
                </c:pt>
                <c:pt idx="1">
                  <c:v>66</c:v>
                </c:pt>
                <c:pt idx="2">
                  <c:v>65</c:v>
                </c:pt>
                <c:pt idx="3">
                  <c:v>36</c:v>
                </c:pt>
                <c:pt idx="4">
                  <c:v>33</c:v>
                </c:pt>
                <c:pt idx="5">
                  <c:v>29</c:v>
                </c:pt>
              </c:numCache>
            </c:numRef>
          </c:val>
        </c:ser>
        <c:dLbls>
          <c:numFmt formatCode="0&quot;%&quot;"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900" b="0" i="0" u="none" strike="noStrike">
                <a:solidFill>
                  <a:srgbClr val="53565A"/>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omments/modernComment_14A_99EAD49.xml><?xml version="1.0" encoding="utf-8"?>
<p188:cmLst xmlns:a="http://schemas.openxmlformats.org/drawingml/2006/main" xmlns:r="http://schemas.openxmlformats.org/officeDocument/2006/relationships" xmlns:p188="http://schemas.microsoft.com/office/powerpoint/2018/8/main">
  <p188:cm id="{CA0ADC5D-A1F5-45FA-B115-CD3DCBC88EF3}" authorId="{D296EFA7-0D1E-03B8-0ACB-0E639503A15F}" created="2026-10-15T15:42:59.557">
    <pc:sldMkLst xmlns:pc="http://schemas.microsoft.com/office/powerpoint/2013/main/command">
      <pc:docMk/>
      <pc:sldMk cId="161393993" sldId="330"/>
    </pc:sldMkLst>
    <p188:txBody>
      <a:bodyPr/>
      <a:lstStyle/>
      <a:p>
        <a:r>
          <a:rPr lang="en-CA"/>
          <a:t>Riley to fix</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66407DD-7D4F-4149-BFC1-D4208C42B517}" type="datetimeFigureOut">
              <a:rPr lang="en-CA" smtClean="0"/>
              <a:t>2026-10-17</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940475-704E-42FA-B5AE-EB50A7D18FBD}" type="slidenum">
              <a:rPr lang="en-CA" smtClean="0"/>
              <a:t>‹#›</a:t>
            </a:fld>
            <a:endParaRPr lang="en-CA"/>
          </a:p>
        </p:txBody>
      </p:sp>
    </p:spTree>
    <p:extLst>
      <p:ext uri="{BB962C8B-B14F-4D97-AF65-F5344CB8AC3E}">
        <p14:creationId xmlns:p14="http://schemas.microsoft.com/office/powerpoint/2010/main" val="39016765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300" b="0" i="0" u="none" strike="noStrike" kern="0" cap="none" spc="0" normalizeH="0" baseline="0" noProof="0" smtClean="0">
                <a:ln>
                  <a:noFill/>
                </a:ln>
                <a:solidFill>
                  <a:prstClr val="black"/>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1</a:t>
            </a:fld>
            <a:endParaRPr kumimoji="0" lang="en-US" sz="1300" b="0" i="0" u="none" strike="noStrike" kern="0" cap="none" spc="0" normalizeH="0" baseline="0" noProof="0" dirty="0">
              <a:ln>
                <a:noFill/>
              </a:ln>
              <a:solidFill>
                <a:prstClr val="black"/>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42451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BFA0EC-BB42-8B06-0C4A-C84FE72044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06F23C-384D-2B19-7A82-C2C17DE416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99EDD2-1EF3-D057-6760-80B29A8A064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C78F03E-C65C-0AAA-C575-0D1E13C28F8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CBA1922-A226-4D4F-8D76-F8FCD65E805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Arial"/>
                <a:sym typeface="Arial"/>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Arial"/>
              <a:sym typeface="Arial"/>
            </a:endParaRPr>
          </a:p>
        </p:txBody>
      </p:sp>
    </p:spTree>
    <p:extLst>
      <p:ext uri="{BB962C8B-B14F-4D97-AF65-F5344CB8AC3E}">
        <p14:creationId xmlns:p14="http://schemas.microsoft.com/office/powerpoint/2010/main" val="13833994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24AA23-8896-F3DA-EF4E-4187E0AB1F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60BB72-072F-909A-3EC0-BBAA4EB944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913345-1E92-0915-E607-F6A80C39BE1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B556EDB-D76E-8EAE-9DA6-4A472B00CB8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CBA1922-A226-4D4F-8D76-F8FCD65E805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Arial"/>
                <a:sym typeface="Arial"/>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Arial"/>
              <a:sym typeface="Arial"/>
            </a:endParaRPr>
          </a:p>
        </p:txBody>
      </p:sp>
    </p:spTree>
    <p:extLst>
      <p:ext uri="{BB962C8B-B14F-4D97-AF65-F5344CB8AC3E}">
        <p14:creationId xmlns:p14="http://schemas.microsoft.com/office/powerpoint/2010/main" val="3970905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2A6454-9110-0FD4-92F8-C62588504C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86349F-3731-8C0A-66D2-C7BB78306D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AD7FF4-371E-7BD2-45F1-2DBCD0EF8746}"/>
              </a:ext>
            </a:extLst>
          </p:cNvPr>
          <p:cNvSpPr>
            <a:spLocks noGrp="1"/>
          </p:cNvSpPr>
          <p:nvPr>
            <p:ph type="body" idx="1"/>
          </p:nvPr>
        </p:nvSpPr>
        <p:spPr/>
        <p:txBody>
          <a:bodyPr/>
          <a:lstStyle/>
          <a:p>
            <a:pPr fontAlgn="t"/>
            <a:endParaRPr lang="en-US" b="1" dirty="0"/>
          </a:p>
        </p:txBody>
      </p:sp>
      <p:sp>
        <p:nvSpPr>
          <p:cNvPr id="4" name="Slide Number Placeholder 3">
            <a:extLst>
              <a:ext uri="{FF2B5EF4-FFF2-40B4-BE49-F238E27FC236}">
                <a16:creationId xmlns:a16="http://schemas.microsoft.com/office/drawing/2014/main" id="{8CC4CA3B-D6A4-28B0-BEE3-8DC44ECD89C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CBA1922-A226-4D4F-8D76-F8FCD65E805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Arial"/>
                <a:sym typeface="Arial"/>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Arial"/>
              <a:sym typeface="Arial"/>
            </a:endParaRPr>
          </a:p>
        </p:txBody>
      </p:sp>
    </p:spTree>
    <p:extLst>
      <p:ext uri="{BB962C8B-B14F-4D97-AF65-F5344CB8AC3E}">
        <p14:creationId xmlns:p14="http://schemas.microsoft.com/office/powerpoint/2010/main" val="7686248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50E8A2-8805-0E3A-3C9A-59BF9B3676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3B78FF-10C6-91C8-DCFA-FE2F1AB82B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951B92-A267-6AAB-0F9D-7C818DCCB88A}"/>
              </a:ext>
            </a:extLst>
          </p:cNvPr>
          <p:cNvSpPr>
            <a:spLocks noGrp="1"/>
          </p:cNvSpPr>
          <p:nvPr>
            <p:ph type="body" idx="1"/>
          </p:nvPr>
        </p:nvSpPr>
        <p:spPr/>
        <p:txBody>
          <a:bodyPr/>
          <a:lstStyle/>
          <a:p>
            <a:pPr fontAlgn="t"/>
            <a:endParaRPr lang="en-US" b="1" dirty="0"/>
          </a:p>
        </p:txBody>
      </p:sp>
      <p:sp>
        <p:nvSpPr>
          <p:cNvPr id="4" name="Slide Number Placeholder 3">
            <a:extLst>
              <a:ext uri="{FF2B5EF4-FFF2-40B4-BE49-F238E27FC236}">
                <a16:creationId xmlns:a16="http://schemas.microsoft.com/office/drawing/2014/main" id="{35AFFE38-61E5-55DC-D6D2-6E33AF82315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CBA1922-A226-4D4F-8D76-F8FCD65E805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Arial"/>
                <a:sym typeface="Arial"/>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Arial"/>
              <a:sym typeface="Arial"/>
            </a:endParaRPr>
          </a:p>
        </p:txBody>
      </p:sp>
    </p:spTree>
    <p:extLst>
      <p:ext uri="{BB962C8B-B14F-4D97-AF65-F5344CB8AC3E}">
        <p14:creationId xmlns:p14="http://schemas.microsoft.com/office/powerpoint/2010/main" val="11678731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822DDF-16E1-CEFE-5D99-6331EE60F6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2F54D8-CA83-5496-F9CC-4D7205FE6B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4D0D38-73BD-1388-09F7-9B52C03EF24B}"/>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A0358813-98DF-E40E-A4E8-2452E5D439BB}"/>
              </a:ext>
            </a:extLst>
          </p:cNvPr>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300" b="0" i="0" u="none" strike="noStrike" kern="0" cap="none" spc="0" normalizeH="0" baseline="0" noProof="0" smtClean="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8</a:t>
            </a:fld>
            <a:endParaRPr kumimoji="0" lang="en-US" sz="13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15733346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E404F9-5881-FFF9-7105-80422C6595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AAF416-5BB9-5867-7FA6-EF424DEF84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18B15B-09DF-F6DE-5342-C111919AEE12}"/>
              </a:ext>
            </a:extLst>
          </p:cNvPr>
          <p:cNvSpPr>
            <a:spLocks noGrp="1"/>
          </p:cNvSpPr>
          <p:nvPr>
            <p:ph type="body" idx="1"/>
          </p:nvPr>
        </p:nvSpPr>
        <p:spPr/>
        <p:txBody>
          <a:bodyPr/>
          <a:lstStyle/>
          <a:p>
            <a:pPr fontAlgn="t"/>
            <a:endParaRPr lang="en-US" b="1" dirty="0"/>
          </a:p>
        </p:txBody>
      </p:sp>
      <p:sp>
        <p:nvSpPr>
          <p:cNvPr id="4" name="Slide Number Placeholder 3">
            <a:extLst>
              <a:ext uri="{FF2B5EF4-FFF2-40B4-BE49-F238E27FC236}">
                <a16:creationId xmlns:a16="http://schemas.microsoft.com/office/drawing/2014/main" id="{AF5A5554-9E64-37B2-6D0B-A261D01999D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CBA1922-A226-4D4F-8D76-F8FCD65E805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Arial"/>
                <a:sym typeface="Arial"/>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Arial"/>
              <a:sym typeface="Arial"/>
            </a:endParaRPr>
          </a:p>
        </p:txBody>
      </p:sp>
    </p:spTree>
    <p:extLst>
      <p:ext uri="{BB962C8B-B14F-4D97-AF65-F5344CB8AC3E}">
        <p14:creationId xmlns:p14="http://schemas.microsoft.com/office/powerpoint/2010/main" val="4665791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9612E6-CB3E-C769-F412-4FF77E41B6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D260CE-E488-5523-C7B9-972F869649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D03467-C3E3-4D72-A14D-08504903D581}"/>
              </a:ext>
            </a:extLst>
          </p:cNvPr>
          <p:cNvSpPr>
            <a:spLocks noGrp="1"/>
          </p:cNvSpPr>
          <p:nvPr>
            <p:ph type="body" idx="1"/>
          </p:nvPr>
        </p:nvSpPr>
        <p:spPr/>
        <p:txBody>
          <a:bodyPr/>
          <a:lstStyle/>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en-CA" sz="1200" b="0" i="0" u="none" strike="noStrike" cap="none">
              <a:solidFill>
                <a:schemeClr val="dk1"/>
              </a:solidFill>
              <a:effectLst/>
              <a:latin typeface="Calibri"/>
              <a:ea typeface="Calibri"/>
              <a:cs typeface="Calibri"/>
              <a:sym typeface="Calibri"/>
            </a:endParaRPr>
          </a:p>
        </p:txBody>
      </p:sp>
      <p:sp>
        <p:nvSpPr>
          <p:cNvPr id="4" name="Slide Number Placeholder 3">
            <a:extLst>
              <a:ext uri="{FF2B5EF4-FFF2-40B4-BE49-F238E27FC236}">
                <a16:creationId xmlns:a16="http://schemas.microsoft.com/office/drawing/2014/main" id="{4035C75D-D272-41AF-58E6-7063D3B1549F}"/>
              </a:ext>
            </a:extLst>
          </p:cNvPr>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300" b="0" i="0" u="none" strike="noStrike" kern="0" cap="none" spc="0" normalizeH="0" baseline="0" noProof="0" smtClean="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11</a:t>
            </a:fld>
            <a:endParaRPr kumimoji="0" lang="en-US" sz="13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33368701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06BA71-B6DD-3194-8FA5-80257E1834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F3674E-FC46-2C01-2D4E-C639305906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951925-6F7A-E84C-7418-FD064917C489}"/>
              </a:ext>
            </a:extLst>
          </p:cNvPr>
          <p:cNvSpPr>
            <a:spLocks noGrp="1"/>
          </p:cNvSpPr>
          <p:nvPr>
            <p:ph type="body" idx="1"/>
          </p:nvPr>
        </p:nvSpPr>
        <p:spPr/>
        <p:txBody>
          <a:bodyPr/>
          <a:lstStyle/>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en-CA" sz="1200" b="0" i="0" u="none" strike="noStrike" cap="none" dirty="0">
              <a:solidFill>
                <a:schemeClr val="dk1"/>
              </a:solidFill>
              <a:effectLst/>
              <a:latin typeface="Calibri"/>
              <a:ea typeface="Calibri"/>
              <a:cs typeface="Calibri"/>
              <a:sym typeface="Calibri"/>
            </a:endParaRPr>
          </a:p>
        </p:txBody>
      </p:sp>
      <p:sp>
        <p:nvSpPr>
          <p:cNvPr id="4" name="Slide Number Placeholder 3">
            <a:extLst>
              <a:ext uri="{FF2B5EF4-FFF2-40B4-BE49-F238E27FC236}">
                <a16:creationId xmlns:a16="http://schemas.microsoft.com/office/drawing/2014/main" id="{7D020316-D7D0-23F9-626C-E497047215B3}"/>
              </a:ext>
            </a:extLst>
          </p:cNvPr>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300" b="0" i="0" u="none" strike="noStrike" kern="0" cap="none" spc="0" normalizeH="0" baseline="0" noProof="0" smtClean="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12</a:t>
            </a:fld>
            <a:endParaRPr kumimoji="0" lang="en-US" sz="13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37095947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875638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698216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66112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359171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868976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658134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997316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531704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221947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774730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25212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Title Slide - Circle Black">
  <p:cSld name="Title Slide - Circle Black">
    <p:bg>
      <p:bgPr>
        <a:solidFill>
          <a:schemeClr val="lt1"/>
        </a:solidFill>
        <a:effectLst/>
      </p:bgPr>
    </p:bg>
    <p:spTree>
      <p:nvGrpSpPr>
        <p:cNvPr id="1" name="Shape 15"/>
        <p:cNvGrpSpPr/>
        <p:nvPr/>
      </p:nvGrpSpPr>
      <p:grpSpPr>
        <a:xfrm>
          <a:off x="0" y="0"/>
          <a:ext cx="0" cy="0"/>
          <a:chOff x="0" y="0"/>
          <a:chExt cx="0" cy="0"/>
        </a:xfrm>
      </p:grpSpPr>
      <p:sp>
        <p:nvSpPr>
          <p:cNvPr id="16" name="Google Shape;16;p10"/>
          <p:cNvSpPr txBox="1">
            <a:spLocks noGrp="1"/>
          </p:cNvSpPr>
          <p:nvPr>
            <p:ph type="subTitle" idx="1"/>
          </p:nvPr>
        </p:nvSpPr>
        <p:spPr>
          <a:xfrm>
            <a:off x="475201" y="5845182"/>
            <a:ext cx="5592011" cy="505645"/>
          </a:xfrm>
          <a:prstGeom prst="rect">
            <a:avLst/>
          </a:prstGeom>
          <a:noFill/>
          <a:ln>
            <a:noFill/>
          </a:ln>
        </p:spPr>
        <p:txBody>
          <a:bodyPr spcFirstLastPara="1" wrap="square" lIns="0" tIns="0" rIns="0" bIns="0" anchor="t" anchorCtr="0">
            <a:noAutofit/>
          </a:bodyPr>
          <a:lstStyle>
            <a:lvl1pPr lvl="0" algn="l">
              <a:lnSpc>
                <a:spcPct val="100000"/>
              </a:lnSpc>
              <a:spcBef>
                <a:spcPts val="1000"/>
              </a:spcBef>
              <a:spcAft>
                <a:spcPts val="0"/>
              </a:spcAft>
              <a:buClr>
                <a:schemeClr val="dk1"/>
              </a:buClr>
              <a:buSzPts val="1200"/>
              <a:buNone/>
              <a:defRPr sz="1200">
                <a:solidFill>
                  <a:schemeClr val="dk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0"/>
          <p:cNvSpPr txBox="1">
            <a:spLocks noGrp="1"/>
          </p:cNvSpPr>
          <p:nvPr>
            <p:ph type="body" idx="2"/>
          </p:nvPr>
        </p:nvSpPr>
        <p:spPr>
          <a:xfrm>
            <a:off x="475200" y="6362701"/>
            <a:ext cx="5594349" cy="298451"/>
          </a:xfrm>
          <a:prstGeom prst="rect">
            <a:avLst/>
          </a:prstGeom>
          <a:noFill/>
          <a:ln>
            <a:noFill/>
          </a:ln>
        </p:spPr>
        <p:txBody>
          <a:bodyPr spcFirstLastPara="1" wrap="square" lIns="91425" tIns="45700" rIns="91425" bIns="45700" anchor="t" anchorCtr="0">
            <a:normAutofit/>
          </a:bodyPr>
          <a:lstStyle>
            <a:lvl1pPr marL="457200" lvl="0" indent="-278638" algn="l">
              <a:lnSpc>
                <a:spcPct val="90000"/>
              </a:lnSpc>
              <a:spcBef>
                <a:spcPts val="1000"/>
              </a:spcBef>
              <a:spcAft>
                <a:spcPts val="0"/>
              </a:spcAft>
              <a:buClr>
                <a:schemeClr val="dk1"/>
              </a:buClr>
              <a:buSzPts val="788"/>
              <a:buChar char="•"/>
              <a:defRPr sz="788">
                <a:solidFill>
                  <a:schemeClr val="dk1"/>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 name="Google Shape;18;p10"/>
          <p:cNvSpPr txBox="1">
            <a:spLocks noGrp="1"/>
          </p:cNvSpPr>
          <p:nvPr>
            <p:ph type="ftr" idx="11"/>
          </p:nvPr>
        </p:nvSpPr>
        <p:spPr>
          <a:xfrm>
            <a:off x="6371303" y="6552087"/>
            <a:ext cx="5149153" cy="177801"/>
          </a:xfrm>
          <a:prstGeom prst="rect">
            <a:avLst/>
          </a:prstGeom>
          <a:noFill/>
          <a:ln>
            <a:noFill/>
          </a:ln>
        </p:spPr>
        <p:txBody>
          <a:bodyPr spcFirstLastPara="1" wrap="square" lIns="0" tIns="0" rIns="0" bIns="0" anchor="ctr" anchorCtr="0">
            <a:noAutofit/>
          </a:bodyPr>
          <a:lstStyle>
            <a:lvl1pPr lvl="0" algn="r">
              <a:lnSpc>
                <a:spcPct val="100000"/>
              </a:lnSpc>
              <a:spcBef>
                <a:spcPts val="0"/>
              </a:spcBef>
              <a:spcAft>
                <a:spcPts val="0"/>
              </a:spcAft>
              <a:buSzPts val="1400"/>
              <a:buNone/>
              <a:defRPr sz="65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3121892025"/>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ubtitle &amp; 1 column text">
  <p:cSld name="Title, subtitle &amp; 1 column text">
    <p:spTree>
      <p:nvGrpSpPr>
        <p:cNvPr id="1" name="Shape 19"/>
        <p:cNvGrpSpPr/>
        <p:nvPr/>
      </p:nvGrpSpPr>
      <p:grpSpPr>
        <a:xfrm>
          <a:off x="0" y="0"/>
          <a:ext cx="0" cy="0"/>
          <a:chOff x="0" y="0"/>
          <a:chExt cx="0" cy="0"/>
        </a:xfrm>
      </p:grpSpPr>
      <p:sp>
        <p:nvSpPr>
          <p:cNvPr id="20" name="Google Shape;20;p11"/>
          <p:cNvSpPr txBox="1">
            <a:spLocks noGrp="1"/>
          </p:cNvSpPr>
          <p:nvPr>
            <p:ph type="body" idx="1"/>
          </p:nvPr>
        </p:nvSpPr>
        <p:spPr>
          <a:xfrm>
            <a:off x="469900" y="736688"/>
            <a:ext cx="11252200" cy="757255"/>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1000"/>
              </a:spcBef>
              <a:spcAft>
                <a:spcPts val="0"/>
              </a:spcAft>
              <a:buClr>
                <a:srgbClr val="575757"/>
              </a:buClr>
              <a:buSzPts val="1400"/>
              <a:buNone/>
              <a:defRPr sz="1400" b="0">
                <a:solidFill>
                  <a:srgbClr val="575757"/>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1" name="Google Shape;21;p11"/>
          <p:cNvSpPr txBox="1">
            <a:spLocks noGrp="1"/>
          </p:cNvSpPr>
          <p:nvPr>
            <p:ph type="title"/>
          </p:nvPr>
        </p:nvSpPr>
        <p:spPr>
          <a:xfrm>
            <a:off x="469900" y="402587"/>
            <a:ext cx="11252200" cy="334102"/>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000"/>
              <a:buFont typeface="Open Sans"/>
              <a:buNone/>
              <a:defRPr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11"/>
          <p:cNvSpPr txBox="1">
            <a:spLocks noGrp="1"/>
          </p:cNvSpPr>
          <p:nvPr>
            <p:ph type="body" idx="2"/>
          </p:nvPr>
        </p:nvSpPr>
        <p:spPr>
          <a:xfrm>
            <a:off x="469900" y="1665818"/>
            <a:ext cx="11252200" cy="4633383"/>
          </a:xfrm>
          <a:prstGeom prst="rect">
            <a:avLst/>
          </a:prstGeom>
          <a:noFill/>
          <a:ln>
            <a:noFill/>
          </a:ln>
        </p:spPr>
        <p:txBody>
          <a:bodyPr spcFirstLastPara="1" wrap="square" lIns="0" tIns="0" rIns="0" bIns="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2085549961"/>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29"/>
        <p:cNvGrpSpPr/>
        <p:nvPr/>
      </p:nvGrpSpPr>
      <p:grpSpPr>
        <a:xfrm>
          <a:off x="0" y="0"/>
          <a:ext cx="0" cy="0"/>
          <a:chOff x="0" y="0"/>
          <a:chExt cx="0" cy="0"/>
        </a:xfrm>
      </p:grpSpPr>
      <p:sp>
        <p:nvSpPr>
          <p:cNvPr id="30" name="Google Shape;30;p1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Open Sans"/>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35" name="Google Shape;35;p12"/>
          <p:cNvGrpSpPr/>
          <p:nvPr/>
        </p:nvGrpSpPr>
        <p:grpSpPr>
          <a:xfrm>
            <a:off x="475325" y="457200"/>
            <a:ext cx="1998000" cy="374400"/>
            <a:chOff x="398463" y="404813"/>
            <a:chExt cx="1627187" cy="307976"/>
          </a:xfrm>
        </p:grpSpPr>
        <p:sp>
          <p:nvSpPr>
            <p:cNvPr id="36" name="Google Shape;36;p12"/>
            <p:cNvSpPr/>
            <p:nvPr/>
          </p:nvSpPr>
          <p:spPr>
            <a:xfrm>
              <a:off x="1938338" y="625476"/>
              <a:ext cx="87312" cy="87313"/>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950"/>
                <a:buFont typeface="Arial"/>
                <a:buNone/>
              </a:pPr>
              <a:endParaRPr sz="1950" b="0" i="0" u="none" strike="noStrike" cap="none">
                <a:solidFill>
                  <a:schemeClr val="lt1"/>
                </a:solidFill>
                <a:latin typeface="Calibri"/>
                <a:ea typeface="Calibri"/>
                <a:cs typeface="Calibri"/>
                <a:sym typeface="Calibri"/>
              </a:endParaRPr>
            </a:p>
          </p:txBody>
        </p:sp>
        <p:sp>
          <p:nvSpPr>
            <p:cNvPr id="37" name="Google Shape;37;p12"/>
            <p:cNvSpPr/>
            <p:nvPr/>
          </p:nvSpPr>
          <p:spPr>
            <a:xfrm>
              <a:off x="398463" y="406401"/>
              <a:ext cx="247650" cy="301625"/>
            </a:xfrm>
            <a:custGeom>
              <a:avLst/>
              <a:gdLst/>
              <a:ahLst/>
              <a:cxnLst/>
              <a:rect l="l" t="t" r="r" b="b"/>
              <a:pathLst>
                <a:path w="287" h="347" extrusionOk="0">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950"/>
                <a:buFont typeface="Arial"/>
                <a:buNone/>
              </a:pPr>
              <a:endParaRPr sz="1950" b="0" i="0" u="none" strike="noStrike" cap="none">
                <a:solidFill>
                  <a:schemeClr val="lt1"/>
                </a:solidFill>
                <a:latin typeface="Calibri"/>
                <a:ea typeface="Calibri"/>
                <a:cs typeface="Calibri"/>
                <a:sym typeface="Calibri"/>
              </a:endParaRPr>
            </a:p>
          </p:txBody>
        </p:sp>
        <p:sp>
          <p:nvSpPr>
            <p:cNvPr id="38" name="Google Shape;38;p12"/>
            <p:cNvSpPr/>
            <p:nvPr/>
          </p:nvSpPr>
          <p:spPr>
            <a:xfrm>
              <a:off x="906463" y="404813"/>
              <a:ext cx="74612" cy="303213"/>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950"/>
                <a:buFont typeface="Arial"/>
                <a:buNone/>
              </a:pPr>
              <a:endParaRPr sz="1950" b="0" i="0" u="none" strike="noStrike" cap="none">
                <a:solidFill>
                  <a:schemeClr val="lt1"/>
                </a:solidFill>
                <a:latin typeface="Calibri"/>
                <a:ea typeface="Calibri"/>
                <a:cs typeface="Calibri"/>
                <a:sym typeface="Calibri"/>
              </a:endParaRPr>
            </a:p>
          </p:txBody>
        </p:sp>
        <p:sp>
          <p:nvSpPr>
            <p:cNvPr id="39" name="Google Shape;39;p12"/>
            <p:cNvSpPr/>
            <p:nvPr/>
          </p:nvSpPr>
          <p:spPr>
            <a:xfrm>
              <a:off x="1011238" y="479426"/>
              <a:ext cx="215900" cy="231775"/>
            </a:xfrm>
            <a:custGeom>
              <a:avLst/>
              <a:gdLst/>
              <a:ahLst/>
              <a:cxnLst/>
              <a:rect l="l" t="t" r="r" b="b"/>
              <a:pathLst>
                <a:path w="252" h="267" extrusionOk="0">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950"/>
                <a:buFont typeface="Arial"/>
                <a:buNone/>
              </a:pPr>
              <a:endParaRPr sz="1950" b="0" i="0" u="none" strike="noStrike" cap="none">
                <a:solidFill>
                  <a:schemeClr val="lt1"/>
                </a:solidFill>
                <a:latin typeface="Calibri"/>
                <a:ea typeface="Calibri"/>
                <a:cs typeface="Calibri"/>
                <a:sym typeface="Calibri"/>
              </a:endParaRPr>
            </a:p>
          </p:txBody>
        </p:sp>
        <p:sp>
          <p:nvSpPr>
            <p:cNvPr id="40" name="Google Shape;40;p12"/>
            <p:cNvSpPr/>
            <p:nvPr/>
          </p:nvSpPr>
          <p:spPr>
            <a:xfrm>
              <a:off x="1257300" y="482601"/>
              <a:ext cx="74612" cy="225425"/>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950"/>
                <a:buFont typeface="Arial"/>
                <a:buNone/>
              </a:pPr>
              <a:endParaRPr sz="1950" b="0" i="0" u="none" strike="noStrike" cap="none">
                <a:solidFill>
                  <a:schemeClr val="lt1"/>
                </a:solidFill>
                <a:latin typeface="Calibri"/>
                <a:ea typeface="Calibri"/>
                <a:cs typeface="Calibri"/>
                <a:sym typeface="Calibri"/>
              </a:endParaRPr>
            </a:p>
          </p:txBody>
        </p:sp>
        <p:sp>
          <p:nvSpPr>
            <p:cNvPr id="41" name="Google Shape;41;p12"/>
            <p:cNvSpPr/>
            <p:nvPr/>
          </p:nvSpPr>
          <p:spPr>
            <a:xfrm>
              <a:off x="1257300" y="404813"/>
              <a:ext cx="74612" cy="508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950"/>
                <a:buFont typeface="Arial"/>
                <a:buNone/>
              </a:pPr>
              <a:endParaRPr sz="1950" b="0" i="0" u="none" strike="noStrike" cap="none">
                <a:solidFill>
                  <a:schemeClr val="lt1"/>
                </a:solidFill>
                <a:latin typeface="Calibri"/>
                <a:ea typeface="Calibri"/>
                <a:cs typeface="Calibri"/>
                <a:sym typeface="Calibri"/>
              </a:endParaRPr>
            </a:p>
          </p:txBody>
        </p:sp>
        <p:sp>
          <p:nvSpPr>
            <p:cNvPr id="42" name="Google Shape;42;p12"/>
            <p:cNvSpPr/>
            <p:nvPr/>
          </p:nvSpPr>
          <p:spPr>
            <a:xfrm>
              <a:off x="1362075" y="411163"/>
              <a:ext cx="158750" cy="300038"/>
            </a:xfrm>
            <a:custGeom>
              <a:avLst/>
              <a:gdLst/>
              <a:ahLst/>
              <a:cxnLst/>
              <a:rect l="l" t="t" r="r" b="b"/>
              <a:pathLst>
                <a:path w="184" h="344" extrusionOk="0">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950"/>
                <a:buFont typeface="Arial"/>
                <a:buNone/>
              </a:pPr>
              <a:endParaRPr sz="1950" b="0" i="0" u="none" strike="noStrike" cap="none">
                <a:solidFill>
                  <a:schemeClr val="lt1"/>
                </a:solidFill>
                <a:latin typeface="Calibri"/>
                <a:ea typeface="Calibri"/>
                <a:cs typeface="Calibri"/>
                <a:sym typeface="Calibri"/>
              </a:endParaRPr>
            </a:p>
          </p:txBody>
        </p:sp>
        <p:sp>
          <p:nvSpPr>
            <p:cNvPr id="43" name="Google Shape;43;p12"/>
            <p:cNvSpPr/>
            <p:nvPr/>
          </p:nvSpPr>
          <p:spPr>
            <a:xfrm>
              <a:off x="1535113" y="411163"/>
              <a:ext cx="158750" cy="300038"/>
            </a:xfrm>
            <a:custGeom>
              <a:avLst/>
              <a:gdLst/>
              <a:ahLst/>
              <a:cxnLst/>
              <a:rect l="l" t="t" r="r" b="b"/>
              <a:pathLst>
                <a:path w="184" h="344" extrusionOk="0">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950"/>
                <a:buFont typeface="Arial"/>
                <a:buNone/>
              </a:pPr>
              <a:endParaRPr sz="1950" b="0" i="0" u="none" strike="noStrike" cap="none">
                <a:solidFill>
                  <a:schemeClr val="lt1"/>
                </a:solidFill>
                <a:latin typeface="Calibri"/>
                <a:ea typeface="Calibri"/>
                <a:cs typeface="Calibri"/>
                <a:sym typeface="Calibri"/>
              </a:endParaRPr>
            </a:p>
          </p:txBody>
        </p:sp>
        <p:sp>
          <p:nvSpPr>
            <p:cNvPr id="44" name="Google Shape;44;p12"/>
            <p:cNvSpPr/>
            <p:nvPr/>
          </p:nvSpPr>
          <p:spPr>
            <a:xfrm>
              <a:off x="1709738" y="479426"/>
              <a:ext cx="211137" cy="231775"/>
            </a:xfrm>
            <a:custGeom>
              <a:avLst/>
              <a:gdLst/>
              <a:ahLst/>
              <a:cxnLst/>
              <a:rect l="l" t="t" r="r" b="b"/>
              <a:pathLst>
                <a:path w="244" h="267" extrusionOk="0">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950"/>
                <a:buFont typeface="Arial"/>
                <a:buNone/>
              </a:pPr>
              <a:endParaRPr sz="1950" b="0" i="0" u="none" strike="noStrike" cap="none">
                <a:solidFill>
                  <a:schemeClr val="lt1"/>
                </a:solidFill>
                <a:latin typeface="Calibri"/>
                <a:ea typeface="Calibri"/>
                <a:cs typeface="Calibri"/>
                <a:sym typeface="Calibri"/>
              </a:endParaRPr>
            </a:p>
          </p:txBody>
        </p:sp>
        <p:sp>
          <p:nvSpPr>
            <p:cNvPr id="45" name="Google Shape;45;p12"/>
            <p:cNvSpPr/>
            <p:nvPr/>
          </p:nvSpPr>
          <p:spPr>
            <a:xfrm>
              <a:off x="668338" y="479426"/>
              <a:ext cx="209550" cy="231775"/>
            </a:xfrm>
            <a:custGeom>
              <a:avLst/>
              <a:gdLst/>
              <a:ahLst/>
              <a:cxnLst/>
              <a:rect l="l" t="t" r="r" b="b"/>
              <a:pathLst>
                <a:path w="243" h="267" extrusionOk="0">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950"/>
                <a:buFont typeface="Arial"/>
                <a:buNone/>
              </a:pPr>
              <a:endParaRPr sz="1950" b="0" i="0" u="none" strike="noStrike" cap="none">
                <a:solidFill>
                  <a:schemeClr val="lt1"/>
                </a:solidFill>
                <a:latin typeface="Calibri"/>
                <a:ea typeface="Calibri"/>
                <a:cs typeface="Calibri"/>
                <a:sym typeface="Calibri"/>
              </a:endParaRPr>
            </a:p>
          </p:txBody>
        </p:sp>
      </p:grpSp>
      <p:sp>
        <p:nvSpPr>
          <p:cNvPr id="2" name="Date Placeholder 1">
            <a:extLst>
              <a:ext uri="{FF2B5EF4-FFF2-40B4-BE49-F238E27FC236}">
                <a16:creationId xmlns:a16="http://schemas.microsoft.com/office/drawing/2014/main" id="{C92E2541-1AC4-5B75-7824-75662CB57431}"/>
              </a:ext>
            </a:extLst>
          </p:cNvPr>
          <p:cNvSpPr>
            <a:spLocks noGrp="1"/>
          </p:cNvSpPr>
          <p:nvPr>
            <p:ph type="dt" idx="10"/>
          </p:nvPr>
        </p:nvSpPr>
        <p:spPr/>
        <p:txBody>
          <a:bodyPr/>
          <a:lstStyle/>
          <a:p>
            <a:endParaRPr lang="en-US"/>
          </a:p>
        </p:txBody>
      </p:sp>
      <p:sp>
        <p:nvSpPr>
          <p:cNvPr id="3" name="Footer Placeholder 2">
            <a:extLst>
              <a:ext uri="{FF2B5EF4-FFF2-40B4-BE49-F238E27FC236}">
                <a16:creationId xmlns:a16="http://schemas.microsoft.com/office/drawing/2014/main" id="{12D88A18-355B-BB41-0B55-B4C132827877}"/>
              </a:ext>
            </a:extLst>
          </p:cNvPr>
          <p:cNvSpPr>
            <a:spLocks noGrp="1"/>
          </p:cNvSpPr>
          <p:nvPr>
            <p:ph type="ftr" idx="11"/>
          </p:nvPr>
        </p:nvSpPr>
        <p:spPr/>
        <p:txBody>
          <a:bodyPr/>
          <a:lstStyle/>
          <a:p>
            <a:endParaRPr lang="en-US"/>
          </a:p>
        </p:txBody>
      </p:sp>
    </p:spTree>
    <p:extLst>
      <p:ext uri="{BB962C8B-B14F-4D97-AF65-F5344CB8AC3E}">
        <p14:creationId xmlns:p14="http://schemas.microsoft.com/office/powerpoint/2010/main" val="30550132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Subtitle, Content">
    <p:spTree>
      <p:nvGrpSpPr>
        <p:cNvPr id="1" name=""/>
        <p:cNvGrpSpPr/>
        <p:nvPr/>
      </p:nvGrpSpPr>
      <p:grpSpPr>
        <a:xfrm>
          <a:off x="0" y="0"/>
          <a:ext cx="0" cy="0"/>
          <a:chOff x="0" y="0"/>
          <a:chExt cx="0" cy="0"/>
        </a:xfrm>
      </p:grpSpPr>
      <p:sp>
        <p:nvSpPr>
          <p:cNvPr id="4" name="Text Placeholder 8"/>
          <p:cNvSpPr>
            <a:spLocks noGrp="1"/>
          </p:cNvSpPr>
          <p:nvPr>
            <p:ph type="body" sz="quarter" idx="13" hasCustomPrompt="1"/>
          </p:nvPr>
        </p:nvSpPr>
        <p:spPr>
          <a:xfrm>
            <a:off x="426782" y="771525"/>
            <a:ext cx="11338436" cy="645817"/>
          </a:xfrm>
          <a:prstGeom prst="rect">
            <a:avLst/>
          </a:prstGeom>
        </p:spPr>
        <p:txBody>
          <a:bodyPr lIns="0" tIns="45720" rIns="0" bIns="0" anchor="t">
            <a:noAutofit/>
          </a:bodyPr>
          <a:lstStyle>
            <a:lvl1pPr marL="0" indent="0">
              <a:spcAft>
                <a:spcPts val="0"/>
              </a:spcAft>
              <a:buNone/>
              <a:defRPr sz="1200" b="0">
                <a:solidFill>
                  <a:schemeClr val="tx1"/>
                </a:solidFill>
                <a:latin typeface="+mn-lt"/>
              </a:defRPr>
            </a:lvl1pPr>
          </a:lstStyle>
          <a:p>
            <a:pPr lvl="0"/>
            <a:r>
              <a:rPr lang="en-US" noProof="0"/>
              <a:t>Click to add subtitle</a:t>
            </a:r>
          </a:p>
        </p:txBody>
      </p:sp>
      <p:sp>
        <p:nvSpPr>
          <p:cNvPr id="5" name="Title Placeholder 1"/>
          <p:cNvSpPr>
            <a:spLocks noGrp="1"/>
          </p:cNvSpPr>
          <p:nvPr>
            <p:ph type="title"/>
          </p:nvPr>
        </p:nvSpPr>
        <p:spPr>
          <a:xfrm>
            <a:off x="426782" y="137197"/>
            <a:ext cx="11338436" cy="548634"/>
          </a:xfrm>
          <a:prstGeom prst="rect">
            <a:avLst/>
          </a:prstGeom>
        </p:spPr>
        <p:txBody>
          <a:bodyPr vert="horz" lIns="0" tIns="0" rIns="0" bIns="0" rtlCol="0" anchor="ctr" anchorCtr="0">
            <a:noAutofit/>
          </a:bodyPr>
          <a:lstStyle>
            <a:lvl1pPr>
              <a:defRPr sz="2000" b="1">
                <a:solidFill>
                  <a:schemeClr val="tx1"/>
                </a:solidFill>
                <a:latin typeface="+mn-lt"/>
              </a:defRPr>
            </a:lvl1pPr>
          </a:lstStyle>
          <a:p>
            <a:r>
              <a:rPr lang="en-US" noProof="0"/>
              <a:t>Click to edit Master title style</a:t>
            </a:r>
          </a:p>
        </p:txBody>
      </p:sp>
    </p:spTree>
    <p:extLst>
      <p:ext uri="{BB962C8B-B14F-4D97-AF65-F5344CB8AC3E}">
        <p14:creationId xmlns:p14="http://schemas.microsoft.com/office/powerpoint/2010/main" val="286568350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6656575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10/17/2026</a:t>
            </a:fld>
            <a:endParaRPr lang="en-US"/>
          </a:p>
        </p:txBody>
      </p:sp>
      <p:sp>
        <p:nvSpPr>
          <p:cNvPr id="5" name="Footer Placeholder 4"/>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29068844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10/17/2026</a:t>
            </a:fld>
            <a:endParaRPr lang="en-US"/>
          </a:p>
        </p:txBody>
      </p:sp>
      <p:sp>
        <p:nvSpPr>
          <p:cNvPr id="5" name="Footer Placeholder 4"/>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09101473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10/17/2026</a:t>
            </a:fld>
            <a:endParaRPr lang="en-US"/>
          </a:p>
        </p:txBody>
      </p:sp>
      <p:sp>
        <p:nvSpPr>
          <p:cNvPr id="5" name="Footer Placeholder 4"/>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67135010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10/17/2026</a:t>
            </a:fld>
            <a:endParaRPr lang="en-US"/>
          </a:p>
        </p:txBody>
      </p:sp>
      <p:sp>
        <p:nvSpPr>
          <p:cNvPr id="6" name="Footer Placeholder 5"/>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255282783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10/17/2026</a:t>
            </a:fld>
            <a:endParaRPr lang="en-US"/>
          </a:p>
        </p:txBody>
      </p:sp>
      <p:sp>
        <p:nvSpPr>
          <p:cNvPr id="8" name="Footer Placeholder 7"/>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54430288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10/17/2026</a:t>
            </a:fld>
            <a:endParaRPr lang="en-US"/>
          </a:p>
        </p:txBody>
      </p:sp>
      <p:sp>
        <p:nvSpPr>
          <p:cNvPr id="4" name="Footer Placeholder 3"/>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75186076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10/17/2026</a:t>
            </a:fld>
            <a:endParaRPr lang="en-US"/>
          </a:p>
        </p:txBody>
      </p:sp>
      <p:sp>
        <p:nvSpPr>
          <p:cNvPr id="3" name="Footer Placeholder 2"/>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87312146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10/17/2026</a:t>
            </a:fld>
            <a:endParaRPr lang="en-US"/>
          </a:p>
        </p:txBody>
      </p:sp>
      <p:sp>
        <p:nvSpPr>
          <p:cNvPr id="6" name="Footer Placeholder 5"/>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80745572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10/17/2026</a:t>
            </a:fld>
            <a:endParaRPr lang="en-US"/>
          </a:p>
        </p:txBody>
      </p:sp>
      <p:sp>
        <p:nvSpPr>
          <p:cNvPr id="6" name="Footer Placeholder 5"/>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52701072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10/17/2026</a:t>
            </a:fld>
            <a:endParaRPr lang="en-US"/>
          </a:p>
        </p:txBody>
      </p:sp>
      <p:sp>
        <p:nvSpPr>
          <p:cNvPr id="5" name="Footer Placeholder 4"/>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10402454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10/17/2026</a:t>
            </a:fld>
            <a:endParaRPr lang="en-US"/>
          </a:p>
        </p:txBody>
      </p:sp>
      <p:sp>
        <p:nvSpPr>
          <p:cNvPr id="5" name="Footer Placeholder 4"/>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68699029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543656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4.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theme" Target="../theme/theme3.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621151077"/>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Open Sans"/>
              <a:buNone/>
              <a:defRPr sz="4400" b="0" i="0" u="none" strike="noStrike" cap="none">
                <a:solidFill>
                  <a:schemeClr val="dk1"/>
                </a:solidFill>
                <a:latin typeface="Open Sans"/>
                <a:ea typeface="Open Sans"/>
                <a:cs typeface="Open Sans"/>
                <a:sym typeface="Open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Open Sans"/>
                <a:ea typeface="Open Sans"/>
                <a:cs typeface="Open Sans"/>
                <a:sym typeface="Open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Open Sans"/>
                <a:ea typeface="Open Sans"/>
                <a:cs typeface="Open Sans"/>
                <a:sym typeface="Open Sans"/>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Open Sans"/>
                <a:ea typeface="Open Sans"/>
                <a:cs typeface="Open Sans"/>
                <a:sym typeface="Open Sans"/>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pen Sans"/>
                <a:ea typeface="Open Sans"/>
                <a:cs typeface="Open Sans"/>
                <a:sym typeface="Open Sans"/>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pen Sans"/>
                <a:ea typeface="Open Sans"/>
                <a:cs typeface="Open Sans"/>
                <a:sym typeface="Open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Open Sans"/>
                <a:ea typeface="Open Sans"/>
                <a:cs typeface="Open Sans"/>
                <a:sym typeface="Open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Open Sans"/>
                <a:ea typeface="Open Sans"/>
                <a:cs typeface="Open Sans"/>
                <a:sym typeface="Open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2855297097"/>
      </p:ext>
    </p:extLst>
  </p:cSld>
  <p:clrMap bg1="lt1" tx1="dk1" bg2="dk2" tx2="lt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Tree>
    <p:extLst>
      <p:ext uri="{BB962C8B-B14F-4D97-AF65-F5344CB8AC3E}">
        <p14:creationId xmlns:p14="http://schemas.microsoft.com/office/powerpoint/2010/main" val="2546718528"/>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04571485"/>
      </p:ext>
    </p:extLst>
  </p:cSld>
  <p:clrMap bg1="lt1" tx1="dk1" bg2="lt2" tx2="dk2" accent1="accent1" accent2="accent2" accent3="accent3" accent4="accent4" accent5="accent5" accent6="accent6" hlink="hlink" folHlink="folHlink"/>
  <p:sldLayoutIdLst>
    <p:sldLayoutId id="214748369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hyperlink" Target="https://www.businesswire.com/news/home/20250916314726/en/Deepfakes-Already-Hitting-Businesses-as-Often-as-Traditional-Fraud-Regula-Survey-Finds" TargetMode="External"/><Relationship Id="rId2" Type="http://schemas.openxmlformats.org/officeDocument/2006/relationships/notesSlide" Target="../notesSlides/notesSlide2.xml"/><Relationship Id="rId1" Type="http://schemas.openxmlformats.org/officeDocument/2006/relationships/slideLayout" Target="../slideLayouts/slideLayout15.xml"/><Relationship Id="rId4" Type="http://schemas.openxmlformats.org/officeDocument/2006/relationships/slide" Target="slide5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slide" Target="slide51.xml"/><Relationship Id="rId2" Type="http://schemas.openxmlformats.org/officeDocument/2006/relationships/notesSlide" Target="../notesSlides/notesSlide3.xml"/><Relationship Id="rId1" Type="http://schemas.openxmlformats.org/officeDocument/2006/relationships/slideLayout" Target="../slideLayouts/slideLayout15.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6.png"/><Relationship Id="rId7"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5.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tags" Target="../tags/tag3.xml"/><Relationship Id="rId7" Type="http://schemas.openxmlformats.org/officeDocument/2006/relationships/image" Target="../media/image6.pn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11.png"/><Relationship Id="rId5" Type="http://schemas.openxmlformats.org/officeDocument/2006/relationships/notesSlide" Target="../notesSlides/notesSlide5.xml"/><Relationship Id="rId4" Type="http://schemas.openxmlformats.org/officeDocument/2006/relationships/slideLayout" Target="../slideLayouts/slideLayout15.xml"/><Relationship Id="rId9"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5.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microsoft.com/office/2018/10/relationships/comments" Target="../comments/modernComment_14A_99EAD49.xml"/><Relationship Id="rId2" Type="http://schemas.openxmlformats.org/officeDocument/2006/relationships/notesSlide" Target="../notesSlides/notesSlide7.xml"/><Relationship Id="rId1" Type="http://schemas.openxmlformats.org/officeDocument/2006/relationships/slideLayout" Target="../slideLayouts/slideLayout15.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25.png"/><Relationship Id="rId3" Type="http://schemas.openxmlformats.org/officeDocument/2006/relationships/image" Target="../media/image16.png"/><Relationship Id="rId7" Type="http://schemas.openxmlformats.org/officeDocument/2006/relationships/image" Target="../media/image3.png"/><Relationship Id="rId12"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23.xml"/><Relationship Id="rId6" Type="http://schemas.openxmlformats.org/officeDocument/2006/relationships/image" Target="../media/image19.png"/><Relationship Id="rId11" Type="http://schemas.openxmlformats.org/officeDocument/2006/relationships/image" Target="../media/image23.png"/><Relationship Id="rId5" Type="http://schemas.openxmlformats.org/officeDocument/2006/relationships/image" Target="../media/image18.png"/><Relationship Id="rId10" Type="http://schemas.openxmlformats.org/officeDocument/2006/relationships/image" Target="../media/image22.png"/><Relationship Id="rId4" Type="http://schemas.openxmlformats.org/officeDocument/2006/relationships/image" Target="../media/image17.png"/><Relationship Id="rId9" Type="http://schemas.openxmlformats.org/officeDocument/2006/relationships/image" Target="../media/image21.png"/><Relationship Id="rId14" Type="http://schemas.openxmlformats.org/officeDocument/2006/relationships/image" Target="../media/image26.png"/></Relationships>
</file>

<file path=ppt/slides/_rels/slide12.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7.png"/><Relationship Id="rId7" Type="http://schemas.openxmlformats.org/officeDocument/2006/relationships/image" Target="../media/image30.png"/><Relationship Id="rId2" Type="http://schemas.openxmlformats.org/officeDocument/2006/relationships/notesSlide" Target="../notesSlides/notesSlide9.xml"/><Relationship Id="rId1" Type="http://schemas.openxmlformats.org/officeDocument/2006/relationships/slideLayout" Target="../slideLayouts/slideLayout23.xml"/><Relationship Id="rId6" Type="http://schemas.openxmlformats.org/officeDocument/2006/relationships/image" Target="../media/image7.png"/><Relationship Id="rId5" Type="http://schemas.openxmlformats.org/officeDocument/2006/relationships/image" Target="../media/image29.png"/><Relationship Id="rId4" Type="http://schemas.openxmlformats.org/officeDocument/2006/relationships/image" Target="../media/image28.png"/><Relationship Id="rId9" Type="http://schemas.openxmlformats.org/officeDocument/2006/relationships/image" Target="../media/image32.png"/></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53.xml.rels><?xml version="1.0" encoding="UTF-8" standalone="yes"?>
<Relationships xmlns="http://schemas.openxmlformats.org/package/2006/relationships"><Relationship Id="rId1" Type="http://schemas.openxmlformats.org/officeDocument/2006/relationships/chart" Target="../charts/chart48.xml"/><Relationship Id="rId2" Type="http://schemas.openxmlformats.org/officeDocument/2006/relationships/chart" Target="../charts/chart49.xml"/><Relationship Id="rId3" Type="http://schemas.openxmlformats.org/officeDocument/2006/relationships/slideLayout" Target="../slideLayouts/slideLayout28.xml"/></Relationships>
</file>

<file path=ppt/slides/_rels/slide54.xml.rels><?xml version="1.0" encoding="UTF-8" standalone="yes"?>
<Relationships xmlns="http://schemas.openxmlformats.org/package/2006/relationships"><Relationship Id="rId1" Type="http://schemas.openxmlformats.org/officeDocument/2006/relationships/chart" Target="../charts/chart50.xml"/><Relationship Id="rId2" Type="http://schemas.openxmlformats.org/officeDocument/2006/relationships/chart" Target="../charts/chart51.xml"/><Relationship Id="rId3" Type="http://schemas.openxmlformats.org/officeDocument/2006/relationships/slideLayout" Target="../slideLayouts/slideLayout28.xml"/></Relationships>
</file>

<file path=ppt/slides/_rels/slide55.xml.rels><?xml version="1.0" encoding="UTF-8" standalone="yes"?>
<Relationships xmlns="http://schemas.openxmlformats.org/package/2006/relationships"><Relationship Id="rId1" Type="http://schemas.openxmlformats.org/officeDocument/2006/relationships/chart" Target="../charts/chart52.xml"/><Relationship Id="rId2" Type="http://schemas.openxmlformats.org/officeDocument/2006/relationships/chart" Target="../charts/chart53.xml"/><Relationship Id="rId3" Type="http://schemas.openxmlformats.org/officeDocument/2006/relationships/slideLayout" Target="../slideLayouts/slideLayout28.xml"/></Relationships>
</file>

<file path=ppt/slides/_rels/slide56.xml.rels><?xml version="1.0" encoding="UTF-8" standalone="yes"?>
<Relationships xmlns="http://schemas.openxmlformats.org/package/2006/relationships"><Relationship Id="rId1" Type="http://schemas.openxmlformats.org/officeDocument/2006/relationships/chart" Target="../charts/chart54.xml"/><Relationship Id="rId2" Type="http://schemas.openxmlformats.org/officeDocument/2006/relationships/chart" Target="../charts/chart55.xml"/><Relationship Id="rId3" Type="http://schemas.openxmlformats.org/officeDocument/2006/relationships/slideLayout" Target="../slideLayouts/slideLayout28.xml"/></Relationships>
</file>

<file path=ppt/slides/_rels/slide57.xml.rels><?xml version="1.0" encoding="UTF-8" standalone="yes"?>
<Relationships xmlns="http://schemas.openxmlformats.org/package/2006/relationships"><Relationship Id="rId1" Type="http://schemas.openxmlformats.org/officeDocument/2006/relationships/image" Target="../media/image_wc1.png"/><Relationship Id="rId2"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80000"/>
            <a:lum/>
          </a:blip>
          <a:srcRect/>
          <a:stretch>
            <a:fillRect/>
          </a:stretch>
        </a:blipFill>
        <a:effectLst/>
      </p:bgPr>
    </p:bg>
    <p:spTree>
      <p:nvGrpSpPr>
        <p:cNvPr id="1" name="">
          <a:extLst>
            <a:ext uri="{FF2B5EF4-FFF2-40B4-BE49-F238E27FC236}">
              <a16:creationId xmlns:a16="http://schemas.microsoft.com/office/drawing/2014/main" id="{F9E280C0-E3F4-BB87-45BF-69E64033F97F}"/>
            </a:ext>
          </a:extLst>
        </p:cNvPr>
        <p:cNvGrpSpPr/>
        <p:nvPr/>
      </p:nvGrpSpPr>
      <p:grpSpPr>
        <a:xfrm>
          <a:off x="0" y="0"/>
          <a:ext cx="0" cy="0"/>
          <a:chOff x="0" y="0"/>
          <a:chExt cx="0" cy="0"/>
        </a:xfrm>
      </p:grpSpPr>
      <p:sp>
        <p:nvSpPr>
          <p:cNvPr id="10" name="Text Placeholder 3">
            <a:extLst>
              <a:ext uri="{FF2B5EF4-FFF2-40B4-BE49-F238E27FC236}">
                <a16:creationId xmlns:a16="http://schemas.microsoft.com/office/drawing/2014/main" id="{1AF24DB7-602A-17A2-3448-D3532DE97F85}"/>
              </a:ext>
            </a:extLst>
          </p:cNvPr>
          <p:cNvSpPr txBox="1">
            <a:spLocks/>
          </p:cNvSpPr>
          <p:nvPr/>
        </p:nvSpPr>
        <p:spPr>
          <a:xfrm>
            <a:off x="0" y="0"/>
            <a:ext cx="12192000" cy="6858000"/>
          </a:xfrm>
          <a:prstGeom prst="rect">
            <a:avLst/>
          </a:prstGeom>
          <a:solidFill>
            <a:schemeClr val="tx1">
              <a:lumMod val="75000"/>
              <a:lumOff val="25000"/>
              <a:alpha val="70000"/>
            </a:schemeClr>
          </a:solidFill>
          <a:ln>
            <a:noFill/>
          </a:ln>
        </p:spPr>
        <p:txBody>
          <a:bodyPr spcFirstLastPara="1" wrap="square" lIns="365760" tIns="182880" rIns="0" bIns="0" anchor="ctr"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Open Sans"/>
                <a:ea typeface="Open Sans"/>
                <a:cs typeface="Open Sans"/>
                <a:sym typeface="Open Sans"/>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Open Sans"/>
                <a:ea typeface="Open Sans"/>
                <a:cs typeface="Open Sans"/>
                <a:sym typeface="Open Sans"/>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Open Sans"/>
                <a:ea typeface="Open Sans"/>
                <a:cs typeface="Open Sans"/>
                <a:sym typeface="Open Sans"/>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pen Sans"/>
                <a:ea typeface="Open Sans"/>
                <a:cs typeface="Open Sans"/>
                <a:sym typeface="Open Sans"/>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pen Sans"/>
                <a:ea typeface="Open Sans"/>
                <a:cs typeface="Open Sans"/>
                <a:sym typeface="Open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sz="2800" b="1" i="0" u="none" strike="noStrike" kern="0" cap="none" spc="0" normalizeH="0" baseline="0" noProof="0" dirty="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sz="2800" b="1" i="0" u="none" strike="noStrike" kern="0" cap="none" spc="0" normalizeH="0" baseline="0" noProof="0" dirty="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sz="2800" b="1" i="0" u="none" strike="noStrike" kern="0" cap="none" spc="0" normalizeH="0" baseline="0" noProof="0" dirty="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sz="2800" b="1" i="0" u="none" strike="noStrike" kern="0" cap="none" spc="0" normalizeH="0" baseline="0" noProof="0" dirty="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sz="2800" b="1" i="0" u="none" strike="noStrike" kern="0" cap="none" spc="0" normalizeH="0" baseline="0" noProof="0" dirty="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r>
              <a:rPr kumimoji="0" lang="en-US" sz="2800" b="1" i="0" u="none" strike="noStrike" kern="0" cap="none" spc="0" normalizeH="0" baseline="0" noProof="0" dirty="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rPr>
              <a:t>1. Deepfake &amp; Emerging AI Risk</a:t>
            </a: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sz="2800" b="0" i="0" u="none" strike="noStrike" kern="0" cap="none" spc="0" normalizeH="0" baseline="0" noProof="0" dirty="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124000"/>
              </a:lnSpc>
              <a:spcBef>
                <a:spcPts val="1000"/>
              </a:spcBef>
              <a:spcAft>
                <a:spcPts val="0"/>
              </a:spcAft>
              <a:buClr>
                <a:srgbClr val="000000"/>
              </a:buClr>
              <a:buSzPts val="1800"/>
              <a:buFont typeface="Arial"/>
              <a:buNone/>
              <a:tabLst/>
              <a:defRPr/>
            </a:pPr>
            <a:r>
              <a:rPr kumimoji="0" lang="en-US" sz="2000" b="0" i="1" u="none" strike="noStrike" kern="0" cap="none" spc="0" normalizeH="0" baseline="0" noProof="0" dirty="0">
                <a:ln>
                  <a:noFill/>
                </a:ln>
                <a:solidFill>
                  <a:srgbClr val="FFFFFF"/>
                </a:solidFill>
                <a:effectLst/>
                <a:uLnTx/>
                <a:uFillTx/>
                <a:latin typeface="Calibri" pitchFamily="34" charset="0"/>
                <a:ea typeface="Calibri" pitchFamily="34" charset="-122"/>
                <a:cs typeface="Calibri" pitchFamily="34" charset="-120"/>
                <a:sym typeface="Open Sans"/>
              </a:rPr>
              <a:t>“The convergence of GenAI, synthetic identities and real time digital identity verification. This will matter significantly because fraudsters will become AI-native, identity becomes the new battleground, fraud prevention will replace fraud detection, and the winners will use AI against AI.” </a:t>
            </a:r>
            <a:r>
              <a:rPr kumimoji="0" lang="en-US" sz="2000" b="1" i="1" u="none" strike="noStrike" kern="0" cap="none" spc="0" normalizeH="0" baseline="0" noProof="0" dirty="0">
                <a:ln>
                  <a:noFill/>
                </a:ln>
                <a:solidFill>
                  <a:srgbClr val="FFFFFF"/>
                </a:solidFill>
                <a:effectLst/>
                <a:uLnTx/>
                <a:uFillTx/>
                <a:latin typeface="Calibri" pitchFamily="34" charset="0"/>
                <a:ea typeface="Calibri" pitchFamily="34" charset="-122"/>
                <a:cs typeface="Calibri" pitchFamily="34" charset="-120"/>
                <a:sym typeface="Open Sans"/>
              </a:rPr>
              <a:t>– Director of Top 50 Global Insurance Firm</a:t>
            </a:r>
            <a:endParaRPr kumimoji="0" lang="en-US" sz="2000" b="1" i="0" u="none" strike="noStrike" kern="0" cap="none" spc="0" normalizeH="0" baseline="0" noProof="0" dirty="0">
              <a:ln>
                <a:noFill/>
              </a:ln>
              <a:solidFill>
                <a:srgbClr val="000000"/>
              </a:solidFill>
              <a:effectLst/>
              <a:uLnTx/>
              <a:uFillTx/>
              <a:latin typeface="Open Sans"/>
              <a:ea typeface="Open Sans"/>
              <a:cs typeface="Open Sans"/>
              <a:sym typeface="Open Sans"/>
            </a:endParaRPr>
          </a:p>
        </p:txBody>
      </p:sp>
    </p:spTree>
    <p:extLst>
      <p:ext uri="{BB962C8B-B14F-4D97-AF65-F5344CB8AC3E}">
        <p14:creationId xmlns:p14="http://schemas.microsoft.com/office/powerpoint/2010/main" val="26597506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7B145B-E559-1F96-17D0-51263EEF204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768E99F-ACA1-62DC-129D-48B20E5DFB92}"/>
              </a:ext>
            </a:extLst>
          </p:cNvPr>
          <p:cNvSpPr/>
          <p:nvPr/>
        </p:nvSpPr>
        <p:spPr>
          <a:xfrm>
            <a:off x="269139" y="1428203"/>
            <a:ext cx="11651914" cy="43036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marL="0" marR="0" lvl="0" indent="0" algn="just" defTabSz="914400" rtl="0" eaLnBrk="1" fontAlgn="auto" latinLnBrk="0" hangingPunct="1">
              <a:lnSpc>
                <a:spcPct val="100000"/>
              </a:lnSpc>
              <a:spcBef>
                <a:spcPts val="0"/>
              </a:spcBef>
              <a:spcAft>
                <a:spcPts val="0"/>
              </a:spcAft>
              <a:buClrTx/>
              <a:buSzTx/>
              <a:buFont typeface="Arial"/>
              <a:buNone/>
              <a:tabLst/>
              <a:defRPr/>
            </a:pPr>
            <a:r>
              <a:rPr kumimoji="0" lang="en-US" sz="1400" b="0" i="0" u="none" strike="noStrike" kern="1200" cap="none" spc="0" normalizeH="0" baseline="0" noProof="0" dirty="0">
                <a:ln>
                  <a:noFill/>
                </a:ln>
                <a:solidFill>
                  <a:srgbClr val="000000">
                    <a:lumMod val="75000"/>
                    <a:lumOff val="25000"/>
                  </a:srgbClr>
                </a:solidFill>
                <a:effectLst/>
                <a:uLnTx/>
                <a:uFillTx/>
                <a:latin typeface="Segoe UI" panose="020B0502040204020203" pitchFamily="34" charset="0"/>
                <a:ea typeface="Open Sans" panose="020B0606030504020204" pitchFamily="34" charset="0"/>
                <a:cs typeface="Segoe UI" panose="020B0502040204020203" pitchFamily="34" charset="0"/>
                <a:sym typeface="Arial"/>
              </a:rPr>
              <a:t>One-third of organizations globally</a:t>
            </a:r>
            <a:r>
              <a:rPr kumimoji="0" lang="en-US" sz="1400" b="0" i="0" u="none" strike="noStrike" kern="1200" cap="none" spc="0" normalizeH="0" baseline="30000" noProof="0" dirty="0">
                <a:ln>
                  <a:noFill/>
                </a:ln>
                <a:solidFill>
                  <a:srgbClr val="000000">
                    <a:lumMod val="75000"/>
                    <a:lumOff val="25000"/>
                  </a:srgbClr>
                </a:solidFill>
                <a:effectLst/>
                <a:uLnTx/>
                <a:uFillTx/>
                <a:latin typeface="Segoe UI" panose="020B0502040204020203" pitchFamily="34" charset="0"/>
                <a:ea typeface="Open Sans" panose="020B0606030504020204" pitchFamily="34" charset="0"/>
                <a:cs typeface="Segoe UI" panose="020B0502040204020203" pitchFamily="34" charset="0"/>
                <a:sym typeface="Arial"/>
              </a:rPr>
              <a:t>1</a:t>
            </a:r>
            <a:r>
              <a:rPr kumimoji="0" lang="en-US" sz="1400" b="0" i="0" u="none" strike="noStrike" kern="1200" cap="none" spc="0" normalizeH="0" baseline="0" noProof="0" dirty="0">
                <a:ln>
                  <a:noFill/>
                </a:ln>
                <a:solidFill>
                  <a:srgbClr val="000000">
                    <a:lumMod val="75000"/>
                    <a:lumOff val="25000"/>
                  </a:srgbClr>
                </a:solidFill>
                <a:effectLst/>
                <a:uLnTx/>
                <a:uFillTx/>
                <a:latin typeface="Segoe UI" panose="020B0502040204020203" pitchFamily="34" charset="0"/>
                <a:ea typeface="Open Sans" panose="020B0606030504020204" pitchFamily="34" charset="0"/>
                <a:cs typeface="Segoe UI" panose="020B0502040204020203" pitchFamily="34" charset="0"/>
                <a:sym typeface="Arial"/>
              </a:rPr>
              <a:t> now report experiencing deepfake fraud incidents, on par with document fraud and social engineering. As organizations grapple with these risks, the emergence of agentic AI solutions (e.g., Meta Muse) introduces a new dimension of exposure, extending fraud concerns beyond impersonation to autonomous systems capable of performing / initiating activities on behalf of customers. Against this backdrop, the critical question is where AI-enabled fraud is exerting the greatest pressure today.</a:t>
            </a:r>
          </a:p>
        </p:txBody>
      </p:sp>
      <p:sp>
        <p:nvSpPr>
          <p:cNvPr id="153" name="Rectangle 152">
            <a:extLst>
              <a:ext uri="{FF2B5EF4-FFF2-40B4-BE49-F238E27FC236}">
                <a16:creationId xmlns:a16="http://schemas.microsoft.com/office/drawing/2014/main" id="{0FFE2E6F-E30C-CD35-D1C9-28480935BE48}"/>
              </a:ext>
            </a:extLst>
          </p:cNvPr>
          <p:cNvSpPr/>
          <p:nvPr/>
        </p:nvSpPr>
        <p:spPr>
          <a:xfrm>
            <a:off x="-904" y="2472"/>
            <a:ext cx="12192000" cy="353257"/>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600"/>
              </a:spcBef>
              <a:spcAft>
                <a:spcPts val="0"/>
              </a:spcAft>
              <a:buClrTx/>
              <a:buSzPct val="100000"/>
              <a:buFont typeface="Arial"/>
              <a:buNone/>
              <a:tabLst/>
              <a:defRPr/>
            </a:pPr>
            <a:r>
              <a:rPr kumimoji="0" lang="en-US" sz="1200" b="1" i="0" u="none" strike="noStrike" kern="1200" cap="none" spc="0" normalizeH="0" baseline="0" noProof="0" dirty="0">
                <a:ln>
                  <a:noFill/>
                </a:ln>
                <a:solidFill>
                  <a:srgbClr val="FFFFFF"/>
                </a:solidFill>
                <a:effectLst/>
                <a:uLnTx/>
                <a:uFillTx/>
                <a:latin typeface="Segoe UI" panose="020B0502040204020203" pitchFamily="34" charset="0"/>
                <a:ea typeface="Open Sans" panose="020B0606030504020204" pitchFamily="34" charset="0"/>
                <a:cs typeface="Segoe UI" panose="020B0502040204020203" pitchFamily="34" charset="0"/>
                <a:sym typeface="Arial"/>
              </a:rPr>
              <a:t>DEEPFAKE &amp; EMERGING AI RISK</a:t>
            </a:r>
          </a:p>
        </p:txBody>
      </p:sp>
      <p:grpSp>
        <p:nvGrpSpPr>
          <p:cNvPr id="15" name="Group 14">
            <a:extLst>
              <a:ext uri="{FF2B5EF4-FFF2-40B4-BE49-F238E27FC236}">
                <a16:creationId xmlns:a16="http://schemas.microsoft.com/office/drawing/2014/main" id="{83C24FB5-7AE9-6886-4979-6664A8EA17E6}"/>
              </a:ext>
            </a:extLst>
          </p:cNvPr>
          <p:cNvGrpSpPr/>
          <p:nvPr/>
        </p:nvGrpSpPr>
        <p:grpSpPr>
          <a:xfrm>
            <a:off x="249638" y="464705"/>
            <a:ext cx="11521440" cy="924347"/>
            <a:chOff x="249638" y="464705"/>
            <a:chExt cx="11521440" cy="924347"/>
          </a:xfrm>
        </p:grpSpPr>
        <p:sp>
          <p:nvSpPr>
            <p:cNvPr id="19" name="Text 22">
              <a:extLst>
                <a:ext uri="{FF2B5EF4-FFF2-40B4-BE49-F238E27FC236}">
                  <a16:creationId xmlns:a16="http://schemas.microsoft.com/office/drawing/2014/main" id="{FFF2157E-F0CB-F08F-93A7-91A3A7A0DB83}"/>
                </a:ext>
              </a:extLst>
            </p:cNvPr>
            <p:cNvSpPr/>
            <p:nvPr/>
          </p:nvSpPr>
          <p:spPr>
            <a:xfrm>
              <a:off x="249638" y="464705"/>
              <a:ext cx="7847726" cy="232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0" cap="none" spc="80" normalizeH="0" baseline="0" noProof="0" dirty="0">
                  <a:ln>
                    <a:noFill/>
                  </a:ln>
                  <a:solidFill>
                    <a:srgbClr val="4EA72E"/>
                  </a:solidFill>
                  <a:effectLst/>
                  <a:uLnTx/>
                  <a:uFillTx/>
                  <a:latin typeface="Segoe UI" panose="020B0502040204020203" pitchFamily="34" charset="0"/>
                  <a:ea typeface="Arial" pitchFamily="34" charset="-122"/>
                  <a:cs typeface="Segoe UI" panose="020B0502040204020203" pitchFamily="34" charset="0"/>
                  <a:sym typeface="Arial"/>
                </a:rPr>
                <a:t>WHERE DEEPFAKE RISK CONCENTRATES </a:t>
              </a:r>
            </a:p>
          </p:txBody>
        </p:sp>
        <p:sp>
          <p:nvSpPr>
            <p:cNvPr id="5" name="TextBox 4">
              <a:extLst>
                <a:ext uri="{FF2B5EF4-FFF2-40B4-BE49-F238E27FC236}">
                  <a16:creationId xmlns:a16="http://schemas.microsoft.com/office/drawing/2014/main" id="{13A38D4F-D29E-FA15-7D76-8E14E17191C6}"/>
                </a:ext>
              </a:extLst>
            </p:cNvPr>
            <p:cNvSpPr txBox="1"/>
            <p:nvPr/>
          </p:nvSpPr>
          <p:spPr>
            <a:xfrm>
              <a:off x="249638" y="711944"/>
              <a:ext cx="11521440" cy="67710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2200" b="1" i="0" u="none" strike="noStrike" kern="1200" cap="none" spc="0" normalizeH="0" baseline="0" noProof="0" dirty="0">
                  <a:ln>
                    <a:noFill/>
                  </a:ln>
                  <a:solidFill>
                    <a:srgbClr val="111111"/>
                  </a:solidFill>
                  <a:effectLst/>
                  <a:uLnTx/>
                  <a:uFillTx/>
                  <a:latin typeface="Segoe UI" panose="020B0502040204020203" pitchFamily="34" charset="0"/>
                  <a:ea typeface="+mn-ea"/>
                  <a:cs typeface="Segoe UI" panose="020B0502040204020203" pitchFamily="34" charset="0"/>
                  <a:sym typeface="Arial"/>
                </a:rPr>
                <a:t>Banking and insurance converge on onboarding and payments, but diverge at the contact center </a:t>
              </a:r>
              <a:endParaRPr kumimoji="0" sz="2200" b="1" i="0" u="none" strike="noStrike" kern="1200" cap="none" spc="0" normalizeH="0" baseline="0" noProof="0" dirty="0">
                <a:ln>
                  <a:noFill/>
                </a:ln>
                <a:solidFill>
                  <a:srgbClr val="111111"/>
                </a:solidFill>
                <a:effectLst/>
                <a:uLnTx/>
                <a:uFillTx/>
                <a:latin typeface="Segoe UI" panose="020B0502040204020203" pitchFamily="34" charset="0"/>
                <a:ea typeface="+mn-ea"/>
                <a:cs typeface="Segoe UI" panose="020B0502040204020203" pitchFamily="34" charset="0"/>
                <a:sym typeface="Arial"/>
              </a:endParaRPr>
            </a:p>
          </p:txBody>
        </p:sp>
      </p:grpSp>
      <p:sp>
        <p:nvSpPr>
          <p:cNvPr id="13" name="Rounded Rectangle 47">
            <a:extLst>
              <a:ext uri="{FF2B5EF4-FFF2-40B4-BE49-F238E27FC236}">
                <a16:creationId xmlns:a16="http://schemas.microsoft.com/office/drawing/2014/main" id="{8942D059-49E6-6AFD-6963-0380C8F61610}"/>
              </a:ext>
            </a:extLst>
          </p:cNvPr>
          <p:cNvSpPr/>
          <p:nvPr/>
        </p:nvSpPr>
        <p:spPr>
          <a:xfrm>
            <a:off x="3146629" y="2414134"/>
            <a:ext cx="4219528" cy="2367373"/>
          </a:xfrm>
          <a:prstGeom prst="roundRect">
            <a:avLst>
              <a:gd name="adj" fmla="val 6000"/>
            </a:avLst>
          </a:prstGeom>
          <a:solidFill>
            <a:srgbClr val="FFFFFF"/>
          </a:solidFill>
          <a:ln w="28575">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rPr>
              <a:t>v</a:t>
            </a: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14" name="Rectangle: Rounded Corners 13">
            <a:extLst>
              <a:ext uri="{FF2B5EF4-FFF2-40B4-BE49-F238E27FC236}">
                <a16:creationId xmlns:a16="http://schemas.microsoft.com/office/drawing/2014/main" id="{4D31C47A-861A-BFBD-DDA0-60EF9533C659}"/>
              </a:ext>
            </a:extLst>
          </p:cNvPr>
          <p:cNvSpPr/>
          <p:nvPr/>
        </p:nvSpPr>
        <p:spPr>
          <a:xfrm>
            <a:off x="249638" y="2431282"/>
            <a:ext cx="2647532" cy="2350226"/>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CA" sz="1400" b="0" i="0" u="none" strike="noStrike" kern="0" cap="none" spc="0" normalizeH="0" baseline="0" noProof="0" dirty="0">
              <a:ln>
                <a:noFill/>
              </a:ln>
              <a:solidFill>
                <a:srgbClr val="FFFFFF"/>
              </a:solidFill>
              <a:effectLst/>
              <a:uLnTx/>
              <a:uFillTx/>
              <a:latin typeface="Arial"/>
              <a:ea typeface="+mn-ea"/>
              <a:cs typeface="+mn-cs"/>
              <a:sym typeface="Arial"/>
            </a:endParaRPr>
          </a:p>
        </p:txBody>
      </p:sp>
      <p:sp>
        <p:nvSpPr>
          <p:cNvPr id="18" name="TextBox 17">
            <a:extLst>
              <a:ext uri="{FF2B5EF4-FFF2-40B4-BE49-F238E27FC236}">
                <a16:creationId xmlns:a16="http://schemas.microsoft.com/office/drawing/2014/main" id="{251CAC15-B0B6-5A6B-9A85-21F4CDAE68C8}"/>
              </a:ext>
            </a:extLst>
          </p:cNvPr>
          <p:cNvSpPr txBox="1"/>
          <p:nvPr/>
        </p:nvSpPr>
        <p:spPr>
          <a:xfrm>
            <a:off x="584015" y="3269674"/>
            <a:ext cx="1801368" cy="1231106"/>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Segoe UI" panose="020B0502040204020203" pitchFamily="34" charset="0"/>
                <a:ea typeface="+mn-ea"/>
                <a:cs typeface="Segoe UI" panose="020B0502040204020203" pitchFamily="34" charset="0"/>
                <a:sym typeface="Arial"/>
              </a:rPr>
              <a:t>Both sectors feel pressure where identity is established and money moves</a:t>
            </a:r>
            <a:endParaRPr kumimoji="0" sz="1600" b="0" i="0" u="none" strike="noStrike" kern="1200" cap="none" spc="0" normalizeH="0" baseline="0" noProof="0" dirty="0">
              <a:ln>
                <a:noFill/>
              </a:ln>
              <a:solidFill>
                <a:srgbClr val="FFFFFF"/>
              </a:solidFill>
              <a:effectLst/>
              <a:uLnTx/>
              <a:uFillTx/>
              <a:latin typeface="Segoe UI" panose="020B0502040204020203" pitchFamily="34" charset="0"/>
              <a:ea typeface="+mn-ea"/>
              <a:cs typeface="Segoe UI" panose="020B0502040204020203" pitchFamily="34" charset="0"/>
              <a:sym typeface="Arial"/>
            </a:endParaRPr>
          </a:p>
        </p:txBody>
      </p:sp>
      <p:sp>
        <p:nvSpPr>
          <p:cNvPr id="22" name="Title 2">
            <a:extLst>
              <a:ext uri="{FF2B5EF4-FFF2-40B4-BE49-F238E27FC236}">
                <a16:creationId xmlns:a16="http://schemas.microsoft.com/office/drawing/2014/main" id="{F8C0FCF4-7CF4-74E9-22AB-D65F03E92177}"/>
              </a:ext>
            </a:extLst>
          </p:cNvPr>
          <p:cNvSpPr txBox="1">
            <a:spLocks/>
          </p:cNvSpPr>
          <p:nvPr/>
        </p:nvSpPr>
        <p:spPr>
          <a:xfrm>
            <a:off x="3768775" y="2495287"/>
            <a:ext cx="3679607" cy="627864"/>
          </a:xfrm>
          <a:prstGeom prst="rect">
            <a:avLst/>
          </a:prstGeom>
        </p:spPr>
        <p:txBody>
          <a:bodyPr vert="horz" wrap="square" lIns="91440" tIns="91440" rIns="91440" bIns="91440" rtlCol="0" anchor="ctr">
            <a:spAutoFit/>
          </a:bodyPr>
          <a:lstStyle>
            <a:lvl1pPr algn="l" defTabSz="914400" rtl="0" eaLnBrk="1" latinLnBrk="0" hangingPunct="1">
              <a:lnSpc>
                <a:spcPct val="90000"/>
              </a:lnSpc>
              <a:spcBef>
                <a:spcPct val="0"/>
              </a:spcBef>
              <a:buNone/>
              <a:defRPr lang="en-CA" sz="3600" b="1" kern="1200" cap="all" baseline="0">
                <a:solidFill>
                  <a:schemeClr val="tx1"/>
                </a:solidFill>
                <a:latin typeface="+mn-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1600" b="1" i="0" u="none" strike="noStrike" kern="1200" cap="none" spc="0" normalizeH="0" baseline="0" noProof="0" dirty="0">
                <a:ln>
                  <a:noFill/>
                </a:ln>
                <a:solidFill>
                  <a:srgbClr val="046A38"/>
                </a:solidFill>
                <a:effectLst/>
                <a:uLnTx/>
                <a:uFillTx/>
                <a:latin typeface="Segoe UI" panose="020B0502040204020203" pitchFamily="34" charset="0"/>
                <a:ea typeface="+mj-ea"/>
                <a:cs typeface="Segoe UI" panose="020B0502040204020203" pitchFamily="34" charset="0"/>
                <a:sym typeface="Arial"/>
              </a:rPr>
              <a:t>Digital onboarding, KYC &amp; identity verification</a:t>
            </a:r>
          </a:p>
        </p:txBody>
      </p:sp>
      <p:grpSp>
        <p:nvGrpSpPr>
          <p:cNvPr id="23" name="Graphic 4">
            <a:extLst>
              <a:ext uri="{FF2B5EF4-FFF2-40B4-BE49-F238E27FC236}">
                <a16:creationId xmlns:a16="http://schemas.microsoft.com/office/drawing/2014/main" id="{07FADAA1-47D5-588A-E162-032C28F3F898}"/>
              </a:ext>
            </a:extLst>
          </p:cNvPr>
          <p:cNvGrpSpPr/>
          <p:nvPr/>
        </p:nvGrpSpPr>
        <p:grpSpPr>
          <a:xfrm>
            <a:off x="3272249" y="2578306"/>
            <a:ext cx="461826" cy="461826"/>
            <a:chOff x="905454" y="918179"/>
            <a:chExt cx="362309" cy="361971"/>
          </a:xfrm>
          <a:solidFill>
            <a:schemeClr val="accent2"/>
          </a:solidFill>
        </p:grpSpPr>
        <p:sp>
          <p:nvSpPr>
            <p:cNvPr id="24" name="Graphic 4">
              <a:extLst>
                <a:ext uri="{FF2B5EF4-FFF2-40B4-BE49-F238E27FC236}">
                  <a16:creationId xmlns:a16="http://schemas.microsoft.com/office/drawing/2014/main" id="{F7942F26-6452-6A92-9A7D-7D897709347B}"/>
                </a:ext>
              </a:extLst>
            </p:cNvPr>
            <p:cNvSpPr/>
            <p:nvPr/>
          </p:nvSpPr>
          <p:spPr>
            <a:xfrm>
              <a:off x="1003105" y="1019046"/>
              <a:ext cx="113855" cy="110442"/>
            </a:xfrm>
            <a:custGeom>
              <a:avLst/>
              <a:gdLst>
                <a:gd name="connsiteX0" fmla="*/ 83184 w 113855"/>
                <a:gd name="connsiteY0" fmla="*/ 0 h 110442"/>
                <a:gd name="connsiteX1" fmla="*/ 754 w 113855"/>
                <a:gd name="connsiteY1" fmla="*/ 15322 h 110442"/>
                <a:gd name="connsiteX2" fmla="*/ 20563 w 113855"/>
                <a:gd name="connsiteY2" fmla="*/ 110443 h 110442"/>
                <a:gd name="connsiteX3" fmla="*/ 113856 w 113855"/>
                <a:gd name="connsiteY3" fmla="*/ 17237 h 110442"/>
                <a:gd name="connsiteX4" fmla="*/ 83184 w 113855"/>
                <a:gd name="connsiteY4" fmla="*/ 0 h 1104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855" h="110442">
                  <a:moveTo>
                    <a:pt x="83184" y="0"/>
                  </a:moveTo>
                  <a:cubicBezTo>
                    <a:pt x="60819" y="20429"/>
                    <a:pt x="28869" y="26174"/>
                    <a:pt x="754" y="15322"/>
                  </a:cubicBezTo>
                  <a:cubicBezTo>
                    <a:pt x="-2441" y="48518"/>
                    <a:pt x="4588" y="81715"/>
                    <a:pt x="20563" y="110443"/>
                  </a:cubicBezTo>
                  <a:lnTo>
                    <a:pt x="113856" y="17237"/>
                  </a:lnTo>
                  <a:cubicBezTo>
                    <a:pt x="102354" y="14045"/>
                    <a:pt x="92130" y="8299"/>
                    <a:pt x="83184" y="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25" name="Graphic 4">
              <a:extLst>
                <a:ext uri="{FF2B5EF4-FFF2-40B4-BE49-F238E27FC236}">
                  <a16:creationId xmlns:a16="http://schemas.microsoft.com/office/drawing/2014/main" id="{F625A9D4-1FFE-73DB-FDF7-C9687B68743C}"/>
                </a:ext>
              </a:extLst>
            </p:cNvPr>
            <p:cNvSpPr/>
            <p:nvPr/>
          </p:nvSpPr>
          <p:spPr>
            <a:xfrm>
              <a:off x="1047310" y="1038836"/>
              <a:ext cx="121669" cy="153853"/>
            </a:xfrm>
            <a:custGeom>
              <a:avLst/>
              <a:gdLst>
                <a:gd name="connsiteX0" fmla="*/ 0 w 121669"/>
                <a:gd name="connsiteY0" fmla="*/ 121934 h 153853"/>
                <a:gd name="connsiteX1" fmla="*/ 38979 w 121669"/>
                <a:gd name="connsiteY1" fmla="*/ 153854 h 153853"/>
                <a:gd name="connsiteX2" fmla="*/ 121409 w 121669"/>
                <a:gd name="connsiteY2" fmla="*/ 0 h 153853"/>
                <a:gd name="connsiteX3" fmla="*/ 0 w 121669"/>
                <a:gd name="connsiteY3" fmla="*/ 121934 h 153853"/>
              </a:gdLst>
              <a:ahLst/>
              <a:cxnLst>
                <a:cxn ang="0">
                  <a:pos x="connsiteX0" y="connsiteY0"/>
                </a:cxn>
                <a:cxn ang="0">
                  <a:pos x="connsiteX1" y="connsiteY1"/>
                </a:cxn>
                <a:cxn ang="0">
                  <a:pos x="connsiteX2" y="connsiteY2"/>
                </a:cxn>
                <a:cxn ang="0">
                  <a:pos x="connsiteX3" y="connsiteY3"/>
                </a:cxn>
              </a:cxnLst>
              <a:rect l="l" t="t" r="r" b="b"/>
              <a:pathLst>
                <a:path w="121669" h="153853">
                  <a:moveTo>
                    <a:pt x="0" y="121934"/>
                  </a:moveTo>
                  <a:cubicBezTo>
                    <a:pt x="11502" y="134702"/>
                    <a:pt x="24921" y="144916"/>
                    <a:pt x="38979" y="153854"/>
                  </a:cubicBezTo>
                  <a:cubicBezTo>
                    <a:pt x="54954" y="144916"/>
                    <a:pt x="126521" y="97037"/>
                    <a:pt x="121409" y="0"/>
                  </a:cubicBezTo>
                  <a:lnTo>
                    <a:pt x="0" y="121934"/>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31" name="Graphic 4">
              <a:extLst>
                <a:ext uri="{FF2B5EF4-FFF2-40B4-BE49-F238E27FC236}">
                  <a16:creationId xmlns:a16="http://schemas.microsoft.com/office/drawing/2014/main" id="{F6997BFE-6FF6-EFEE-A7D7-25D69A40EB07}"/>
                </a:ext>
              </a:extLst>
            </p:cNvPr>
            <p:cNvSpPr/>
            <p:nvPr/>
          </p:nvSpPr>
          <p:spPr>
            <a:xfrm>
              <a:off x="1031335" y="1038836"/>
              <a:ext cx="120130" cy="112358"/>
            </a:xfrm>
            <a:custGeom>
              <a:avLst/>
              <a:gdLst>
                <a:gd name="connsiteX0" fmla="*/ 100961 w 120130"/>
                <a:gd name="connsiteY0" fmla="*/ 638 h 112358"/>
                <a:gd name="connsiteX1" fmla="*/ 0 w 120130"/>
                <a:gd name="connsiteY1" fmla="*/ 101505 h 112358"/>
                <a:gd name="connsiteX2" fmla="*/ 7668 w 120130"/>
                <a:gd name="connsiteY2" fmla="*/ 112358 h 112358"/>
                <a:gd name="connsiteX3" fmla="*/ 120131 w 120130"/>
                <a:gd name="connsiteY3" fmla="*/ 0 h 112358"/>
                <a:gd name="connsiteX4" fmla="*/ 100961 w 120130"/>
                <a:gd name="connsiteY4" fmla="*/ 638 h 1123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130" h="112358">
                  <a:moveTo>
                    <a:pt x="100961" y="638"/>
                  </a:moveTo>
                  <a:lnTo>
                    <a:pt x="0" y="101505"/>
                  </a:lnTo>
                  <a:cubicBezTo>
                    <a:pt x="2556" y="105336"/>
                    <a:pt x="5112" y="109166"/>
                    <a:pt x="7668" y="112358"/>
                  </a:cubicBezTo>
                  <a:lnTo>
                    <a:pt x="120131" y="0"/>
                  </a:lnTo>
                  <a:cubicBezTo>
                    <a:pt x="113741" y="638"/>
                    <a:pt x="107351" y="638"/>
                    <a:pt x="100961" y="63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35" name="Graphic 4">
              <a:extLst>
                <a:ext uri="{FF2B5EF4-FFF2-40B4-BE49-F238E27FC236}">
                  <a16:creationId xmlns:a16="http://schemas.microsoft.com/office/drawing/2014/main" id="{09D61E77-7B09-3D4E-746F-8256A8BEA680}"/>
                </a:ext>
              </a:extLst>
            </p:cNvPr>
            <p:cNvSpPr/>
            <p:nvPr/>
          </p:nvSpPr>
          <p:spPr>
            <a:xfrm>
              <a:off x="905454" y="918179"/>
              <a:ext cx="362309" cy="361971"/>
            </a:xfrm>
            <a:custGeom>
              <a:avLst/>
              <a:gdLst>
                <a:gd name="connsiteX0" fmla="*/ 180835 w 362309"/>
                <a:gd name="connsiteY0" fmla="*/ 0 h 361971"/>
                <a:gd name="connsiteX1" fmla="*/ 0 w 362309"/>
                <a:gd name="connsiteY1" fmla="*/ 181305 h 361971"/>
                <a:gd name="connsiteX2" fmla="*/ 180835 w 362309"/>
                <a:gd name="connsiteY2" fmla="*/ 361972 h 361971"/>
                <a:gd name="connsiteX3" fmla="*/ 362309 w 362309"/>
                <a:gd name="connsiteY3" fmla="*/ 181305 h 361971"/>
                <a:gd name="connsiteX4" fmla="*/ 180835 w 362309"/>
                <a:gd name="connsiteY4" fmla="*/ 0 h 361971"/>
                <a:gd name="connsiteX5" fmla="*/ 180835 w 362309"/>
                <a:gd name="connsiteY5" fmla="*/ 0 h 361971"/>
                <a:gd name="connsiteX6" fmla="*/ 184030 w 362309"/>
                <a:gd name="connsiteY6" fmla="*/ 287918 h 361971"/>
                <a:gd name="connsiteX7" fmla="*/ 183391 w 362309"/>
                <a:gd name="connsiteY7" fmla="*/ 288556 h 361971"/>
                <a:gd name="connsiteX8" fmla="*/ 182752 w 362309"/>
                <a:gd name="connsiteY8" fmla="*/ 288556 h 361971"/>
                <a:gd name="connsiteX9" fmla="*/ 181474 w 362309"/>
                <a:gd name="connsiteY9" fmla="*/ 288556 h 361971"/>
                <a:gd name="connsiteX10" fmla="*/ 181474 w 362309"/>
                <a:gd name="connsiteY10" fmla="*/ 288556 h 361971"/>
                <a:gd name="connsiteX11" fmla="*/ 180196 w 362309"/>
                <a:gd name="connsiteY11" fmla="*/ 288556 h 361971"/>
                <a:gd name="connsiteX12" fmla="*/ 179557 w 362309"/>
                <a:gd name="connsiteY12" fmla="*/ 288556 h 361971"/>
                <a:gd name="connsiteX13" fmla="*/ 178918 w 362309"/>
                <a:gd name="connsiteY13" fmla="*/ 287918 h 361971"/>
                <a:gd name="connsiteX14" fmla="*/ 87542 w 362309"/>
                <a:gd name="connsiteY14" fmla="*/ 105974 h 361971"/>
                <a:gd name="connsiteX15" fmla="*/ 94571 w 362309"/>
                <a:gd name="connsiteY15" fmla="*/ 100229 h 361971"/>
                <a:gd name="connsiteX16" fmla="*/ 97127 w 362309"/>
                <a:gd name="connsiteY16" fmla="*/ 100867 h 361971"/>
                <a:gd name="connsiteX17" fmla="*/ 177640 w 362309"/>
                <a:gd name="connsiteY17" fmla="*/ 87461 h 361971"/>
                <a:gd name="connsiteX18" fmla="*/ 186586 w 362309"/>
                <a:gd name="connsiteY18" fmla="*/ 87461 h 361971"/>
                <a:gd name="connsiteX19" fmla="*/ 186586 w 362309"/>
                <a:gd name="connsiteY19" fmla="*/ 87461 h 361971"/>
                <a:gd name="connsiteX20" fmla="*/ 267099 w 362309"/>
                <a:gd name="connsiteY20" fmla="*/ 100867 h 361971"/>
                <a:gd name="connsiteX21" fmla="*/ 272850 w 362309"/>
                <a:gd name="connsiteY21" fmla="*/ 100867 h 361971"/>
                <a:gd name="connsiteX22" fmla="*/ 276684 w 362309"/>
                <a:gd name="connsiteY22" fmla="*/ 105974 h 361971"/>
                <a:gd name="connsiteX23" fmla="*/ 184030 w 362309"/>
                <a:gd name="connsiteY23" fmla="*/ 287918 h 361971"/>
                <a:gd name="connsiteX24" fmla="*/ 184030 w 362309"/>
                <a:gd name="connsiteY24" fmla="*/ 287918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62309" h="361971">
                  <a:moveTo>
                    <a:pt x="180835" y="0"/>
                  </a:moveTo>
                  <a:cubicBezTo>
                    <a:pt x="80513" y="0"/>
                    <a:pt x="0" y="81077"/>
                    <a:pt x="0" y="181305"/>
                  </a:cubicBezTo>
                  <a:cubicBezTo>
                    <a:pt x="0" y="281534"/>
                    <a:pt x="81152" y="361972"/>
                    <a:pt x="180835" y="361972"/>
                  </a:cubicBezTo>
                  <a:cubicBezTo>
                    <a:pt x="280518" y="361972"/>
                    <a:pt x="362309" y="280895"/>
                    <a:pt x="362309" y="181305"/>
                  </a:cubicBezTo>
                  <a:cubicBezTo>
                    <a:pt x="362309" y="81715"/>
                    <a:pt x="281157" y="0"/>
                    <a:pt x="180835" y="0"/>
                  </a:cubicBezTo>
                  <a:cubicBezTo>
                    <a:pt x="180835" y="0"/>
                    <a:pt x="180835" y="0"/>
                    <a:pt x="180835" y="0"/>
                  </a:cubicBezTo>
                  <a:close/>
                  <a:moveTo>
                    <a:pt x="184030" y="287918"/>
                  </a:moveTo>
                  <a:lnTo>
                    <a:pt x="183391" y="288556"/>
                  </a:lnTo>
                  <a:lnTo>
                    <a:pt x="182752" y="288556"/>
                  </a:lnTo>
                  <a:cubicBezTo>
                    <a:pt x="182113" y="288556"/>
                    <a:pt x="181474" y="288556"/>
                    <a:pt x="181474" y="288556"/>
                  </a:cubicBezTo>
                  <a:lnTo>
                    <a:pt x="181474" y="288556"/>
                  </a:lnTo>
                  <a:cubicBezTo>
                    <a:pt x="180835" y="288556"/>
                    <a:pt x="180196" y="288556"/>
                    <a:pt x="180196" y="288556"/>
                  </a:cubicBezTo>
                  <a:lnTo>
                    <a:pt x="179557" y="288556"/>
                  </a:lnTo>
                  <a:lnTo>
                    <a:pt x="178918" y="287918"/>
                  </a:lnTo>
                  <a:cubicBezTo>
                    <a:pt x="177640" y="287279"/>
                    <a:pt x="72845" y="231739"/>
                    <a:pt x="87542" y="105974"/>
                  </a:cubicBezTo>
                  <a:cubicBezTo>
                    <a:pt x="88181" y="102782"/>
                    <a:pt x="91376" y="100229"/>
                    <a:pt x="94571" y="100229"/>
                  </a:cubicBezTo>
                  <a:cubicBezTo>
                    <a:pt x="95210" y="100229"/>
                    <a:pt x="96488" y="100867"/>
                    <a:pt x="97127" y="100867"/>
                  </a:cubicBezTo>
                  <a:cubicBezTo>
                    <a:pt x="123965" y="114912"/>
                    <a:pt x="156553" y="109166"/>
                    <a:pt x="177640" y="87461"/>
                  </a:cubicBezTo>
                  <a:cubicBezTo>
                    <a:pt x="180196" y="84907"/>
                    <a:pt x="184030" y="84907"/>
                    <a:pt x="186586" y="87461"/>
                  </a:cubicBezTo>
                  <a:cubicBezTo>
                    <a:pt x="186586" y="87461"/>
                    <a:pt x="186586" y="87461"/>
                    <a:pt x="186586" y="87461"/>
                  </a:cubicBezTo>
                  <a:cubicBezTo>
                    <a:pt x="207034" y="109804"/>
                    <a:pt x="240262" y="114912"/>
                    <a:pt x="267099" y="100867"/>
                  </a:cubicBezTo>
                  <a:cubicBezTo>
                    <a:pt x="269016" y="99590"/>
                    <a:pt x="270933" y="99590"/>
                    <a:pt x="272850" y="100867"/>
                  </a:cubicBezTo>
                  <a:cubicBezTo>
                    <a:pt x="274767" y="102144"/>
                    <a:pt x="276045" y="103420"/>
                    <a:pt x="276684" y="105974"/>
                  </a:cubicBezTo>
                  <a:cubicBezTo>
                    <a:pt x="290103" y="231739"/>
                    <a:pt x="185308" y="287279"/>
                    <a:pt x="184030" y="287918"/>
                  </a:cubicBezTo>
                  <a:lnTo>
                    <a:pt x="184030" y="287918"/>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dirty="0">
                <a:ln>
                  <a:noFill/>
                </a:ln>
                <a:solidFill>
                  <a:srgbClr val="000000"/>
                </a:solidFill>
                <a:effectLst/>
                <a:uLnTx/>
                <a:uFillTx/>
                <a:latin typeface="Arial"/>
                <a:cs typeface="Arial"/>
                <a:sym typeface="Arial"/>
              </a:endParaRPr>
            </a:p>
          </p:txBody>
        </p:sp>
      </p:grpSp>
      <p:sp>
        <p:nvSpPr>
          <p:cNvPr id="37" name="Text 11">
            <a:extLst>
              <a:ext uri="{FF2B5EF4-FFF2-40B4-BE49-F238E27FC236}">
                <a16:creationId xmlns:a16="http://schemas.microsoft.com/office/drawing/2014/main" id="{76456386-309A-CAA2-3B9A-973773DF6F9F}"/>
              </a:ext>
            </a:extLst>
          </p:cNvPr>
          <p:cNvSpPr/>
          <p:nvPr/>
        </p:nvSpPr>
        <p:spPr>
          <a:xfrm>
            <a:off x="3396722" y="3614020"/>
            <a:ext cx="1317171" cy="538609"/>
          </a:xfrm>
          <a:prstGeom prst="rect">
            <a:avLst/>
          </a:prstGeom>
          <a:noFill/>
          <a:ln/>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500" b="1" i="0" u="none" strike="noStrike" kern="1200" cap="none" spc="0" normalizeH="0" baseline="0" noProof="0" dirty="0">
                <a:ln>
                  <a:noFill/>
                </a:ln>
                <a:solidFill>
                  <a:srgbClr val="046A38"/>
                </a:solidFill>
                <a:effectLst/>
                <a:uLnTx/>
                <a:uFillTx/>
                <a:latin typeface="Segoe UI" panose="020B0502040204020203" pitchFamily="34" charset="0"/>
                <a:ea typeface="Calibri" pitchFamily="34" charset="-122"/>
                <a:cs typeface="Segoe UI" panose="020B0502040204020203" pitchFamily="34" charset="0"/>
                <a:sym typeface="Arial"/>
              </a:rPr>
              <a:t>70%</a:t>
            </a:r>
            <a:endParaRPr kumimoji="0" lang="en-US" sz="3500" b="0" i="0" u="none" strike="noStrike" kern="1200" cap="none" spc="0" normalizeH="0" baseline="0" noProof="0" dirty="0">
              <a:ln>
                <a:noFill/>
              </a:ln>
              <a:solidFill>
                <a:srgbClr val="046A38"/>
              </a:solidFill>
              <a:effectLst/>
              <a:uLnTx/>
              <a:uFillTx/>
              <a:latin typeface="Segoe UI" panose="020B0502040204020203" pitchFamily="34" charset="0"/>
              <a:ea typeface="+mn-ea"/>
              <a:cs typeface="Segoe UI" panose="020B0502040204020203" pitchFamily="34" charset="0"/>
              <a:sym typeface="Arial"/>
            </a:endParaRPr>
          </a:p>
        </p:txBody>
      </p:sp>
      <p:sp>
        <p:nvSpPr>
          <p:cNvPr id="40" name="Text 12">
            <a:extLst>
              <a:ext uri="{FF2B5EF4-FFF2-40B4-BE49-F238E27FC236}">
                <a16:creationId xmlns:a16="http://schemas.microsoft.com/office/drawing/2014/main" id="{6FD44199-DFB4-7220-3C08-F3A810CD9091}"/>
              </a:ext>
            </a:extLst>
          </p:cNvPr>
          <p:cNvSpPr/>
          <p:nvPr/>
        </p:nvSpPr>
        <p:spPr>
          <a:xfrm>
            <a:off x="3396723" y="4195191"/>
            <a:ext cx="4051660" cy="338554"/>
          </a:xfrm>
          <a:prstGeom prst="rect">
            <a:avLst/>
          </a:prstGeom>
          <a:noFill/>
          <a:ln/>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srgbClr val="000000"/>
                </a:solidFill>
                <a:effectLst/>
                <a:uLnTx/>
                <a:uFillTx/>
                <a:latin typeface="Segoe UI" panose="020B0502040204020203" pitchFamily="34" charset="0"/>
                <a:ea typeface="Calibri" pitchFamily="34" charset="-122"/>
                <a:cs typeface="Segoe UI" panose="020B0502040204020203" pitchFamily="34" charset="0"/>
                <a:sym typeface="Arial"/>
              </a:rPr>
              <a:t>of all respondents cited as experiencing the greatest increase in vulnerability</a:t>
            </a:r>
          </a:p>
        </p:txBody>
      </p:sp>
      <p:sp>
        <p:nvSpPr>
          <p:cNvPr id="43" name="Rectangle: Rounded Corners 42">
            <a:extLst>
              <a:ext uri="{FF2B5EF4-FFF2-40B4-BE49-F238E27FC236}">
                <a16:creationId xmlns:a16="http://schemas.microsoft.com/office/drawing/2014/main" id="{2FC12802-F472-553E-374B-7781A88A4A64}"/>
              </a:ext>
            </a:extLst>
          </p:cNvPr>
          <p:cNvSpPr/>
          <p:nvPr/>
        </p:nvSpPr>
        <p:spPr>
          <a:xfrm>
            <a:off x="3272249" y="3204304"/>
            <a:ext cx="2967510" cy="280826"/>
          </a:xfrm>
          <a:prstGeom prst="roundRect">
            <a:avLst/>
          </a:prstGeom>
          <a:noFill/>
          <a:ln w="6350">
            <a:noFill/>
          </a:ln>
          <a:effectLst>
            <a:glow rad="12700">
              <a:schemeClr val="accent1">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wrap="square" tIns="0" bIns="0" rtlCol="0" anchor="ctr" anchorCtr="0"/>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500" b="1" i="0" u="none" strike="noStrike" kern="0" cap="none" spc="100" normalizeH="0" baseline="0" noProof="0" dirty="0">
                <a:ln>
                  <a:noFill/>
                </a:ln>
                <a:solidFill>
                  <a:srgbClr val="000000">
                    <a:lumMod val="75000"/>
                    <a:lumOff val="25000"/>
                  </a:srgbClr>
                </a:solidFill>
                <a:effectLst/>
                <a:uLnTx/>
                <a:uFillTx/>
                <a:latin typeface="Segoe UI" panose="020B0502040204020203" pitchFamily="34" charset="0"/>
                <a:ea typeface="+mn-ea"/>
                <a:cs typeface="Segoe UI" panose="020B0502040204020203" pitchFamily="34" charset="0"/>
                <a:sym typeface="Arial"/>
              </a:rPr>
              <a:t>BANKING AND INSURANCE</a:t>
            </a:r>
          </a:p>
        </p:txBody>
      </p:sp>
      <p:sp>
        <p:nvSpPr>
          <p:cNvPr id="131" name="Rounded Rectangle 47">
            <a:extLst>
              <a:ext uri="{FF2B5EF4-FFF2-40B4-BE49-F238E27FC236}">
                <a16:creationId xmlns:a16="http://schemas.microsoft.com/office/drawing/2014/main" id="{B607BA37-DD3A-C175-E01F-DBEB2A4C0E96}"/>
              </a:ext>
            </a:extLst>
          </p:cNvPr>
          <p:cNvSpPr/>
          <p:nvPr/>
        </p:nvSpPr>
        <p:spPr>
          <a:xfrm>
            <a:off x="7640608" y="2383656"/>
            <a:ext cx="4219528" cy="2397851"/>
          </a:xfrm>
          <a:prstGeom prst="roundRect">
            <a:avLst>
              <a:gd name="adj" fmla="val 6000"/>
            </a:avLst>
          </a:prstGeom>
          <a:solidFill>
            <a:srgbClr val="FFFFFF"/>
          </a:solidFill>
          <a:ln w="28575">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132" name="Title 2">
            <a:extLst>
              <a:ext uri="{FF2B5EF4-FFF2-40B4-BE49-F238E27FC236}">
                <a16:creationId xmlns:a16="http://schemas.microsoft.com/office/drawing/2014/main" id="{99CB2698-5071-2799-317D-2048ACF23626}"/>
              </a:ext>
            </a:extLst>
          </p:cNvPr>
          <p:cNvSpPr txBox="1">
            <a:spLocks/>
          </p:cNvSpPr>
          <p:nvPr/>
        </p:nvSpPr>
        <p:spPr>
          <a:xfrm>
            <a:off x="8262754" y="2575608"/>
            <a:ext cx="3679607" cy="406265"/>
          </a:xfrm>
          <a:prstGeom prst="rect">
            <a:avLst/>
          </a:prstGeom>
        </p:spPr>
        <p:txBody>
          <a:bodyPr vert="horz" wrap="square" lIns="91440" tIns="91440" rIns="91440" bIns="91440" rtlCol="0" anchor="ctr">
            <a:spAutoFit/>
          </a:bodyPr>
          <a:lstStyle>
            <a:lvl1pPr algn="l" defTabSz="914400" rtl="0" eaLnBrk="1" latinLnBrk="0" hangingPunct="1">
              <a:lnSpc>
                <a:spcPct val="90000"/>
              </a:lnSpc>
              <a:spcBef>
                <a:spcPct val="0"/>
              </a:spcBef>
              <a:buNone/>
              <a:defRPr lang="en-CA" sz="3600" b="1" kern="1200" cap="all" baseline="0">
                <a:solidFill>
                  <a:schemeClr val="tx1"/>
                </a:solidFill>
                <a:latin typeface="+mn-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1600" b="1" i="0" u="none" strike="noStrike" kern="1200" cap="none" spc="0" normalizeH="0" baseline="0" noProof="0" dirty="0">
                <a:ln>
                  <a:noFill/>
                </a:ln>
                <a:solidFill>
                  <a:srgbClr val="046A38"/>
                </a:solidFill>
                <a:effectLst/>
                <a:uLnTx/>
                <a:uFillTx/>
                <a:latin typeface="Segoe UI" panose="020B0502040204020203" pitchFamily="34" charset="0"/>
                <a:ea typeface="+mj-ea"/>
                <a:cs typeface="Segoe UI" panose="020B0502040204020203" pitchFamily="34" charset="0"/>
                <a:sym typeface="Arial"/>
              </a:rPr>
              <a:t>Payments &amp; claim flows</a:t>
            </a:r>
          </a:p>
        </p:txBody>
      </p:sp>
      <p:sp>
        <p:nvSpPr>
          <p:cNvPr id="147" name="Rectangle: Rounded Corners 146">
            <a:extLst>
              <a:ext uri="{FF2B5EF4-FFF2-40B4-BE49-F238E27FC236}">
                <a16:creationId xmlns:a16="http://schemas.microsoft.com/office/drawing/2014/main" id="{9056CC55-5B27-3BE5-1414-7A1389BF8464}"/>
              </a:ext>
            </a:extLst>
          </p:cNvPr>
          <p:cNvSpPr/>
          <p:nvPr/>
        </p:nvSpPr>
        <p:spPr>
          <a:xfrm>
            <a:off x="7766228" y="3173825"/>
            <a:ext cx="1240612" cy="309161"/>
          </a:xfrm>
          <a:prstGeom prst="roundRect">
            <a:avLst/>
          </a:prstGeom>
          <a:noFill/>
          <a:ln w="6350">
            <a:noFill/>
          </a:ln>
          <a:effectLst>
            <a:glow rad="12700">
              <a:schemeClr val="accent1">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wrap="square" tIns="0" bIns="0" rtlCol="0" anchor="ctr" anchorCtr="0"/>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500" b="1" i="0" u="none" strike="noStrike" kern="0" cap="none" spc="100" normalizeH="0" baseline="0" noProof="0" dirty="0">
                <a:ln>
                  <a:noFill/>
                </a:ln>
                <a:solidFill>
                  <a:srgbClr val="000000">
                    <a:lumMod val="75000"/>
                    <a:lumOff val="25000"/>
                  </a:srgbClr>
                </a:solidFill>
                <a:effectLst/>
                <a:uLnTx/>
                <a:uFillTx/>
                <a:latin typeface="Segoe UI" panose="020B0502040204020203" pitchFamily="34" charset="0"/>
                <a:ea typeface="+mn-ea"/>
                <a:cs typeface="Segoe UI" panose="020B0502040204020203" pitchFamily="34" charset="0"/>
                <a:sym typeface="Arial"/>
              </a:rPr>
              <a:t>BANKING </a:t>
            </a:r>
          </a:p>
        </p:txBody>
      </p:sp>
      <p:sp>
        <p:nvSpPr>
          <p:cNvPr id="163" name="Rectangle: Rounded Corners 162">
            <a:extLst>
              <a:ext uri="{FF2B5EF4-FFF2-40B4-BE49-F238E27FC236}">
                <a16:creationId xmlns:a16="http://schemas.microsoft.com/office/drawing/2014/main" id="{C8804A66-5E8F-5267-3A77-569A29E205D4}"/>
              </a:ext>
            </a:extLst>
          </p:cNvPr>
          <p:cNvSpPr/>
          <p:nvPr/>
        </p:nvSpPr>
        <p:spPr>
          <a:xfrm>
            <a:off x="9816556" y="3141992"/>
            <a:ext cx="1684988" cy="354308"/>
          </a:xfrm>
          <a:prstGeom prst="roundRect">
            <a:avLst/>
          </a:prstGeom>
          <a:noFill/>
          <a:ln w="6350">
            <a:noFill/>
          </a:ln>
          <a:effectLst>
            <a:glow rad="12700">
              <a:schemeClr val="accent1">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wrap="square" tIns="0" bIns="0" rtlCol="0" anchor="ctr" anchorCtr="0"/>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500" b="1" i="0" u="none" strike="noStrike" kern="0" cap="none" spc="100" normalizeH="0" baseline="0" noProof="0" dirty="0">
                <a:ln>
                  <a:noFill/>
                </a:ln>
                <a:solidFill>
                  <a:srgbClr val="000000">
                    <a:lumMod val="75000"/>
                    <a:lumOff val="25000"/>
                  </a:srgbClr>
                </a:solidFill>
                <a:effectLst/>
                <a:uLnTx/>
                <a:uFillTx/>
                <a:latin typeface="Segoe UI" panose="020B0502040204020203" pitchFamily="34" charset="0"/>
                <a:ea typeface="+mn-ea"/>
                <a:cs typeface="Segoe UI" panose="020B0502040204020203" pitchFamily="34" charset="0"/>
                <a:sym typeface="Arial"/>
              </a:rPr>
              <a:t>INSURANCE</a:t>
            </a:r>
          </a:p>
        </p:txBody>
      </p:sp>
      <p:sp>
        <p:nvSpPr>
          <p:cNvPr id="166" name="Text 11">
            <a:extLst>
              <a:ext uri="{FF2B5EF4-FFF2-40B4-BE49-F238E27FC236}">
                <a16:creationId xmlns:a16="http://schemas.microsoft.com/office/drawing/2014/main" id="{38166BC0-841A-C7AF-AD6C-0500ECA92CAF}"/>
              </a:ext>
            </a:extLst>
          </p:cNvPr>
          <p:cNvSpPr/>
          <p:nvPr/>
        </p:nvSpPr>
        <p:spPr>
          <a:xfrm>
            <a:off x="7890701" y="3593637"/>
            <a:ext cx="1317171" cy="538609"/>
          </a:xfrm>
          <a:prstGeom prst="rect">
            <a:avLst/>
          </a:prstGeom>
          <a:noFill/>
          <a:ln/>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500" b="1" i="0" u="none" strike="noStrike" kern="1200" cap="none" spc="0" normalizeH="0" baseline="0" noProof="0" dirty="0">
                <a:ln>
                  <a:noFill/>
                </a:ln>
                <a:solidFill>
                  <a:srgbClr val="046A38"/>
                </a:solidFill>
                <a:effectLst/>
                <a:uLnTx/>
                <a:uFillTx/>
                <a:latin typeface="Segoe UI" panose="020B0502040204020203" pitchFamily="34" charset="0"/>
                <a:ea typeface="Calibri" pitchFamily="34" charset="-122"/>
                <a:cs typeface="Segoe UI" panose="020B0502040204020203" pitchFamily="34" charset="0"/>
                <a:sym typeface="Arial"/>
              </a:rPr>
              <a:t>73%</a:t>
            </a:r>
            <a:endParaRPr kumimoji="0" lang="en-US" sz="3500" b="0" i="0" u="none" strike="noStrike" kern="1200" cap="none" spc="0" normalizeH="0" baseline="0" noProof="0" dirty="0">
              <a:ln>
                <a:noFill/>
              </a:ln>
              <a:solidFill>
                <a:srgbClr val="046A38"/>
              </a:solidFill>
              <a:effectLst/>
              <a:uLnTx/>
              <a:uFillTx/>
              <a:latin typeface="Segoe UI" panose="020B0502040204020203" pitchFamily="34" charset="0"/>
              <a:ea typeface="+mn-ea"/>
              <a:cs typeface="Segoe UI" panose="020B0502040204020203" pitchFamily="34" charset="0"/>
              <a:sym typeface="Arial"/>
            </a:endParaRPr>
          </a:p>
        </p:txBody>
      </p:sp>
      <p:sp>
        <p:nvSpPr>
          <p:cNvPr id="168" name="Text 12">
            <a:extLst>
              <a:ext uri="{FF2B5EF4-FFF2-40B4-BE49-F238E27FC236}">
                <a16:creationId xmlns:a16="http://schemas.microsoft.com/office/drawing/2014/main" id="{C5D9C31B-0E44-9063-F9D1-5CBE06DBFBC4}"/>
              </a:ext>
            </a:extLst>
          </p:cNvPr>
          <p:cNvSpPr/>
          <p:nvPr/>
        </p:nvSpPr>
        <p:spPr>
          <a:xfrm>
            <a:off x="7890701" y="4146594"/>
            <a:ext cx="1862776" cy="338554"/>
          </a:xfrm>
          <a:prstGeom prst="rect">
            <a:avLst/>
          </a:prstGeom>
          <a:noFill/>
          <a:ln/>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srgbClr val="000000"/>
                </a:solidFill>
                <a:effectLst/>
                <a:uLnTx/>
                <a:uFillTx/>
                <a:latin typeface="Segoe UI" panose="020B0502040204020203" pitchFamily="34" charset="0"/>
                <a:ea typeface="Calibri" pitchFamily="34" charset="-122"/>
                <a:cs typeface="Segoe UI" panose="020B0502040204020203" pitchFamily="34" charset="0"/>
                <a:sym typeface="Arial"/>
              </a:rPr>
              <a:t>flagged payment and transaction approvals</a:t>
            </a:r>
          </a:p>
        </p:txBody>
      </p:sp>
      <p:sp>
        <p:nvSpPr>
          <p:cNvPr id="170" name="Text 11">
            <a:extLst>
              <a:ext uri="{FF2B5EF4-FFF2-40B4-BE49-F238E27FC236}">
                <a16:creationId xmlns:a16="http://schemas.microsoft.com/office/drawing/2014/main" id="{FD132938-7EA7-22A7-01A8-252A82C5C1BD}"/>
              </a:ext>
            </a:extLst>
          </p:cNvPr>
          <p:cNvSpPr/>
          <p:nvPr/>
        </p:nvSpPr>
        <p:spPr>
          <a:xfrm>
            <a:off x="10000465" y="3578511"/>
            <a:ext cx="1317171" cy="538609"/>
          </a:xfrm>
          <a:prstGeom prst="rect">
            <a:avLst/>
          </a:prstGeom>
          <a:noFill/>
          <a:ln/>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500" b="1" i="0" u="none" strike="noStrike" kern="1200" cap="none" spc="0" normalizeH="0" baseline="0" noProof="0" dirty="0">
                <a:ln>
                  <a:noFill/>
                </a:ln>
                <a:solidFill>
                  <a:srgbClr val="046A38"/>
                </a:solidFill>
                <a:effectLst/>
                <a:uLnTx/>
                <a:uFillTx/>
                <a:latin typeface="Segoe UI" panose="020B0502040204020203" pitchFamily="34" charset="0"/>
                <a:ea typeface="Calibri" pitchFamily="34" charset="-122"/>
                <a:cs typeface="Segoe UI" panose="020B0502040204020203" pitchFamily="34" charset="0"/>
                <a:sym typeface="Arial"/>
              </a:rPr>
              <a:t>64%</a:t>
            </a:r>
            <a:endParaRPr kumimoji="0" lang="en-US" sz="3500" b="0" i="0" u="none" strike="noStrike" kern="1200" cap="none" spc="0" normalizeH="0" baseline="0" noProof="0" dirty="0">
              <a:ln>
                <a:noFill/>
              </a:ln>
              <a:solidFill>
                <a:srgbClr val="046A38"/>
              </a:solidFill>
              <a:effectLst/>
              <a:uLnTx/>
              <a:uFillTx/>
              <a:latin typeface="Segoe UI" panose="020B0502040204020203" pitchFamily="34" charset="0"/>
              <a:ea typeface="+mn-ea"/>
              <a:cs typeface="Segoe UI" panose="020B0502040204020203" pitchFamily="34" charset="0"/>
              <a:sym typeface="Arial"/>
            </a:endParaRPr>
          </a:p>
        </p:txBody>
      </p:sp>
      <p:sp>
        <p:nvSpPr>
          <p:cNvPr id="177" name="Text 12">
            <a:extLst>
              <a:ext uri="{FF2B5EF4-FFF2-40B4-BE49-F238E27FC236}">
                <a16:creationId xmlns:a16="http://schemas.microsoft.com/office/drawing/2014/main" id="{7D77D4DC-E1F8-EFD6-41D4-6AE011B89977}"/>
              </a:ext>
            </a:extLst>
          </p:cNvPr>
          <p:cNvSpPr/>
          <p:nvPr/>
        </p:nvSpPr>
        <p:spPr>
          <a:xfrm>
            <a:off x="10000465" y="4156958"/>
            <a:ext cx="1862776" cy="338554"/>
          </a:xfrm>
          <a:prstGeom prst="rect">
            <a:avLst/>
          </a:prstGeom>
          <a:noFill/>
          <a:ln/>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srgbClr val="000000"/>
                </a:solidFill>
                <a:effectLst/>
                <a:uLnTx/>
                <a:uFillTx/>
                <a:latin typeface="Segoe UI" panose="020B0502040204020203" pitchFamily="34" charset="0"/>
                <a:ea typeface="Calibri" pitchFamily="34" charset="-122"/>
                <a:cs typeface="Segoe UI" panose="020B0502040204020203" pitchFamily="34" charset="0"/>
                <a:sym typeface="Arial"/>
              </a:rPr>
              <a:t>flagged claims and underwriting review</a:t>
            </a:r>
          </a:p>
        </p:txBody>
      </p:sp>
      <p:grpSp>
        <p:nvGrpSpPr>
          <p:cNvPr id="178" name="Graphic 4">
            <a:extLst>
              <a:ext uri="{FF2B5EF4-FFF2-40B4-BE49-F238E27FC236}">
                <a16:creationId xmlns:a16="http://schemas.microsoft.com/office/drawing/2014/main" id="{D11BED4C-082D-E784-80A7-E428F93389B6}"/>
              </a:ext>
            </a:extLst>
          </p:cNvPr>
          <p:cNvGrpSpPr/>
          <p:nvPr/>
        </p:nvGrpSpPr>
        <p:grpSpPr>
          <a:xfrm>
            <a:off x="7789307" y="2587908"/>
            <a:ext cx="475266" cy="475266"/>
            <a:chOff x="9279466" y="1402244"/>
            <a:chExt cx="362309" cy="362450"/>
          </a:xfrm>
          <a:solidFill>
            <a:schemeClr val="accent2"/>
          </a:solidFill>
        </p:grpSpPr>
        <p:sp>
          <p:nvSpPr>
            <p:cNvPr id="179" name="Graphic 4">
              <a:extLst>
                <a:ext uri="{FF2B5EF4-FFF2-40B4-BE49-F238E27FC236}">
                  <a16:creationId xmlns:a16="http://schemas.microsoft.com/office/drawing/2014/main" id="{DCA1A48B-C713-4713-D0D2-5529FBA2BD59}"/>
                </a:ext>
              </a:extLst>
            </p:cNvPr>
            <p:cNvSpPr/>
            <p:nvPr/>
          </p:nvSpPr>
          <p:spPr>
            <a:xfrm rot="-2700000">
              <a:off x="9402917" y="1531993"/>
              <a:ext cx="105432" cy="54901"/>
            </a:xfrm>
            <a:custGeom>
              <a:avLst/>
              <a:gdLst>
                <a:gd name="connsiteX0" fmla="*/ 0 w 105432"/>
                <a:gd name="connsiteY0" fmla="*/ 0 h 54901"/>
                <a:gd name="connsiteX1" fmla="*/ 105433 w 105432"/>
                <a:gd name="connsiteY1" fmla="*/ 0 h 54901"/>
                <a:gd name="connsiteX2" fmla="*/ 105433 w 105432"/>
                <a:gd name="connsiteY2" fmla="*/ 54902 h 54901"/>
                <a:gd name="connsiteX3" fmla="*/ 0 w 105432"/>
                <a:gd name="connsiteY3" fmla="*/ 54902 h 54901"/>
              </a:gdLst>
              <a:ahLst/>
              <a:cxnLst>
                <a:cxn ang="0">
                  <a:pos x="connsiteX0" y="connsiteY0"/>
                </a:cxn>
                <a:cxn ang="0">
                  <a:pos x="connsiteX1" y="connsiteY1"/>
                </a:cxn>
                <a:cxn ang="0">
                  <a:pos x="connsiteX2" y="connsiteY2"/>
                </a:cxn>
                <a:cxn ang="0">
                  <a:pos x="connsiteX3" y="connsiteY3"/>
                </a:cxn>
              </a:cxnLst>
              <a:rect l="l" t="t" r="r" b="b"/>
              <a:pathLst>
                <a:path w="105432" h="54901">
                  <a:moveTo>
                    <a:pt x="0" y="0"/>
                  </a:moveTo>
                  <a:lnTo>
                    <a:pt x="105433" y="0"/>
                  </a:lnTo>
                  <a:lnTo>
                    <a:pt x="105433" y="54902"/>
                  </a:lnTo>
                  <a:lnTo>
                    <a:pt x="0" y="54902"/>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180" name="Graphic 4">
              <a:extLst>
                <a:ext uri="{FF2B5EF4-FFF2-40B4-BE49-F238E27FC236}">
                  <a16:creationId xmlns:a16="http://schemas.microsoft.com/office/drawing/2014/main" id="{C4E3DB13-A263-389B-CD27-733769DC23E4}"/>
                </a:ext>
              </a:extLst>
            </p:cNvPr>
            <p:cNvSpPr/>
            <p:nvPr/>
          </p:nvSpPr>
          <p:spPr>
            <a:xfrm>
              <a:off x="9279466" y="1402244"/>
              <a:ext cx="362309" cy="362450"/>
            </a:xfrm>
            <a:custGeom>
              <a:avLst/>
              <a:gdLst>
                <a:gd name="connsiteX0" fmla="*/ 286270 w 362309"/>
                <a:gd name="connsiteY0" fmla="*/ 268606 h 362450"/>
                <a:gd name="connsiteX1" fmla="*/ 281797 w 362309"/>
                <a:gd name="connsiteY1" fmla="*/ 270521 h 362450"/>
                <a:gd name="connsiteX2" fmla="*/ 277323 w 362309"/>
                <a:gd name="connsiteY2" fmla="*/ 268606 h 362450"/>
                <a:gd name="connsiteX3" fmla="*/ 199367 w 362309"/>
                <a:gd name="connsiteY3" fmla="*/ 190083 h 362450"/>
                <a:gd name="connsiteX4" fmla="*/ 166778 w 362309"/>
                <a:gd name="connsiteY4" fmla="*/ 222641 h 362450"/>
                <a:gd name="connsiteX5" fmla="*/ 168056 w 362309"/>
                <a:gd name="connsiteY5" fmla="*/ 223918 h 362450"/>
                <a:gd name="connsiteX6" fmla="*/ 168056 w 362309"/>
                <a:gd name="connsiteY6" fmla="*/ 232856 h 362450"/>
                <a:gd name="connsiteX7" fmla="*/ 159110 w 362309"/>
                <a:gd name="connsiteY7" fmla="*/ 232856 h 362450"/>
                <a:gd name="connsiteX8" fmla="*/ 159110 w 362309"/>
                <a:gd name="connsiteY8" fmla="*/ 232856 h 362450"/>
                <a:gd name="connsiteX9" fmla="*/ 153358 w 362309"/>
                <a:gd name="connsiteY9" fmla="*/ 227110 h 362450"/>
                <a:gd name="connsiteX10" fmla="*/ 105434 w 362309"/>
                <a:gd name="connsiteY10" fmla="*/ 179230 h 362450"/>
                <a:gd name="connsiteX11" fmla="*/ 105434 w 362309"/>
                <a:gd name="connsiteY11" fmla="*/ 179230 h 362450"/>
                <a:gd name="connsiteX12" fmla="*/ 99684 w 362309"/>
                <a:gd name="connsiteY12" fmla="*/ 173485 h 362450"/>
                <a:gd name="connsiteX13" fmla="*/ 99684 w 362309"/>
                <a:gd name="connsiteY13" fmla="*/ 164547 h 362450"/>
                <a:gd name="connsiteX14" fmla="*/ 99684 w 362309"/>
                <a:gd name="connsiteY14" fmla="*/ 164547 h 362450"/>
                <a:gd name="connsiteX15" fmla="*/ 108629 w 362309"/>
                <a:gd name="connsiteY15" fmla="*/ 164547 h 362450"/>
                <a:gd name="connsiteX16" fmla="*/ 109907 w 362309"/>
                <a:gd name="connsiteY16" fmla="*/ 165824 h 362450"/>
                <a:gd name="connsiteX17" fmla="*/ 184669 w 362309"/>
                <a:gd name="connsiteY17" fmla="*/ 91770 h 362450"/>
                <a:gd name="connsiteX18" fmla="*/ 183392 w 362309"/>
                <a:gd name="connsiteY18" fmla="*/ 90493 h 362450"/>
                <a:gd name="connsiteX19" fmla="*/ 183392 w 362309"/>
                <a:gd name="connsiteY19" fmla="*/ 81555 h 362450"/>
                <a:gd name="connsiteX20" fmla="*/ 183392 w 362309"/>
                <a:gd name="connsiteY20" fmla="*/ 81555 h 362450"/>
                <a:gd name="connsiteX21" fmla="*/ 192338 w 362309"/>
                <a:gd name="connsiteY21" fmla="*/ 81555 h 362450"/>
                <a:gd name="connsiteX22" fmla="*/ 198088 w 362309"/>
                <a:gd name="connsiteY22" fmla="*/ 87301 h 362450"/>
                <a:gd name="connsiteX23" fmla="*/ 198088 w 362309"/>
                <a:gd name="connsiteY23" fmla="*/ 87301 h 362450"/>
                <a:gd name="connsiteX24" fmla="*/ 246013 w 362309"/>
                <a:gd name="connsiteY24" fmla="*/ 135181 h 362450"/>
                <a:gd name="connsiteX25" fmla="*/ 246013 w 362309"/>
                <a:gd name="connsiteY25" fmla="*/ 135181 h 362450"/>
                <a:gd name="connsiteX26" fmla="*/ 251764 w 362309"/>
                <a:gd name="connsiteY26" fmla="*/ 140926 h 362450"/>
                <a:gd name="connsiteX27" fmla="*/ 251764 w 362309"/>
                <a:gd name="connsiteY27" fmla="*/ 149864 h 362450"/>
                <a:gd name="connsiteX28" fmla="*/ 242818 w 362309"/>
                <a:gd name="connsiteY28" fmla="*/ 149864 h 362450"/>
                <a:gd name="connsiteX29" fmla="*/ 241540 w 362309"/>
                <a:gd name="connsiteY29" fmla="*/ 148587 h 362450"/>
                <a:gd name="connsiteX30" fmla="*/ 208951 w 362309"/>
                <a:gd name="connsiteY30" fmla="*/ 181145 h 362450"/>
                <a:gd name="connsiteX31" fmla="*/ 286908 w 362309"/>
                <a:gd name="connsiteY31" fmla="*/ 259669 h 362450"/>
                <a:gd name="connsiteX32" fmla="*/ 286270 w 362309"/>
                <a:gd name="connsiteY32" fmla="*/ 268606 h 362450"/>
                <a:gd name="connsiteX33" fmla="*/ 286270 w 362309"/>
                <a:gd name="connsiteY33" fmla="*/ 268606 h 362450"/>
                <a:gd name="connsiteX34" fmla="*/ 180836 w 362309"/>
                <a:gd name="connsiteY34" fmla="*/ 270521 h 362450"/>
                <a:gd name="connsiteX35" fmla="*/ 79874 w 362309"/>
                <a:gd name="connsiteY35" fmla="*/ 270521 h 362450"/>
                <a:gd name="connsiteX36" fmla="*/ 73484 w 362309"/>
                <a:gd name="connsiteY36" fmla="*/ 264137 h 362450"/>
                <a:gd name="connsiteX37" fmla="*/ 79874 w 362309"/>
                <a:gd name="connsiteY37" fmla="*/ 257753 h 362450"/>
                <a:gd name="connsiteX38" fmla="*/ 180836 w 362309"/>
                <a:gd name="connsiteY38" fmla="*/ 257753 h 362450"/>
                <a:gd name="connsiteX39" fmla="*/ 187225 w 362309"/>
                <a:gd name="connsiteY39" fmla="*/ 264137 h 362450"/>
                <a:gd name="connsiteX40" fmla="*/ 180836 w 362309"/>
                <a:gd name="connsiteY40" fmla="*/ 270521 h 362450"/>
                <a:gd name="connsiteX41" fmla="*/ 180836 w 362309"/>
                <a:gd name="connsiteY41" fmla="*/ 479 h 362450"/>
                <a:gd name="connsiteX42" fmla="*/ 0 w 362309"/>
                <a:gd name="connsiteY42" fmla="*/ 181784 h 362450"/>
                <a:gd name="connsiteX43" fmla="*/ 181474 w 362309"/>
                <a:gd name="connsiteY43" fmla="*/ 362451 h 362450"/>
                <a:gd name="connsiteX44" fmla="*/ 362310 w 362309"/>
                <a:gd name="connsiteY44" fmla="*/ 181145 h 362450"/>
                <a:gd name="connsiteX45" fmla="*/ 362310 w 362309"/>
                <a:gd name="connsiteY45" fmla="*/ 181145 h 362450"/>
                <a:gd name="connsiteX46" fmla="*/ 180836 w 362309"/>
                <a:gd name="connsiteY46" fmla="*/ 479 h 362450"/>
                <a:gd name="connsiteX47" fmla="*/ 180836 w 362309"/>
                <a:gd name="connsiteY47" fmla="*/ 479 h 362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62309" h="362450">
                  <a:moveTo>
                    <a:pt x="286270" y="268606"/>
                  </a:moveTo>
                  <a:cubicBezTo>
                    <a:pt x="284992" y="269883"/>
                    <a:pt x="283713" y="270521"/>
                    <a:pt x="281797" y="270521"/>
                  </a:cubicBezTo>
                  <a:cubicBezTo>
                    <a:pt x="279880" y="270521"/>
                    <a:pt x="278602" y="269883"/>
                    <a:pt x="277323" y="268606"/>
                  </a:cubicBezTo>
                  <a:lnTo>
                    <a:pt x="199367" y="190083"/>
                  </a:lnTo>
                  <a:lnTo>
                    <a:pt x="166778" y="222641"/>
                  </a:lnTo>
                  <a:lnTo>
                    <a:pt x="168056" y="223918"/>
                  </a:lnTo>
                  <a:cubicBezTo>
                    <a:pt x="170612" y="226472"/>
                    <a:pt x="170612" y="230302"/>
                    <a:pt x="168056" y="232856"/>
                  </a:cubicBezTo>
                  <a:cubicBezTo>
                    <a:pt x="165500" y="235409"/>
                    <a:pt x="161666" y="235409"/>
                    <a:pt x="159110" y="232856"/>
                  </a:cubicBezTo>
                  <a:lnTo>
                    <a:pt x="159110" y="232856"/>
                  </a:lnTo>
                  <a:lnTo>
                    <a:pt x="153358" y="227110"/>
                  </a:lnTo>
                  <a:lnTo>
                    <a:pt x="105434" y="179230"/>
                  </a:lnTo>
                  <a:lnTo>
                    <a:pt x="105434" y="179230"/>
                  </a:lnTo>
                  <a:lnTo>
                    <a:pt x="99684" y="173485"/>
                  </a:lnTo>
                  <a:cubicBezTo>
                    <a:pt x="97128" y="170931"/>
                    <a:pt x="97128" y="167101"/>
                    <a:pt x="99684" y="164547"/>
                  </a:cubicBezTo>
                  <a:cubicBezTo>
                    <a:pt x="99684" y="164547"/>
                    <a:pt x="99684" y="164547"/>
                    <a:pt x="99684" y="164547"/>
                  </a:cubicBezTo>
                  <a:cubicBezTo>
                    <a:pt x="102239" y="161994"/>
                    <a:pt x="106074" y="161994"/>
                    <a:pt x="108629" y="164547"/>
                  </a:cubicBezTo>
                  <a:lnTo>
                    <a:pt x="109907" y="165824"/>
                  </a:lnTo>
                  <a:lnTo>
                    <a:pt x="184669" y="91770"/>
                  </a:lnTo>
                  <a:lnTo>
                    <a:pt x="183392" y="90493"/>
                  </a:lnTo>
                  <a:cubicBezTo>
                    <a:pt x="180836" y="87939"/>
                    <a:pt x="180836" y="84109"/>
                    <a:pt x="183392" y="81555"/>
                  </a:cubicBezTo>
                  <a:cubicBezTo>
                    <a:pt x="183392" y="81555"/>
                    <a:pt x="183392" y="81555"/>
                    <a:pt x="183392" y="81555"/>
                  </a:cubicBezTo>
                  <a:cubicBezTo>
                    <a:pt x="185948" y="79002"/>
                    <a:pt x="189782" y="79002"/>
                    <a:pt x="192338" y="81555"/>
                  </a:cubicBezTo>
                  <a:lnTo>
                    <a:pt x="198088" y="87301"/>
                  </a:lnTo>
                  <a:lnTo>
                    <a:pt x="198088" y="87301"/>
                  </a:lnTo>
                  <a:lnTo>
                    <a:pt x="246013" y="135181"/>
                  </a:lnTo>
                  <a:lnTo>
                    <a:pt x="246013" y="135181"/>
                  </a:lnTo>
                  <a:lnTo>
                    <a:pt x="251764" y="140926"/>
                  </a:lnTo>
                  <a:cubicBezTo>
                    <a:pt x="254320" y="143480"/>
                    <a:pt x="254320" y="147310"/>
                    <a:pt x="251764" y="149864"/>
                  </a:cubicBezTo>
                  <a:cubicBezTo>
                    <a:pt x="249208" y="152418"/>
                    <a:pt x="245374" y="152418"/>
                    <a:pt x="242818" y="149864"/>
                  </a:cubicBezTo>
                  <a:lnTo>
                    <a:pt x="241540" y="148587"/>
                  </a:lnTo>
                  <a:lnTo>
                    <a:pt x="208951" y="181145"/>
                  </a:lnTo>
                  <a:lnTo>
                    <a:pt x="286908" y="259669"/>
                  </a:lnTo>
                  <a:cubicBezTo>
                    <a:pt x="288826" y="262222"/>
                    <a:pt x="288826" y="266053"/>
                    <a:pt x="286270" y="268606"/>
                  </a:cubicBezTo>
                  <a:cubicBezTo>
                    <a:pt x="286270" y="268606"/>
                    <a:pt x="286270" y="268606"/>
                    <a:pt x="286270" y="268606"/>
                  </a:cubicBezTo>
                  <a:moveTo>
                    <a:pt x="180836" y="270521"/>
                  </a:moveTo>
                  <a:lnTo>
                    <a:pt x="79874" y="270521"/>
                  </a:lnTo>
                  <a:cubicBezTo>
                    <a:pt x="76040" y="270521"/>
                    <a:pt x="73484" y="267968"/>
                    <a:pt x="73484" y="264137"/>
                  </a:cubicBezTo>
                  <a:cubicBezTo>
                    <a:pt x="73484" y="260307"/>
                    <a:pt x="76040" y="257753"/>
                    <a:pt x="79874" y="257753"/>
                  </a:cubicBezTo>
                  <a:lnTo>
                    <a:pt x="180836" y="257753"/>
                  </a:lnTo>
                  <a:cubicBezTo>
                    <a:pt x="184669" y="257753"/>
                    <a:pt x="187225" y="260307"/>
                    <a:pt x="187225" y="264137"/>
                  </a:cubicBezTo>
                  <a:cubicBezTo>
                    <a:pt x="187225" y="267968"/>
                    <a:pt x="184031" y="270521"/>
                    <a:pt x="180836" y="270521"/>
                  </a:cubicBezTo>
                  <a:moveTo>
                    <a:pt x="180836" y="479"/>
                  </a:moveTo>
                  <a:cubicBezTo>
                    <a:pt x="80514" y="479"/>
                    <a:pt x="0" y="81555"/>
                    <a:pt x="0" y="181784"/>
                  </a:cubicBezTo>
                  <a:cubicBezTo>
                    <a:pt x="0" y="282013"/>
                    <a:pt x="81153" y="362451"/>
                    <a:pt x="181474" y="362451"/>
                  </a:cubicBezTo>
                  <a:cubicBezTo>
                    <a:pt x="281797" y="362451"/>
                    <a:pt x="362310" y="281374"/>
                    <a:pt x="362310" y="181145"/>
                  </a:cubicBezTo>
                  <a:cubicBezTo>
                    <a:pt x="362310" y="181145"/>
                    <a:pt x="362310" y="181145"/>
                    <a:pt x="362310" y="181145"/>
                  </a:cubicBezTo>
                  <a:cubicBezTo>
                    <a:pt x="361671" y="80917"/>
                    <a:pt x="280518" y="-160"/>
                    <a:pt x="180836" y="479"/>
                  </a:cubicBezTo>
                  <a:cubicBezTo>
                    <a:pt x="180836" y="-160"/>
                    <a:pt x="180836" y="-160"/>
                    <a:pt x="180836" y="479"/>
                  </a:cubicBezTo>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dirty="0">
                <a:ln>
                  <a:noFill/>
                </a:ln>
                <a:solidFill>
                  <a:srgbClr val="000000"/>
                </a:solidFill>
                <a:effectLst/>
                <a:uLnTx/>
                <a:uFillTx/>
                <a:latin typeface="Arial"/>
                <a:cs typeface="Arial"/>
                <a:sym typeface="Arial"/>
              </a:endParaRPr>
            </a:p>
          </p:txBody>
        </p:sp>
      </p:grpSp>
      <p:sp>
        <p:nvSpPr>
          <p:cNvPr id="182" name="Rectangle: Rounded Corners 181">
            <a:extLst>
              <a:ext uri="{FF2B5EF4-FFF2-40B4-BE49-F238E27FC236}">
                <a16:creationId xmlns:a16="http://schemas.microsoft.com/office/drawing/2014/main" id="{8DEBE3EF-508E-BE19-4E0D-B364E1EFA8F5}"/>
              </a:ext>
            </a:extLst>
          </p:cNvPr>
          <p:cNvSpPr/>
          <p:nvPr/>
        </p:nvSpPr>
        <p:spPr>
          <a:xfrm>
            <a:off x="269140" y="4950683"/>
            <a:ext cx="2628030" cy="1467749"/>
          </a:xfrm>
          <a:prstGeom prst="roundRect">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CA" sz="1400" b="0" i="0" u="none" strike="noStrike" kern="0" cap="none" spc="0" normalizeH="0" baseline="0" noProof="0" dirty="0">
              <a:ln>
                <a:noFill/>
              </a:ln>
              <a:solidFill>
                <a:srgbClr val="FFFFFF"/>
              </a:solidFill>
              <a:effectLst/>
              <a:uLnTx/>
              <a:uFillTx/>
              <a:latin typeface="Arial"/>
              <a:ea typeface="+mn-ea"/>
              <a:cs typeface="+mn-cs"/>
              <a:sym typeface="Arial"/>
            </a:endParaRPr>
          </a:p>
        </p:txBody>
      </p:sp>
      <p:sp>
        <p:nvSpPr>
          <p:cNvPr id="184" name="Text 22">
            <a:extLst>
              <a:ext uri="{FF2B5EF4-FFF2-40B4-BE49-F238E27FC236}">
                <a16:creationId xmlns:a16="http://schemas.microsoft.com/office/drawing/2014/main" id="{13D26B61-C130-E836-ED6F-5F21D7980EFA}"/>
              </a:ext>
            </a:extLst>
          </p:cNvPr>
          <p:cNvSpPr/>
          <p:nvPr/>
        </p:nvSpPr>
        <p:spPr>
          <a:xfrm>
            <a:off x="667524" y="5119859"/>
            <a:ext cx="2029090" cy="47577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80" normalizeH="0" baseline="0" noProof="0" dirty="0">
                <a:ln>
                  <a:noFill/>
                </a:ln>
                <a:solidFill>
                  <a:srgbClr val="FFFFFF"/>
                </a:solidFill>
                <a:effectLst/>
                <a:uLnTx/>
                <a:uFillTx/>
                <a:latin typeface="Segoe UI" panose="020B0502040204020203" pitchFamily="34" charset="0"/>
                <a:ea typeface="Arial" pitchFamily="34" charset="-122"/>
                <a:cs typeface="Segoe UI" panose="020B0502040204020203" pitchFamily="34" charset="0"/>
                <a:sym typeface="Arial"/>
              </a:rPr>
              <a:t>WHERE THEY DIVERGE</a:t>
            </a:r>
          </a:p>
        </p:txBody>
      </p:sp>
      <p:sp>
        <p:nvSpPr>
          <p:cNvPr id="186" name="TextBox 185">
            <a:extLst>
              <a:ext uri="{FF2B5EF4-FFF2-40B4-BE49-F238E27FC236}">
                <a16:creationId xmlns:a16="http://schemas.microsoft.com/office/drawing/2014/main" id="{32084A87-DE21-9D46-B602-948741D7024E}"/>
              </a:ext>
            </a:extLst>
          </p:cNvPr>
          <p:cNvSpPr txBox="1"/>
          <p:nvPr/>
        </p:nvSpPr>
        <p:spPr>
          <a:xfrm>
            <a:off x="1029016" y="5746522"/>
            <a:ext cx="1744549" cy="492443"/>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Segoe UI" panose="020B0502040204020203" pitchFamily="34" charset="0"/>
                <a:ea typeface="+mn-ea"/>
                <a:cs typeface="Segoe UI" panose="020B0502040204020203" pitchFamily="34" charset="0"/>
                <a:sym typeface="Arial"/>
              </a:rPr>
              <a:t>Contact center exposure </a:t>
            </a:r>
            <a:endParaRPr kumimoji="0" sz="1600" b="1" i="0" u="none" strike="noStrike" kern="1200" cap="none" spc="0" normalizeH="0" baseline="0" noProof="0" dirty="0">
              <a:ln>
                <a:noFill/>
              </a:ln>
              <a:solidFill>
                <a:srgbClr val="FFFFFF"/>
              </a:solidFill>
              <a:effectLst/>
              <a:uLnTx/>
              <a:uFillTx/>
              <a:latin typeface="Segoe UI" panose="020B0502040204020203" pitchFamily="34" charset="0"/>
              <a:ea typeface="+mn-ea"/>
              <a:cs typeface="Segoe UI" panose="020B0502040204020203" pitchFamily="34" charset="0"/>
              <a:sym typeface="Arial"/>
            </a:endParaRPr>
          </a:p>
        </p:txBody>
      </p:sp>
      <p:grpSp>
        <p:nvGrpSpPr>
          <p:cNvPr id="191" name="Group 190">
            <a:extLst>
              <a:ext uri="{FF2B5EF4-FFF2-40B4-BE49-F238E27FC236}">
                <a16:creationId xmlns:a16="http://schemas.microsoft.com/office/drawing/2014/main" id="{BA1B6254-46A5-5E98-1169-DFEC0509F644}"/>
              </a:ext>
            </a:extLst>
          </p:cNvPr>
          <p:cNvGrpSpPr/>
          <p:nvPr/>
        </p:nvGrpSpPr>
        <p:grpSpPr>
          <a:xfrm>
            <a:off x="584015" y="5785538"/>
            <a:ext cx="411613" cy="411613"/>
            <a:chOff x="584015" y="5732591"/>
            <a:chExt cx="630000" cy="630000"/>
          </a:xfrm>
        </p:grpSpPr>
        <p:sp>
          <p:nvSpPr>
            <p:cNvPr id="188" name="Graphic 1100">
              <a:extLst>
                <a:ext uri="{FF2B5EF4-FFF2-40B4-BE49-F238E27FC236}">
                  <a16:creationId xmlns:a16="http://schemas.microsoft.com/office/drawing/2014/main" id="{6808CE67-F779-337C-3468-C7C5AE5182F8}"/>
                </a:ext>
              </a:extLst>
            </p:cNvPr>
            <p:cNvSpPr/>
            <p:nvPr/>
          </p:nvSpPr>
          <p:spPr>
            <a:xfrm>
              <a:off x="584015" y="5732591"/>
              <a:ext cx="630000" cy="630000"/>
            </a:xfrm>
            <a:custGeom>
              <a:avLst/>
              <a:gdLst>
                <a:gd name="connsiteX0" fmla="*/ 181474 w 362309"/>
                <a:gd name="connsiteY0" fmla="*/ 0 h 362610"/>
                <a:gd name="connsiteX1" fmla="*/ 0 w 362309"/>
                <a:gd name="connsiteY1" fmla="*/ 181305 h 362610"/>
                <a:gd name="connsiteX2" fmla="*/ 181474 w 362309"/>
                <a:gd name="connsiteY2" fmla="*/ 362610 h 362610"/>
                <a:gd name="connsiteX3" fmla="*/ 362309 w 362309"/>
                <a:gd name="connsiteY3" fmla="*/ 181305 h 362610"/>
                <a:gd name="connsiteX4" fmla="*/ 181474 w 362309"/>
                <a:gd name="connsiteY4" fmla="*/ 0 h 362610"/>
                <a:gd name="connsiteX5" fmla="*/ 181474 w 362309"/>
                <a:gd name="connsiteY5" fmla="*/ 0 h 362610"/>
                <a:gd name="connsiteX6" fmla="*/ 181474 w 362309"/>
                <a:gd name="connsiteY6" fmla="*/ 349204 h 362610"/>
                <a:gd name="connsiteX7" fmla="*/ 13419 w 362309"/>
                <a:gd name="connsiteY7" fmla="*/ 180667 h 362610"/>
                <a:gd name="connsiteX8" fmla="*/ 181474 w 362309"/>
                <a:gd name="connsiteY8" fmla="*/ 12130 h 362610"/>
                <a:gd name="connsiteX9" fmla="*/ 349530 w 362309"/>
                <a:gd name="connsiteY9" fmla="*/ 180667 h 362610"/>
                <a:gd name="connsiteX10" fmla="*/ 349530 w 362309"/>
                <a:gd name="connsiteY10" fmla="*/ 180667 h 362610"/>
                <a:gd name="connsiteX11" fmla="*/ 181474 w 362309"/>
                <a:gd name="connsiteY11" fmla="*/ 349204 h 362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2309" h="362610">
                  <a:moveTo>
                    <a:pt x="181474" y="0"/>
                  </a:moveTo>
                  <a:cubicBezTo>
                    <a:pt x="81152" y="0"/>
                    <a:pt x="0" y="81077"/>
                    <a:pt x="0" y="181305"/>
                  </a:cubicBezTo>
                  <a:cubicBezTo>
                    <a:pt x="0" y="281534"/>
                    <a:pt x="81152" y="362610"/>
                    <a:pt x="181474" y="362610"/>
                  </a:cubicBezTo>
                  <a:cubicBezTo>
                    <a:pt x="281796" y="362610"/>
                    <a:pt x="362309" y="281534"/>
                    <a:pt x="362309" y="181305"/>
                  </a:cubicBezTo>
                  <a:cubicBezTo>
                    <a:pt x="362309" y="81077"/>
                    <a:pt x="281796" y="0"/>
                    <a:pt x="181474" y="0"/>
                  </a:cubicBezTo>
                  <a:cubicBezTo>
                    <a:pt x="181474" y="0"/>
                    <a:pt x="181474" y="0"/>
                    <a:pt x="181474" y="0"/>
                  </a:cubicBezTo>
                  <a:close/>
                  <a:moveTo>
                    <a:pt x="181474" y="349204"/>
                  </a:moveTo>
                  <a:cubicBezTo>
                    <a:pt x="88181" y="349204"/>
                    <a:pt x="13419" y="273873"/>
                    <a:pt x="13419" y="180667"/>
                  </a:cubicBezTo>
                  <a:cubicBezTo>
                    <a:pt x="13419" y="87461"/>
                    <a:pt x="88820" y="12130"/>
                    <a:pt x="181474" y="12130"/>
                  </a:cubicBezTo>
                  <a:cubicBezTo>
                    <a:pt x="274128" y="12130"/>
                    <a:pt x="349530" y="87461"/>
                    <a:pt x="349530" y="180667"/>
                  </a:cubicBezTo>
                  <a:cubicBezTo>
                    <a:pt x="349530" y="180667"/>
                    <a:pt x="349530" y="180667"/>
                    <a:pt x="349530" y="180667"/>
                  </a:cubicBezTo>
                  <a:cubicBezTo>
                    <a:pt x="349530" y="273873"/>
                    <a:pt x="274128" y="349204"/>
                    <a:pt x="181474" y="349204"/>
                  </a:cubicBezTo>
                  <a:close/>
                </a:path>
              </a:pathLst>
            </a:custGeom>
            <a:solidFill>
              <a:schemeClr val="bg1"/>
            </a:solid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190" name="Graphic 1100">
              <a:extLst>
                <a:ext uri="{FF2B5EF4-FFF2-40B4-BE49-F238E27FC236}">
                  <a16:creationId xmlns:a16="http://schemas.microsoft.com/office/drawing/2014/main" id="{7753A8B7-0007-5CAC-AB11-2F420712E100}"/>
                </a:ext>
              </a:extLst>
            </p:cNvPr>
            <p:cNvSpPr/>
            <p:nvPr/>
          </p:nvSpPr>
          <p:spPr>
            <a:xfrm>
              <a:off x="726237" y="5830197"/>
              <a:ext cx="345556" cy="434787"/>
            </a:xfrm>
            <a:custGeom>
              <a:avLst/>
              <a:gdLst>
                <a:gd name="connsiteX0" fmla="*/ 99683 w 198727"/>
                <a:gd name="connsiteY0" fmla="*/ 0 h 250251"/>
                <a:gd name="connsiteX1" fmla="*/ 0 w 198727"/>
                <a:gd name="connsiteY1" fmla="*/ 99590 h 250251"/>
                <a:gd name="connsiteX2" fmla="*/ 0 w 198727"/>
                <a:gd name="connsiteY2" fmla="*/ 171729 h 250251"/>
                <a:gd name="connsiteX3" fmla="*/ 19170 w 198727"/>
                <a:gd name="connsiteY3" fmla="*/ 190881 h 250251"/>
                <a:gd name="connsiteX4" fmla="*/ 27477 w 198727"/>
                <a:gd name="connsiteY4" fmla="*/ 190881 h 250251"/>
                <a:gd name="connsiteX5" fmla="*/ 46647 w 198727"/>
                <a:gd name="connsiteY5" fmla="*/ 171729 h 250251"/>
                <a:gd name="connsiteX6" fmla="*/ 46647 w 198727"/>
                <a:gd name="connsiteY6" fmla="*/ 112358 h 250251"/>
                <a:gd name="connsiteX7" fmla="*/ 27477 w 198727"/>
                <a:gd name="connsiteY7" fmla="*/ 93206 h 250251"/>
                <a:gd name="connsiteX8" fmla="*/ 19170 w 198727"/>
                <a:gd name="connsiteY8" fmla="*/ 93206 h 250251"/>
                <a:gd name="connsiteX9" fmla="*/ 12780 w 198727"/>
                <a:gd name="connsiteY9" fmla="*/ 94483 h 250251"/>
                <a:gd name="connsiteX10" fmla="*/ 104795 w 198727"/>
                <a:gd name="connsiteY10" fmla="*/ 13406 h 250251"/>
                <a:gd name="connsiteX11" fmla="*/ 185947 w 198727"/>
                <a:gd name="connsiteY11" fmla="*/ 94483 h 250251"/>
                <a:gd name="connsiteX12" fmla="*/ 179557 w 198727"/>
                <a:gd name="connsiteY12" fmla="*/ 93206 h 250251"/>
                <a:gd name="connsiteX13" fmla="*/ 171250 w 198727"/>
                <a:gd name="connsiteY13" fmla="*/ 93206 h 250251"/>
                <a:gd name="connsiteX14" fmla="*/ 152080 w 198727"/>
                <a:gd name="connsiteY14" fmla="*/ 112358 h 250251"/>
                <a:gd name="connsiteX15" fmla="*/ 152080 w 198727"/>
                <a:gd name="connsiteY15" fmla="*/ 171729 h 250251"/>
                <a:gd name="connsiteX16" fmla="*/ 171250 w 198727"/>
                <a:gd name="connsiteY16" fmla="*/ 190881 h 250251"/>
                <a:gd name="connsiteX17" fmla="*/ 179557 w 198727"/>
                <a:gd name="connsiteY17" fmla="*/ 190881 h 250251"/>
                <a:gd name="connsiteX18" fmla="*/ 184669 w 198727"/>
                <a:gd name="connsiteY18" fmla="*/ 190243 h 250251"/>
                <a:gd name="connsiteX19" fmla="*/ 123326 w 198727"/>
                <a:gd name="connsiteY19" fmla="*/ 236207 h 250251"/>
                <a:gd name="connsiteX20" fmla="*/ 99044 w 198727"/>
                <a:gd name="connsiteY20" fmla="*/ 227270 h 250251"/>
                <a:gd name="connsiteX21" fmla="*/ 74123 w 198727"/>
                <a:gd name="connsiteY21" fmla="*/ 238761 h 250251"/>
                <a:gd name="connsiteX22" fmla="*/ 99044 w 198727"/>
                <a:gd name="connsiteY22" fmla="*/ 250252 h 250251"/>
                <a:gd name="connsiteX23" fmla="*/ 102878 w 198727"/>
                <a:gd name="connsiteY23" fmla="*/ 250252 h 250251"/>
                <a:gd name="connsiteX24" fmla="*/ 198727 w 198727"/>
                <a:gd name="connsiteY24" fmla="*/ 176198 h 250251"/>
                <a:gd name="connsiteX25" fmla="*/ 198727 w 198727"/>
                <a:gd name="connsiteY25" fmla="*/ 99590 h 250251"/>
                <a:gd name="connsiteX26" fmla="*/ 99683 w 198727"/>
                <a:gd name="connsiteY26" fmla="*/ 0 h 250251"/>
                <a:gd name="connsiteX27" fmla="*/ 19170 w 198727"/>
                <a:gd name="connsiteY27" fmla="*/ 105336 h 250251"/>
                <a:gd name="connsiteX28" fmla="*/ 27477 w 198727"/>
                <a:gd name="connsiteY28" fmla="*/ 105336 h 250251"/>
                <a:gd name="connsiteX29" fmla="*/ 33867 w 198727"/>
                <a:gd name="connsiteY29" fmla="*/ 111720 h 250251"/>
                <a:gd name="connsiteX30" fmla="*/ 33867 w 198727"/>
                <a:gd name="connsiteY30" fmla="*/ 171091 h 250251"/>
                <a:gd name="connsiteX31" fmla="*/ 27477 w 198727"/>
                <a:gd name="connsiteY31" fmla="*/ 177475 h 250251"/>
                <a:gd name="connsiteX32" fmla="*/ 19170 w 198727"/>
                <a:gd name="connsiteY32" fmla="*/ 177475 h 250251"/>
                <a:gd name="connsiteX33" fmla="*/ 12780 w 198727"/>
                <a:gd name="connsiteY33" fmla="*/ 171091 h 250251"/>
                <a:gd name="connsiteX34" fmla="*/ 12780 w 198727"/>
                <a:gd name="connsiteY34" fmla="*/ 111720 h 250251"/>
                <a:gd name="connsiteX35" fmla="*/ 19170 w 198727"/>
                <a:gd name="connsiteY35" fmla="*/ 105336 h 250251"/>
                <a:gd name="connsiteX36" fmla="*/ 186586 w 198727"/>
                <a:gd name="connsiteY36" fmla="*/ 124488 h 250251"/>
                <a:gd name="connsiteX37" fmla="*/ 186586 w 198727"/>
                <a:gd name="connsiteY37" fmla="*/ 171091 h 250251"/>
                <a:gd name="connsiteX38" fmla="*/ 180196 w 198727"/>
                <a:gd name="connsiteY38" fmla="*/ 177475 h 250251"/>
                <a:gd name="connsiteX39" fmla="*/ 171889 w 198727"/>
                <a:gd name="connsiteY39" fmla="*/ 177475 h 250251"/>
                <a:gd name="connsiteX40" fmla="*/ 165499 w 198727"/>
                <a:gd name="connsiteY40" fmla="*/ 171091 h 250251"/>
                <a:gd name="connsiteX41" fmla="*/ 165499 w 198727"/>
                <a:gd name="connsiteY41" fmla="*/ 111720 h 250251"/>
                <a:gd name="connsiteX42" fmla="*/ 171889 w 198727"/>
                <a:gd name="connsiteY42" fmla="*/ 105336 h 250251"/>
                <a:gd name="connsiteX43" fmla="*/ 180196 w 198727"/>
                <a:gd name="connsiteY43" fmla="*/ 105336 h 250251"/>
                <a:gd name="connsiteX44" fmla="*/ 186586 w 198727"/>
                <a:gd name="connsiteY44" fmla="*/ 111720 h 250251"/>
                <a:gd name="connsiteX45" fmla="*/ 186586 w 198727"/>
                <a:gd name="connsiteY45" fmla="*/ 124488 h 250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198727" h="250251">
                  <a:moveTo>
                    <a:pt x="99683" y="0"/>
                  </a:moveTo>
                  <a:cubicBezTo>
                    <a:pt x="44730" y="0"/>
                    <a:pt x="0" y="44688"/>
                    <a:pt x="0" y="99590"/>
                  </a:cubicBezTo>
                  <a:lnTo>
                    <a:pt x="0" y="171729"/>
                  </a:lnTo>
                  <a:cubicBezTo>
                    <a:pt x="0" y="182582"/>
                    <a:pt x="8307" y="190881"/>
                    <a:pt x="19170" y="190881"/>
                  </a:cubicBezTo>
                  <a:lnTo>
                    <a:pt x="27477" y="190881"/>
                  </a:lnTo>
                  <a:cubicBezTo>
                    <a:pt x="38340" y="190881"/>
                    <a:pt x="46647" y="182582"/>
                    <a:pt x="46647" y="171729"/>
                  </a:cubicBezTo>
                  <a:lnTo>
                    <a:pt x="46647" y="112358"/>
                  </a:lnTo>
                  <a:cubicBezTo>
                    <a:pt x="46647" y="101505"/>
                    <a:pt x="38340" y="93206"/>
                    <a:pt x="27477" y="93206"/>
                  </a:cubicBezTo>
                  <a:lnTo>
                    <a:pt x="19170" y="93206"/>
                  </a:lnTo>
                  <a:cubicBezTo>
                    <a:pt x="17253" y="93206"/>
                    <a:pt x="14697" y="93844"/>
                    <a:pt x="12780" y="94483"/>
                  </a:cubicBezTo>
                  <a:cubicBezTo>
                    <a:pt x="15975" y="46603"/>
                    <a:pt x="56870" y="10214"/>
                    <a:pt x="104795" y="13406"/>
                  </a:cubicBezTo>
                  <a:cubicBezTo>
                    <a:pt x="148886" y="15960"/>
                    <a:pt x="183391" y="51072"/>
                    <a:pt x="185947" y="94483"/>
                  </a:cubicBezTo>
                  <a:cubicBezTo>
                    <a:pt x="184030" y="93844"/>
                    <a:pt x="181474" y="93206"/>
                    <a:pt x="179557" y="93206"/>
                  </a:cubicBezTo>
                  <a:lnTo>
                    <a:pt x="171250" y="93206"/>
                  </a:lnTo>
                  <a:cubicBezTo>
                    <a:pt x="160387" y="93206"/>
                    <a:pt x="152080" y="101505"/>
                    <a:pt x="152080" y="112358"/>
                  </a:cubicBezTo>
                  <a:lnTo>
                    <a:pt x="152080" y="171729"/>
                  </a:lnTo>
                  <a:cubicBezTo>
                    <a:pt x="152080" y="182582"/>
                    <a:pt x="160387" y="190881"/>
                    <a:pt x="171250" y="190881"/>
                  </a:cubicBezTo>
                  <a:lnTo>
                    <a:pt x="179557" y="190881"/>
                  </a:lnTo>
                  <a:cubicBezTo>
                    <a:pt x="181474" y="190881"/>
                    <a:pt x="182752" y="190881"/>
                    <a:pt x="184669" y="190243"/>
                  </a:cubicBezTo>
                  <a:cubicBezTo>
                    <a:pt x="178279" y="220247"/>
                    <a:pt x="152080" y="232377"/>
                    <a:pt x="123326" y="236207"/>
                  </a:cubicBezTo>
                  <a:cubicBezTo>
                    <a:pt x="120770" y="228546"/>
                    <a:pt x="106073" y="227270"/>
                    <a:pt x="99044" y="227270"/>
                  </a:cubicBezTo>
                  <a:cubicBezTo>
                    <a:pt x="92015" y="227270"/>
                    <a:pt x="74123" y="228546"/>
                    <a:pt x="74123" y="238761"/>
                  </a:cubicBezTo>
                  <a:cubicBezTo>
                    <a:pt x="74123" y="248975"/>
                    <a:pt x="91376" y="250252"/>
                    <a:pt x="99044" y="250252"/>
                  </a:cubicBezTo>
                  <a:lnTo>
                    <a:pt x="102878" y="250252"/>
                  </a:lnTo>
                  <a:cubicBezTo>
                    <a:pt x="164860" y="248975"/>
                    <a:pt x="198727" y="222801"/>
                    <a:pt x="198727" y="176198"/>
                  </a:cubicBezTo>
                  <a:lnTo>
                    <a:pt x="198727" y="99590"/>
                  </a:lnTo>
                  <a:cubicBezTo>
                    <a:pt x="198727" y="44688"/>
                    <a:pt x="153997" y="0"/>
                    <a:pt x="99683" y="0"/>
                  </a:cubicBezTo>
                  <a:close/>
                  <a:moveTo>
                    <a:pt x="19170" y="105336"/>
                  </a:moveTo>
                  <a:lnTo>
                    <a:pt x="27477" y="105336"/>
                  </a:lnTo>
                  <a:cubicBezTo>
                    <a:pt x="31311" y="105336"/>
                    <a:pt x="33867" y="107889"/>
                    <a:pt x="33867" y="111720"/>
                  </a:cubicBezTo>
                  <a:lnTo>
                    <a:pt x="33867" y="171091"/>
                  </a:lnTo>
                  <a:cubicBezTo>
                    <a:pt x="33867" y="174921"/>
                    <a:pt x="31311" y="177475"/>
                    <a:pt x="27477" y="177475"/>
                  </a:cubicBezTo>
                  <a:lnTo>
                    <a:pt x="19170" y="177475"/>
                  </a:lnTo>
                  <a:cubicBezTo>
                    <a:pt x="15336" y="177475"/>
                    <a:pt x="12780" y="174921"/>
                    <a:pt x="12780" y="171091"/>
                  </a:cubicBezTo>
                  <a:lnTo>
                    <a:pt x="12780" y="111720"/>
                  </a:lnTo>
                  <a:cubicBezTo>
                    <a:pt x="12780" y="108528"/>
                    <a:pt x="15336" y="105336"/>
                    <a:pt x="19170" y="105336"/>
                  </a:cubicBezTo>
                  <a:close/>
                  <a:moveTo>
                    <a:pt x="186586" y="124488"/>
                  </a:moveTo>
                  <a:lnTo>
                    <a:pt x="186586" y="171091"/>
                  </a:lnTo>
                  <a:cubicBezTo>
                    <a:pt x="186586" y="174921"/>
                    <a:pt x="184030" y="177475"/>
                    <a:pt x="180196" y="177475"/>
                  </a:cubicBezTo>
                  <a:lnTo>
                    <a:pt x="171889" y="177475"/>
                  </a:lnTo>
                  <a:cubicBezTo>
                    <a:pt x="168055" y="177475"/>
                    <a:pt x="165499" y="174921"/>
                    <a:pt x="165499" y="171091"/>
                  </a:cubicBezTo>
                  <a:lnTo>
                    <a:pt x="165499" y="111720"/>
                  </a:lnTo>
                  <a:cubicBezTo>
                    <a:pt x="165499" y="107889"/>
                    <a:pt x="168055" y="105336"/>
                    <a:pt x="171889" y="105336"/>
                  </a:cubicBezTo>
                  <a:lnTo>
                    <a:pt x="180196" y="105336"/>
                  </a:lnTo>
                  <a:cubicBezTo>
                    <a:pt x="184030" y="105336"/>
                    <a:pt x="186586" y="107889"/>
                    <a:pt x="186586" y="111720"/>
                  </a:cubicBezTo>
                  <a:lnTo>
                    <a:pt x="186586" y="124488"/>
                  </a:lnTo>
                  <a:close/>
                </a:path>
              </a:pathLst>
            </a:custGeom>
            <a:solidFill>
              <a:schemeClr val="bg1"/>
            </a:solid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dirty="0">
                <a:ln>
                  <a:noFill/>
                </a:ln>
                <a:solidFill>
                  <a:srgbClr val="000000"/>
                </a:solidFill>
                <a:effectLst/>
                <a:uLnTx/>
                <a:uFillTx/>
                <a:latin typeface="Arial"/>
                <a:cs typeface="Arial"/>
                <a:sym typeface="Arial"/>
              </a:endParaRPr>
            </a:p>
          </p:txBody>
        </p:sp>
      </p:grpSp>
      <p:sp>
        <p:nvSpPr>
          <p:cNvPr id="196" name="Rounded Rectangle 47">
            <a:extLst>
              <a:ext uri="{FF2B5EF4-FFF2-40B4-BE49-F238E27FC236}">
                <a16:creationId xmlns:a16="http://schemas.microsoft.com/office/drawing/2014/main" id="{E8F478DF-BF4E-D540-E699-2D7E89B0AF5A}"/>
              </a:ext>
            </a:extLst>
          </p:cNvPr>
          <p:cNvSpPr/>
          <p:nvPr/>
        </p:nvSpPr>
        <p:spPr>
          <a:xfrm>
            <a:off x="3146628" y="4945678"/>
            <a:ext cx="8713507" cy="1467749"/>
          </a:xfrm>
          <a:prstGeom prst="roundRect">
            <a:avLst>
              <a:gd name="adj" fmla="val 6000"/>
            </a:avLst>
          </a:prstGeom>
          <a:ln w="28575">
            <a:solidFill>
              <a:srgbClr val="4EA72E"/>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rPr>
              <a:t>v</a:t>
            </a: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201" name="Text 11">
            <a:extLst>
              <a:ext uri="{FF2B5EF4-FFF2-40B4-BE49-F238E27FC236}">
                <a16:creationId xmlns:a16="http://schemas.microsoft.com/office/drawing/2014/main" id="{602CAD77-3278-75AF-5E83-09032C4ED711}"/>
              </a:ext>
            </a:extLst>
          </p:cNvPr>
          <p:cNvSpPr/>
          <p:nvPr/>
        </p:nvSpPr>
        <p:spPr>
          <a:xfrm>
            <a:off x="3581547" y="5289298"/>
            <a:ext cx="2031313" cy="769441"/>
          </a:xfrm>
          <a:prstGeom prst="rect">
            <a:avLst/>
          </a:prstGeom>
          <a:noFill/>
          <a:ln/>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000" b="1" i="0" u="none" strike="noStrike" kern="1200" cap="none" spc="0" normalizeH="0" baseline="0" noProof="0" dirty="0">
                <a:ln>
                  <a:noFill/>
                </a:ln>
                <a:solidFill>
                  <a:srgbClr val="4EA72E"/>
                </a:solidFill>
                <a:effectLst/>
                <a:uLnTx/>
                <a:uFillTx/>
                <a:latin typeface="Segoe UI" panose="020B0502040204020203" pitchFamily="34" charset="0"/>
                <a:ea typeface="Calibri" pitchFamily="34" charset="-122"/>
                <a:cs typeface="Segoe UI" panose="020B0502040204020203" pitchFamily="34" charset="0"/>
                <a:sym typeface="Arial"/>
              </a:rPr>
              <a:t>+</a:t>
            </a:r>
            <a:r>
              <a:rPr kumimoji="0" lang="en-US" sz="5000" b="1" i="0" u="none" strike="noStrike" kern="1200" cap="none" spc="0" normalizeH="0" baseline="0" noProof="0" dirty="0">
                <a:ln>
                  <a:noFill/>
                </a:ln>
                <a:solidFill>
                  <a:srgbClr val="43B02A"/>
                </a:solidFill>
                <a:effectLst/>
                <a:uLnTx/>
                <a:uFillTx/>
                <a:latin typeface="Segoe UI" panose="020B0502040204020203" pitchFamily="34" charset="0"/>
                <a:ea typeface="Calibri" pitchFamily="34" charset="-122"/>
                <a:cs typeface="Segoe UI" panose="020B0502040204020203" pitchFamily="34" charset="0"/>
                <a:sym typeface="Arial"/>
              </a:rPr>
              <a:t>25%</a:t>
            </a:r>
            <a:endParaRPr kumimoji="0" lang="en-US" sz="5000" b="0" i="0" u="none" strike="noStrike" kern="1200" cap="none" spc="0" normalizeH="0" baseline="0" noProof="0" dirty="0">
              <a:ln>
                <a:noFill/>
              </a:ln>
              <a:solidFill>
                <a:srgbClr val="43B02A"/>
              </a:solidFill>
              <a:effectLst/>
              <a:uLnTx/>
              <a:uFillTx/>
              <a:latin typeface="Segoe UI" panose="020B0502040204020203" pitchFamily="34" charset="0"/>
              <a:ea typeface="+mn-ea"/>
              <a:cs typeface="Segoe UI" panose="020B0502040204020203" pitchFamily="34" charset="0"/>
              <a:sym typeface="Arial"/>
            </a:endParaRPr>
          </a:p>
        </p:txBody>
      </p:sp>
      <p:sp>
        <p:nvSpPr>
          <p:cNvPr id="203" name="Rectangle: Rounded Corners 202">
            <a:extLst>
              <a:ext uri="{FF2B5EF4-FFF2-40B4-BE49-F238E27FC236}">
                <a16:creationId xmlns:a16="http://schemas.microsoft.com/office/drawing/2014/main" id="{8A6C90C8-C275-82A9-03E1-6060FBB39BB7}"/>
              </a:ext>
            </a:extLst>
          </p:cNvPr>
          <p:cNvSpPr/>
          <p:nvPr/>
        </p:nvSpPr>
        <p:spPr>
          <a:xfrm>
            <a:off x="3469286" y="5785538"/>
            <a:ext cx="2967510" cy="280826"/>
          </a:xfrm>
          <a:prstGeom prst="roundRect">
            <a:avLst/>
          </a:prstGeom>
          <a:noFill/>
          <a:ln w="6350">
            <a:noFill/>
          </a:ln>
          <a:effectLst>
            <a:glow rad="12700">
              <a:schemeClr val="accent1">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wrap="square" tIns="0" bIns="0" rtlCol="0" anchor="ctr" anchorCtr="0"/>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500" b="1" i="0" u="none" strike="noStrike" kern="0" cap="none" spc="100" normalizeH="0" baseline="0" noProof="0" dirty="0">
              <a:ln>
                <a:noFill/>
              </a:ln>
              <a:solidFill>
                <a:srgbClr val="4EA72E"/>
              </a:solidFill>
              <a:effectLst/>
              <a:uLnTx/>
              <a:uFillTx/>
              <a:latin typeface="Segoe UI" panose="020B0502040204020203" pitchFamily="34" charset="0"/>
              <a:ea typeface="+mn-ea"/>
              <a:cs typeface="Segoe UI" panose="020B0502040204020203" pitchFamily="34" charset="0"/>
              <a:sym typeface="Arial"/>
            </a:endParaRPr>
          </a:p>
        </p:txBody>
      </p:sp>
      <p:cxnSp>
        <p:nvCxnSpPr>
          <p:cNvPr id="204" name="Straight Connector 203">
            <a:extLst>
              <a:ext uri="{FF2B5EF4-FFF2-40B4-BE49-F238E27FC236}">
                <a16:creationId xmlns:a16="http://schemas.microsoft.com/office/drawing/2014/main" id="{6BF22471-6DAA-924D-EDDF-3F01F6672D14}"/>
              </a:ext>
            </a:extLst>
          </p:cNvPr>
          <p:cNvCxnSpPr>
            <a:cxnSpLocks/>
          </p:cNvCxnSpPr>
          <p:nvPr/>
        </p:nvCxnSpPr>
        <p:spPr>
          <a:xfrm>
            <a:off x="5858786" y="5153885"/>
            <a:ext cx="0" cy="1072241"/>
          </a:xfrm>
          <a:prstGeom prst="line">
            <a:avLst/>
          </a:prstGeom>
          <a:ln w="1905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6" name="Straight Connector 205">
            <a:extLst>
              <a:ext uri="{FF2B5EF4-FFF2-40B4-BE49-F238E27FC236}">
                <a16:creationId xmlns:a16="http://schemas.microsoft.com/office/drawing/2014/main" id="{4FDE52F2-2950-29B7-08A4-D470A885BA2F}"/>
              </a:ext>
            </a:extLst>
          </p:cNvPr>
          <p:cNvCxnSpPr>
            <a:cxnSpLocks/>
          </p:cNvCxnSpPr>
          <p:nvPr/>
        </p:nvCxnSpPr>
        <p:spPr>
          <a:xfrm>
            <a:off x="9750372" y="3141992"/>
            <a:ext cx="0" cy="1343156"/>
          </a:xfrm>
          <a:prstGeom prst="line">
            <a:avLst/>
          </a:prstGeom>
          <a:ln w="1905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sp>
        <p:nvSpPr>
          <p:cNvPr id="210" name="Title 2">
            <a:extLst>
              <a:ext uri="{FF2B5EF4-FFF2-40B4-BE49-F238E27FC236}">
                <a16:creationId xmlns:a16="http://schemas.microsoft.com/office/drawing/2014/main" id="{EBED0333-1503-9B10-6835-FD54FA91ED44}"/>
              </a:ext>
            </a:extLst>
          </p:cNvPr>
          <p:cNvSpPr txBox="1">
            <a:spLocks/>
          </p:cNvSpPr>
          <p:nvPr/>
        </p:nvSpPr>
        <p:spPr>
          <a:xfrm>
            <a:off x="6104713" y="5187401"/>
            <a:ext cx="5794209" cy="572464"/>
          </a:xfrm>
          <a:prstGeom prst="rect">
            <a:avLst/>
          </a:prstGeom>
        </p:spPr>
        <p:txBody>
          <a:bodyPr vert="horz" wrap="square" lIns="91440" tIns="91440" rIns="91440" bIns="91440" rtlCol="0" anchor="ctr">
            <a:spAutoFit/>
          </a:bodyPr>
          <a:lstStyle>
            <a:lvl1pPr algn="l" defTabSz="914400" rtl="0" eaLnBrk="1" latinLnBrk="0" hangingPunct="1">
              <a:lnSpc>
                <a:spcPct val="90000"/>
              </a:lnSpc>
              <a:spcBef>
                <a:spcPct val="0"/>
              </a:spcBef>
              <a:buNone/>
              <a:defRPr lang="en-CA" sz="3600" b="1" kern="1200" cap="all" baseline="0">
                <a:solidFill>
                  <a:schemeClr val="tx1"/>
                </a:solidFill>
                <a:latin typeface="+mn-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 typeface="Arial"/>
              <a:buNone/>
              <a:tabLst/>
              <a:defRPr/>
            </a:pPr>
            <a:r>
              <a:rPr kumimoji="0" lang="en-US" sz="1400" b="1" i="0" u="none" strike="noStrike" kern="1200" cap="none" spc="0" normalizeH="0" baseline="0" noProof="0" dirty="0">
                <a:ln>
                  <a:noFill/>
                </a:ln>
                <a:solidFill>
                  <a:srgbClr val="43B02A"/>
                </a:solidFill>
                <a:effectLst/>
                <a:uLnTx/>
                <a:uFillTx/>
                <a:latin typeface="Segoe UI" panose="020B0502040204020203" pitchFamily="34" charset="0"/>
                <a:ea typeface="+mj-ea"/>
                <a:cs typeface="Segoe UI" panose="020B0502040204020203" pitchFamily="34" charset="0"/>
                <a:sym typeface="Arial"/>
              </a:rPr>
              <a:t>gap between insurance (72%) and banking (47%) respondents selecting the contact center as their most vulnerable channel</a:t>
            </a:r>
          </a:p>
        </p:txBody>
      </p:sp>
      <p:sp>
        <p:nvSpPr>
          <p:cNvPr id="212" name="Rectangle 211">
            <a:extLst>
              <a:ext uri="{FF2B5EF4-FFF2-40B4-BE49-F238E27FC236}">
                <a16:creationId xmlns:a16="http://schemas.microsoft.com/office/drawing/2014/main" id="{738E9963-8707-67AA-AFC7-526219677E37}"/>
              </a:ext>
            </a:extLst>
          </p:cNvPr>
          <p:cNvSpPr/>
          <p:nvPr/>
        </p:nvSpPr>
        <p:spPr>
          <a:xfrm>
            <a:off x="6202972" y="5751006"/>
            <a:ext cx="5509417" cy="43036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marL="0" marR="0" lvl="0" indent="0" algn="just" defTabSz="914400" rtl="0" eaLnBrk="1" fontAlgn="auto" latinLnBrk="0" hangingPunct="1">
              <a:lnSpc>
                <a:spcPct val="100000"/>
              </a:lnSpc>
              <a:spcBef>
                <a:spcPts val="0"/>
              </a:spcBef>
              <a:spcAft>
                <a:spcPts val="0"/>
              </a:spcAft>
              <a:buClrTx/>
              <a:buSzTx/>
              <a:buFont typeface="Arial"/>
              <a:buNone/>
              <a:tabLst/>
              <a:defRPr/>
            </a:pPr>
            <a:r>
              <a:rPr kumimoji="0" lang="en-US" sz="1200" b="0" i="0" u="none" strike="noStrike" kern="1200" cap="none" spc="0" normalizeH="0" baseline="0" noProof="0" dirty="0">
                <a:ln>
                  <a:noFill/>
                </a:ln>
                <a:solidFill>
                  <a:srgbClr val="000000">
                    <a:lumMod val="75000"/>
                    <a:lumOff val="25000"/>
                  </a:srgbClr>
                </a:solidFill>
                <a:effectLst/>
                <a:uLnTx/>
                <a:uFillTx/>
                <a:latin typeface="Segoe UI" panose="020B0502040204020203" pitchFamily="34" charset="0"/>
                <a:ea typeface="Open Sans" panose="020B0606030504020204" pitchFamily="34" charset="0"/>
                <a:cs typeface="Segoe UI" panose="020B0502040204020203" pitchFamily="34" charset="0"/>
                <a:sym typeface="Arial"/>
              </a:rPr>
              <a:t>Insurance routes authentication, servicing and claims through the contact center whereas banking spreads that risk across digital channels</a:t>
            </a:r>
          </a:p>
        </p:txBody>
      </p:sp>
      <p:sp>
        <p:nvSpPr>
          <p:cNvPr id="16" name="Text 22">
            <a:extLst>
              <a:ext uri="{FF2B5EF4-FFF2-40B4-BE49-F238E27FC236}">
                <a16:creationId xmlns:a16="http://schemas.microsoft.com/office/drawing/2014/main" id="{6652A3BC-EE00-243A-E65B-A44048D76CE6}"/>
              </a:ext>
            </a:extLst>
          </p:cNvPr>
          <p:cNvSpPr/>
          <p:nvPr/>
        </p:nvSpPr>
        <p:spPr>
          <a:xfrm>
            <a:off x="584015" y="2600457"/>
            <a:ext cx="2095177" cy="612037"/>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80" normalizeH="0" baseline="0" noProof="0" dirty="0">
                <a:ln>
                  <a:noFill/>
                </a:ln>
                <a:solidFill>
                  <a:srgbClr val="FFFFFF"/>
                </a:solidFill>
                <a:effectLst/>
                <a:uLnTx/>
                <a:uFillTx/>
                <a:latin typeface="Segoe UI" panose="020B0502040204020203" pitchFamily="34" charset="0"/>
                <a:ea typeface="Arial" pitchFamily="34" charset="-122"/>
                <a:cs typeface="Segoe UI" panose="020B0502040204020203" pitchFamily="34" charset="0"/>
                <a:sym typeface="Arial"/>
              </a:rPr>
              <a:t>WHERE THEY CONVERGE</a:t>
            </a:r>
          </a:p>
        </p:txBody>
      </p:sp>
      <p:sp>
        <p:nvSpPr>
          <p:cNvPr id="12" name="Rectangle 11">
            <a:extLst>
              <a:ext uri="{FF2B5EF4-FFF2-40B4-BE49-F238E27FC236}">
                <a16:creationId xmlns:a16="http://schemas.microsoft.com/office/drawing/2014/main" id="{EBC9837D-C3FD-4F9E-66F8-595B7E8F9392}"/>
              </a:ext>
            </a:extLst>
          </p:cNvPr>
          <p:cNvSpPr/>
          <p:nvPr/>
        </p:nvSpPr>
        <p:spPr>
          <a:xfrm>
            <a:off x="208221" y="6522342"/>
            <a:ext cx="3906579" cy="17164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marL="0" marR="0" lvl="0" indent="0" algn="just" defTabSz="914400" rtl="0" eaLnBrk="1" fontAlgn="auto" latinLnBrk="0" hangingPunct="1">
              <a:lnSpc>
                <a:spcPct val="100000"/>
              </a:lnSpc>
              <a:spcBef>
                <a:spcPts val="0"/>
              </a:spcBef>
              <a:spcAft>
                <a:spcPts val="0"/>
              </a:spcAft>
              <a:buClrTx/>
              <a:buSzTx/>
              <a:buFont typeface="Arial"/>
              <a:buNone/>
              <a:tabLst/>
              <a:defRPr/>
            </a:pPr>
            <a:r>
              <a:rPr kumimoji="0" lang="en-US" sz="800" b="0" i="0" u="none" strike="noStrike" kern="1200" cap="none" spc="0" normalizeH="0" baseline="0" noProof="0" dirty="0">
                <a:ln>
                  <a:noFill/>
                </a:ln>
                <a:solidFill>
                  <a:srgbClr val="000000">
                    <a:lumMod val="75000"/>
                    <a:lumOff val="25000"/>
                  </a:srgbClr>
                </a:solidFill>
                <a:effectLst/>
                <a:uLnTx/>
                <a:uFillTx/>
                <a:latin typeface="Segoe UI" panose="020B0502040204020203" pitchFamily="34" charset="0"/>
                <a:ea typeface="Open Sans" panose="020B0606030504020204" pitchFamily="34" charset="0"/>
                <a:cs typeface="Segoe UI" panose="020B0502040204020203" pitchFamily="34" charset="0"/>
                <a:sym typeface="Arial"/>
              </a:rPr>
              <a:t>1 </a:t>
            </a:r>
            <a:r>
              <a:rPr kumimoji="0" lang="en-US" sz="800" b="0" i="0" u="none" strike="noStrike" kern="1200" cap="none" spc="0" normalizeH="0" baseline="0" noProof="0" dirty="0">
                <a:ln>
                  <a:noFill/>
                </a:ln>
                <a:solidFill>
                  <a:srgbClr val="000000">
                    <a:lumMod val="75000"/>
                    <a:lumOff val="25000"/>
                  </a:srgbClr>
                </a:solidFill>
                <a:effectLst/>
                <a:uLnTx/>
                <a:uFillTx/>
                <a:latin typeface="Segoe UI" panose="020B0502040204020203" pitchFamily="34" charset="0"/>
                <a:ea typeface="Open Sans" panose="020B0606030504020204" pitchFamily="34" charset="0"/>
                <a:cs typeface="Segoe UI" panose="020B0502040204020203" pitchFamily="34" charset="0"/>
                <a:sym typeface="Arial"/>
                <a:hlinkClick r:id="rId3"/>
              </a:rPr>
              <a:t>Deepfakes Already Hitting Businesses as Often as Traditional Fraud</a:t>
            </a:r>
            <a:endParaRPr kumimoji="0" lang="en-US" sz="800" b="0" i="0" u="none" strike="noStrike" kern="1200" cap="none" spc="0" normalizeH="0" baseline="0" noProof="0" dirty="0">
              <a:ln>
                <a:noFill/>
              </a:ln>
              <a:solidFill>
                <a:srgbClr val="000000">
                  <a:lumMod val="75000"/>
                  <a:lumOff val="25000"/>
                </a:srgbClr>
              </a:solidFill>
              <a:effectLst/>
              <a:uLnTx/>
              <a:uFillTx/>
              <a:latin typeface="Segoe UI" panose="020B0502040204020203" pitchFamily="34" charset="0"/>
              <a:ea typeface="Open Sans" panose="020B0606030504020204" pitchFamily="34" charset="0"/>
              <a:cs typeface="Segoe UI" panose="020B0502040204020203" pitchFamily="34" charset="0"/>
              <a:sym typeface="Arial"/>
            </a:endParaRPr>
          </a:p>
        </p:txBody>
      </p:sp>
      <p:sp>
        <p:nvSpPr>
          <p:cNvPr id="4" name="Rectangle 3">
            <a:extLst>
              <a:ext uri="{FF2B5EF4-FFF2-40B4-BE49-F238E27FC236}">
                <a16:creationId xmlns:a16="http://schemas.microsoft.com/office/drawing/2014/main" id="{DA55C648-3C23-7141-C5BE-09F28C1DCB58}"/>
              </a:ext>
            </a:extLst>
          </p:cNvPr>
          <p:cNvSpPr/>
          <p:nvPr/>
        </p:nvSpPr>
        <p:spPr>
          <a:xfrm>
            <a:off x="208221" y="6680947"/>
            <a:ext cx="2769649" cy="11694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marL="0" marR="0" lvl="0" indent="0" algn="just" defTabSz="914400" rtl="0" eaLnBrk="1" fontAlgn="auto" latinLnBrk="0" hangingPunct="1">
              <a:lnSpc>
                <a:spcPct val="100000"/>
              </a:lnSpc>
              <a:spcBef>
                <a:spcPts val="0"/>
              </a:spcBef>
              <a:spcAft>
                <a:spcPts val="0"/>
              </a:spcAft>
              <a:buClrTx/>
              <a:buSzTx/>
              <a:buFont typeface="Arial"/>
              <a:buNone/>
              <a:tabLst/>
              <a:defRPr/>
            </a:pPr>
            <a:r>
              <a:rPr kumimoji="0" lang="en-US" sz="800" b="0" i="0" u="none" strike="noStrike" kern="1200" cap="none" spc="0" normalizeH="0" baseline="0" noProof="0" dirty="0">
                <a:ln>
                  <a:noFill/>
                </a:ln>
                <a:solidFill>
                  <a:srgbClr val="000000">
                    <a:lumMod val="75000"/>
                    <a:lumOff val="25000"/>
                  </a:srgbClr>
                </a:solidFill>
                <a:effectLst/>
                <a:uLnTx/>
                <a:uFillTx/>
                <a:latin typeface="Segoe UI" panose="020B0502040204020203" pitchFamily="34" charset="0"/>
                <a:ea typeface="Open Sans" panose="020B0606030504020204" pitchFamily="34" charset="0"/>
                <a:cs typeface="Segoe UI" panose="020B0502040204020203" pitchFamily="34" charset="0"/>
                <a:sym typeface="Arial"/>
              </a:rPr>
              <a:t>For detailed data please refer to </a:t>
            </a:r>
            <a:r>
              <a:rPr kumimoji="0" lang="en-US" sz="800" b="0" i="0" u="none" strike="noStrike" kern="1200" cap="none" spc="0" normalizeH="0" baseline="0" noProof="0" dirty="0">
                <a:ln>
                  <a:noFill/>
                </a:ln>
                <a:solidFill>
                  <a:srgbClr val="000000">
                    <a:lumMod val="75000"/>
                    <a:lumOff val="25000"/>
                  </a:srgbClr>
                </a:solidFill>
                <a:effectLst/>
                <a:uLnTx/>
                <a:uFillTx/>
                <a:latin typeface="Segoe UI" panose="020B0502040204020203" pitchFamily="34" charset="0"/>
                <a:ea typeface="Open Sans" panose="020B0606030504020204" pitchFamily="34" charset="0"/>
                <a:cs typeface="Segoe UI" panose="020B0502040204020203" pitchFamily="34" charset="0"/>
                <a:sym typeface="Arial"/>
                <a:hlinkClick r:id="" action="ppaction://noaction"/>
              </a:rPr>
              <a:t>Appendix – B</a:t>
            </a:r>
            <a:r>
              <a:rPr kumimoji="0" lang="en-US" sz="800" b="0" i="0" u="none" strike="noStrike" kern="1200" cap="none" spc="0" normalizeH="0" baseline="0" noProof="0" dirty="0">
                <a:ln>
                  <a:noFill/>
                </a:ln>
                <a:solidFill>
                  <a:srgbClr val="000000">
                    <a:lumMod val="75000"/>
                    <a:lumOff val="25000"/>
                  </a:srgbClr>
                </a:solidFill>
                <a:effectLst/>
                <a:uLnTx/>
                <a:uFillTx/>
                <a:latin typeface="Segoe UI" panose="020B0502040204020203" pitchFamily="34" charset="0"/>
                <a:ea typeface="Open Sans" panose="020B0606030504020204" pitchFamily="34" charset="0"/>
                <a:cs typeface="Segoe UI" panose="020B0502040204020203" pitchFamily="34" charset="0"/>
                <a:sym typeface="Arial"/>
                <a:hlinkClick r:id="rId4" action="ppaction://hlinksldjump"/>
              </a:rPr>
              <a:t> </a:t>
            </a:r>
            <a:endParaRPr kumimoji="0" lang="en-US" sz="800" b="0" i="0" u="none" strike="noStrike" kern="1200" cap="none" spc="0" normalizeH="0" baseline="0" noProof="0" dirty="0">
              <a:ln>
                <a:noFill/>
              </a:ln>
              <a:solidFill>
                <a:srgbClr val="000000">
                  <a:lumMod val="75000"/>
                  <a:lumOff val="25000"/>
                </a:srgbClr>
              </a:solidFill>
              <a:effectLst/>
              <a:uLnTx/>
              <a:uFillTx/>
              <a:latin typeface="Segoe UI" panose="020B0502040204020203" pitchFamily="34" charset="0"/>
              <a:ea typeface="Open Sans" panose="020B0606030504020204" pitchFamily="34" charset="0"/>
              <a:cs typeface="Segoe UI" panose="020B0502040204020203" pitchFamily="34" charset="0"/>
              <a:sym typeface="Arial"/>
            </a:endParaRPr>
          </a:p>
        </p:txBody>
      </p:sp>
    </p:spTree>
    <p:extLst>
      <p:ext uri="{BB962C8B-B14F-4D97-AF65-F5344CB8AC3E}">
        <p14:creationId xmlns:p14="http://schemas.microsoft.com/office/powerpoint/2010/main" val="37031821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DBEA0D-344E-5B69-C0F0-BE68BE5ABE85}"/>
            </a:ext>
          </a:extLst>
        </p:cNvPr>
        <p:cNvGrpSpPr/>
        <p:nvPr/>
      </p:nvGrpSpPr>
      <p:grpSpPr>
        <a:xfrm>
          <a:off x="0" y="0"/>
          <a:ext cx="0" cy="0"/>
          <a:chOff x="0" y="0"/>
          <a:chExt cx="0" cy="0"/>
        </a:xfrm>
      </p:grpSpPr>
      <p:sp>
        <p:nvSpPr>
          <p:cNvPr id="153" name="Rectangle 152">
            <a:extLst>
              <a:ext uri="{FF2B5EF4-FFF2-40B4-BE49-F238E27FC236}">
                <a16:creationId xmlns:a16="http://schemas.microsoft.com/office/drawing/2014/main" id="{325FBBF7-60F4-3D5C-EC3D-F825BAAA0088}"/>
              </a:ext>
            </a:extLst>
          </p:cNvPr>
          <p:cNvSpPr/>
          <p:nvPr/>
        </p:nvSpPr>
        <p:spPr>
          <a:xfrm>
            <a:off x="-904" y="2472"/>
            <a:ext cx="12192000" cy="353257"/>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600"/>
              </a:spcBef>
              <a:spcAft>
                <a:spcPts val="0"/>
              </a:spcAft>
              <a:buClrTx/>
              <a:buSzPct val="100000"/>
              <a:buFont typeface="Arial"/>
              <a:buNone/>
              <a:tabLst/>
              <a:defRPr/>
            </a:pPr>
            <a:r>
              <a:rPr kumimoji="0" lang="en-US" sz="1200" b="1" i="0" u="none" strike="noStrike" kern="1200" cap="none" spc="0" normalizeH="0" baseline="0" noProof="0" dirty="0">
                <a:ln>
                  <a:noFill/>
                </a:ln>
                <a:solidFill>
                  <a:srgbClr val="FFFFFF"/>
                </a:solidFill>
                <a:effectLst/>
                <a:uLnTx/>
                <a:uFillTx/>
                <a:latin typeface="Segoe UI" panose="020B0502040204020203" pitchFamily="34" charset="0"/>
                <a:ea typeface="Open Sans" panose="020B0606030504020204" pitchFamily="34" charset="0"/>
                <a:cs typeface="Segoe UI" panose="020B0502040204020203" pitchFamily="34" charset="0"/>
                <a:sym typeface="Arial"/>
              </a:rPr>
              <a:t>DEEPFAKE &amp; EMERGING AI RISK</a:t>
            </a:r>
          </a:p>
        </p:txBody>
      </p:sp>
      <p:sp>
        <p:nvSpPr>
          <p:cNvPr id="11" name="TextBox 10">
            <a:extLst>
              <a:ext uri="{FF2B5EF4-FFF2-40B4-BE49-F238E27FC236}">
                <a16:creationId xmlns:a16="http://schemas.microsoft.com/office/drawing/2014/main" id="{F6A7302D-DED1-3A66-5136-8C0E43EC29E3}"/>
              </a:ext>
            </a:extLst>
          </p:cNvPr>
          <p:cNvSpPr txBox="1"/>
          <p:nvPr/>
        </p:nvSpPr>
        <p:spPr>
          <a:xfrm>
            <a:off x="320040" y="1143000"/>
            <a:ext cx="11521440" cy="646331"/>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400" b="0"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Asked which mitigation levers matter most, respondents spread their answers almost evenly: </a:t>
            </a:r>
            <a:r>
              <a:rPr kumimoji="0" sz="1400" b="1"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each of the four levers was selected by 43–53% of respondents</a:t>
            </a:r>
            <a:r>
              <a:rPr kumimoji="0" sz="1400" b="0"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 No single control stands out, which signals that leaders see deepfake defense as a combination of people, process, technology and intelligence.</a:t>
            </a:r>
          </a:p>
        </p:txBody>
      </p:sp>
      <p:sp>
        <p:nvSpPr>
          <p:cNvPr id="15" name="TextBox 14">
            <a:extLst>
              <a:ext uri="{FF2B5EF4-FFF2-40B4-BE49-F238E27FC236}">
                <a16:creationId xmlns:a16="http://schemas.microsoft.com/office/drawing/2014/main" id="{9361E7E7-5647-A1E6-A8D1-FFE0CD92B160}"/>
              </a:ext>
            </a:extLst>
          </p:cNvPr>
          <p:cNvSpPr txBox="1"/>
          <p:nvPr/>
        </p:nvSpPr>
        <p:spPr>
          <a:xfrm>
            <a:off x="320040" y="1948864"/>
            <a:ext cx="8229600" cy="200055"/>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300" b="1" i="0" u="none" strike="noStrike" kern="1200" cap="none" spc="0" normalizeH="0" baseline="0" noProof="0" dirty="0">
                <a:ln>
                  <a:noFill/>
                </a:ln>
                <a:solidFill>
                  <a:srgbClr val="046A38"/>
                </a:solidFill>
                <a:effectLst/>
                <a:uLnTx/>
                <a:uFillTx/>
                <a:latin typeface="Segoe UI" panose="020B0502040204020203" pitchFamily="34" charset="0"/>
                <a:ea typeface="+mn-ea"/>
                <a:cs typeface="Segoe UI" panose="020B0502040204020203" pitchFamily="34" charset="0"/>
                <a:sym typeface="Arial"/>
              </a:rPr>
              <a:t>FOUR LEVERS, EQUALLY WEIGHTED</a:t>
            </a:r>
            <a:endParaRPr kumimoji="0" sz="1300" b="0" i="0" u="none" strike="noStrike" kern="1200" cap="none" spc="0" normalizeH="0" baseline="0" noProof="0" dirty="0">
              <a:ln>
                <a:noFill/>
              </a:ln>
              <a:solidFill>
                <a:srgbClr val="75787B"/>
              </a:solidFill>
              <a:effectLst/>
              <a:uLnTx/>
              <a:uFillTx/>
              <a:latin typeface="Segoe UI" panose="020B0502040204020203" pitchFamily="34" charset="0"/>
              <a:ea typeface="+mn-ea"/>
              <a:cs typeface="Segoe UI" panose="020B0502040204020203" pitchFamily="34" charset="0"/>
              <a:sym typeface="Arial"/>
            </a:endParaRPr>
          </a:p>
        </p:txBody>
      </p:sp>
      <p:grpSp>
        <p:nvGrpSpPr>
          <p:cNvPr id="2" name="Group 1">
            <a:extLst>
              <a:ext uri="{FF2B5EF4-FFF2-40B4-BE49-F238E27FC236}">
                <a16:creationId xmlns:a16="http://schemas.microsoft.com/office/drawing/2014/main" id="{38AC62DA-C722-7317-A72D-70A717EC103D}"/>
              </a:ext>
            </a:extLst>
          </p:cNvPr>
          <p:cNvGrpSpPr/>
          <p:nvPr/>
        </p:nvGrpSpPr>
        <p:grpSpPr>
          <a:xfrm>
            <a:off x="886404" y="2306235"/>
            <a:ext cx="2635806" cy="1933960"/>
            <a:chOff x="512328" y="2307402"/>
            <a:chExt cx="2635806" cy="1933960"/>
          </a:xfrm>
        </p:grpSpPr>
        <p:sp>
          <p:nvSpPr>
            <p:cNvPr id="17" name="Rounded Rectangle 7">
              <a:extLst>
                <a:ext uri="{FF2B5EF4-FFF2-40B4-BE49-F238E27FC236}">
                  <a16:creationId xmlns:a16="http://schemas.microsoft.com/office/drawing/2014/main" id="{F15C5CB5-B3AD-E45B-8143-8C29DFD9DEB5}"/>
                </a:ext>
              </a:extLst>
            </p:cNvPr>
            <p:cNvSpPr/>
            <p:nvPr/>
          </p:nvSpPr>
          <p:spPr>
            <a:xfrm>
              <a:off x="512328" y="2307402"/>
              <a:ext cx="2635806" cy="1933960"/>
            </a:xfrm>
            <a:prstGeom prst="roundRect">
              <a:avLst>
                <a:gd name="adj" fmla="val 60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srgbClr val="FFFFFF"/>
                </a:solidFill>
                <a:effectLst/>
                <a:uLnTx/>
                <a:uFillTx/>
                <a:latin typeface="Segoe UI" panose="020B0502040204020203" pitchFamily="34" charset="0"/>
                <a:ea typeface="+mn-ea"/>
                <a:cs typeface="Segoe UI" panose="020B0502040204020203" pitchFamily="34" charset="0"/>
                <a:sym typeface="Arial"/>
              </a:endParaRPr>
            </a:p>
          </p:txBody>
        </p:sp>
        <p:grpSp>
          <p:nvGrpSpPr>
            <p:cNvPr id="184" name="Group 183">
              <a:extLst>
                <a:ext uri="{FF2B5EF4-FFF2-40B4-BE49-F238E27FC236}">
                  <a16:creationId xmlns:a16="http://schemas.microsoft.com/office/drawing/2014/main" id="{E3A0F095-E6C7-FABF-5F03-697E8C447E9C}"/>
                </a:ext>
              </a:extLst>
            </p:cNvPr>
            <p:cNvGrpSpPr/>
            <p:nvPr/>
          </p:nvGrpSpPr>
          <p:grpSpPr>
            <a:xfrm>
              <a:off x="1447371" y="2471994"/>
              <a:ext cx="720000" cy="720000"/>
              <a:chOff x="1348740" y="2267712"/>
              <a:chExt cx="640080" cy="640080"/>
            </a:xfrm>
          </p:grpSpPr>
          <p:sp>
            <p:nvSpPr>
              <p:cNvPr id="22" name="Oval 21">
                <a:extLst>
                  <a:ext uri="{FF2B5EF4-FFF2-40B4-BE49-F238E27FC236}">
                    <a16:creationId xmlns:a16="http://schemas.microsoft.com/office/drawing/2014/main" id="{00B036A9-5780-6F4F-8D12-77414A97783E}"/>
                  </a:ext>
                </a:extLst>
              </p:cNvPr>
              <p:cNvSpPr/>
              <p:nvPr/>
            </p:nvSpPr>
            <p:spPr>
              <a:xfrm>
                <a:off x="1348740" y="2267712"/>
                <a:ext cx="640080" cy="640080"/>
              </a:xfrm>
              <a:prstGeom prst="ellipse">
                <a:avLst/>
              </a:prstGeom>
              <a:solidFill>
                <a:srgbClr val="4EA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srgbClr val="FFFFFF"/>
                  </a:solidFill>
                  <a:effectLst/>
                  <a:uLnTx/>
                  <a:uFillTx/>
                  <a:latin typeface="Segoe UI" panose="020B0502040204020203" pitchFamily="34" charset="0"/>
                  <a:ea typeface="+mn-ea"/>
                  <a:cs typeface="Segoe UI" panose="020B0502040204020203" pitchFamily="34" charset="0"/>
                  <a:sym typeface="Arial"/>
                </a:endParaRPr>
              </a:p>
            </p:txBody>
          </p:sp>
          <p:pic>
            <p:nvPicPr>
              <p:cNvPr id="25" name="Picture 24" descr="image.png">
                <a:extLst>
                  <a:ext uri="{FF2B5EF4-FFF2-40B4-BE49-F238E27FC236}">
                    <a16:creationId xmlns:a16="http://schemas.microsoft.com/office/drawing/2014/main" id="{2AB99E46-FDFE-CBCB-C4CE-1A15872D652F}"/>
                  </a:ext>
                </a:extLst>
              </p:cNvPr>
              <p:cNvPicPr>
                <a:picLocks noChangeAspect="1"/>
              </p:cNvPicPr>
              <p:nvPr/>
            </p:nvPicPr>
            <p:blipFill>
              <a:blip r:embed="rId3"/>
              <a:stretch>
                <a:fillRect/>
              </a:stretch>
            </p:blipFill>
            <p:spPr>
              <a:xfrm>
                <a:off x="1502359" y="2421331"/>
                <a:ext cx="332841" cy="332841"/>
              </a:xfrm>
              <a:prstGeom prst="rect">
                <a:avLst/>
              </a:prstGeom>
            </p:spPr>
          </p:pic>
        </p:grpSp>
        <p:sp>
          <p:nvSpPr>
            <p:cNvPr id="27" name="TextBox 26">
              <a:extLst>
                <a:ext uri="{FF2B5EF4-FFF2-40B4-BE49-F238E27FC236}">
                  <a16:creationId xmlns:a16="http://schemas.microsoft.com/office/drawing/2014/main" id="{7719512D-C6FE-DC4F-9E8A-1052F433EF76}"/>
                </a:ext>
              </a:extLst>
            </p:cNvPr>
            <p:cNvSpPr txBox="1"/>
            <p:nvPr/>
          </p:nvSpPr>
          <p:spPr>
            <a:xfrm>
              <a:off x="595791" y="3349429"/>
              <a:ext cx="2423160" cy="230832"/>
            </a:xfrm>
            <a:prstGeom prst="rect">
              <a:avLst/>
            </a:prstGeom>
            <a:noFill/>
          </p:spPr>
          <p:txBody>
            <a:bodyPr wrap="square" lIns="0" tIns="0" rIns="0" bIns="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500" b="1" i="0" u="none" strike="noStrike" kern="1200" cap="none" spc="0" normalizeH="0" baseline="0" noProof="0" dirty="0">
                  <a:ln>
                    <a:noFill/>
                  </a:ln>
                  <a:solidFill>
                    <a:srgbClr val="023D20"/>
                  </a:solidFill>
                  <a:effectLst/>
                  <a:uLnTx/>
                  <a:uFillTx/>
                  <a:latin typeface="Segoe UI" panose="020B0502040204020203" pitchFamily="34" charset="0"/>
                  <a:ea typeface="+mn-ea"/>
                  <a:cs typeface="Segoe UI" panose="020B0502040204020203" pitchFamily="34" charset="0"/>
                  <a:sym typeface="Arial"/>
                </a:rPr>
                <a:t>Third-party intelligence</a:t>
              </a:r>
            </a:p>
          </p:txBody>
        </p:sp>
        <p:sp>
          <p:nvSpPr>
            <p:cNvPr id="29" name="TextBox 28">
              <a:extLst>
                <a:ext uri="{FF2B5EF4-FFF2-40B4-BE49-F238E27FC236}">
                  <a16:creationId xmlns:a16="http://schemas.microsoft.com/office/drawing/2014/main" id="{509CF935-7666-732B-C0D8-64B9BCA5A9F6}"/>
                </a:ext>
              </a:extLst>
            </p:cNvPr>
            <p:cNvSpPr txBox="1"/>
            <p:nvPr/>
          </p:nvSpPr>
          <p:spPr>
            <a:xfrm>
              <a:off x="641511" y="3671219"/>
              <a:ext cx="2331720" cy="507831"/>
            </a:xfrm>
            <a:prstGeom prst="rect">
              <a:avLst/>
            </a:prstGeom>
            <a:noFill/>
          </p:spPr>
          <p:txBody>
            <a:bodyPr wrap="square" lIns="0" tIns="0" rIns="0" bIns="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External data and consortium signals that reveal threats beyond one institution</a:t>
              </a:r>
            </a:p>
          </p:txBody>
        </p:sp>
      </p:grpSp>
      <p:grpSp>
        <p:nvGrpSpPr>
          <p:cNvPr id="3" name="Group 2">
            <a:extLst>
              <a:ext uri="{FF2B5EF4-FFF2-40B4-BE49-F238E27FC236}">
                <a16:creationId xmlns:a16="http://schemas.microsoft.com/office/drawing/2014/main" id="{319FC290-7183-C7AD-4745-F6DCCA012485}"/>
              </a:ext>
            </a:extLst>
          </p:cNvPr>
          <p:cNvGrpSpPr/>
          <p:nvPr/>
        </p:nvGrpSpPr>
        <p:grpSpPr>
          <a:xfrm>
            <a:off x="3659494" y="2306235"/>
            <a:ext cx="2635806" cy="1933960"/>
            <a:chOff x="3462792" y="2307402"/>
            <a:chExt cx="2635806" cy="1933960"/>
          </a:xfrm>
        </p:grpSpPr>
        <p:sp>
          <p:nvSpPr>
            <p:cNvPr id="31" name="Rounded Rectangle 12">
              <a:extLst>
                <a:ext uri="{FF2B5EF4-FFF2-40B4-BE49-F238E27FC236}">
                  <a16:creationId xmlns:a16="http://schemas.microsoft.com/office/drawing/2014/main" id="{E7C0C06C-18C3-68FB-4A23-481D81856C51}"/>
                </a:ext>
              </a:extLst>
            </p:cNvPr>
            <p:cNvSpPr/>
            <p:nvPr/>
          </p:nvSpPr>
          <p:spPr>
            <a:xfrm>
              <a:off x="3462792" y="2307402"/>
              <a:ext cx="2635806" cy="1933960"/>
            </a:xfrm>
            <a:prstGeom prst="roundRect">
              <a:avLst>
                <a:gd name="adj" fmla="val 60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srgbClr val="FFFFFF"/>
                </a:solidFill>
                <a:effectLst/>
                <a:uLnTx/>
                <a:uFillTx/>
                <a:latin typeface="Segoe UI" panose="020B0502040204020203" pitchFamily="34" charset="0"/>
                <a:ea typeface="+mn-ea"/>
                <a:cs typeface="Segoe UI" panose="020B0502040204020203" pitchFamily="34" charset="0"/>
                <a:sym typeface="Arial"/>
              </a:endParaRPr>
            </a:p>
          </p:txBody>
        </p:sp>
        <p:grpSp>
          <p:nvGrpSpPr>
            <p:cNvPr id="183" name="Group 182">
              <a:extLst>
                <a:ext uri="{FF2B5EF4-FFF2-40B4-BE49-F238E27FC236}">
                  <a16:creationId xmlns:a16="http://schemas.microsoft.com/office/drawing/2014/main" id="{AE26DACD-7243-7C54-6A2A-D5DCAE910BA1}"/>
                </a:ext>
              </a:extLst>
            </p:cNvPr>
            <p:cNvGrpSpPr/>
            <p:nvPr/>
          </p:nvGrpSpPr>
          <p:grpSpPr>
            <a:xfrm>
              <a:off x="4397835" y="2471994"/>
              <a:ext cx="720000" cy="720000"/>
              <a:chOff x="4299204" y="2267712"/>
              <a:chExt cx="640080" cy="640080"/>
            </a:xfrm>
          </p:grpSpPr>
          <p:sp>
            <p:nvSpPr>
              <p:cNvPr id="33" name="Oval 32">
                <a:extLst>
                  <a:ext uri="{FF2B5EF4-FFF2-40B4-BE49-F238E27FC236}">
                    <a16:creationId xmlns:a16="http://schemas.microsoft.com/office/drawing/2014/main" id="{92DDD023-B840-C94B-15DD-7FECB4EB5F33}"/>
                  </a:ext>
                </a:extLst>
              </p:cNvPr>
              <p:cNvSpPr/>
              <p:nvPr/>
            </p:nvSpPr>
            <p:spPr>
              <a:xfrm>
                <a:off x="4299204" y="2267712"/>
                <a:ext cx="640080" cy="640080"/>
              </a:xfrm>
              <a:prstGeom prst="ellipse">
                <a:avLst/>
              </a:prstGeom>
              <a:solidFill>
                <a:srgbClr val="4EA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srgbClr val="FFFFFF"/>
                  </a:solidFill>
                  <a:effectLst/>
                  <a:uLnTx/>
                  <a:uFillTx/>
                  <a:latin typeface="Segoe UI" panose="020B0502040204020203" pitchFamily="34" charset="0"/>
                  <a:ea typeface="+mn-ea"/>
                  <a:cs typeface="Segoe UI" panose="020B0502040204020203" pitchFamily="34" charset="0"/>
                  <a:sym typeface="Arial"/>
                </a:endParaRPr>
              </a:p>
            </p:txBody>
          </p:sp>
          <p:pic>
            <p:nvPicPr>
              <p:cNvPr id="36" name="Picture 35" descr="image.png">
                <a:extLst>
                  <a:ext uri="{FF2B5EF4-FFF2-40B4-BE49-F238E27FC236}">
                    <a16:creationId xmlns:a16="http://schemas.microsoft.com/office/drawing/2014/main" id="{C170A569-E8E4-2B1C-AAAF-BEB4FF3669F6}"/>
                  </a:ext>
                </a:extLst>
              </p:cNvPr>
              <p:cNvPicPr>
                <a:picLocks noChangeAspect="1"/>
              </p:cNvPicPr>
              <p:nvPr/>
            </p:nvPicPr>
            <p:blipFill>
              <a:blip r:embed="rId4"/>
              <a:stretch>
                <a:fillRect/>
              </a:stretch>
            </p:blipFill>
            <p:spPr>
              <a:xfrm>
                <a:off x="4452823" y="2421331"/>
                <a:ext cx="332841" cy="332841"/>
              </a:xfrm>
              <a:prstGeom prst="rect">
                <a:avLst/>
              </a:prstGeom>
            </p:spPr>
          </p:pic>
        </p:grpSp>
        <p:sp>
          <p:nvSpPr>
            <p:cNvPr id="42" name="TextBox 41">
              <a:extLst>
                <a:ext uri="{FF2B5EF4-FFF2-40B4-BE49-F238E27FC236}">
                  <a16:creationId xmlns:a16="http://schemas.microsoft.com/office/drawing/2014/main" id="{CCFF3FC2-B5EA-35E7-B530-E4F0B6B6BBC9}"/>
                </a:ext>
              </a:extLst>
            </p:cNvPr>
            <p:cNvSpPr txBox="1"/>
            <p:nvPr/>
          </p:nvSpPr>
          <p:spPr>
            <a:xfrm>
              <a:off x="3546255" y="3349429"/>
              <a:ext cx="2423160" cy="230832"/>
            </a:xfrm>
            <a:prstGeom prst="rect">
              <a:avLst/>
            </a:prstGeom>
            <a:noFill/>
          </p:spPr>
          <p:txBody>
            <a:bodyPr wrap="square" lIns="0" tIns="0" rIns="0" bIns="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500" b="1" i="0" u="none" strike="noStrike" kern="1200" cap="none" spc="0" normalizeH="0" baseline="0" noProof="0" dirty="0">
                  <a:ln>
                    <a:noFill/>
                  </a:ln>
                  <a:solidFill>
                    <a:srgbClr val="023D20"/>
                  </a:solidFill>
                  <a:effectLst/>
                  <a:uLnTx/>
                  <a:uFillTx/>
                  <a:latin typeface="Segoe UI" panose="020B0502040204020203" pitchFamily="34" charset="0"/>
                  <a:ea typeface="+mn-ea"/>
                  <a:cs typeface="Segoe UI" panose="020B0502040204020203" pitchFamily="34" charset="0"/>
                  <a:sym typeface="Arial"/>
                </a:rPr>
                <a:t>Prevention controls</a:t>
              </a:r>
            </a:p>
          </p:txBody>
        </p:sp>
        <p:sp>
          <p:nvSpPr>
            <p:cNvPr id="44" name="TextBox 43">
              <a:extLst>
                <a:ext uri="{FF2B5EF4-FFF2-40B4-BE49-F238E27FC236}">
                  <a16:creationId xmlns:a16="http://schemas.microsoft.com/office/drawing/2014/main" id="{BEAB6868-605F-B475-741A-3FB0E5097DAF}"/>
                </a:ext>
              </a:extLst>
            </p:cNvPr>
            <p:cNvSpPr txBox="1"/>
            <p:nvPr/>
          </p:nvSpPr>
          <p:spPr>
            <a:xfrm>
              <a:off x="3591975" y="3671219"/>
              <a:ext cx="2331720" cy="338554"/>
            </a:xfrm>
            <a:prstGeom prst="rect">
              <a:avLst/>
            </a:prstGeom>
            <a:noFill/>
          </p:spPr>
          <p:txBody>
            <a:bodyPr wrap="square" lIns="0" tIns="0" rIns="0" bIns="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Stopping synthetic identities and impersonation at the point of entry</a:t>
              </a:r>
            </a:p>
          </p:txBody>
        </p:sp>
      </p:grpSp>
      <p:grpSp>
        <p:nvGrpSpPr>
          <p:cNvPr id="5" name="Group 4">
            <a:extLst>
              <a:ext uri="{FF2B5EF4-FFF2-40B4-BE49-F238E27FC236}">
                <a16:creationId xmlns:a16="http://schemas.microsoft.com/office/drawing/2014/main" id="{619C62FD-4856-BD6E-0B7B-7FAC17597CA3}"/>
              </a:ext>
            </a:extLst>
          </p:cNvPr>
          <p:cNvGrpSpPr/>
          <p:nvPr/>
        </p:nvGrpSpPr>
        <p:grpSpPr>
          <a:xfrm>
            <a:off x="6432584" y="2306235"/>
            <a:ext cx="2635806" cy="1933960"/>
            <a:chOff x="6413256" y="2307402"/>
            <a:chExt cx="2635806" cy="1933960"/>
          </a:xfrm>
        </p:grpSpPr>
        <p:sp>
          <p:nvSpPr>
            <p:cNvPr id="46" name="Rounded Rectangle 17">
              <a:extLst>
                <a:ext uri="{FF2B5EF4-FFF2-40B4-BE49-F238E27FC236}">
                  <a16:creationId xmlns:a16="http://schemas.microsoft.com/office/drawing/2014/main" id="{B3DE934B-9EAE-1FCD-1838-47DFFD7B1789}"/>
                </a:ext>
              </a:extLst>
            </p:cNvPr>
            <p:cNvSpPr/>
            <p:nvPr/>
          </p:nvSpPr>
          <p:spPr>
            <a:xfrm>
              <a:off x="6413256" y="2307402"/>
              <a:ext cx="2635806" cy="1933960"/>
            </a:xfrm>
            <a:prstGeom prst="roundRect">
              <a:avLst>
                <a:gd name="adj" fmla="val 60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srgbClr val="FFFFFF"/>
                </a:solidFill>
                <a:effectLst/>
                <a:uLnTx/>
                <a:uFillTx/>
                <a:latin typeface="Segoe UI" panose="020B0502040204020203" pitchFamily="34" charset="0"/>
                <a:ea typeface="+mn-ea"/>
                <a:cs typeface="Segoe UI" panose="020B0502040204020203" pitchFamily="34" charset="0"/>
                <a:sym typeface="Arial"/>
              </a:endParaRPr>
            </a:p>
          </p:txBody>
        </p:sp>
        <p:grpSp>
          <p:nvGrpSpPr>
            <p:cNvPr id="182" name="Group 181">
              <a:extLst>
                <a:ext uri="{FF2B5EF4-FFF2-40B4-BE49-F238E27FC236}">
                  <a16:creationId xmlns:a16="http://schemas.microsoft.com/office/drawing/2014/main" id="{4947D1B3-E602-51FB-9168-40EED0BF205F}"/>
                </a:ext>
              </a:extLst>
            </p:cNvPr>
            <p:cNvGrpSpPr/>
            <p:nvPr/>
          </p:nvGrpSpPr>
          <p:grpSpPr>
            <a:xfrm>
              <a:off x="7348299" y="2471994"/>
              <a:ext cx="720000" cy="720000"/>
              <a:chOff x="7249668" y="2267712"/>
              <a:chExt cx="640080" cy="640080"/>
            </a:xfrm>
          </p:grpSpPr>
          <p:sp>
            <p:nvSpPr>
              <p:cNvPr id="48" name="Oval 47">
                <a:extLst>
                  <a:ext uri="{FF2B5EF4-FFF2-40B4-BE49-F238E27FC236}">
                    <a16:creationId xmlns:a16="http://schemas.microsoft.com/office/drawing/2014/main" id="{7A5AAC7D-799F-5399-4068-E56ABD5AC5EB}"/>
                  </a:ext>
                </a:extLst>
              </p:cNvPr>
              <p:cNvSpPr/>
              <p:nvPr/>
            </p:nvSpPr>
            <p:spPr>
              <a:xfrm>
                <a:off x="7249668" y="2267712"/>
                <a:ext cx="640080" cy="640080"/>
              </a:xfrm>
              <a:prstGeom prst="ellipse">
                <a:avLst/>
              </a:prstGeom>
              <a:solidFill>
                <a:srgbClr val="4EA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srgbClr val="FFFFFF"/>
                  </a:solidFill>
                  <a:effectLst/>
                  <a:uLnTx/>
                  <a:uFillTx/>
                  <a:latin typeface="Segoe UI" panose="020B0502040204020203" pitchFamily="34" charset="0"/>
                  <a:ea typeface="+mn-ea"/>
                  <a:cs typeface="Segoe UI" panose="020B0502040204020203" pitchFamily="34" charset="0"/>
                  <a:sym typeface="Arial"/>
                </a:endParaRPr>
              </a:p>
            </p:txBody>
          </p:sp>
          <p:pic>
            <p:nvPicPr>
              <p:cNvPr id="50" name="Picture 49" descr="ic_mon_w.png">
                <a:extLst>
                  <a:ext uri="{FF2B5EF4-FFF2-40B4-BE49-F238E27FC236}">
                    <a16:creationId xmlns:a16="http://schemas.microsoft.com/office/drawing/2014/main" id="{9B275625-E2F1-2828-315D-CA751ABC9758}"/>
                  </a:ext>
                </a:extLst>
              </p:cNvPr>
              <p:cNvPicPr>
                <a:picLocks noChangeAspect="1"/>
              </p:cNvPicPr>
              <p:nvPr/>
            </p:nvPicPr>
            <p:blipFill>
              <a:blip r:embed="rId5"/>
              <a:stretch>
                <a:fillRect/>
              </a:stretch>
            </p:blipFill>
            <p:spPr>
              <a:xfrm>
                <a:off x="7403287" y="2421331"/>
                <a:ext cx="332841" cy="332841"/>
              </a:xfrm>
              <a:prstGeom prst="rect">
                <a:avLst/>
              </a:prstGeom>
            </p:spPr>
          </p:pic>
        </p:grpSp>
        <p:sp>
          <p:nvSpPr>
            <p:cNvPr id="53" name="TextBox 52">
              <a:extLst>
                <a:ext uri="{FF2B5EF4-FFF2-40B4-BE49-F238E27FC236}">
                  <a16:creationId xmlns:a16="http://schemas.microsoft.com/office/drawing/2014/main" id="{5C5A3E75-A1FC-299B-A16A-2025D806CBF3}"/>
                </a:ext>
              </a:extLst>
            </p:cNvPr>
            <p:cNvSpPr txBox="1"/>
            <p:nvPr/>
          </p:nvSpPr>
          <p:spPr>
            <a:xfrm>
              <a:off x="6496719" y="3349429"/>
              <a:ext cx="2423160" cy="230832"/>
            </a:xfrm>
            <a:prstGeom prst="rect">
              <a:avLst/>
            </a:prstGeom>
            <a:noFill/>
          </p:spPr>
          <p:txBody>
            <a:bodyPr wrap="square" lIns="0" tIns="0" rIns="0" bIns="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500" b="1" i="0" u="none" strike="noStrike" kern="1200" cap="none" spc="0" normalizeH="0" baseline="0" noProof="0" dirty="0">
                  <a:ln>
                    <a:noFill/>
                  </a:ln>
                  <a:solidFill>
                    <a:srgbClr val="023D20"/>
                  </a:solidFill>
                  <a:effectLst/>
                  <a:uLnTx/>
                  <a:uFillTx/>
                  <a:latin typeface="Segoe UI" panose="020B0502040204020203" pitchFamily="34" charset="0"/>
                  <a:ea typeface="+mn-ea"/>
                  <a:cs typeface="Segoe UI" panose="020B0502040204020203" pitchFamily="34" charset="0"/>
                  <a:sym typeface="Arial"/>
                </a:rPr>
                <a:t>Monitoring capabilities</a:t>
              </a:r>
            </a:p>
          </p:txBody>
        </p:sp>
        <p:sp>
          <p:nvSpPr>
            <p:cNvPr id="55" name="TextBox 54">
              <a:extLst>
                <a:ext uri="{FF2B5EF4-FFF2-40B4-BE49-F238E27FC236}">
                  <a16:creationId xmlns:a16="http://schemas.microsoft.com/office/drawing/2014/main" id="{3A1B5CEC-D815-4D63-2CBB-F0D8296991F8}"/>
                </a:ext>
              </a:extLst>
            </p:cNvPr>
            <p:cNvSpPr txBox="1"/>
            <p:nvPr/>
          </p:nvSpPr>
          <p:spPr>
            <a:xfrm>
              <a:off x="6542439" y="3671219"/>
              <a:ext cx="2331720" cy="338554"/>
            </a:xfrm>
            <a:prstGeom prst="rect">
              <a:avLst/>
            </a:prstGeom>
            <a:noFill/>
          </p:spPr>
          <p:txBody>
            <a:bodyPr wrap="square" lIns="0" tIns="0" rIns="0" bIns="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Detecting anomalous behaviour and transactions in real time</a:t>
              </a:r>
            </a:p>
          </p:txBody>
        </p:sp>
      </p:grpSp>
      <p:grpSp>
        <p:nvGrpSpPr>
          <p:cNvPr id="6" name="Group 5">
            <a:extLst>
              <a:ext uri="{FF2B5EF4-FFF2-40B4-BE49-F238E27FC236}">
                <a16:creationId xmlns:a16="http://schemas.microsoft.com/office/drawing/2014/main" id="{6C109589-6109-A601-B1C3-9077E6B225C9}"/>
              </a:ext>
            </a:extLst>
          </p:cNvPr>
          <p:cNvGrpSpPr/>
          <p:nvPr/>
        </p:nvGrpSpPr>
        <p:grpSpPr>
          <a:xfrm>
            <a:off x="9205674" y="2306235"/>
            <a:ext cx="2635806" cy="1933960"/>
            <a:chOff x="9205674" y="2307402"/>
            <a:chExt cx="2635806" cy="1933960"/>
          </a:xfrm>
        </p:grpSpPr>
        <p:sp>
          <p:nvSpPr>
            <p:cNvPr id="57" name="Rounded Rectangle 22">
              <a:extLst>
                <a:ext uri="{FF2B5EF4-FFF2-40B4-BE49-F238E27FC236}">
                  <a16:creationId xmlns:a16="http://schemas.microsoft.com/office/drawing/2014/main" id="{49C35B96-16C4-5EC6-8958-AF4D6624247C}"/>
                </a:ext>
              </a:extLst>
            </p:cNvPr>
            <p:cNvSpPr/>
            <p:nvPr/>
          </p:nvSpPr>
          <p:spPr>
            <a:xfrm>
              <a:off x="9205674" y="2307402"/>
              <a:ext cx="2635806" cy="1933960"/>
            </a:xfrm>
            <a:prstGeom prst="roundRect">
              <a:avLst>
                <a:gd name="adj" fmla="val 6000"/>
              </a:avLst>
            </a:prstGeom>
            <a:solidFill>
              <a:srgbClr val="FFFFFF"/>
            </a:solidFill>
            <a:ln w="25400">
              <a:solidFill>
                <a:schemeClr val="accent1">
                  <a:lumMod val="20000"/>
                  <a:lumOff val="8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srgbClr val="FFFFFF"/>
                </a:solidFill>
                <a:effectLst/>
                <a:uLnTx/>
                <a:uFillTx/>
                <a:latin typeface="Segoe UI" panose="020B0502040204020203" pitchFamily="34" charset="0"/>
                <a:ea typeface="+mn-ea"/>
                <a:cs typeface="Segoe UI" panose="020B0502040204020203" pitchFamily="34" charset="0"/>
                <a:sym typeface="Arial"/>
              </a:endParaRPr>
            </a:p>
          </p:txBody>
        </p:sp>
        <p:grpSp>
          <p:nvGrpSpPr>
            <p:cNvPr id="181" name="Group 180">
              <a:extLst>
                <a:ext uri="{FF2B5EF4-FFF2-40B4-BE49-F238E27FC236}">
                  <a16:creationId xmlns:a16="http://schemas.microsoft.com/office/drawing/2014/main" id="{8A84B2DD-66E7-A9EA-B363-C8F7421BE427}"/>
                </a:ext>
              </a:extLst>
            </p:cNvPr>
            <p:cNvGrpSpPr/>
            <p:nvPr/>
          </p:nvGrpSpPr>
          <p:grpSpPr>
            <a:xfrm>
              <a:off x="10140717" y="2471994"/>
              <a:ext cx="720000" cy="720000"/>
              <a:chOff x="10200132" y="2267712"/>
              <a:chExt cx="640080" cy="640080"/>
            </a:xfrm>
          </p:grpSpPr>
          <p:sp>
            <p:nvSpPr>
              <p:cNvPr id="60" name="Oval 59">
                <a:extLst>
                  <a:ext uri="{FF2B5EF4-FFF2-40B4-BE49-F238E27FC236}">
                    <a16:creationId xmlns:a16="http://schemas.microsoft.com/office/drawing/2014/main" id="{2611F38E-A88F-354E-CB0F-3911950EA43C}"/>
                  </a:ext>
                </a:extLst>
              </p:cNvPr>
              <p:cNvSpPr/>
              <p:nvPr/>
            </p:nvSpPr>
            <p:spPr>
              <a:xfrm>
                <a:off x="10200132" y="2267712"/>
                <a:ext cx="640080" cy="640080"/>
              </a:xfrm>
              <a:prstGeom prst="ellipse">
                <a:avLst/>
              </a:prstGeom>
              <a:solidFill>
                <a:srgbClr val="046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srgbClr val="FFFFFF"/>
                  </a:solidFill>
                  <a:effectLst/>
                  <a:uLnTx/>
                  <a:uFillTx/>
                  <a:latin typeface="Segoe UI" panose="020B0502040204020203" pitchFamily="34" charset="0"/>
                  <a:ea typeface="+mn-ea"/>
                  <a:cs typeface="Segoe UI" panose="020B0502040204020203" pitchFamily="34" charset="0"/>
                  <a:sym typeface="Arial"/>
                </a:endParaRPr>
              </a:p>
            </p:txBody>
          </p:sp>
          <p:pic>
            <p:nvPicPr>
              <p:cNvPr id="62" name="Picture 61" descr="ic_train_w.png">
                <a:extLst>
                  <a:ext uri="{FF2B5EF4-FFF2-40B4-BE49-F238E27FC236}">
                    <a16:creationId xmlns:a16="http://schemas.microsoft.com/office/drawing/2014/main" id="{DB9190AC-7902-B8F0-6B8F-658A0558EA99}"/>
                  </a:ext>
                </a:extLst>
              </p:cNvPr>
              <p:cNvPicPr>
                <a:picLocks noChangeAspect="1"/>
              </p:cNvPicPr>
              <p:nvPr/>
            </p:nvPicPr>
            <p:blipFill>
              <a:blip r:embed="rId6"/>
              <a:stretch>
                <a:fillRect/>
              </a:stretch>
            </p:blipFill>
            <p:spPr>
              <a:xfrm>
                <a:off x="10353751" y="2421331"/>
                <a:ext cx="332841" cy="332841"/>
              </a:xfrm>
              <a:prstGeom prst="rect">
                <a:avLst/>
              </a:prstGeom>
            </p:spPr>
          </p:pic>
        </p:grpSp>
        <p:sp>
          <p:nvSpPr>
            <p:cNvPr id="128" name="TextBox 127">
              <a:extLst>
                <a:ext uri="{FF2B5EF4-FFF2-40B4-BE49-F238E27FC236}">
                  <a16:creationId xmlns:a16="http://schemas.microsoft.com/office/drawing/2014/main" id="{F6E5EB8B-5813-9390-589B-7C0B423CB216}"/>
                </a:ext>
              </a:extLst>
            </p:cNvPr>
            <p:cNvSpPr txBox="1"/>
            <p:nvPr/>
          </p:nvSpPr>
          <p:spPr>
            <a:xfrm>
              <a:off x="9289137" y="3349429"/>
              <a:ext cx="2423160" cy="230832"/>
            </a:xfrm>
            <a:prstGeom prst="rect">
              <a:avLst/>
            </a:prstGeom>
            <a:noFill/>
          </p:spPr>
          <p:txBody>
            <a:bodyPr wrap="square" lIns="0" tIns="0" rIns="0" bIns="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500" b="1" i="0" u="none" strike="noStrike" kern="1200" cap="none" spc="0" normalizeH="0" baseline="0" noProof="0" dirty="0">
                  <a:ln>
                    <a:noFill/>
                  </a:ln>
                  <a:solidFill>
                    <a:srgbClr val="023D20"/>
                  </a:solidFill>
                  <a:effectLst/>
                  <a:uLnTx/>
                  <a:uFillTx/>
                  <a:latin typeface="Segoe UI" panose="020B0502040204020203" pitchFamily="34" charset="0"/>
                  <a:ea typeface="+mn-ea"/>
                  <a:cs typeface="Segoe UI" panose="020B0502040204020203" pitchFamily="34" charset="0"/>
                  <a:sym typeface="Arial"/>
                </a:rPr>
                <a:t>Staff awareness &amp; training</a:t>
              </a:r>
            </a:p>
          </p:txBody>
        </p:sp>
        <p:sp>
          <p:nvSpPr>
            <p:cNvPr id="130" name="TextBox 129">
              <a:extLst>
                <a:ext uri="{FF2B5EF4-FFF2-40B4-BE49-F238E27FC236}">
                  <a16:creationId xmlns:a16="http://schemas.microsoft.com/office/drawing/2014/main" id="{2136D919-6962-D076-C2E1-044E1F409643}"/>
                </a:ext>
              </a:extLst>
            </p:cNvPr>
            <p:cNvSpPr txBox="1"/>
            <p:nvPr/>
          </p:nvSpPr>
          <p:spPr>
            <a:xfrm>
              <a:off x="9334857" y="3671219"/>
              <a:ext cx="2331720" cy="338554"/>
            </a:xfrm>
            <a:prstGeom prst="rect">
              <a:avLst/>
            </a:prstGeom>
            <a:noFill/>
          </p:spPr>
          <p:txBody>
            <a:bodyPr wrap="square" lIns="0" tIns="0" rIns="0" bIns="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Equipping frontline teams to recognize and challenge deepfakes</a:t>
              </a:r>
            </a:p>
          </p:txBody>
        </p:sp>
      </p:grpSp>
      <p:grpSp>
        <p:nvGrpSpPr>
          <p:cNvPr id="180" name="Group 179">
            <a:extLst>
              <a:ext uri="{FF2B5EF4-FFF2-40B4-BE49-F238E27FC236}">
                <a16:creationId xmlns:a16="http://schemas.microsoft.com/office/drawing/2014/main" id="{16B711F3-F1F4-C254-E70B-945870A67B31}"/>
              </a:ext>
            </a:extLst>
          </p:cNvPr>
          <p:cNvGrpSpPr/>
          <p:nvPr/>
        </p:nvGrpSpPr>
        <p:grpSpPr>
          <a:xfrm>
            <a:off x="6313527" y="4565970"/>
            <a:ext cx="5669280" cy="1783080"/>
            <a:chOff x="6332982" y="6007608"/>
            <a:chExt cx="5669280" cy="1783080"/>
          </a:xfrm>
        </p:grpSpPr>
        <p:sp>
          <p:nvSpPr>
            <p:cNvPr id="156" name="Rounded Rectangle 29">
              <a:extLst>
                <a:ext uri="{FF2B5EF4-FFF2-40B4-BE49-F238E27FC236}">
                  <a16:creationId xmlns:a16="http://schemas.microsoft.com/office/drawing/2014/main" id="{2C1A5676-904B-5E5A-2CEA-1A8FE984FCED}"/>
                </a:ext>
              </a:extLst>
            </p:cNvPr>
            <p:cNvSpPr/>
            <p:nvPr/>
          </p:nvSpPr>
          <p:spPr>
            <a:xfrm>
              <a:off x="6332982" y="6007608"/>
              <a:ext cx="5669280" cy="1783080"/>
            </a:xfrm>
            <a:prstGeom prst="roundRect">
              <a:avLst>
                <a:gd name="adj" fmla="val 5000"/>
              </a:avLst>
            </a:prstGeom>
            <a:solidFill>
              <a:schemeClr val="accent1">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srgbClr val="FFFFFF"/>
                </a:solidFill>
                <a:effectLst/>
                <a:uLnTx/>
                <a:uFillTx/>
                <a:latin typeface="Segoe UI" panose="020B0502040204020203" pitchFamily="34" charset="0"/>
                <a:ea typeface="+mn-ea"/>
                <a:cs typeface="Segoe UI" panose="020B0502040204020203" pitchFamily="34" charset="0"/>
                <a:sym typeface="Arial"/>
              </a:endParaRPr>
            </a:p>
          </p:txBody>
        </p:sp>
        <p:sp>
          <p:nvSpPr>
            <p:cNvPr id="159" name="Rounded Rectangle 30">
              <a:extLst>
                <a:ext uri="{FF2B5EF4-FFF2-40B4-BE49-F238E27FC236}">
                  <a16:creationId xmlns:a16="http://schemas.microsoft.com/office/drawing/2014/main" id="{BD76AD1E-736F-C37F-617F-A9139302EC2F}"/>
                </a:ext>
              </a:extLst>
            </p:cNvPr>
            <p:cNvSpPr/>
            <p:nvPr/>
          </p:nvSpPr>
          <p:spPr>
            <a:xfrm>
              <a:off x="6332982" y="6062472"/>
              <a:ext cx="73152" cy="1673352"/>
            </a:xfrm>
            <a:prstGeom prst="roundRect">
              <a:avLst>
                <a:gd name="adj" fmla="val 50000"/>
              </a:avLst>
            </a:prstGeom>
            <a:solidFill>
              <a:srgbClr val="046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srgbClr val="FFFFFF"/>
                </a:solidFill>
                <a:effectLst/>
                <a:uLnTx/>
                <a:uFillTx/>
                <a:latin typeface="Segoe UI" panose="020B0502040204020203" pitchFamily="34" charset="0"/>
                <a:ea typeface="+mn-ea"/>
                <a:cs typeface="Segoe UI" panose="020B0502040204020203" pitchFamily="34" charset="0"/>
                <a:sym typeface="Arial"/>
              </a:endParaRPr>
            </a:p>
          </p:txBody>
        </p:sp>
        <p:sp>
          <p:nvSpPr>
            <p:cNvPr id="161" name="TextBox 160">
              <a:extLst>
                <a:ext uri="{FF2B5EF4-FFF2-40B4-BE49-F238E27FC236}">
                  <a16:creationId xmlns:a16="http://schemas.microsoft.com/office/drawing/2014/main" id="{B967F89B-8232-BFFE-D871-E73EC17CF29B}"/>
                </a:ext>
              </a:extLst>
            </p:cNvPr>
            <p:cNvSpPr txBox="1"/>
            <p:nvPr/>
          </p:nvSpPr>
          <p:spPr>
            <a:xfrm>
              <a:off x="6561582" y="6099048"/>
              <a:ext cx="5303520" cy="161583"/>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50" b="1" i="0" u="none" strike="noStrike" kern="1200" cap="none" spc="0" normalizeH="0" baseline="0" noProof="0" dirty="0">
                  <a:ln>
                    <a:noFill/>
                  </a:ln>
                  <a:solidFill>
                    <a:srgbClr val="023D20"/>
                  </a:solidFill>
                  <a:effectLst/>
                  <a:uLnTx/>
                  <a:uFillTx/>
                  <a:latin typeface="Segoe UI" panose="020B0502040204020203" pitchFamily="34" charset="0"/>
                  <a:ea typeface="+mn-ea"/>
                  <a:cs typeface="Segoe UI" panose="020B0502040204020203" pitchFamily="34" charset="0"/>
                  <a:sym typeface="Arial"/>
                </a:rPr>
                <a:t>THE OUTLIER: INSURERS LEAN ON THEIR </a:t>
              </a:r>
              <a:r>
                <a:rPr kumimoji="0" lang="en-US" sz="1050" b="1" i="0" u="none" strike="noStrike" kern="1200" cap="none" spc="0" normalizeH="0" baseline="0" noProof="0" dirty="0">
                  <a:ln>
                    <a:noFill/>
                  </a:ln>
                  <a:solidFill>
                    <a:srgbClr val="023D20"/>
                  </a:solidFill>
                  <a:effectLst/>
                  <a:uLnTx/>
                  <a:uFillTx/>
                  <a:latin typeface="Segoe UI" panose="020B0502040204020203" pitchFamily="34" charset="0"/>
                  <a:ea typeface="+mn-ea"/>
                  <a:cs typeface="Segoe UI" panose="020B0502040204020203" pitchFamily="34" charset="0"/>
                  <a:sym typeface="Arial"/>
                </a:rPr>
                <a:t>STAFF</a:t>
              </a:r>
              <a:endParaRPr kumimoji="0" sz="1050" b="1" i="0" u="none" strike="noStrike" kern="1200" cap="none" spc="0" normalizeH="0" baseline="0" noProof="0" dirty="0">
                <a:ln>
                  <a:noFill/>
                </a:ln>
                <a:solidFill>
                  <a:srgbClr val="023D20"/>
                </a:solidFill>
                <a:effectLst/>
                <a:uLnTx/>
                <a:uFillTx/>
                <a:latin typeface="Segoe UI" panose="020B0502040204020203" pitchFamily="34" charset="0"/>
                <a:ea typeface="+mn-ea"/>
                <a:cs typeface="Segoe UI" panose="020B0502040204020203" pitchFamily="34" charset="0"/>
                <a:sym typeface="Arial"/>
              </a:endParaRPr>
            </a:p>
          </p:txBody>
        </p:sp>
        <p:sp>
          <p:nvSpPr>
            <p:cNvPr id="163" name="TextBox 162">
              <a:extLst>
                <a:ext uri="{FF2B5EF4-FFF2-40B4-BE49-F238E27FC236}">
                  <a16:creationId xmlns:a16="http://schemas.microsoft.com/office/drawing/2014/main" id="{E3C2B010-3725-66B9-FDEC-3E5ED6D059E6}"/>
                </a:ext>
              </a:extLst>
            </p:cNvPr>
            <p:cNvSpPr txBox="1"/>
            <p:nvPr/>
          </p:nvSpPr>
          <p:spPr>
            <a:xfrm>
              <a:off x="6561582" y="6465475"/>
              <a:ext cx="1280160" cy="492443"/>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3200" b="1" i="0" u="none" strike="noStrike" kern="1200" cap="none" spc="0" normalizeH="0" baseline="0" noProof="0" dirty="0">
                  <a:ln>
                    <a:noFill/>
                  </a:ln>
                  <a:solidFill>
                    <a:srgbClr val="046A38"/>
                  </a:solidFill>
                  <a:effectLst/>
                  <a:uLnTx/>
                  <a:uFillTx/>
                  <a:latin typeface="Segoe UI" panose="020B0502040204020203" pitchFamily="34" charset="0"/>
                  <a:ea typeface="+mn-ea"/>
                  <a:cs typeface="Segoe UI" panose="020B0502040204020203" pitchFamily="34" charset="0"/>
                  <a:sym typeface="Arial"/>
                </a:rPr>
                <a:t>64%</a:t>
              </a:r>
            </a:p>
          </p:txBody>
        </p:sp>
        <p:sp>
          <p:nvSpPr>
            <p:cNvPr id="165" name="TextBox 164">
              <a:extLst>
                <a:ext uri="{FF2B5EF4-FFF2-40B4-BE49-F238E27FC236}">
                  <a16:creationId xmlns:a16="http://schemas.microsoft.com/office/drawing/2014/main" id="{E61E969C-2973-A66F-AEA6-E0F6C95490F8}"/>
                </a:ext>
              </a:extLst>
            </p:cNvPr>
            <p:cNvSpPr txBox="1"/>
            <p:nvPr/>
          </p:nvSpPr>
          <p:spPr>
            <a:xfrm>
              <a:off x="7543995" y="6554462"/>
              <a:ext cx="4321105" cy="369332"/>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0"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of insurance respondents chose </a:t>
              </a:r>
              <a:r>
                <a:rPr kumimoji="0" sz="1200" b="1" i="0" u="none" strike="noStrike" kern="1200" cap="none" spc="0" normalizeH="0" baseline="0" noProof="0" dirty="0">
                  <a:ln>
                    <a:noFill/>
                  </a:ln>
                  <a:solidFill>
                    <a:srgbClr val="046A38"/>
                  </a:solidFill>
                  <a:effectLst/>
                  <a:uLnTx/>
                  <a:uFillTx/>
                  <a:latin typeface="Segoe UI" panose="020B0502040204020203" pitchFamily="34" charset="0"/>
                  <a:ea typeface="+mn-ea"/>
                  <a:cs typeface="Segoe UI" panose="020B0502040204020203" pitchFamily="34" charset="0"/>
                  <a:sym typeface="Arial"/>
                </a:rPr>
                <a:t>staff awareness &amp; training</a:t>
              </a:r>
              <a:r>
                <a:rPr kumimoji="0" sz="1200" b="0" i="0" u="none" strike="noStrike" kern="1200" cap="none" spc="0" normalizeH="0" baseline="0" noProof="0" dirty="0">
                  <a:ln>
                    <a:noFill/>
                  </a:ln>
                  <a:solidFill>
                    <a:srgbClr val="046A38"/>
                  </a:solidFill>
                  <a:effectLst/>
                  <a:uLnTx/>
                  <a:uFillTx/>
                  <a:latin typeface="Segoe UI" panose="020B0502040204020203" pitchFamily="34" charset="0"/>
                  <a:ea typeface="+mn-ea"/>
                  <a:cs typeface="Segoe UI" panose="020B0502040204020203" pitchFamily="34" charset="0"/>
                  <a:sym typeface="Arial"/>
                </a:rPr>
                <a:t>, </a:t>
              </a:r>
              <a:r>
                <a:rPr kumimoji="0" sz="1200" b="0"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well above the 43–53% range seen for every other lever.</a:t>
              </a:r>
            </a:p>
          </p:txBody>
        </p:sp>
        <p:sp>
          <p:nvSpPr>
            <p:cNvPr id="167" name="TextBox 166">
              <a:extLst>
                <a:ext uri="{FF2B5EF4-FFF2-40B4-BE49-F238E27FC236}">
                  <a16:creationId xmlns:a16="http://schemas.microsoft.com/office/drawing/2014/main" id="{240D1820-60E6-4CED-B8E4-40B5549928F6}"/>
                </a:ext>
              </a:extLst>
            </p:cNvPr>
            <p:cNvSpPr txBox="1"/>
            <p:nvPr/>
          </p:nvSpPr>
          <p:spPr>
            <a:xfrm>
              <a:off x="6561582" y="7086600"/>
              <a:ext cx="5303520" cy="507831"/>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dirty="0">
                  <a:ln>
                    <a:noFill/>
                  </a:ln>
                  <a:solidFill>
                    <a:srgbClr val="046A38"/>
                  </a:solidFill>
                  <a:effectLst/>
                  <a:uLnTx/>
                  <a:uFillTx/>
                  <a:latin typeface="Segoe UI" panose="020B0502040204020203" pitchFamily="34" charset="0"/>
                  <a:ea typeface="+mn-ea"/>
                  <a:cs typeface="Segoe UI" panose="020B0502040204020203" pitchFamily="34" charset="0"/>
                  <a:sym typeface="Arial"/>
                </a:rPr>
                <a:t>Why: </a:t>
              </a:r>
              <a:r>
                <a:rPr kumimoji="0" lang="en-US" sz="1100" b="0"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With the contact centre as Insurers most exposed channel (72%), insurers rely heavily on frontline agents to authenticate callers and handle claims. Against voice-based deepfakes, staff awareness becomes a critical control.</a:t>
              </a:r>
              <a:endParaRPr kumimoji="0" sz="1100" b="0"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endParaRPr>
            </a:p>
          </p:txBody>
        </p:sp>
      </p:grpSp>
      <p:sp>
        <p:nvSpPr>
          <p:cNvPr id="169" name="Rounded Rectangle 35">
            <a:extLst>
              <a:ext uri="{FF2B5EF4-FFF2-40B4-BE49-F238E27FC236}">
                <a16:creationId xmlns:a16="http://schemas.microsoft.com/office/drawing/2014/main" id="{043182BD-55AB-9B9C-428D-AA016501F34C}"/>
              </a:ext>
            </a:extLst>
          </p:cNvPr>
          <p:cNvSpPr/>
          <p:nvPr/>
        </p:nvSpPr>
        <p:spPr>
          <a:xfrm>
            <a:off x="313494" y="4556273"/>
            <a:ext cx="5669280" cy="1783080"/>
          </a:xfrm>
          <a:prstGeom prst="roundRect">
            <a:avLst>
              <a:gd name="adj" fmla="val 5000"/>
            </a:avLst>
          </a:prstGeom>
          <a:solidFill>
            <a:srgbClr val="046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srgbClr val="FFFFFF"/>
              </a:solidFill>
              <a:effectLst/>
              <a:uLnTx/>
              <a:uFillTx/>
              <a:latin typeface="Segoe UI" panose="020B0502040204020203" pitchFamily="34" charset="0"/>
              <a:ea typeface="+mn-ea"/>
              <a:cs typeface="Segoe UI" panose="020B0502040204020203" pitchFamily="34" charset="0"/>
              <a:sym typeface="Arial"/>
            </a:endParaRPr>
          </a:p>
        </p:txBody>
      </p:sp>
      <p:sp>
        <p:nvSpPr>
          <p:cNvPr id="171" name="TextBox 170">
            <a:extLst>
              <a:ext uri="{FF2B5EF4-FFF2-40B4-BE49-F238E27FC236}">
                <a16:creationId xmlns:a16="http://schemas.microsoft.com/office/drawing/2014/main" id="{764F63EC-F572-0577-5186-790D428DDFE0}"/>
              </a:ext>
            </a:extLst>
          </p:cNvPr>
          <p:cNvSpPr txBox="1"/>
          <p:nvPr/>
        </p:nvSpPr>
        <p:spPr>
          <a:xfrm>
            <a:off x="471654" y="4767138"/>
            <a:ext cx="5303520" cy="1008546"/>
          </a:xfrm>
          <a:prstGeom prst="rect">
            <a:avLst/>
          </a:prstGeom>
          <a:noFill/>
        </p:spPr>
        <p:txBody>
          <a:bodyPr wrap="square" lIns="0" tIns="0" rIns="0" bIns="0" anchor="t">
            <a:spAutoFit/>
          </a:bodyPr>
          <a:lstStyle/>
          <a:p>
            <a:pPr marL="0" marR="0" lvl="0" indent="0" algn="l" defTabSz="914400" rtl="0" eaLnBrk="1" fontAlgn="auto" latinLnBrk="0" hangingPunct="1">
              <a:lnSpc>
                <a:spcPct val="111000"/>
              </a:lnSpc>
              <a:spcBef>
                <a:spcPts val="0"/>
              </a:spcBef>
              <a:spcAft>
                <a:spcPts val="0"/>
              </a:spcAft>
              <a:buClrTx/>
              <a:buSzTx/>
              <a:buFontTx/>
              <a:buNone/>
              <a:tabLst/>
              <a:defRPr/>
            </a:pPr>
            <a:r>
              <a:rPr kumimoji="0" sz="1200" b="0" i="1" u="none" strike="noStrike" kern="1200" cap="none" spc="100" normalizeH="0" baseline="0" noProof="0" dirty="0">
                <a:ln>
                  <a:noFill/>
                </a:ln>
                <a:solidFill>
                  <a:srgbClr val="FFFFFF"/>
                </a:solidFill>
                <a:effectLst/>
                <a:uLnTx/>
                <a:uFillTx/>
                <a:latin typeface="Segoe UI" panose="020B0502040204020203" pitchFamily="34" charset="0"/>
                <a:ea typeface="+mn-ea"/>
                <a:cs typeface="Segoe UI" panose="020B0502040204020203" pitchFamily="34" charset="0"/>
                <a:sym typeface="Arial"/>
              </a:rPr>
              <a:t>“The biggest impact on risk management will be a shift toward continuous identity verification, real-time behavioural analytics, stronger cross-industry intelligence sharing, and AI-assisted investigations </a:t>
            </a:r>
            <a:r>
              <a:rPr kumimoji="0" sz="1200" b="1" i="1" u="none" strike="noStrike" kern="1200" cap="none" spc="100" normalizeH="0" baseline="0" noProof="0" dirty="0">
                <a:ln>
                  <a:noFill/>
                </a:ln>
                <a:solidFill>
                  <a:srgbClr val="FFFFFF"/>
                </a:solidFill>
                <a:effectLst/>
                <a:uLnTx/>
                <a:uFillTx/>
                <a:latin typeface="Segoe UI" panose="020B0502040204020203" pitchFamily="34" charset="0"/>
                <a:ea typeface="+mn-ea"/>
                <a:cs typeface="Segoe UI" panose="020B0502040204020203" pitchFamily="34" charset="0"/>
                <a:sym typeface="Arial"/>
              </a:rPr>
              <a:t>rather than relying primarily on point-in-time controls.</a:t>
            </a:r>
            <a:r>
              <a:rPr kumimoji="0" sz="1200" b="0" i="1" u="none" strike="noStrike" kern="1200" cap="none" spc="100" normalizeH="0" baseline="0" noProof="0" dirty="0">
                <a:ln>
                  <a:noFill/>
                </a:ln>
                <a:solidFill>
                  <a:srgbClr val="FFFFFF"/>
                </a:solidFill>
                <a:effectLst/>
                <a:uLnTx/>
                <a:uFillTx/>
                <a:latin typeface="Segoe UI" panose="020B0502040204020203" pitchFamily="34" charset="0"/>
                <a:ea typeface="+mn-ea"/>
                <a:cs typeface="Segoe UI" panose="020B0502040204020203" pitchFamily="34" charset="0"/>
                <a:sym typeface="Arial"/>
              </a:rPr>
              <a:t>”</a:t>
            </a:r>
          </a:p>
        </p:txBody>
      </p:sp>
      <p:sp>
        <p:nvSpPr>
          <p:cNvPr id="173" name="TextBox 172">
            <a:extLst>
              <a:ext uri="{FF2B5EF4-FFF2-40B4-BE49-F238E27FC236}">
                <a16:creationId xmlns:a16="http://schemas.microsoft.com/office/drawing/2014/main" id="{6892E723-F84C-CDA7-6F7C-205B474678DB}"/>
              </a:ext>
            </a:extLst>
          </p:cNvPr>
          <p:cNvSpPr txBox="1"/>
          <p:nvPr/>
        </p:nvSpPr>
        <p:spPr>
          <a:xfrm>
            <a:off x="471654" y="5940489"/>
            <a:ext cx="5303520" cy="15388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dirty="0">
                <a:ln>
                  <a:noFill/>
                </a:ln>
                <a:solidFill>
                  <a:srgbClr val="86BC25"/>
                </a:solidFill>
                <a:effectLst/>
                <a:uLnTx/>
                <a:uFillTx/>
                <a:latin typeface="Segoe UI" panose="020B0502040204020203" pitchFamily="34" charset="0"/>
                <a:ea typeface="+mn-ea"/>
                <a:cs typeface="Segoe UI" panose="020B0502040204020203" pitchFamily="34" charset="0"/>
                <a:sym typeface="Arial"/>
              </a:rPr>
              <a:t>– Fraud Strategy Executive, Top 100 Global Financial Institution</a:t>
            </a:r>
          </a:p>
        </p:txBody>
      </p:sp>
      <p:sp>
        <p:nvSpPr>
          <p:cNvPr id="187" name="Flowchart: Manual Operation 186">
            <a:extLst>
              <a:ext uri="{FF2B5EF4-FFF2-40B4-BE49-F238E27FC236}">
                <a16:creationId xmlns:a16="http://schemas.microsoft.com/office/drawing/2014/main" id="{BB03C69C-77D8-6FBC-BAA0-762F100B6AB9}"/>
              </a:ext>
            </a:extLst>
          </p:cNvPr>
          <p:cNvSpPr/>
          <p:nvPr/>
        </p:nvSpPr>
        <p:spPr>
          <a:xfrm rot="10800000">
            <a:off x="9334857" y="4234019"/>
            <a:ext cx="2331720" cy="386813"/>
          </a:xfrm>
          <a:prstGeom prst="flowChartManualOperation">
            <a:avLst/>
          </a:prstGeom>
          <a:solidFill>
            <a:schemeClr val="accent1">
              <a:lumMod val="20000"/>
              <a:lumOff val="80000"/>
            </a:schemeClr>
          </a:solid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CA" sz="1400" b="0" i="0" u="none" strike="noStrike" kern="0" cap="none" spc="0" normalizeH="0" baseline="0" noProof="0" dirty="0">
              <a:ln>
                <a:noFill/>
              </a:ln>
              <a:solidFill>
                <a:srgbClr val="FFFFFF"/>
              </a:solidFill>
              <a:effectLst/>
              <a:uLnTx/>
              <a:uFillTx/>
              <a:latin typeface="Arial"/>
              <a:ea typeface="+mn-ea"/>
              <a:cs typeface="+mn-cs"/>
              <a:sym typeface="Arial"/>
            </a:endParaRPr>
          </a:p>
        </p:txBody>
      </p:sp>
      <p:grpSp>
        <p:nvGrpSpPr>
          <p:cNvPr id="188" name="Group 187">
            <a:extLst>
              <a:ext uri="{FF2B5EF4-FFF2-40B4-BE49-F238E27FC236}">
                <a16:creationId xmlns:a16="http://schemas.microsoft.com/office/drawing/2014/main" id="{23BFC8F5-FB26-6D32-FC37-96779309F9DA}"/>
              </a:ext>
            </a:extLst>
          </p:cNvPr>
          <p:cNvGrpSpPr/>
          <p:nvPr/>
        </p:nvGrpSpPr>
        <p:grpSpPr>
          <a:xfrm>
            <a:off x="9816822" y="4107266"/>
            <a:ext cx="1367790" cy="274320"/>
            <a:chOff x="10634472" y="1965960"/>
            <a:chExt cx="1143000" cy="274320"/>
          </a:xfrm>
        </p:grpSpPr>
        <p:sp>
          <p:nvSpPr>
            <p:cNvPr id="135" name="Rounded Rectangle 27">
              <a:extLst>
                <a:ext uri="{FF2B5EF4-FFF2-40B4-BE49-F238E27FC236}">
                  <a16:creationId xmlns:a16="http://schemas.microsoft.com/office/drawing/2014/main" id="{624BBE76-F585-F7DA-3332-5491AB6748F6}"/>
                </a:ext>
              </a:extLst>
            </p:cNvPr>
            <p:cNvSpPr/>
            <p:nvPr/>
          </p:nvSpPr>
          <p:spPr>
            <a:xfrm>
              <a:off x="10634472" y="1965960"/>
              <a:ext cx="1143000" cy="274320"/>
            </a:xfrm>
            <a:prstGeom prst="roundRect">
              <a:avLst>
                <a:gd name="adj" fmla="val 50000"/>
              </a:avLst>
            </a:prstGeom>
            <a:solidFill>
              <a:srgbClr val="046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srgbClr val="FFFFFF"/>
                </a:solidFill>
                <a:effectLst/>
                <a:uLnTx/>
                <a:uFillTx/>
                <a:latin typeface="Segoe UI" panose="020B0502040204020203" pitchFamily="34" charset="0"/>
                <a:ea typeface="+mn-ea"/>
                <a:cs typeface="Segoe UI" panose="020B0502040204020203" pitchFamily="34" charset="0"/>
                <a:sym typeface="Arial"/>
              </a:endParaRPr>
            </a:p>
          </p:txBody>
        </p:sp>
        <p:sp>
          <p:nvSpPr>
            <p:cNvPr id="150" name="TextBox 149">
              <a:extLst>
                <a:ext uri="{FF2B5EF4-FFF2-40B4-BE49-F238E27FC236}">
                  <a16:creationId xmlns:a16="http://schemas.microsoft.com/office/drawing/2014/main" id="{A199DDA7-1C28-D28C-8812-8E595D60E37D}"/>
                </a:ext>
              </a:extLst>
            </p:cNvPr>
            <p:cNvSpPr txBox="1"/>
            <p:nvPr/>
          </p:nvSpPr>
          <p:spPr>
            <a:xfrm>
              <a:off x="10634472" y="2037717"/>
              <a:ext cx="1143000" cy="130805"/>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850" b="1" i="0" u="none" strike="noStrike" kern="1200" cap="none" spc="0" normalizeH="0" baseline="0" noProof="0" dirty="0">
                  <a:ln>
                    <a:noFill/>
                  </a:ln>
                  <a:solidFill>
                    <a:srgbClr val="FFFFFF"/>
                  </a:solidFill>
                  <a:effectLst/>
                  <a:uLnTx/>
                  <a:uFillTx/>
                  <a:latin typeface="Segoe UI" panose="020B0502040204020203" pitchFamily="34" charset="0"/>
                  <a:ea typeface="+mn-ea"/>
                  <a:cs typeface="Segoe UI" panose="020B0502040204020203" pitchFamily="34" charset="0"/>
                  <a:sym typeface="Arial"/>
                </a:rPr>
                <a:t>INSURANCE</a:t>
              </a:r>
              <a:r>
                <a:rPr kumimoji="0" lang="en-US" sz="850" b="1" i="0" u="none" strike="noStrike" kern="1200" cap="none" spc="0" normalizeH="0" baseline="0" noProof="0" dirty="0">
                  <a:ln>
                    <a:noFill/>
                  </a:ln>
                  <a:solidFill>
                    <a:srgbClr val="FFFFFF"/>
                  </a:solidFill>
                  <a:effectLst/>
                  <a:uLnTx/>
                  <a:uFillTx/>
                  <a:latin typeface="Segoe UI" panose="020B0502040204020203" pitchFamily="34" charset="0"/>
                  <a:ea typeface="+mn-ea"/>
                  <a:cs typeface="Segoe UI" panose="020B0502040204020203" pitchFamily="34" charset="0"/>
                  <a:sym typeface="Arial"/>
                </a:rPr>
                <a:t> PRIORITY</a:t>
              </a:r>
              <a:endParaRPr kumimoji="0" sz="850" b="1" i="0" u="none" strike="noStrike" kern="1200" cap="none" spc="0" normalizeH="0" baseline="0" noProof="0" dirty="0">
                <a:ln>
                  <a:noFill/>
                </a:ln>
                <a:solidFill>
                  <a:srgbClr val="FFFFFF"/>
                </a:solidFill>
                <a:effectLst/>
                <a:uLnTx/>
                <a:uFillTx/>
                <a:latin typeface="Segoe UI" panose="020B0502040204020203" pitchFamily="34" charset="0"/>
                <a:ea typeface="+mn-ea"/>
                <a:cs typeface="Segoe UI" panose="020B0502040204020203" pitchFamily="34" charset="0"/>
                <a:sym typeface="Arial"/>
              </a:endParaRPr>
            </a:p>
          </p:txBody>
        </p:sp>
      </p:grpSp>
      <p:sp>
        <p:nvSpPr>
          <p:cNvPr id="189" name="Rounded Rectangle 188"/>
          <p:cNvSpPr/>
          <p:nvPr/>
        </p:nvSpPr>
        <p:spPr>
          <a:xfrm rot="16200000">
            <a:off x="-632238" y="3136055"/>
            <a:ext cx="2331720" cy="274320"/>
          </a:xfrm>
          <a:prstGeom prst="roundRect">
            <a:avLst>
              <a:gd name="adj" fmla="val 50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sz="1700" b="1" i="0" u="none" strike="noStrike" kern="0" cap="none" spc="100" normalizeH="0" baseline="0" noProof="0" dirty="0">
                <a:ln>
                  <a:noFill/>
                </a:ln>
                <a:solidFill>
                  <a:srgbClr val="000000">
                    <a:lumMod val="75000"/>
                    <a:lumOff val="25000"/>
                  </a:srgbClr>
                </a:solidFill>
                <a:effectLst/>
                <a:uLnTx/>
                <a:uFillTx/>
                <a:latin typeface="Segoe UI"/>
                <a:ea typeface="+mn-ea"/>
                <a:cs typeface="+mn-cs"/>
                <a:sym typeface="Arial"/>
              </a:rPr>
              <a:t>BANKING </a:t>
            </a:r>
            <a:r>
              <a:rPr kumimoji="0" lang="en-US" sz="1700" b="1" i="0" u="none" strike="noStrike" kern="0" cap="none" spc="100" normalizeH="0" baseline="0" noProof="0" dirty="0">
                <a:ln>
                  <a:noFill/>
                </a:ln>
                <a:solidFill>
                  <a:srgbClr val="000000">
                    <a:lumMod val="75000"/>
                    <a:lumOff val="25000"/>
                  </a:srgbClr>
                </a:solidFill>
                <a:effectLst/>
                <a:uLnTx/>
                <a:uFillTx/>
                <a:latin typeface="Segoe UI"/>
                <a:ea typeface="+mn-ea"/>
                <a:cs typeface="+mn-cs"/>
                <a:sym typeface="Arial"/>
              </a:rPr>
              <a:t>&amp;</a:t>
            </a:r>
            <a:r>
              <a:rPr kumimoji="0" sz="1700" b="1" i="0" u="none" strike="noStrike" kern="0" cap="none" spc="100" normalizeH="0" baseline="0" noProof="0" dirty="0">
                <a:ln>
                  <a:noFill/>
                </a:ln>
                <a:solidFill>
                  <a:srgbClr val="000000">
                    <a:lumMod val="75000"/>
                    <a:lumOff val="25000"/>
                  </a:srgbClr>
                </a:solidFill>
                <a:effectLst/>
                <a:uLnTx/>
                <a:uFillTx/>
                <a:latin typeface="Segoe UI"/>
                <a:ea typeface="+mn-ea"/>
                <a:cs typeface="+mn-cs"/>
                <a:sym typeface="Arial"/>
              </a:rPr>
              <a:t> INSURANCE</a:t>
            </a:r>
          </a:p>
        </p:txBody>
      </p:sp>
      <p:grpSp>
        <p:nvGrpSpPr>
          <p:cNvPr id="8" name="Group 7">
            <a:extLst>
              <a:ext uri="{FF2B5EF4-FFF2-40B4-BE49-F238E27FC236}">
                <a16:creationId xmlns:a16="http://schemas.microsoft.com/office/drawing/2014/main" id="{D698DDFB-6BB5-3515-919C-D0055B27A18F}"/>
              </a:ext>
            </a:extLst>
          </p:cNvPr>
          <p:cNvGrpSpPr/>
          <p:nvPr/>
        </p:nvGrpSpPr>
        <p:grpSpPr>
          <a:xfrm>
            <a:off x="249638" y="464705"/>
            <a:ext cx="11521440" cy="585793"/>
            <a:chOff x="249638" y="464705"/>
            <a:chExt cx="11521440" cy="585793"/>
          </a:xfrm>
        </p:grpSpPr>
        <p:sp>
          <p:nvSpPr>
            <p:cNvPr id="9" name="Text 22">
              <a:extLst>
                <a:ext uri="{FF2B5EF4-FFF2-40B4-BE49-F238E27FC236}">
                  <a16:creationId xmlns:a16="http://schemas.microsoft.com/office/drawing/2014/main" id="{6015CD2B-0CAE-7C9D-910A-7E7E345E37A5}"/>
                </a:ext>
              </a:extLst>
            </p:cNvPr>
            <p:cNvSpPr/>
            <p:nvPr/>
          </p:nvSpPr>
          <p:spPr>
            <a:xfrm>
              <a:off x="249638" y="464705"/>
              <a:ext cx="7847726" cy="232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0" cap="none" spc="80" normalizeH="0" baseline="0" noProof="0" dirty="0">
                <a:ln>
                  <a:noFill/>
                </a:ln>
                <a:solidFill>
                  <a:srgbClr val="4EA72E"/>
                </a:solidFill>
                <a:effectLst/>
                <a:uLnTx/>
                <a:uFillTx/>
                <a:latin typeface="Segoe UI" panose="020B0502040204020203" pitchFamily="34" charset="0"/>
                <a:ea typeface="Arial" pitchFamily="34" charset="-122"/>
                <a:cs typeface="Segoe UI" panose="020B0502040204020203" pitchFamily="34" charset="0"/>
                <a:sym typeface="Arial"/>
              </a:endParaRPr>
            </a:p>
          </p:txBody>
        </p:sp>
        <p:sp>
          <p:nvSpPr>
            <p:cNvPr id="10" name="TextBox 9">
              <a:extLst>
                <a:ext uri="{FF2B5EF4-FFF2-40B4-BE49-F238E27FC236}">
                  <a16:creationId xmlns:a16="http://schemas.microsoft.com/office/drawing/2014/main" id="{2F973805-7927-7902-5EFA-2287A21A26B4}"/>
                </a:ext>
              </a:extLst>
            </p:cNvPr>
            <p:cNvSpPr txBox="1"/>
            <p:nvPr/>
          </p:nvSpPr>
          <p:spPr>
            <a:xfrm>
              <a:off x="249638" y="711944"/>
              <a:ext cx="11521440" cy="33855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 typeface="Arial"/>
                <a:buNone/>
                <a:tabLst/>
                <a:defRPr/>
              </a:pPr>
              <a:r>
                <a:rPr kumimoji="0" lang="en-US" sz="2200" b="1" i="0" u="none" strike="noStrike" kern="1200" cap="none" spc="0" normalizeH="0" baseline="0" noProof="0" dirty="0">
                  <a:ln>
                    <a:noFill/>
                  </a:ln>
                  <a:solidFill>
                    <a:srgbClr val="111111"/>
                  </a:solidFill>
                  <a:effectLst/>
                  <a:uLnTx/>
                  <a:uFillTx/>
                  <a:latin typeface="Segoe UI" panose="020B0502040204020203" pitchFamily="34" charset="0"/>
                  <a:cs typeface="Segoe UI" panose="020B0502040204020203" pitchFamily="34" charset="0"/>
                  <a:sym typeface="Arial"/>
                </a:rPr>
                <a:t>Deepfake defense demands a coordinated response, not a single control</a:t>
              </a:r>
            </a:p>
          </p:txBody>
        </p:sp>
      </p:grpSp>
      <p:sp>
        <p:nvSpPr>
          <p:cNvPr id="13" name="Rectangle 12">
            <a:extLst>
              <a:ext uri="{FF2B5EF4-FFF2-40B4-BE49-F238E27FC236}">
                <a16:creationId xmlns:a16="http://schemas.microsoft.com/office/drawing/2014/main" id="{33FE000A-47C6-284A-B9AF-F60E9DF08121}"/>
              </a:ext>
            </a:extLst>
          </p:cNvPr>
          <p:cNvSpPr/>
          <p:nvPr/>
        </p:nvSpPr>
        <p:spPr>
          <a:xfrm>
            <a:off x="208221" y="6680947"/>
            <a:ext cx="2769649" cy="11694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marL="0" marR="0" lvl="0" indent="0" algn="just" defTabSz="914400" rtl="0" eaLnBrk="1" fontAlgn="auto" latinLnBrk="0" hangingPunct="1">
              <a:lnSpc>
                <a:spcPct val="100000"/>
              </a:lnSpc>
              <a:spcBef>
                <a:spcPts val="0"/>
              </a:spcBef>
              <a:spcAft>
                <a:spcPts val="0"/>
              </a:spcAft>
              <a:buClrTx/>
              <a:buSzTx/>
              <a:buFont typeface="Arial"/>
              <a:buNone/>
              <a:tabLst/>
              <a:defRPr/>
            </a:pPr>
            <a:r>
              <a:rPr kumimoji="0" lang="en-US" sz="800" b="0" i="0" u="none" strike="noStrike" kern="1200" cap="none" spc="0" normalizeH="0" baseline="0" noProof="0" dirty="0">
                <a:ln>
                  <a:noFill/>
                </a:ln>
                <a:solidFill>
                  <a:srgbClr val="000000">
                    <a:lumMod val="75000"/>
                    <a:lumOff val="25000"/>
                  </a:srgbClr>
                </a:solidFill>
                <a:effectLst/>
                <a:uLnTx/>
                <a:uFillTx/>
                <a:latin typeface="Segoe UI" panose="020B0502040204020203" pitchFamily="34" charset="0"/>
                <a:ea typeface="Open Sans" panose="020B0606030504020204" pitchFamily="34" charset="0"/>
                <a:cs typeface="Segoe UI" panose="020B0502040204020203" pitchFamily="34" charset="0"/>
                <a:sym typeface="Arial"/>
              </a:rPr>
              <a:t>For detailed data please refer to </a:t>
            </a:r>
            <a:r>
              <a:rPr kumimoji="0" lang="en-US" sz="800" b="0" i="0" u="none" strike="noStrike" kern="1200" cap="none" spc="0" normalizeH="0" baseline="0" noProof="0" dirty="0">
                <a:ln>
                  <a:noFill/>
                </a:ln>
                <a:solidFill>
                  <a:srgbClr val="000000">
                    <a:lumMod val="75000"/>
                    <a:lumOff val="25000"/>
                  </a:srgbClr>
                </a:solidFill>
                <a:effectLst/>
                <a:uLnTx/>
                <a:uFillTx/>
                <a:latin typeface="Segoe UI" panose="020B0502040204020203" pitchFamily="34" charset="0"/>
                <a:ea typeface="Open Sans" panose="020B0606030504020204" pitchFamily="34" charset="0"/>
                <a:cs typeface="Segoe UI" panose="020B0502040204020203" pitchFamily="34" charset="0"/>
                <a:sym typeface="Arial"/>
                <a:hlinkClick r:id="" action="ppaction://noaction"/>
              </a:rPr>
              <a:t>Appendix – B</a:t>
            </a:r>
            <a:r>
              <a:rPr kumimoji="0" lang="en-US" sz="800" b="0" i="0" u="none" strike="noStrike" kern="1200" cap="none" spc="0" normalizeH="0" baseline="0" noProof="0" dirty="0">
                <a:ln>
                  <a:noFill/>
                </a:ln>
                <a:solidFill>
                  <a:srgbClr val="000000">
                    <a:lumMod val="75000"/>
                    <a:lumOff val="25000"/>
                  </a:srgbClr>
                </a:solidFill>
                <a:effectLst/>
                <a:uLnTx/>
                <a:uFillTx/>
                <a:latin typeface="Segoe UI" panose="020B0502040204020203" pitchFamily="34" charset="0"/>
                <a:ea typeface="Open Sans" panose="020B0606030504020204" pitchFamily="34" charset="0"/>
                <a:cs typeface="Segoe UI" panose="020B0502040204020203" pitchFamily="34" charset="0"/>
                <a:sym typeface="Arial"/>
                <a:hlinkClick r:id="rId7" action="ppaction://hlinksldjump"/>
              </a:rPr>
              <a:t> </a:t>
            </a:r>
            <a:endParaRPr kumimoji="0" lang="en-US" sz="800" b="0" i="0" u="none" strike="noStrike" kern="1200" cap="none" spc="0" normalizeH="0" baseline="0" noProof="0" dirty="0">
              <a:ln>
                <a:noFill/>
              </a:ln>
              <a:solidFill>
                <a:srgbClr val="000000">
                  <a:lumMod val="75000"/>
                  <a:lumOff val="25000"/>
                </a:srgbClr>
              </a:solidFill>
              <a:effectLst/>
              <a:uLnTx/>
              <a:uFillTx/>
              <a:latin typeface="Segoe UI" panose="020B0502040204020203" pitchFamily="34" charset="0"/>
              <a:ea typeface="Open Sans" panose="020B0606030504020204" pitchFamily="34" charset="0"/>
              <a:cs typeface="Segoe UI" panose="020B0502040204020203" pitchFamily="34" charset="0"/>
              <a:sym typeface="Arial"/>
            </a:endParaRPr>
          </a:p>
        </p:txBody>
      </p:sp>
    </p:spTree>
    <p:extLst>
      <p:ext uri="{BB962C8B-B14F-4D97-AF65-F5344CB8AC3E}">
        <p14:creationId xmlns:p14="http://schemas.microsoft.com/office/powerpoint/2010/main" val="37912214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80000"/>
            <a:lum/>
          </a:blip>
          <a:srcRect/>
          <a:stretch>
            <a:fillRect/>
          </a:stretch>
        </a:blipFill>
        <a:effectLst/>
      </p:bgPr>
    </p:bg>
    <p:spTree>
      <p:nvGrpSpPr>
        <p:cNvPr id="1" name="">
          <a:extLst>
            <a:ext uri="{FF2B5EF4-FFF2-40B4-BE49-F238E27FC236}">
              <a16:creationId xmlns:a16="http://schemas.microsoft.com/office/drawing/2014/main" id="{4CBCB297-6310-0C8E-446A-0476DFB4D98F}"/>
            </a:ext>
          </a:extLst>
        </p:cNvPr>
        <p:cNvGrpSpPr/>
        <p:nvPr/>
      </p:nvGrpSpPr>
      <p:grpSpPr>
        <a:xfrm>
          <a:off x="0" y="0"/>
          <a:ext cx="0" cy="0"/>
          <a:chOff x="0" y="0"/>
          <a:chExt cx="0" cy="0"/>
        </a:xfrm>
      </p:grpSpPr>
      <p:sp>
        <p:nvSpPr>
          <p:cNvPr id="10" name="Text Placeholder 3">
            <a:extLst>
              <a:ext uri="{FF2B5EF4-FFF2-40B4-BE49-F238E27FC236}">
                <a16:creationId xmlns:a16="http://schemas.microsoft.com/office/drawing/2014/main" id="{62F829C1-476D-F41E-F617-C89EA8B3D01E}"/>
              </a:ext>
            </a:extLst>
          </p:cNvPr>
          <p:cNvSpPr txBox="1">
            <a:spLocks/>
          </p:cNvSpPr>
          <p:nvPr/>
        </p:nvSpPr>
        <p:spPr>
          <a:xfrm>
            <a:off x="0" y="0"/>
            <a:ext cx="12192000" cy="6858000"/>
          </a:xfrm>
          <a:prstGeom prst="rect">
            <a:avLst/>
          </a:prstGeom>
          <a:solidFill>
            <a:schemeClr val="tx1">
              <a:lumMod val="75000"/>
              <a:lumOff val="25000"/>
              <a:alpha val="70000"/>
            </a:schemeClr>
          </a:solidFill>
          <a:ln>
            <a:noFill/>
          </a:ln>
        </p:spPr>
        <p:txBody>
          <a:bodyPr spcFirstLastPara="1" wrap="square" lIns="365760" tIns="182880" rIns="0" bIns="0" anchor="ctr"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Open Sans"/>
                <a:ea typeface="Open Sans"/>
                <a:cs typeface="Open Sans"/>
                <a:sym typeface="Open Sans"/>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Open Sans"/>
                <a:ea typeface="Open Sans"/>
                <a:cs typeface="Open Sans"/>
                <a:sym typeface="Open Sans"/>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Open Sans"/>
                <a:ea typeface="Open Sans"/>
                <a:cs typeface="Open Sans"/>
                <a:sym typeface="Open Sans"/>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pen Sans"/>
                <a:ea typeface="Open Sans"/>
                <a:cs typeface="Open Sans"/>
                <a:sym typeface="Open Sans"/>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pen Sans"/>
                <a:ea typeface="Open Sans"/>
                <a:cs typeface="Open Sans"/>
                <a:sym typeface="Open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sz="2800" b="1" i="0" u="none" strike="noStrike" kern="0" cap="none" spc="0" normalizeH="0" baseline="0" noProof="0" dirty="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sz="2800" b="1" i="0" u="none" strike="noStrike" kern="0" cap="none" spc="0" normalizeH="0" baseline="0" noProof="0" dirty="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sz="2800" b="1" i="0" u="none" strike="noStrike" kern="0" cap="none" spc="0" normalizeH="0" baseline="0" noProof="0" dirty="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sz="2800" b="1" i="0" u="none" strike="noStrike" kern="0" cap="none" spc="0" normalizeH="0" baseline="0" noProof="0" dirty="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sz="2800" b="1" i="0" u="none" strike="noStrike" kern="0" cap="none" spc="0" normalizeH="0" baseline="0" noProof="0" dirty="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r>
              <a:rPr kumimoji="0" lang="en-US" sz="2800" b="1" i="0" u="none" strike="noStrike" kern="0" cap="none" spc="0" normalizeH="0" baseline="0" noProof="0" dirty="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rPr>
              <a:t>2. Information Sharing</a:t>
            </a: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sz="2800" b="0" i="0" u="none" strike="noStrike" kern="0" cap="none" spc="0" normalizeH="0" baseline="0" noProof="0" dirty="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124000"/>
              </a:lnSpc>
              <a:spcBef>
                <a:spcPts val="1000"/>
              </a:spcBef>
              <a:spcAft>
                <a:spcPts val="0"/>
              </a:spcAft>
              <a:buClr>
                <a:srgbClr val="000000"/>
              </a:buClr>
              <a:buSzPts val="1800"/>
              <a:buFont typeface="Arial"/>
              <a:buNone/>
              <a:tabLst/>
              <a:defRPr/>
            </a:pPr>
            <a:r>
              <a:rPr kumimoji="0" lang="en-US" sz="2000" b="0" i="1" u="none" strike="noStrike" kern="0" cap="none" spc="0" normalizeH="0" baseline="0" noProof="0" dirty="0">
                <a:ln>
                  <a:noFill/>
                </a:ln>
                <a:solidFill>
                  <a:srgbClr val="FFFFFF"/>
                </a:solidFill>
                <a:effectLst/>
                <a:uLnTx/>
                <a:uFillTx/>
                <a:latin typeface="Calibri" pitchFamily="34" charset="0"/>
                <a:ea typeface="Calibri" pitchFamily="34" charset="-122"/>
                <a:cs typeface="Calibri" pitchFamily="34" charset="-120"/>
                <a:sym typeface="Open Sans"/>
              </a:rPr>
              <a:t>“I really feel that fraud intelligence sharing can make a difference, but there are still practical barriers to doing it well” – </a:t>
            </a:r>
            <a:r>
              <a:rPr kumimoji="0" lang="en-US" sz="2000" b="1" i="1" u="none" strike="noStrike" kern="0" cap="none" spc="0" normalizeH="0" baseline="0" noProof="0" dirty="0">
                <a:ln>
                  <a:noFill/>
                </a:ln>
                <a:solidFill>
                  <a:srgbClr val="FFFFFF"/>
                </a:solidFill>
                <a:effectLst/>
                <a:uLnTx/>
                <a:uFillTx/>
                <a:latin typeface="Calibri" pitchFamily="34" charset="0"/>
                <a:ea typeface="Calibri" pitchFamily="34" charset="-122"/>
                <a:cs typeface="Calibri" pitchFamily="34" charset="-120"/>
                <a:sym typeface="Open Sans"/>
              </a:rPr>
              <a:t>SVP of Top 50 Global Insurance Firm</a:t>
            </a:r>
            <a:endParaRPr kumimoji="0" lang="en-US" sz="2000" b="0" i="0" u="none" strike="noStrike" kern="0" cap="none" spc="0" normalizeH="0" baseline="0" noProof="0" dirty="0">
              <a:ln>
                <a:noFill/>
              </a:ln>
              <a:solidFill>
                <a:srgbClr val="000000"/>
              </a:solidFill>
              <a:effectLst/>
              <a:uLnTx/>
              <a:uFillTx/>
              <a:latin typeface="Open Sans"/>
              <a:ea typeface="Open Sans"/>
              <a:cs typeface="Open Sans"/>
              <a:sym typeface="Open Sans"/>
            </a:endParaRPr>
          </a:p>
        </p:txBody>
      </p:sp>
    </p:spTree>
    <p:extLst>
      <p:ext uri="{BB962C8B-B14F-4D97-AF65-F5344CB8AC3E}">
        <p14:creationId xmlns:p14="http://schemas.microsoft.com/office/powerpoint/2010/main" val="302052308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CD30BA-DD99-FFE6-B9B8-0F0E89C801D1}"/>
            </a:ext>
          </a:extLst>
        </p:cNvPr>
        <p:cNvGrpSpPr/>
        <p:nvPr/>
      </p:nvGrpSpPr>
      <p:grpSpPr>
        <a:xfrm>
          <a:off x="0" y="0"/>
          <a:ext cx="0" cy="0"/>
          <a:chOff x="0" y="0"/>
          <a:chExt cx="0" cy="0"/>
        </a:xfrm>
      </p:grpSpPr>
      <p:sp>
        <p:nvSpPr>
          <p:cNvPr id="142" name="Trapezoid 141">
            <a:extLst>
              <a:ext uri="{FF2B5EF4-FFF2-40B4-BE49-F238E27FC236}">
                <a16:creationId xmlns:a16="http://schemas.microsoft.com/office/drawing/2014/main" id="{C8A8008D-6626-C6FF-ECC7-9E1EF23E6CB5}"/>
              </a:ext>
            </a:extLst>
          </p:cNvPr>
          <p:cNvSpPr/>
          <p:nvPr/>
        </p:nvSpPr>
        <p:spPr>
          <a:xfrm>
            <a:off x="8929161" y="4069864"/>
            <a:ext cx="2267621" cy="529337"/>
          </a:xfrm>
          <a:prstGeom prst="trapezoid">
            <a:avLst/>
          </a:prstGeom>
          <a:solidFill>
            <a:schemeClr val="accent1">
              <a:lumMod val="20000"/>
              <a:lumOff val="80000"/>
            </a:schemeClr>
          </a:solid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CA" sz="1400" b="0" i="0" u="none" strike="noStrike" kern="0" cap="none" spc="0" normalizeH="0" baseline="0" noProof="0" dirty="0">
              <a:ln>
                <a:noFill/>
              </a:ln>
              <a:solidFill>
                <a:srgbClr val="FFFFFF"/>
              </a:solidFill>
              <a:effectLst/>
              <a:uLnTx/>
              <a:uFillTx/>
              <a:latin typeface="Arial"/>
              <a:ea typeface="+mn-ea"/>
              <a:cs typeface="+mn-cs"/>
              <a:sym typeface="Arial"/>
            </a:endParaRPr>
          </a:p>
        </p:txBody>
      </p:sp>
      <p:sp>
        <p:nvSpPr>
          <p:cNvPr id="153" name="Rectangle 152">
            <a:extLst>
              <a:ext uri="{FF2B5EF4-FFF2-40B4-BE49-F238E27FC236}">
                <a16:creationId xmlns:a16="http://schemas.microsoft.com/office/drawing/2014/main" id="{EBF0C9E9-EB7F-7B48-E985-C3845746CEFD}"/>
              </a:ext>
            </a:extLst>
          </p:cNvPr>
          <p:cNvSpPr/>
          <p:nvPr/>
        </p:nvSpPr>
        <p:spPr>
          <a:xfrm>
            <a:off x="-904" y="2472"/>
            <a:ext cx="12192000" cy="353257"/>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600"/>
              </a:spcBef>
              <a:spcAft>
                <a:spcPts val="0"/>
              </a:spcAft>
              <a:buClrTx/>
              <a:buSzPct val="100000"/>
              <a:buFont typeface="Arial"/>
              <a:buNone/>
              <a:tabLst/>
              <a:defRPr/>
            </a:pPr>
            <a:r>
              <a:rPr kumimoji="0" lang="en-US" sz="1200" b="1" i="0" u="none" strike="noStrike" kern="1200" cap="none" spc="0" normalizeH="0" baseline="0" noProof="0" dirty="0">
                <a:ln>
                  <a:noFill/>
                </a:ln>
                <a:solidFill>
                  <a:srgbClr val="FFFFFF"/>
                </a:solidFill>
                <a:effectLst/>
                <a:uLnTx/>
                <a:uFillTx/>
                <a:latin typeface="Segoe UI" panose="020B0502040204020203" pitchFamily="34" charset="0"/>
                <a:ea typeface="Open Sans" panose="020B0606030504020204" pitchFamily="34" charset="0"/>
                <a:cs typeface="Segoe UI" panose="020B0502040204020203" pitchFamily="34" charset="0"/>
                <a:sym typeface="Arial"/>
              </a:rPr>
              <a:t>INFORMATION SHARING</a:t>
            </a:r>
          </a:p>
        </p:txBody>
      </p:sp>
      <p:sp>
        <p:nvSpPr>
          <p:cNvPr id="3" name="Rounded Rectangle 17">
            <a:extLst>
              <a:ext uri="{FF2B5EF4-FFF2-40B4-BE49-F238E27FC236}">
                <a16:creationId xmlns:a16="http://schemas.microsoft.com/office/drawing/2014/main" id="{AE0EB5E4-D0D5-3D44-5766-815869382169}"/>
              </a:ext>
            </a:extLst>
          </p:cNvPr>
          <p:cNvSpPr/>
          <p:nvPr/>
        </p:nvSpPr>
        <p:spPr>
          <a:xfrm>
            <a:off x="4288536" y="2189503"/>
            <a:ext cx="3611880" cy="2127000"/>
          </a:xfrm>
          <a:prstGeom prst="roundRect">
            <a:avLst>
              <a:gd name="adj" fmla="val 50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4" name="Rectangle 3">
            <a:extLst>
              <a:ext uri="{FF2B5EF4-FFF2-40B4-BE49-F238E27FC236}">
                <a16:creationId xmlns:a16="http://schemas.microsoft.com/office/drawing/2014/main" id="{8DAEBBF9-B3C8-6500-340E-85AF1AB9A527}"/>
              </a:ext>
            </a:extLst>
          </p:cNvPr>
          <p:cNvSpPr/>
          <p:nvPr/>
        </p:nvSpPr>
        <p:spPr>
          <a:xfrm>
            <a:off x="4288536" y="2544565"/>
            <a:ext cx="3611880" cy="155448"/>
          </a:xfrm>
          <a:prstGeom prst="rect">
            <a:avLst/>
          </a:prstGeom>
          <a:solidFill>
            <a:srgbClr val="046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5" name="Rounded Rectangle 18">
            <a:extLst>
              <a:ext uri="{FF2B5EF4-FFF2-40B4-BE49-F238E27FC236}">
                <a16:creationId xmlns:a16="http://schemas.microsoft.com/office/drawing/2014/main" id="{8DF9E8A4-2A1D-FA2F-D512-1D102614618C}"/>
              </a:ext>
            </a:extLst>
          </p:cNvPr>
          <p:cNvSpPr/>
          <p:nvPr/>
        </p:nvSpPr>
        <p:spPr>
          <a:xfrm>
            <a:off x="4288536" y="2164136"/>
            <a:ext cx="3611880" cy="467786"/>
          </a:xfrm>
          <a:prstGeom prst="roundRect">
            <a:avLst>
              <a:gd name="adj" fmla="val 20000"/>
            </a:avLst>
          </a:prstGeom>
          <a:solidFill>
            <a:srgbClr val="046A38"/>
          </a:solidFill>
          <a:ln>
            <a:noFill/>
          </a:ln>
          <a:effectLst/>
        </p:spPr>
        <p:style>
          <a:lnRef idx="1">
            <a:schemeClr val="accent1"/>
          </a:lnRef>
          <a:fillRef idx="3">
            <a:schemeClr val="accent1"/>
          </a:fillRef>
          <a:effectRef idx="2">
            <a:schemeClr val="accent1"/>
          </a:effectRef>
          <a:fontRef idx="minor">
            <a:schemeClr val="lt1"/>
          </a:fontRef>
        </p:style>
        <p:txBody>
          <a:bodyPr lIns="36000" rIns="3600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Segoe UI" panose="020B0502040204020203" pitchFamily="34" charset="0"/>
                <a:ea typeface="+mn-ea"/>
                <a:cs typeface="Segoe UI" panose="020B0502040204020203" pitchFamily="34" charset="0"/>
                <a:sym typeface="Arial"/>
              </a:rPr>
              <a:t># 2  ·  LEGAL, PRIVACY &amp; REGULATORY CONSTRAINTS</a:t>
            </a:r>
          </a:p>
        </p:txBody>
      </p:sp>
      <p:sp>
        <p:nvSpPr>
          <p:cNvPr id="10" name="TextBox 9">
            <a:extLst>
              <a:ext uri="{FF2B5EF4-FFF2-40B4-BE49-F238E27FC236}">
                <a16:creationId xmlns:a16="http://schemas.microsoft.com/office/drawing/2014/main" id="{A5754FF8-A236-73DD-5395-2188D31F8549}"/>
              </a:ext>
            </a:extLst>
          </p:cNvPr>
          <p:cNvSpPr txBox="1"/>
          <p:nvPr/>
        </p:nvSpPr>
        <p:spPr>
          <a:xfrm>
            <a:off x="356235" y="1814346"/>
            <a:ext cx="8229600" cy="200055"/>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300" b="1" i="0" u="none" strike="noStrike" kern="1200" cap="none" spc="0" normalizeH="0" baseline="0" noProof="0" dirty="0">
                <a:ln>
                  <a:noFill/>
                </a:ln>
                <a:solidFill>
                  <a:srgbClr val="046A38"/>
                </a:solidFill>
                <a:effectLst/>
                <a:uLnTx/>
                <a:uFillTx/>
                <a:latin typeface="Segoe UI" panose="020B0502040204020203" pitchFamily="34" charset="0"/>
                <a:ea typeface="+mn-ea"/>
                <a:cs typeface="Segoe UI" panose="020B0502040204020203" pitchFamily="34" charset="0"/>
                <a:sym typeface="Arial"/>
              </a:rPr>
              <a:t>THE TOP THREE BARRIERS FORM A DEPENDENCY CHAIN  </a:t>
            </a:r>
            <a:r>
              <a:rPr kumimoji="0" sz="1300" b="0" i="0" u="none" strike="noStrike" kern="1200" cap="none" spc="0" normalizeH="0" baseline="0" noProof="0" dirty="0">
                <a:ln>
                  <a:noFill/>
                </a:ln>
                <a:solidFill>
                  <a:srgbClr val="FFFFFF">
                    <a:lumMod val="50000"/>
                  </a:srgbClr>
                </a:solidFill>
                <a:effectLst/>
                <a:uLnTx/>
                <a:uFillTx/>
                <a:latin typeface="Segoe UI" panose="020B0502040204020203" pitchFamily="34" charset="0"/>
                <a:ea typeface="+mn-ea"/>
                <a:cs typeface="Segoe UI" panose="020B0502040204020203" pitchFamily="34" charset="0"/>
                <a:sym typeface="Arial"/>
              </a:rPr>
              <a:t>% of respondents citing each barrier </a:t>
            </a:r>
          </a:p>
        </p:txBody>
      </p:sp>
      <p:sp>
        <p:nvSpPr>
          <p:cNvPr id="13" name="Rounded Rectangle 7">
            <a:extLst>
              <a:ext uri="{FF2B5EF4-FFF2-40B4-BE49-F238E27FC236}">
                <a16:creationId xmlns:a16="http://schemas.microsoft.com/office/drawing/2014/main" id="{9C0FE4C5-9B5C-F456-CA32-190B261307F3}"/>
              </a:ext>
            </a:extLst>
          </p:cNvPr>
          <p:cNvSpPr/>
          <p:nvPr/>
        </p:nvSpPr>
        <p:spPr>
          <a:xfrm>
            <a:off x="320040" y="2189503"/>
            <a:ext cx="3611880" cy="2127000"/>
          </a:xfrm>
          <a:prstGeom prst="roundRect">
            <a:avLst>
              <a:gd name="adj" fmla="val 50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15" name="Rectangle 14">
            <a:extLst>
              <a:ext uri="{FF2B5EF4-FFF2-40B4-BE49-F238E27FC236}">
                <a16:creationId xmlns:a16="http://schemas.microsoft.com/office/drawing/2014/main" id="{9DD3DA33-884B-2733-109C-FA02320FD5D0}"/>
              </a:ext>
            </a:extLst>
          </p:cNvPr>
          <p:cNvSpPr/>
          <p:nvPr/>
        </p:nvSpPr>
        <p:spPr>
          <a:xfrm>
            <a:off x="320040" y="2544565"/>
            <a:ext cx="3611880" cy="155448"/>
          </a:xfrm>
          <a:prstGeom prst="rect">
            <a:avLst/>
          </a:prstGeom>
          <a:solidFill>
            <a:srgbClr val="023D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grpSp>
        <p:nvGrpSpPr>
          <p:cNvPr id="147" name="Group 146">
            <a:extLst>
              <a:ext uri="{FF2B5EF4-FFF2-40B4-BE49-F238E27FC236}">
                <a16:creationId xmlns:a16="http://schemas.microsoft.com/office/drawing/2014/main" id="{AFFFB9D7-6D29-0180-2F6C-21C33986FBF1}"/>
              </a:ext>
            </a:extLst>
          </p:cNvPr>
          <p:cNvGrpSpPr/>
          <p:nvPr/>
        </p:nvGrpSpPr>
        <p:grpSpPr>
          <a:xfrm>
            <a:off x="954380" y="2802104"/>
            <a:ext cx="683808" cy="683808"/>
            <a:chOff x="954380" y="2802104"/>
            <a:chExt cx="683808" cy="683808"/>
          </a:xfrm>
        </p:grpSpPr>
        <p:sp>
          <p:nvSpPr>
            <p:cNvPr id="16" name="Rounded Rectangle 11">
              <a:extLst>
                <a:ext uri="{FF2B5EF4-FFF2-40B4-BE49-F238E27FC236}">
                  <a16:creationId xmlns:a16="http://schemas.microsoft.com/office/drawing/2014/main" id="{1335091F-D9D7-5214-9881-CD21A22F8668}"/>
                </a:ext>
              </a:extLst>
            </p:cNvPr>
            <p:cNvSpPr/>
            <p:nvPr/>
          </p:nvSpPr>
          <p:spPr>
            <a:xfrm>
              <a:off x="954380" y="2802104"/>
              <a:ext cx="683808" cy="683808"/>
            </a:xfrm>
            <a:prstGeom prst="roundRect">
              <a:avLst>
                <a:gd name="adj" fmla="val 50000"/>
              </a:avLst>
            </a:prstGeom>
            <a:solidFill>
              <a:srgbClr val="023D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pic>
          <p:nvPicPr>
            <p:cNvPr id="17" name="Picture 16" descr="ic_data_w.png">
              <a:extLst>
                <a:ext uri="{FF2B5EF4-FFF2-40B4-BE49-F238E27FC236}">
                  <a16:creationId xmlns:a16="http://schemas.microsoft.com/office/drawing/2014/main" id="{C652E400-F84A-07E7-BFE3-70DB98EE6CE6}"/>
                </a:ext>
              </a:extLst>
            </p:cNvPr>
            <p:cNvPicPr>
              <a:picLocks noChangeAspect="1"/>
            </p:cNvPicPr>
            <p:nvPr/>
          </p:nvPicPr>
          <p:blipFill>
            <a:blip r:embed="rId3"/>
            <a:stretch>
              <a:fillRect/>
            </a:stretch>
          </p:blipFill>
          <p:spPr>
            <a:xfrm>
              <a:off x="1104818" y="2952541"/>
              <a:ext cx="382932" cy="382932"/>
            </a:xfrm>
            <a:prstGeom prst="rect">
              <a:avLst/>
            </a:prstGeom>
          </p:spPr>
        </p:pic>
      </p:grpSp>
      <p:sp>
        <p:nvSpPr>
          <p:cNvPr id="19" name="TextBox 18">
            <a:extLst>
              <a:ext uri="{FF2B5EF4-FFF2-40B4-BE49-F238E27FC236}">
                <a16:creationId xmlns:a16="http://schemas.microsoft.com/office/drawing/2014/main" id="{3D6702E4-1B4B-5DA7-BB0F-1D8C5091A821}"/>
              </a:ext>
            </a:extLst>
          </p:cNvPr>
          <p:cNvSpPr txBox="1"/>
          <p:nvPr/>
        </p:nvSpPr>
        <p:spPr>
          <a:xfrm>
            <a:off x="1843230" y="2786729"/>
            <a:ext cx="1654375" cy="692497"/>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4500" b="1" i="0" u="none" strike="noStrike" kern="1200" cap="none" spc="0" normalizeH="0" baseline="0" noProof="0" dirty="0">
                <a:ln>
                  <a:noFill/>
                </a:ln>
                <a:solidFill>
                  <a:srgbClr val="023D20"/>
                </a:solidFill>
                <a:effectLst/>
                <a:uLnTx/>
                <a:uFillTx/>
                <a:latin typeface="Segoe UI" panose="020B0502040204020203" pitchFamily="34" charset="0"/>
                <a:ea typeface="+mn-ea"/>
                <a:cs typeface="Segoe UI" panose="020B0502040204020203" pitchFamily="34" charset="0"/>
                <a:sym typeface="Arial"/>
              </a:rPr>
              <a:t>77%</a:t>
            </a:r>
          </a:p>
        </p:txBody>
      </p:sp>
      <p:sp>
        <p:nvSpPr>
          <p:cNvPr id="20" name="TextBox 19">
            <a:extLst>
              <a:ext uri="{FF2B5EF4-FFF2-40B4-BE49-F238E27FC236}">
                <a16:creationId xmlns:a16="http://schemas.microsoft.com/office/drawing/2014/main" id="{6A151342-2C08-D12E-7244-E4B9E6491C16}"/>
              </a:ext>
            </a:extLst>
          </p:cNvPr>
          <p:cNvSpPr txBox="1"/>
          <p:nvPr/>
        </p:nvSpPr>
        <p:spPr>
          <a:xfrm>
            <a:off x="502920" y="3538673"/>
            <a:ext cx="3246120" cy="67710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Shared intelligence is only as valuable as the data behind it. Without common definitions and consistent data quality, organizations lack a reliable basis for exchange.</a:t>
            </a:r>
            <a:endParaRPr kumimoji="0" sz="1100" b="0"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endParaRPr>
          </a:p>
        </p:txBody>
      </p:sp>
      <p:grpSp>
        <p:nvGrpSpPr>
          <p:cNvPr id="146" name="Group 145">
            <a:extLst>
              <a:ext uri="{FF2B5EF4-FFF2-40B4-BE49-F238E27FC236}">
                <a16:creationId xmlns:a16="http://schemas.microsoft.com/office/drawing/2014/main" id="{2F635BDF-24B6-608E-FEAB-55965E5B8BE3}"/>
              </a:ext>
            </a:extLst>
          </p:cNvPr>
          <p:cNvGrpSpPr/>
          <p:nvPr/>
        </p:nvGrpSpPr>
        <p:grpSpPr>
          <a:xfrm>
            <a:off x="4922876" y="2802104"/>
            <a:ext cx="683808" cy="683808"/>
            <a:chOff x="4922876" y="2802104"/>
            <a:chExt cx="683808" cy="683808"/>
          </a:xfrm>
        </p:grpSpPr>
        <p:sp>
          <p:nvSpPr>
            <p:cNvPr id="24" name="Rounded Rectangle 21">
              <a:extLst>
                <a:ext uri="{FF2B5EF4-FFF2-40B4-BE49-F238E27FC236}">
                  <a16:creationId xmlns:a16="http://schemas.microsoft.com/office/drawing/2014/main" id="{DB815B44-9149-3F07-632A-813BA45C37D7}"/>
                </a:ext>
              </a:extLst>
            </p:cNvPr>
            <p:cNvSpPr/>
            <p:nvPr/>
          </p:nvSpPr>
          <p:spPr>
            <a:xfrm>
              <a:off x="4922876" y="2802104"/>
              <a:ext cx="683808" cy="683808"/>
            </a:xfrm>
            <a:prstGeom prst="roundRect">
              <a:avLst>
                <a:gd name="adj" fmla="val 50000"/>
              </a:avLst>
            </a:prstGeom>
            <a:solidFill>
              <a:srgbClr val="046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pic>
          <p:nvPicPr>
            <p:cNvPr id="25" name="Picture 24" descr="image.png">
              <a:extLst>
                <a:ext uri="{FF2B5EF4-FFF2-40B4-BE49-F238E27FC236}">
                  <a16:creationId xmlns:a16="http://schemas.microsoft.com/office/drawing/2014/main" id="{790CEB74-1AEF-610E-DBA8-0E38477075E5}"/>
                </a:ext>
              </a:extLst>
            </p:cNvPr>
            <p:cNvPicPr>
              <a:picLocks noChangeAspect="1"/>
            </p:cNvPicPr>
            <p:nvPr/>
          </p:nvPicPr>
          <p:blipFill>
            <a:blip r:embed="rId4"/>
            <a:stretch>
              <a:fillRect/>
            </a:stretch>
          </p:blipFill>
          <p:spPr>
            <a:xfrm>
              <a:off x="5073314" y="2952541"/>
              <a:ext cx="382932" cy="382932"/>
            </a:xfrm>
            <a:prstGeom prst="rect">
              <a:avLst/>
            </a:prstGeom>
          </p:spPr>
        </p:pic>
      </p:grpSp>
      <p:sp>
        <p:nvSpPr>
          <p:cNvPr id="38" name="TextBox 37">
            <a:extLst>
              <a:ext uri="{FF2B5EF4-FFF2-40B4-BE49-F238E27FC236}">
                <a16:creationId xmlns:a16="http://schemas.microsoft.com/office/drawing/2014/main" id="{DED80922-B766-4364-7FEE-57A9AA7D83AD}"/>
              </a:ext>
            </a:extLst>
          </p:cNvPr>
          <p:cNvSpPr txBox="1"/>
          <p:nvPr/>
        </p:nvSpPr>
        <p:spPr>
          <a:xfrm>
            <a:off x="5811726" y="2786729"/>
            <a:ext cx="1654375" cy="692497"/>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4500" b="1" i="0" u="none" strike="noStrike" kern="1200" cap="none" spc="0" normalizeH="0" baseline="0" noProof="0" dirty="0">
                <a:ln>
                  <a:noFill/>
                </a:ln>
                <a:solidFill>
                  <a:srgbClr val="046A38"/>
                </a:solidFill>
                <a:effectLst/>
                <a:uLnTx/>
                <a:uFillTx/>
                <a:latin typeface="Segoe UI" panose="020B0502040204020203" pitchFamily="34" charset="0"/>
                <a:ea typeface="+mn-ea"/>
                <a:cs typeface="Segoe UI" panose="020B0502040204020203" pitchFamily="34" charset="0"/>
                <a:sym typeface="Arial"/>
              </a:rPr>
              <a:t>73%</a:t>
            </a:r>
          </a:p>
        </p:txBody>
      </p:sp>
      <p:sp>
        <p:nvSpPr>
          <p:cNvPr id="40" name="TextBox 39">
            <a:extLst>
              <a:ext uri="{FF2B5EF4-FFF2-40B4-BE49-F238E27FC236}">
                <a16:creationId xmlns:a16="http://schemas.microsoft.com/office/drawing/2014/main" id="{A25D3FE0-D1A1-4DB2-7B65-A6974C762BDF}"/>
              </a:ext>
            </a:extLst>
          </p:cNvPr>
          <p:cNvSpPr txBox="1"/>
          <p:nvPr/>
        </p:nvSpPr>
        <p:spPr>
          <a:xfrm>
            <a:off x="4471416" y="3623312"/>
            <a:ext cx="3246120" cy="507831"/>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Even with usable data, organizations need certainty about what they are allowed to share, with whom, and under what safeguards.</a:t>
            </a:r>
          </a:p>
        </p:txBody>
      </p:sp>
      <p:sp>
        <p:nvSpPr>
          <p:cNvPr id="47" name="Chevron 26">
            <a:extLst>
              <a:ext uri="{FF2B5EF4-FFF2-40B4-BE49-F238E27FC236}">
                <a16:creationId xmlns:a16="http://schemas.microsoft.com/office/drawing/2014/main" id="{09C5309E-529E-88AB-7D62-F7D844012F6C}"/>
              </a:ext>
            </a:extLst>
          </p:cNvPr>
          <p:cNvSpPr/>
          <p:nvPr/>
        </p:nvSpPr>
        <p:spPr>
          <a:xfrm>
            <a:off x="7973568" y="3051835"/>
            <a:ext cx="219456" cy="402336"/>
          </a:xfrm>
          <a:prstGeom prst="chevron">
            <a:avLst/>
          </a:prstGeom>
          <a:solidFill>
            <a:srgbClr val="4EA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48" name="Rounded Rectangle 27">
            <a:extLst>
              <a:ext uri="{FF2B5EF4-FFF2-40B4-BE49-F238E27FC236}">
                <a16:creationId xmlns:a16="http://schemas.microsoft.com/office/drawing/2014/main" id="{685A014F-30D1-99E8-42C3-A033BBE27F76}"/>
              </a:ext>
            </a:extLst>
          </p:cNvPr>
          <p:cNvSpPr/>
          <p:nvPr/>
        </p:nvSpPr>
        <p:spPr>
          <a:xfrm>
            <a:off x="8257031" y="2189503"/>
            <a:ext cx="3611880" cy="2127000"/>
          </a:xfrm>
          <a:prstGeom prst="roundRect">
            <a:avLst>
              <a:gd name="adj" fmla="val 50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49" name="Rectangle 48">
            <a:extLst>
              <a:ext uri="{FF2B5EF4-FFF2-40B4-BE49-F238E27FC236}">
                <a16:creationId xmlns:a16="http://schemas.microsoft.com/office/drawing/2014/main" id="{A8F7ABBD-6E4B-956B-0683-3AE5C8CEF9D6}"/>
              </a:ext>
            </a:extLst>
          </p:cNvPr>
          <p:cNvSpPr/>
          <p:nvPr/>
        </p:nvSpPr>
        <p:spPr>
          <a:xfrm>
            <a:off x="8257031" y="2544565"/>
            <a:ext cx="3611880" cy="155448"/>
          </a:xfrm>
          <a:prstGeom prst="rect">
            <a:avLst/>
          </a:prstGeom>
          <a:solidFill>
            <a:srgbClr val="4EA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grpSp>
        <p:nvGrpSpPr>
          <p:cNvPr id="145" name="Group 144">
            <a:extLst>
              <a:ext uri="{FF2B5EF4-FFF2-40B4-BE49-F238E27FC236}">
                <a16:creationId xmlns:a16="http://schemas.microsoft.com/office/drawing/2014/main" id="{50A6A593-B42D-279F-C248-0291E5C0622E}"/>
              </a:ext>
            </a:extLst>
          </p:cNvPr>
          <p:cNvGrpSpPr/>
          <p:nvPr/>
        </p:nvGrpSpPr>
        <p:grpSpPr>
          <a:xfrm>
            <a:off x="8891371" y="2802104"/>
            <a:ext cx="683808" cy="683808"/>
            <a:chOff x="8891371" y="2802104"/>
            <a:chExt cx="683808" cy="683808"/>
          </a:xfrm>
        </p:grpSpPr>
        <p:sp>
          <p:nvSpPr>
            <p:cNvPr id="50" name="Rounded Rectangle 31">
              <a:extLst>
                <a:ext uri="{FF2B5EF4-FFF2-40B4-BE49-F238E27FC236}">
                  <a16:creationId xmlns:a16="http://schemas.microsoft.com/office/drawing/2014/main" id="{A69AEB51-C380-382D-4827-90E9D90C31F1}"/>
                </a:ext>
              </a:extLst>
            </p:cNvPr>
            <p:cNvSpPr/>
            <p:nvPr/>
          </p:nvSpPr>
          <p:spPr>
            <a:xfrm>
              <a:off x="8891371" y="2802104"/>
              <a:ext cx="683808" cy="683808"/>
            </a:xfrm>
            <a:prstGeom prst="roundRect">
              <a:avLst>
                <a:gd name="adj" fmla="val 50000"/>
              </a:avLst>
            </a:prstGeom>
            <a:solidFill>
              <a:srgbClr val="4EA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pic>
          <p:nvPicPr>
            <p:cNvPr id="51" name="Picture 50" descr="ic_people_w.png">
              <a:extLst>
                <a:ext uri="{FF2B5EF4-FFF2-40B4-BE49-F238E27FC236}">
                  <a16:creationId xmlns:a16="http://schemas.microsoft.com/office/drawing/2014/main" id="{D9BDFFC8-E03B-3D7B-45F1-FE7418FB990B}"/>
                </a:ext>
              </a:extLst>
            </p:cNvPr>
            <p:cNvPicPr>
              <a:picLocks noChangeAspect="1"/>
            </p:cNvPicPr>
            <p:nvPr/>
          </p:nvPicPr>
          <p:blipFill>
            <a:blip r:embed="rId5"/>
            <a:stretch>
              <a:fillRect/>
            </a:stretch>
          </p:blipFill>
          <p:spPr>
            <a:xfrm>
              <a:off x="9041810" y="2952541"/>
              <a:ext cx="382932" cy="382932"/>
            </a:xfrm>
            <a:prstGeom prst="rect">
              <a:avLst/>
            </a:prstGeom>
          </p:spPr>
        </p:pic>
      </p:grpSp>
      <p:sp>
        <p:nvSpPr>
          <p:cNvPr id="52" name="TextBox 51">
            <a:extLst>
              <a:ext uri="{FF2B5EF4-FFF2-40B4-BE49-F238E27FC236}">
                <a16:creationId xmlns:a16="http://schemas.microsoft.com/office/drawing/2014/main" id="{67272B9E-D3F8-9979-FBE2-4044B6F539C8}"/>
              </a:ext>
            </a:extLst>
          </p:cNvPr>
          <p:cNvSpPr txBox="1"/>
          <p:nvPr/>
        </p:nvSpPr>
        <p:spPr>
          <a:xfrm>
            <a:off x="9780222" y="2786729"/>
            <a:ext cx="1654375" cy="692497"/>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4500" b="1" i="0" u="none" strike="noStrike" kern="1200" cap="none" spc="0" normalizeH="0" baseline="0" noProof="0" dirty="0">
                <a:ln>
                  <a:noFill/>
                </a:ln>
                <a:solidFill>
                  <a:srgbClr val="4EA72E"/>
                </a:solidFill>
                <a:effectLst/>
                <a:uLnTx/>
                <a:uFillTx/>
                <a:latin typeface="Segoe UI" panose="020B0502040204020203" pitchFamily="34" charset="0"/>
                <a:ea typeface="+mn-ea"/>
                <a:cs typeface="Segoe UI" panose="020B0502040204020203" pitchFamily="34" charset="0"/>
                <a:sym typeface="Arial"/>
              </a:rPr>
              <a:t>60%</a:t>
            </a:r>
          </a:p>
        </p:txBody>
      </p:sp>
      <p:sp>
        <p:nvSpPr>
          <p:cNvPr id="53" name="TextBox 52">
            <a:extLst>
              <a:ext uri="{FF2B5EF4-FFF2-40B4-BE49-F238E27FC236}">
                <a16:creationId xmlns:a16="http://schemas.microsoft.com/office/drawing/2014/main" id="{D3757E09-7842-B0FB-2C43-21C7C7A2C97E}"/>
              </a:ext>
            </a:extLst>
          </p:cNvPr>
          <p:cNvSpPr txBox="1"/>
          <p:nvPr/>
        </p:nvSpPr>
        <p:spPr>
          <a:xfrm>
            <a:off x="8439911" y="3538673"/>
            <a:ext cx="3246120" cy="67710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Once trusted data and clear guardrails in place can organizations have the confidence to participate, turning isolated efforts into industry-wide collaboration</a:t>
            </a:r>
          </a:p>
        </p:txBody>
      </p:sp>
      <p:sp>
        <p:nvSpPr>
          <p:cNvPr id="55" name="Rounded Rectangle 37">
            <a:extLst>
              <a:ext uri="{FF2B5EF4-FFF2-40B4-BE49-F238E27FC236}">
                <a16:creationId xmlns:a16="http://schemas.microsoft.com/office/drawing/2014/main" id="{8073924C-776B-F7D1-E627-756690375CAD}"/>
              </a:ext>
            </a:extLst>
          </p:cNvPr>
          <p:cNvSpPr/>
          <p:nvPr/>
        </p:nvSpPr>
        <p:spPr>
          <a:xfrm>
            <a:off x="320040" y="4518832"/>
            <a:ext cx="11548872" cy="1297621"/>
          </a:xfrm>
          <a:prstGeom prst="roundRect">
            <a:avLst>
              <a:gd name="adj" fmla="val 6000"/>
            </a:avLst>
          </a:prstGeom>
          <a:solidFill>
            <a:schemeClr val="accent1">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pic>
        <p:nvPicPr>
          <p:cNvPr id="56" name="Picture 55" descr="au.png">
            <a:extLst>
              <a:ext uri="{FF2B5EF4-FFF2-40B4-BE49-F238E27FC236}">
                <a16:creationId xmlns:a16="http://schemas.microsoft.com/office/drawing/2014/main" id="{2D5F3CC1-6B13-FF1F-8AEA-84405ACE3557}"/>
              </a:ext>
            </a:extLst>
          </p:cNvPr>
          <p:cNvPicPr>
            <a:picLocks noChangeAspect="1"/>
          </p:cNvPicPr>
          <p:nvPr/>
        </p:nvPicPr>
        <p:blipFill>
          <a:blip r:embed="rId6"/>
          <a:stretch>
            <a:fillRect/>
          </a:stretch>
        </p:blipFill>
        <p:spPr>
          <a:xfrm>
            <a:off x="548640" y="4632281"/>
            <a:ext cx="384048" cy="256032"/>
          </a:xfrm>
          <a:prstGeom prst="roundRect">
            <a:avLst/>
          </a:prstGeom>
        </p:spPr>
      </p:pic>
      <p:sp>
        <p:nvSpPr>
          <p:cNvPr id="57" name="TextBox 56">
            <a:extLst>
              <a:ext uri="{FF2B5EF4-FFF2-40B4-BE49-F238E27FC236}">
                <a16:creationId xmlns:a16="http://schemas.microsoft.com/office/drawing/2014/main" id="{601BE121-A72A-E6EE-EC03-9D35337D8C34}"/>
              </a:ext>
            </a:extLst>
          </p:cNvPr>
          <p:cNvSpPr txBox="1"/>
          <p:nvPr/>
        </p:nvSpPr>
        <p:spPr>
          <a:xfrm>
            <a:off x="1024128" y="4641981"/>
            <a:ext cx="10515600" cy="200055"/>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300" b="1" i="0" u="none" strike="noStrike" kern="1200" cap="none" spc="0" normalizeH="0" baseline="0" noProof="0" dirty="0">
                <a:ln>
                  <a:noFill/>
                </a:ln>
                <a:solidFill>
                  <a:srgbClr val="046A38">
                    <a:lumMod val="50000"/>
                  </a:srgbClr>
                </a:solidFill>
                <a:effectLst/>
                <a:uLnTx/>
                <a:uFillTx/>
                <a:latin typeface="Segoe UI" panose="020B0502040204020203" pitchFamily="34" charset="0"/>
                <a:ea typeface="+mn-ea"/>
                <a:cs typeface="Segoe UI" panose="020B0502040204020203" pitchFamily="34" charset="0"/>
                <a:sym typeface="Arial"/>
              </a:rPr>
              <a:t>AUSTRALIA: WITH PARTICIPATION IN PLACE, THE BARRIER TURNS INTERNAL</a:t>
            </a:r>
          </a:p>
        </p:txBody>
      </p:sp>
      <p:sp>
        <p:nvSpPr>
          <p:cNvPr id="58" name="TextBox 57">
            <a:extLst>
              <a:ext uri="{FF2B5EF4-FFF2-40B4-BE49-F238E27FC236}">
                <a16:creationId xmlns:a16="http://schemas.microsoft.com/office/drawing/2014/main" id="{67765B39-1F91-A8AD-A282-039537DE42FA}"/>
              </a:ext>
            </a:extLst>
          </p:cNvPr>
          <p:cNvSpPr txBox="1"/>
          <p:nvPr/>
        </p:nvSpPr>
        <p:spPr>
          <a:xfrm>
            <a:off x="1024128" y="4934457"/>
            <a:ext cx="5170910" cy="755720"/>
          </a:xfrm>
          <a:prstGeom prst="rect">
            <a:avLst/>
          </a:prstGeom>
          <a:noFill/>
        </p:spPr>
        <p:txBody>
          <a:bodyPr wrap="square" lIns="0" tIns="0" rIns="0" bIns="0" anchor="t">
            <a:spAutoFit/>
          </a:bodyPr>
          <a:lstStyle/>
          <a:p>
            <a:pPr marL="0" marR="0" lvl="0" indent="0" algn="l" defTabSz="914400" rtl="0" eaLnBrk="1" fontAlgn="auto" latinLnBrk="0" hangingPunct="1">
              <a:lnSpc>
                <a:spcPct val="114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Supported by established initiatives </a:t>
            </a:r>
            <a:r>
              <a:rPr kumimoji="0" lang="en-US" sz="1100" b="1"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such as AFCX, Australian banking respondents </a:t>
            </a:r>
            <a:r>
              <a:rPr kumimoji="0" lang="en-US" sz="1100" b="0"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were less concerned with external participation and more focused on scale, with 57% citing insufficient </a:t>
            </a:r>
            <a:r>
              <a:rPr kumimoji="0" lang="en-US" sz="1100" b="1"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budget or resource investment </a:t>
            </a:r>
            <a:r>
              <a:rPr kumimoji="0" lang="en-US" sz="1100" b="0"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as the third most significant barrier.</a:t>
            </a:r>
          </a:p>
        </p:txBody>
      </p:sp>
      <p:sp>
        <p:nvSpPr>
          <p:cNvPr id="62" name="Rounded Rectangle 28">
            <a:extLst>
              <a:ext uri="{FF2B5EF4-FFF2-40B4-BE49-F238E27FC236}">
                <a16:creationId xmlns:a16="http://schemas.microsoft.com/office/drawing/2014/main" id="{DA0C1BC0-E21D-40F6-F072-5C20E48E001B}"/>
              </a:ext>
            </a:extLst>
          </p:cNvPr>
          <p:cNvSpPr/>
          <p:nvPr/>
        </p:nvSpPr>
        <p:spPr>
          <a:xfrm>
            <a:off x="8257031" y="2164136"/>
            <a:ext cx="3611880" cy="467786"/>
          </a:xfrm>
          <a:prstGeom prst="roundRect">
            <a:avLst>
              <a:gd name="adj" fmla="val 20000"/>
            </a:avLst>
          </a:prstGeom>
          <a:solidFill>
            <a:srgbClr val="4EA72E"/>
          </a:solidFill>
          <a:ln>
            <a:noFill/>
          </a:ln>
          <a:effectLst/>
        </p:spPr>
        <p:style>
          <a:lnRef idx="1">
            <a:schemeClr val="accent1"/>
          </a:lnRef>
          <a:fillRef idx="3">
            <a:schemeClr val="accent1"/>
          </a:fillRef>
          <a:effectRef idx="2">
            <a:schemeClr val="accent1"/>
          </a:effectRef>
          <a:fontRef idx="minor">
            <a:schemeClr val="lt1"/>
          </a:fontRef>
        </p:style>
        <p:txBody>
          <a:bodyPr lIns="36000" rIns="3600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Segoe UI" panose="020B0502040204020203" pitchFamily="34" charset="0"/>
                <a:ea typeface="+mn-ea"/>
                <a:cs typeface="Segoe UI" panose="020B0502040204020203" pitchFamily="34" charset="0"/>
                <a:sym typeface="Arial"/>
              </a:rPr>
              <a:t># 3  ·  LACK OF EXTERNAL INDUSTRY PARTICIPATION</a:t>
            </a:r>
          </a:p>
        </p:txBody>
      </p:sp>
      <p:sp>
        <p:nvSpPr>
          <p:cNvPr id="63" name="Rounded Rectangle 8">
            <a:extLst>
              <a:ext uri="{FF2B5EF4-FFF2-40B4-BE49-F238E27FC236}">
                <a16:creationId xmlns:a16="http://schemas.microsoft.com/office/drawing/2014/main" id="{5AB76CCE-9656-EF19-365A-EC9A2DE4AB50}"/>
              </a:ext>
            </a:extLst>
          </p:cNvPr>
          <p:cNvSpPr/>
          <p:nvPr/>
        </p:nvSpPr>
        <p:spPr>
          <a:xfrm>
            <a:off x="320040" y="2164136"/>
            <a:ext cx="3611880" cy="467786"/>
          </a:xfrm>
          <a:prstGeom prst="roundRect">
            <a:avLst>
              <a:gd name="adj" fmla="val 20000"/>
            </a:avLst>
          </a:prstGeom>
          <a:solidFill>
            <a:srgbClr val="023D20"/>
          </a:solidFill>
          <a:ln>
            <a:noFill/>
          </a:ln>
          <a:effectLst/>
        </p:spPr>
        <p:style>
          <a:lnRef idx="1">
            <a:schemeClr val="accent1"/>
          </a:lnRef>
          <a:fillRef idx="3">
            <a:schemeClr val="accent1"/>
          </a:fillRef>
          <a:effectRef idx="2">
            <a:schemeClr val="accent1"/>
          </a:effectRef>
          <a:fontRef idx="minor">
            <a:schemeClr val="lt1"/>
          </a:fontRef>
        </p:style>
        <p:txBody>
          <a:bodyPr lIns="36000" rIns="3600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Segoe UI" panose="020B0502040204020203" pitchFamily="34" charset="0"/>
                <a:ea typeface="+mn-ea"/>
                <a:cs typeface="Segoe UI" panose="020B0502040204020203" pitchFamily="34" charset="0"/>
                <a:sym typeface="Arial"/>
              </a:rPr>
              <a:t># 1  ·  DATA STANDARDIZATION &amp; POOR QUALITY</a:t>
            </a:r>
          </a:p>
        </p:txBody>
      </p:sp>
      <p:grpSp>
        <p:nvGrpSpPr>
          <p:cNvPr id="128" name="Group 127">
            <a:extLst>
              <a:ext uri="{FF2B5EF4-FFF2-40B4-BE49-F238E27FC236}">
                <a16:creationId xmlns:a16="http://schemas.microsoft.com/office/drawing/2014/main" id="{818781EB-D84B-B097-2F8E-67450C198113}"/>
              </a:ext>
            </a:extLst>
          </p:cNvPr>
          <p:cNvGrpSpPr/>
          <p:nvPr/>
        </p:nvGrpSpPr>
        <p:grpSpPr>
          <a:xfrm>
            <a:off x="6612255" y="4762533"/>
            <a:ext cx="5109440" cy="913254"/>
            <a:chOff x="6612255" y="4721796"/>
            <a:chExt cx="5109440" cy="913254"/>
          </a:xfrm>
        </p:grpSpPr>
        <p:grpSp>
          <p:nvGrpSpPr>
            <p:cNvPr id="129" name="Group 128">
              <a:extLst>
                <a:ext uri="{FF2B5EF4-FFF2-40B4-BE49-F238E27FC236}">
                  <a16:creationId xmlns:a16="http://schemas.microsoft.com/office/drawing/2014/main" id="{3D61D0D7-8858-FDD2-EED0-7ACCF20960F5}"/>
                </a:ext>
              </a:extLst>
            </p:cNvPr>
            <p:cNvGrpSpPr/>
            <p:nvPr/>
          </p:nvGrpSpPr>
          <p:grpSpPr>
            <a:xfrm>
              <a:off x="6612255" y="4721796"/>
              <a:ext cx="2238605" cy="913254"/>
              <a:chOff x="6612255" y="4721796"/>
              <a:chExt cx="2238605" cy="913254"/>
            </a:xfrm>
          </p:grpSpPr>
          <p:grpSp>
            <p:nvGrpSpPr>
              <p:cNvPr id="137" name="Group 136">
                <a:extLst>
                  <a:ext uri="{FF2B5EF4-FFF2-40B4-BE49-F238E27FC236}">
                    <a16:creationId xmlns:a16="http://schemas.microsoft.com/office/drawing/2014/main" id="{4D147D8D-9838-D141-0E4C-91A3010D85E1}"/>
                  </a:ext>
                </a:extLst>
              </p:cNvPr>
              <p:cNvGrpSpPr/>
              <p:nvPr/>
            </p:nvGrpSpPr>
            <p:grpSpPr>
              <a:xfrm>
                <a:off x="6612255" y="4863423"/>
                <a:ext cx="630000" cy="630000"/>
                <a:chOff x="6355080" y="5065776"/>
                <a:chExt cx="457200" cy="457200"/>
              </a:xfrm>
            </p:grpSpPr>
            <p:sp>
              <p:nvSpPr>
                <p:cNvPr id="140" name="Rounded Rectangle 41">
                  <a:extLst>
                    <a:ext uri="{FF2B5EF4-FFF2-40B4-BE49-F238E27FC236}">
                      <a16:creationId xmlns:a16="http://schemas.microsoft.com/office/drawing/2014/main" id="{C7CF1F58-5DD0-3A0A-FC2E-9086CCEDDA39}"/>
                    </a:ext>
                  </a:extLst>
                </p:cNvPr>
                <p:cNvSpPr/>
                <p:nvPr/>
              </p:nvSpPr>
              <p:spPr>
                <a:xfrm>
                  <a:off x="6355080" y="5065776"/>
                  <a:ext cx="457200" cy="457200"/>
                </a:xfrm>
                <a:prstGeom prst="roundRect">
                  <a:avLst>
                    <a:gd name="adj" fmla="val 50000"/>
                  </a:avLst>
                </a:prstGeom>
                <a:solidFill>
                  <a:srgbClr val="7578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pic>
              <p:nvPicPr>
                <p:cNvPr id="141" name="Picture 140" descr="ic_users_w.png">
                  <a:extLst>
                    <a:ext uri="{FF2B5EF4-FFF2-40B4-BE49-F238E27FC236}">
                      <a16:creationId xmlns:a16="http://schemas.microsoft.com/office/drawing/2014/main" id="{8D4F5604-8250-197C-8D70-D2C2BA588339}"/>
                    </a:ext>
                  </a:extLst>
                </p:cNvPr>
                <p:cNvPicPr>
                  <a:picLocks noChangeAspect="1"/>
                </p:cNvPicPr>
                <p:nvPr/>
              </p:nvPicPr>
              <p:blipFill>
                <a:blip r:embed="rId7"/>
                <a:stretch>
                  <a:fillRect/>
                </a:stretch>
              </p:blipFill>
              <p:spPr>
                <a:xfrm>
                  <a:off x="6455664" y="5166360"/>
                  <a:ext cx="256032" cy="256032"/>
                </a:xfrm>
                <a:prstGeom prst="rect">
                  <a:avLst/>
                </a:prstGeom>
              </p:spPr>
            </p:pic>
          </p:grpSp>
          <p:sp>
            <p:nvSpPr>
              <p:cNvPr id="138" name="TextBox 137">
                <a:extLst>
                  <a:ext uri="{FF2B5EF4-FFF2-40B4-BE49-F238E27FC236}">
                    <a16:creationId xmlns:a16="http://schemas.microsoft.com/office/drawing/2014/main" id="{0FDF04D5-D3BA-F8C6-ABCD-42385FCED2F8}"/>
                  </a:ext>
                </a:extLst>
              </p:cNvPr>
              <p:cNvSpPr txBox="1"/>
              <p:nvPr/>
            </p:nvSpPr>
            <p:spPr>
              <a:xfrm>
                <a:off x="7351395" y="4721796"/>
                <a:ext cx="900281" cy="538609"/>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3500" b="1" i="0" u="none" strike="noStrike" kern="1200" cap="none" spc="0" normalizeH="0" baseline="0" noProof="0" dirty="0">
                    <a:ln>
                      <a:noFill/>
                    </a:ln>
                    <a:solidFill>
                      <a:srgbClr val="75787B"/>
                    </a:solidFill>
                    <a:effectLst/>
                    <a:uLnTx/>
                    <a:uFillTx/>
                    <a:latin typeface="Segoe UI" panose="020B0502040204020203" pitchFamily="34" charset="0"/>
                    <a:ea typeface="+mn-ea"/>
                    <a:cs typeface="Segoe UI" panose="020B0502040204020203" pitchFamily="34" charset="0"/>
                    <a:sym typeface="Arial"/>
                  </a:rPr>
                  <a:t>43%</a:t>
                </a:r>
              </a:p>
            </p:txBody>
          </p:sp>
          <p:sp>
            <p:nvSpPr>
              <p:cNvPr id="139" name="TextBox 138">
                <a:extLst>
                  <a:ext uri="{FF2B5EF4-FFF2-40B4-BE49-F238E27FC236}">
                    <a16:creationId xmlns:a16="http://schemas.microsoft.com/office/drawing/2014/main" id="{1CC1BAD3-680D-58CC-B308-320EB1631115}"/>
                  </a:ext>
                </a:extLst>
              </p:cNvPr>
              <p:cNvSpPr txBox="1"/>
              <p:nvPr/>
            </p:nvSpPr>
            <p:spPr>
              <a:xfrm>
                <a:off x="7351396" y="5234940"/>
                <a:ext cx="1499464" cy="40011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300" b="1" i="0" u="none" strike="noStrike" kern="1200" cap="none" spc="0" normalizeH="0" baseline="0" noProof="0" dirty="0">
                    <a:ln>
                      <a:noFill/>
                    </a:ln>
                    <a:solidFill>
                      <a:srgbClr val="75787B"/>
                    </a:solidFill>
                    <a:effectLst/>
                    <a:uLnTx/>
                    <a:uFillTx/>
                    <a:latin typeface="Segoe UI" panose="020B0502040204020203" pitchFamily="34" charset="0"/>
                    <a:ea typeface="+mn-ea"/>
                    <a:cs typeface="Segoe UI" panose="020B0502040204020203" pitchFamily="34" charset="0"/>
                    <a:sym typeface="Arial"/>
                  </a:rPr>
                  <a:t>Lack of external participation</a:t>
                </a:r>
              </a:p>
            </p:txBody>
          </p:sp>
        </p:grpSp>
        <p:grpSp>
          <p:nvGrpSpPr>
            <p:cNvPr id="130" name="Group 129">
              <a:extLst>
                <a:ext uri="{FF2B5EF4-FFF2-40B4-BE49-F238E27FC236}">
                  <a16:creationId xmlns:a16="http://schemas.microsoft.com/office/drawing/2014/main" id="{30D3A9A4-8258-798B-F4E9-B106D8A3C794}"/>
                </a:ext>
              </a:extLst>
            </p:cNvPr>
            <p:cNvGrpSpPr/>
            <p:nvPr/>
          </p:nvGrpSpPr>
          <p:grpSpPr>
            <a:xfrm>
              <a:off x="9483090" y="4721796"/>
              <a:ext cx="2238605" cy="913254"/>
              <a:chOff x="9483090" y="4721796"/>
              <a:chExt cx="2238605" cy="913254"/>
            </a:xfrm>
          </p:grpSpPr>
          <p:grpSp>
            <p:nvGrpSpPr>
              <p:cNvPr id="132" name="Group 131">
                <a:extLst>
                  <a:ext uri="{FF2B5EF4-FFF2-40B4-BE49-F238E27FC236}">
                    <a16:creationId xmlns:a16="http://schemas.microsoft.com/office/drawing/2014/main" id="{304525A8-A3BF-BFE8-661B-81265445A344}"/>
                  </a:ext>
                </a:extLst>
              </p:cNvPr>
              <p:cNvGrpSpPr/>
              <p:nvPr/>
            </p:nvGrpSpPr>
            <p:grpSpPr>
              <a:xfrm>
                <a:off x="9483090" y="4863423"/>
                <a:ext cx="630000" cy="630000"/>
                <a:chOff x="9235440" y="5065776"/>
                <a:chExt cx="457200" cy="457200"/>
              </a:xfrm>
            </p:grpSpPr>
            <p:sp>
              <p:nvSpPr>
                <p:cNvPr id="135" name="Rounded Rectangle 46">
                  <a:extLst>
                    <a:ext uri="{FF2B5EF4-FFF2-40B4-BE49-F238E27FC236}">
                      <a16:creationId xmlns:a16="http://schemas.microsoft.com/office/drawing/2014/main" id="{9D00A379-C5B8-1454-407D-936ADF656D7F}"/>
                    </a:ext>
                  </a:extLst>
                </p:cNvPr>
                <p:cNvSpPr/>
                <p:nvPr/>
              </p:nvSpPr>
              <p:spPr>
                <a:xfrm>
                  <a:off x="9235440" y="5065776"/>
                  <a:ext cx="457200" cy="457200"/>
                </a:xfrm>
                <a:prstGeom prst="roundRect">
                  <a:avLst>
                    <a:gd name="adj" fmla="val 50000"/>
                  </a:avLst>
                </a:prstGeom>
                <a:solidFill>
                  <a:srgbClr val="046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pic>
              <p:nvPicPr>
                <p:cNvPr id="136" name="Picture 135" descr="ic_coins_w.png">
                  <a:extLst>
                    <a:ext uri="{FF2B5EF4-FFF2-40B4-BE49-F238E27FC236}">
                      <a16:creationId xmlns:a16="http://schemas.microsoft.com/office/drawing/2014/main" id="{18B7D034-8461-220B-31C3-1FE073C870A3}"/>
                    </a:ext>
                  </a:extLst>
                </p:cNvPr>
                <p:cNvPicPr>
                  <a:picLocks noChangeAspect="1"/>
                </p:cNvPicPr>
                <p:nvPr/>
              </p:nvPicPr>
              <p:blipFill>
                <a:blip r:embed="rId8"/>
                <a:stretch>
                  <a:fillRect/>
                </a:stretch>
              </p:blipFill>
              <p:spPr>
                <a:xfrm>
                  <a:off x="9336024" y="5166360"/>
                  <a:ext cx="256032" cy="256032"/>
                </a:xfrm>
                <a:prstGeom prst="rect">
                  <a:avLst/>
                </a:prstGeom>
              </p:spPr>
            </p:pic>
          </p:grpSp>
          <p:sp>
            <p:nvSpPr>
              <p:cNvPr id="133" name="TextBox 132">
                <a:extLst>
                  <a:ext uri="{FF2B5EF4-FFF2-40B4-BE49-F238E27FC236}">
                    <a16:creationId xmlns:a16="http://schemas.microsoft.com/office/drawing/2014/main" id="{53FD61E4-9076-3B25-4CD9-A8CD03C99122}"/>
                  </a:ext>
                </a:extLst>
              </p:cNvPr>
              <p:cNvSpPr txBox="1"/>
              <p:nvPr/>
            </p:nvSpPr>
            <p:spPr>
              <a:xfrm>
                <a:off x="10222230" y="4721796"/>
                <a:ext cx="900281" cy="538609"/>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3500" b="1" i="0" u="none" strike="noStrike" kern="1200" cap="none" spc="0" normalizeH="0" baseline="0" noProof="0" dirty="0">
                    <a:ln>
                      <a:noFill/>
                    </a:ln>
                    <a:solidFill>
                      <a:srgbClr val="046A38"/>
                    </a:solidFill>
                    <a:effectLst/>
                    <a:uLnTx/>
                    <a:uFillTx/>
                    <a:latin typeface="Segoe UI" panose="020B0502040204020203" pitchFamily="34" charset="0"/>
                    <a:ea typeface="+mn-ea"/>
                    <a:cs typeface="Segoe UI" panose="020B0502040204020203" pitchFamily="34" charset="0"/>
                    <a:sym typeface="Arial"/>
                  </a:rPr>
                  <a:t>57%</a:t>
                </a:r>
              </a:p>
            </p:txBody>
          </p:sp>
          <p:sp>
            <p:nvSpPr>
              <p:cNvPr id="134" name="TextBox 133">
                <a:extLst>
                  <a:ext uri="{FF2B5EF4-FFF2-40B4-BE49-F238E27FC236}">
                    <a16:creationId xmlns:a16="http://schemas.microsoft.com/office/drawing/2014/main" id="{709375E3-AE12-4979-1DA3-F16EF5DE584C}"/>
                  </a:ext>
                </a:extLst>
              </p:cNvPr>
              <p:cNvSpPr txBox="1"/>
              <p:nvPr/>
            </p:nvSpPr>
            <p:spPr>
              <a:xfrm>
                <a:off x="10222231" y="5234940"/>
                <a:ext cx="1499464" cy="40011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300" b="1" i="0" u="none" strike="noStrike" kern="1200" cap="none" spc="0" normalizeH="0" baseline="0" noProof="0" dirty="0">
                    <a:ln>
                      <a:noFill/>
                    </a:ln>
                    <a:solidFill>
                      <a:srgbClr val="046A38"/>
                    </a:solidFill>
                    <a:effectLst/>
                    <a:uLnTx/>
                    <a:uFillTx/>
                    <a:latin typeface="Segoe UI" panose="020B0502040204020203" pitchFamily="34" charset="0"/>
                    <a:ea typeface="+mn-ea"/>
                    <a:cs typeface="Segoe UI" panose="020B0502040204020203" pitchFamily="34" charset="0"/>
                    <a:sym typeface="Arial"/>
                  </a:rPr>
                  <a:t>Insufficient budget / resources</a:t>
                </a:r>
              </a:p>
            </p:txBody>
          </p:sp>
        </p:grpSp>
        <p:sp>
          <p:nvSpPr>
            <p:cNvPr id="131" name="Shape 21">
              <a:extLst>
                <a:ext uri="{FF2B5EF4-FFF2-40B4-BE49-F238E27FC236}">
                  <a16:creationId xmlns:a16="http://schemas.microsoft.com/office/drawing/2014/main" id="{E9E35D9A-0085-6F93-9EDD-0D46B077E44B}"/>
                </a:ext>
              </a:extLst>
            </p:cNvPr>
            <p:cNvSpPr/>
            <p:nvPr/>
          </p:nvSpPr>
          <p:spPr>
            <a:xfrm>
              <a:off x="8870373" y="4965296"/>
              <a:ext cx="296602" cy="426254"/>
            </a:xfrm>
            <a:prstGeom prst="chevron">
              <a:avLst/>
            </a:prstGeom>
            <a:solidFill>
              <a:srgbClr val="046A38"/>
            </a:solidFill>
            <a:ln w="1270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0" cap="none" spc="0" normalizeH="0" baseline="0" noProof="0" dirty="0">
                <a:ln>
                  <a:noFill/>
                </a:ln>
                <a:solidFill>
                  <a:sysClr val="windowText" lastClr="000000"/>
                </a:solidFill>
                <a:effectLst/>
                <a:uLnTx/>
                <a:uFillTx/>
                <a:latin typeface="Segoe UI" panose="020B0502040204020203" pitchFamily="34" charset="0"/>
                <a:cs typeface="Segoe UI" panose="020B0502040204020203" pitchFamily="34" charset="0"/>
                <a:sym typeface="Arial"/>
              </a:endParaRPr>
            </a:p>
          </p:txBody>
        </p:sp>
      </p:grpSp>
      <p:sp>
        <p:nvSpPr>
          <p:cNvPr id="144" name="Rectangle 143">
            <a:extLst>
              <a:ext uri="{FF2B5EF4-FFF2-40B4-BE49-F238E27FC236}">
                <a16:creationId xmlns:a16="http://schemas.microsoft.com/office/drawing/2014/main" id="{1F62CF01-E422-E1D3-F3D3-905AD2C578F9}"/>
              </a:ext>
            </a:extLst>
          </p:cNvPr>
          <p:cNvSpPr/>
          <p:nvPr/>
        </p:nvSpPr>
        <p:spPr>
          <a:xfrm>
            <a:off x="320040" y="6033051"/>
            <a:ext cx="11548872" cy="457200"/>
          </a:xfrm>
          <a:prstGeom prst="rect">
            <a:avLst/>
          </a:prstGeom>
          <a:solidFill>
            <a:srgbClr val="046A38"/>
          </a:solidFill>
          <a:ln>
            <a:noFill/>
          </a:ln>
          <a:effectLst/>
        </p:spPr>
        <p:style>
          <a:lnRef idx="1">
            <a:schemeClr val="accent1"/>
          </a:lnRef>
          <a:fillRef idx="3">
            <a:schemeClr val="accent1"/>
          </a:fillRef>
          <a:effectRef idx="2">
            <a:schemeClr val="accent1"/>
          </a:effectRef>
          <a:fontRef idx="minor">
            <a:schemeClr val="lt1"/>
          </a:fontRef>
        </p:style>
        <p:txBody>
          <a:bodyPr lIns="36000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86BC25"/>
                </a:solidFill>
                <a:effectLst/>
                <a:uLnTx/>
                <a:uFillTx/>
                <a:latin typeface="Segoe UI" panose="020B0502040204020203" pitchFamily="34" charset="0"/>
                <a:ea typeface="+mn-ea"/>
                <a:cs typeface="Segoe UI" panose="020B0502040204020203" pitchFamily="34" charset="0"/>
                <a:sym typeface="Arial"/>
              </a:rPr>
              <a:t>WHAT IT MEANS  </a:t>
            </a:r>
            <a:r>
              <a:rPr kumimoji="0" lang="en-US" sz="1300" b="0" i="0" u="none" strike="noStrike" kern="1200" cap="none" spc="0" normalizeH="0" baseline="0" noProof="0" dirty="0">
                <a:ln>
                  <a:noFill/>
                </a:ln>
                <a:solidFill>
                  <a:srgbClr val="FFFFFF"/>
                </a:solidFill>
                <a:effectLst/>
                <a:uLnTx/>
                <a:uFillTx/>
                <a:latin typeface="Segoe UI" panose="020B0502040204020203" pitchFamily="34" charset="0"/>
                <a:ea typeface="+mn-ea"/>
                <a:cs typeface="Segoe UI" panose="020B0502040204020203" pitchFamily="34" charset="0"/>
                <a:sym typeface="Arial"/>
              </a:rPr>
              <a:t>Scaling information sharing starts with trusted data and clear legal guardrails - unlocking industry-wide participation.</a:t>
            </a:r>
          </a:p>
        </p:txBody>
      </p:sp>
      <p:sp>
        <p:nvSpPr>
          <p:cNvPr id="9" name="Plus 153">
            <a:extLst>
              <a:ext uri="{FF2B5EF4-FFF2-40B4-BE49-F238E27FC236}">
                <a16:creationId xmlns:a16="http://schemas.microsoft.com/office/drawing/2014/main" id="{9394D0B8-BA49-1592-17A0-4EFEFB307BE4}"/>
              </a:ext>
            </a:extLst>
          </p:cNvPr>
          <p:cNvSpPr/>
          <p:nvPr/>
        </p:nvSpPr>
        <p:spPr>
          <a:xfrm>
            <a:off x="3922776" y="3060979"/>
            <a:ext cx="384048" cy="384048"/>
          </a:xfrm>
          <a:prstGeom prst="mathPlus">
            <a:avLst/>
          </a:prstGeom>
          <a:solidFill>
            <a:srgbClr val="4EA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dirty="0">
              <a:ln>
                <a:noFill/>
              </a:ln>
              <a:solidFill>
                <a:srgbClr val="FFFFFF"/>
              </a:solidFill>
              <a:effectLst/>
              <a:uLnTx/>
              <a:uFillTx/>
              <a:latin typeface="Arial"/>
              <a:ea typeface="+mn-ea"/>
              <a:cs typeface="+mn-cs"/>
              <a:sym typeface="Arial"/>
            </a:endParaRPr>
          </a:p>
        </p:txBody>
      </p:sp>
      <p:grpSp>
        <p:nvGrpSpPr>
          <p:cNvPr id="11" name="Group 10">
            <a:extLst>
              <a:ext uri="{FF2B5EF4-FFF2-40B4-BE49-F238E27FC236}">
                <a16:creationId xmlns:a16="http://schemas.microsoft.com/office/drawing/2014/main" id="{115C250D-E89E-E8AE-F723-1275AAFAF2A3}"/>
              </a:ext>
            </a:extLst>
          </p:cNvPr>
          <p:cNvGrpSpPr/>
          <p:nvPr/>
        </p:nvGrpSpPr>
        <p:grpSpPr>
          <a:xfrm>
            <a:off x="249638" y="464705"/>
            <a:ext cx="11521440" cy="585793"/>
            <a:chOff x="249638" y="464705"/>
            <a:chExt cx="11521440" cy="585793"/>
          </a:xfrm>
        </p:grpSpPr>
        <p:sp>
          <p:nvSpPr>
            <p:cNvPr id="12" name="Text 22">
              <a:extLst>
                <a:ext uri="{FF2B5EF4-FFF2-40B4-BE49-F238E27FC236}">
                  <a16:creationId xmlns:a16="http://schemas.microsoft.com/office/drawing/2014/main" id="{1EBBAADF-A791-62FE-9B96-7123B8BF7C3D}"/>
                </a:ext>
              </a:extLst>
            </p:cNvPr>
            <p:cNvSpPr/>
            <p:nvPr/>
          </p:nvSpPr>
          <p:spPr>
            <a:xfrm>
              <a:off x="249638" y="464705"/>
              <a:ext cx="7847726" cy="232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0" cap="none" spc="80" normalizeH="0" baseline="0" noProof="0" dirty="0">
                  <a:ln>
                    <a:noFill/>
                  </a:ln>
                  <a:solidFill>
                    <a:srgbClr val="4EA72E"/>
                  </a:solidFill>
                  <a:effectLst/>
                  <a:uLnTx/>
                  <a:uFillTx/>
                  <a:latin typeface="Segoe UI" panose="020B0502040204020203" pitchFamily="34" charset="0"/>
                  <a:ea typeface="Arial" pitchFamily="34" charset="-122"/>
                  <a:cs typeface="Segoe UI" panose="020B0502040204020203" pitchFamily="34" charset="0"/>
                  <a:sym typeface="Arial"/>
                </a:rPr>
                <a:t>ALIGNMENT ON THE PROBLEM</a:t>
              </a:r>
            </a:p>
          </p:txBody>
        </p:sp>
        <p:sp>
          <p:nvSpPr>
            <p:cNvPr id="14" name="TextBox 13">
              <a:extLst>
                <a:ext uri="{FF2B5EF4-FFF2-40B4-BE49-F238E27FC236}">
                  <a16:creationId xmlns:a16="http://schemas.microsoft.com/office/drawing/2014/main" id="{2EED224C-78B2-38CA-127C-07BD9081FF71}"/>
                </a:ext>
              </a:extLst>
            </p:cNvPr>
            <p:cNvSpPr txBox="1"/>
            <p:nvPr/>
          </p:nvSpPr>
          <p:spPr>
            <a:xfrm>
              <a:off x="249638" y="711944"/>
              <a:ext cx="11521440" cy="33855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 typeface="Arial"/>
                <a:buNone/>
                <a:tabLst/>
                <a:defRPr/>
              </a:pPr>
              <a:r>
                <a:rPr kumimoji="0" lang="en-US" sz="2200" b="1" i="0" u="none" strike="noStrike" kern="1200" cap="none" spc="0" normalizeH="0" baseline="0" noProof="0" dirty="0">
                  <a:ln>
                    <a:noFill/>
                  </a:ln>
                  <a:solidFill>
                    <a:srgbClr val="111111"/>
                  </a:solidFill>
                  <a:effectLst/>
                  <a:uLnTx/>
                  <a:uFillTx/>
                  <a:latin typeface="Segoe UI" panose="020B0502040204020203" pitchFamily="34" charset="0"/>
                  <a:cs typeface="Segoe UI" panose="020B0502040204020203" pitchFamily="34" charset="0"/>
                  <a:sym typeface="Arial"/>
                </a:rPr>
                <a:t>The top barriers to information sharing are structural and external</a:t>
              </a:r>
            </a:p>
          </p:txBody>
        </p:sp>
      </p:grpSp>
      <p:sp>
        <p:nvSpPr>
          <p:cNvPr id="26" name="TextBox 25">
            <a:extLst>
              <a:ext uri="{FF2B5EF4-FFF2-40B4-BE49-F238E27FC236}">
                <a16:creationId xmlns:a16="http://schemas.microsoft.com/office/drawing/2014/main" id="{299783E2-408A-3611-1CCF-8418025AA067}"/>
              </a:ext>
            </a:extLst>
          </p:cNvPr>
          <p:cNvSpPr txBox="1"/>
          <p:nvPr/>
        </p:nvSpPr>
        <p:spPr>
          <a:xfrm>
            <a:off x="320040" y="1143000"/>
            <a:ext cx="11521440" cy="430887"/>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 typeface="Arial"/>
              <a:buNone/>
              <a:tabLst/>
              <a:defRPr/>
            </a:pPr>
            <a:r>
              <a:rPr kumimoji="0" lang="en-US" sz="1400" b="0" i="0" u="none" strike="noStrike" kern="1200" cap="none" spc="0" normalizeH="0" baseline="0" noProof="0" dirty="0">
                <a:ln>
                  <a:noFill/>
                </a:ln>
                <a:solidFill>
                  <a:srgbClr val="404040"/>
                </a:solidFill>
                <a:effectLst/>
                <a:uLnTx/>
                <a:uFillTx/>
                <a:latin typeface="Segoe UI" panose="020B0502040204020203" pitchFamily="34" charset="0"/>
                <a:cs typeface="Segoe UI" panose="020B0502040204020203" pitchFamily="34" charset="0"/>
                <a:sym typeface="Arial"/>
              </a:rPr>
              <a:t>Respondents overwhelmingly point to </a:t>
            </a:r>
            <a:r>
              <a:rPr kumimoji="0" lang="en-US" sz="1400" b="1" i="0" u="none" strike="noStrike" kern="1200" cap="none" spc="0" normalizeH="0" baseline="0" noProof="0" dirty="0">
                <a:ln>
                  <a:noFill/>
                </a:ln>
                <a:solidFill>
                  <a:srgbClr val="404040"/>
                </a:solidFill>
                <a:effectLst/>
                <a:uLnTx/>
                <a:uFillTx/>
                <a:latin typeface="Segoe UI" panose="020B0502040204020203" pitchFamily="34" charset="0"/>
                <a:cs typeface="Segoe UI" panose="020B0502040204020203" pitchFamily="34" charset="0"/>
                <a:sym typeface="Arial"/>
              </a:rPr>
              <a:t>ecosystem barriers rather than internal resistance</a:t>
            </a:r>
            <a:r>
              <a:rPr kumimoji="0" lang="en-US" sz="1400" b="0" i="0" u="none" strike="noStrike" kern="1200" cap="none" spc="0" normalizeH="0" baseline="0" noProof="0" dirty="0">
                <a:ln>
                  <a:noFill/>
                </a:ln>
                <a:solidFill>
                  <a:srgbClr val="404040"/>
                </a:solidFill>
                <a:effectLst/>
                <a:uLnTx/>
                <a:uFillTx/>
                <a:latin typeface="Segoe UI" panose="020B0502040204020203" pitchFamily="34" charset="0"/>
                <a:cs typeface="Segoe UI" panose="020B0502040204020203" pitchFamily="34" charset="0"/>
                <a:sym typeface="Arial"/>
              </a:rPr>
              <a:t>. Data quality, legal constraints and participation gaps are the primary obstacles to scaling information sharing.</a:t>
            </a:r>
          </a:p>
        </p:txBody>
      </p:sp>
      <p:sp>
        <p:nvSpPr>
          <p:cNvPr id="6" name="Rectangle 5">
            <a:extLst>
              <a:ext uri="{FF2B5EF4-FFF2-40B4-BE49-F238E27FC236}">
                <a16:creationId xmlns:a16="http://schemas.microsoft.com/office/drawing/2014/main" id="{31CD8574-40F9-921F-8B34-955D9E3DA0C5}"/>
              </a:ext>
            </a:extLst>
          </p:cNvPr>
          <p:cNvSpPr/>
          <p:nvPr/>
        </p:nvSpPr>
        <p:spPr>
          <a:xfrm>
            <a:off x="208221" y="6680947"/>
            <a:ext cx="2769649" cy="11694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marL="0" marR="0" lvl="0" indent="0" algn="just" defTabSz="914400" rtl="0" eaLnBrk="1" fontAlgn="auto" latinLnBrk="0" hangingPunct="1">
              <a:lnSpc>
                <a:spcPct val="100000"/>
              </a:lnSpc>
              <a:spcBef>
                <a:spcPts val="0"/>
              </a:spcBef>
              <a:spcAft>
                <a:spcPts val="0"/>
              </a:spcAft>
              <a:buClrTx/>
              <a:buSzTx/>
              <a:buFont typeface="Arial"/>
              <a:buNone/>
              <a:tabLst/>
              <a:defRPr/>
            </a:pPr>
            <a:r>
              <a:rPr kumimoji="0" lang="en-US" sz="800" b="0" i="0" u="none" strike="noStrike" kern="1200" cap="none" spc="0" normalizeH="0" baseline="0" noProof="0" dirty="0">
                <a:ln>
                  <a:noFill/>
                </a:ln>
                <a:solidFill>
                  <a:srgbClr val="000000">
                    <a:lumMod val="75000"/>
                    <a:lumOff val="25000"/>
                  </a:srgbClr>
                </a:solidFill>
                <a:effectLst/>
                <a:uLnTx/>
                <a:uFillTx/>
                <a:latin typeface="Segoe UI" panose="020B0502040204020203" pitchFamily="34" charset="0"/>
                <a:ea typeface="Open Sans" panose="020B0606030504020204" pitchFamily="34" charset="0"/>
                <a:cs typeface="Segoe UI" panose="020B0502040204020203" pitchFamily="34" charset="0"/>
                <a:sym typeface="Arial"/>
              </a:rPr>
              <a:t>For detailed data please refer to </a:t>
            </a:r>
            <a:r>
              <a:rPr kumimoji="0" lang="en-US" sz="800" b="0" i="0" u="none" strike="noStrike" kern="1200" cap="none" spc="0" normalizeH="0" baseline="0" noProof="0" dirty="0">
                <a:ln>
                  <a:noFill/>
                </a:ln>
                <a:solidFill>
                  <a:srgbClr val="000000">
                    <a:lumMod val="75000"/>
                    <a:lumOff val="25000"/>
                  </a:srgbClr>
                </a:solidFill>
                <a:effectLst/>
                <a:uLnTx/>
                <a:uFillTx/>
                <a:latin typeface="Segoe UI" panose="020B0502040204020203" pitchFamily="34" charset="0"/>
                <a:ea typeface="Open Sans" panose="020B0606030504020204" pitchFamily="34" charset="0"/>
                <a:cs typeface="Segoe UI" panose="020B0502040204020203" pitchFamily="34" charset="0"/>
                <a:sym typeface="Arial"/>
                <a:hlinkClick r:id="" action="ppaction://noaction"/>
              </a:rPr>
              <a:t>Appendix – C </a:t>
            </a:r>
            <a:endParaRPr kumimoji="0" lang="en-US" sz="800" b="0" i="0" u="none" strike="noStrike" kern="1200" cap="none" spc="0" normalizeH="0" baseline="0" noProof="0" dirty="0">
              <a:ln>
                <a:noFill/>
              </a:ln>
              <a:solidFill>
                <a:srgbClr val="000000">
                  <a:lumMod val="75000"/>
                  <a:lumOff val="25000"/>
                </a:srgbClr>
              </a:solidFill>
              <a:effectLst/>
              <a:uLnTx/>
              <a:uFillTx/>
              <a:latin typeface="Segoe UI" panose="020B0502040204020203" pitchFamily="34" charset="0"/>
              <a:ea typeface="Open Sans" panose="020B0606030504020204" pitchFamily="34" charset="0"/>
              <a:cs typeface="Segoe UI" panose="020B0502040204020203" pitchFamily="34" charset="0"/>
              <a:sym typeface="Arial"/>
            </a:endParaRPr>
          </a:p>
        </p:txBody>
      </p:sp>
    </p:spTree>
    <p:extLst>
      <p:ext uri="{BB962C8B-B14F-4D97-AF65-F5344CB8AC3E}">
        <p14:creationId xmlns:p14="http://schemas.microsoft.com/office/powerpoint/2010/main" val="27536239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54D6657-F529-81CC-BAD4-BDBAC82B9DE0}"/>
            </a:ext>
          </a:extLst>
        </p:cNvPr>
        <p:cNvGrpSpPr/>
        <p:nvPr/>
      </p:nvGrpSpPr>
      <p:grpSpPr>
        <a:xfrm>
          <a:off x="0" y="0"/>
          <a:ext cx="0" cy="0"/>
          <a:chOff x="0" y="0"/>
          <a:chExt cx="0" cy="0"/>
        </a:xfrm>
      </p:grpSpPr>
      <p:sp>
        <p:nvSpPr>
          <p:cNvPr id="58" name="Shape 3">
            <a:extLst>
              <a:ext uri="{FF2B5EF4-FFF2-40B4-BE49-F238E27FC236}">
                <a16:creationId xmlns:a16="http://schemas.microsoft.com/office/drawing/2014/main" id="{D1932E1D-2BA4-C4BC-6EE0-CF9D49DD1DC9}"/>
              </a:ext>
            </a:extLst>
          </p:cNvPr>
          <p:cNvSpPr/>
          <p:nvPr/>
        </p:nvSpPr>
        <p:spPr>
          <a:xfrm>
            <a:off x="-904" y="346551"/>
            <a:ext cx="12189183" cy="6511449"/>
          </a:xfrm>
          <a:prstGeom prst="rect">
            <a:avLst/>
          </a:prstGeom>
          <a:solidFill>
            <a:schemeClr val="accent2"/>
          </a:solidFill>
          <a:ln w="10160">
            <a:solidFill>
              <a:schemeClr val="accent2"/>
            </a:solidFill>
            <a:prstDash val="solid"/>
          </a:ln>
          <a:effectLst>
            <a:outerShdw blurRad="15240" dist="6350" dir="27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CA" sz="1400" b="0" i="0" u="none" strike="noStrike" kern="0" cap="none" spc="0" normalizeH="0" baseline="0" noProof="0" dirty="0">
              <a:ln>
                <a:noFill/>
              </a:ln>
              <a:solidFill>
                <a:srgbClr val="000000"/>
              </a:solidFill>
              <a:effectLst/>
              <a:uLnTx/>
              <a:uFillTx/>
              <a:latin typeface="Segoe UI" panose="020B0502040204020203" pitchFamily="34" charset="0"/>
              <a:cs typeface="Segoe UI" panose="020B0502040204020203" pitchFamily="34" charset="0"/>
              <a:sym typeface="Arial"/>
            </a:endParaRPr>
          </a:p>
        </p:txBody>
      </p:sp>
      <p:sp>
        <p:nvSpPr>
          <p:cNvPr id="153" name="Rectangle 152">
            <a:extLst>
              <a:ext uri="{FF2B5EF4-FFF2-40B4-BE49-F238E27FC236}">
                <a16:creationId xmlns:a16="http://schemas.microsoft.com/office/drawing/2014/main" id="{E3064FC7-5780-574B-B773-6D07C437BBF5}"/>
              </a:ext>
            </a:extLst>
          </p:cNvPr>
          <p:cNvSpPr/>
          <p:nvPr/>
        </p:nvSpPr>
        <p:spPr>
          <a:xfrm>
            <a:off x="-904" y="2472"/>
            <a:ext cx="12192000" cy="353257"/>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600"/>
              </a:spcBef>
              <a:spcAft>
                <a:spcPts val="0"/>
              </a:spcAft>
              <a:buClrTx/>
              <a:buSzPct val="100000"/>
              <a:buFont typeface="Arial"/>
              <a:buNone/>
              <a:tabLst/>
              <a:defRPr/>
            </a:pPr>
            <a:r>
              <a:rPr kumimoji="0" lang="en-US" sz="1200" b="1" i="0" u="none" strike="noStrike" kern="1200" cap="none" spc="0" normalizeH="0" baseline="0" noProof="0" dirty="0">
                <a:ln>
                  <a:noFill/>
                </a:ln>
                <a:solidFill>
                  <a:srgbClr val="FFFFFF"/>
                </a:solidFill>
                <a:effectLst/>
                <a:uLnTx/>
                <a:uFillTx/>
                <a:latin typeface="Segoe UI" panose="020B0502040204020203" pitchFamily="34" charset="0"/>
                <a:ea typeface="Open Sans" panose="020B0606030504020204" pitchFamily="34" charset="0"/>
                <a:cs typeface="Segoe UI" panose="020B0502040204020203" pitchFamily="34" charset="0"/>
                <a:sym typeface="Arial"/>
              </a:rPr>
              <a:t>INFORMATION SHARING</a:t>
            </a:r>
          </a:p>
        </p:txBody>
      </p:sp>
      <p:sp>
        <p:nvSpPr>
          <p:cNvPr id="189" name="TextBox 188">
            <a:extLst>
              <a:ext uri="{FF2B5EF4-FFF2-40B4-BE49-F238E27FC236}">
                <a16:creationId xmlns:a16="http://schemas.microsoft.com/office/drawing/2014/main" id="{50FA3F95-19EC-0C3E-260B-D1807605DF8C}"/>
              </a:ext>
            </a:extLst>
          </p:cNvPr>
          <p:cNvSpPr txBox="1"/>
          <p:nvPr/>
        </p:nvSpPr>
        <p:spPr>
          <a:xfrm>
            <a:off x="272041" y="1106115"/>
            <a:ext cx="11706597" cy="73866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FFFFFF"/>
                </a:solidFill>
                <a:effectLst/>
                <a:uLnTx/>
                <a:uFillTx/>
                <a:latin typeface="Segoe UI" panose="020B0502040204020203" pitchFamily="34" charset="0"/>
                <a:cs typeface="Segoe UI" panose="020B0502040204020203" pitchFamily="34" charset="0"/>
                <a:sym typeface="Arial"/>
              </a:rPr>
              <a:t>The findings are consistent with the barriers identified elsewhere in the survey. Across both banking and insurance respondents, </a:t>
            </a:r>
            <a:r>
              <a:rPr kumimoji="0" lang="en-US" sz="1400" b="1" i="0" u="none" strike="noStrike" kern="0" cap="none" spc="0" normalizeH="0" baseline="0" noProof="0" dirty="0">
                <a:ln>
                  <a:noFill/>
                </a:ln>
                <a:solidFill>
                  <a:srgbClr val="FFFFFF"/>
                </a:solidFill>
                <a:effectLst/>
                <a:uLnTx/>
                <a:uFillTx/>
                <a:latin typeface="Segoe UI" panose="020B0502040204020203" pitchFamily="34" charset="0"/>
                <a:cs typeface="Segoe UI" panose="020B0502040204020203" pitchFamily="34" charset="0"/>
                <a:sym typeface="Arial"/>
              </a:rPr>
              <a:t>a centralized fraud information-sharing utility</a:t>
            </a:r>
            <a:r>
              <a:rPr kumimoji="0" lang="en-US" sz="1400" b="0" i="0" u="none" strike="noStrike" kern="0" cap="none" spc="0" normalizeH="0" baseline="0" noProof="0" dirty="0">
                <a:ln>
                  <a:noFill/>
                </a:ln>
                <a:solidFill>
                  <a:srgbClr val="FFFFFF"/>
                </a:solidFill>
                <a:effectLst/>
                <a:uLnTx/>
                <a:uFillTx/>
                <a:latin typeface="Segoe UI" panose="020B0502040204020203" pitchFamily="34" charset="0"/>
                <a:cs typeface="Segoe UI" panose="020B0502040204020203" pitchFamily="34" charset="0"/>
                <a:sym typeface="Arial"/>
              </a:rPr>
              <a:t> emerged as the most impactful government intervention, </a:t>
            </a:r>
            <a:r>
              <a:rPr kumimoji="0" lang="en-US" sz="1400" b="1" i="0" u="none" strike="noStrike" kern="0" cap="none" spc="0" normalizeH="0" baseline="0" noProof="0" dirty="0">
                <a:ln>
                  <a:noFill/>
                </a:ln>
                <a:solidFill>
                  <a:srgbClr val="FFFFFF"/>
                </a:solidFill>
                <a:effectLst/>
                <a:uLnTx/>
                <a:uFillTx/>
                <a:latin typeface="Segoe UI" panose="020B0502040204020203" pitchFamily="34" charset="0"/>
                <a:cs typeface="Segoe UI" panose="020B0502040204020203" pitchFamily="34" charset="0"/>
                <a:sym typeface="Arial"/>
              </a:rPr>
              <a:t>selected by 35% of respondents</a:t>
            </a:r>
            <a:r>
              <a:rPr kumimoji="0" lang="en-US" sz="1400" b="0" i="0" u="none" strike="noStrike" kern="0" cap="none" spc="0" normalizeH="0" baseline="0" noProof="0" dirty="0">
                <a:ln>
                  <a:noFill/>
                </a:ln>
                <a:solidFill>
                  <a:srgbClr val="FFFFFF"/>
                </a:solidFill>
                <a:effectLst/>
                <a:uLnTx/>
                <a:uFillTx/>
                <a:latin typeface="Segoe UI" panose="020B0502040204020203" pitchFamily="34" charset="0"/>
                <a:cs typeface="Segoe UI" panose="020B0502040204020203" pitchFamily="34" charset="0"/>
                <a:sym typeface="Arial"/>
              </a:rPr>
              <a:t>, while clearer legal and regulatory frameworks ranked second. </a:t>
            </a:r>
            <a:endParaRPr kumimoji="0" lang="en-CA" sz="1400" b="0" i="0" u="none" strike="noStrike" kern="0" cap="none" spc="0" normalizeH="0" baseline="0" noProof="0" dirty="0">
              <a:ln>
                <a:noFill/>
              </a:ln>
              <a:solidFill>
                <a:srgbClr val="FFFFFF"/>
              </a:solidFill>
              <a:effectLst/>
              <a:uLnTx/>
              <a:uFillTx/>
              <a:latin typeface="Segoe UI" panose="020B0502040204020203" pitchFamily="34" charset="0"/>
              <a:cs typeface="Segoe UI" panose="020B0502040204020203" pitchFamily="34" charset="0"/>
              <a:sym typeface="Arial"/>
            </a:endParaRPr>
          </a:p>
        </p:txBody>
      </p:sp>
      <p:grpSp>
        <p:nvGrpSpPr>
          <p:cNvPr id="56" name="Group 55">
            <a:extLst>
              <a:ext uri="{FF2B5EF4-FFF2-40B4-BE49-F238E27FC236}">
                <a16:creationId xmlns:a16="http://schemas.microsoft.com/office/drawing/2014/main" id="{99F859D1-3BC3-FA24-1FB1-A9A0F781E932}"/>
              </a:ext>
            </a:extLst>
          </p:cNvPr>
          <p:cNvGrpSpPr/>
          <p:nvPr/>
        </p:nvGrpSpPr>
        <p:grpSpPr>
          <a:xfrm>
            <a:off x="6126433" y="2110961"/>
            <a:ext cx="6061846" cy="3798761"/>
            <a:chOff x="6071239" y="2361336"/>
            <a:chExt cx="5668102" cy="3552014"/>
          </a:xfrm>
        </p:grpSpPr>
        <p:sp>
          <p:nvSpPr>
            <p:cNvPr id="11" name="Arc 10">
              <a:extLst>
                <a:ext uri="{FF2B5EF4-FFF2-40B4-BE49-F238E27FC236}">
                  <a16:creationId xmlns:a16="http://schemas.microsoft.com/office/drawing/2014/main" id="{F8CBA258-FE82-7DB5-6974-F8B9CCB20851}"/>
                </a:ext>
              </a:extLst>
            </p:cNvPr>
            <p:cNvSpPr/>
            <p:nvPr>
              <p:custDataLst>
                <p:tags r:id="rId1"/>
              </p:custDataLst>
            </p:nvPr>
          </p:nvSpPr>
          <p:spPr>
            <a:xfrm>
              <a:off x="7181095" y="2361336"/>
              <a:ext cx="3079127" cy="3082363"/>
            </a:xfrm>
            <a:prstGeom prst="arc">
              <a:avLst>
                <a:gd name="adj1" fmla="val 16473733"/>
                <a:gd name="adj2" fmla="val 15947684"/>
              </a:avLst>
            </a:prstGeom>
            <a:noFill/>
            <a:ln w="12700" cap="flat" cmpd="sng" algn="ctr">
              <a:solidFill>
                <a:srgbClr val="B4B4B4"/>
              </a:solidFill>
              <a:prstDash val="sysDash"/>
              <a:miter lim="800000"/>
              <a:headEnd type="arrow"/>
              <a:tailEnd type="arrow"/>
            </a:ln>
            <a:effectLst/>
          </p:spPr>
          <p:txBody>
            <a:bodyPr lIns="121917" tIns="60958" rIns="121917" bIns="6095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5C5C5C"/>
                </a:solidFill>
                <a:effectLst/>
                <a:uLnTx/>
                <a:uFillTx/>
                <a:latin typeface="Segoe UI" panose="020B0502040204020203" pitchFamily="34" charset="0"/>
                <a:ea typeface="+mn-ea"/>
                <a:cs typeface="Segoe UI" panose="020B0502040204020203" pitchFamily="34" charset="0"/>
                <a:sym typeface="Arial"/>
              </a:endParaRPr>
            </a:p>
          </p:txBody>
        </p:sp>
        <p:sp>
          <p:nvSpPr>
            <p:cNvPr id="17" name="TextBox 16">
              <a:extLst>
                <a:ext uri="{FF2B5EF4-FFF2-40B4-BE49-F238E27FC236}">
                  <a16:creationId xmlns:a16="http://schemas.microsoft.com/office/drawing/2014/main" id="{72C8299C-9AD0-68D7-CC6F-4F427775386F}"/>
                </a:ext>
              </a:extLst>
            </p:cNvPr>
            <p:cNvSpPr txBox="1"/>
            <p:nvPr/>
          </p:nvSpPr>
          <p:spPr>
            <a:xfrm>
              <a:off x="6144747" y="4741773"/>
              <a:ext cx="1800000" cy="474845"/>
            </a:xfrm>
            <a:prstGeom prst="rect">
              <a:avLst/>
            </a:prstGeom>
            <a:solidFill>
              <a:schemeClr val="accent2"/>
            </a:solidFill>
          </p:spPr>
          <p:txBody>
            <a:bodyPr wrap="square">
              <a:sp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00" b="0" i="1" u="none" strike="noStrike" kern="0" cap="none" spc="0" normalizeH="0" baseline="0" noProof="0" dirty="0">
                  <a:ln>
                    <a:noFill/>
                  </a:ln>
                  <a:solidFill>
                    <a:srgbClr val="FFFFFF"/>
                  </a:solidFill>
                  <a:effectLst/>
                  <a:uLnTx/>
                  <a:uFillTx/>
                  <a:latin typeface="Segoe UI" panose="020B0502040204020203" pitchFamily="34" charset="0"/>
                  <a:cs typeface="Segoe UI" panose="020B0502040204020203" pitchFamily="34" charset="0"/>
                  <a:sym typeface="Arial"/>
                </a:rPr>
                <a:t>Can share intelligence on known bad actors to identify and apprehend fraudsters.</a:t>
              </a:r>
            </a:p>
          </p:txBody>
        </p:sp>
        <p:sp>
          <p:nvSpPr>
            <p:cNvPr id="18" name="TextBox 17">
              <a:extLst>
                <a:ext uri="{FF2B5EF4-FFF2-40B4-BE49-F238E27FC236}">
                  <a16:creationId xmlns:a16="http://schemas.microsoft.com/office/drawing/2014/main" id="{0A4EC688-843D-82D6-8414-549356919849}"/>
                </a:ext>
              </a:extLst>
            </p:cNvPr>
            <p:cNvSpPr txBox="1"/>
            <p:nvPr/>
          </p:nvSpPr>
          <p:spPr>
            <a:xfrm>
              <a:off x="6071239" y="2896780"/>
              <a:ext cx="1800000" cy="474845"/>
            </a:xfrm>
            <a:prstGeom prst="rect">
              <a:avLst/>
            </a:prstGeom>
            <a:solidFill>
              <a:schemeClr val="accent2"/>
            </a:solidFill>
          </p:spPr>
          <p:txBody>
            <a:bodyPr wrap="square">
              <a:sp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00" b="0" i="1" u="none" strike="noStrike" kern="0" cap="none" spc="0" normalizeH="0" baseline="0" noProof="0" dirty="0">
                  <a:ln>
                    <a:noFill/>
                  </a:ln>
                  <a:solidFill>
                    <a:srgbClr val="FFFFFF"/>
                  </a:solidFill>
                  <a:effectLst/>
                  <a:uLnTx/>
                  <a:uFillTx/>
                  <a:latin typeface="Segoe UI" panose="020B0502040204020203" pitchFamily="34" charset="0"/>
                  <a:cs typeface="Segoe UI" panose="020B0502040204020203" pitchFamily="34" charset="0"/>
                  <a:sym typeface="Arial"/>
                </a:rPr>
                <a:t>Can share real-time transaction data &amp; fraud alerts to help identify potentially fraudulent transactions.</a:t>
              </a:r>
            </a:p>
          </p:txBody>
        </p:sp>
        <p:sp>
          <p:nvSpPr>
            <p:cNvPr id="12" name="Arc 11">
              <a:extLst>
                <a:ext uri="{FF2B5EF4-FFF2-40B4-BE49-F238E27FC236}">
                  <a16:creationId xmlns:a16="http://schemas.microsoft.com/office/drawing/2014/main" id="{011014BD-518F-C0E2-5A17-72F92974DEBB}"/>
                </a:ext>
              </a:extLst>
            </p:cNvPr>
            <p:cNvSpPr/>
            <p:nvPr>
              <p:custDataLst>
                <p:tags r:id="rId2"/>
              </p:custDataLst>
            </p:nvPr>
          </p:nvSpPr>
          <p:spPr>
            <a:xfrm>
              <a:off x="7445286" y="2627721"/>
              <a:ext cx="2550745" cy="2553426"/>
            </a:xfrm>
            <a:prstGeom prst="arc">
              <a:avLst>
                <a:gd name="adj1" fmla="val 18638933"/>
                <a:gd name="adj2" fmla="val 18630248"/>
              </a:avLst>
            </a:prstGeom>
            <a:noFill/>
            <a:ln w="12700" cap="flat" cmpd="sng" algn="ctr">
              <a:solidFill>
                <a:schemeClr val="accent1"/>
              </a:solidFill>
              <a:prstDash val="sysDash"/>
              <a:miter lim="800000"/>
              <a:headEnd type="none"/>
              <a:tailEnd type="none"/>
            </a:ln>
            <a:effectLst/>
          </p:spPr>
          <p:txBody>
            <a:bodyPr lIns="121917" tIns="60958" rIns="121917" bIns="6095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5C5C5C"/>
                </a:solidFill>
                <a:effectLst/>
                <a:uLnTx/>
                <a:uFillTx/>
                <a:latin typeface="Segoe UI" panose="020B0502040204020203" pitchFamily="34" charset="0"/>
                <a:ea typeface="+mn-ea"/>
                <a:cs typeface="Segoe UI" panose="020B0502040204020203" pitchFamily="34" charset="0"/>
                <a:sym typeface="Arial"/>
              </a:endParaRPr>
            </a:p>
          </p:txBody>
        </p:sp>
        <p:sp>
          <p:nvSpPr>
            <p:cNvPr id="24" name="Rectangle: Rounded Corners 23">
              <a:extLst>
                <a:ext uri="{FF2B5EF4-FFF2-40B4-BE49-F238E27FC236}">
                  <a16:creationId xmlns:a16="http://schemas.microsoft.com/office/drawing/2014/main" id="{FE538A2B-B535-8C7C-F39A-014C9656D20B}"/>
                </a:ext>
              </a:extLst>
            </p:cNvPr>
            <p:cNvSpPr/>
            <p:nvPr/>
          </p:nvSpPr>
          <p:spPr bwMode="gray">
            <a:xfrm>
              <a:off x="9474167" y="2464770"/>
              <a:ext cx="1362272" cy="286794"/>
            </a:xfrm>
            <a:prstGeom prst="roundRect">
              <a:avLst>
                <a:gd name="adj" fmla="val 50000"/>
              </a:avLst>
            </a:prstGeom>
            <a:solidFill>
              <a:schemeClr val="accent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100" b="1" i="0" u="none" strike="noStrike" kern="0" cap="none" spc="0" normalizeH="0" baseline="0" noProof="0" dirty="0">
                  <a:ln>
                    <a:noFill/>
                  </a:ln>
                  <a:solidFill>
                    <a:srgbClr val="FFFFFF"/>
                  </a:solidFill>
                  <a:effectLst/>
                  <a:uLnTx/>
                  <a:uFillTx/>
                  <a:latin typeface="Segoe UI" panose="020B0502040204020203" pitchFamily="34" charset="0"/>
                  <a:cs typeface="Segoe UI" panose="020B0502040204020203" pitchFamily="34" charset="0"/>
                  <a:sym typeface="Arial"/>
                </a:rPr>
                <a:t>Telecom</a:t>
              </a:r>
            </a:p>
          </p:txBody>
        </p:sp>
        <p:sp>
          <p:nvSpPr>
            <p:cNvPr id="25" name="Rectangle: Rounded Corners 24">
              <a:extLst>
                <a:ext uri="{FF2B5EF4-FFF2-40B4-BE49-F238E27FC236}">
                  <a16:creationId xmlns:a16="http://schemas.microsoft.com/office/drawing/2014/main" id="{68D3E7F4-D186-1877-655C-65CFA6467DDA}"/>
                </a:ext>
              </a:extLst>
            </p:cNvPr>
            <p:cNvSpPr/>
            <p:nvPr/>
          </p:nvSpPr>
          <p:spPr bwMode="gray">
            <a:xfrm>
              <a:off x="6943134" y="2564160"/>
              <a:ext cx="1362272" cy="286794"/>
            </a:xfrm>
            <a:prstGeom prst="roundRect">
              <a:avLst>
                <a:gd name="adj" fmla="val 50000"/>
              </a:avLst>
            </a:prstGeom>
            <a:solidFill>
              <a:schemeClr val="accent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100" b="1" i="0" u="none" strike="noStrike" kern="0" cap="none" spc="0" normalizeH="0" baseline="0" noProof="0" dirty="0">
                  <a:ln>
                    <a:noFill/>
                  </a:ln>
                  <a:solidFill>
                    <a:srgbClr val="FFFFFF"/>
                  </a:solidFill>
                  <a:effectLst/>
                  <a:uLnTx/>
                  <a:uFillTx/>
                  <a:latin typeface="Segoe UI" panose="020B0502040204020203" pitchFamily="34" charset="0"/>
                  <a:cs typeface="Segoe UI" panose="020B0502040204020203" pitchFamily="34" charset="0"/>
                  <a:sym typeface="Arial"/>
                </a:rPr>
                <a:t>Financial Institution</a:t>
              </a:r>
            </a:p>
          </p:txBody>
        </p:sp>
        <p:sp>
          <p:nvSpPr>
            <p:cNvPr id="22" name="Rectangle: Rounded Corners 21">
              <a:extLst>
                <a:ext uri="{FF2B5EF4-FFF2-40B4-BE49-F238E27FC236}">
                  <a16:creationId xmlns:a16="http://schemas.microsoft.com/office/drawing/2014/main" id="{1337CDE0-D60C-AB86-D4B8-2649CBABC853}"/>
                </a:ext>
              </a:extLst>
            </p:cNvPr>
            <p:cNvSpPr/>
            <p:nvPr/>
          </p:nvSpPr>
          <p:spPr bwMode="gray">
            <a:xfrm>
              <a:off x="6382357" y="4445591"/>
              <a:ext cx="1362272" cy="286794"/>
            </a:xfrm>
            <a:prstGeom prst="roundRect">
              <a:avLst>
                <a:gd name="adj" fmla="val 50000"/>
              </a:avLst>
            </a:prstGeom>
            <a:solidFill>
              <a:schemeClr val="accent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100" b="1" i="0" u="none" strike="noStrike" kern="0" cap="none" spc="0" normalizeH="0" baseline="0" noProof="0" dirty="0">
                  <a:ln>
                    <a:noFill/>
                  </a:ln>
                  <a:solidFill>
                    <a:srgbClr val="FFFFFF"/>
                  </a:solidFill>
                  <a:effectLst/>
                  <a:uLnTx/>
                  <a:uFillTx/>
                  <a:latin typeface="Segoe UI" panose="020B0502040204020203" pitchFamily="34" charset="0"/>
                  <a:cs typeface="Segoe UI" panose="020B0502040204020203" pitchFamily="34" charset="0"/>
                  <a:sym typeface="Arial"/>
                </a:rPr>
                <a:t>Public Sector</a:t>
              </a:r>
            </a:p>
          </p:txBody>
        </p:sp>
        <p:sp>
          <p:nvSpPr>
            <p:cNvPr id="23" name="Rectangle: Rounded Corners 22">
              <a:extLst>
                <a:ext uri="{FF2B5EF4-FFF2-40B4-BE49-F238E27FC236}">
                  <a16:creationId xmlns:a16="http://schemas.microsoft.com/office/drawing/2014/main" id="{11F1CE87-8475-8B6B-1862-6E944D978634}"/>
                </a:ext>
              </a:extLst>
            </p:cNvPr>
            <p:cNvSpPr/>
            <p:nvPr/>
          </p:nvSpPr>
          <p:spPr bwMode="gray">
            <a:xfrm>
              <a:off x="8311914" y="5142323"/>
              <a:ext cx="1362272" cy="286795"/>
            </a:xfrm>
            <a:prstGeom prst="roundRect">
              <a:avLst>
                <a:gd name="adj" fmla="val 50000"/>
              </a:avLst>
            </a:prstGeom>
            <a:solidFill>
              <a:schemeClr val="accent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100" b="1" i="0" u="none" strike="noStrike" kern="0" cap="none" spc="0" normalizeH="0" baseline="0" noProof="0" dirty="0">
                  <a:ln>
                    <a:noFill/>
                  </a:ln>
                  <a:solidFill>
                    <a:srgbClr val="FFFFFF"/>
                  </a:solidFill>
                  <a:effectLst/>
                  <a:uLnTx/>
                  <a:uFillTx/>
                  <a:latin typeface="Segoe UI" panose="020B0502040204020203" pitchFamily="34" charset="0"/>
                  <a:cs typeface="Segoe UI" panose="020B0502040204020203" pitchFamily="34" charset="0"/>
                  <a:sym typeface="Arial"/>
                </a:rPr>
                <a:t>Digital Platform</a:t>
              </a:r>
            </a:p>
          </p:txBody>
        </p:sp>
        <p:sp>
          <p:nvSpPr>
            <p:cNvPr id="15" name="TextBox 14">
              <a:extLst>
                <a:ext uri="{FF2B5EF4-FFF2-40B4-BE49-F238E27FC236}">
                  <a16:creationId xmlns:a16="http://schemas.microsoft.com/office/drawing/2014/main" id="{59F0601B-C4E4-F532-5026-43AE54FA9A92}"/>
                </a:ext>
              </a:extLst>
            </p:cNvPr>
            <p:cNvSpPr txBox="1"/>
            <p:nvPr/>
          </p:nvSpPr>
          <p:spPr>
            <a:xfrm>
              <a:off x="9633203" y="2797390"/>
              <a:ext cx="1800000" cy="604349"/>
            </a:xfrm>
            <a:prstGeom prst="rect">
              <a:avLst/>
            </a:prstGeom>
            <a:solidFill>
              <a:schemeClr val="accent2"/>
            </a:solid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00" b="0" i="1" u="none" strike="noStrike" kern="0" cap="none" spc="0" normalizeH="0" baseline="0" noProof="0" dirty="0">
                  <a:ln>
                    <a:noFill/>
                  </a:ln>
                  <a:solidFill>
                    <a:srgbClr val="FFFFFF"/>
                  </a:solidFill>
                  <a:effectLst/>
                  <a:uLnTx/>
                  <a:uFillTx/>
                  <a:latin typeface="Segoe UI" panose="020B0502040204020203" pitchFamily="34" charset="0"/>
                  <a:cs typeface="Segoe UI" panose="020B0502040204020203" pitchFamily="34" charset="0"/>
                  <a:sym typeface="Arial"/>
                </a:rPr>
                <a:t>Can provide the origin of a call and information on the device, to identify if call was made from a legitimate source</a:t>
              </a:r>
            </a:p>
          </p:txBody>
        </p:sp>
        <p:sp>
          <p:nvSpPr>
            <p:cNvPr id="16" name="TextBox 15">
              <a:extLst>
                <a:ext uri="{FF2B5EF4-FFF2-40B4-BE49-F238E27FC236}">
                  <a16:creationId xmlns:a16="http://schemas.microsoft.com/office/drawing/2014/main" id="{C15307F6-C897-A82D-47DD-97CB8AB46618}"/>
                </a:ext>
              </a:extLst>
            </p:cNvPr>
            <p:cNvSpPr txBox="1"/>
            <p:nvPr/>
          </p:nvSpPr>
          <p:spPr>
            <a:xfrm>
              <a:off x="8299819" y="5438505"/>
              <a:ext cx="1800000" cy="474845"/>
            </a:xfrm>
            <a:prstGeom prst="rect">
              <a:avLst/>
            </a:prstGeom>
            <a:solidFill>
              <a:schemeClr val="accent2"/>
            </a:solid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00" b="0" i="1" u="none" strike="noStrike" kern="0" cap="none" spc="0" normalizeH="0" baseline="0" noProof="0" dirty="0">
                  <a:ln>
                    <a:noFill/>
                  </a:ln>
                  <a:solidFill>
                    <a:srgbClr val="FFFFFF"/>
                  </a:solidFill>
                  <a:effectLst/>
                  <a:uLnTx/>
                  <a:uFillTx/>
                  <a:latin typeface="Segoe UI" panose="020B0502040204020203" pitchFamily="34" charset="0"/>
                  <a:cs typeface="Segoe UI" panose="020B0502040204020203" pitchFamily="34" charset="0"/>
                  <a:sym typeface="Arial"/>
                </a:rPr>
                <a:t>Can provide data on user activity, such as login attempts from unusual locations or devices. </a:t>
              </a:r>
            </a:p>
          </p:txBody>
        </p:sp>
        <p:pic>
          <p:nvPicPr>
            <p:cNvPr id="19" name="Picture 18">
              <a:extLst>
                <a:ext uri="{FF2B5EF4-FFF2-40B4-BE49-F238E27FC236}">
                  <a16:creationId xmlns:a16="http://schemas.microsoft.com/office/drawing/2014/main" id="{A306F0C2-DD05-6DDC-1899-FA07186EBE0E}"/>
                </a:ext>
              </a:extLst>
            </p:cNvPr>
            <p:cNvPicPr>
              <a:picLocks noChangeAspect="1"/>
            </p:cNvPicPr>
            <p:nvPr>
              <p:custDataLst>
                <p:tags r:id="rId3"/>
              </p:custDataLst>
            </p:nvPr>
          </p:nvPicPr>
          <p:blipFill>
            <a:blip r:embed="rId6">
              <a:grayscl/>
              <a:extLst>
                <a:ext uri="{28A0092B-C50C-407E-A947-70E740481C1C}">
                  <a14:useLocalDpi xmlns:a14="http://schemas.microsoft.com/office/drawing/2010/main"/>
                </a:ext>
              </a:extLst>
            </a:blip>
            <a:stretch>
              <a:fillRect/>
            </a:stretch>
          </p:blipFill>
          <p:spPr>
            <a:xfrm>
              <a:off x="7814272" y="3017970"/>
              <a:ext cx="1825355" cy="1834251"/>
            </a:xfrm>
            <a:prstGeom prst="rect">
              <a:avLst/>
            </a:prstGeom>
            <a:ln>
              <a:noFill/>
            </a:ln>
          </p:spPr>
        </p:pic>
        <p:sp>
          <p:nvSpPr>
            <p:cNvPr id="20" name="Oval 19">
              <a:extLst>
                <a:ext uri="{FF2B5EF4-FFF2-40B4-BE49-F238E27FC236}">
                  <a16:creationId xmlns:a16="http://schemas.microsoft.com/office/drawing/2014/main" id="{A17D1768-2D32-E2B7-B8D5-80F9580389EB}"/>
                </a:ext>
              </a:extLst>
            </p:cNvPr>
            <p:cNvSpPr/>
            <p:nvPr/>
          </p:nvSpPr>
          <p:spPr bwMode="gray">
            <a:xfrm>
              <a:off x="8299957" y="3514463"/>
              <a:ext cx="798109" cy="798109"/>
            </a:xfrm>
            <a:prstGeom prst="ellipse">
              <a:avLst/>
            </a:prstGeom>
            <a:solidFill>
              <a:schemeClr val="accent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dirty="0">
                <a:ln>
                  <a:noFill/>
                </a:ln>
                <a:solidFill>
                  <a:srgbClr val="000000"/>
                </a:solidFill>
                <a:effectLst/>
                <a:uLnTx/>
                <a:uFillTx/>
                <a:latin typeface="Segoe UI" panose="020B0502040204020203" pitchFamily="34" charset="0"/>
                <a:cs typeface="Segoe UI" panose="020B0502040204020203" pitchFamily="34" charset="0"/>
                <a:sym typeface="Arial"/>
              </a:endParaRPr>
            </a:p>
          </p:txBody>
        </p:sp>
        <p:sp>
          <p:nvSpPr>
            <p:cNvPr id="21" name="Rectangle 20">
              <a:extLst>
                <a:ext uri="{FF2B5EF4-FFF2-40B4-BE49-F238E27FC236}">
                  <a16:creationId xmlns:a16="http://schemas.microsoft.com/office/drawing/2014/main" id="{2B3B18D7-2B57-268E-38D0-CA5452D57570}"/>
                </a:ext>
              </a:extLst>
            </p:cNvPr>
            <p:cNvSpPr/>
            <p:nvPr/>
          </p:nvSpPr>
          <p:spPr bwMode="gray">
            <a:xfrm>
              <a:off x="8311624" y="3712277"/>
              <a:ext cx="786442" cy="440610"/>
            </a:xfrm>
            <a:prstGeom prst="rect">
              <a:avLst/>
            </a:prstGeom>
            <a:no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300" b="1" i="0" u="none" strike="noStrike" kern="0" cap="none" spc="0" normalizeH="0" baseline="0" noProof="0" dirty="0">
                  <a:ln>
                    <a:noFill/>
                  </a:ln>
                  <a:solidFill>
                    <a:srgbClr val="FFFFFF"/>
                  </a:solidFill>
                  <a:effectLst/>
                  <a:uLnTx/>
                  <a:uFillTx/>
                  <a:latin typeface="Segoe UI" panose="020B0502040204020203" pitchFamily="34" charset="0"/>
                  <a:cs typeface="Segoe UI" panose="020B0502040204020203" pitchFamily="34" charset="0"/>
                  <a:sym typeface="Arial"/>
                </a:rPr>
                <a:t>CENTRAL UTILITY</a:t>
              </a:r>
            </a:p>
          </p:txBody>
        </p:sp>
        <p:sp>
          <p:nvSpPr>
            <p:cNvPr id="45" name="Rectangle: Rounded Corners 44">
              <a:extLst>
                <a:ext uri="{FF2B5EF4-FFF2-40B4-BE49-F238E27FC236}">
                  <a16:creationId xmlns:a16="http://schemas.microsoft.com/office/drawing/2014/main" id="{EF090E4F-C2DE-3ADC-DF7F-C39D4C1A02C9}"/>
                </a:ext>
              </a:extLst>
            </p:cNvPr>
            <p:cNvSpPr/>
            <p:nvPr/>
          </p:nvSpPr>
          <p:spPr bwMode="gray">
            <a:xfrm>
              <a:off x="9951436" y="4022357"/>
              <a:ext cx="1362272" cy="286795"/>
            </a:xfrm>
            <a:prstGeom prst="roundRect">
              <a:avLst>
                <a:gd name="adj" fmla="val 50000"/>
              </a:avLst>
            </a:prstGeom>
            <a:solidFill>
              <a:schemeClr val="accent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100" b="1" i="0" u="none" strike="noStrike" kern="0" cap="none" spc="0" normalizeH="0" baseline="0" noProof="0" dirty="0">
                  <a:ln>
                    <a:noFill/>
                  </a:ln>
                  <a:solidFill>
                    <a:srgbClr val="FFFFFF"/>
                  </a:solidFill>
                  <a:effectLst/>
                  <a:uLnTx/>
                  <a:uFillTx/>
                  <a:latin typeface="Segoe UI" panose="020B0502040204020203" pitchFamily="34" charset="0"/>
                  <a:cs typeface="Segoe UI" panose="020B0502040204020203" pitchFamily="34" charset="0"/>
                  <a:sym typeface="Arial"/>
                </a:rPr>
                <a:t>Insurance</a:t>
              </a:r>
            </a:p>
          </p:txBody>
        </p:sp>
        <p:sp>
          <p:nvSpPr>
            <p:cNvPr id="47" name="TextBox 46">
              <a:extLst>
                <a:ext uri="{FF2B5EF4-FFF2-40B4-BE49-F238E27FC236}">
                  <a16:creationId xmlns:a16="http://schemas.microsoft.com/office/drawing/2014/main" id="{D4D842E6-271C-BC58-E815-33C846EAD07B}"/>
                </a:ext>
              </a:extLst>
            </p:cNvPr>
            <p:cNvSpPr txBox="1"/>
            <p:nvPr/>
          </p:nvSpPr>
          <p:spPr>
            <a:xfrm>
              <a:off x="9939341" y="4318540"/>
              <a:ext cx="1800000" cy="474845"/>
            </a:xfrm>
            <a:prstGeom prst="rect">
              <a:avLst/>
            </a:prstGeom>
            <a:solidFill>
              <a:schemeClr val="accent2"/>
            </a:solid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00" b="0" i="1" u="none" strike="noStrike" kern="0" cap="none" spc="0" normalizeH="0" baseline="0" noProof="0" dirty="0">
                  <a:ln>
                    <a:noFill/>
                  </a:ln>
                  <a:solidFill>
                    <a:srgbClr val="FFFFFF"/>
                  </a:solidFill>
                  <a:effectLst/>
                  <a:uLnTx/>
                  <a:uFillTx/>
                  <a:latin typeface="Segoe UI" panose="020B0502040204020203" pitchFamily="34" charset="0"/>
                  <a:cs typeface="Segoe UI" panose="020B0502040204020203" pitchFamily="34" charset="0"/>
                  <a:sym typeface="Arial"/>
                </a:rPr>
                <a:t>Can share claims, underwriting, and policy servicing intelligence to help identify synthetic identities.</a:t>
              </a:r>
            </a:p>
          </p:txBody>
        </p:sp>
      </p:grpSp>
      <p:grpSp>
        <p:nvGrpSpPr>
          <p:cNvPr id="60" name="Group 59">
            <a:extLst>
              <a:ext uri="{FF2B5EF4-FFF2-40B4-BE49-F238E27FC236}">
                <a16:creationId xmlns:a16="http://schemas.microsoft.com/office/drawing/2014/main" id="{316D3907-7331-9B79-1801-5088F4A484CC}"/>
              </a:ext>
            </a:extLst>
          </p:cNvPr>
          <p:cNvGrpSpPr/>
          <p:nvPr/>
        </p:nvGrpSpPr>
        <p:grpSpPr>
          <a:xfrm>
            <a:off x="187298" y="5894463"/>
            <a:ext cx="5892039" cy="738376"/>
            <a:chOff x="260465" y="6067223"/>
            <a:chExt cx="5546166" cy="738376"/>
          </a:xfrm>
        </p:grpSpPr>
        <p:sp>
          <p:nvSpPr>
            <p:cNvPr id="39" name="Text 53">
              <a:extLst>
                <a:ext uri="{FF2B5EF4-FFF2-40B4-BE49-F238E27FC236}">
                  <a16:creationId xmlns:a16="http://schemas.microsoft.com/office/drawing/2014/main" id="{10CD8704-7935-0287-77A8-5DE04562388A}"/>
                </a:ext>
              </a:extLst>
            </p:cNvPr>
            <p:cNvSpPr/>
            <p:nvPr/>
          </p:nvSpPr>
          <p:spPr>
            <a:xfrm>
              <a:off x="260465" y="6075525"/>
              <a:ext cx="1059842" cy="730074"/>
            </a:xfrm>
            <a:prstGeom prst="roundRect">
              <a:avLst/>
            </a:prstGeom>
            <a:solidFill>
              <a:schemeClr val="accent1"/>
            </a:solid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45" normalizeH="0" baseline="0" noProof="0" dirty="0">
                  <a:ln>
                    <a:noFill/>
                  </a:ln>
                  <a:solidFill>
                    <a:srgbClr val="FFFFFF"/>
                  </a:solidFill>
                  <a:effectLst/>
                  <a:uLnTx/>
                  <a:uFillTx/>
                  <a:latin typeface="Segoe UI" panose="020B0502040204020203" pitchFamily="34" charset="0"/>
                  <a:ea typeface="Arial" pitchFamily="34" charset="-122"/>
                  <a:cs typeface="Segoe UI" panose="020B0502040204020203" pitchFamily="34" charset="0"/>
                  <a:sym typeface="Arial"/>
                </a:rPr>
                <a:t>THE SHIFT</a:t>
              </a:r>
              <a:endParaRPr kumimoji="0" lang="en-US" sz="1400" b="0" i="0" u="none" strike="noStrike" kern="1200" cap="none" spc="0" normalizeH="0" baseline="0" noProof="0" dirty="0">
                <a:ln>
                  <a:noFill/>
                </a:ln>
                <a:solidFill>
                  <a:srgbClr val="FFFFFF"/>
                </a:solidFill>
                <a:effectLst/>
                <a:uLnTx/>
                <a:uFillTx/>
                <a:latin typeface="Segoe UI" panose="020B0502040204020203" pitchFamily="34" charset="0"/>
                <a:ea typeface="+mn-ea"/>
                <a:cs typeface="Segoe UI" panose="020B0502040204020203" pitchFamily="34" charset="0"/>
                <a:sym typeface="Arial"/>
              </a:endParaRPr>
            </a:p>
          </p:txBody>
        </p:sp>
        <p:sp>
          <p:nvSpPr>
            <p:cNvPr id="41" name="Text 54">
              <a:extLst>
                <a:ext uri="{FF2B5EF4-FFF2-40B4-BE49-F238E27FC236}">
                  <a16:creationId xmlns:a16="http://schemas.microsoft.com/office/drawing/2014/main" id="{5FBFB928-F13E-8290-6223-D5A8AE067566}"/>
                </a:ext>
              </a:extLst>
            </p:cNvPr>
            <p:cNvSpPr/>
            <p:nvPr/>
          </p:nvSpPr>
          <p:spPr>
            <a:xfrm>
              <a:off x="1401393" y="6236395"/>
              <a:ext cx="4405238" cy="391729"/>
            </a:xfrm>
            <a:prstGeom prst="roundRect">
              <a:avLst/>
            </a:prstGeom>
            <a:noFill/>
            <a:ln/>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Segoe UI" panose="020B0502040204020203" pitchFamily="34" charset="0"/>
                  <a:ea typeface="Arial" pitchFamily="34" charset="-122"/>
                  <a:cs typeface="Segoe UI" panose="020B0502040204020203" pitchFamily="34" charset="0"/>
                  <a:sym typeface="Arial"/>
                </a:rPr>
                <a:t>From private, institution-by-institution effort to public-sector leadership in building the shared infrastructure the industry needs.</a:t>
              </a:r>
              <a:endParaRPr kumimoji="0" lang="en-US" sz="1400" b="0" i="0" u="none" strike="noStrike" kern="1200" cap="none" spc="0" normalizeH="0" baseline="0" noProof="0" dirty="0">
                <a:ln>
                  <a:noFill/>
                </a:ln>
                <a:solidFill>
                  <a:srgbClr val="FFFFFF"/>
                </a:solidFill>
                <a:effectLst/>
                <a:uLnTx/>
                <a:uFillTx/>
                <a:latin typeface="Segoe UI" panose="020B0502040204020203" pitchFamily="34" charset="0"/>
                <a:ea typeface="+mn-ea"/>
                <a:cs typeface="Segoe UI" panose="020B0502040204020203" pitchFamily="34" charset="0"/>
                <a:sym typeface="Arial"/>
              </a:endParaRPr>
            </a:p>
          </p:txBody>
        </p:sp>
        <p:sp>
          <p:nvSpPr>
            <p:cNvPr id="59" name="Rectangle 58">
              <a:extLst>
                <a:ext uri="{FF2B5EF4-FFF2-40B4-BE49-F238E27FC236}">
                  <a16:creationId xmlns:a16="http://schemas.microsoft.com/office/drawing/2014/main" id="{0A2938C0-60DE-47E4-89B4-B9E0EE234757}"/>
                </a:ext>
              </a:extLst>
            </p:cNvPr>
            <p:cNvSpPr/>
            <p:nvPr/>
          </p:nvSpPr>
          <p:spPr>
            <a:xfrm>
              <a:off x="260466" y="6067223"/>
              <a:ext cx="5546165" cy="730074"/>
            </a:xfrm>
            <a:prstGeom prst="round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CA" sz="1400" b="0" i="0" u="none" strike="noStrike" kern="0" cap="none" spc="0" normalizeH="0" baseline="0" noProof="0" dirty="0">
                <a:ln>
                  <a:noFill/>
                </a:ln>
                <a:solidFill>
                  <a:srgbClr val="FFFFFF"/>
                </a:solidFill>
                <a:effectLst/>
                <a:uLnTx/>
                <a:uFillTx/>
                <a:latin typeface="Arial"/>
                <a:ea typeface="+mn-ea"/>
                <a:cs typeface="+mn-cs"/>
                <a:sym typeface="Arial"/>
              </a:endParaRPr>
            </a:p>
          </p:txBody>
        </p:sp>
      </p:grpSp>
      <p:sp>
        <p:nvSpPr>
          <p:cNvPr id="28" name="TextBox 27">
            <a:extLst>
              <a:ext uri="{FF2B5EF4-FFF2-40B4-BE49-F238E27FC236}">
                <a16:creationId xmlns:a16="http://schemas.microsoft.com/office/drawing/2014/main" id="{EC4D6ED7-2807-FFD2-CB56-4C2CCCD1E440}"/>
              </a:ext>
            </a:extLst>
          </p:cNvPr>
          <p:cNvSpPr txBox="1"/>
          <p:nvPr/>
        </p:nvSpPr>
        <p:spPr>
          <a:xfrm>
            <a:off x="320040" y="2002732"/>
            <a:ext cx="5989320" cy="200055"/>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86BC25"/>
                </a:solidFill>
                <a:effectLst/>
                <a:uLnTx/>
                <a:uFillTx/>
                <a:latin typeface="Segoe UI"/>
                <a:ea typeface="+mn-ea"/>
                <a:cs typeface="Arial"/>
                <a:sym typeface="Arial"/>
              </a:rPr>
              <a:t>WHAT A CENTRALIZED UTILITY ENABLES </a:t>
            </a:r>
            <a:endParaRPr kumimoji="0" lang="en-US" sz="1300" b="0" i="0" u="none" strike="noStrike" kern="1200" cap="none" spc="0" normalizeH="0" baseline="0" noProof="0" dirty="0">
              <a:ln>
                <a:noFill/>
              </a:ln>
              <a:solidFill>
                <a:srgbClr val="86BC25"/>
              </a:solidFill>
              <a:effectLst/>
              <a:uLnTx/>
              <a:uFillTx/>
              <a:latin typeface="Segoe UI"/>
              <a:ea typeface="+mn-ea"/>
              <a:cs typeface="Arial"/>
              <a:sym typeface="Arial"/>
            </a:endParaRPr>
          </a:p>
        </p:txBody>
      </p:sp>
      <p:sp>
        <p:nvSpPr>
          <p:cNvPr id="150" name="Rounded Rectangle 7">
            <a:extLst>
              <a:ext uri="{FF2B5EF4-FFF2-40B4-BE49-F238E27FC236}">
                <a16:creationId xmlns:a16="http://schemas.microsoft.com/office/drawing/2014/main" id="{1FED7905-2951-CAED-9721-3B61E82929D8}"/>
              </a:ext>
            </a:extLst>
          </p:cNvPr>
          <p:cNvSpPr/>
          <p:nvPr/>
        </p:nvSpPr>
        <p:spPr>
          <a:xfrm>
            <a:off x="187298" y="2450831"/>
            <a:ext cx="1666662" cy="915209"/>
          </a:xfrm>
          <a:prstGeom prst="roundRect">
            <a:avLst>
              <a:gd name="adj" fmla="val 8000"/>
            </a:avLst>
          </a:prstGeom>
          <a:solidFill>
            <a:srgbClr val="F0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mn-ea"/>
              <a:cs typeface="+mn-cs"/>
              <a:sym typeface="Arial"/>
            </a:endParaRPr>
          </a:p>
        </p:txBody>
      </p:sp>
      <p:sp>
        <p:nvSpPr>
          <p:cNvPr id="152" name="TextBox 151">
            <a:extLst>
              <a:ext uri="{FF2B5EF4-FFF2-40B4-BE49-F238E27FC236}">
                <a16:creationId xmlns:a16="http://schemas.microsoft.com/office/drawing/2014/main" id="{2FCB0A1F-C2DA-A496-73ED-4E5B85B11A25}"/>
              </a:ext>
            </a:extLst>
          </p:cNvPr>
          <p:cNvSpPr txBox="1"/>
          <p:nvPr/>
        </p:nvSpPr>
        <p:spPr>
          <a:xfrm>
            <a:off x="282090" y="2919511"/>
            <a:ext cx="1554608" cy="33855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dirty="0">
                <a:ln>
                  <a:noFill/>
                </a:ln>
                <a:solidFill>
                  <a:srgbClr val="000000">
                    <a:lumMod val="65000"/>
                    <a:lumOff val="35000"/>
                  </a:srgbClr>
                </a:solidFill>
                <a:effectLst/>
                <a:uLnTx/>
                <a:uFillTx/>
                <a:latin typeface="Segoe UI"/>
                <a:ea typeface="+mn-ea"/>
                <a:cs typeface="Arial"/>
                <a:sym typeface="Arial"/>
              </a:rPr>
              <a:t>Data standardization &amp; poor quality</a:t>
            </a:r>
          </a:p>
        </p:txBody>
      </p:sp>
      <p:sp>
        <p:nvSpPr>
          <p:cNvPr id="154" name="Chevron 10">
            <a:extLst>
              <a:ext uri="{FF2B5EF4-FFF2-40B4-BE49-F238E27FC236}">
                <a16:creationId xmlns:a16="http://schemas.microsoft.com/office/drawing/2014/main" id="{F136E8A9-6618-F927-4F54-AD7471F92F00}"/>
              </a:ext>
            </a:extLst>
          </p:cNvPr>
          <p:cNvSpPr/>
          <p:nvPr/>
        </p:nvSpPr>
        <p:spPr>
          <a:xfrm>
            <a:off x="2001307" y="2720580"/>
            <a:ext cx="219456" cy="310896"/>
          </a:xfrm>
          <a:prstGeom prst="chevron">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mn-ea"/>
              <a:cs typeface="+mn-cs"/>
              <a:sym typeface="Arial"/>
            </a:endParaRPr>
          </a:p>
        </p:txBody>
      </p:sp>
      <p:sp>
        <p:nvSpPr>
          <p:cNvPr id="155" name="Rounded Rectangle 11">
            <a:extLst>
              <a:ext uri="{FF2B5EF4-FFF2-40B4-BE49-F238E27FC236}">
                <a16:creationId xmlns:a16="http://schemas.microsoft.com/office/drawing/2014/main" id="{95C3B6B9-52FE-189D-A6C3-3795DA7FFA8A}"/>
              </a:ext>
            </a:extLst>
          </p:cNvPr>
          <p:cNvSpPr/>
          <p:nvPr/>
        </p:nvSpPr>
        <p:spPr>
          <a:xfrm>
            <a:off x="2353636" y="2450831"/>
            <a:ext cx="3725701" cy="915209"/>
          </a:xfrm>
          <a:prstGeom prst="roundRect">
            <a:avLst>
              <a:gd name="adj" fmla="val 8000"/>
            </a:avLst>
          </a:prstGeom>
          <a:solidFill>
            <a:schemeClr val="accent1"/>
          </a:solidFill>
          <a:ln w="19050">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mn-ea"/>
              <a:cs typeface="+mn-cs"/>
              <a:sym typeface="Arial"/>
            </a:endParaRPr>
          </a:p>
        </p:txBody>
      </p:sp>
      <p:grpSp>
        <p:nvGrpSpPr>
          <p:cNvPr id="193" name="Group 192">
            <a:extLst>
              <a:ext uri="{FF2B5EF4-FFF2-40B4-BE49-F238E27FC236}">
                <a16:creationId xmlns:a16="http://schemas.microsoft.com/office/drawing/2014/main" id="{2BDBD392-4F20-96B3-311B-C2E298637602}"/>
              </a:ext>
            </a:extLst>
          </p:cNvPr>
          <p:cNvGrpSpPr/>
          <p:nvPr/>
        </p:nvGrpSpPr>
        <p:grpSpPr>
          <a:xfrm>
            <a:off x="2477962" y="2586824"/>
            <a:ext cx="576000" cy="576000"/>
            <a:chOff x="2857345" y="2907838"/>
            <a:chExt cx="530352" cy="530352"/>
          </a:xfrm>
          <a:solidFill>
            <a:schemeClr val="accent2"/>
          </a:solidFill>
        </p:grpSpPr>
        <p:sp>
          <p:nvSpPr>
            <p:cNvPr id="156" name="Oval 155">
              <a:extLst>
                <a:ext uri="{FF2B5EF4-FFF2-40B4-BE49-F238E27FC236}">
                  <a16:creationId xmlns:a16="http://schemas.microsoft.com/office/drawing/2014/main" id="{045A4BDA-2A65-DD62-3F3F-544F0E3CA698}"/>
                </a:ext>
              </a:extLst>
            </p:cNvPr>
            <p:cNvSpPr/>
            <p:nvPr/>
          </p:nvSpPr>
          <p:spPr>
            <a:xfrm>
              <a:off x="2857345" y="2907838"/>
              <a:ext cx="530352" cy="530352"/>
            </a:xfrm>
            <a:prstGeom prst="ellipse">
              <a:avLst/>
            </a:prstGeom>
            <a:gr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mn-ea"/>
                <a:cs typeface="+mn-cs"/>
                <a:sym typeface="Arial"/>
              </a:endParaRPr>
            </a:p>
          </p:txBody>
        </p:sp>
        <p:pic>
          <p:nvPicPr>
            <p:cNvPr id="157" name="Picture 156" descr="image.png">
              <a:extLst>
                <a:ext uri="{FF2B5EF4-FFF2-40B4-BE49-F238E27FC236}">
                  <a16:creationId xmlns:a16="http://schemas.microsoft.com/office/drawing/2014/main" id="{15127256-0AEE-36DB-4FE0-87B05E17C050}"/>
                </a:ext>
              </a:extLst>
            </p:cNvPr>
            <p:cNvPicPr>
              <a:picLocks noChangeAspect="1"/>
            </p:cNvPicPr>
            <p:nvPr/>
          </p:nvPicPr>
          <p:blipFill>
            <a:blip r:embed="rId7"/>
            <a:stretch>
              <a:fillRect/>
            </a:stretch>
          </p:blipFill>
          <p:spPr>
            <a:xfrm>
              <a:off x="2974022" y="3024515"/>
              <a:ext cx="296997" cy="296997"/>
            </a:xfrm>
            <a:prstGeom prst="rect">
              <a:avLst/>
            </a:prstGeom>
            <a:grpFill/>
          </p:spPr>
        </p:pic>
      </p:grpSp>
      <p:sp>
        <p:nvSpPr>
          <p:cNvPr id="158" name="TextBox 157">
            <a:extLst>
              <a:ext uri="{FF2B5EF4-FFF2-40B4-BE49-F238E27FC236}">
                <a16:creationId xmlns:a16="http://schemas.microsoft.com/office/drawing/2014/main" id="{0A289AD0-9A2F-3DAE-1677-1F1D0591F53D}"/>
              </a:ext>
            </a:extLst>
          </p:cNvPr>
          <p:cNvSpPr txBox="1"/>
          <p:nvPr/>
        </p:nvSpPr>
        <p:spPr>
          <a:xfrm>
            <a:off x="3146640" y="2544278"/>
            <a:ext cx="2578607" cy="215444"/>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a:ln>
                  <a:noFill/>
                </a:ln>
                <a:solidFill>
                  <a:srgbClr val="FFFFFF"/>
                </a:solidFill>
                <a:effectLst/>
                <a:uLnTx/>
                <a:uFillTx/>
                <a:latin typeface="Segoe UI"/>
                <a:ea typeface="+mn-ea"/>
                <a:cs typeface="Arial"/>
                <a:sym typeface="Arial"/>
              </a:rPr>
              <a:t>COMMON STANDARDS</a:t>
            </a:r>
          </a:p>
        </p:txBody>
      </p:sp>
      <p:sp>
        <p:nvSpPr>
          <p:cNvPr id="159" name="TextBox 158">
            <a:extLst>
              <a:ext uri="{FF2B5EF4-FFF2-40B4-BE49-F238E27FC236}">
                <a16:creationId xmlns:a16="http://schemas.microsoft.com/office/drawing/2014/main" id="{5A1DB5C4-8E00-BD94-3E3F-EF753AECFE76}"/>
              </a:ext>
            </a:extLst>
          </p:cNvPr>
          <p:cNvSpPr txBox="1"/>
          <p:nvPr/>
        </p:nvSpPr>
        <p:spPr>
          <a:xfrm>
            <a:off x="3146640" y="2789160"/>
            <a:ext cx="2841257" cy="507831"/>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dirty="0">
                <a:ln>
                  <a:noFill/>
                </a:ln>
                <a:solidFill>
                  <a:srgbClr val="FFFFFF"/>
                </a:solidFill>
                <a:effectLst/>
                <a:uLnTx/>
                <a:uFillTx/>
                <a:latin typeface="Segoe UI"/>
                <a:ea typeface="+mn-ea"/>
                <a:cs typeface="Arial"/>
                <a:sym typeface="Arial"/>
              </a:rPr>
              <a:t>Shared data models, definitions and validation rules raise quality across every contributor.</a:t>
            </a:r>
          </a:p>
        </p:txBody>
      </p:sp>
      <p:sp>
        <p:nvSpPr>
          <p:cNvPr id="151" name="TextBox 150">
            <a:extLst>
              <a:ext uri="{FF2B5EF4-FFF2-40B4-BE49-F238E27FC236}">
                <a16:creationId xmlns:a16="http://schemas.microsoft.com/office/drawing/2014/main" id="{89C6F756-2F87-F464-0B31-79B63D27A077}"/>
              </a:ext>
            </a:extLst>
          </p:cNvPr>
          <p:cNvSpPr txBox="1"/>
          <p:nvPr/>
        </p:nvSpPr>
        <p:spPr>
          <a:xfrm>
            <a:off x="842411" y="2563286"/>
            <a:ext cx="548461" cy="307777"/>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000" b="1" i="0" u="none" strike="noStrike" kern="1200" cap="none" spc="0" normalizeH="0" baseline="0" noProof="0" dirty="0">
                <a:ln>
                  <a:noFill/>
                </a:ln>
                <a:solidFill>
                  <a:srgbClr val="000000">
                    <a:lumMod val="65000"/>
                    <a:lumOff val="35000"/>
                  </a:srgbClr>
                </a:solidFill>
                <a:effectLst/>
                <a:uLnTx/>
                <a:uFillTx/>
                <a:latin typeface="Segoe UI"/>
                <a:ea typeface="+mn-ea"/>
                <a:cs typeface="Arial"/>
                <a:sym typeface="Arial"/>
              </a:rPr>
              <a:t>77%</a:t>
            </a:r>
          </a:p>
        </p:txBody>
      </p:sp>
      <p:grpSp>
        <p:nvGrpSpPr>
          <p:cNvPr id="178" name="Group 177">
            <a:extLst>
              <a:ext uri="{FF2B5EF4-FFF2-40B4-BE49-F238E27FC236}">
                <a16:creationId xmlns:a16="http://schemas.microsoft.com/office/drawing/2014/main" id="{FDA93166-B844-CF11-6E04-7E8747FC9364}"/>
              </a:ext>
            </a:extLst>
          </p:cNvPr>
          <p:cNvGrpSpPr/>
          <p:nvPr/>
        </p:nvGrpSpPr>
        <p:grpSpPr>
          <a:xfrm>
            <a:off x="367990" y="2538384"/>
            <a:ext cx="342000" cy="342000"/>
            <a:chOff x="954380" y="2802104"/>
            <a:chExt cx="683808" cy="683808"/>
          </a:xfrm>
          <a:solidFill>
            <a:schemeClr val="tx1">
              <a:lumMod val="50000"/>
              <a:lumOff val="50000"/>
            </a:schemeClr>
          </a:solidFill>
        </p:grpSpPr>
        <p:sp>
          <p:nvSpPr>
            <p:cNvPr id="179" name="Rounded Rectangle 11">
              <a:extLst>
                <a:ext uri="{FF2B5EF4-FFF2-40B4-BE49-F238E27FC236}">
                  <a16:creationId xmlns:a16="http://schemas.microsoft.com/office/drawing/2014/main" id="{A5E4321E-5BE3-E2BB-E1C5-5F31686A99DF}"/>
                </a:ext>
              </a:extLst>
            </p:cNvPr>
            <p:cNvSpPr/>
            <p:nvPr/>
          </p:nvSpPr>
          <p:spPr>
            <a:xfrm>
              <a:off x="954380" y="2802104"/>
              <a:ext cx="683808" cy="683808"/>
            </a:xfrm>
            <a:prstGeom prst="roundRect">
              <a:avLst>
                <a:gd name="adj" fmla="val 50000"/>
              </a:avLst>
            </a:prstGeom>
            <a:gr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pic>
          <p:nvPicPr>
            <p:cNvPr id="180" name="Picture 179" descr="ic_data_w.png">
              <a:extLst>
                <a:ext uri="{FF2B5EF4-FFF2-40B4-BE49-F238E27FC236}">
                  <a16:creationId xmlns:a16="http://schemas.microsoft.com/office/drawing/2014/main" id="{08E7852D-64D0-B8FD-94C1-7C6F0F8F14E2}"/>
                </a:ext>
              </a:extLst>
            </p:cNvPr>
            <p:cNvPicPr>
              <a:picLocks noChangeAspect="1"/>
            </p:cNvPicPr>
            <p:nvPr/>
          </p:nvPicPr>
          <p:blipFill>
            <a:blip r:embed="rId7"/>
            <a:stretch>
              <a:fillRect/>
            </a:stretch>
          </p:blipFill>
          <p:spPr>
            <a:xfrm>
              <a:off x="1104818" y="2952541"/>
              <a:ext cx="382932" cy="382932"/>
            </a:xfrm>
            <a:prstGeom prst="rect">
              <a:avLst/>
            </a:prstGeom>
            <a:grpFill/>
          </p:spPr>
        </p:pic>
      </p:grpSp>
      <p:sp>
        <p:nvSpPr>
          <p:cNvPr id="160" name="Rounded Rectangle 16">
            <a:extLst>
              <a:ext uri="{FF2B5EF4-FFF2-40B4-BE49-F238E27FC236}">
                <a16:creationId xmlns:a16="http://schemas.microsoft.com/office/drawing/2014/main" id="{4075A56C-DA09-D32A-E0C3-930384804B58}"/>
              </a:ext>
            </a:extLst>
          </p:cNvPr>
          <p:cNvSpPr/>
          <p:nvPr/>
        </p:nvSpPr>
        <p:spPr>
          <a:xfrm>
            <a:off x="187298" y="3592081"/>
            <a:ext cx="1666662" cy="915209"/>
          </a:xfrm>
          <a:prstGeom prst="roundRect">
            <a:avLst>
              <a:gd name="adj" fmla="val 8000"/>
            </a:avLst>
          </a:prstGeom>
          <a:solidFill>
            <a:srgbClr val="F0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mn-ea"/>
              <a:cs typeface="+mn-cs"/>
              <a:sym typeface="Arial"/>
            </a:endParaRPr>
          </a:p>
        </p:txBody>
      </p:sp>
      <p:sp>
        <p:nvSpPr>
          <p:cNvPr id="162" name="TextBox 161">
            <a:extLst>
              <a:ext uri="{FF2B5EF4-FFF2-40B4-BE49-F238E27FC236}">
                <a16:creationId xmlns:a16="http://schemas.microsoft.com/office/drawing/2014/main" id="{715CE459-62C7-3BDA-CE98-F17EC8DB9F11}"/>
              </a:ext>
            </a:extLst>
          </p:cNvPr>
          <p:cNvSpPr txBox="1"/>
          <p:nvPr/>
        </p:nvSpPr>
        <p:spPr>
          <a:xfrm>
            <a:off x="282090" y="4060762"/>
            <a:ext cx="1554608" cy="33855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dirty="0">
                <a:ln>
                  <a:noFill/>
                </a:ln>
                <a:solidFill>
                  <a:srgbClr val="000000">
                    <a:lumMod val="65000"/>
                    <a:lumOff val="35000"/>
                  </a:srgbClr>
                </a:solidFill>
                <a:effectLst/>
                <a:uLnTx/>
                <a:uFillTx/>
                <a:latin typeface="Segoe UI"/>
                <a:ea typeface="+mn-ea"/>
                <a:cs typeface="Arial"/>
                <a:sym typeface="Arial"/>
              </a:rPr>
              <a:t>Legal, privacy &amp; regulatory constraints</a:t>
            </a:r>
          </a:p>
        </p:txBody>
      </p:sp>
      <p:sp>
        <p:nvSpPr>
          <p:cNvPr id="163" name="Chevron 19">
            <a:extLst>
              <a:ext uri="{FF2B5EF4-FFF2-40B4-BE49-F238E27FC236}">
                <a16:creationId xmlns:a16="http://schemas.microsoft.com/office/drawing/2014/main" id="{B8FF7D98-9377-C575-0528-63394B60F899}"/>
              </a:ext>
            </a:extLst>
          </p:cNvPr>
          <p:cNvSpPr/>
          <p:nvPr/>
        </p:nvSpPr>
        <p:spPr>
          <a:xfrm>
            <a:off x="2001307" y="3861830"/>
            <a:ext cx="219456" cy="310896"/>
          </a:xfrm>
          <a:prstGeom prst="chevron">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mn-ea"/>
              <a:cs typeface="+mn-cs"/>
              <a:sym typeface="Arial"/>
            </a:endParaRPr>
          </a:p>
        </p:txBody>
      </p:sp>
      <p:sp>
        <p:nvSpPr>
          <p:cNvPr id="164" name="Rounded Rectangle 20">
            <a:extLst>
              <a:ext uri="{FF2B5EF4-FFF2-40B4-BE49-F238E27FC236}">
                <a16:creationId xmlns:a16="http://schemas.microsoft.com/office/drawing/2014/main" id="{DAB717F4-3066-A447-7EA8-0CD4962CF44E}"/>
              </a:ext>
            </a:extLst>
          </p:cNvPr>
          <p:cNvSpPr/>
          <p:nvPr/>
        </p:nvSpPr>
        <p:spPr>
          <a:xfrm>
            <a:off x="2353636" y="3592081"/>
            <a:ext cx="3725701" cy="915209"/>
          </a:xfrm>
          <a:prstGeom prst="roundRect">
            <a:avLst>
              <a:gd name="adj" fmla="val 8000"/>
            </a:avLst>
          </a:prstGeom>
          <a:solidFill>
            <a:schemeClr val="accent1"/>
          </a:solidFill>
          <a:ln w="19050">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mn-ea"/>
              <a:cs typeface="+mn-cs"/>
              <a:sym typeface="Arial"/>
            </a:endParaRPr>
          </a:p>
        </p:txBody>
      </p:sp>
      <p:grpSp>
        <p:nvGrpSpPr>
          <p:cNvPr id="192" name="Group 191">
            <a:extLst>
              <a:ext uri="{FF2B5EF4-FFF2-40B4-BE49-F238E27FC236}">
                <a16:creationId xmlns:a16="http://schemas.microsoft.com/office/drawing/2014/main" id="{FD0E4E57-CD09-A5B0-5B3C-A57F60874A60}"/>
              </a:ext>
            </a:extLst>
          </p:cNvPr>
          <p:cNvGrpSpPr/>
          <p:nvPr/>
        </p:nvGrpSpPr>
        <p:grpSpPr>
          <a:xfrm>
            <a:off x="2477962" y="3728074"/>
            <a:ext cx="576000" cy="576000"/>
            <a:chOff x="2857345" y="3849670"/>
            <a:chExt cx="530352" cy="530352"/>
          </a:xfrm>
          <a:solidFill>
            <a:schemeClr val="accent2"/>
          </a:solidFill>
        </p:grpSpPr>
        <p:sp>
          <p:nvSpPr>
            <p:cNvPr id="165" name="Oval 164">
              <a:extLst>
                <a:ext uri="{FF2B5EF4-FFF2-40B4-BE49-F238E27FC236}">
                  <a16:creationId xmlns:a16="http://schemas.microsoft.com/office/drawing/2014/main" id="{20902835-0622-67C3-AEC6-0735343D43AA}"/>
                </a:ext>
              </a:extLst>
            </p:cNvPr>
            <p:cNvSpPr/>
            <p:nvPr/>
          </p:nvSpPr>
          <p:spPr>
            <a:xfrm>
              <a:off x="2857345" y="3849670"/>
              <a:ext cx="530352" cy="530352"/>
            </a:xfrm>
            <a:prstGeom prst="ellipse">
              <a:avLst/>
            </a:prstGeom>
            <a:gr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mn-ea"/>
                <a:cs typeface="+mn-cs"/>
                <a:sym typeface="Arial"/>
              </a:endParaRPr>
            </a:p>
          </p:txBody>
        </p:sp>
        <p:pic>
          <p:nvPicPr>
            <p:cNvPr id="166" name="Picture 165" descr="image.png">
              <a:extLst>
                <a:ext uri="{FF2B5EF4-FFF2-40B4-BE49-F238E27FC236}">
                  <a16:creationId xmlns:a16="http://schemas.microsoft.com/office/drawing/2014/main" id="{FA27F0A2-C714-2F79-6FBB-BACBB1ACC994}"/>
                </a:ext>
              </a:extLst>
            </p:cNvPr>
            <p:cNvPicPr>
              <a:picLocks noChangeAspect="1"/>
            </p:cNvPicPr>
            <p:nvPr/>
          </p:nvPicPr>
          <p:blipFill>
            <a:blip r:embed="rId8"/>
            <a:stretch>
              <a:fillRect/>
            </a:stretch>
          </p:blipFill>
          <p:spPr>
            <a:xfrm>
              <a:off x="2974022" y="3966347"/>
              <a:ext cx="296997" cy="296997"/>
            </a:xfrm>
            <a:prstGeom prst="rect">
              <a:avLst/>
            </a:prstGeom>
            <a:grpFill/>
          </p:spPr>
        </p:pic>
      </p:grpSp>
      <p:sp>
        <p:nvSpPr>
          <p:cNvPr id="167" name="TextBox 166">
            <a:extLst>
              <a:ext uri="{FF2B5EF4-FFF2-40B4-BE49-F238E27FC236}">
                <a16:creationId xmlns:a16="http://schemas.microsoft.com/office/drawing/2014/main" id="{9564F5CB-E0A3-C53E-D6B9-6AD55E8D53A3}"/>
              </a:ext>
            </a:extLst>
          </p:cNvPr>
          <p:cNvSpPr txBox="1"/>
          <p:nvPr/>
        </p:nvSpPr>
        <p:spPr>
          <a:xfrm>
            <a:off x="3146640" y="3685528"/>
            <a:ext cx="2578607" cy="215444"/>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a:ln>
                  <a:noFill/>
                </a:ln>
                <a:solidFill>
                  <a:srgbClr val="FFFFFF"/>
                </a:solidFill>
                <a:effectLst/>
                <a:uLnTx/>
                <a:uFillTx/>
                <a:latin typeface="Segoe UI"/>
                <a:ea typeface="+mn-ea"/>
                <a:cs typeface="Arial"/>
                <a:sym typeface="Arial"/>
              </a:rPr>
              <a:t>CLEARER GUARDRAILS</a:t>
            </a:r>
          </a:p>
        </p:txBody>
      </p:sp>
      <p:sp>
        <p:nvSpPr>
          <p:cNvPr id="168" name="TextBox 167">
            <a:extLst>
              <a:ext uri="{FF2B5EF4-FFF2-40B4-BE49-F238E27FC236}">
                <a16:creationId xmlns:a16="http://schemas.microsoft.com/office/drawing/2014/main" id="{4E4E249B-5044-CEC6-D030-B0603D5046E0}"/>
              </a:ext>
            </a:extLst>
          </p:cNvPr>
          <p:cNvSpPr txBox="1"/>
          <p:nvPr/>
        </p:nvSpPr>
        <p:spPr>
          <a:xfrm>
            <a:off x="3146640" y="3930410"/>
            <a:ext cx="2841257" cy="507831"/>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dirty="0">
                <a:ln>
                  <a:noFill/>
                </a:ln>
                <a:solidFill>
                  <a:srgbClr val="FFFFFF"/>
                </a:solidFill>
                <a:effectLst/>
                <a:uLnTx/>
                <a:uFillTx/>
                <a:latin typeface="Segoe UI"/>
                <a:ea typeface="+mn-ea"/>
                <a:cs typeface="Arial"/>
                <a:sym typeface="Arial"/>
              </a:rPr>
              <a:t>One governed framework sets what can be shared, with whom and under what safeguards.</a:t>
            </a:r>
          </a:p>
        </p:txBody>
      </p:sp>
      <p:sp>
        <p:nvSpPr>
          <p:cNvPr id="161" name="TextBox 160">
            <a:extLst>
              <a:ext uri="{FF2B5EF4-FFF2-40B4-BE49-F238E27FC236}">
                <a16:creationId xmlns:a16="http://schemas.microsoft.com/office/drawing/2014/main" id="{B86DAD3E-D208-BEF1-1842-67A0C67CDCA7}"/>
              </a:ext>
            </a:extLst>
          </p:cNvPr>
          <p:cNvSpPr txBox="1"/>
          <p:nvPr/>
        </p:nvSpPr>
        <p:spPr>
          <a:xfrm>
            <a:off x="842411" y="3704537"/>
            <a:ext cx="548461" cy="307777"/>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000" b="1" i="0" u="none" strike="noStrike" kern="1200" cap="none" spc="0" normalizeH="0" baseline="0" noProof="0" dirty="0">
                <a:ln>
                  <a:noFill/>
                </a:ln>
                <a:solidFill>
                  <a:srgbClr val="000000">
                    <a:lumMod val="65000"/>
                    <a:lumOff val="35000"/>
                  </a:srgbClr>
                </a:solidFill>
                <a:effectLst/>
                <a:uLnTx/>
                <a:uFillTx/>
                <a:latin typeface="Segoe UI"/>
                <a:ea typeface="+mn-ea"/>
                <a:cs typeface="Arial"/>
                <a:sym typeface="Arial"/>
              </a:rPr>
              <a:t>73%</a:t>
            </a:r>
          </a:p>
        </p:txBody>
      </p:sp>
      <p:grpSp>
        <p:nvGrpSpPr>
          <p:cNvPr id="181" name="Group 180">
            <a:extLst>
              <a:ext uri="{FF2B5EF4-FFF2-40B4-BE49-F238E27FC236}">
                <a16:creationId xmlns:a16="http://schemas.microsoft.com/office/drawing/2014/main" id="{1FE75C59-F2FD-24E5-29EC-07345705C9D6}"/>
              </a:ext>
            </a:extLst>
          </p:cNvPr>
          <p:cNvGrpSpPr/>
          <p:nvPr/>
        </p:nvGrpSpPr>
        <p:grpSpPr>
          <a:xfrm>
            <a:off x="367990" y="3679634"/>
            <a:ext cx="342000" cy="342000"/>
            <a:chOff x="4922876" y="2802104"/>
            <a:chExt cx="683808" cy="683808"/>
          </a:xfrm>
          <a:solidFill>
            <a:schemeClr val="tx1">
              <a:lumMod val="50000"/>
              <a:lumOff val="50000"/>
            </a:schemeClr>
          </a:solidFill>
        </p:grpSpPr>
        <p:sp>
          <p:nvSpPr>
            <p:cNvPr id="182" name="Rounded Rectangle 21">
              <a:extLst>
                <a:ext uri="{FF2B5EF4-FFF2-40B4-BE49-F238E27FC236}">
                  <a16:creationId xmlns:a16="http://schemas.microsoft.com/office/drawing/2014/main" id="{033EB593-F2AB-8800-6AE5-80F2710C842A}"/>
                </a:ext>
              </a:extLst>
            </p:cNvPr>
            <p:cNvSpPr/>
            <p:nvPr/>
          </p:nvSpPr>
          <p:spPr>
            <a:xfrm>
              <a:off x="4922876" y="2802104"/>
              <a:ext cx="683808" cy="683808"/>
            </a:xfrm>
            <a:prstGeom prst="roundRect">
              <a:avLst>
                <a:gd name="adj" fmla="val 50000"/>
              </a:avLst>
            </a:prstGeom>
            <a:gr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pic>
          <p:nvPicPr>
            <p:cNvPr id="183" name="Picture 182" descr="image.png">
              <a:extLst>
                <a:ext uri="{FF2B5EF4-FFF2-40B4-BE49-F238E27FC236}">
                  <a16:creationId xmlns:a16="http://schemas.microsoft.com/office/drawing/2014/main" id="{343209F2-5776-8D50-87C2-562876F2F9A0}"/>
                </a:ext>
              </a:extLst>
            </p:cNvPr>
            <p:cNvPicPr>
              <a:picLocks noChangeAspect="1"/>
            </p:cNvPicPr>
            <p:nvPr/>
          </p:nvPicPr>
          <p:blipFill>
            <a:blip r:embed="rId8"/>
            <a:stretch>
              <a:fillRect/>
            </a:stretch>
          </p:blipFill>
          <p:spPr>
            <a:xfrm>
              <a:off x="5073314" y="2952541"/>
              <a:ext cx="382932" cy="382932"/>
            </a:xfrm>
            <a:prstGeom prst="rect">
              <a:avLst/>
            </a:prstGeom>
            <a:grpFill/>
          </p:spPr>
        </p:pic>
      </p:grpSp>
      <p:sp>
        <p:nvSpPr>
          <p:cNvPr id="169" name="Rounded Rectangle 25">
            <a:extLst>
              <a:ext uri="{FF2B5EF4-FFF2-40B4-BE49-F238E27FC236}">
                <a16:creationId xmlns:a16="http://schemas.microsoft.com/office/drawing/2014/main" id="{8CE9AEC9-45EC-3F30-21F8-53CE5135CC06}"/>
              </a:ext>
            </a:extLst>
          </p:cNvPr>
          <p:cNvSpPr/>
          <p:nvPr/>
        </p:nvSpPr>
        <p:spPr>
          <a:xfrm>
            <a:off x="187298" y="4733331"/>
            <a:ext cx="1666662" cy="915209"/>
          </a:xfrm>
          <a:prstGeom prst="roundRect">
            <a:avLst>
              <a:gd name="adj" fmla="val 8000"/>
            </a:avLst>
          </a:prstGeom>
          <a:solidFill>
            <a:srgbClr val="F0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mn-ea"/>
              <a:cs typeface="+mn-cs"/>
              <a:sym typeface="Arial"/>
            </a:endParaRPr>
          </a:p>
        </p:txBody>
      </p:sp>
      <p:sp>
        <p:nvSpPr>
          <p:cNvPr id="171" name="TextBox 170">
            <a:extLst>
              <a:ext uri="{FF2B5EF4-FFF2-40B4-BE49-F238E27FC236}">
                <a16:creationId xmlns:a16="http://schemas.microsoft.com/office/drawing/2014/main" id="{4D85E624-749E-6C2E-E29E-9EBAB4E939D0}"/>
              </a:ext>
            </a:extLst>
          </p:cNvPr>
          <p:cNvSpPr txBox="1"/>
          <p:nvPr/>
        </p:nvSpPr>
        <p:spPr>
          <a:xfrm>
            <a:off x="282090" y="5202012"/>
            <a:ext cx="1554608" cy="33855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dirty="0">
                <a:ln>
                  <a:noFill/>
                </a:ln>
                <a:solidFill>
                  <a:srgbClr val="000000">
                    <a:lumMod val="65000"/>
                    <a:lumOff val="35000"/>
                  </a:srgbClr>
                </a:solidFill>
                <a:effectLst/>
                <a:uLnTx/>
                <a:uFillTx/>
                <a:latin typeface="Segoe UI"/>
                <a:ea typeface="+mn-ea"/>
                <a:cs typeface="Arial"/>
                <a:sym typeface="Arial"/>
              </a:rPr>
              <a:t>Lack of external industry participation</a:t>
            </a:r>
          </a:p>
        </p:txBody>
      </p:sp>
      <p:sp>
        <p:nvSpPr>
          <p:cNvPr id="172" name="Chevron 28">
            <a:extLst>
              <a:ext uri="{FF2B5EF4-FFF2-40B4-BE49-F238E27FC236}">
                <a16:creationId xmlns:a16="http://schemas.microsoft.com/office/drawing/2014/main" id="{76E1CD78-0378-337B-6B5C-BAA53AADF7B9}"/>
              </a:ext>
            </a:extLst>
          </p:cNvPr>
          <p:cNvSpPr/>
          <p:nvPr/>
        </p:nvSpPr>
        <p:spPr>
          <a:xfrm>
            <a:off x="2001307" y="5003080"/>
            <a:ext cx="219456" cy="310896"/>
          </a:xfrm>
          <a:prstGeom prst="chevron">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mn-ea"/>
              <a:cs typeface="+mn-cs"/>
              <a:sym typeface="Arial"/>
            </a:endParaRPr>
          </a:p>
        </p:txBody>
      </p:sp>
      <p:sp>
        <p:nvSpPr>
          <p:cNvPr id="173" name="Rounded Rectangle 29">
            <a:extLst>
              <a:ext uri="{FF2B5EF4-FFF2-40B4-BE49-F238E27FC236}">
                <a16:creationId xmlns:a16="http://schemas.microsoft.com/office/drawing/2014/main" id="{FC47FD2D-4A63-596E-63B2-A42E0CDB3CE2}"/>
              </a:ext>
            </a:extLst>
          </p:cNvPr>
          <p:cNvSpPr/>
          <p:nvPr/>
        </p:nvSpPr>
        <p:spPr>
          <a:xfrm>
            <a:off x="2353636" y="4733331"/>
            <a:ext cx="3725701" cy="915209"/>
          </a:xfrm>
          <a:prstGeom prst="roundRect">
            <a:avLst>
              <a:gd name="adj" fmla="val 8000"/>
            </a:avLst>
          </a:prstGeom>
          <a:solidFill>
            <a:schemeClr val="accent1"/>
          </a:solidFill>
          <a:ln w="19050">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mn-ea"/>
              <a:cs typeface="+mn-cs"/>
              <a:sym typeface="Arial"/>
            </a:endParaRPr>
          </a:p>
        </p:txBody>
      </p:sp>
      <p:grpSp>
        <p:nvGrpSpPr>
          <p:cNvPr id="191" name="Group 190">
            <a:extLst>
              <a:ext uri="{FF2B5EF4-FFF2-40B4-BE49-F238E27FC236}">
                <a16:creationId xmlns:a16="http://schemas.microsoft.com/office/drawing/2014/main" id="{3880D3BE-93D9-07EA-DCBD-BC720D4A6BDC}"/>
              </a:ext>
            </a:extLst>
          </p:cNvPr>
          <p:cNvGrpSpPr/>
          <p:nvPr/>
        </p:nvGrpSpPr>
        <p:grpSpPr>
          <a:xfrm>
            <a:off x="2477962" y="4869324"/>
            <a:ext cx="576000" cy="576000"/>
            <a:chOff x="2857345" y="4791502"/>
            <a:chExt cx="530352" cy="530352"/>
          </a:xfrm>
          <a:solidFill>
            <a:schemeClr val="accent2"/>
          </a:solidFill>
        </p:grpSpPr>
        <p:sp>
          <p:nvSpPr>
            <p:cNvPr id="174" name="Oval 173">
              <a:extLst>
                <a:ext uri="{FF2B5EF4-FFF2-40B4-BE49-F238E27FC236}">
                  <a16:creationId xmlns:a16="http://schemas.microsoft.com/office/drawing/2014/main" id="{DDCDE625-2F6C-3BCE-F865-7866EAA47BE1}"/>
                </a:ext>
              </a:extLst>
            </p:cNvPr>
            <p:cNvSpPr/>
            <p:nvPr/>
          </p:nvSpPr>
          <p:spPr>
            <a:xfrm>
              <a:off x="2857345" y="4791502"/>
              <a:ext cx="530352" cy="530352"/>
            </a:xfrm>
            <a:prstGeom prst="ellipse">
              <a:avLst/>
            </a:prstGeom>
            <a:gr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mn-ea"/>
                <a:cs typeface="+mn-cs"/>
                <a:sym typeface="Arial"/>
              </a:endParaRPr>
            </a:p>
          </p:txBody>
        </p:sp>
        <p:pic>
          <p:nvPicPr>
            <p:cNvPr id="175" name="Picture 174" descr="image.png">
              <a:extLst>
                <a:ext uri="{FF2B5EF4-FFF2-40B4-BE49-F238E27FC236}">
                  <a16:creationId xmlns:a16="http://schemas.microsoft.com/office/drawing/2014/main" id="{03AD65A0-19E8-C669-D8CA-15D797F7790D}"/>
                </a:ext>
              </a:extLst>
            </p:cNvPr>
            <p:cNvPicPr>
              <a:picLocks noChangeAspect="1"/>
            </p:cNvPicPr>
            <p:nvPr/>
          </p:nvPicPr>
          <p:blipFill>
            <a:blip r:embed="rId9"/>
            <a:stretch>
              <a:fillRect/>
            </a:stretch>
          </p:blipFill>
          <p:spPr>
            <a:xfrm>
              <a:off x="2974022" y="4908179"/>
              <a:ext cx="296997" cy="296997"/>
            </a:xfrm>
            <a:prstGeom prst="rect">
              <a:avLst/>
            </a:prstGeom>
            <a:grpFill/>
          </p:spPr>
        </p:pic>
      </p:grpSp>
      <p:sp>
        <p:nvSpPr>
          <p:cNvPr id="176" name="TextBox 175">
            <a:extLst>
              <a:ext uri="{FF2B5EF4-FFF2-40B4-BE49-F238E27FC236}">
                <a16:creationId xmlns:a16="http://schemas.microsoft.com/office/drawing/2014/main" id="{32807EA9-E4DA-0C42-D293-5751A25C1376}"/>
              </a:ext>
            </a:extLst>
          </p:cNvPr>
          <p:cNvSpPr txBox="1"/>
          <p:nvPr/>
        </p:nvSpPr>
        <p:spPr>
          <a:xfrm>
            <a:off x="3146640" y="4826778"/>
            <a:ext cx="2578607" cy="215444"/>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a:ln>
                  <a:noFill/>
                </a:ln>
                <a:solidFill>
                  <a:srgbClr val="FFFFFF"/>
                </a:solidFill>
                <a:effectLst/>
                <a:uLnTx/>
                <a:uFillTx/>
                <a:latin typeface="Segoe UI"/>
                <a:ea typeface="+mn-ea"/>
                <a:cs typeface="Arial"/>
                <a:sym typeface="Arial"/>
              </a:rPr>
              <a:t>A TRUSTED NETWORK</a:t>
            </a:r>
          </a:p>
        </p:txBody>
      </p:sp>
      <p:sp>
        <p:nvSpPr>
          <p:cNvPr id="177" name="TextBox 176">
            <a:extLst>
              <a:ext uri="{FF2B5EF4-FFF2-40B4-BE49-F238E27FC236}">
                <a16:creationId xmlns:a16="http://schemas.microsoft.com/office/drawing/2014/main" id="{9FE629B8-B58A-663D-E783-8944FA7B9547}"/>
              </a:ext>
            </a:extLst>
          </p:cNvPr>
          <p:cNvSpPr txBox="1"/>
          <p:nvPr/>
        </p:nvSpPr>
        <p:spPr>
          <a:xfrm>
            <a:off x="3146640" y="5071660"/>
            <a:ext cx="2841257" cy="507831"/>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Segoe UI"/>
                <a:ea typeface="+mn-ea"/>
                <a:cs typeface="Arial"/>
                <a:sym typeface="Arial"/>
              </a:rPr>
              <a:t>Shared rules and oversight build trust, giving organizations the confidence to contribute and act on shared intelligence.</a:t>
            </a:r>
            <a:endParaRPr kumimoji="0" sz="1100" b="0" i="0" u="none" strike="noStrike" kern="1200" cap="none" spc="0" normalizeH="0" baseline="0" noProof="0" dirty="0">
              <a:ln>
                <a:noFill/>
              </a:ln>
              <a:solidFill>
                <a:srgbClr val="FFFFFF"/>
              </a:solidFill>
              <a:effectLst/>
              <a:uLnTx/>
              <a:uFillTx/>
              <a:latin typeface="Segoe UI"/>
              <a:ea typeface="+mn-ea"/>
              <a:cs typeface="Arial"/>
              <a:sym typeface="Arial"/>
            </a:endParaRPr>
          </a:p>
        </p:txBody>
      </p:sp>
      <p:sp>
        <p:nvSpPr>
          <p:cNvPr id="170" name="TextBox 169">
            <a:extLst>
              <a:ext uri="{FF2B5EF4-FFF2-40B4-BE49-F238E27FC236}">
                <a16:creationId xmlns:a16="http://schemas.microsoft.com/office/drawing/2014/main" id="{806F1455-1429-9294-5263-C0F32531165F}"/>
              </a:ext>
            </a:extLst>
          </p:cNvPr>
          <p:cNvSpPr txBox="1"/>
          <p:nvPr/>
        </p:nvSpPr>
        <p:spPr>
          <a:xfrm>
            <a:off x="842411" y="4845787"/>
            <a:ext cx="548461" cy="307777"/>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000" b="1" i="0" u="none" strike="noStrike" kern="1200" cap="none" spc="0" normalizeH="0" baseline="0" noProof="0" dirty="0">
                <a:ln>
                  <a:noFill/>
                </a:ln>
                <a:solidFill>
                  <a:srgbClr val="000000">
                    <a:lumMod val="65000"/>
                    <a:lumOff val="35000"/>
                  </a:srgbClr>
                </a:solidFill>
                <a:effectLst/>
                <a:uLnTx/>
                <a:uFillTx/>
                <a:latin typeface="Segoe UI"/>
                <a:ea typeface="+mn-ea"/>
                <a:cs typeface="Arial"/>
                <a:sym typeface="Arial"/>
              </a:rPr>
              <a:t>60%</a:t>
            </a:r>
          </a:p>
        </p:txBody>
      </p:sp>
      <p:grpSp>
        <p:nvGrpSpPr>
          <p:cNvPr id="184" name="Group 183">
            <a:extLst>
              <a:ext uri="{FF2B5EF4-FFF2-40B4-BE49-F238E27FC236}">
                <a16:creationId xmlns:a16="http://schemas.microsoft.com/office/drawing/2014/main" id="{291D2843-B380-D391-6CB2-167478A3605D}"/>
              </a:ext>
            </a:extLst>
          </p:cNvPr>
          <p:cNvGrpSpPr/>
          <p:nvPr/>
        </p:nvGrpSpPr>
        <p:grpSpPr>
          <a:xfrm>
            <a:off x="367990" y="4820884"/>
            <a:ext cx="342000" cy="342000"/>
            <a:chOff x="8891371" y="2802104"/>
            <a:chExt cx="683808" cy="683808"/>
          </a:xfrm>
          <a:solidFill>
            <a:schemeClr val="tx1">
              <a:lumMod val="50000"/>
              <a:lumOff val="50000"/>
            </a:schemeClr>
          </a:solidFill>
        </p:grpSpPr>
        <p:sp>
          <p:nvSpPr>
            <p:cNvPr id="185" name="Rounded Rectangle 31">
              <a:extLst>
                <a:ext uri="{FF2B5EF4-FFF2-40B4-BE49-F238E27FC236}">
                  <a16:creationId xmlns:a16="http://schemas.microsoft.com/office/drawing/2014/main" id="{0ED4CA89-A390-64B7-5DEB-019AC130C77B}"/>
                </a:ext>
              </a:extLst>
            </p:cNvPr>
            <p:cNvSpPr/>
            <p:nvPr/>
          </p:nvSpPr>
          <p:spPr>
            <a:xfrm>
              <a:off x="8891371" y="2802104"/>
              <a:ext cx="683808" cy="683808"/>
            </a:xfrm>
            <a:prstGeom prst="roundRect">
              <a:avLst>
                <a:gd name="adj" fmla="val 50000"/>
              </a:avLst>
            </a:prstGeom>
            <a:gr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pic>
          <p:nvPicPr>
            <p:cNvPr id="186" name="Picture 185" descr="ic_people_w.png">
              <a:extLst>
                <a:ext uri="{FF2B5EF4-FFF2-40B4-BE49-F238E27FC236}">
                  <a16:creationId xmlns:a16="http://schemas.microsoft.com/office/drawing/2014/main" id="{E775A239-D9D1-C8B0-F626-E8BA574A9456}"/>
                </a:ext>
              </a:extLst>
            </p:cNvPr>
            <p:cNvPicPr>
              <a:picLocks noChangeAspect="1"/>
            </p:cNvPicPr>
            <p:nvPr/>
          </p:nvPicPr>
          <p:blipFill>
            <a:blip r:embed="rId9"/>
            <a:stretch>
              <a:fillRect/>
            </a:stretch>
          </p:blipFill>
          <p:spPr>
            <a:xfrm>
              <a:off x="9041810" y="2952541"/>
              <a:ext cx="382932" cy="382932"/>
            </a:xfrm>
            <a:prstGeom prst="rect">
              <a:avLst/>
            </a:prstGeom>
            <a:grpFill/>
          </p:spPr>
        </p:pic>
      </p:grpSp>
      <p:sp>
        <p:nvSpPr>
          <p:cNvPr id="4" name="Rounded Rectangle 193">
            <a:extLst>
              <a:ext uri="{FF2B5EF4-FFF2-40B4-BE49-F238E27FC236}">
                <a16:creationId xmlns:a16="http://schemas.microsoft.com/office/drawing/2014/main" id="{B348BE0A-A454-0708-A1D2-3A62082FC176}"/>
              </a:ext>
            </a:extLst>
          </p:cNvPr>
          <p:cNvSpPr/>
          <p:nvPr/>
        </p:nvSpPr>
        <p:spPr>
          <a:xfrm>
            <a:off x="6368436" y="6051291"/>
            <a:ext cx="5577840" cy="438116"/>
          </a:xfrm>
          <a:prstGeom prst="roundRect">
            <a:avLst>
              <a:gd name="adj" fmla="val 20000"/>
            </a:avLst>
          </a:prstGeom>
          <a:solidFill>
            <a:srgbClr val="023D20"/>
          </a:solidFill>
          <a:ln w="15875">
            <a:solidFill>
              <a:srgbClr val="86BC25"/>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sz="1000" b="1" i="0" u="none" strike="noStrike" kern="1200" cap="none" spc="0" normalizeH="0" baseline="0" noProof="0" dirty="0">
                <a:ln>
                  <a:noFill/>
                </a:ln>
                <a:solidFill>
                  <a:srgbClr val="86BC25"/>
                </a:solidFill>
                <a:effectLst/>
                <a:uLnTx/>
                <a:uFillTx/>
                <a:latin typeface="Segoe UI"/>
                <a:ea typeface="+mn-ea"/>
                <a:cs typeface="+mn-cs"/>
                <a:sym typeface="Arial"/>
              </a:rPr>
              <a:t>Beyond the barriers: </a:t>
            </a:r>
            <a:r>
              <a:rPr kumimoji="0" lang="en-US" sz="1000" b="0" i="0" u="none" strike="noStrike" kern="1200" cap="none" spc="0" normalizeH="0" baseline="0" noProof="0" dirty="0">
                <a:ln>
                  <a:noFill/>
                </a:ln>
                <a:solidFill>
                  <a:srgbClr val="FFFFFF"/>
                </a:solidFill>
                <a:effectLst/>
                <a:uLnTx/>
                <a:uFillTx/>
                <a:latin typeface="Segoe UI"/>
                <a:ea typeface="+mn-ea"/>
                <a:cs typeface="+mn-cs"/>
                <a:sym typeface="Arial"/>
              </a:rPr>
              <a:t>A central utility also connects each sector's partial view of the fraud lifecycle, so fraud can be spotted and stopped earlier. </a:t>
            </a:r>
            <a:endParaRPr kumimoji="0" lang="en-CA" sz="1000" b="0" i="0" u="none" strike="noStrike" kern="1200" cap="none" spc="0" normalizeH="0" baseline="0" noProof="0" dirty="0">
              <a:ln>
                <a:noFill/>
              </a:ln>
              <a:solidFill>
                <a:srgbClr val="FFFFFF"/>
              </a:solidFill>
              <a:effectLst/>
              <a:uLnTx/>
              <a:uFillTx/>
              <a:latin typeface="Segoe UI"/>
              <a:ea typeface="+mn-ea"/>
              <a:cs typeface="+mn-cs"/>
              <a:sym typeface="Arial"/>
            </a:endParaRPr>
          </a:p>
        </p:txBody>
      </p:sp>
      <p:grpSp>
        <p:nvGrpSpPr>
          <p:cNvPr id="7" name="Group 6">
            <a:extLst>
              <a:ext uri="{FF2B5EF4-FFF2-40B4-BE49-F238E27FC236}">
                <a16:creationId xmlns:a16="http://schemas.microsoft.com/office/drawing/2014/main" id="{C69452AB-A9AB-99DB-35BE-DB21F0CD73CB}"/>
              </a:ext>
            </a:extLst>
          </p:cNvPr>
          <p:cNvGrpSpPr/>
          <p:nvPr/>
        </p:nvGrpSpPr>
        <p:grpSpPr>
          <a:xfrm>
            <a:off x="249638" y="464705"/>
            <a:ext cx="11521440" cy="585793"/>
            <a:chOff x="249638" y="464705"/>
            <a:chExt cx="11521440" cy="585793"/>
          </a:xfrm>
        </p:grpSpPr>
        <p:sp>
          <p:nvSpPr>
            <p:cNvPr id="8" name="Text 22">
              <a:extLst>
                <a:ext uri="{FF2B5EF4-FFF2-40B4-BE49-F238E27FC236}">
                  <a16:creationId xmlns:a16="http://schemas.microsoft.com/office/drawing/2014/main" id="{FC301557-2BFE-D0F2-64CF-02F262D1C6E5}"/>
                </a:ext>
              </a:extLst>
            </p:cNvPr>
            <p:cNvSpPr/>
            <p:nvPr/>
          </p:nvSpPr>
          <p:spPr>
            <a:xfrm>
              <a:off x="249638" y="464705"/>
              <a:ext cx="7847726" cy="232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0" cap="none" spc="80" normalizeH="0" baseline="0" noProof="0" dirty="0">
                  <a:ln>
                    <a:noFill/>
                  </a:ln>
                  <a:solidFill>
                    <a:srgbClr val="86BC25"/>
                  </a:solidFill>
                  <a:effectLst/>
                  <a:uLnTx/>
                  <a:uFillTx/>
                  <a:latin typeface="Segoe UI" panose="020B0502040204020203" pitchFamily="34" charset="0"/>
                  <a:ea typeface="Arial" pitchFamily="34" charset="-122"/>
                  <a:cs typeface="Segoe UI" panose="020B0502040204020203" pitchFamily="34" charset="0"/>
                  <a:sym typeface="Arial"/>
                </a:rPr>
                <a:t>THE SOLUTION</a:t>
              </a:r>
            </a:p>
          </p:txBody>
        </p:sp>
        <p:sp>
          <p:nvSpPr>
            <p:cNvPr id="9" name="TextBox 8">
              <a:extLst>
                <a:ext uri="{FF2B5EF4-FFF2-40B4-BE49-F238E27FC236}">
                  <a16:creationId xmlns:a16="http://schemas.microsoft.com/office/drawing/2014/main" id="{DEAC3A66-00C7-D887-E769-A663F3FF0193}"/>
                </a:ext>
              </a:extLst>
            </p:cNvPr>
            <p:cNvSpPr txBox="1"/>
            <p:nvPr/>
          </p:nvSpPr>
          <p:spPr>
            <a:xfrm>
              <a:off x="249638" y="711944"/>
              <a:ext cx="11521440" cy="33855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 typeface="Arial"/>
                <a:buNone/>
                <a:tabLst/>
                <a:defRPr/>
              </a:pPr>
              <a:r>
                <a:rPr kumimoji="0" lang="en-US" sz="2200" b="1" i="0" u="none" strike="noStrike" kern="1200" cap="none" spc="0" normalizeH="0" baseline="0" noProof="0" dirty="0">
                  <a:ln>
                    <a:noFill/>
                  </a:ln>
                  <a:solidFill>
                    <a:srgbClr val="FFFFFF"/>
                  </a:solidFill>
                  <a:effectLst/>
                  <a:uLnTx/>
                  <a:uFillTx/>
                  <a:latin typeface="Segoe UI"/>
                  <a:cs typeface="Arial"/>
                  <a:sym typeface="Arial"/>
                </a:rPr>
                <a:t>A centralized utility addresses all three barriers at the source</a:t>
              </a:r>
            </a:p>
          </p:txBody>
        </p:sp>
      </p:grpSp>
      <p:sp>
        <p:nvSpPr>
          <p:cNvPr id="13" name="Rectangle 12">
            <a:extLst>
              <a:ext uri="{FF2B5EF4-FFF2-40B4-BE49-F238E27FC236}">
                <a16:creationId xmlns:a16="http://schemas.microsoft.com/office/drawing/2014/main" id="{B593C267-6BF3-292A-A711-6037C4F1409F}"/>
              </a:ext>
            </a:extLst>
          </p:cNvPr>
          <p:cNvSpPr/>
          <p:nvPr/>
        </p:nvSpPr>
        <p:spPr>
          <a:xfrm>
            <a:off x="208221" y="6680947"/>
            <a:ext cx="2769649" cy="11694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marL="0" marR="0" lvl="0" indent="0" algn="just" defTabSz="914400" rtl="0" eaLnBrk="1" fontAlgn="auto" latinLnBrk="0" hangingPunct="1">
              <a:lnSpc>
                <a:spcPct val="100000"/>
              </a:lnSpc>
              <a:spcBef>
                <a:spcPts val="0"/>
              </a:spcBef>
              <a:spcAft>
                <a:spcPts val="0"/>
              </a:spcAft>
              <a:buClrTx/>
              <a:buSzTx/>
              <a:buFont typeface="Arial"/>
              <a:buNone/>
              <a:tabLst/>
              <a:defRPr/>
            </a:pPr>
            <a:r>
              <a:rPr kumimoji="0" lang="en-US" sz="800" b="0" i="0" u="none" strike="noStrike" kern="1200" cap="none" spc="0" normalizeH="0" baseline="0" noProof="0" dirty="0">
                <a:ln>
                  <a:noFill/>
                </a:ln>
                <a:solidFill>
                  <a:srgbClr val="FFFFFF"/>
                </a:solidFill>
                <a:effectLst/>
                <a:uLnTx/>
                <a:uFillTx/>
                <a:latin typeface="Segoe UI" panose="020B0502040204020203" pitchFamily="34" charset="0"/>
                <a:ea typeface="Open Sans" panose="020B0606030504020204" pitchFamily="34" charset="0"/>
                <a:cs typeface="Segoe UI" panose="020B0502040204020203" pitchFamily="34" charset="0"/>
                <a:sym typeface="Arial"/>
              </a:rPr>
              <a:t>For detailed data please refer to </a:t>
            </a:r>
            <a:r>
              <a:rPr kumimoji="0" lang="en-US" sz="800" b="0" i="0" u="none" strike="noStrike" kern="1200" cap="none" spc="0" normalizeH="0" baseline="0" noProof="0" dirty="0">
                <a:ln>
                  <a:noFill/>
                </a:ln>
                <a:solidFill>
                  <a:srgbClr val="FFFFFF"/>
                </a:solidFill>
                <a:effectLst/>
                <a:uLnTx/>
                <a:uFillTx/>
                <a:latin typeface="Segoe UI" panose="020B0502040204020203" pitchFamily="34" charset="0"/>
                <a:ea typeface="Open Sans" panose="020B0606030504020204" pitchFamily="34" charset="0"/>
                <a:cs typeface="Segoe UI" panose="020B0502040204020203" pitchFamily="34" charset="0"/>
                <a:sym typeface="Arial"/>
                <a:hlinkClick r:id="" action="ppaction://noaction">
                  <a:extLst>
                    <a:ext uri="{A12FA001-AC4F-418D-AE19-62706E023703}">
                      <ahyp:hlinkClr xmlns:ahyp="http://schemas.microsoft.com/office/drawing/2018/hyperlinkcolor" val="tx"/>
                    </a:ext>
                  </a:extLst>
                </a:hlinkClick>
              </a:rPr>
              <a:t>Appendix – C </a:t>
            </a:r>
            <a:endParaRPr kumimoji="0" lang="en-US" sz="800" b="0" i="0" u="none" strike="noStrike" kern="1200" cap="none" spc="0" normalizeH="0" baseline="0" noProof="0" dirty="0">
              <a:ln>
                <a:noFill/>
              </a:ln>
              <a:solidFill>
                <a:srgbClr val="FFFFFF"/>
              </a:solidFill>
              <a:effectLst/>
              <a:uLnTx/>
              <a:uFillTx/>
              <a:latin typeface="Segoe UI" panose="020B0502040204020203" pitchFamily="34" charset="0"/>
              <a:ea typeface="Open Sans" panose="020B0606030504020204" pitchFamily="34" charset="0"/>
              <a:cs typeface="Segoe UI" panose="020B0502040204020203" pitchFamily="34" charset="0"/>
              <a:sym typeface="Arial"/>
            </a:endParaRPr>
          </a:p>
        </p:txBody>
      </p:sp>
    </p:spTree>
    <p:extLst>
      <p:ext uri="{BB962C8B-B14F-4D97-AF65-F5344CB8AC3E}">
        <p14:creationId xmlns:p14="http://schemas.microsoft.com/office/powerpoint/2010/main" val="15144592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80000"/>
            <a:lum/>
          </a:blip>
          <a:srcRect/>
          <a:stretch>
            <a:fillRect/>
          </a:stretch>
        </a:blipFill>
        <a:effectLst/>
      </p:bgPr>
    </p:bg>
    <p:spTree>
      <p:nvGrpSpPr>
        <p:cNvPr id="1" name="">
          <a:extLst>
            <a:ext uri="{FF2B5EF4-FFF2-40B4-BE49-F238E27FC236}">
              <a16:creationId xmlns:a16="http://schemas.microsoft.com/office/drawing/2014/main" id="{B5E8CA1D-7E59-1B51-6C68-80A59E433675}"/>
            </a:ext>
          </a:extLst>
        </p:cNvPr>
        <p:cNvGrpSpPr/>
        <p:nvPr/>
      </p:nvGrpSpPr>
      <p:grpSpPr>
        <a:xfrm>
          <a:off x="0" y="0"/>
          <a:ext cx="0" cy="0"/>
          <a:chOff x="0" y="0"/>
          <a:chExt cx="0" cy="0"/>
        </a:xfrm>
      </p:grpSpPr>
      <p:sp>
        <p:nvSpPr>
          <p:cNvPr id="10" name="Text Placeholder 3">
            <a:extLst>
              <a:ext uri="{FF2B5EF4-FFF2-40B4-BE49-F238E27FC236}">
                <a16:creationId xmlns:a16="http://schemas.microsoft.com/office/drawing/2014/main" id="{08C2B63A-5DF8-1E37-A627-70A4C1927B18}"/>
              </a:ext>
            </a:extLst>
          </p:cNvPr>
          <p:cNvSpPr txBox="1">
            <a:spLocks/>
          </p:cNvSpPr>
          <p:nvPr/>
        </p:nvSpPr>
        <p:spPr>
          <a:xfrm>
            <a:off x="0" y="0"/>
            <a:ext cx="12192000" cy="6858000"/>
          </a:xfrm>
          <a:prstGeom prst="rect">
            <a:avLst/>
          </a:prstGeom>
          <a:solidFill>
            <a:schemeClr val="tx1">
              <a:lumMod val="75000"/>
              <a:lumOff val="25000"/>
              <a:alpha val="70000"/>
            </a:schemeClr>
          </a:solidFill>
          <a:ln>
            <a:noFill/>
          </a:ln>
        </p:spPr>
        <p:txBody>
          <a:bodyPr spcFirstLastPara="1" wrap="square" lIns="365760" tIns="182880" rIns="0" bIns="0" anchor="ctr"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Open Sans"/>
                <a:ea typeface="Open Sans"/>
                <a:cs typeface="Open Sans"/>
                <a:sym typeface="Open Sans"/>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Open Sans"/>
                <a:ea typeface="Open Sans"/>
                <a:cs typeface="Open Sans"/>
                <a:sym typeface="Open Sans"/>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Open Sans"/>
                <a:ea typeface="Open Sans"/>
                <a:cs typeface="Open Sans"/>
                <a:sym typeface="Open Sans"/>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pen Sans"/>
                <a:ea typeface="Open Sans"/>
                <a:cs typeface="Open Sans"/>
                <a:sym typeface="Open Sans"/>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pen Sans"/>
                <a:ea typeface="Open Sans"/>
                <a:cs typeface="Open Sans"/>
                <a:sym typeface="Open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sz="2800" b="1" i="0" u="none" strike="noStrike" kern="0" cap="none" spc="0" normalizeH="0" baseline="0" noProof="0" dirty="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sz="2800" b="1" i="0" u="none" strike="noStrike" kern="0" cap="none" spc="0" normalizeH="0" baseline="0" noProof="0" dirty="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sz="2800" b="1" i="0" u="none" strike="noStrike" kern="0" cap="none" spc="0" normalizeH="0" baseline="0" noProof="0" dirty="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sz="2800" b="1" i="0" u="none" strike="noStrike" kern="0" cap="none" spc="0" normalizeH="0" baseline="0" noProof="0" dirty="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sz="2800" b="1" i="0" u="none" strike="noStrike" kern="0" cap="none" spc="0" normalizeH="0" baseline="0" noProof="0" dirty="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r>
              <a:rPr kumimoji="0" lang="en-US" sz="2800" b="1" i="0" u="none" strike="noStrike" kern="0" cap="none" spc="0" normalizeH="0" baseline="0" noProof="0" dirty="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rPr>
              <a:t>3. Operating Model Transformation</a:t>
            </a: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sz="2800" b="0" i="0" u="none" strike="noStrike" kern="0" cap="none" spc="0" normalizeH="0" baseline="0" noProof="0" dirty="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r>
              <a:rPr kumimoji="0" lang="en-US" sz="2000" b="0" i="1" u="none" strike="noStrike" kern="0" cap="none" spc="0" normalizeH="0" baseline="0" noProof="0" dirty="0">
                <a:ln>
                  <a:noFill/>
                </a:ln>
                <a:solidFill>
                  <a:srgbClr val="FFFFFF"/>
                </a:solidFill>
                <a:effectLst/>
                <a:uLnTx/>
                <a:uFillTx/>
                <a:latin typeface="Calibri" pitchFamily="34" charset="0"/>
                <a:ea typeface="Calibri" pitchFamily="34" charset="-122"/>
                <a:cs typeface="Calibri" pitchFamily="34" charset="-120"/>
                <a:sym typeface="Open Sans"/>
              </a:rPr>
              <a:t>"Currently we are automating most of our operational tasks and enabling AI tools with human oversight to verify the complex cases to minimize the related risks." — </a:t>
            </a:r>
            <a:r>
              <a:rPr kumimoji="0" lang="en-US" sz="2000" b="1" i="1" u="none" strike="noStrike" kern="0" cap="none" spc="0" normalizeH="0" baseline="0" noProof="0" dirty="0">
                <a:ln>
                  <a:noFill/>
                </a:ln>
                <a:solidFill>
                  <a:srgbClr val="FFFFFF"/>
                </a:solidFill>
                <a:effectLst/>
                <a:uLnTx/>
                <a:uFillTx/>
                <a:latin typeface="Calibri" pitchFamily="34" charset="0"/>
                <a:ea typeface="Calibri" pitchFamily="34" charset="-122"/>
                <a:cs typeface="Calibri" pitchFamily="34" charset="-120"/>
                <a:sym typeface="Open Sans"/>
              </a:rPr>
              <a:t>Senior Manager of Top 100 Global Financial Institution</a:t>
            </a:r>
          </a:p>
        </p:txBody>
      </p:sp>
    </p:spTree>
    <p:extLst>
      <p:ext uri="{BB962C8B-B14F-4D97-AF65-F5344CB8AC3E}">
        <p14:creationId xmlns:p14="http://schemas.microsoft.com/office/powerpoint/2010/main" val="207326941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E87DE6-1A32-D3C4-9330-FB1ECC0D858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00D8B53-4806-7938-A6D7-CEAF39330B16}"/>
              </a:ext>
            </a:extLst>
          </p:cNvPr>
          <p:cNvSpPr/>
          <p:nvPr/>
        </p:nvSpPr>
        <p:spPr>
          <a:xfrm>
            <a:off x="0" y="0"/>
            <a:ext cx="12191695" cy="33832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dirty="0">
              <a:ln>
                <a:noFill/>
              </a:ln>
              <a:solidFill>
                <a:srgbClr val="FFFFFF"/>
              </a:solidFill>
              <a:effectLst/>
              <a:uLnTx/>
              <a:uFillTx/>
              <a:latin typeface="Arial"/>
              <a:ea typeface="+mn-ea"/>
              <a:cs typeface="+mn-cs"/>
              <a:sym typeface="Arial"/>
            </a:endParaRPr>
          </a:p>
        </p:txBody>
      </p:sp>
      <p:sp>
        <p:nvSpPr>
          <p:cNvPr id="32" name="Rectangle: Rounded Corners 31">
            <a:extLst>
              <a:ext uri="{FF2B5EF4-FFF2-40B4-BE49-F238E27FC236}">
                <a16:creationId xmlns:a16="http://schemas.microsoft.com/office/drawing/2014/main" id="{CCAF0DAB-1DE5-7E56-9C90-F8DDBFE0A8EC}"/>
              </a:ext>
            </a:extLst>
          </p:cNvPr>
          <p:cNvSpPr/>
          <p:nvPr/>
        </p:nvSpPr>
        <p:spPr>
          <a:xfrm>
            <a:off x="245871" y="1795716"/>
            <a:ext cx="5916632" cy="2497601"/>
          </a:xfrm>
          <a:prstGeom prst="roundRect">
            <a:avLst>
              <a:gd name="adj" fmla="val 6627"/>
            </a:avLst>
          </a:prstGeom>
          <a:noFill/>
          <a:ln w="28575">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CA" sz="1400" b="0" i="0" u="none" strike="noStrike" kern="0" cap="none" spc="0" normalizeH="0" baseline="0" noProof="0" dirty="0">
              <a:ln>
                <a:noFill/>
              </a:ln>
              <a:solidFill>
                <a:srgbClr val="FFFFFF"/>
              </a:solidFill>
              <a:effectLst/>
              <a:uLnTx/>
              <a:uFillTx/>
              <a:latin typeface="Arial"/>
              <a:ea typeface="+mn-ea"/>
              <a:cs typeface="+mn-cs"/>
              <a:sym typeface="Arial"/>
            </a:endParaRPr>
          </a:p>
        </p:txBody>
      </p:sp>
      <p:sp>
        <p:nvSpPr>
          <p:cNvPr id="42" name="TextBox 41">
            <a:extLst>
              <a:ext uri="{FF2B5EF4-FFF2-40B4-BE49-F238E27FC236}">
                <a16:creationId xmlns:a16="http://schemas.microsoft.com/office/drawing/2014/main" id="{6DA7A109-5812-469F-EA71-C62CBD8BAC98}"/>
              </a:ext>
            </a:extLst>
          </p:cNvPr>
          <p:cNvSpPr txBox="1"/>
          <p:nvPr/>
        </p:nvSpPr>
        <p:spPr>
          <a:xfrm>
            <a:off x="320040" y="1155192"/>
            <a:ext cx="11521440" cy="430887"/>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Most fraud leaders describe their programs as integrated or advanced. Banking respondents report higher maturity than insurers (85% vs. 72%), and within both sectors the largest institutions lead.</a:t>
            </a:r>
          </a:p>
        </p:txBody>
      </p:sp>
      <p:grpSp>
        <p:nvGrpSpPr>
          <p:cNvPr id="3" name="Group 2">
            <a:extLst>
              <a:ext uri="{FF2B5EF4-FFF2-40B4-BE49-F238E27FC236}">
                <a16:creationId xmlns:a16="http://schemas.microsoft.com/office/drawing/2014/main" id="{0B950AC0-4F85-528D-CA70-517E18F778F0}"/>
              </a:ext>
            </a:extLst>
          </p:cNvPr>
          <p:cNvGrpSpPr/>
          <p:nvPr/>
        </p:nvGrpSpPr>
        <p:grpSpPr>
          <a:xfrm>
            <a:off x="245871" y="4582097"/>
            <a:ext cx="5886444" cy="1403624"/>
            <a:chOff x="6053691" y="4646300"/>
            <a:chExt cx="5886444" cy="1403624"/>
          </a:xfrm>
        </p:grpSpPr>
        <p:sp>
          <p:nvSpPr>
            <p:cNvPr id="68" name="TextBox 67">
              <a:extLst>
                <a:ext uri="{FF2B5EF4-FFF2-40B4-BE49-F238E27FC236}">
                  <a16:creationId xmlns:a16="http://schemas.microsoft.com/office/drawing/2014/main" id="{F9042F63-40AB-814D-FDBD-D552CFF8524C}"/>
                </a:ext>
              </a:extLst>
            </p:cNvPr>
            <p:cNvSpPr txBox="1"/>
            <p:nvPr/>
          </p:nvSpPr>
          <p:spPr>
            <a:xfrm>
              <a:off x="6265566" y="4646300"/>
              <a:ext cx="5486400" cy="200055"/>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300" b="1" i="0" u="none" strike="noStrike" kern="1200" cap="none" spc="0" normalizeH="0" baseline="0" noProof="0" dirty="0">
                  <a:ln>
                    <a:noFill/>
                  </a:ln>
                  <a:solidFill>
                    <a:srgbClr val="046A38"/>
                  </a:solidFill>
                  <a:effectLst/>
                  <a:uLnTx/>
                  <a:uFillTx/>
                  <a:latin typeface="Segoe UI" panose="020B0502040204020203" pitchFamily="34" charset="0"/>
                  <a:ea typeface="+mn-ea"/>
                  <a:cs typeface="Segoe UI" panose="020B0502040204020203" pitchFamily="34" charset="0"/>
                  <a:sym typeface="Arial"/>
                </a:rPr>
                <a:t>MATURITY RISES WITH </a:t>
              </a:r>
              <a:r>
                <a:rPr kumimoji="0" lang="en-US" sz="1300" b="1" i="0" u="none" strike="noStrike" kern="1200" cap="none" spc="0" normalizeH="0" baseline="0" noProof="0" dirty="0">
                  <a:ln>
                    <a:noFill/>
                  </a:ln>
                  <a:solidFill>
                    <a:srgbClr val="046A38"/>
                  </a:solidFill>
                  <a:effectLst/>
                  <a:uLnTx/>
                  <a:uFillTx/>
                  <a:latin typeface="Segoe UI" panose="020B0502040204020203" pitchFamily="34" charset="0"/>
                  <a:ea typeface="+mn-ea"/>
                  <a:cs typeface="Segoe UI" panose="020B0502040204020203" pitchFamily="34" charset="0"/>
                  <a:sym typeface="Arial"/>
                </a:rPr>
                <a:t>INSTITUTION SIZE</a:t>
              </a:r>
              <a:endParaRPr kumimoji="0" sz="1300" b="1" i="0" u="none" strike="noStrike" kern="1200" cap="none" spc="0" normalizeH="0" baseline="0" noProof="0" dirty="0">
                <a:ln>
                  <a:noFill/>
                </a:ln>
                <a:solidFill>
                  <a:srgbClr val="046A38"/>
                </a:solidFill>
                <a:effectLst/>
                <a:uLnTx/>
                <a:uFillTx/>
                <a:latin typeface="Segoe UI" panose="020B0502040204020203" pitchFamily="34" charset="0"/>
                <a:ea typeface="+mn-ea"/>
                <a:cs typeface="Segoe UI" panose="020B0502040204020203" pitchFamily="34" charset="0"/>
                <a:sym typeface="Arial"/>
              </a:endParaRPr>
            </a:p>
          </p:txBody>
        </p:sp>
        <p:sp>
          <p:nvSpPr>
            <p:cNvPr id="70" name="TextBox 69">
              <a:extLst>
                <a:ext uri="{FF2B5EF4-FFF2-40B4-BE49-F238E27FC236}">
                  <a16:creationId xmlns:a16="http://schemas.microsoft.com/office/drawing/2014/main" id="{688A0E3B-1430-FA44-16AC-EE15186EEB29}"/>
                </a:ext>
              </a:extLst>
            </p:cNvPr>
            <p:cNvSpPr txBox="1"/>
            <p:nvPr/>
          </p:nvSpPr>
          <p:spPr>
            <a:xfrm>
              <a:off x="6265566" y="4859857"/>
              <a:ext cx="5486400" cy="184666"/>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200" b="0" i="0" u="none" strike="noStrike" kern="1200" cap="none" spc="0" normalizeH="0" baseline="0" noProof="0" dirty="0">
                  <a:ln>
                    <a:noFill/>
                  </a:ln>
                  <a:solidFill>
                    <a:srgbClr val="FFFFFF">
                      <a:lumMod val="50000"/>
                    </a:srgbClr>
                  </a:solidFill>
                  <a:effectLst/>
                  <a:uLnTx/>
                  <a:uFillTx/>
                  <a:latin typeface="Segoe UI" panose="020B0502040204020203" pitchFamily="34" charset="0"/>
                  <a:ea typeface="+mn-ea"/>
                  <a:cs typeface="Segoe UI" panose="020B0502040204020203" pitchFamily="34" charset="0"/>
                  <a:sym typeface="Arial"/>
                </a:rPr>
                <a:t>% rating their program </a:t>
              </a:r>
              <a:r>
                <a:rPr kumimoji="0" sz="1200" b="1" i="0" u="none" strike="noStrike" kern="1200" cap="none" spc="0" normalizeH="0" baseline="0" noProof="0" dirty="0">
                  <a:ln>
                    <a:noFill/>
                  </a:ln>
                  <a:solidFill>
                    <a:srgbClr val="FFFFFF">
                      <a:lumMod val="50000"/>
                    </a:srgbClr>
                  </a:solidFill>
                  <a:effectLst/>
                  <a:uLnTx/>
                  <a:uFillTx/>
                  <a:latin typeface="Segoe UI" panose="020B0502040204020203" pitchFamily="34" charset="0"/>
                  <a:ea typeface="+mn-ea"/>
                  <a:cs typeface="Segoe UI" panose="020B0502040204020203" pitchFamily="34" charset="0"/>
                  <a:sym typeface="Arial"/>
                </a:rPr>
                <a:t>integrated</a:t>
              </a:r>
              <a:r>
                <a:rPr kumimoji="0" sz="1200" b="0" i="0" u="none" strike="noStrike" kern="1200" cap="none" spc="0" normalizeH="0" baseline="0" noProof="0" dirty="0">
                  <a:ln>
                    <a:noFill/>
                  </a:ln>
                  <a:solidFill>
                    <a:srgbClr val="FFFFFF">
                      <a:lumMod val="50000"/>
                    </a:srgbClr>
                  </a:solidFill>
                  <a:effectLst/>
                  <a:uLnTx/>
                  <a:uFillTx/>
                  <a:latin typeface="Segoe UI" panose="020B0502040204020203" pitchFamily="34" charset="0"/>
                  <a:ea typeface="+mn-ea"/>
                  <a:cs typeface="Segoe UI" panose="020B0502040204020203" pitchFamily="34" charset="0"/>
                  <a:sym typeface="Arial"/>
                </a:rPr>
                <a:t> or </a:t>
              </a:r>
              <a:r>
                <a:rPr kumimoji="0" sz="1200" b="1" i="0" u="none" strike="noStrike" kern="1200" cap="none" spc="0" normalizeH="0" baseline="0" noProof="0" dirty="0">
                  <a:ln>
                    <a:noFill/>
                  </a:ln>
                  <a:solidFill>
                    <a:srgbClr val="FFFFFF">
                      <a:lumMod val="50000"/>
                    </a:srgbClr>
                  </a:solidFill>
                  <a:effectLst/>
                  <a:uLnTx/>
                  <a:uFillTx/>
                  <a:latin typeface="Segoe UI" panose="020B0502040204020203" pitchFamily="34" charset="0"/>
                  <a:ea typeface="+mn-ea"/>
                  <a:cs typeface="Segoe UI" panose="020B0502040204020203" pitchFamily="34" charset="0"/>
                  <a:sym typeface="Arial"/>
                </a:rPr>
                <a:t>advanced</a:t>
              </a:r>
            </a:p>
          </p:txBody>
        </p:sp>
        <p:sp>
          <p:nvSpPr>
            <p:cNvPr id="72" name="TextBox 71">
              <a:extLst>
                <a:ext uri="{FF2B5EF4-FFF2-40B4-BE49-F238E27FC236}">
                  <a16:creationId xmlns:a16="http://schemas.microsoft.com/office/drawing/2014/main" id="{67E4D846-A343-D8F4-A264-E05ACE34214D}"/>
                </a:ext>
              </a:extLst>
            </p:cNvPr>
            <p:cNvSpPr txBox="1"/>
            <p:nvPr/>
          </p:nvSpPr>
          <p:spPr>
            <a:xfrm>
              <a:off x="6053691" y="5129822"/>
              <a:ext cx="2466136" cy="169277"/>
            </a:xfrm>
            <a:prstGeom prst="rect">
              <a:avLst/>
            </a:prstGeom>
            <a:noFill/>
          </p:spPr>
          <p:txBody>
            <a:bodyPr wrap="square" lIns="0" tIns="0" rIns="0" bIns="0" anchor="ctr">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dirty="0">
                  <a:ln>
                    <a:noFill/>
                  </a:ln>
                  <a:solidFill>
                    <a:srgbClr val="4EA72E"/>
                  </a:solidFill>
                  <a:effectLst/>
                  <a:uLnTx/>
                  <a:uFillTx/>
                  <a:latin typeface="Segoe UI" panose="020B0502040204020203" pitchFamily="34" charset="0"/>
                  <a:ea typeface="+mn-ea"/>
                  <a:cs typeface="Segoe UI" panose="020B0502040204020203" pitchFamily="34" charset="0"/>
                  <a:sym typeface="Arial"/>
                </a:rPr>
                <a:t>Top 100 Global </a:t>
              </a:r>
              <a:r>
                <a:rPr kumimoji="0" lang="en-US" sz="1100" b="1" i="0" u="none" strike="noStrike" kern="1200" cap="none" spc="0" normalizeH="0" baseline="0" noProof="0" dirty="0">
                  <a:ln>
                    <a:noFill/>
                  </a:ln>
                  <a:solidFill>
                    <a:srgbClr val="4EA72E"/>
                  </a:solidFill>
                  <a:effectLst/>
                  <a:uLnTx/>
                  <a:uFillTx/>
                  <a:latin typeface="Segoe UI" panose="020B0502040204020203" pitchFamily="34" charset="0"/>
                  <a:ea typeface="+mn-ea"/>
                  <a:cs typeface="Segoe UI" panose="020B0502040204020203" pitchFamily="34" charset="0"/>
                  <a:sym typeface="Arial"/>
                </a:rPr>
                <a:t>Financial Institutions</a:t>
              </a:r>
              <a:endParaRPr kumimoji="0" sz="1100" b="1" i="0" u="none" strike="noStrike" kern="1200" cap="none" spc="0" normalizeH="0" baseline="0" noProof="0" dirty="0">
                <a:ln>
                  <a:noFill/>
                </a:ln>
                <a:solidFill>
                  <a:srgbClr val="4EA72E"/>
                </a:solidFill>
                <a:effectLst/>
                <a:uLnTx/>
                <a:uFillTx/>
                <a:latin typeface="Segoe UI" panose="020B0502040204020203" pitchFamily="34" charset="0"/>
                <a:ea typeface="+mn-ea"/>
                <a:cs typeface="Segoe UI" panose="020B0502040204020203" pitchFamily="34" charset="0"/>
                <a:sym typeface="Arial"/>
              </a:endParaRPr>
            </a:p>
          </p:txBody>
        </p:sp>
        <p:sp>
          <p:nvSpPr>
            <p:cNvPr id="74" name="Rectangle 73">
              <a:extLst>
                <a:ext uri="{FF2B5EF4-FFF2-40B4-BE49-F238E27FC236}">
                  <a16:creationId xmlns:a16="http://schemas.microsoft.com/office/drawing/2014/main" id="{A158BFC6-F81C-370D-8C61-D36A70E25C22}"/>
                </a:ext>
              </a:extLst>
            </p:cNvPr>
            <p:cNvSpPr/>
            <p:nvPr/>
          </p:nvSpPr>
          <p:spPr>
            <a:xfrm>
              <a:off x="8648295" y="5125541"/>
              <a:ext cx="2651760" cy="164592"/>
            </a:xfrm>
            <a:prstGeom prst="rect">
              <a:avLst/>
            </a:prstGeom>
            <a:solidFill>
              <a:srgbClr val="F0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76" name="Rectangle 75">
              <a:extLst>
                <a:ext uri="{FF2B5EF4-FFF2-40B4-BE49-F238E27FC236}">
                  <a16:creationId xmlns:a16="http://schemas.microsoft.com/office/drawing/2014/main" id="{2EC8FEE3-4945-B1DA-DC24-3BC18AACC1D8}"/>
                </a:ext>
              </a:extLst>
            </p:cNvPr>
            <p:cNvSpPr/>
            <p:nvPr/>
          </p:nvSpPr>
          <p:spPr>
            <a:xfrm>
              <a:off x="8648295" y="5125541"/>
              <a:ext cx="2466136" cy="164592"/>
            </a:xfrm>
            <a:prstGeom prst="rect">
              <a:avLst/>
            </a:prstGeom>
            <a:solidFill>
              <a:srgbClr val="4EA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78" name="TextBox 77">
              <a:extLst>
                <a:ext uri="{FF2B5EF4-FFF2-40B4-BE49-F238E27FC236}">
                  <a16:creationId xmlns:a16="http://schemas.microsoft.com/office/drawing/2014/main" id="{A7FEB9FB-6CAF-65AF-01D7-15425554D1B3}"/>
                </a:ext>
              </a:extLst>
            </p:cNvPr>
            <p:cNvSpPr txBox="1"/>
            <p:nvPr/>
          </p:nvSpPr>
          <p:spPr>
            <a:xfrm>
              <a:off x="11391495" y="5127045"/>
              <a:ext cx="548640" cy="161583"/>
            </a:xfrm>
            <a:prstGeom prst="rect">
              <a:avLst/>
            </a:prstGeom>
            <a:noFill/>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50" b="1" i="0" u="none" strike="noStrike" kern="1200" cap="none" spc="0" normalizeH="0" baseline="0" noProof="0" dirty="0">
                  <a:ln>
                    <a:noFill/>
                  </a:ln>
                  <a:solidFill>
                    <a:srgbClr val="4EA72E"/>
                  </a:solidFill>
                  <a:effectLst/>
                  <a:uLnTx/>
                  <a:uFillTx/>
                  <a:latin typeface="Segoe UI" panose="020B0502040204020203" pitchFamily="34" charset="0"/>
                  <a:ea typeface="+mn-ea"/>
                  <a:cs typeface="Segoe UI" panose="020B0502040204020203" pitchFamily="34" charset="0"/>
                  <a:sym typeface="Arial"/>
                </a:rPr>
                <a:t>93%</a:t>
              </a:r>
            </a:p>
          </p:txBody>
        </p:sp>
        <p:sp>
          <p:nvSpPr>
            <p:cNvPr id="80" name="TextBox 79">
              <a:extLst>
                <a:ext uri="{FF2B5EF4-FFF2-40B4-BE49-F238E27FC236}">
                  <a16:creationId xmlns:a16="http://schemas.microsoft.com/office/drawing/2014/main" id="{2C12C54A-288D-B617-B1DD-E3759BB17216}"/>
                </a:ext>
              </a:extLst>
            </p:cNvPr>
            <p:cNvSpPr txBox="1"/>
            <p:nvPr/>
          </p:nvSpPr>
          <p:spPr>
            <a:xfrm>
              <a:off x="6053691" y="5376711"/>
              <a:ext cx="2466136" cy="169277"/>
            </a:xfrm>
            <a:prstGeom prst="rect">
              <a:avLst/>
            </a:prstGeom>
            <a:noFill/>
          </p:spPr>
          <p:txBody>
            <a:bodyPr wrap="square" lIns="0" tIns="0" rIns="0" bIns="0" anchor="ctr">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dirty="0">
                  <a:ln>
                    <a:noFill/>
                  </a:ln>
                  <a:solidFill>
                    <a:srgbClr val="4EA72E"/>
                  </a:solidFill>
                  <a:effectLst/>
                  <a:uLnTx/>
                  <a:uFillTx/>
                  <a:latin typeface="Segoe UI" panose="020B0502040204020203" pitchFamily="34" charset="0"/>
                  <a:ea typeface="+mn-ea"/>
                  <a:cs typeface="Segoe UI" panose="020B0502040204020203" pitchFamily="34" charset="0"/>
                  <a:sym typeface="Arial"/>
                </a:rPr>
                <a:t>Large </a:t>
              </a:r>
              <a:r>
                <a:rPr kumimoji="0" lang="en-US" sz="1100" b="1" i="0" u="none" strike="noStrike" kern="1200" cap="none" spc="0" normalizeH="0" baseline="0" noProof="0" dirty="0">
                  <a:ln>
                    <a:noFill/>
                  </a:ln>
                  <a:solidFill>
                    <a:srgbClr val="4EA72E"/>
                  </a:solidFill>
                  <a:effectLst/>
                  <a:uLnTx/>
                  <a:uFillTx/>
                  <a:latin typeface="Segoe UI" panose="020B0502040204020203" pitchFamily="34" charset="0"/>
                  <a:ea typeface="+mn-ea"/>
                  <a:cs typeface="Segoe UI" panose="020B0502040204020203" pitchFamily="34" charset="0"/>
                  <a:sym typeface="Arial"/>
                </a:rPr>
                <a:t>Financial Institutions</a:t>
              </a:r>
              <a:endParaRPr kumimoji="0" sz="1100" b="1" i="0" u="none" strike="noStrike" kern="1200" cap="none" spc="0" normalizeH="0" baseline="0" noProof="0" dirty="0">
                <a:ln>
                  <a:noFill/>
                </a:ln>
                <a:solidFill>
                  <a:srgbClr val="4EA72E"/>
                </a:solidFill>
                <a:effectLst/>
                <a:uLnTx/>
                <a:uFillTx/>
                <a:latin typeface="Segoe UI" panose="020B0502040204020203" pitchFamily="34" charset="0"/>
                <a:ea typeface="+mn-ea"/>
                <a:cs typeface="Segoe UI" panose="020B0502040204020203" pitchFamily="34" charset="0"/>
                <a:sym typeface="Arial"/>
              </a:endParaRPr>
            </a:p>
          </p:txBody>
        </p:sp>
        <p:sp>
          <p:nvSpPr>
            <p:cNvPr id="82" name="Rectangle 81">
              <a:extLst>
                <a:ext uri="{FF2B5EF4-FFF2-40B4-BE49-F238E27FC236}">
                  <a16:creationId xmlns:a16="http://schemas.microsoft.com/office/drawing/2014/main" id="{1E1E670A-19A9-7D27-C55D-D29795BCEDAF}"/>
                </a:ext>
              </a:extLst>
            </p:cNvPr>
            <p:cNvSpPr/>
            <p:nvPr/>
          </p:nvSpPr>
          <p:spPr>
            <a:xfrm>
              <a:off x="8648295" y="5372429"/>
              <a:ext cx="2651760" cy="164592"/>
            </a:xfrm>
            <a:prstGeom prst="rect">
              <a:avLst/>
            </a:prstGeom>
            <a:solidFill>
              <a:srgbClr val="F0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84" name="Rectangle 83">
              <a:extLst>
                <a:ext uri="{FF2B5EF4-FFF2-40B4-BE49-F238E27FC236}">
                  <a16:creationId xmlns:a16="http://schemas.microsoft.com/office/drawing/2014/main" id="{E5144965-1B3B-EB31-43AD-09826B0AF21C}"/>
                </a:ext>
              </a:extLst>
            </p:cNvPr>
            <p:cNvSpPr/>
            <p:nvPr/>
          </p:nvSpPr>
          <p:spPr>
            <a:xfrm>
              <a:off x="8648295" y="5372429"/>
              <a:ext cx="2041855" cy="164592"/>
            </a:xfrm>
            <a:prstGeom prst="rect">
              <a:avLst/>
            </a:prstGeom>
            <a:solidFill>
              <a:srgbClr val="A9A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86" name="TextBox 85">
              <a:extLst>
                <a:ext uri="{FF2B5EF4-FFF2-40B4-BE49-F238E27FC236}">
                  <a16:creationId xmlns:a16="http://schemas.microsoft.com/office/drawing/2014/main" id="{1ED4A16D-37A1-1FC5-C2EB-A4472F639AC8}"/>
                </a:ext>
              </a:extLst>
            </p:cNvPr>
            <p:cNvSpPr txBox="1"/>
            <p:nvPr/>
          </p:nvSpPr>
          <p:spPr>
            <a:xfrm>
              <a:off x="11391495" y="5373933"/>
              <a:ext cx="548640" cy="161583"/>
            </a:xfrm>
            <a:prstGeom prst="rect">
              <a:avLst/>
            </a:prstGeom>
            <a:noFill/>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50" b="1" i="0" u="none" strike="noStrike" kern="1200" cap="none" spc="0" normalizeH="0" baseline="0" noProof="0" dirty="0">
                  <a:ln>
                    <a:noFill/>
                  </a:ln>
                  <a:solidFill>
                    <a:srgbClr val="75787B"/>
                  </a:solidFill>
                  <a:effectLst/>
                  <a:uLnTx/>
                  <a:uFillTx/>
                  <a:latin typeface="Segoe UI" panose="020B0502040204020203" pitchFamily="34" charset="0"/>
                  <a:ea typeface="+mn-ea"/>
                  <a:cs typeface="Segoe UI" panose="020B0502040204020203" pitchFamily="34" charset="0"/>
                  <a:sym typeface="Arial"/>
                </a:rPr>
                <a:t>77%</a:t>
              </a:r>
            </a:p>
          </p:txBody>
        </p:sp>
        <p:sp>
          <p:nvSpPr>
            <p:cNvPr id="88" name="TextBox 87">
              <a:extLst>
                <a:ext uri="{FF2B5EF4-FFF2-40B4-BE49-F238E27FC236}">
                  <a16:creationId xmlns:a16="http://schemas.microsoft.com/office/drawing/2014/main" id="{F4814E24-3792-0F94-FD70-2A715521C141}"/>
                </a:ext>
              </a:extLst>
            </p:cNvPr>
            <p:cNvSpPr txBox="1"/>
            <p:nvPr/>
          </p:nvSpPr>
          <p:spPr>
            <a:xfrm>
              <a:off x="6053691" y="5633759"/>
              <a:ext cx="2466136" cy="169277"/>
            </a:xfrm>
            <a:prstGeom prst="rect">
              <a:avLst/>
            </a:prstGeom>
            <a:noFill/>
          </p:spPr>
          <p:txBody>
            <a:bodyPr wrap="square" lIns="0" tIns="0" rIns="0" bIns="0" anchor="ctr">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dirty="0">
                  <a:ln>
                    <a:noFill/>
                  </a:ln>
                  <a:solidFill>
                    <a:srgbClr val="046A38"/>
                  </a:solidFill>
                  <a:effectLst/>
                  <a:uLnTx/>
                  <a:uFillTx/>
                  <a:latin typeface="Segoe UI" panose="020B0502040204020203" pitchFamily="34" charset="0"/>
                  <a:ea typeface="+mn-ea"/>
                  <a:cs typeface="Segoe UI" panose="020B0502040204020203" pitchFamily="34" charset="0"/>
                  <a:sym typeface="Arial"/>
                </a:rPr>
                <a:t>Top 50 Global Insurer</a:t>
              </a:r>
              <a:r>
                <a:rPr kumimoji="0" lang="en-US" sz="1100" b="1" i="0" u="none" strike="noStrike" kern="1200" cap="none" spc="0" normalizeH="0" baseline="0" noProof="0" dirty="0">
                  <a:ln>
                    <a:noFill/>
                  </a:ln>
                  <a:solidFill>
                    <a:srgbClr val="046A38"/>
                  </a:solidFill>
                  <a:effectLst/>
                  <a:uLnTx/>
                  <a:uFillTx/>
                  <a:latin typeface="Segoe UI" panose="020B0502040204020203" pitchFamily="34" charset="0"/>
                  <a:ea typeface="+mn-ea"/>
                  <a:cs typeface="Segoe UI" panose="020B0502040204020203" pitchFamily="34" charset="0"/>
                  <a:sym typeface="Arial"/>
                </a:rPr>
                <a:t>s</a:t>
              </a:r>
              <a:endParaRPr kumimoji="0" sz="1100" b="1" i="0" u="none" strike="noStrike" kern="1200" cap="none" spc="0" normalizeH="0" baseline="0" noProof="0" dirty="0">
                <a:ln>
                  <a:noFill/>
                </a:ln>
                <a:solidFill>
                  <a:srgbClr val="046A38"/>
                </a:solidFill>
                <a:effectLst/>
                <a:uLnTx/>
                <a:uFillTx/>
                <a:latin typeface="Segoe UI" panose="020B0502040204020203" pitchFamily="34" charset="0"/>
                <a:ea typeface="+mn-ea"/>
                <a:cs typeface="Segoe UI" panose="020B0502040204020203" pitchFamily="34" charset="0"/>
                <a:sym typeface="Arial"/>
              </a:endParaRPr>
            </a:p>
          </p:txBody>
        </p:sp>
        <p:sp>
          <p:nvSpPr>
            <p:cNvPr id="90" name="Rectangle 89">
              <a:extLst>
                <a:ext uri="{FF2B5EF4-FFF2-40B4-BE49-F238E27FC236}">
                  <a16:creationId xmlns:a16="http://schemas.microsoft.com/office/drawing/2014/main" id="{FDDDAFCC-6948-BB07-AB19-5C50E436EE29}"/>
                </a:ext>
              </a:extLst>
            </p:cNvPr>
            <p:cNvSpPr/>
            <p:nvPr/>
          </p:nvSpPr>
          <p:spPr>
            <a:xfrm>
              <a:off x="8648295" y="5629477"/>
              <a:ext cx="2651760" cy="164592"/>
            </a:xfrm>
            <a:prstGeom prst="rect">
              <a:avLst/>
            </a:prstGeom>
            <a:solidFill>
              <a:srgbClr val="F0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92" name="Rectangle 91">
              <a:extLst>
                <a:ext uri="{FF2B5EF4-FFF2-40B4-BE49-F238E27FC236}">
                  <a16:creationId xmlns:a16="http://schemas.microsoft.com/office/drawing/2014/main" id="{47059C6C-D5F0-5B5B-F3B3-D3068BDDF4BC}"/>
                </a:ext>
              </a:extLst>
            </p:cNvPr>
            <p:cNvSpPr/>
            <p:nvPr/>
          </p:nvSpPr>
          <p:spPr>
            <a:xfrm>
              <a:off x="8648295" y="5629477"/>
              <a:ext cx="2121408" cy="164592"/>
            </a:xfrm>
            <a:prstGeom prst="rect">
              <a:avLst/>
            </a:prstGeom>
            <a:solidFill>
              <a:srgbClr val="046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94" name="TextBox 93">
              <a:extLst>
                <a:ext uri="{FF2B5EF4-FFF2-40B4-BE49-F238E27FC236}">
                  <a16:creationId xmlns:a16="http://schemas.microsoft.com/office/drawing/2014/main" id="{D9ECAB83-10A3-00AD-7605-169F98A4C47B}"/>
                </a:ext>
              </a:extLst>
            </p:cNvPr>
            <p:cNvSpPr txBox="1"/>
            <p:nvPr/>
          </p:nvSpPr>
          <p:spPr>
            <a:xfrm>
              <a:off x="11391495" y="5630981"/>
              <a:ext cx="548640" cy="161583"/>
            </a:xfrm>
            <a:prstGeom prst="rect">
              <a:avLst/>
            </a:prstGeom>
            <a:noFill/>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50" b="1" i="0" u="none" strike="noStrike" kern="1200" cap="none" spc="0" normalizeH="0" baseline="0" noProof="0" dirty="0">
                  <a:ln>
                    <a:noFill/>
                  </a:ln>
                  <a:solidFill>
                    <a:srgbClr val="046A38"/>
                  </a:solidFill>
                  <a:effectLst/>
                  <a:uLnTx/>
                  <a:uFillTx/>
                  <a:latin typeface="Segoe UI" panose="020B0502040204020203" pitchFamily="34" charset="0"/>
                  <a:ea typeface="+mn-ea"/>
                  <a:cs typeface="Segoe UI" panose="020B0502040204020203" pitchFamily="34" charset="0"/>
                  <a:sym typeface="Arial"/>
                </a:rPr>
                <a:t>80%</a:t>
              </a:r>
            </a:p>
          </p:txBody>
        </p:sp>
        <p:sp>
          <p:nvSpPr>
            <p:cNvPr id="96" name="TextBox 95">
              <a:extLst>
                <a:ext uri="{FF2B5EF4-FFF2-40B4-BE49-F238E27FC236}">
                  <a16:creationId xmlns:a16="http://schemas.microsoft.com/office/drawing/2014/main" id="{3DC405F5-92B3-604B-AFD9-3706677678FA}"/>
                </a:ext>
              </a:extLst>
            </p:cNvPr>
            <p:cNvSpPr txBox="1"/>
            <p:nvPr/>
          </p:nvSpPr>
          <p:spPr>
            <a:xfrm>
              <a:off x="6053691" y="5880647"/>
              <a:ext cx="2466136" cy="169277"/>
            </a:xfrm>
            <a:prstGeom prst="rect">
              <a:avLst/>
            </a:prstGeom>
            <a:noFill/>
          </p:spPr>
          <p:txBody>
            <a:bodyPr wrap="square" lIns="0" tIns="0" rIns="0" bIns="0" anchor="ctr">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dirty="0">
                  <a:ln>
                    <a:noFill/>
                  </a:ln>
                  <a:solidFill>
                    <a:srgbClr val="046A38"/>
                  </a:solidFill>
                  <a:effectLst/>
                  <a:uLnTx/>
                  <a:uFillTx/>
                  <a:latin typeface="Segoe UI" panose="020B0502040204020203" pitchFamily="34" charset="0"/>
                  <a:ea typeface="+mn-ea"/>
                  <a:cs typeface="Segoe UI" panose="020B0502040204020203" pitchFamily="34" charset="0"/>
                  <a:sym typeface="Arial"/>
                </a:rPr>
                <a:t>Large Insurers</a:t>
              </a:r>
            </a:p>
          </p:txBody>
        </p:sp>
        <p:sp>
          <p:nvSpPr>
            <p:cNvPr id="98" name="Rectangle 97">
              <a:extLst>
                <a:ext uri="{FF2B5EF4-FFF2-40B4-BE49-F238E27FC236}">
                  <a16:creationId xmlns:a16="http://schemas.microsoft.com/office/drawing/2014/main" id="{489E1120-7B2D-8421-0768-B494A1A712A5}"/>
                </a:ext>
              </a:extLst>
            </p:cNvPr>
            <p:cNvSpPr/>
            <p:nvPr/>
          </p:nvSpPr>
          <p:spPr>
            <a:xfrm>
              <a:off x="8648295" y="5876365"/>
              <a:ext cx="2651760" cy="164592"/>
            </a:xfrm>
            <a:prstGeom prst="rect">
              <a:avLst/>
            </a:prstGeom>
            <a:solidFill>
              <a:srgbClr val="F0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100" name="Rectangle 99">
              <a:extLst>
                <a:ext uri="{FF2B5EF4-FFF2-40B4-BE49-F238E27FC236}">
                  <a16:creationId xmlns:a16="http://schemas.microsoft.com/office/drawing/2014/main" id="{BC3D7E50-370F-4974-5727-96FF945BFA6B}"/>
                </a:ext>
              </a:extLst>
            </p:cNvPr>
            <p:cNvSpPr/>
            <p:nvPr/>
          </p:nvSpPr>
          <p:spPr>
            <a:xfrm>
              <a:off x="8648295" y="5876365"/>
              <a:ext cx="1591056" cy="164592"/>
            </a:xfrm>
            <a:prstGeom prst="rect">
              <a:avLst/>
            </a:prstGeom>
            <a:solidFill>
              <a:srgbClr val="A9A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102" name="TextBox 101">
              <a:extLst>
                <a:ext uri="{FF2B5EF4-FFF2-40B4-BE49-F238E27FC236}">
                  <a16:creationId xmlns:a16="http://schemas.microsoft.com/office/drawing/2014/main" id="{ADD3445D-4B61-F748-F621-A60D177ECB35}"/>
                </a:ext>
              </a:extLst>
            </p:cNvPr>
            <p:cNvSpPr txBox="1"/>
            <p:nvPr/>
          </p:nvSpPr>
          <p:spPr>
            <a:xfrm>
              <a:off x="11391495" y="5877869"/>
              <a:ext cx="548640" cy="161583"/>
            </a:xfrm>
            <a:prstGeom prst="rect">
              <a:avLst/>
            </a:prstGeom>
            <a:noFill/>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50" b="1" i="0" u="none" strike="noStrike" kern="1200" cap="none" spc="0" normalizeH="0" baseline="0" noProof="0" dirty="0">
                  <a:ln>
                    <a:noFill/>
                  </a:ln>
                  <a:solidFill>
                    <a:srgbClr val="75787B"/>
                  </a:solidFill>
                  <a:effectLst/>
                  <a:uLnTx/>
                  <a:uFillTx/>
                  <a:latin typeface="Segoe UI" panose="020B0502040204020203" pitchFamily="34" charset="0"/>
                  <a:ea typeface="+mn-ea"/>
                  <a:cs typeface="Segoe UI" panose="020B0502040204020203" pitchFamily="34" charset="0"/>
                  <a:sym typeface="Arial"/>
                </a:rPr>
                <a:t>60%</a:t>
              </a:r>
            </a:p>
          </p:txBody>
        </p:sp>
      </p:grpSp>
      <p:grpSp>
        <p:nvGrpSpPr>
          <p:cNvPr id="177" name="Group 176">
            <a:extLst>
              <a:ext uri="{FF2B5EF4-FFF2-40B4-BE49-F238E27FC236}">
                <a16:creationId xmlns:a16="http://schemas.microsoft.com/office/drawing/2014/main" id="{40BA0A46-5DF3-F06F-5BD5-A837AFB16144}"/>
              </a:ext>
            </a:extLst>
          </p:cNvPr>
          <p:cNvGrpSpPr/>
          <p:nvPr/>
        </p:nvGrpSpPr>
        <p:grpSpPr>
          <a:xfrm>
            <a:off x="410694" y="1874685"/>
            <a:ext cx="5586984" cy="2386584"/>
            <a:chOff x="406846" y="2029968"/>
            <a:chExt cx="5586984" cy="2386584"/>
          </a:xfrm>
        </p:grpSpPr>
        <p:sp>
          <p:nvSpPr>
            <p:cNvPr id="104" name="TextBox 103">
              <a:extLst>
                <a:ext uri="{FF2B5EF4-FFF2-40B4-BE49-F238E27FC236}">
                  <a16:creationId xmlns:a16="http://schemas.microsoft.com/office/drawing/2014/main" id="{EE40552A-3E32-5424-426D-685DC070EB81}"/>
                </a:ext>
              </a:extLst>
            </p:cNvPr>
            <p:cNvSpPr txBox="1"/>
            <p:nvPr/>
          </p:nvSpPr>
          <p:spPr>
            <a:xfrm>
              <a:off x="406846" y="2029968"/>
              <a:ext cx="3657600" cy="184666"/>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dirty="0">
                  <a:ln>
                    <a:noFill/>
                  </a:ln>
                  <a:solidFill>
                    <a:srgbClr val="000000"/>
                  </a:solidFill>
                  <a:effectLst/>
                  <a:uLnTx/>
                  <a:uFillTx/>
                  <a:latin typeface="Segoe UI" panose="020B0502040204020203" pitchFamily="34" charset="0"/>
                  <a:ea typeface="+mn-ea"/>
                  <a:cs typeface="Segoe UI" panose="020B0502040204020203" pitchFamily="34" charset="0"/>
                  <a:sym typeface="Arial"/>
                </a:rPr>
                <a:t>WHERE PROGRAMS SIT TODAY</a:t>
              </a:r>
            </a:p>
          </p:txBody>
        </p:sp>
        <p:sp>
          <p:nvSpPr>
            <p:cNvPr id="106" name="Rectangle 105">
              <a:extLst>
                <a:ext uri="{FF2B5EF4-FFF2-40B4-BE49-F238E27FC236}">
                  <a16:creationId xmlns:a16="http://schemas.microsoft.com/office/drawing/2014/main" id="{9DAFF09F-7F60-9195-81F8-514BF9B7B9C0}"/>
                </a:ext>
              </a:extLst>
            </p:cNvPr>
            <p:cNvSpPr/>
            <p:nvPr/>
          </p:nvSpPr>
          <p:spPr>
            <a:xfrm>
              <a:off x="516574" y="3322320"/>
              <a:ext cx="850392" cy="27432"/>
            </a:xfrm>
            <a:prstGeom prst="rect">
              <a:avLst/>
            </a:prstGeom>
            <a:solidFill>
              <a:srgbClr val="A9A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108" name="TextBox 107">
              <a:extLst>
                <a:ext uri="{FF2B5EF4-FFF2-40B4-BE49-F238E27FC236}">
                  <a16:creationId xmlns:a16="http://schemas.microsoft.com/office/drawing/2014/main" id="{D2425724-8CA3-D117-25EA-87B834AC2FB9}"/>
                </a:ext>
              </a:extLst>
            </p:cNvPr>
            <p:cNvSpPr txBox="1"/>
            <p:nvPr/>
          </p:nvSpPr>
          <p:spPr>
            <a:xfrm>
              <a:off x="406846" y="3073200"/>
              <a:ext cx="1069848" cy="230832"/>
            </a:xfrm>
            <a:prstGeom prst="rect">
              <a:avLst/>
            </a:prstGeom>
            <a:noFill/>
          </p:spPr>
          <p:txBody>
            <a:bodyPr wrap="square" lIns="0" tIns="0" rIns="0" bIns="0" anchor="b">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500" b="1"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1%</a:t>
              </a:r>
            </a:p>
          </p:txBody>
        </p:sp>
        <p:sp>
          <p:nvSpPr>
            <p:cNvPr id="110" name="Rectangle 109">
              <a:extLst>
                <a:ext uri="{FF2B5EF4-FFF2-40B4-BE49-F238E27FC236}">
                  <a16:creationId xmlns:a16="http://schemas.microsoft.com/office/drawing/2014/main" id="{509742F4-09E2-DEFF-0CAC-5F350C213650}"/>
                </a:ext>
              </a:extLst>
            </p:cNvPr>
            <p:cNvSpPr/>
            <p:nvPr/>
          </p:nvSpPr>
          <p:spPr>
            <a:xfrm>
              <a:off x="406846" y="3349751"/>
              <a:ext cx="1069848" cy="1066801"/>
            </a:xfrm>
            <a:prstGeom prst="rect">
              <a:avLst/>
            </a:prstGeom>
            <a:solidFill>
              <a:srgbClr val="F0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112" name="TextBox 111">
              <a:extLst>
                <a:ext uri="{FF2B5EF4-FFF2-40B4-BE49-F238E27FC236}">
                  <a16:creationId xmlns:a16="http://schemas.microsoft.com/office/drawing/2014/main" id="{596AAE80-71FD-D891-F4DF-B9B94EF287E2}"/>
                </a:ext>
              </a:extLst>
            </p:cNvPr>
            <p:cNvSpPr txBox="1"/>
            <p:nvPr/>
          </p:nvSpPr>
          <p:spPr>
            <a:xfrm>
              <a:off x="479998" y="3413759"/>
              <a:ext cx="923544" cy="184666"/>
            </a:xfrm>
            <a:prstGeom prst="rect">
              <a:avLst/>
            </a:prstGeom>
            <a:noFill/>
          </p:spPr>
          <p:txBody>
            <a:bodyPr wrap="squar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dirty="0">
                  <a:ln>
                    <a:noFill/>
                  </a:ln>
                  <a:solidFill>
                    <a:srgbClr val="000000"/>
                  </a:solidFill>
                  <a:effectLst/>
                  <a:uLnTx/>
                  <a:uFillTx/>
                  <a:latin typeface="Segoe UI" panose="020B0502040204020203" pitchFamily="34" charset="0"/>
                  <a:ea typeface="+mn-ea"/>
                  <a:cs typeface="Segoe UI" panose="020B0502040204020203" pitchFamily="34" charset="0"/>
                  <a:sym typeface="Arial"/>
                </a:rPr>
                <a:t>Reactive</a:t>
              </a:r>
            </a:p>
          </p:txBody>
        </p:sp>
        <p:sp>
          <p:nvSpPr>
            <p:cNvPr id="114" name="TextBox 113">
              <a:extLst>
                <a:ext uri="{FF2B5EF4-FFF2-40B4-BE49-F238E27FC236}">
                  <a16:creationId xmlns:a16="http://schemas.microsoft.com/office/drawing/2014/main" id="{D264D6F8-CB6A-D2D8-B835-170E931F0D7D}"/>
                </a:ext>
              </a:extLst>
            </p:cNvPr>
            <p:cNvSpPr txBox="1"/>
            <p:nvPr/>
          </p:nvSpPr>
          <p:spPr>
            <a:xfrm>
              <a:off x="479998" y="3614928"/>
              <a:ext cx="941831" cy="307777"/>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0" i="1"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Primarily incident-driven</a:t>
              </a:r>
            </a:p>
          </p:txBody>
        </p:sp>
        <p:sp>
          <p:nvSpPr>
            <p:cNvPr id="116" name="Rectangle 115">
              <a:extLst>
                <a:ext uri="{FF2B5EF4-FFF2-40B4-BE49-F238E27FC236}">
                  <a16:creationId xmlns:a16="http://schemas.microsoft.com/office/drawing/2014/main" id="{BEA507AB-B9A9-9B4C-3AF5-337CBACA6630}"/>
                </a:ext>
              </a:extLst>
            </p:cNvPr>
            <p:cNvSpPr/>
            <p:nvPr/>
          </p:nvSpPr>
          <p:spPr>
            <a:xfrm>
              <a:off x="1645857" y="3279093"/>
              <a:ext cx="850392" cy="70658"/>
            </a:xfrm>
            <a:prstGeom prst="rect">
              <a:avLst/>
            </a:prstGeom>
            <a:solidFill>
              <a:srgbClr val="A9A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118" name="TextBox 117">
              <a:extLst>
                <a:ext uri="{FF2B5EF4-FFF2-40B4-BE49-F238E27FC236}">
                  <a16:creationId xmlns:a16="http://schemas.microsoft.com/office/drawing/2014/main" id="{9792B575-351D-8122-EC80-02A519EE9D80}"/>
                </a:ext>
              </a:extLst>
            </p:cNvPr>
            <p:cNvSpPr txBox="1"/>
            <p:nvPr/>
          </p:nvSpPr>
          <p:spPr>
            <a:xfrm>
              <a:off x="1536129" y="3029973"/>
              <a:ext cx="1069848" cy="230832"/>
            </a:xfrm>
            <a:prstGeom prst="rect">
              <a:avLst/>
            </a:prstGeom>
            <a:noFill/>
          </p:spPr>
          <p:txBody>
            <a:bodyPr wrap="square" lIns="0" tIns="0" rIns="0" bIns="0" anchor="b">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500" b="1"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5%</a:t>
              </a:r>
            </a:p>
          </p:txBody>
        </p:sp>
        <p:sp>
          <p:nvSpPr>
            <p:cNvPr id="120" name="Rectangle 119">
              <a:extLst>
                <a:ext uri="{FF2B5EF4-FFF2-40B4-BE49-F238E27FC236}">
                  <a16:creationId xmlns:a16="http://schemas.microsoft.com/office/drawing/2014/main" id="{4D816BD5-5DBB-D987-142A-B3B646416ABF}"/>
                </a:ext>
              </a:extLst>
            </p:cNvPr>
            <p:cNvSpPr/>
            <p:nvPr/>
          </p:nvSpPr>
          <p:spPr>
            <a:xfrm>
              <a:off x="1536129" y="3349751"/>
              <a:ext cx="1069848" cy="1066801"/>
            </a:xfrm>
            <a:prstGeom prst="rect">
              <a:avLst/>
            </a:prstGeom>
            <a:solidFill>
              <a:srgbClr val="F0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122" name="TextBox 121">
              <a:extLst>
                <a:ext uri="{FF2B5EF4-FFF2-40B4-BE49-F238E27FC236}">
                  <a16:creationId xmlns:a16="http://schemas.microsoft.com/office/drawing/2014/main" id="{73C0F0CE-887B-E489-C23B-2D5D4D89A9F0}"/>
                </a:ext>
              </a:extLst>
            </p:cNvPr>
            <p:cNvSpPr txBox="1"/>
            <p:nvPr/>
          </p:nvSpPr>
          <p:spPr>
            <a:xfrm>
              <a:off x="1568132" y="3413759"/>
              <a:ext cx="1005842" cy="184666"/>
            </a:xfrm>
            <a:prstGeom prst="rect">
              <a:avLst/>
            </a:prstGeom>
            <a:noFill/>
          </p:spPr>
          <p:txBody>
            <a:bodyPr wrap="squar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dirty="0">
                  <a:ln>
                    <a:noFill/>
                  </a:ln>
                  <a:solidFill>
                    <a:srgbClr val="000000"/>
                  </a:solidFill>
                  <a:effectLst/>
                  <a:uLnTx/>
                  <a:uFillTx/>
                  <a:latin typeface="Segoe UI" panose="020B0502040204020203" pitchFamily="34" charset="0"/>
                  <a:ea typeface="+mn-ea"/>
                  <a:cs typeface="Segoe UI" panose="020B0502040204020203" pitchFamily="34" charset="0"/>
                  <a:sym typeface="Arial"/>
                </a:rPr>
                <a:t>Foundational</a:t>
              </a:r>
            </a:p>
          </p:txBody>
        </p:sp>
        <p:sp>
          <p:nvSpPr>
            <p:cNvPr id="124" name="TextBox 123">
              <a:extLst>
                <a:ext uri="{FF2B5EF4-FFF2-40B4-BE49-F238E27FC236}">
                  <a16:creationId xmlns:a16="http://schemas.microsoft.com/office/drawing/2014/main" id="{E090423B-D209-D84F-314F-E9AB7F3127DC}"/>
                </a:ext>
              </a:extLst>
            </p:cNvPr>
            <p:cNvSpPr txBox="1"/>
            <p:nvPr/>
          </p:nvSpPr>
          <p:spPr>
            <a:xfrm>
              <a:off x="1609281" y="3614928"/>
              <a:ext cx="941831" cy="615553"/>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0" i="1"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Controls established within individual business units</a:t>
              </a:r>
            </a:p>
          </p:txBody>
        </p:sp>
        <p:sp>
          <p:nvSpPr>
            <p:cNvPr id="126" name="Rectangle 125">
              <a:extLst>
                <a:ext uri="{FF2B5EF4-FFF2-40B4-BE49-F238E27FC236}">
                  <a16:creationId xmlns:a16="http://schemas.microsoft.com/office/drawing/2014/main" id="{85C943E1-5013-DE12-6134-66A69EF021DD}"/>
                </a:ext>
              </a:extLst>
            </p:cNvPr>
            <p:cNvSpPr/>
            <p:nvPr/>
          </p:nvSpPr>
          <p:spPr>
            <a:xfrm>
              <a:off x="2775142" y="3180172"/>
              <a:ext cx="850392" cy="169579"/>
            </a:xfrm>
            <a:prstGeom prst="rect">
              <a:avLst/>
            </a:prstGeom>
            <a:solidFill>
              <a:srgbClr val="A9A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128" name="TextBox 127">
              <a:extLst>
                <a:ext uri="{FF2B5EF4-FFF2-40B4-BE49-F238E27FC236}">
                  <a16:creationId xmlns:a16="http://schemas.microsoft.com/office/drawing/2014/main" id="{1DAD6A12-0DE5-4C03-D05C-C93C84A2B008}"/>
                </a:ext>
              </a:extLst>
            </p:cNvPr>
            <p:cNvSpPr txBox="1"/>
            <p:nvPr/>
          </p:nvSpPr>
          <p:spPr>
            <a:xfrm>
              <a:off x="2665414" y="2931052"/>
              <a:ext cx="1069848" cy="230832"/>
            </a:xfrm>
            <a:prstGeom prst="rect">
              <a:avLst/>
            </a:prstGeom>
            <a:noFill/>
          </p:spPr>
          <p:txBody>
            <a:bodyPr wrap="square" lIns="0" tIns="0" rIns="0" bIns="0" anchor="b">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500" b="1"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12%</a:t>
              </a:r>
            </a:p>
          </p:txBody>
        </p:sp>
        <p:sp>
          <p:nvSpPr>
            <p:cNvPr id="130" name="Rectangle 129">
              <a:extLst>
                <a:ext uri="{FF2B5EF4-FFF2-40B4-BE49-F238E27FC236}">
                  <a16:creationId xmlns:a16="http://schemas.microsoft.com/office/drawing/2014/main" id="{D6F66167-3FA9-EC58-B104-7EEC0FB50745}"/>
                </a:ext>
              </a:extLst>
            </p:cNvPr>
            <p:cNvSpPr/>
            <p:nvPr/>
          </p:nvSpPr>
          <p:spPr>
            <a:xfrm>
              <a:off x="2665414" y="3349751"/>
              <a:ext cx="1069848" cy="1066801"/>
            </a:xfrm>
            <a:prstGeom prst="rect">
              <a:avLst/>
            </a:prstGeom>
            <a:solidFill>
              <a:srgbClr val="F0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132" name="TextBox 131">
              <a:extLst>
                <a:ext uri="{FF2B5EF4-FFF2-40B4-BE49-F238E27FC236}">
                  <a16:creationId xmlns:a16="http://schemas.microsoft.com/office/drawing/2014/main" id="{F156A2EE-6495-D1B9-DE26-C1CBF388CC91}"/>
                </a:ext>
              </a:extLst>
            </p:cNvPr>
            <p:cNvSpPr txBox="1"/>
            <p:nvPr/>
          </p:nvSpPr>
          <p:spPr>
            <a:xfrm>
              <a:off x="2738566" y="3413759"/>
              <a:ext cx="923544" cy="184666"/>
            </a:xfrm>
            <a:prstGeom prst="rect">
              <a:avLst/>
            </a:prstGeom>
            <a:noFill/>
          </p:spPr>
          <p:txBody>
            <a:bodyPr wrap="squar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dirty="0">
                  <a:ln>
                    <a:noFill/>
                  </a:ln>
                  <a:solidFill>
                    <a:srgbClr val="000000"/>
                  </a:solidFill>
                  <a:effectLst/>
                  <a:uLnTx/>
                  <a:uFillTx/>
                  <a:latin typeface="Segoe UI" panose="020B0502040204020203" pitchFamily="34" charset="0"/>
                  <a:ea typeface="+mn-ea"/>
                  <a:cs typeface="Segoe UI" panose="020B0502040204020203" pitchFamily="34" charset="0"/>
                  <a:sym typeface="Arial"/>
                </a:rPr>
                <a:t>Managed</a:t>
              </a:r>
            </a:p>
          </p:txBody>
        </p:sp>
        <p:sp>
          <p:nvSpPr>
            <p:cNvPr id="134" name="TextBox 133">
              <a:extLst>
                <a:ext uri="{FF2B5EF4-FFF2-40B4-BE49-F238E27FC236}">
                  <a16:creationId xmlns:a16="http://schemas.microsoft.com/office/drawing/2014/main" id="{E2245F6C-EE4F-F9D6-AB7E-D6CE5617FA6B}"/>
                </a:ext>
              </a:extLst>
            </p:cNvPr>
            <p:cNvSpPr txBox="1"/>
            <p:nvPr/>
          </p:nvSpPr>
          <p:spPr>
            <a:xfrm>
              <a:off x="2738566" y="3614928"/>
              <a:ext cx="941831" cy="615553"/>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0" i="1"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Enterprise standards and governance in place</a:t>
              </a:r>
            </a:p>
          </p:txBody>
        </p:sp>
        <p:sp>
          <p:nvSpPr>
            <p:cNvPr id="136" name="Rectangle 135">
              <a:extLst>
                <a:ext uri="{FF2B5EF4-FFF2-40B4-BE49-F238E27FC236}">
                  <a16:creationId xmlns:a16="http://schemas.microsoft.com/office/drawing/2014/main" id="{F3205766-8A2B-1521-1964-C6BD2C077279}"/>
                </a:ext>
              </a:extLst>
            </p:cNvPr>
            <p:cNvSpPr/>
            <p:nvPr/>
          </p:nvSpPr>
          <p:spPr>
            <a:xfrm>
              <a:off x="3904425" y="2727959"/>
              <a:ext cx="850392" cy="621792"/>
            </a:xfrm>
            <a:prstGeom prst="rect">
              <a:avLst/>
            </a:prstGeom>
            <a:solidFill>
              <a:srgbClr val="4EA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138" name="TextBox 137">
              <a:extLst>
                <a:ext uri="{FF2B5EF4-FFF2-40B4-BE49-F238E27FC236}">
                  <a16:creationId xmlns:a16="http://schemas.microsoft.com/office/drawing/2014/main" id="{A7B8675C-CF47-20BA-365E-7A0646EB4749}"/>
                </a:ext>
              </a:extLst>
            </p:cNvPr>
            <p:cNvSpPr txBox="1"/>
            <p:nvPr/>
          </p:nvSpPr>
          <p:spPr>
            <a:xfrm>
              <a:off x="3794698" y="2478839"/>
              <a:ext cx="1069848" cy="230832"/>
            </a:xfrm>
            <a:prstGeom prst="rect">
              <a:avLst/>
            </a:prstGeom>
            <a:noFill/>
          </p:spPr>
          <p:txBody>
            <a:bodyPr wrap="square" lIns="0" tIns="0" rIns="0" bIns="0" anchor="b">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500" b="1" i="0" u="none" strike="noStrike" kern="1200" cap="none" spc="0" normalizeH="0" baseline="0" noProof="0" dirty="0">
                  <a:ln>
                    <a:noFill/>
                  </a:ln>
                  <a:solidFill>
                    <a:srgbClr val="4EA72E"/>
                  </a:solidFill>
                  <a:effectLst/>
                  <a:uLnTx/>
                  <a:uFillTx/>
                  <a:latin typeface="Segoe UI" panose="020B0502040204020203" pitchFamily="34" charset="0"/>
                  <a:ea typeface="+mn-ea"/>
                  <a:cs typeface="Segoe UI" panose="020B0502040204020203" pitchFamily="34" charset="0"/>
                  <a:sym typeface="Arial"/>
                </a:rPr>
                <a:t>44%</a:t>
              </a:r>
            </a:p>
          </p:txBody>
        </p:sp>
        <p:sp>
          <p:nvSpPr>
            <p:cNvPr id="140" name="Rectangle 139">
              <a:extLst>
                <a:ext uri="{FF2B5EF4-FFF2-40B4-BE49-F238E27FC236}">
                  <a16:creationId xmlns:a16="http://schemas.microsoft.com/office/drawing/2014/main" id="{E400F3D4-4D81-CCBF-48CF-BBDFB472EB8E}"/>
                </a:ext>
              </a:extLst>
            </p:cNvPr>
            <p:cNvSpPr/>
            <p:nvPr/>
          </p:nvSpPr>
          <p:spPr>
            <a:xfrm>
              <a:off x="3794698" y="3349751"/>
              <a:ext cx="1069848" cy="1066801"/>
            </a:xfrm>
            <a:prstGeom prst="rect">
              <a:avLst/>
            </a:prstGeom>
            <a:solidFill>
              <a:srgbClr val="4EA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142" name="TextBox 141">
              <a:extLst>
                <a:ext uri="{FF2B5EF4-FFF2-40B4-BE49-F238E27FC236}">
                  <a16:creationId xmlns:a16="http://schemas.microsoft.com/office/drawing/2014/main" id="{5DE7D402-DB2A-EFF7-6279-D6705C787C19}"/>
                </a:ext>
              </a:extLst>
            </p:cNvPr>
            <p:cNvSpPr txBox="1"/>
            <p:nvPr/>
          </p:nvSpPr>
          <p:spPr>
            <a:xfrm>
              <a:off x="3867850" y="3413759"/>
              <a:ext cx="923544" cy="184666"/>
            </a:xfrm>
            <a:prstGeom prst="rect">
              <a:avLst/>
            </a:prstGeom>
            <a:noFill/>
          </p:spPr>
          <p:txBody>
            <a:bodyPr wrap="squar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dirty="0">
                  <a:ln>
                    <a:noFill/>
                  </a:ln>
                  <a:solidFill>
                    <a:srgbClr val="FFFFFF"/>
                  </a:solidFill>
                  <a:effectLst/>
                  <a:uLnTx/>
                  <a:uFillTx/>
                  <a:latin typeface="Segoe UI" panose="020B0502040204020203" pitchFamily="34" charset="0"/>
                  <a:ea typeface="+mn-ea"/>
                  <a:cs typeface="Segoe UI" panose="020B0502040204020203" pitchFamily="34" charset="0"/>
                  <a:sym typeface="Arial"/>
                </a:rPr>
                <a:t>Integrated</a:t>
              </a:r>
            </a:p>
          </p:txBody>
        </p:sp>
        <p:sp>
          <p:nvSpPr>
            <p:cNvPr id="144" name="TextBox 143">
              <a:extLst>
                <a:ext uri="{FF2B5EF4-FFF2-40B4-BE49-F238E27FC236}">
                  <a16:creationId xmlns:a16="http://schemas.microsoft.com/office/drawing/2014/main" id="{83B305B7-A9EA-8E8D-99B1-979A11B66A23}"/>
                </a:ext>
              </a:extLst>
            </p:cNvPr>
            <p:cNvSpPr txBox="1"/>
            <p:nvPr/>
          </p:nvSpPr>
          <p:spPr>
            <a:xfrm>
              <a:off x="3867850" y="3614928"/>
              <a:ext cx="941831" cy="769441"/>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0" i="1" u="none" strike="noStrike" kern="1200" cap="none" spc="0" normalizeH="0" baseline="0" noProof="0" dirty="0">
                  <a:ln>
                    <a:noFill/>
                  </a:ln>
                  <a:solidFill>
                    <a:srgbClr val="FFFFFF"/>
                  </a:solidFill>
                  <a:effectLst/>
                  <a:uLnTx/>
                  <a:uFillTx/>
                  <a:latin typeface="Segoe UI" panose="020B0502040204020203" pitchFamily="34" charset="0"/>
                  <a:ea typeface="+mn-ea"/>
                  <a:cs typeface="Segoe UI" panose="020B0502040204020203" pitchFamily="34" charset="0"/>
                  <a:sym typeface="Arial"/>
                </a:rPr>
                <a:t>Data, analytics and operations integrated across major fraud types</a:t>
              </a:r>
            </a:p>
          </p:txBody>
        </p:sp>
        <p:sp>
          <p:nvSpPr>
            <p:cNvPr id="146" name="Rectangle 145">
              <a:extLst>
                <a:ext uri="{FF2B5EF4-FFF2-40B4-BE49-F238E27FC236}">
                  <a16:creationId xmlns:a16="http://schemas.microsoft.com/office/drawing/2014/main" id="{FB365C75-94B0-071A-081A-880B892D1091}"/>
                </a:ext>
              </a:extLst>
            </p:cNvPr>
            <p:cNvSpPr/>
            <p:nvPr/>
          </p:nvSpPr>
          <p:spPr>
            <a:xfrm>
              <a:off x="5033709" y="2812749"/>
              <a:ext cx="850392" cy="537002"/>
            </a:xfrm>
            <a:prstGeom prst="rect">
              <a:avLst/>
            </a:prstGeom>
            <a:solidFill>
              <a:srgbClr val="046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148" name="TextBox 147">
              <a:extLst>
                <a:ext uri="{FF2B5EF4-FFF2-40B4-BE49-F238E27FC236}">
                  <a16:creationId xmlns:a16="http://schemas.microsoft.com/office/drawing/2014/main" id="{A312C1A6-794C-A043-0B49-438A66EF6553}"/>
                </a:ext>
              </a:extLst>
            </p:cNvPr>
            <p:cNvSpPr txBox="1"/>
            <p:nvPr/>
          </p:nvSpPr>
          <p:spPr>
            <a:xfrm>
              <a:off x="4923982" y="2563629"/>
              <a:ext cx="1069848" cy="230832"/>
            </a:xfrm>
            <a:prstGeom prst="rect">
              <a:avLst/>
            </a:prstGeom>
            <a:noFill/>
          </p:spPr>
          <p:txBody>
            <a:bodyPr wrap="square" lIns="0" tIns="0" rIns="0" bIns="0" anchor="b">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500" b="1" i="0" u="none" strike="noStrike" kern="1200" cap="none" spc="0" normalizeH="0" baseline="0" noProof="0" dirty="0">
                  <a:ln>
                    <a:noFill/>
                  </a:ln>
                  <a:solidFill>
                    <a:srgbClr val="046A38"/>
                  </a:solidFill>
                  <a:effectLst/>
                  <a:uLnTx/>
                  <a:uFillTx/>
                  <a:latin typeface="Segoe UI" panose="020B0502040204020203" pitchFamily="34" charset="0"/>
                  <a:ea typeface="+mn-ea"/>
                  <a:cs typeface="Segoe UI" panose="020B0502040204020203" pitchFamily="34" charset="0"/>
                  <a:sym typeface="Arial"/>
                </a:rPr>
                <a:t>38%</a:t>
              </a:r>
            </a:p>
          </p:txBody>
        </p:sp>
        <p:sp>
          <p:nvSpPr>
            <p:cNvPr id="150" name="Rectangle 149">
              <a:extLst>
                <a:ext uri="{FF2B5EF4-FFF2-40B4-BE49-F238E27FC236}">
                  <a16:creationId xmlns:a16="http://schemas.microsoft.com/office/drawing/2014/main" id="{9BDAF2AE-3CE8-2BBE-2AED-B346F5B601B1}"/>
                </a:ext>
              </a:extLst>
            </p:cNvPr>
            <p:cNvSpPr/>
            <p:nvPr/>
          </p:nvSpPr>
          <p:spPr>
            <a:xfrm>
              <a:off x="4923982" y="3349751"/>
              <a:ext cx="1069848" cy="1066801"/>
            </a:xfrm>
            <a:prstGeom prst="rect">
              <a:avLst/>
            </a:prstGeom>
            <a:solidFill>
              <a:srgbClr val="046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152" name="TextBox 151">
              <a:extLst>
                <a:ext uri="{FF2B5EF4-FFF2-40B4-BE49-F238E27FC236}">
                  <a16:creationId xmlns:a16="http://schemas.microsoft.com/office/drawing/2014/main" id="{7C8641FB-D28B-1D83-AC27-56082F657534}"/>
                </a:ext>
              </a:extLst>
            </p:cNvPr>
            <p:cNvSpPr txBox="1"/>
            <p:nvPr/>
          </p:nvSpPr>
          <p:spPr>
            <a:xfrm>
              <a:off x="4997134" y="3413759"/>
              <a:ext cx="923544" cy="184666"/>
            </a:xfrm>
            <a:prstGeom prst="rect">
              <a:avLst/>
            </a:prstGeom>
            <a:noFill/>
          </p:spPr>
          <p:txBody>
            <a:bodyPr wrap="squar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dirty="0">
                  <a:ln>
                    <a:noFill/>
                  </a:ln>
                  <a:solidFill>
                    <a:srgbClr val="FFFFFF"/>
                  </a:solidFill>
                  <a:effectLst/>
                  <a:uLnTx/>
                  <a:uFillTx/>
                  <a:latin typeface="Segoe UI" panose="020B0502040204020203" pitchFamily="34" charset="0"/>
                  <a:ea typeface="+mn-ea"/>
                  <a:cs typeface="Segoe UI" panose="020B0502040204020203" pitchFamily="34" charset="0"/>
                  <a:sym typeface="Arial"/>
                </a:rPr>
                <a:t>Advanced</a:t>
              </a:r>
            </a:p>
          </p:txBody>
        </p:sp>
        <p:sp>
          <p:nvSpPr>
            <p:cNvPr id="154" name="TextBox 153">
              <a:extLst>
                <a:ext uri="{FF2B5EF4-FFF2-40B4-BE49-F238E27FC236}">
                  <a16:creationId xmlns:a16="http://schemas.microsoft.com/office/drawing/2014/main" id="{12904219-6BF4-5A7E-02E4-C975D28E9841}"/>
                </a:ext>
              </a:extLst>
            </p:cNvPr>
            <p:cNvSpPr txBox="1"/>
            <p:nvPr/>
          </p:nvSpPr>
          <p:spPr>
            <a:xfrm>
              <a:off x="4997134" y="3614928"/>
              <a:ext cx="941831" cy="769441"/>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0" i="1" u="none" strike="noStrike" kern="1200" cap="none" spc="0" normalizeH="0" baseline="0" noProof="0" dirty="0">
                  <a:ln>
                    <a:noFill/>
                  </a:ln>
                  <a:solidFill>
                    <a:srgbClr val="FFFFFF"/>
                  </a:solidFill>
                  <a:effectLst/>
                  <a:uLnTx/>
                  <a:uFillTx/>
                  <a:latin typeface="Segoe UI" panose="020B0502040204020203" pitchFamily="34" charset="0"/>
                  <a:ea typeface="+mn-ea"/>
                  <a:cs typeface="Segoe UI" panose="020B0502040204020203" pitchFamily="34" charset="0"/>
                  <a:sym typeface="Arial"/>
                </a:rPr>
                <a:t>Predictive intelligence and ecosystem collaboration embedded</a:t>
              </a:r>
            </a:p>
          </p:txBody>
        </p:sp>
        <p:sp>
          <p:nvSpPr>
            <p:cNvPr id="156" name="Rectangle 155">
              <a:extLst>
                <a:ext uri="{FF2B5EF4-FFF2-40B4-BE49-F238E27FC236}">
                  <a16:creationId xmlns:a16="http://schemas.microsoft.com/office/drawing/2014/main" id="{3A9C8F15-8C97-0B77-8F8E-73EF83A21166}"/>
                </a:ext>
              </a:extLst>
            </p:cNvPr>
            <p:cNvSpPr/>
            <p:nvPr/>
          </p:nvSpPr>
          <p:spPr>
            <a:xfrm>
              <a:off x="3794698" y="2414016"/>
              <a:ext cx="2199132" cy="22860"/>
            </a:xfrm>
            <a:prstGeom prst="rect">
              <a:avLst/>
            </a:prstGeom>
            <a:solidFill>
              <a:srgbClr val="046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158" name="Rectangle 157">
              <a:extLst>
                <a:ext uri="{FF2B5EF4-FFF2-40B4-BE49-F238E27FC236}">
                  <a16:creationId xmlns:a16="http://schemas.microsoft.com/office/drawing/2014/main" id="{B9C3089A-D953-7451-9F87-18EE6DE50163}"/>
                </a:ext>
              </a:extLst>
            </p:cNvPr>
            <p:cNvSpPr/>
            <p:nvPr/>
          </p:nvSpPr>
          <p:spPr>
            <a:xfrm>
              <a:off x="3794698" y="2414016"/>
              <a:ext cx="22860" cy="109728"/>
            </a:xfrm>
            <a:prstGeom prst="rect">
              <a:avLst/>
            </a:prstGeom>
            <a:solidFill>
              <a:srgbClr val="046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160" name="Rectangle 159">
              <a:extLst>
                <a:ext uri="{FF2B5EF4-FFF2-40B4-BE49-F238E27FC236}">
                  <a16:creationId xmlns:a16="http://schemas.microsoft.com/office/drawing/2014/main" id="{DAA033E1-FED6-5137-C14C-A125990981CB}"/>
                </a:ext>
              </a:extLst>
            </p:cNvPr>
            <p:cNvSpPr/>
            <p:nvPr/>
          </p:nvSpPr>
          <p:spPr>
            <a:xfrm>
              <a:off x="5970969" y="2414016"/>
              <a:ext cx="22860" cy="109728"/>
            </a:xfrm>
            <a:prstGeom prst="rect">
              <a:avLst/>
            </a:prstGeom>
            <a:solidFill>
              <a:srgbClr val="046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162" name="TextBox 161">
              <a:extLst>
                <a:ext uri="{FF2B5EF4-FFF2-40B4-BE49-F238E27FC236}">
                  <a16:creationId xmlns:a16="http://schemas.microsoft.com/office/drawing/2014/main" id="{ADA623CE-C178-E232-440F-43FE2D2758D1}"/>
                </a:ext>
              </a:extLst>
            </p:cNvPr>
            <p:cNvSpPr txBox="1"/>
            <p:nvPr/>
          </p:nvSpPr>
          <p:spPr>
            <a:xfrm>
              <a:off x="3794698" y="2179151"/>
              <a:ext cx="2199132" cy="192360"/>
            </a:xfrm>
            <a:prstGeom prst="rect">
              <a:avLst/>
            </a:prstGeom>
            <a:noFill/>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250" b="1" i="0" u="none" strike="noStrike" kern="1200" cap="none" spc="0" normalizeH="0" baseline="0" noProof="0" dirty="0">
                  <a:ln>
                    <a:noFill/>
                  </a:ln>
                  <a:solidFill>
                    <a:srgbClr val="046A38"/>
                  </a:solidFill>
                  <a:effectLst/>
                  <a:uLnTx/>
                  <a:uFillTx/>
                  <a:latin typeface="Segoe UI" panose="020B0502040204020203" pitchFamily="34" charset="0"/>
                  <a:ea typeface="+mn-ea"/>
                  <a:cs typeface="Segoe UI" panose="020B0502040204020203" pitchFamily="34" charset="0"/>
                  <a:sym typeface="Arial"/>
                </a:rPr>
                <a:t>82% integrated or advanced</a:t>
              </a:r>
            </a:p>
          </p:txBody>
        </p:sp>
        <p:sp>
          <p:nvSpPr>
            <p:cNvPr id="164" name="TextBox 163">
              <a:extLst>
                <a:ext uri="{FF2B5EF4-FFF2-40B4-BE49-F238E27FC236}">
                  <a16:creationId xmlns:a16="http://schemas.microsoft.com/office/drawing/2014/main" id="{DDA7C91D-E45D-F790-FC84-3A9CD6E60A57}"/>
                </a:ext>
              </a:extLst>
            </p:cNvPr>
            <p:cNvSpPr txBox="1"/>
            <p:nvPr/>
          </p:nvSpPr>
          <p:spPr>
            <a:xfrm>
              <a:off x="406846" y="2286000"/>
              <a:ext cx="2377440" cy="138499"/>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1" u="none" strike="noStrike" kern="1200" cap="none" spc="0" normalizeH="0" baseline="0" noProof="0" dirty="0">
                  <a:ln>
                    <a:noFill/>
                  </a:ln>
                  <a:solidFill>
                    <a:srgbClr val="75787B"/>
                  </a:solidFill>
                  <a:effectLst/>
                  <a:uLnTx/>
                  <a:uFillTx/>
                  <a:latin typeface="Segoe UI" panose="020B0502040204020203" pitchFamily="34" charset="0"/>
                  <a:ea typeface="+mn-ea"/>
                  <a:cs typeface="Segoe UI" panose="020B0502040204020203" pitchFamily="34" charset="0"/>
                  <a:sym typeface="Arial"/>
                </a:rPr>
                <a:t>Low maturity → high maturity</a:t>
              </a:r>
            </a:p>
          </p:txBody>
        </p:sp>
      </p:grpSp>
      <p:grpSp>
        <p:nvGrpSpPr>
          <p:cNvPr id="4" name="Group 3">
            <a:extLst>
              <a:ext uri="{FF2B5EF4-FFF2-40B4-BE49-F238E27FC236}">
                <a16:creationId xmlns:a16="http://schemas.microsoft.com/office/drawing/2014/main" id="{A19B4BDC-749E-454E-A5D0-E2C377C63A8D}"/>
              </a:ext>
            </a:extLst>
          </p:cNvPr>
          <p:cNvGrpSpPr/>
          <p:nvPr/>
        </p:nvGrpSpPr>
        <p:grpSpPr>
          <a:xfrm>
            <a:off x="6644405" y="4714846"/>
            <a:ext cx="5301723" cy="1138126"/>
            <a:chOff x="635446" y="4765040"/>
            <a:chExt cx="5257800" cy="1138126"/>
          </a:xfrm>
        </p:grpSpPr>
        <p:sp>
          <p:nvSpPr>
            <p:cNvPr id="170" name="TextBox 169">
              <a:extLst>
                <a:ext uri="{FF2B5EF4-FFF2-40B4-BE49-F238E27FC236}">
                  <a16:creationId xmlns:a16="http://schemas.microsoft.com/office/drawing/2014/main" id="{A76EC001-FF6C-E29F-0642-D09154E1AD8F}"/>
                </a:ext>
              </a:extLst>
            </p:cNvPr>
            <p:cNvSpPr txBox="1"/>
            <p:nvPr/>
          </p:nvSpPr>
          <p:spPr>
            <a:xfrm>
              <a:off x="635446" y="4765040"/>
              <a:ext cx="5257800" cy="230832"/>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500" b="1" i="0" u="none" strike="noStrike" kern="1200" cap="none" spc="0" normalizeH="0" baseline="0" noProof="0" dirty="0">
                  <a:ln>
                    <a:noFill/>
                  </a:ln>
                  <a:solidFill>
                    <a:srgbClr val="046A38"/>
                  </a:solidFill>
                  <a:effectLst/>
                  <a:uLnTx/>
                  <a:uFillTx/>
                  <a:latin typeface="Segoe UI" panose="020B0502040204020203" pitchFamily="34" charset="0"/>
                  <a:ea typeface="+mn-ea"/>
                  <a:cs typeface="Segoe UI" panose="020B0502040204020203" pitchFamily="34" charset="0"/>
                  <a:sym typeface="Arial"/>
                </a:rPr>
                <a:t>READING THE RESULTS</a:t>
              </a:r>
            </a:p>
          </p:txBody>
        </p:sp>
        <p:sp>
          <p:nvSpPr>
            <p:cNvPr id="172" name="TextBox 171">
              <a:extLst>
                <a:ext uri="{FF2B5EF4-FFF2-40B4-BE49-F238E27FC236}">
                  <a16:creationId xmlns:a16="http://schemas.microsoft.com/office/drawing/2014/main" id="{D74B9B09-318D-9356-BC73-FB49BACD44F2}"/>
                </a:ext>
              </a:extLst>
            </p:cNvPr>
            <p:cNvSpPr txBox="1"/>
            <p:nvPr/>
          </p:nvSpPr>
          <p:spPr>
            <a:xfrm>
              <a:off x="635446" y="5041392"/>
              <a:ext cx="5257800" cy="861774"/>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400"/>
                </a:spcAft>
                <a:buClrTx/>
                <a:buSzTx/>
                <a:buFontTx/>
                <a:buNone/>
                <a:tabLst/>
                <a:defRPr/>
              </a:pPr>
              <a:r>
                <a:rPr kumimoji="0" sz="1400" b="1" i="0" u="none" strike="noStrike" kern="1200" cap="none" spc="0" normalizeH="0" baseline="0" noProof="0" dirty="0">
                  <a:ln>
                    <a:noFill/>
                  </a:ln>
                  <a:solidFill>
                    <a:srgbClr val="000000"/>
                  </a:solidFill>
                  <a:effectLst/>
                  <a:uLnTx/>
                  <a:uFillTx/>
                  <a:latin typeface="Segoe UI" panose="020B0502040204020203" pitchFamily="34" charset="0"/>
                  <a:ea typeface="+mn-ea"/>
                  <a:cs typeface="Segoe UI" panose="020B0502040204020203" pitchFamily="34" charset="0"/>
                  <a:sym typeface="Arial"/>
                </a:rPr>
                <a:t>Scale matters. </a:t>
              </a:r>
              <a:r>
                <a:rPr kumimoji="0" lang="en-US" sz="1400" b="0"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With more data, budget and specialist talent to integrate fraud operations, larger institutions are better placed to reach the upper tiers, suggesting that maturity still depends heavily on the resources an organization can commit.</a:t>
              </a:r>
              <a:endParaRPr kumimoji="0" sz="1400" b="0"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endParaRPr>
            </a:p>
          </p:txBody>
        </p:sp>
      </p:grpSp>
      <p:sp>
        <p:nvSpPr>
          <p:cNvPr id="174" name="Rectangle 173">
            <a:extLst>
              <a:ext uri="{FF2B5EF4-FFF2-40B4-BE49-F238E27FC236}">
                <a16:creationId xmlns:a16="http://schemas.microsoft.com/office/drawing/2014/main" id="{10627AD5-ADF2-C3C9-5B6B-CBE1258311C3}"/>
              </a:ext>
            </a:extLst>
          </p:cNvPr>
          <p:cNvSpPr/>
          <p:nvPr/>
        </p:nvSpPr>
        <p:spPr>
          <a:xfrm>
            <a:off x="320040" y="6175067"/>
            <a:ext cx="11548872" cy="502920"/>
          </a:xfrm>
          <a:prstGeom prst="rect">
            <a:avLst/>
          </a:prstGeom>
          <a:solidFill>
            <a:srgbClr val="046A38"/>
          </a:solidFill>
          <a:ln>
            <a:noFill/>
          </a:ln>
          <a:effectLst/>
        </p:spPr>
        <p:style>
          <a:lnRef idx="1">
            <a:schemeClr val="accent1"/>
          </a:lnRef>
          <a:fillRef idx="3">
            <a:schemeClr val="accent1"/>
          </a:fillRef>
          <a:effectRef idx="2">
            <a:schemeClr val="accent1"/>
          </a:effectRef>
          <a:fontRef idx="minor">
            <a:schemeClr val="lt1"/>
          </a:fontRef>
        </p:style>
        <p:txBody>
          <a:bodyPr lIns="36000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86BC25"/>
                </a:solidFill>
                <a:effectLst/>
                <a:uLnTx/>
                <a:uFillTx/>
                <a:latin typeface="Segoe UI" panose="020B0502040204020203" pitchFamily="34" charset="0"/>
                <a:ea typeface="+mn-ea"/>
                <a:cs typeface="Segoe UI" panose="020B0502040204020203" pitchFamily="34" charset="0"/>
                <a:sym typeface="Arial"/>
              </a:rPr>
              <a:t>WHAT IT MEANS  </a:t>
            </a:r>
            <a:r>
              <a:rPr kumimoji="0" lang="en-US" sz="1300" b="0" i="0" u="none" strike="noStrike" kern="1200" cap="none" spc="0" normalizeH="0" baseline="0" noProof="0" dirty="0">
                <a:ln>
                  <a:noFill/>
                </a:ln>
                <a:solidFill>
                  <a:srgbClr val="FFFFFF"/>
                </a:solidFill>
                <a:effectLst/>
                <a:uLnTx/>
                <a:uFillTx/>
                <a:latin typeface="Segoe UI" panose="020B0502040204020203" pitchFamily="34" charset="0"/>
                <a:ea typeface="+mn-ea"/>
                <a:cs typeface="Segoe UI" panose="020B0502040204020203" pitchFamily="34" charset="0"/>
                <a:sym typeface="Arial"/>
              </a:rPr>
              <a:t>Confidence is high, but priorities are shifting. What leaders rely on today is not what they plan to rely on next.</a:t>
            </a:r>
          </a:p>
        </p:txBody>
      </p:sp>
      <p:sp>
        <p:nvSpPr>
          <p:cNvPr id="44" name="Rectangle 43">
            <a:extLst>
              <a:ext uri="{FF2B5EF4-FFF2-40B4-BE49-F238E27FC236}">
                <a16:creationId xmlns:a16="http://schemas.microsoft.com/office/drawing/2014/main" id="{1ABF5886-849C-6275-EA75-BC2606059543}"/>
              </a:ext>
            </a:extLst>
          </p:cNvPr>
          <p:cNvSpPr/>
          <p:nvPr/>
        </p:nvSpPr>
        <p:spPr>
          <a:xfrm>
            <a:off x="6285886" y="2082080"/>
            <a:ext cx="2743200" cy="2205902"/>
          </a:xfrm>
          <a:prstGeom prst="rect">
            <a:avLst/>
          </a:prstGeom>
          <a:solidFill>
            <a:schemeClr val="accent1">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48" name="TextBox 47">
            <a:extLst>
              <a:ext uri="{FF2B5EF4-FFF2-40B4-BE49-F238E27FC236}">
                <a16:creationId xmlns:a16="http://schemas.microsoft.com/office/drawing/2014/main" id="{9D4DEC1F-A23C-1CAC-11CE-75149F5E21E4}"/>
              </a:ext>
            </a:extLst>
          </p:cNvPr>
          <p:cNvSpPr txBox="1"/>
          <p:nvPr/>
        </p:nvSpPr>
        <p:spPr>
          <a:xfrm>
            <a:off x="7253573" y="2396318"/>
            <a:ext cx="1285240" cy="261610"/>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CA" sz="1700" b="1" i="0" u="none" strike="noStrike" kern="1200" cap="none" spc="0" normalizeH="0" baseline="0" noProof="0" dirty="0">
                <a:ln>
                  <a:noFill/>
                </a:ln>
                <a:solidFill>
                  <a:srgbClr val="43B02A"/>
                </a:solidFill>
                <a:effectLst/>
                <a:uLnTx/>
                <a:uFillTx/>
                <a:latin typeface="Segoe UI" panose="020B0502040204020203" pitchFamily="34" charset="0"/>
                <a:ea typeface="+mn-ea"/>
                <a:cs typeface="Segoe UI" panose="020B0502040204020203" pitchFamily="34" charset="0"/>
                <a:sym typeface="Arial"/>
              </a:rPr>
              <a:t>BANKING </a:t>
            </a:r>
            <a:endParaRPr kumimoji="0" lang="en-CA" sz="1700" b="0" i="0" u="none" strike="noStrike" kern="1200" cap="none" spc="0" normalizeH="0" baseline="0" noProof="0" dirty="0">
              <a:ln>
                <a:noFill/>
              </a:ln>
              <a:solidFill>
                <a:srgbClr val="43B02A"/>
              </a:solidFill>
              <a:effectLst/>
              <a:uLnTx/>
              <a:uFillTx/>
              <a:latin typeface="Segoe UI" panose="020B0502040204020203" pitchFamily="34" charset="0"/>
              <a:ea typeface="+mn-ea"/>
              <a:cs typeface="Segoe UI" panose="020B0502040204020203" pitchFamily="34" charset="0"/>
              <a:sym typeface="Arial"/>
            </a:endParaRPr>
          </a:p>
        </p:txBody>
      </p:sp>
      <p:sp>
        <p:nvSpPr>
          <p:cNvPr id="50" name="TextBox 49">
            <a:extLst>
              <a:ext uri="{FF2B5EF4-FFF2-40B4-BE49-F238E27FC236}">
                <a16:creationId xmlns:a16="http://schemas.microsoft.com/office/drawing/2014/main" id="{7E4A6F62-DF14-AE9C-32C0-0ED9E4DD4EF4}"/>
              </a:ext>
            </a:extLst>
          </p:cNvPr>
          <p:cNvSpPr txBox="1"/>
          <p:nvPr/>
        </p:nvSpPr>
        <p:spPr>
          <a:xfrm>
            <a:off x="6426934" y="2901698"/>
            <a:ext cx="1371600" cy="692497"/>
          </a:xfrm>
          <a:prstGeom prst="rect">
            <a:avLst/>
          </a:prstGeom>
          <a:noFill/>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CA" sz="4500" b="1" i="0" u="none" strike="noStrike" kern="1200" cap="none" spc="0" normalizeH="0" baseline="0" noProof="0" dirty="0">
                <a:ln>
                  <a:noFill/>
                </a:ln>
                <a:solidFill>
                  <a:srgbClr val="43B02A"/>
                </a:solidFill>
                <a:effectLst/>
                <a:uLnTx/>
                <a:uFillTx/>
                <a:latin typeface="Segoe UI" panose="020B0502040204020203" pitchFamily="34" charset="0"/>
                <a:ea typeface="+mn-ea"/>
                <a:cs typeface="Segoe UI" panose="020B0502040204020203" pitchFamily="34" charset="0"/>
                <a:sym typeface="Arial"/>
              </a:rPr>
              <a:t>85%</a:t>
            </a:r>
          </a:p>
        </p:txBody>
      </p:sp>
      <p:sp>
        <p:nvSpPr>
          <p:cNvPr id="52" name="TextBox 51">
            <a:extLst>
              <a:ext uri="{FF2B5EF4-FFF2-40B4-BE49-F238E27FC236}">
                <a16:creationId xmlns:a16="http://schemas.microsoft.com/office/drawing/2014/main" id="{64F0F000-03AE-7C91-C075-76E7FCED7477}"/>
              </a:ext>
            </a:extLst>
          </p:cNvPr>
          <p:cNvSpPr txBox="1"/>
          <p:nvPr/>
        </p:nvSpPr>
        <p:spPr>
          <a:xfrm>
            <a:off x="7634141" y="3015944"/>
            <a:ext cx="1371600" cy="461665"/>
          </a:xfrm>
          <a:prstGeom prst="rect">
            <a:avLst/>
          </a:prstGeom>
          <a:noFill/>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kumimoji="0" lang="en-US" sz="1500" b="1" i="0" u="none" strike="noStrike" kern="1200" cap="none" spc="0" normalizeH="0" baseline="0" noProof="0" dirty="0">
                <a:ln>
                  <a:noFill/>
                </a:ln>
                <a:solidFill>
                  <a:srgbClr val="404040"/>
                </a:solidFill>
                <a:effectLst/>
                <a:uLnTx/>
                <a:uFillTx/>
                <a:latin typeface="Segoe UI" panose="020B0502040204020203" pitchFamily="34" charset="0"/>
                <a:cs typeface="Segoe UI" panose="020B0502040204020203" pitchFamily="34" charset="0"/>
                <a:sym typeface="Arial"/>
              </a:rPr>
              <a:t>Integrated </a:t>
            </a:r>
            <a:r>
              <a:rPr kumimoji="0" lang="en-US" sz="1500" b="0" i="0" u="none" strike="noStrike" kern="1200" cap="none" spc="0" normalizeH="0" baseline="0" noProof="0" dirty="0">
                <a:ln>
                  <a:noFill/>
                </a:ln>
                <a:solidFill>
                  <a:srgbClr val="404040"/>
                </a:solidFill>
                <a:effectLst/>
                <a:uLnTx/>
                <a:uFillTx/>
                <a:latin typeface="Segoe UI" panose="020B0502040204020203" pitchFamily="34" charset="0"/>
                <a:cs typeface="Segoe UI" panose="020B0502040204020203" pitchFamily="34" charset="0"/>
                <a:sym typeface="Arial"/>
              </a:rPr>
              <a:t>or</a:t>
            </a:r>
            <a:r>
              <a:rPr kumimoji="0" lang="en-US" sz="1500" b="1" i="0" u="none" strike="noStrike" kern="1200" cap="none" spc="0" normalizeH="0" baseline="0" noProof="0" dirty="0">
                <a:ln>
                  <a:noFill/>
                </a:ln>
                <a:solidFill>
                  <a:srgbClr val="404040"/>
                </a:solidFill>
                <a:effectLst/>
                <a:uLnTx/>
                <a:uFillTx/>
                <a:latin typeface="Segoe UI" panose="020B0502040204020203" pitchFamily="34" charset="0"/>
                <a:cs typeface="Segoe UI" panose="020B0502040204020203" pitchFamily="34" charset="0"/>
                <a:sym typeface="Arial"/>
              </a:rPr>
              <a:t> Advanced</a:t>
            </a:r>
          </a:p>
        </p:txBody>
      </p:sp>
      <p:sp>
        <p:nvSpPr>
          <p:cNvPr id="54" name="TextBox 53">
            <a:extLst>
              <a:ext uri="{FF2B5EF4-FFF2-40B4-BE49-F238E27FC236}">
                <a16:creationId xmlns:a16="http://schemas.microsoft.com/office/drawing/2014/main" id="{6CCFA096-A12A-FF04-B255-5D14F3303DE0}"/>
              </a:ext>
            </a:extLst>
          </p:cNvPr>
          <p:cNvSpPr txBox="1"/>
          <p:nvPr/>
        </p:nvSpPr>
        <p:spPr>
          <a:xfrm>
            <a:off x="6446390" y="3674991"/>
            <a:ext cx="2464146" cy="461665"/>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Nearly half (48%) of banking respondents describe their program as </a:t>
            </a:r>
            <a:r>
              <a:rPr kumimoji="0" lang="en-US" sz="1000" b="1"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integrated</a:t>
            </a:r>
            <a:r>
              <a:rPr kumimoji="0" lang="en-US" sz="1000" b="0"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 and 37% selected </a:t>
            </a:r>
            <a:r>
              <a:rPr kumimoji="0" lang="en-US" sz="1000" b="1"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advanced</a:t>
            </a:r>
            <a:r>
              <a:rPr kumimoji="0" lang="en-US" sz="1000" b="0"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a:t>
            </a:r>
          </a:p>
        </p:txBody>
      </p:sp>
      <p:sp>
        <p:nvSpPr>
          <p:cNvPr id="56" name="Rectangle 55">
            <a:extLst>
              <a:ext uri="{FF2B5EF4-FFF2-40B4-BE49-F238E27FC236}">
                <a16:creationId xmlns:a16="http://schemas.microsoft.com/office/drawing/2014/main" id="{8A755762-75D6-2298-171B-AD0291A4D5B7}"/>
              </a:ext>
            </a:extLst>
          </p:cNvPr>
          <p:cNvSpPr/>
          <p:nvPr/>
        </p:nvSpPr>
        <p:spPr>
          <a:xfrm>
            <a:off x="9166246" y="2082080"/>
            <a:ext cx="2743200" cy="2205902"/>
          </a:xfrm>
          <a:prstGeom prst="rect">
            <a:avLst/>
          </a:prstGeom>
          <a:solidFill>
            <a:schemeClr val="accent1">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60" name="TextBox 59">
            <a:extLst>
              <a:ext uri="{FF2B5EF4-FFF2-40B4-BE49-F238E27FC236}">
                <a16:creationId xmlns:a16="http://schemas.microsoft.com/office/drawing/2014/main" id="{AABA58D4-7927-47CA-5B7A-F894B32AF6C6}"/>
              </a:ext>
            </a:extLst>
          </p:cNvPr>
          <p:cNvSpPr txBox="1"/>
          <p:nvPr/>
        </p:nvSpPr>
        <p:spPr>
          <a:xfrm>
            <a:off x="10133933" y="2396318"/>
            <a:ext cx="1285240" cy="261610"/>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CA" sz="1700" b="1" i="0" u="none" strike="noStrike" kern="1200" cap="none" spc="0" normalizeH="0" baseline="0" noProof="0" dirty="0">
                <a:ln>
                  <a:noFill/>
                </a:ln>
                <a:solidFill>
                  <a:srgbClr val="046A38"/>
                </a:solidFill>
                <a:effectLst/>
                <a:uLnTx/>
                <a:uFillTx/>
                <a:latin typeface="Segoe UI" panose="020B0502040204020203" pitchFamily="34" charset="0"/>
                <a:ea typeface="+mn-ea"/>
                <a:cs typeface="Segoe UI" panose="020B0502040204020203" pitchFamily="34" charset="0"/>
                <a:sym typeface="Arial"/>
              </a:rPr>
              <a:t>INSURANCE </a:t>
            </a:r>
            <a:endParaRPr kumimoji="0" lang="en-CA" sz="1700" b="0" i="0" u="none" strike="noStrike" kern="1200" cap="none" spc="0" normalizeH="0" baseline="0" noProof="0" dirty="0">
              <a:ln>
                <a:noFill/>
              </a:ln>
              <a:solidFill>
                <a:srgbClr val="046A38"/>
              </a:solidFill>
              <a:effectLst/>
              <a:uLnTx/>
              <a:uFillTx/>
              <a:latin typeface="Segoe UI" panose="020B0502040204020203" pitchFamily="34" charset="0"/>
              <a:ea typeface="+mn-ea"/>
              <a:cs typeface="Segoe UI" panose="020B0502040204020203" pitchFamily="34" charset="0"/>
              <a:sym typeface="Arial"/>
            </a:endParaRPr>
          </a:p>
        </p:txBody>
      </p:sp>
      <p:sp>
        <p:nvSpPr>
          <p:cNvPr id="62" name="TextBox 61">
            <a:extLst>
              <a:ext uri="{FF2B5EF4-FFF2-40B4-BE49-F238E27FC236}">
                <a16:creationId xmlns:a16="http://schemas.microsoft.com/office/drawing/2014/main" id="{D3A4BD59-CFA7-ABB8-95F5-1DC130F027E1}"/>
              </a:ext>
            </a:extLst>
          </p:cNvPr>
          <p:cNvSpPr txBox="1"/>
          <p:nvPr/>
        </p:nvSpPr>
        <p:spPr>
          <a:xfrm>
            <a:off x="9307294" y="2901698"/>
            <a:ext cx="1371600" cy="692497"/>
          </a:xfrm>
          <a:prstGeom prst="rect">
            <a:avLst/>
          </a:prstGeom>
          <a:noFill/>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CA" sz="4500" b="1" i="0" u="none" strike="noStrike" kern="1200" cap="none" spc="0" normalizeH="0" baseline="0" noProof="0" dirty="0">
                <a:ln>
                  <a:noFill/>
                </a:ln>
                <a:solidFill>
                  <a:srgbClr val="046A38"/>
                </a:solidFill>
                <a:effectLst/>
                <a:uLnTx/>
                <a:uFillTx/>
                <a:latin typeface="Segoe UI" panose="020B0502040204020203" pitchFamily="34" charset="0"/>
                <a:ea typeface="+mn-ea"/>
                <a:cs typeface="Segoe UI" panose="020B0502040204020203" pitchFamily="34" charset="0"/>
                <a:sym typeface="Arial"/>
              </a:rPr>
              <a:t>72%</a:t>
            </a:r>
          </a:p>
        </p:txBody>
      </p:sp>
      <p:sp>
        <p:nvSpPr>
          <p:cNvPr id="64" name="TextBox 63">
            <a:extLst>
              <a:ext uri="{FF2B5EF4-FFF2-40B4-BE49-F238E27FC236}">
                <a16:creationId xmlns:a16="http://schemas.microsoft.com/office/drawing/2014/main" id="{8F66A6F0-1F04-B7D5-2057-01994907E346}"/>
              </a:ext>
            </a:extLst>
          </p:cNvPr>
          <p:cNvSpPr txBox="1"/>
          <p:nvPr/>
        </p:nvSpPr>
        <p:spPr>
          <a:xfrm>
            <a:off x="10514501" y="3015944"/>
            <a:ext cx="1371600" cy="461665"/>
          </a:xfrm>
          <a:prstGeom prst="rect">
            <a:avLst/>
          </a:prstGeom>
          <a:noFill/>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Integrated</a:t>
            </a:r>
            <a:r>
              <a:rPr kumimoji="0" sz="1500" b="1"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 </a:t>
            </a:r>
            <a:r>
              <a:rPr kumimoji="0" sz="1500" b="0"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or</a:t>
            </a:r>
            <a:r>
              <a:rPr kumimoji="0" sz="1500" b="1"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 </a:t>
            </a:r>
            <a:r>
              <a:rPr kumimoji="0" lang="en-US" sz="1500" b="1"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A</a:t>
            </a:r>
            <a:r>
              <a:rPr kumimoji="0" sz="1500" b="1"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dvanced</a:t>
            </a:r>
          </a:p>
        </p:txBody>
      </p:sp>
      <p:sp>
        <p:nvSpPr>
          <p:cNvPr id="66" name="TextBox 65">
            <a:extLst>
              <a:ext uri="{FF2B5EF4-FFF2-40B4-BE49-F238E27FC236}">
                <a16:creationId xmlns:a16="http://schemas.microsoft.com/office/drawing/2014/main" id="{9207EF7A-340B-DE12-AAA3-72945B411EB9}"/>
              </a:ext>
            </a:extLst>
          </p:cNvPr>
          <p:cNvSpPr txBox="1"/>
          <p:nvPr/>
        </p:nvSpPr>
        <p:spPr>
          <a:xfrm>
            <a:off x="9326750" y="3674991"/>
            <a:ext cx="2464146" cy="461665"/>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40% of insurance respondents describe their program as </a:t>
            </a:r>
            <a:r>
              <a:rPr kumimoji="0" lang="en-US" sz="1000" b="1"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advanced</a:t>
            </a:r>
            <a:r>
              <a:rPr kumimoji="0" lang="en-US" sz="1000" b="0"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 ahead of the 32% who selected </a:t>
            </a:r>
            <a:r>
              <a:rPr kumimoji="0" lang="en-US" sz="1000" b="1"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integrated</a:t>
            </a:r>
            <a:r>
              <a:rPr kumimoji="0" lang="en-US" sz="1000" b="0"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a:t>
            </a:r>
          </a:p>
        </p:txBody>
      </p:sp>
      <p:pic>
        <p:nvPicPr>
          <p:cNvPr id="187" name="Picture 186">
            <a:extLst>
              <a:ext uri="{FF2B5EF4-FFF2-40B4-BE49-F238E27FC236}">
                <a16:creationId xmlns:a16="http://schemas.microsoft.com/office/drawing/2014/main" id="{83A41D65-DE08-C696-70B4-21DEBA0524E1}"/>
              </a:ext>
            </a:extLst>
          </p:cNvPr>
          <p:cNvPicPr>
            <a:picLocks noChangeAspect="1"/>
          </p:cNvPicPr>
          <p:nvPr/>
        </p:nvPicPr>
        <p:blipFill>
          <a:blip r:embed="rId3"/>
          <a:stretch>
            <a:fillRect/>
          </a:stretch>
        </p:blipFill>
        <p:spPr>
          <a:xfrm>
            <a:off x="6440014" y="2178335"/>
            <a:ext cx="720000" cy="720000"/>
          </a:xfrm>
          <a:prstGeom prst="rect">
            <a:avLst/>
          </a:prstGeom>
        </p:spPr>
      </p:pic>
      <p:sp>
        <p:nvSpPr>
          <p:cNvPr id="191" name="Rectangle 190">
            <a:extLst>
              <a:ext uri="{FF2B5EF4-FFF2-40B4-BE49-F238E27FC236}">
                <a16:creationId xmlns:a16="http://schemas.microsoft.com/office/drawing/2014/main" id="{6C715FA2-3CA1-8AFE-2EA1-975F8065BE9D}"/>
              </a:ext>
            </a:extLst>
          </p:cNvPr>
          <p:cNvSpPr/>
          <p:nvPr/>
        </p:nvSpPr>
        <p:spPr>
          <a:xfrm>
            <a:off x="-904" y="2472"/>
            <a:ext cx="12192000" cy="353257"/>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600"/>
              </a:spcBef>
              <a:spcAft>
                <a:spcPts val="0"/>
              </a:spcAft>
              <a:buClrTx/>
              <a:buSzPct val="100000"/>
              <a:buFont typeface="Arial"/>
              <a:buNone/>
              <a:tabLst/>
              <a:defRPr/>
            </a:pPr>
            <a:r>
              <a:rPr kumimoji="0" lang="en-US" sz="1200" b="1" i="0" u="none" strike="noStrike" kern="1200" cap="none" spc="0" normalizeH="0" baseline="0" noProof="0" dirty="0">
                <a:ln>
                  <a:noFill/>
                </a:ln>
                <a:solidFill>
                  <a:srgbClr val="FFFFFF"/>
                </a:solidFill>
                <a:effectLst/>
                <a:uLnTx/>
                <a:uFillTx/>
                <a:latin typeface="Segoe UI" panose="020B0502040204020203" pitchFamily="34" charset="0"/>
                <a:ea typeface="Open Sans" panose="020B0606030504020204" pitchFamily="34" charset="0"/>
                <a:cs typeface="Segoe UI" panose="020B0502040204020203" pitchFamily="34" charset="0"/>
                <a:sym typeface="Arial"/>
              </a:rPr>
              <a:t>OPERATING MODEL TRANSFORMATION</a:t>
            </a:r>
          </a:p>
        </p:txBody>
      </p:sp>
      <p:grpSp>
        <p:nvGrpSpPr>
          <p:cNvPr id="193" name="Group 192">
            <a:extLst>
              <a:ext uri="{FF2B5EF4-FFF2-40B4-BE49-F238E27FC236}">
                <a16:creationId xmlns:a16="http://schemas.microsoft.com/office/drawing/2014/main" id="{BD5927B5-A3C9-91F3-7570-0208CA27E2EA}"/>
              </a:ext>
            </a:extLst>
          </p:cNvPr>
          <p:cNvGrpSpPr/>
          <p:nvPr/>
        </p:nvGrpSpPr>
        <p:grpSpPr>
          <a:xfrm>
            <a:off x="9320374" y="2178335"/>
            <a:ext cx="720000" cy="720000"/>
            <a:chOff x="3319272" y="3429000"/>
            <a:chExt cx="329184" cy="329184"/>
          </a:xfrm>
        </p:grpSpPr>
        <p:sp>
          <p:nvSpPr>
            <p:cNvPr id="194" name="Rounded Rectangle 42">
              <a:extLst>
                <a:ext uri="{FF2B5EF4-FFF2-40B4-BE49-F238E27FC236}">
                  <a16:creationId xmlns:a16="http://schemas.microsoft.com/office/drawing/2014/main" id="{2D4AF295-ADD9-0085-05EF-A795E2EE42BB}"/>
                </a:ext>
              </a:extLst>
            </p:cNvPr>
            <p:cNvSpPr/>
            <p:nvPr/>
          </p:nvSpPr>
          <p:spPr>
            <a:xfrm>
              <a:off x="3319272" y="3429000"/>
              <a:ext cx="329184" cy="329184"/>
            </a:xfrm>
            <a:prstGeom prst="roundRect">
              <a:avLst>
                <a:gd name="adj" fmla="val 50000"/>
              </a:avLst>
            </a:prstGeom>
            <a:solidFill>
              <a:srgbClr val="046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pic>
          <p:nvPicPr>
            <p:cNvPr id="195" name="Picture 194" descr="ic_shield_w.png">
              <a:extLst>
                <a:ext uri="{FF2B5EF4-FFF2-40B4-BE49-F238E27FC236}">
                  <a16:creationId xmlns:a16="http://schemas.microsoft.com/office/drawing/2014/main" id="{1BF3CE91-F5EB-12CC-DD22-D72ACEDB470F}"/>
                </a:ext>
              </a:extLst>
            </p:cNvPr>
            <p:cNvPicPr>
              <a:picLocks noChangeAspect="1"/>
            </p:cNvPicPr>
            <p:nvPr/>
          </p:nvPicPr>
          <p:blipFill>
            <a:blip r:embed="rId4"/>
            <a:stretch>
              <a:fillRect/>
            </a:stretch>
          </p:blipFill>
          <p:spPr>
            <a:xfrm>
              <a:off x="3391692" y="3501420"/>
              <a:ext cx="184343" cy="184343"/>
            </a:xfrm>
            <a:prstGeom prst="rect">
              <a:avLst/>
            </a:prstGeom>
          </p:spPr>
        </p:pic>
      </p:grpSp>
      <p:sp>
        <p:nvSpPr>
          <p:cNvPr id="6" name="Chevron 19">
            <a:extLst>
              <a:ext uri="{FF2B5EF4-FFF2-40B4-BE49-F238E27FC236}">
                <a16:creationId xmlns:a16="http://schemas.microsoft.com/office/drawing/2014/main" id="{00BE6EE0-B4F4-2331-3AC8-F49B42356DCF}"/>
              </a:ext>
            </a:extLst>
          </p:cNvPr>
          <p:cNvSpPr/>
          <p:nvPr/>
        </p:nvSpPr>
        <p:spPr>
          <a:xfrm>
            <a:off x="6203206" y="4933187"/>
            <a:ext cx="243184" cy="701444"/>
          </a:xfrm>
          <a:prstGeom prst="chevron">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mn-ea"/>
              <a:cs typeface="+mn-cs"/>
              <a:sym typeface="Arial"/>
            </a:endParaRPr>
          </a:p>
        </p:txBody>
      </p:sp>
      <p:sp>
        <p:nvSpPr>
          <p:cNvPr id="8" name="TextBox 7">
            <a:extLst>
              <a:ext uri="{FF2B5EF4-FFF2-40B4-BE49-F238E27FC236}">
                <a16:creationId xmlns:a16="http://schemas.microsoft.com/office/drawing/2014/main" id="{2039AEB9-1ED7-17DF-5E81-FDC92B6CE4D4}"/>
              </a:ext>
            </a:extLst>
          </p:cNvPr>
          <p:cNvSpPr txBox="1"/>
          <p:nvPr/>
        </p:nvSpPr>
        <p:spPr>
          <a:xfrm>
            <a:off x="6285886" y="1803134"/>
            <a:ext cx="5257800" cy="230832"/>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046A38"/>
                </a:solidFill>
                <a:effectLst/>
                <a:uLnTx/>
                <a:uFillTx/>
                <a:latin typeface="Segoe UI" panose="020B0502040204020203" pitchFamily="34" charset="0"/>
                <a:ea typeface="+mn-ea"/>
                <a:cs typeface="Segoe UI" panose="020B0502040204020203" pitchFamily="34" charset="0"/>
                <a:sym typeface="Arial"/>
              </a:rPr>
              <a:t>SECTOR BREAKDOWN</a:t>
            </a:r>
            <a:endParaRPr kumimoji="0" sz="1500" b="1" i="0" u="none" strike="noStrike" kern="1200" cap="none" spc="0" normalizeH="0" baseline="0" noProof="0" dirty="0">
              <a:ln>
                <a:noFill/>
              </a:ln>
              <a:solidFill>
                <a:srgbClr val="046A38"/>
              </a:solidFill>
              <a:effectLst/>
              <a:uLnTx/>
              <a:uFillTx/>
              <a:latin typeface="Segoe UI" panose="020B0502040204020203" pitchFamily="34" charset="0"/>
              <a:ea typeface="+mn-ea"/>
              <a:cs typeface="Segoe UI" panose="020B0502040204020203" pitchFamily="34" charset="0"/>
              <a:sym typeface="Arial"/>
            </a:endParaRPr>
          </a:p>
        </p:txBody>
      </p:sp>
      <p:grpSp>
        <p:nvGrpSpPr>
          <p:cNvPr id="9" name="Group 8">
            <a:extLst>
              <a:ext uri="{FF2B5EF4-FFF2-40B4-BE49-F238E27FC236}">
                <a16:creationId xmlns:a16="http://schemas.microsoft.com/office/drawing/2014/main" id="{D6D8964B-B4D2-E22A-B12B-457A07C38160}"/>
              </a:ext>
            </a:extLst>
          </p:cNvPr>
          <p:cNvGrpSpPr/>
          <p:nvPr/>
        </p:nvGrpSpPr>
        <p:grpSpPr>
          <a:xfrm>
            <a:off x="249638" y="464705"/>
            <a:ext cx="11521440" cy="585793"/>
            <a:chOff x="249638" y="464705"/>
            <a:chExt cx="11521440" cy="585793"/>
          </a:xfrm>
        </p:grpSpPr>
        <p:sp>
          <p:nvSpPr>
            <p:cNvPr id="10" name="Text 22">
              <a:extLst>
                <a:ext uri="{FF2B5EF4-FFF2-40B4-BE49-F238E27FC236}">
                  <a16:creationId xmlns:a16="http://schemas.microsoft.com/office/drawing/2014/main" id="{E4171AD6-9372-123A-A331-3718D6F1E587}"/>
                </a:ext>
              </a:extLst>
            </p:cNvPr>
            <p:cNvSpPr/>
            <p:nvPr/>
          </p:nvSpPr>
          <p:spPr>
            <a:xfrm>
              <a:off x="249638" y="464705"/>
              <a:ext cx="7847726" cy="232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 typeface="Arial"/>
                <a:buNone/>
                <a:tabLst/>
                <a:defRPr/>
              </a:pPr>
              <a:r>
                <a:rPr kumimoji="0" lang="en-US" sz="1500" b="1" i="0" u="none" strike="noStrike" kern="0" cap="none" spc="80" normalizeH="0" baseline="0" noProof="0" dirty="0">
                  <a:ln>
                    <a:noFill/>
                  </a:ln>
                  <a:solidFill>
                    <a:srgbClr val="4EA72E"/>
                  </a:solidFill>
                  <a:effectLst/>
                  <a:uLnTx/>
                  <a:uFillTx/>
                  <a:latin typeface="Segoe UI" panose="020B0502040204020203" pitchFamily="34" charset="0"/>
                  <a:ea typeface="Arial" pitchFamily="34" charset="-122"/>
                  <a:cs typeface="Segoe UI" panose="020B0502040204020203" pitchFamily="34" charset="0"/>
                  <a:sym typeface="Arial"/>
                </a:rPr>
                <a:t>THE STARTING POINT</a:t>
              </a:r>
            </a:p>
          </p:txBody>
        </p:sp>
        <p:sp>
          <p:nvSpPr>
            <p:cNvPr id="11" name="TextBox 10">
              <a:extLst>
                <a:ext uri="{FF2B5EF4-FFF2-40B4-BE49-F238E27FC236}">
                  <a16:creationId xmlns:a16="http://schemas.microsoft.com/office/drawing/2014/main" id="{DA1862B9-764F-B34C-D5CF-2639782DB83B}"/>
                </a:ext>
              </a:extLst>
            </p:cNvPr>
            <p:cNvSpPr txBox="1"/>
            <p:nvPr/>
          </p:nvSpPr>
          <p:spPr>
            <a:xfrm>
              <a:off x="249638" y="711944"/>
              <a:ext cx="11521440" cy="33855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111111"/>
                  </a:solidFill>
                  <a:effectLst/>
                  <a:uLnTx/>
                  <a:uFillTx/>
                  <a:latin typeface="Segoe UI" panose="020B0502040204020203" pitchFamily="34" charset="0"/>
                  <a:ea typeface="+mn-ea"/>
                  <a:cs typeface="Segoe UI" panose="020B0502040204020203" pitchFamily="34" charset="0"/>
                  <a:sym typeface="Arial"/>
                </a:rPr>
                <a:t>82% of fraud programs report strong maturity, but scale remains a key differentiator</a:t>
              </a:r>
            </a:p>
          </p:txBody>
        </p:sp>
      </p:grpSp>
      <p:sp>
        <p:nvSpPr>
          <p:cNvPr id="7" name="Rectangle 6">
            <a:extLst>
              <a:ext uri="{FF2B5EF4-FFF2-40B4-BE49-F238E27FC236}">
                <a16:creationId xmlns:a16="http://schemas.microsoft.com/office/drawing/2014/main" id="{BADD6BF1-6189-D48A-A1C3-B519C0382917}"/>
              </a:ext>
            </a:extLst>
          </p:cNvPr>
          <p:cNvSpPr/>
          <p:nvPr/>
        </p:nvSpPr>
        <p:spPr>
          <a:xfrm>
            <a:off x="208221" y="6680947"/>
            <a:ext cx="2769649" cy="11694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marL="0" marR="0" lvl="0" indent="0" algn="just" defTabSz="914400" rtl="0" eaLnBrk="1" fontAlgn="auto" latinLnBrk="0" hangingPunct="1">
              <a:lnSpc>
                <a:spcPct val="100000"/>
              </a:lnSpc>
              <a:spcBef>
                <a:spcPts val="0"/>
              </a:spcBef>
              <a:spcAft>
                <a:spcPts val="0"/>
              </a:spcAft>
              <a:buClrTx/>
              <a:buSzTx/>
              <a:buFont typeface="Arial"/>
              <a:buNone/>
              <a:tabLst/>
              <a:defRPr/>
            </a:pPr>
            <a:r>
              <a:rPr kumimoji="0" lang="en-US" sz="800" b="0" i="0" u="none" strike="noStrike" kern="1200" cap="none" spc="0" normalizeH="0" baseline="0" noProof="0" dirty="0">
                <a:ln>
                  <a:noFill/>
                </a:ln>
                <a:solidFill>
                  <a:srgbClr val="000000">
                    <a:lumMod val="75000"/>
                    <a:lumOff val="25000"/>
                  </a:srgbClr>
                </a:solidFill>
                <a:effectLst/>
                <a:uLnTx/>
                <a:uFillTx/>
                <a:latin typeface="Segoe UI" panose="020B0502040204020203" pitchFamily="34" charset="0"/>
                <a:ea typeface="Open Sans" panose="020B0606030504020204" pitchFamily="34" charset="0"/>
                <a:cs typeface="Segoe UI" panose="020B0502040204020203" pitchFamily="34" charset="0"/>
                <a:sym typeface="Arial"/>
              </a:rPr>
              <a:t>For detailed data please refer to </a:t>
            </a:r>
            <a:r>
              <a:rPr kumimoji="0" lang="en-US" sz="800" b="0" i="0" u="none" strike="noStrike" kern="1200" cap="none" spc="0" normalizeH="0" baseline="0" noProof="0" dirty="0">
                <a:ln>
                  <a:noFill/>
                </a:ln>
                <a:solidFill>
                  <a:srgbClr val="000000">
                    <a:lumMod val="75000"/>
                    <a:lumOff val="25000"/>
                  </a:srgbClr>
                </a:solidFill>
                <a:effectLst/>
                <a:uLnTx/>
                <a:uFillTx/>
                <a:latin typeface="Segoe UI" panose="020B0502040204020203" pitchFamily="34" charset="0"/>
                <a:ea typeface="Open Sans" panose="020B0606030504020204" pitchFamily="34" charset="0"/>
                <a:cs typeface="Segoe UI" panose="020B0502040204020203" pitchFamily="34" charset="0"/>
                <a:sym typeface="Arial"/>
                <a:hlinkClick r:id="" action="ppaction://noaction"/>
              </a:rPr>
              <a:t>Appendix – D </a:t>
            </a:r>
            <a:endParaRPr kumimoji="0" lang="en-US" sz="800" b="0" i="0" u="none" strike="noStrike" kern="1200" cap="none" spc="0" normalizeH="0" baseline="0" noProof="0" dirty="0">
              <a:ln>
                <a:noFill/>
              </a:ln>
              <a:solidFill>
                <a:srgbClr val="000000">
                  <a:lumMod val="75000"/>
                  <a:lumOff val="25000"/>
                </a:srgbClr>
              </a:solidFill>
              <a:effectLst/>
              <a:uLnTx/>
              <a:uFillTx/>
              <a:latin typeface="Segoe UI" panose="020B0502040204020203" pitchFamily="34" charset="0"/>
              <a:ea typeface="Open Sans" panose="020B0606030504020204" pitchFamily="34" charset="0"/>
              <a:cs typeface="Segoe UI" panose="020B0502040204020203" pitchFamily="34" charset="0"/>
              <a:sym typeface="Arial"/>
            </a:endParaRPr>
          </a:p>
        </p:txBody>
      </p:sp>
    </p:spTree>
    <p:extLst>
      <p:ext uri="{BB962C8B-B14F-4D97-AF65-F5344CB8AC3E}">
        <p14:creationId xmlns:p14="http://schemas.microsoft.com/office/powerpoint/2010/main" val="14641270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59F5F9-61EC-529C-A855-DD31A7C82010}"/>
            </a:ext>
          </a:extLst>
        </p:cNvPr>
        <p:cNvGrpSpPr/>
        <p:nvPr/>
      </p:nvGrpSpPr>
      <p:grpSpPr>
        <a:xfrm>
          <a:off x="0" y="0"/>
          <a:ext cx="0" cy="0"/>
          <a:chOff x="0" y="0"/>
          <a:chExt cx="0" cy="0"/>
        </a:xfrm>
      </p:grpSpPr>
      <p:sp>
        <p:nvSpPr>
          <p:cNvPr id="153" name="Rectangle 152">
            <a:extLst>
              <a:ext uri="{FF2B5EF4-FFF2-40B4-BE49-F238E27FC236}">
                <a16:creationId xmlns:a16="http://schemas.microsoft.com/office/drawing/2014/main" id="{6FEC4548-FA50-598E-CBA4-7BEE6FB67DBA}"/>
              </a:ext>
            </a:extLst>
          </p:cNvPr>
          <p:cNvSpPr/>
          <p:nvPr/>
        </p:nvSpPr>
        <p:spPr>
          <a:xfrm>
            <a:off x="-904" y="2472"/>
            <a:ext cx="12192000" cy="353257"/>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600"/>
              </a:spcBef>
              <a:spcAft>
                <a:spcPts val="0"/>
              </a:spcAft>
              <a:buClrTx/>
              <a:buSzPct val="100000"/>
              <a:buFont typeface="Arial"/>
              <a:buNone/>
              <a:tabLst/>
              <a:defRPr/>
            </a:pPr>
            <a:r>
              <a:rPr kumimoji="0" lang="en-US" sz="1200" b="1" i="0" u="none" strike="noStrike" kern="1200" cap="none" spc="0" normalizeH="0" baseline="0" noProof="0">
                <a:ln>
                  <a:noFill/>
                </a:ln>
                <a:solidFill>
                  <a:srgbClr val="FFFFFF"/>
                </a:solidFill>
                <a:effectLst/>
                <a:uLnTx/>
                <a:uFillTx/>
                <a:latin typeface="Segoe UI" panose="020B0502040204020203" pitchFamily="34" charset="0"/>
                <a:ea typeface="Open Sans" panose="020B0606030504020204" pitchFamily="34" charset="0"/>
                <a:cs typeface="Segoe UI" panose="020B0502040204020203" pitchFamily="34" charset="0"/>
                <a:sym typeface="Arial"/>
              </a:rPr>
              <a:t>OPERATING MODEL TRANSFORMATION</a:t>
            </a:r>
          </a:p>
        </p:txBody>
      </p:sp>
      <p:sp>
        <p:nvSpPr>
          <p:cNvPr id="7" name="Rounded Rectangle 6">
            <a:extLst>
              <a:ext uri="{FF2B5EF4-FFF2-40B4-BE49-F238E27FC236}">
                <a16:creationId xmlns:a16="http://schemas.microsoft.com/office/drawing/2014/main" id="{4C7F93B9-389B-9B7F-54DE-B3483249392E}"/>
              </a:ext>
            </a:extLst>
          </p:cNvPr>
          <p:cNvSpPr/>
          <p:nvPr/>
        </p:nvSpPr>
        <p:spPr>
          <a:xfrm>
            <a:off x="320040" y="1853694"/>
            <a:ext cx="5440680" cy="4789529"/>
          </a:xfrm>
          <a:prstGeom prst="roundRect">
            <a:avLst>
              <a:gd name="adj" fmla="val 3000"/>
            </a:avLst>
          </a:prstGeom>
          <a:solidFill>
            <a:srgbClr val="FFFFFF"/>
          </a:solidFill>
          <a:ln w="28575">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8" name="TextBox 7">
            <a:extLst>
              <a:ext uri="{FF2B5EF4-FFF2-40B4-BE49-F238E27FC236}">
                <a16:creationId xmlns:a16="http://schemas.microsoft.com/office/drawing/2014/main" id="{6AE030A3-0941-2778-52F7-A64C9173DAD4}"/>
              </a:ext>
            </a:extLst>
          </p:cNvPr>
          <p:cNvSpPr txBox="1"/>
          <p:nvPr/>
        </p:nvSpPr>
        <p:spPr>
          <a:xfrm>
            <a:off x="502920" y="1933012"/>
            <a:ext cx="5074920" cy="200055"/>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046A38"/>
                </a:solidFill>
                <a:effectLst/>
                <a:uLnTx/>
                <a:uFillTx/>
                <a:latin typeface="Segoe UI" panose="020B0502040204020203" pitchFamily="34" charset="0"/>
                <a:ea typeface="+mn-ea"/>
                <a:cs typeface="Segoe UI" panose="020B0502040204020203" pitchFamily="34" charset="0"/>
                <a:sym typeface="Arial"/>
              </a:rPr>
              <a:t>FOCUS TODAY VS IN THREE YEARS</a:t>
            </a:r>
            <a:endParaRPr kumimoji="0" sz="1300" b="0" i="0" u="none" strike="noStrike" kern="1200" cap="none" spc="0" normalizeH="0" baseline="0" noProof="0">
              <a:ln>
                <a:noFill/>
              </a:ln>
              <a:solidFill>
                <a:srgbClr val="75787B"/>
              </a:solidFill>
              <a:effectLst/>
              <a:uLnTx/>
              <a:uFillTx/>
              <a:latin typeface="Segoe UI" panose="020B0502040204020203" pitchFamily="34" charset="0"/>
              <a:ea typeface="+mn-ea"/>
              <a:cs typeface="Segoe UI" panose="020B0502040204020203" pitchFamily="34" charset="0"/>
              <a:sym typeface="Arial"/>
            </a:endParaRPr>
          </a:p>
        </p:txBody>
      </p:sp>
      <p:grpSp>
        <p:nvGrpSpPr>
          <p:cNvPr id="9" name="Group 8">
            <a:extLst>
              <a:ext uri="{FF2B5EF4-FFF2-40B4-BE49-F238E27FC236}">
                <a16:creationId xmlns:a16="http://schemas.microsoft.com/office/drawing/2014/main" id="{C84B57A7-654D-319F-1842-AFB4ED7A6988}"/>
              </a:ext>
            </a:extLst>
          </p:cNvPr>
          <p:cNvGrpSpPr/>
          <p:nvPr/>
        </p:nvGrpSpPr>
        <p:grpSpPr>
          <a:xfrm>
            <a:off x="3815714" y="5542987"/>
            <a:ext cx="1819900" cy="214997"/>
            <a:chOff x="3749039" y="5326380"/>
            <a:chExt cx="1819900" cy="214997"/>
          </a:xfrm>
        </p:grpSpPr>
        <p:sp>
          <p:nvSpPr>
            <p:cNvPr id="10" name="TextBox 9">
              <a:extLst>
                <a:ext uri="{FF2B5EF4-FFF2-40B4-BE49-F238E27FC236}">
                  <a16:creationId xmlns:a16="http://schemas.microsoft.com/office/drawing/2014/main" id="{0DC383D8-BC4A-580F-12DB-69474EE9CCD7}"/>
                </a:ext>
              </a:extLst>
            </p:cNvPr>
            <p:cNvSpPr txBox="1"/>
            <p:nvPr/>
          </p:nvSpPr>
          <p:spPr>
            <a:xfrm>
              <a:off x="3749039" y="5372100"/>
              <a:ext cx="731520" cy="169277"/>
            </a:xfrm>
            <a:prstGeom prst="rect">
              <a:avLst/>
            </a:prstGeom>
            <a:noFill/>
          </p:spPr>
          <p:txBody>
            <a:bodyPr wrap="squar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100" b="1" i="0" u="none" strike="noStrike" kern="1200" cap="none" spc="0" normalizeH="0" baseline="0" noProof="0">
                <a:ln>
                  <a:noFill/>
                </a:ln>
                <a:solidFill>
                  <a:srgbClr val="75787B"/>
                </a:solidFill>
                <a:effectLst/>
                <a:uLnTx/>
                <a:uFillTx/>
                <a:latin typeface="Segoe UI" panose="020B0502040204020203" pitchFamily="34" charset="0"/>
                <a:ea typeface="+mn-ea"/>
                <a:cs typeface="Segoe UI" panose="020B0502040204020203" pitchFamily="34" charset="0"/>
                <a:sym typeface="Arial"/>
              </a:endParaRPr>
            </a:p>
          </p:txBody>
        </p:sp>
        <p:sp>
          <p:nvSpPr>
            <p:cNvPr id="13" name="TextBox 12">
              <a:extLst>
                <a:ext uri="{FF2B5EF4-FFF2-40B4-BE49-F238E27FC236}">
                  <a16:creationId xmlns:a16="http://schemas.microsoft.com/office/drawing/2014/main" id="{0FE46E98-FA47-7087-C6AD-12A318724BFB}"/>
                </a:ext>
              </a:extLst>
            </p:cNvPr>
            <p:cNvSpPr txBox="1"/>
            <p:nvPr/>
          </p:nvSpPr>
          <p:spPr>
            <a:xfrm>
              <a:off x="4306581" y="5326380"/>
              <a:ext cx="1262358" cy="153888"/>
            </a:xfrm>
            <a:prstGeom prst="rect">
              <a:avLst/>
            </a:prstGeom>
            <a:noFill/>
          </p:spPr>
          <p:txBody>
            <a:bodyPr wrap="squar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75787B"/>
                  </a:solidFill>
                  <a:effectLst/>
                  <a:uLnTx/>
                  <a:uFillTx/>
                  <a:latin typeface="Segoe UI" panose="020B0502040204020203" pitchFamily="34" charset="0"/>
                  <a:ea typeface="+mn-ea"/>
                  <a:cs typeface="Segoe UI" panose="020B0502040204020203" pitchFamily="34" charset="0"/>
                  <a:sym typeface="Arial"/>
                </a:rPr>
                <a:t>% </a:t>
              </a:r>
              <a:r>
                <a:rPr kumimoji="0" lang="en-US" sz="1000" b="1" i="0" u="none" strike="noStrike" kern="1200" cap="none" spc="0" normalizeH="0" baseline="0" noProof="0">
                  <a:ln>
                    <a:noFill/>
                  </a:ln>
                  <a:solidFill>
                    <a:srgbClr val="75787B"/>
                  </a:solidFill>
                  <a:effectLst/>
                  <a:uLnTx/>
                  <a:uFillTx/>
                  <a:latin typeface="Segoe UI" panose="020B0502040204020203" pitchFamily="34" charset="0"/>
                  <a:ea typeface="+mn-ea"/>
                  <a:cs typeface="Segoe UI" panose="020B0502040204020203" pitchFamily="34" charset="0"/>
                  <a:sym typeface="Arial"/>
                </a:rPr>
                <a:t>Change in 3 Years</a:t>
              </a:r>
              <a:endParaRPr kumimoji="0" sz="1000" b="1" i="0" u="none" strike="noStrike" kern="1200" cap="none" spc="0" normalizeH="0" baseline="0" noProof="0">
                <a:ln>
                  <a:noFill/>
                </a:ln>
                <a:solidFill>
                  <a:srgbClr val="75787B"/>
                </a:solidFill>
                <a:effectLst/>
                <a:uLnTx/>
                <a:uFillTx/>
                <a:latin typeface="Segoe UI" panose="020B0502040204020203" pitchFamily="34" charset="0"/>
                <a:ea typeface="+mn-ea"/>
                <a:cs typeface="Segoe UI" panose="020B0502040204020203" pitchFamily="34" charset="0"/>
                <a:sym typeface="Arial"/>
              </a:endParaRPr>
            </a:p>
          </p:txBody>
        </p:sp>
      </p:grpSp>
      <p:grpSp>
        <p:nvGrpSpPr>
          <p:cNvPr id="44" name="Group 43">
            <a:extLst>
              <a:ext uri="{FF2B5EF4-FFF2-40B4-BE49-F238E27FC236}">
                <a16:creationId xmlns:a16="http://schemas.microsoft.com/office/drawing/2014/main" id="{DA367EC8-BCD9-9F07-12C9-D03C66747FDE}"/>
              </a:ext>
            </a:extLst>
          </p:cNvPr>
          <p:cNvGrpSpPr/>
          <p:nvPr/>
        </p:nvGrpSpPr>
        <p:grpSpPr>
          <a:xfrm>
            <a:off x="661034" y="6363679"/>
            <a:ext cx="4709161" cy="153888"/>
            <a:chOff x="594359" y="6086112"/>
            <a:chExt cx="4709161" cy="153888"/>
          </a:xfrm>
        </p:grpSpPr>
        <p:sp>
          <p:nvSpPr>
            <p:cNvPr id="46" name="Rounded Rectangle 38">
              <a:extLst>
                <a:ext uri="{FF2B5EF4-FFF2-40B4-BE49-F238E27FC236}">
                  <a16:creationId xmlns:a16="http://schemas.microsoft.com/office/drawing/2014/main" id="{481466AC-D827-9624-25F3-034BD08AE971}"/>
                </a:ext>
              </a:extLst>
            </p:cNvPr>
            <p:cNvSpPr/>
            <p:nvPr/>
          </p:nvSpPr>
          <p:spPr>
            <a:xfrm>
              <a:off x="594359" y="6103620"/>
              <a:ext cx="128016" cy="118872"/>
            </a:xfrm>
            <a:prstGeom prst="roundRect">
              <a:avLst>
                <a:gd name="adj" fmla="val 30000"/>
              </a:avLst>
            </a:prstGeom>
            <a:solidFill>
              <a:srgbClr val="C8CB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48" name="TextBox 47">
              <a:extLst>
                <a:ext uri="{FF2B5EF4-FFF2-40B4-BE49-F238E27FC236}">
                  <a16:creationId xmlns:a16="http://schemas.microsoft.com/office/drawing/2014/main" id="{DE8638C9-D387-0619-AA9A-4BF42FBE8A9B}"/>
                </a:ext>
              </a:extLst>
            </p:cNvPr>
            <p:cNvSpPr txBox="1"/>
            <p:nvPr/>
          </p:nvSpPr>
          <p:spPr>
            <a:xfrm>
              <a:off x="795528" y="6086112"/>
              <a:ext cx="2926080" cy="153888"/>
            </a:xfrm>
            <a:prstGeom prst="rect">
              <a:avLst/>
            </a:prstGeom>
            <a:noFill/>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sym typeface="Arial"/>
                </a:rPr>
                <a:t>Other</a:t>
              </a:r>
              <a:endParaRPr kumimoji="0" sz="1000"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sym typeface="Arial"/>
              </a:endParaRPr>
            </a:p>
          </p:txBody>
        </p:sp>
        <p:sp>
          <p:nvSpPr>
            <p:cNvPr id="49" name="TextBox 48">
              <a:extLst>
                <a:ext uri="{FF2B5EF4-FFF2-40B4-BE49-F238E27FC236}">
                  <a16:creationId xmlns:a16="http://schemas.microsoft.com/office/drawing/2014/main" id="{961233FC-9E78-97A8-AD0F-CE5D720A7588}"/>
                </a:ext>
              </a:extLst>
            </p:cNvPr>
            <p:cNvSpPr txBox="1"/>
            <p:nvPr/>
          </p:nvSpPr>
          <p:spPr>
            <a:xfrm>
              <a:off x="3749039" y="6086112"/>
              <a:ext cx="731520" cy="153888"/>
            </a:xfrm>
            <a:prstGeom prst="rect">
              <a:avLst/>
            </a:prstGeom>
            <a:noFill/>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0" name="TextBox 49">
              <a:extLst>
                <a:ext uri="{FF2B5EF4-FFF2-40B4-BE49-F238E27FC236}">
                  <a16:creationId xmlns:a16="http://schemas.microsoft.com/office/drawing/2014/main" id="{C21B3227-8C03-4DF6-8C6D-61FAC4A698F3}"/>
                </a:ext>
              </a:extLst>
            </p:cNvPr>
            <p:cNvSpPr txBox="1"/>
            <p:nvPr/>
          </p:nvSpPr>
          <p:spPr>
            <a:xfrm>
              <a:off x="4572000" y="6086112"/>
              <a:ext cx="731520" cy="153888"/>
            </a:xfrm>
            <a:prstGeom prst="rect">
              <a:avLst/>
            </a:prstGeom>
            <a:noFill/>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75787B"/>
                  </a:solidFill>
                  <a:effectLst/>
                  <a:uLnTx/>
                  <a:uFillTx/>
                  <a:latin typeface="Segoe UI" panose="020B0502040204020203" pitchFamily="34" charset="0"/>
                  <a:ea typeface="+mn-ea"/>
                  <a:cs typeface="Segoe UI" panose="020B0502040204020203" pitchFamily="34" charset="0"/>
                  <a:sym typeface="Arial"/>
                </a:rPr>
                <a:t>−19% </a:t>
              </a:r>
              <a:r>
                <a:rPr kumimoji="0" sz="1000" b="0" i="0" u="none" strike="noStrike" kern="1200" cap="none" spc="0" normalizeH="0" baseline="0" noProof="0">
                  <a:ln>
                    <a:noFill/>
                  </a:ln>
                  <a:solidFill>
                    <a:srgbClr val="75787B"/>
                  </a:solidFill>
                  <a:effectLst/>
                  <a:uLnTx/>
                  <a:uFillTx/>
                  <a:latin typeface="Segoe UI" panose="020B0502040204020203" pitchFamily="34" charset="0"/>
                  <a:ea typeface="+mn-ea"/>
                  <a:cs typeface="Segoe UI" panose="020B0502040204020203" pitchFamily="34" charset="0"/>
                  <a:sym typeface="Arial"/>
                </a:rPr>
                <a:t>▼</a:t>
              </a:r>
            </a:p>
          </p:txBody>
        </p:sp>
      </p:grpSp>
      <p:grpSp>
        <p:nvGrpSpPr>
          <p:cNvPr id="52" name="Group 51">
            <a:extLst>
              <a:ext uri="{FF2B5EF4-FFF2-40B4-BE49-F238E27FC236}">
                <a16:creationId xmlns:a16="http://schemas.microsoft.com/office/drawing/2014/main" id="{AD75951C-4161-47D2-72A6-1DB23F6DEFED}"/>
              </a:ext>
            </a:extLst>
          </p:cNvPr>
          <p:cNvGrpSpPr/>
          <p:nvPr/>
        </p:nvGrpSpPr>
        <p:grpSpPr>
          <a:xfrm rot="20166160">
            <a:off x="1477186" y="2447796"/>
            <a:ext cx="2933725" cy="2933725"/>
            <a:chOff x="619505" y="2055114"/>
            <a:chExt cx="2464308" cy="2464308"/>
          </a:xfrm>
        </p:grpSpPr>
        <p:sp>
          <p:nvSpPr>
            <p:cNvPr id="132" name="Arc 41%">
              <a:extLst>
                <a:ext uri="{FF2B5EF4-FFF2-40B4-BE49-F238E27FC236}">
                  <a16:creationId xmlns:a16="http://schemas.microsoft.com/office/drawing/2014/main" id="{4ED500DC-D60E-91A1-2596-0903AF70166E}"/>
                </a:ext>
              </a:extLst>
            </p:cNvPr>
            <p:cNvSpPr/>
            <p:nvPr/>
          </p:nvSpPr>
          <p:spPr>
            <a:xfrm>
              <a:off x="619505" y="2055114"/>
              <a:ext cx="2464308" cy="2464308"/>
            </a:xfrm>
            <a:prstGeom prst="blockArc">
              <a:avLst>
                <a:gd name="adj1" fmla="val 16236000"/>
                <a:gd name="adj2" fmla="val 3419999"/>
                <a:gd name="adj3" fmla="val 15306"/>
              </a:avLst>
            </a:prstGeom>
            <a:solidFill>
              <a:srgbClr val="046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133" name="Arc 18%">
              <a:extLst>
                <a:ext uri="{FF2B5EF4-FFF2-40B4-BE49-F238E27FC236}">
                  <a16:creationId xmlns:a16="http://schemas.microsoft.com/office/drawing/2014/main" id="{8E2850BB-69FE-06F4-5D8F-A8E541BEAE87}"/>
                </a:ext>
              </a:extLst>
            </p:cNvPr>
            <p:cNvSpPr/>
            <p:nvPr/>
          </p:nvSpPr>
          <p:spPr>
            <a:xfrm>
              <a:off x="619505" y="2055114"/>
              <a:ext cx="2464308" cy="2464308"/>
            </a:xfrm>
            <a:prstGeom prst="blockArc">
              <a:avLst>
                <a:gd name="adj1" fmla="val 3492000"/>
                <a:gd name="adj2" fmla="val 7308000"/>
                <a:gd name="adj3" fmla="val 15306"/>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134" name="Arc 12%">
              <a:extLst>
                <a:ext uri="{FF2B5EF4-FFF2-40B4-BE49-F238E27FC236}">
                  <a16:creationId xmlns:a16="http://schemas.microsoft.com/office/drawing/2014/main" id="{6D6F45F6-41D2-86FB-6846-FCF8A283ED9F}"/>
                </a:ext>
              </a:extLst>
            </p:cNvPr>
            <p:cNvSpPr/>
            <p:nvPr/>
          </p:nvSpPr>
          <p:spPr>
            <a:xfrm>
              <a:off x="619505" y="2055114"/>
              <a:ext cx="2464308" cy="2464308"/>
            </a:xfrm>
            <a:prstGeom prst="blockArc">
              <a:avLst>
                <a:gd name="adj1" fmla="val 7380000"/>
                <a:gd name="adj2" fmla="val 9900000"/>
                <a:gd name="adj3" fmla="val 15306"/>
              </a:avLst>
            </a:prstGeom>
            <a:solidFill>
              <a:srgbClr val="8A8D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135" name="Arc 29%">
              <a:extLst>
                <a:ext uri="{FF2B5EF4-FFF2-40B4-BE49-F238E27FC236}">
                  <a16:creationId xmlns:a16="http://schemas.microsoft.com/office/drawing/2014/main" id="{C4975829-DC2C-5C8F-8E5A-9C5957E8EA45}"/>
                </a:ext>
              </a:extLst>
            </p:cNvPr>
            <p:cNvSpPr/>
            <p:nvPr/>
          </p:nvSpPr>
          <p:spPr>
            <a:xfrm>
              <a:off x="619505" y="2055114"/>
              <a:ext cx="2464308" cy="2464308"/>
            </a:xfrm>
            <a:prstGeom prst="blockArc">
              <a:avLst>
                <a:gd name="adj1" fmla="val 9971999"/>
                <a:gd name="adj2" fmla="val 16163999"/>
                <a:gd name="adj3" fmla="val 15306"/>
              </a:avLst>
            </a:prstGeom>
            <a:solidFill>
              <a:srgbClr val="C8CB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grpSp>
      <p:grpSp>
        <p:nvGrpSpPr>
          <p:cNvPr id="53" name="Group 52">
            <a:extLst>
              <a:ext uri="{FF2B5EF4-FFF2-40B4-BE49-F238E27FC236}">
                <a16:creationId xmlns:a16="http://schemas.microsoft.com/office/drawing/2014/main" id="{12F0CAFF-54B0-BA65-CCEB-EC05BBA5CF97}"/>
              </a:ext>
            </a:extLst>
          </p:cNvPr>
          <p:cNvGrpSpPr/>
          <p:nvPr/>
        </p:nvGrpSpPr>
        <p:grpSpPr>
          <a:xfrm rot="90755">
            <a:off x="2152037" y="3122647"/>
            <a:ext cx="1584022" cy="1584022"/>
            <a:chOff x="1021840" y="2457450"/>
            <a:chExt cx="1659636" cy="1659636"/>
          </a:xfrm>
        </p:grpSpPr>
        <p:sp>
          <p:nvSpPr>
            <p:cNvPr id="128" name="Arc 34%">
              <a:extLst>
                <a:ext uri="{FF2B5EF4-FFF2-40B4-BE49-F238E27FC236}">
                  <a16:creationId xmlns:a16="http://schemas.microsoft.com/office/drawing/2014/main" id="{3BB6A91D-9C45-98DB-2C87-378E3E434901}"/>
                </a:ext>
              </a:extLst>
            </p:cNvPr>
            <p:cNvSpPr/>
            <p:nvPr/>
          </p:nvSpPr>
          <p:spPr>
            <a:xfrm>
              <a:off x="1021840" y="2457450"/>
              <a:ext cx="1659636" cy="1659636"/>
            </a:xfrm>
            <a:prstGeom prst="blockArc">
              <a:avLst>
                <a:gd name="adj1" fmla="val 16236000"/>
                <a:gd name="adj2" fmla="val 1907999"/>
                <a:gd name="adj3" fmla="val 21212"/>
              </a:avLst>
            </a:prstGeom>
            <a:solidFill>
              <a:srgbClr val="046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129" name="Arc 10%">
              <a:extLst>
                <a:ext uri="{FF2B5EF4-FFF2-40B4-BE49-F238E27FC236}">
                  <a16:creationId xmlns:a16="http://schemas.microsoft.com/office/drawing/2014/main" id="{66D12488-C401-1566-217F-06EE70985891}"/>
                </a:ext>
              </a:extLst>
            </p:cNvPr>
            <p:cNvSpPr/>
            <p:nvPr/>
          </p:nvSpPr>
          <p:spPr>
            <a:xfrm>
              <a:off x="1021840" y="2457450"/>
              <a:ext cx="1659636" cy="1659636"/>
            </a:xfrm>
            <a:prstGeom prst="blockArc">
              <a:avLst>
                <a:gd name="adj1" fmla="val 1980000"/>
                <a:gd name="adj2" fmla="val 4067999"/>
                <a:gd name="adj3" fmla="val 21212"/>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130" name="Arc 20%">
              <a:extLst>
                <a:ext uri="{FF2B5EF4-FFF2-40B4-BE49-F238E27FC236}">
                  <a16:creationId xmlns:a16="http://schemas.microsoft.com/office/drawing/2014/main" id="{2E9EDB04-7897-5CCC-91B1-9E1F66004318}"/>
                </a:ext>
              </a:extLst>
            </p:cNvPr>
            <p:cNvSpPr/>
            <p:nvPr/>
          </p:nvSpPr>
          <p:spPr>
            <a:xfrm>
              <a:off x="1021840" y="2457450"/>
              <a:ext cx="1659636" cy="1659636"/>
            </a:xfrm>
            <a:prstGeom prst="blockArc">
              <a:avLst>
                <a:gd name="adj1" fmla="val 4140000"/>
                <a:gd name="adj2" fmla="val 8387999"/>
                <a:gd name="adj3" fmla="val 21212"/>
              </a:avLst>
            </a:prstGeom>
            <a:solidFill>
              <a:srgbClr val="8A8D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131" name="Arc 36%">
              <a:extLst>
                <a:ext uri="{FF2B5EF4-FFF2-40B4-BE49-F238E27FC236}">
                  <a16:creationId xmlns:a16="http://schemas.microsoft.com/office/drawing/2014/main" id="{6016305E-470D-FC2B-82DD-516FFCF743AA}"/>
                </a:ext>
              </a:extLst>
            </p:cNvPr>
            <p:cNvSpPr/>
            <p:nvPr/>
          </p:nvSpPr>
          <p:spPr>
            <a:xfrm>
              <a:off x="1021840" y="2457450"/>
              <a:ext cx="1659636" cy="1659636"/>
            </a:xfrm>
            <a:prstGeom prst="blockArc">
              <a:avLst>
                <a:gd name="adj1" fmla="val 8460000"/>
                <a:gd name="adj2" fmla="val 16163999"/>
                <a:gd name="adj3" fmla="val 21212"/>
              </a:avLst>
            </a:prstGeom>
            <a:solidFill>
              <a:srgbClr val="C8CB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grpSp>
      <p:sp>
        <p:nvSpPr>
          <p:cNvPr id="54" name="TextBox 53">
            <a:extLst>
              <a:ext uri="{FF2B5EF4-FFF2-40B4-BE49-F238E27FC236}">
                <a16:creationId xmlns:a16="http://schemas.microsoft.com/office/drawing/2014/main" id="{2F3B4152-9095-489B-A1A7-F555D9713EFF}"/>
              </a:ext>
            </a:extLst>
          </p:cNvPr>
          <p:cNvSpPr txBox="1"/>
          <p:nvPr/>
        </p:nvSpPr>
        <p:spPr>
          <a:xfrm>
            <a:off x="3903198" y="3209452"/>
            <a:ext cx="309380" cy="184665"/>
          </a:xfrm>
          <a:prstGeom prst="rect">
            <a:avLst/>
          </a:prstGeom>
          <a:noFill/>
        </p:spPr>
        <p:txBody>
          <a:bodyPr wrap="non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sym typeface="Arial"/>
              </a:rPr>
              <a:t>41%</a:t>
            </a:r>
          </a:p>
        </p:txBody>
      </p:sp>
      <p:sp>
        <p:nvSpPr>
          <p:cNvPr id="55" name="TextBox 54">
            <a:extLst>
              <a:ext uri="{FF2B5EF4-FFF2-40B4-BE49-F238E27FC236}">
                <a16:creationId xmlns:a16="http://schemas.microsoft.com/office/drawing/2014/main" id="{2A7EA6A2-2AEA-6EA8-BBA6-5CF0902E48EC}"/>
              </a:ext>
            </a:extLst>
          </p:cNvPr>
          <p:cNvSpPr txBox="1"/>
          <p:nvPr/>
        </p:nvSpPr>
        <p:spPr>
          <a:xfrm>
            <a:off x="3350063" y="4927668"/>
            <a:ext cx="309380" cy="184665"/>
          </a:xfrm>
          <a:prstGeom prst="rect">
            <a:avLst/>
          </a:prstGeom>
          <a:noFill/>
        </p:spPr>
        <p:txBody>
          <a:bodyPr wrap="non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023D20"/>
                </a:solidFill>
                <a:effectLst/>
                <a:uLnTx/>
                <a:uFillTx/>
                <a:latin typeface="Segoe UI" panose="020B0502040204020203" pitchFamily="34" charset="0"/>
                <a:ea typeface="+mn-ea"/>
                <a:cs typeface="Segoe UI" panose="020B0502040204020203" pitchFamily="34" charset="0"/>
                <a:sym typeface="Arial"/>
              </a:rPr>
              <a:t>18%</a:t>
            </a:r>
          </a:p>
        </p:txBody>
      </p:sp>
      <p:sp>
        <p:nvSpPr>
          <p:cNvPr id="57" name="TextBox 56">
            <a:extLst>
              <a:ext uri="{FF2B5EF4-FFF2-40B4-BE49-F238E27FC236}">
                <a16:creationId xmlns:a16="http://schemas.microsoft.com/office/drawing/2014/main" id="{592A399B-D020-3F9B-ECEC-35EFE2E11ED4}"/>
              </a:ext>
            </a:extLst>
          </p:cNvPr>
          <p:cNvSpPr txBox="1"/>
          <p:nvPr/>
        </p:nvSpPr>
        <p:spPr>
          <a:xfrm>
            <a:off x="2124707" y="4891492"/>
            <a:ext cx="309380" cy="184665"/>
          </a:xfrm>
          <a:prstGeom prst="rect">
            <a:avLst/>
          </a:prstGeom>
          <a:noFill/>
        </p:spPr>
        <p:txBody>
          <a:bodyPr wrap="non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sym typeface="Arial"/>
              </a:rPr>
              <a:t>12%</a:t>
            </a:r>
          </a:p>
        </p:txBody>
      </p:sp>
      <p:sp>
        <p:nvSpPr>
          <p:cNvPr id="61" name="TextBox 60">
            <a:extLst>
              <a:ext uri="{FF2B5EF4-FFF2-40B4-BE49-F238E27FC236}">
                <a16:creationId xmlns:a16="http://schemas.microsoft.com/office/drawing/2014/main" id="{A525FC36-585D-34C1-6D16-2F20D50C6593}"/>
              </a:ext>
            </a:extLst>
          </p:cNvPr>
          <p:cNvSpPr txBox="1"/>
          <p:nvPr/>
        </p:nvSpPr>
        <p:spPr>
          <a:xfrm>
            <a:off x="3373568" y="3586805"/>
            <a:ext cx="309380" cy="184665"/>
          </a:xfrm>
          <a:prstGeom prst="rect">
            <a:avLst/>
          </a:prstGeom>
          <a:noFill/>
        </p:spPr>
        <p:txBody>
          <a:bodyPr wrap="non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sym typeface="Arial"/>
              </a:rPr>
              <a:t>34%</a:t>
            </a:r>
          </a:p>
        </p:txBody>
      </p:sp>
      <p:sp>
        <p:nvSpPr>
          <p:cNvPr id="62" name="TextBox 61">
            <a:extLst>
              <a:ext uri="{FF2B5EF4-FFF2-40B4-BE49-F238E27FC236}">
                <a16:creationId xmlns:a16="http://schemas.microsoft.com/office/drawing/2014/main" id="{A46CA9A5-9005-29CC-3082-BF570B328A5D}"/>
              </a:ext>
            </a:extLst>
          </p:cNvPr>
          <p:cNvSpPr txBox="1"/>
          <p:nvPr/>
        </p:nvSpPr>
        <p:spPr>
          <a:xfrm>
            <a:off x="3157802" y="4314540"/>
            <a:ext cx="309380" cy="184665"/>
          </a:xfrm>
          <a:prstGeom prst="rect">
            <a:avLst/>
          </a:prstGeom>
          <a:noFill/>
        </p:spPr>
        <p:txBody>
          <a:bodyPr wrap="non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023D20"/>
                </a:solidFill>
                <a:effectLst/>
                <a:uLnTx/>
                <a:uFillTx/>
                <a:latin typeface="Segoe UI" panose="020B0502040204020203" pitchFamily="34" charset="0"/>
                <a:ea typeface="+mn-ea"/>
                <a:cs typeface="Segoe UI" panose="020B0502040204020203" pitchFamily="34" charset="0"/>
                <a:sym typeface="Arial"/>
              </a:rPr>
              <a:t>10%</a:t>
            </a:r>
          </a:p>
        </p:txBody>
      </p:sp>
      <p:sp>
        <p:nvSpPr>
          <p:cNvPr id="63" name="TextBox 62">
            <a:extLst>
              <a:ext uri="{FF2B5EF4-FFF2-40B4-BE49-F238E27FC236}">
                <a16:creationId xmlns:a16="http://schemas.microsoft.com/office/drawing/2014/main" id="{11CA4733-EFE0-D44A-B433-56DEAD61A57E}"/>
              </a:ext>
            </a:extLst>
          </p:cNvPr>
          <p:cNvSpPr txBox="1"/>
          <p:nvPr/>
        </p:nvSpPr>
        <p:spPr>
          <a:xfrm>
            <a:off x="2634668" y="4406872"/>
            <a:ext cx="309380" cy="184665"/>
          </a:xfrm>
          <a:prstGeom prst="rect">
            <a:avLst/>
          </a:prstGeom>
          <a:noFill/>
        </p:spPr>
        <p:txBody>
          <a:bodyPr wrap="non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sym typeface="Arial"/>
              </a:rPr>
              <a:t>20%</a:t>
            </a:r>
          </a:p>
        </p:txBody>
      </p:sp>
      <p:sp>
        <p:nvSpPr>
          <p:cNvPr id="209" name="Rounded Rectangle 42">
            <a:extLst>
              <a:ext uri="{FF2B5EF4-FFF2-40B4-BE49-F238E27FC236}">
                <a16:creationId xmlns:a16="http://schemas.microsoft.com/office/drawing/2014/main" id="{D975212E-94B3-AB5D-7D29-2F4C231F611D}"/>
              </a:ext>
            </a:extLst>
          </p:cNvPr>
          <p:cNvSpPr/>
          <p:nvPr/>
        </p:nvSpPr>
        <p:spPr>
          <a:xfrm>
            <a:off x="5935979" y="1899055"/>
            <a:ext cx="5925312" cy="1477590"/>
          </a:xfrm>
          <a:prstGeom prst="roundRect">
            <a:avLst>
              <a:gd name="adj" fmla="val 5000"/>
            </a:avLst>
          </a:prstGeom>
          <a:solidFill>
            <a:srgbClr val="046A3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grpSp>
        <p:nvGrpSpPr>
          <p:cNvPr id="231" name="Group 230">
            <a:extLst>
              <a:ext uri="{FF2B5EF4-FFF2-40B4-BE49-F238E27FC236}">
                <a16:creationId xmlns:a16="http://schemas.microsoft.com/office/drawing/2014/main" id="{60815CD6-3162-065A-85A4-CDB76DD0EB86}"/>
              </a:ext>
            </a:extLst>
          </p:cNvPr>
          <p:cNvGrpSpPr/>
          <p:nvPr/>
        </p:nvGrpSpPr>
        <p:grpSpPr>
          <a:xfrm>
            <a:off x="6022720" y="2470552"/>
            <a:ext cx="677825" cy="677825"/>
            <a:chOff x="6035039" y="2027288"/>
            <a:chExt cx="457200" cy="457200"/>
          </a:xfrm>
        </p:grpSpPr>
        <p:sp>
          <p:nvSpPr>
            <p:cNvPr id="210" name="Rounded Rectangle 43">
              <a:extLst>
                <a:ext uri="{FF2B5EF4-FFF2-40B4-BE49-F238E27FC236}">
                  <a16:creationId xmlns:a16="http://schemas.microsoft.com/office/drawing/2014/main" id="{CC8A44C2-3A1E-D693-7E9D-578BEF83D18A}"/>
                </a:ext>
              </a:extLst>
            </p:cNvPr>
            <p:cNvSpPr/>
            <p:nvPr/>
          </p:nvSpPr>
          <p:spPr>
            <a:xfrm>
              <a:off x="6035039" y="2027288"/>
              <a:ext cx="457200" cy="457200"/>
            </a:xfrm>
            <a:prstGeom prst="roundRect">
              <a:avLst>
                <a:gd name="adj" fmla="val 50000"/>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pic>
          <p:nvPicPr>
            <p:cNvPr id="211" name="Picture 210" descr="ic_robot_w.png">
              <a:extLst>
                <a:ext uri="{FF2B5EF4-FFF2-40B4-BE49-F238E27FC236}">
                  <a16:creationId xmlns:a16="http://schemas.microsoft.com/office/drawing/2014/main" id="{79C19088-EC0F-7C22-3E4C-5E040C5D8CBC}"/>
                </a:ext>
              </a:extLst>
            </p:cNvPr>
            <p:cNvPicPr>
              <a:picLocks noChangeAspect="1"/>
            </p:cNvPicPr>
            <p:nvPr/>
          </p:nvPicPr>
          <p:blipFill>
            <a:blip r:embed="rId4"/>
            <a:stretch>
              <a:fillRect/>
            </a:stretch>
          </p:blipFill>
          <p:spPr>
            <a:xfrm>
              <a:off x="6135623" y="2127872"/>
              <a:ext cx="256032" cy="256032"/>
            </a:xfrm>
            <a:prstGeom prst="rect">
              <a:avLst/>
            </a:prstGeom>
          </p:spPr>
        </p:pic>
      </p:grpSp>
      <p:sp>
        <p:nvSpPr>
          <p:cNvPr id="212" name="TextBox 211">
            <a:extLst>
              <a:ext uri="{FF2B5EF4-FFF2-40B4-BE49-F238E27FC236}">
                <a16:creationId xmlns:a16="http://schemas.microsoft.com/office/drawing/2014/main" id="{9F94F080-F1D6-9D39-4E9E-4388B5DDB532}"/>
              </a:ext>
            </a:extLst>
          </p:cNvPr>
          <p:cNvSpPr txBox="1"/>
          <p:nvPr/>
        </p:nvSpPr>
        <p:spPr>
          <a:xfrm>
            <a:off x="6211060" y="2080706"/>
            <a:ext cx="4559047" cy="230832"/>
          </a:xfrm>
          <a:prstGeom prst="rect">
            <a:avLst/>
          </a:prstGeom>
          <a:noFill/>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500" b="1" i="0" u="none" strike="noStrike" kern="1200" cap="none" spc="0" normalizeH="0" baseline="0" noProof="0">
                <a:ln>
                  <a:noFill/>
                </a:ln>
                <a:solidFill>
                  <a:srgbClr val="43B02A">
                    <a:lumMod val="20000"/>
                    <a:lumOff val="80000"/>
                  </a:srgbClr>
                </a:solidFill>
                <a:effectLst/>
                <a:uLnTx/>
                <a:uFillTx/>
                <a:latin typeface="Segoe UI" panose="020B0502040204020203" pitchFamily="34" charset="0"/>
                <a:ea typeface="+mn-ea"/>
                <a:cs typeface="Segoe UI" panose="020B0502040204020203" pitchFamily="34" charset="0"/>
                <a:sym typeface="Arial"/>
              </a:rPr>
              <a:t>1. AI-enabled tools remain #1, and keep growing</a:t>
            </a:r>
          </a:p>
        </p:txBody>
      </p:sp>
      <p:sp>
        <p:nvSpPr>
          <p:cNvPr id="213" name="Rounded Rectangle 46">
            <a:extLst>
              <a:ext uri="{FF2B5EF4-FFF2-40B4-BE49-F238E27FC236}">
                <a16:creationId xmlns:a16="http://schemas.microsoft.com/office/drawing/2014/main" id="{D1BA2DCA-BAA3-52F0-AFD0-32F3A4762EBC}"/>
              </a:ext>
            </a:extLst>
          </p:cNvPr>
          <p:cNvSpPr/>
          <p:nvPr/>
        </p:nvSpPr>
        <p:spPr>
          <a:xfrm>
            <a:off x="10656950" y="2093782"/>
            <a:ext cx="1152905" cy="310896"/>
          </a:xfrm>
          <a:prstGeom prst="roundRect">
            <a:avLst>
              <a:gd name="adj" fmla="val 50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1200" b="1" i="0" u="none" strike="noStrike" kern="1200" cap="none" spc="0" normalizeH="0" baseline="0" noProof="0">
                <a:ln>
                  <a:noFill/>
                </a:ln>
                <a:solidFill>
                  <a:srgbClr val="046A38"/>
                </a:solidFill>
                <a:effectLst/>
                <a:uLnTx/>
                <a:uFillTx/>
                <a:latin typeface="Segoe UI" panose="020B0502040204020203" pitchFamily="34" charset="0"/>
                <a:ea typeface="+mn-ea"/>
                <a:cs typeface="Segoe UI" panose="020B0502040204020203" pitchFamily="34" charset="0"/>
                <a:sym typeface="Arial"/>
              </a:rPr>
              <a:t>34% → 41%</a:t>
            </a:r>
          </a:p>
        </p:txBody>
      </p:sp>
      <p:sp>
        <p:nvSpPr>
          <p:cNvPr id="215" name="TextBox 214">
            <a:extLst>
              <a:ext uri="{FF2B5EF4-FFF2-40B4-BE49-F238E27FC236}">
                <a16:creationId xmlns:a16="http://schemas.microsoft.com/office/drawing/2014/main" id="{0BD8D9F5-9B3C-2FAC-29E4-5210E8F255CB}"/>
              </a:ext>
            </a:extLst>
          </p:cNvPr>
          <p:cNvSpPr txBox="1"/>
          <p:nvPr/>
        </p:nvSpPr>
        <p:spPr>
          <a:xfrm>
            <a:off x="6766969" y="2517454"/>
            <a:ext cx="4938873" cy="686919"/>
          </a:xfrm>
          <a:prstGeom prst="rect">
            <a:avLst/>
          </a:prstGeom>
          <a:noFill/>
        </p:spPr>
        <p:txBody>
          <a:bodyPr wrap="square" lIns="0" tIns="0" rIns="0" bIns="0" anchor="t">
            <a:spAutoFit/>
          </a:bodyPr>
          <a:lstStyle/>
          <a:p>
            <a:pPr marL="0" marR="0" lvl="0" indent="0" algn="l" defTabSz="457200" rtl="0" eaLnBrk="1" fontAlgn="auto" latinLnBrk="0" hangingPunct="1">
              <a:lnSpc>
                <a:spcPct val="114000"/>
              </a:lnSpc>
              <a:spcBef>
                <a:spcPts val="0"/>
              </a:spcBef>
              <a:spcAft>
                <a:spcPts val="300"/>
              </a:spcAft>
              <a:buClrTx/>
              <a:buSzTx/>
              <a:buFontTx/>
              <a:buNone/>
              <a:tabLst/>
              <a:defRPr/>
            </a:pPr>
            <a:r>
              <a:rPr kumimoji="0" sz="1000" b="0" i="0" u="none" strike="noStrike" kern="1200" cap="none" spc="0" normalizeH="0" baseline="0" noProof="0">
                <a:ln>
                  <a:noFill/>
                </a:ln>
                <a:solidFill>
                  <a:srgbClr val="43B02A">
                    <a:lumMod val="20000"/>
                    <a:lumOff val="80000"/>
                  </a:srgbClr>
                </a:solidFill>
                <a:effectLst/>
                <a:uLnTx/>
                <a:uFillTx/>
                <a:latin typeface="Segoe UI" panose="020B0502040204020203" pitchFamily="34" charset="0"/>
                <a:ea typeface="+mn-ea"/>
                <a:cs typeface="Segoe UI" panose="020B0502040204020203" pitchFamily="34" charset="0"/>
                <a:sym typeface="Arial"/>
              </a:rPr>
              <a:t>As expected, AI-enabled tools are already the most common way organizations scale fraud and investigations operations, and their lead widens over the next three years. Focus on AI rises at Top 100 banks (35% to 40%), large banks (34% to 43%) and, most sharply, large insurance carriers (10% to 40%).</a:t>
            </a:r>
          </a:p>
        </p:txBody>
      </p:sp>
      <p:sp>
        <p:nvSpPr>
          <p:cNvPr id="216" name="Rounded Rectangle 49">
            <a:extLst>
              <a:ext uri="{FF2B5EF4-FFF2-40B4-BE49-F238E27FC236}">
                <a16:creationId xmlns:a16="http://schemas.microsoft.com/office/drawing/2014/main" id="{D745B02D-C78B-47D9-8380-235DBB16830D}"/>
              </a:ext>
            </a:extLst>
          </p:cNvPr>
          <p:cNvSpPr/>
          <p:nvPr/>
        </p:nvSpPr>
        <p:spPr>
          <a:xfrm>
            <a:off x="5935979" y="3559078"/>
            <a:ext cx="5925312" cy="1477590"/>
          </a:xfrm>
          <a:prstGeom prst="roundRect">
            <a:avLst>
              <a:gd name="adj" fmla="val 5000"/>
            </a:avLst>
          </a:prstGeom>
          <a:solidFill>
            <a:schemeClr val="bg1">
              <a:lumMod val="75000"/>
            </a:schemeClr>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grpSp>
        <p:nvGrpSpPr>
          <p:cNvPr id="230" name="Group 229">
            <a:extLst>
              <a:ext uri="{FF2B5EF4-FFF2-40B4-BE49-F238E27FC236}">
                <a16:creationId xmlns:a16="http://schemas.microsoft.com/office/drawing/2014/main" id="{CEB1DBD4-CE47-3627-A50D-B16B9E766484}"/>
              </a:ext>
            </a:extLst>
          </p:cNvPr>
          <p:cNvGrpSpPr/>
          <p:nvPr/>
        </p:nvGrpSpPr>
        <p:grpSpPr>
          <a:xfrm>
            <a:off x="6022720" y="4130576"/>
            <a:ext cx="677825" cy="677825"/>
            <a:chOff x="6062472" y="3873371"/>
            <a:chExt cx="457200" cy="457200"/>
          </a:xfrm>
        </p:grpSpPr>
        <p:sp>
          <p:nvSpPr>
            <p:cNvPr id="217" name="Rounded Rectangle 50">
              <a:extLst>
                <a:ext uri="{FF2B5EF4-FFF2-40B4-BE49-F238E27FC236}">
                  <a16:creationId xmlns:a16="http://schemas.microsoft.com/office/drawing/2014/main" id="{8627049E-0CAA-2AF5-8C6B-EDBE536B6E90}"/>
                </a:ext>
              </a:extLst>
            </p:cNvPr>
            <p:cNvSpPr/>
            <p:nvPr/>
          </p:nvSpPr>
          <p:spPr>
            <a:xfrm>
              <a:off x="6062472" y="3873371"/>
              <a:ext cx="457200" cy="457200"/>
            </a:xfrm>
            <a:prstGeom prst="roundRect">
              <a:avLst>
                <a:gd name="adj" fmla="val 50000"/>
              </a:avLst>
            </a:prstGeom>
            <a:solidFill>
              <a:schemeClr val="tx1">
                <a:lumMod val="85000"/>
                <a:lumOff val="1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pic>
          <p:nvPicPr>
            <p:cNvPr id="218" name="Picture 217" descr="ic_userminus_w.png">
              <a:extLst>
                <a:ext uri="{FF2B5EF4-FFF2-40B4-BE49-F238E27FC236}">
                  <a16:creationId xmlns:a16="http://schemas.microsoft.com/office/drawing/2014/main" id="{358C549E-05C8-A156-D175-B96144E4C1B5}"/>
                </a:ext>
              </a:extLst>
            </p:cNvPr>
            <p:cNvPicPr>
              <a:picLocks noChangeAspect="1"/>
            </p:cNvPicPr>
            <p:nvPr/>
          </p:nvPicPr>
          <p:blipFill>
            <a:blip r:embed="rId5"/>
            <a:stretch>
              <a:fillRect/>
            </a:stretch>
          </p:blipFill>
          <p:spPr>
            <a:xfrm>
              <a:off x="6163056" y="3973954"/>
              <a:ext cx="256032" cy="256032"/>
            </a:xfrm>
            <a:prstGeom prst="rect">
              <a:avLst/>
            </a:prstGeom>
          </p:spPr>
        </p:pic>
      </p:grpSp>
      <p:sp>
        <p:nvSpPr>
          <p:cNvPr id="219" name="TextBox 218">
            <a:extLst>
              <a:ext uri="{FF2B5EF4-FFF2-40B4-BE49-F238E27FC236}">
                <a16:creationId xmlns:a16="http://schemas.microsoft.com/office/drawing/2014/main" id="{80CD7924-2C45-4D93-09ED-C810A9A11860}"/>
              </a:ext>
            </a:extLst>
          </p:cNvPr>
          <p:cNvSpPr txBox="1"/>
          <p:nvPr/>
        </p:nvSpPr>
        <p:spPr>
          <a:xfrm>
            <a:off x="6211060" y="3748424"/>
            <a:ext cx="4559047" cy="230832"/>
          </a:xfrm>
          <a:prstGeom prst="rect">
            <a:avLst/>
          </a:prstGeom>
          <a:noFill/>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500" b="1" i="0" u="none" strike="noStrike" kern="1200" cap="none" spc="0" normalizeH="0" baseline="0" noProof="0">
                <a:ln>
                  <a:noFill/>
                </a:ln>
                <a:solidFill>
                  <a:srgbClr val="262626"/>
                </a:solidFill>
                <a:effectLst/>
                <a:uLnTx/>
                <a:uFillTx/>
                <a:latin typeface="Segoe UI" panose="020B0502040204020203" pitchFamily="34" charset="0"/>
                <a:ea typeface="+mn-ea"/>
                <a:cs typeface="Segoe UI" panose="020B0502040204020203" pitchFamily="34" charset="0"/>
                <a:sym typeface="Arial"/>
              </a:rPr>
              <a:t>2. A clear shift away from adding headcount</a:t>
            </a:r>
          </a:p>
        </p:txBody>
      </p:sp>
      <p:sp>
        <p:nvSpPr>
          <p:cNvPr id="220" name="Rounded Rectangle 53">
            <a:extLst>
              <a:ext uri="{FF2B5EF4-FFF2-40B4-BE49-F238E27FC236}">
                <a16:creationId xmlns:a16="http://schemas.microsoft.com/office/drawing/2014/main" id="{129EFB10-6CD1-B5EF-3038-C5DDED269C62}"/>
              </a:ext>
            </a:extLst>
          </p:cNvPr>
          <p:cNvSpPr/>
          <p:nvPr/>
        </p:nvSpPr>
        <p:spPr>
          <a:xfrm>
            <a:off x="10656950" y="3753805"/>
            <a:ext cx="1152905" cy="310896"/>
          </a:xfrm>
          <a:prstGeom prst="roundRect">
            <a:avLst>
              <a:gd name="adj" fmla="val 50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1200" b="1" i="0" u="none" strike="noStrike" kern="1200" cap="none" spc="0" normalizeH="0" baseline="0" noProof="0">
                <a:ln>
                  <a:noFill/>
                </a:ln>
                <a:solidFill>
                  <a:srgbClr val="000000">
                    <a:lumMod val="85000"/>
                    <a:lumOff val="15000"/>
                  </a:srgbClr>
                </a:solidFill>
                <a:effectLst/>
                <a:uLnTx/>
                <a:uFillTx/>
                <a:latin typeface="Segoe UI" panose="020B0502040204020203" pitchFamily="34" charset="0"/>
                <a:ea typeface="+mn-ea"/>
                <a:cs typeface="Segoe UI" panose="020B0502040204020203" pitchFamily="34" charset="0"/>
                <a:sym typeface="Arial"/>
              </a:rPr>
              <a:t>20% → 12%</a:t>
            </a:r>
          </a:p>
        </p:txBody>
      </p:sp>
      <p:sp>
        <p:nvSpPr>
          <p:cNvPr id="222" name="TextBox 221">
            <a:extLst>
              <a:ext uri="{FF2B5EF4-FFF2-40B4-BE49-F238E27FC236}">
                <a16:creationId xmlns:a16="http://schemas.microsoft.com/office/drawing/2014/main" id="{E2542DBF-CF67-D7AE-DF0A-E1AFB92B0982}"/>
              </a:ext>
            </a:extLst>
          </p:cNvPr>
          <p:cNvSpPr txBox="1"/>
          <p:nvPr/>
        </p:nvSpPr>
        <p:spPr>
          <a:xfrm>
            <a:off x="6766969" y="4177477"/>
            <a:ext cx="4938873" cy="686919"/>
          </a:xfrm>
          <a:prstGeom prst="rect">
            <a:avLst/>
          </a:prstGeom>
          <a:noFill/>
        </p:spPr>
        <p:txBody>
          <a:bodyPr wrap="square" lIns="0" tIns="0" rIns="0" bIns="0" anchor="t">
            <a:spAutoFit/>
          </a:bodyPr>
          <a:lstStyle/>
          <a:p>
            <a:pPr marL="0" marR="0" lvl="0" indent="0" algn="l" defTabSz="457200" rtl="0" eaLnBrk="1" fontAlgn="auto" latinLnBrk="0" hangingPunct="1">
              <a:lnSpc>
                <a:spcPct val="114000"/>
              </a:lnSpc>
              <a:spcBef>
                <a:spcPts val="0"/>
              </a:spcBef>
              <a:spcAft>
                <a:spcPts val="300"/>
              </a:spcAft>
              <a:buClrTx/>
              <a:buSzTx/>
              <a:buFontTx/>
              <a:buNone/>
              <a:tabLst/>
              <a:defRPr/>
            </a:pPr>
            <a:r>
              <a:rPr kumimoji="0" sz="1000" b="0" i="0" u="none" strike="noStrike" kern="1200" cap="none" spc="0" normalizeH="0" baseline="0" noProof="0">
                <a:ln>
                  <a:noFill/>
                </a:ln>
                <a:solidFill>
                  <a:srgbClr val="000000">
                    <a:lumMod val="85000"/>
                    <a:lumOff val="15000"/>
                  </a:srgbClr>
                </a:solidFill>
                <a:effectLst/>
                <a:uLnTx/>
                <a:uFillTx/>
                <a:latin typeface="Segoe UI" panose="020B0502040204020203" pitchFamily="34" charset="0"/>
                <a:ea typeface="+mn-ea"/>
                <a:cs typeface="Segoe UI" panose="020B0502040204020203" pitchFamily="34" charset="0"/>
                <a:sym typeface="Arial"/>
              </a:rPr>
              <a:t>Unsurprisingly,</a:t>
            </a:r>
            <a:r>
              <a:rPr kumimoji="0" lang="en-US" sz="1000" b="0" i="0" u="none" strike="noStrike" kern="1200" cap="none" spc="0" normalizeH="0" baseline="0" noProof="0">
                <a:ln>
                  <a:noFill/>
                </a:ln>
                <a:solidFill>
                  <a:srgbClr val="000000">
                    <a:lumMod val="85000"/>
                    <a:lumOff val="15000"/>
                  </a:srgbClr>
                </a:solidFill>
                <a:effectLst/>
                <a:uLnTx/>
                <a:uFillTx/>
                <a:latin typeface="Segoe UI" panose="020B0502040204020203" pitchFamily="34" charset="0"/>
                <a:ea typeface="+mn-ea"/>
                <a:cs typeface="Segoe UI" panose="020B0502040204020203" pitchFamily="34" charset="0"/>
                <a:sym typeface="Arial"/>
              </a:rPr>
              <a:t> adding headcount </a:t>
            </a:r>
            <a:r>
              <a:rPr kumimoji="0" sz="1000" b="0" i="0" u="none" strike="noStrike" kern="1200" cap="none" spc="0" normalizeH="0" baseline="0" noProof="0">
                <a:ln>
                  <a:noFill/>
                </a:ln>
                <a:solidFill>
                  <a:srgbClr val="000000">
                    <a:lumMod val="85000"/>
                    <a:lumOff val="15000"/>
                  </a:srgbClr>
                </a:solidFill>
                <a:effectLst/>
                <a:uLnTx/>
                <a:uFillTx/>
                <a:latin typeface="Segoe UI" panose="020B0502040204020203" pitchFamily="34" charset="0"/>
                <a:ea typeface="+mn-ea"/>
                <a:cs typeface="Segoe UI" panose="020B0502040204020203" pitchFamily="34" charset="0"/>
                <a:sym typeface="Arial"/>
              </a:rPr>
              <a:t>is losing ground. Combined focus on hiring full-time staff and outsourcing to contractors falls from 20% to 12%, with hiring alone halving </a:t>
            </a:r>
            <a:r>
              <a:rPr kumimoji="0" lang="en-CA" sz="1000" b="0" i="0" u="none" strike="noStrike" kern="1200" cap="none" spc="0" normalizeH="0" baseline="0" noProof="0">
                <a:ln>
                  <a:noFill/>
                </a:ln>
                <a:solidFill>
                  <a:srgbClr val="000000">
                    <a:lumMod val="85000"/>
                    <a:lumOff val="15000"/>
                  </a:srgbClr>
                </a:solidFill>
                <a:effectLst/>
                <a:uLnTx/>
                <a:uFillTx/>
                <a:latin typeface="Segoe UI" panose="020B0502040204020203" pitchFamily="34" charset="0"/>
                <a:ea typeface="+mn-ea"/>
                <a:cs typeface="Segoe UI" panose="020B0502040204020203" pitchFamily="34" charset="0"/>
                <a:sym typeface="Arial"/>
              </a:rPr>
              <a:t>(</a:t>
            </a:r>
            <a:r>
              <a:rPr kumimoji="0" sz="1000" b="0" i="0" u="none" strike="noStrike" kern="1200" cap="none" spc="0" normalizeH="0" baseline="0" noProof="0">
                <a:ln>
                  <a:noFill/>
                </a:ln>
                <a:solidFill>
                  <a:srgbClr val="000000">
                    <a:lumMod val="85000"/>
                    <a:lumOff val="15000"/>
                  </a:srgbClr>
                </a:solidFill>
                <a:effectLst/>
                <a:uLnTx/>
                <a:uFillTx/>
                <a:latin typeface="Segoe UI" panose="020B0502040204020203" pitchFamily="34" charset="0"/>
                <a:ea typeface="+mn-ea"/>
                <a:cs typeface="Segoe UI" panose="020B0502040204020203" pitchFamily="34" charset="0"/>
                <a:sym typeface="Arial"/>
              </a:rPr>
              <a:t>10% to 5%)</a:t>
            </a:r>
            <a:r>
              <a:rPr kumimoji="0" lang="en-US" sz="1000" b="0" i="0" u="none" strike="noStrike" kern="1200" cap="none" spc="0" normalizeH="0" baseline="0" noProof="0">
                <a:ln>
                  <a:noFill/>
                </a:ln>
                <a:solidFill>
                  <a:srgbClr val="000000">
                    <a:lumMod val="85000"/>
                    <a:lumOff val="15000"/>
                  </a:srgbClr>
                </a:solidFill>
                <a:effectLst/>
                <a:uLnTx/>
                <a:uFillTx/>
                <a:latin typeface="Segoe UI" panose="020B0502040204020203" pitchFamily="34" charset="0"/>
                <a:ea typeface="+mn-ea"/>
                <a:cs typeface="Segoe UI" panose="020B0502040204020203" pitchFamily="34" charset="0"/>
                <a:sym typeface="Arial"/>
              </a:rPr>
              <a:t> across all respondents</a:t>
            </a:r>
            <a:r>
              <a:rPr kumimoji="0" sz="1000" b="0" i="0" u="none" strike="noStrike" kern="1200" cap="none" spc="0" normalizeH="0" baseline="0" noProof="0">
                <a:ln>
                  <a:noFill/>
                </a:ln>
                <a:solidFill>
                  <a:srgbClr val="000000">
                    <a:lumMod val="85000"/>
                    <a:lumOff val="15000"/>
                  </a:srgbClr>
                </a:solidFill>
                <a:effectLst/>
                <a:uLnTx/>
                <a:uFillTx/>
                <a:latin typeface="Segoe UI" panose="020B0502040204020203" pitchFamily="34" charset="0"/>
                <a:ea typeface="+mn-ea"/>
                <a:cs typeface="Segoe UI" panose="020B0502040204020203" pitchFamily="34" charset="0"/>
                <a:sym typeface="Arial"/>
              </a:rPr>
              <a:t>. The shift is sharpest at large insurance carriers, where outsourcing drops from 30% to 0%.</a:t>
            </a:r>
          </a:p>
        </p:txBody>
      </p:sp>
      <p:sp>
        <p:nvSpPr>
          <p:cNvPr id="223" name="Rounded Rectangle 56">
            <a:extLst>
              <a:ext uri="{FF2B5EF4-FFF2-40B4-BE49-F238E27FC236}">
                <a16:creationId xmlns:a16="http://schemas.microsoft.com/office/drawing/2014/main" id="{3D06BAB4-A0FF-90CC-79BD-9C9526766D28}"/>
              </a:ext>
            </a:extLst>
          </p:cNvPr>
          <p:cNvSpPr/>
          <p:nvPr/>
        </p:nvSpPr>
        <p:spPr>
          <a:xfrm>
            <a:off x="5935979" y="5219101"/>
            <a:ext cx="5925312" cy="1477590"/>
          </a:xfrm>
          <a:prstGeom prst="roundRect">
            <a:avLst>
              <a:gd name="adj" fmla="val 5000"/>
            </a:avLst>
          </a:prstGeom>
          <a:solidFill>
            <a:schemeClr val="accent1"/>
          </a:solidFill>
          <a:ln w="19050">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grpSp>
        <p:nvGrpSpPr>
          <p:cNvPr id="232" name="Group 231">
            <a:extLst>
              <a:ext uri="{FF2B5EF4-FFF2-40B4-BE49-F238E27FC236}">
                <a16:creationId xmlns:a16="http://schemas.microsoft.com/office/drawing/2014/main" id="{6320F574-67B5-2C86-2864-827B38793CB8}"/>
              </a:ext>
            </a:extLst>
          </p:cNvPr>
          <p:cNvGrpSpPr/>
          <p:nvPr/>
        </p:nvGrpSpPr>
        <p:grpSpPr>
          <a:xfrm>
            <a:off x="6022720" y="5790599"/>
            <a:ext cx="677825" cy="677825"/>
            <a:chOff x="6099048" y="5347335"/>
            <a:chExt cx="457200" cy="457200"/>
          </a:xfrm>
        </p:grpSpPr>
        <p:sp>
          <p:nvSpPr>
            <p:cNvPr id="224" name="Rounded Rectangle 57">
              <a:extLst>
                <a:ext uri="{FF2B5EF4-FFF2-40B4-BE49-F238E27FC236}">
                  <a16:creationId xmlns:a16="http://schemas.microsoft.com/office/drawing/2014/main" id="{8B3180C2-9D90-5681-6F2B-F3B56E2E538C}"/>
                </a:ext>
              </a:extLst>
            </p:cNvPr>
            <p:cNvSpPr/>
            <p:nvPr/>
          </p:nvSpPr>
          <p:spPr>
            <a:xfrm>
              <a:off x="6099048" y="5347335"/>
              <a:ext cx="457200" cy="457200"/>
            </a:xfrm>
            <a:prstGeom prst="roundRect">
              <a:avLst>
                <a:gd name="adj" fmla="val 50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pic>
          <p:nvPicPr>
            <p:cNvPr id="225" name="Picture 224" descr="ic_flow_w.png">
              <a:extLst>
                <a:ext uri="{FF2B5EF4-FFF2-40B4-BE49-F238E27FC236}">
                  <a16:creationId xmlns:a16="http://schemas.microsoft.com/office/drawing/2014/main" id="{B097B4FC-159C-84F4-9DA4-071AFEEFF0DF}"/>
                </a:ext>
              </a:extLst>
            </p:cNvPr>
            <p:cNvPicPr>
              <a:picLocks noChangeAspect="1"/>
            </p:cNvPicPr>
            <p:nvPr/>
          </p:nvPicPr>
          <p:blipFill>
            <a:blip r:embed="rId6"/>
            <a:stretch>
              <a:fillRect/>
            </a:stretch>
          </p:blipFill>
          <p:spPr>
            <a:xfrm>
              <a:off x="6199632" y="5447919"/>
              <a:ext cx="256032" cy="256032"/>
            </a:xfrm>
            <a:prstGeom prst="rect">
              <a:avLst/>
            </a:prstGeom>
          </p:spPr>
        </p:pic>
      </p:grpSp>
      <p:sp>
        <p:nvSpPr>
          <p:cNvPr id="226" name="TextBox 225">
            <a:extLst>
              <a:ext uri="{FF2B5EF4-FFF2-40B4-BE49-F238E27FC236}">
                <a16:creationId xmlns:a16="http://schemas.microsoft.com/office/drawing/2014/main" id="{AF196AE9-36AE-1B4E-10E1-ABD8841652E1}"/>
              </a:ext>
            </a:extLst>
          </p:cNvPr>
          <p:cNvSpPr txBox="1"/>
          <p:nvPr/>
        </p:nvSpPr>
        <p:spPr>
          <a:xfrm>
            <a:off x="6211060" y="5408448"/>
            <a:ext cx="4559047" cy="230832"/>
          </a:xfrm>
          <a:prstGeom prst="rect">
            <a:avLst/>
          </a:prstGeom>
          <a:noFill/>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sym typeface="Arial"/>
              </a:rPr>
              <a:t>3. The future need for </a:t>
            </a:r>
            <a:r>
              <a:rPr kumimoji="0" sz="1500" b="1"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sym typeface="Arial"/>
              </a:rPr>
              <a:t>process redesign</a:t>
            </a:r>
          </a:p>
        </p:txBody>
      </p:sp>
      <p:sp>
        <p:nvSpPr>
          <p:cNvPr id="227" name="Rounded Rectangle 60">
            <a:extLst>
              <a:ext uri="{FF2B5EF4-FFF2-40B4-BE49-F238E27FC236}">
                <a16:creationId xmlns:a16="http://schemas.microsoft.com/office/drawing/2014/main" id="{EFB45EEB-F67C-C257-1CB1-D58307517CB7}"/>
              </a:ext>
            </a:extLst>
          </p:cNvPr>
          <p:cNvSpPr/>
          <p:nvPr/>
        </p:nvSpPr>
        <p:spPr>
          <a:xfrm>
            <a:off x="11166738" y="5413828"/>
            <a:ext cx="643117" cy="310896"/>
          </a:xfrm>
          <a:prstGeom prst="roundRect">
            <a:avLst>
              <a:gd name="adj" fmla="val 50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1200" b="1" i="0" u="none" strike="noStrike" kern="1200" cap="none" spc="0" normalizeH="0" baseline="0" noProof="0">
                <a:ln>
                  <a:noFill/>
                </a:ln>
                <a:solidFill>
                  <a:srgbClr val="023D20"/>
                </a:solidFill>
                <a:effectLst/>
                <a:uLnTx/>
                <a:uFillTx/>
                <a:latin typeface="Segoe UI" panose="020B0502040204020203" pitchFamily="34" charset="0"/>
                <a:ea typeface="+mn-ea"/>
                <a:cs typeface="Segoe UI" panose="020B0502040204020203" pitchFamily="34" charset="0"/>
                <a:sym typeface="Arial"/>
              </a:rPr>
              <a:t>1.8x</a:t>
            </a:r>
          </a:p>
        </p:txBody>
      </p:sp>
      <p:sp>
        <p:nvSpPr>
          <p:cNvPr id="229" name="TextBox 228">
            <a:extLst>
              <a:ext uri="{FF2B5EF4-FFF2-40B4-BE49-F238E27FC236}">
                <a16:creationId xmlns:a16="http://schemas.microsoft.com/office/drawing/2014/main" id="{5E7EE1ED-CC71-6429-545C-663EB4D7D572}"/>
              </a:ext>
            </a:extLst>
          </p:cNvPr>
          <p:cNvSpPr txBox="1"/>
          <p:nvPr/>
        </p:nvSpPr>
        <p:spPr>
          <a:xfrm>
            <a:off x="6766969" y="5837500"/>
            <a:ext cx="4938873" cy="686919"/>
          </a:xfrm>
          <a:prstGeom prst="rect">
            <a:avLst/>
          </a:prstGeom>
          <a:noFill/>
        </p:spPr>
        <p:txBody>
          <a:bodyPr wrap="square" lIns="0" tIns="0" rIns="0" bIns="0" anchor="t">
            <a:spAutoFit/>
          </a:bodyPr>
          <a:lstStyle/>
          <a:p>
            <a:pPr marL="0" marR="0" lvl="0" indent="0" algn="l" defTabSz="457200" rtl="0" eaLnBrk="1" fontAlgn="auto" latinLnBrk="0" hangingPunct="1">
              <a:lnSpc>
                <a:spcPct val="114000"/>
              </a:lnSpc>
              <a:spcBef>
                <a:spcPts val="0"/>
              </a:spcBef>
              <a:spcAft>
                <a:spcPts val="300"/>
              </a:spcAft>
              <a:buClrTx/>
              <a:buSzTx/>
              <a:buFont typeface="Arial"/>
              <a:buNone/>
              <a:tabLst/>
              <a:defRPr/>
            </a:pPr>
            <a:r>
              <a:rPr kumimoji="0" lang="en-US" sz="1000" b="0" i="0" u="none" strike="noStrike" kern="1200" cap="none" spc="0" normalizeH="0" baseline="0" noProof="0">
                <a:ln>
                  <a:noFill/>
                </a:ln>
                <a:solidFill>
                  <a:srgbClr val="FFFFFF"/>
                </a:solidFill>
                <a:effectLst/>
                <a:uLnTx/>
                <a:uFillTx/>
                <a:latin typeface="Segoe UI" panose="020B0502040204020203" pitchFamily="34" charset="0"/>
                <a:cs typeface="Segoe UI" panose="020B0502040204020203" pitchFamily="34" charset="0"/>
                <a:sym typeface="Arial"/>
              </a:rPr>
              <a:t>To capture AI’s value, organizations must redesign the processes around it; adding AI to existing workflows only goes so far. </a:t>
            </a:r>
            <a:r>
              <a:rPr kumimoji="0" sz="1000" b="0"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sym typeface="Arial"/>
              </a:rPr>
              <a:t>Focus on redesigning processes and playbooks,</a:t>
            </a:r>
            <a:r>
              <a:rPr kumimoji="0" lang="en-US" sz="1000" b="0"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sym typeface="Arial"/>
              </a:rPr>
              <a:t>, </a:t>
            </a:r>
            <a:r>
              <a:rPr kumimoji="0" sz="1000" b="0"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sym typeface="Arial"/>
              </a:rPr>
              <a:t>nearly doubles from 10% to 18%. </a:t>
            </a:r>
            <a:r>
              <a:rPr kumimoji="0" lang="en-US" sz="1000" b="0"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sym typeface="Arial"/>
              </a:rPr>
              <a:t>For the </a:t>
            </a:r>
            <a:r>
              <a:rPr kumimoji="0" sz="1000" b="0"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sym typeface="Arial"/>
              </a:rPr>
              <a:t>Top 100 banks</a:t>
            </a:r>
            <a:r>
              <a:rPr kumimoji="0" lang="en-US" sz="1000" b="0"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sym typeface="Arial"/>
              </a:rPr>
              <a:t> this rises nearly 2x</a:t>
            </a:r>
            <a:r>
              <a:rPr kumimoji="0" sz="1000" b="0"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sym typeface="Arial"/>
              </a:rPr>
              <a:t> (8% to 15%) and </a:t>
            </a:r>
            <a:r>
              <a:rPr kumimoji="0" lang="en-US" sz="1000" b="0"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sym typeface="Arial"/>
              </a:rPr>
              <a:t>for the </a:t>
            </a:r>
            <a:r>
              <a:rPr kumimoji="0" sz="1000" b="0"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sym typeface="Arial"/>
              </a:rPr>
              <a:t>Top 50 carriers</a:t>
            </a:r>
            <a:r>
              <a:rPr kumimoji="0" lang="en-US" sz="1000" b="0"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sym typeface="Arial"/>
              </a:rPr>
              <a:t> it increases nearly 4x</a:t>
            </a:r>
            <a:r>
              <a:rPr kumimoji="0" sz="1000" b="0"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sym typeface="Arial"/>
              </a:rPr>
              <a:t> (7% to 27%).</a:t>
            </a:r>
          </a:p>
        </p:txBody>
      </p:sp>
      <p:sp>
        <p:nvSpPr>
          <p:cNvPr id="239" name="TextBox 238"/>
          <p:cNvSpPr txBox="1"/>
          <p:nvPr/>
        </p:nvSpPr>
        <p:spPr>
          <a:xfrm>
            <a:off x="550534" y="6474244"/>
            <a:ext cx="5074920" cy="138499"/>
          </a:xfrm>
          <a:prstGeom prst="rect">
            <a:avLst/>
          </a:prstGeom>
          <a:noFill/>
        </p:spPr>
        <p:txBody>
          <a:bodyPr wrap="square" lIns="0" tIns="0" rIns="0" bIns="0" anchor="t">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sz="900" b="1" i="0" u="none" strike="noStrike" kern="0" cap="none" spc="0" normalizeH="0" baseline="0" noProof="0">
                <a:ln>
                  <a:noFill/>
                </a:ln>
                <a:solidFill>
                  <a:srgbClr val="046A38"/>
                </a:solidFill>
                <a:effectLst/>
                <a:uLnTx/>
                <a:uFillTx/>
                <a:latin typeface="Segoe UI"/>
                <a:cs typeface="Arial"/>
                <a:sym typeface="Arial"/>
              </a:rPr>
              <a:t>▲ Gaining importance</a:t>
            </a:r>
            <a:r>
              <a:rPr kumimoji="0" sz="900" b="0" i="0" u="none" strike="noStrike" kern="0" cap="none" spc="0" normalizeH="0" baseline="0" noProof="0">
                <a:ln>
                  <a:noFill/>
                </a:ln>
                <a:solidFill>
                  <a:srgbClr val="404040"/>
                </a:solidFill>
                <a:effectLst/>
                <a:uLnTx/>
                <a:uFillTx/>
                <a:latin typeface="Segoe UI"/>
                <a:cs typeface="Arial"/>
                <a:sym typeface="Arial"/>
              </a:rPr>
              <a:t> </a:t>
            </a:r>
            <a:r>
              <a:rPr kumimoji="0" lang="en-CA" sz="900" b="1" i="0" u="none" strike="noStrike" kern="1200" cap="none" spc="0" normalizeH="0" baseline="0" noProof="0">
                <a:ln>
                  <a:noFill/>
                </a:ln>
                <a:solidFill>
                  <a:srgbClr val="000000">
                    <a:lumMod val="75000"/>
                    <a:lumOff val="25000"/>
                  </a:srgbClr>
                </a:solidFill>
                <a:effectLst/>
                <a:uLnTx/>
                <a:uFillTx/>
                <a:latin typeface="Segoe UI" panose="020B0502040204020203" pitchFamily="34" charset="0"/>
                <a:cs typeface="Segoe UI" panose="020B0502040204020203" pitchFamily="34" charset="0"/>
                <a:sym typeface="Arial"/>
              </a:rPr>
              <a:t>· </a:t>
            </a:r>
            <a:r>
              <a:rPr kumimoji="0" sz="900" b="1" i="0" u="none" strike="noStrike" kern="0" cap="none" spc="0" normalizeH="0" baseline="0" noProof="0">
                <a:ln>
                  <a:noFill/>
                </a:ln>
                <a:solidFill>
                  <a:srgbClr val="DA291C"/>
                </a:solidFill>
                <a:effectLst/>
                <a:uLnTx/>
                <a:uFillTx/>
                <a:latin typeface="Segoe UI"/>
                <a:cs typeface="Arial"/>
                <a:sym typeface="Arial"/>
              </a:rPr>
              <a:t>▼ Losing importance</a:t>
            </a:r>
            <a:endParaRPr kumimoji="0" sz="900" b="0" i="0" u="none" strike="noStrike" kern="0" cap="none" spc="0" normalizeH="0" baseline="0" noProof="0">
              <a:ln>
                <a:noFill/>
              </a:ln>
              <a:solidFill>
                <a:srgbClr val="404040"/>
              </a:solidFill>
              <a:effectLst/>
              <a:uLnTx/>
              <a:uFillTx/>
              <a:latin typeface="Segoe UI"/>
              <a:cs typeface="Arial"/>
              <a:sym typeface="Arial"/>
            </a:endParaRPr>
          </a:p>
        </p:txBody>
      </p:sp>
      <p:sp>
        <p:nvSpPr>
          <p:cNvPr id="240" name="Oval 239"/>
          <p:cNvSpPr/>
          <p:nvPr/>
        </p:nvSpPr>
        <p:spPr>
          <a:xfrm>
            <a:off x="4221275" y="2766729"/>
            <a:ext cx="366405" cy="366405"/>
          </a:xfrm>
          <a:prstGeom prst="ellipse">
            <a:avLst/>
          </a:prstGeom>
          <a:solidFill>
            <a:schemeClr val="tx1"/>
          </a:solidFill>
          <a:ln w="19050">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sz="1600" b="1" i="0" u="none" strike="noStrike" kern="0" cap="none" spc="0" normalizeH="0" baseline="0" noProof="0">
                <a:ln>
                  <a:noFill/>
                </a:ln>
                <a:solidFill>
                  <a:srgbClr val="FFFFFF"/>
                </a:solidFill>
                <a:effectLst/>
                <a:uLnTx/>
                <a:uFillTx/>
                <a:latin typeface="Segoe UI"/>
                <a:ea typeface="+mn-ea"/>
                <a:cs typeface="+mn-cs"/>
                <a:sym typeface="Arial"/>
              </a:rPr>
              <a:t>1</a:t>
            </a:r>
          </a:p>
        </p:txBody>
      </p:sp>
      <p:sp>
        <p:nvSpPr>
          <p:cNvPr id="241" name="Oval 240"/>
          <p:cNvSpPr/>
          <p:nvPr/>
        </p:nvSpPr>
        <p:spPr>
          <a:xfrm>
            <a:off x="1848646" y="5219341"/>
            <a:ext cx="366405" cy="366405"/>
          </a:xfrm>
          <a:prstGeom prst="ellipse">
            <a:avLst/>
          </a:prstGeom>
          <a:solidFill>
            <a:schemeClr val="tx1"/>
          </a:solidFill>
          <a:ln w="19050">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sz="1600" b="1" i="0" u="none" strike="noStrike" kern="0" cap="none" spc="0" normalizeH="0" baseline="0" noProof="0">
                <a:ln>
                  <a:noFill/>
                </a:ln>
                <a:solidFill>
                  <a:srgbClr val="FFFFFF"/>
                </a:solidFill>
                <a:effectLst/>
                <a:uLnTx/>
                <a:uFillTx/>
                <a:latin typeface="Segoe UI"/>
                <a:ea typeface="+mn-ea"/>
                <a:cs typeface="+mn-cs"/>
                <a:sym typeface="Arial"/>
              </a:rPr>
              <a:t>2</a:t>
            </a:r>
          </a:p>
        </p:txBody>
      </p:sp>
      <p:sp>
        <p:nvSpPr>
          <p:cNvPr id="242" name="Oval 241"/>
          <p:cNvSpPr/>
          <p:nvPr/>
        </p:nvSpPr>
        <p:spPr>
          <a:xfrm>
            <a:off x="3573487" y="5234594"/>
            <a:ext cx="366405" cy="366405"/>
          </a:xfrm>
          <a:prstGeom prst="ellipse">
            <a:avLst/>
          </a:prstGeom>
          <a:solidFill>
            <a:schemeClr val="tx1"/>
          </a:solidFill>
          <a:ln w="19050">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sz="1600" b="1" i="0" u="none" strike="noStrike" kern="0" cap="none" spc="0" normalizeH="0" baseline="0" noProof="0">
                <a:ln>
                  <a:noFill/>
                </a:ln>
                <a:solidFill>
                  <a:srgbClr val="FFFFFF"/>
                </a:solidFill>
                <a:effectLst/>
                <a:uLnTx/>
                <a:uFillTx/>
                <a:latin typeface="Segoe UI"/>
                <a:ea typeface="+mn-ea"/>
                <a:cs typeface="+mn-cs"/>
                <a:sym typeface="Arial"/>
              </a:rPr>
              <a:t>3</a:t>
            </a:r>
          </a:p>
        </p:txBody>
      </p:sp>
      <p:sp>
        <p:nvSpPr>
          <p:cNvPr id="24" name="Rectangle 23">
            <a:extLst>
              <a:ext uri="{FF2B5EF4-FFF2-40B4-BE49-F238E27FC236}">
                <a16:creationId xmlns:a16="http://schemas.microsoft.com/office/drawing/2014/main" id="{230274F0-3DCF-78E8-AE20-37364CC2B427}"/>
              </a:ext>
            </a:extLst>
          </p:cNvPr>
          <p:cNvSpPr/>
          <p:nvPr/>
        </p:nvSpPr>
        <p:spPr>
          <a:xfrm>
            <a:off x="2272886" y="2373029"/>
            <a:ext cx="1342324" cy="261610"/>
          </a:xfrm>
          <a:prstGeom prst="rect">
            <a:avLst/>
          </a:prstGeom>
          <a:noFill/>
        </p:spPr>
        <p:txBody>
          <a:bodyPr wrap="none" lIns="91440" tIns="45720" rIns="91440" bIns="45720">
            <a:prstTxWarp prst="textArchUp">
              <a:avLst>
                <a:gd name="adj" fmla="val 10991590"/>
              </a:avLst>
            </a:prstTxWarp>
            <a:spAutoFit/>
            <a:scene3d>
              <a:camera prst="orthographicFront">
                <a:rot lat="420000" lon="0" rev="0"/>
              </a:camera>
              <a:lightRig rig="threePt" dir="t"/>
            </a:scene3d>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100" b="1" i="0" u="none" strike="noStrike" kern="0" cap="none" spc="0" normalizeH="0" baseline="0" noProof="0">
                <a:ln w="0"/>
                <a:solidFill>
                  <a:srgbClr val="000000"/>
                </a:solidFill>
                <a:effectLst/>
                <a:uLnTx/>
                <a:uFillTx/>
                <a:latin typeface="Segoe UI" panose="020B0502040204020203" pitchFamily="34" charset="0"/>
                <a:cs typeface="Segoe UI" panose="020B0502040204020203" pitchFamily="34" charset="0"/>
                <a:sym typeface="Arial"/>
              </a:rPr>
              <a:t>FOCUS IN 3 YEARS</a:t>
            </a:r>
          </a:p>
        </p:txBody>
      </p:sp>
      <p:grpSp>
        <p:nvGrpSpPr>
          <p:cNvPr id="32" name="Group 31">
            <a:extLst>
              <a:ext uri="{FF2B5EF4-FFF2-40B4-BE49-F238E27FC236}">
                <a16:creationId xmlns:a16="http://schemas.microsoft.com/office/drawing/2014/main" id="{E8FF2BA6-FDA1-FDBC-59AC-5BA676B6B7BB}"/>
              </a:ext>
            </a:extLst>
          </p:cNvPr>
          <p:cNvGrpSpPr/>
          <p:nvPr/>
        </p:nvGrpSpPr>
        <p:grpSpPr>
          <a:xfrm>
            <a:off x="661034" y="6161490"/>
            <a:ext cx="4709161" cy="153888"/>
            <a:chOff x="594359" y="5738640"/>
            <a:chExt cx="4709161" cy="153888"/>
          </a:xfrm>
        </p:grpSpPr>
        <p:sp>
          <p:nvSpPr>
            <p:cNvPr id="33" name="Rounded Rectangle 26">
              <a:extLst>
                <a:ext uri="{FF2B5EF4-FFF2-40B4-BE49-F238E27FC236}">
                  <a16:creationId xmlns:a16="http://schemas.microsoft.com/office/drawing/2014/main" id="{5708A951-7CDF-E1E9-1C80-83103E15A457}"/>
                </a:ext>
              </a:extLst>
            </p:cNvPr>
            <p:cNvSpPr/>
            <p:nvPr/>
          </p:nvSpPr>
          <p:spPr>
            <a:xfrm>
              <a:off x="594359" y="5756148"/>
              <a:ext cx="128016" cy="118872"/>
            </a:xfrm>
            <a:prstGeom prst="roundRect">
              <a:avLst>
                <a:gd name="adj" fmla="val 30000"/>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34" name="TextBox 33">
              <a:extLst>
                <a:ext uri="{FF2B5EF4-FFF2-40B4-BE49-F238E27FC236}">
                  <a16:creationId xmlns:a16="http://schemas.microsoft.com/office/drawing/2014/main" id="{96580202-1782-42DB-4079-9881691EC18E}"/>
                </a:ext>
              </a:extLst>
            </p:cNvPr>
            <p:cNvSpPr txBox="1"/>
            <p:nvPr/>
          </p:nvSpPr>
          <p:spPr>
            <a:xfrm>
              <a:off x="795528" y="5738640"/>
              <a:ext cx="2926080" cy="153888"/>
            </a:xfrm>
            <a:prstGeom prst="rect">
              <a:avLst/>
            </a:prstGeom>
            <a:noFill/>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sym typeface="Arial"/>
                </a:rPr>
                <a:t>1  Process redesign</a:t>
              </a:r>
            </a:p>
          </p:txBody>
        </p:sp>
        <p:sp>
          <p:nvSpPr>
            <p:cNvPr id="35" name="TextBox 34">
              <a:extLst>
                <a:ext uri="{FF2B5EF4-FFF2-40B4-BE49-F238E27FC236}">
                  <a16:creationId xmlns:a16="http://schemas.microsoft.com/office/drawing/2014/main" id="{DE2D16CA-853E-4140-A04C-02750CB294C6}"/>
                </a:ext>
              </a:extLst>
            </p:cNvPr>
            <p:cNvSpPr txBox="1"/>
            <p:nvPr/>
          </p:nvSpPr>
          <p:spPr>
            <a:xfrm>
              <a:off x="3749039" y="5738640"/>
              <a:ext cx="731520" cy="153888"/>
            </a:xfrm>
            <a:prstGeom prst="rect">
              <a:avLst/>
            </a:prstGeom>
            <a:noFill/>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 name="TextBox 35">
              <a:extLst>
                <a:ext uri="{FF2B5EF4-FFF2-40B4-BE49-F238E27FC236}">
                  <a16:creationId xmlns:a16="http://schemas.microsoft.com/office/drawing/2014/main" id="{7E809FEF-DEB9-0B5E-0A7F-36805FEBCEB2}"/>
                </a:ext>
              </a:extLst>
            </p:cNvPr>
            <p:cNvSpPr txBox="1"/>
            <p:nvPr/>
          </p:nvSpPr>
          <p:spPr>
            <a:xfrm>
              <a:off x="4572000" y="5738640"/>
              <a:ext cx="731520" cy="153888"/>
            </a:xfrm>
            <a:prstGeom prst="rect">
              <a:avLst/>
            </a:prstGeom>
            <a:noFill/>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046A38"/>
                  </a:solidFill>
                  <a:effectLst/>
                  <a:uLnTx/>
                  <a:uFillTx/>
                  <a:latin typeface="Segoe UI" panose="020B0502040204020203" pitchFamily="34" charset="0"/>
                  <a:ea typeface="+mn-ea"/>
                  <a:cs typeface="Segoe UI" panose="020B0502040204020203" pitchFamily="34" charset="0"/>
                  <a:sym typeface="Arial"/>
                </a:rPr>
                <a:t>+80% </a:t>
              </a:r>
              <a:r>
                <a:rPr kumimoji="0" sz="1000" b="0" i="0" u="none" strike="noStrike" kern="1200" cap="none" spc="0" normalizeH="0" baseline="0" noProof="0">
                  <a:ln>
                    <a:noFill/>
                  </a:ln>
                  <a:solidFill>
                    <a:srgbClr val="046A38"/>
                  </a:solidFill>
                  <a:effectLst/>
                  <a:uLnTx/>
                  <a:uFillTx/>
                  <a:latin typeface="Segoe UI" panose="020B0502040204020203" pitchFamily="34" charset="0"/>
                  <a:ea typeface="+mn-ea"/>
                  <a:cs typeface="Segoe UI" panose="020B0502040204020203" pitchFamily="34" charset="0"/>
                  <a:sym typeface="Arial"/>
                </a:rPr>
                <a:t>▲</a:t>
              </a:r>
            </a:p>
          </p:txBody>
        </p:sp>
      </p:grpSp>
      <p:sp>
        <p:nvSpPr>
          <p:cNvPr id="41" name="Oval 40">
            <a:extLst>
              <a:ext uri="{FF2B5EF4-FFF2-40B4-BE49-F238E27FC236}">
                <a16:creationId xmlns:a16="http://schemas.microsoft.com/office/drawing/2014/main" id="{4D0DE9C1-3F3E-995D-62D6-0F581115C08D}"/>
              </a:ext>
            </a:extLst>
          </p:cNvPr>
          <p:cNvSpPr/>
          <p:nvPr/>
        </p:nvSpPr>
        <p:spPr>
          <a:xfrm>
            <a:off x="827464" y="6158814"/>
            <a:ext cx="169200" cy="169200"/>
          </a:xfrm>
          <a:prstGeom prst="ellipse">
            <a:avLst/>
          </a:prstGeom>
          <a:solidFill>
            <a:srgbClr val="86BC25"/>
          </a:solidFill>
          <a:ln w="19050">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sz="950" b="1" i="0" u="none" strike="noStrike" kern="0" cap="none" spc="0" normalizeH="0" baseline="0" noProof="0">
                <a:ln>
                  <a:noFill/>
                </a:ln>
                <a:solidFill>
                  <a:srgbClr val="023D20"/>
                </a:solidFill>
                <a:effectLst/>
                <a:uLnTx/>
                <a:uFillTx/>
                <a:latin typeface="Segoe UI"/>
                <a:ea typeface="+mn-ea"/>
                <a:cs typeface="+mn-cs"/>
                <a:sym typeface="Arial"/>
              </a:rPr>
              <a:t>3</a:t>
            </a:r>
          </a:p>
        </p:txBody>
      </p:sp>
      <p:sp>
        <p:nvSpPr>
          <p:cNvPr id="38" name="Rounded Rectangle 30">
            <a:extLst>
              <a:ext uri="{FF2B5EF4-FFF2-40B4-BE49-F238E27FC236}">
                <a16:creationId xmlns:a16="http://schemas.microsoft.com/office/drawing/2014/main" id="{E044F2CA-B2C8-F5EE-E55C-BBADC4C082E5}"/>
              </a:ext>
            </a:extLst>
          </p:cNvPr>
          <p:cNvSpPr/>
          <p:nvPr/>
        </p:nvSpPr>
        <p:spPr>
          <a:xfrm>
            <a:off x="661034" y="5976810"/>
            <a:ext cx="128016" cy="118872"/>
          </a:xfrm>
          <a:prstGeom prst="roundRect">
            <a:avLst>
              <a:gd name="adj" fmla="val 30000"/>
            </a:avLst>
          </a:prstGeom>
          <a:solidFill>
            <a:srgbClr val="8A8D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40" name="TextBox 39">
            <a:extLst>
              <a:ext uri="{FF2B5EF4-FFF2-40B4-BE49-F238E27FC236}">
                <a16:creationId xmlns:a16="http://schemas.microsoft.com/office/drawing/2014/main" id="{F18D89E8-B3C6-8CD9-BAB8-7D7251D8066D}"/>
              </a:ext>
            </a:extLst>
          </p:cNvPr>
          <p:cNvSpPr txBox="1"/>
          <p:nvPr/>
        </p:nvSpPr>
        <p:spPr>
          <a:xfrm>
            <a:off x="862203" y="5959302"/>
            <a:ext cx="2926080" cy="153888"/>
          </a:xfrm>
          <a:prstGeom prst="rect">
            <a:avLst/>
          </a:prstGeom>
          <a:noFill/>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Segoe UI" panose="020B0502040204020203" pitchFamily="34" charset="0"/>
                <a:ea typeface="+mn-ea"/>
                <a:cs typeface="Segoe UI" panose="020B0502040204020203" pitchFamily="34" charset="0"/>
                <a:sym typeface="Arial"/>
              </a:rPr>
              <a:t>2. Adding headcount (hiring + outsourcing)</a:t>
            </a:r>
          </a:p>
        </p:txBody>
      </p:sp>
      <p:sp>
        <p:nvSpPr>
          <p:cNvPr id="42" name="TextBox 41">
            <a:extLst>
              <a:ext uri="{FF2B5EF4-FFF2-40B4-BE49-F238E27FC236}">
                <a16:creationId xmlns:a16="http://schemas.microsoft.com/office/drawing/2014/main" id="{70C21C21-DC55-9418-063C-0A2089AFEC14}"/>
              </a:ext>
            </a:extLst>
          </p:cNvPr>
          <p:cNvSpPr txBox="1"/>
          <p:nvPr/>
        </p:nvSpPr>
        <p:spPr>
          <a:xfrm>
            <a:off x="3815714" y="5959302"/>
            <a:ext cx="731520" cy="153888"/>
          </a:xfrm>
          <a:prstGeom prst="rect">
            <a:avLst/>
          </a:prstGeom>
          <a:noFill/>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3" name="TextBox 42">
            <a:extLst>
              <a:ext uri="{FF2B5EF4-FFF2-40B4-BE49-F238E27FC236}">
                <a16:creationId xmlns:a16="http://schemas.microsoft.com/office/drawing/2014/main" id="{D4671481-A49F-CD0D-2787-F0E0CCDC06A2}"/>
              </a:ext>
            </a:extLst>
          </p:cNvPr>
          <p:cNvSpPr txBox="1"/>
          <p:nvPr/>
        </p:nvSpPr>
        <p:spPr>
          <a:xfrm>
            <a:off x="4638675" y="5959302"/>
            <a:ext cx="731520" cy="153888"/>
          </a:xfrm>
          <a:prstGeom prst="rect">
            <a:avLst/>
          </a:prstGeom>
          <a:noFill/>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DA291C"/>
                </a:solidFill>
                <a:effectLst/>
                <a:uLnTx/>
                <a:uFillTx/>
                <a:latin typeface="Segoe UI" panose="020B0502040204020203" pitchFamily="34" charset="0"/>
                <a:ea typeface="+mn-ea"/>
                <a:cs typeface="Segoe UI" panose="020B0502040204020203" pitchFamily="34" charset="0"/>
                <a:sym typeface="Arial"/>
              </a:rPr>
              <a:t>−40% </a:t>
            </a:r>
            <a:r>
              <a:rPr kumimoji="0" sz="1000" b="0" i="0" u="none" strike="noStrike" kern="1200" cap="none" spc="0" normalizeH="0" baseline="0" noProof="0">
                <a:ln>
                  <a:noFill/>
                </a:ln>
                <a:solidFill>
                  <a:srgbClr val="DA291C"/>
                </a:solidFill>
                <a:effectLst/>
                <a:uLnTx/>
                <a:uFillTx/>
                <a:latin typeface="Segoe UI" panose="020B0502040204020203" pitchFamily="34" charset="0"/>
                <a:ea typeface="+mn-ea"/>
                <a:cs typeface="Segoe UI" panose="020B0502040204020203" pitchFamily="34" charset="0"/>
                <a:sym typeface="Arial"/>
              </a:rPr>
              <a:t>▼</a:t>
            </a:r>
          </a:p>
        </p:txBody>
      </p:sp>
      <p:sp>
        <p:nvSpPr>
          <p:cNvPr id="56" name="Oval 55">
            <a:extLst>
              <a:ext uri="{FF2B5EF4-FFF2-40B4-BE49-F238E27FC236}">
                <a16:creationId xmlns:a16="http://schemas.microsoft.com/office/drawing/2014/main" id="{4CB8F956-D157-F5F5-5315-CF07E7100ED1}"/>
              </a:ext>
            </a:extLst>
          </p:cNvPr>
          <p:cNvSpPr/>
          <p:nvPr/>
        </p:nvSpPr>
        <p:spPr>
          <a:xfrm>
            <a:off x="827464" y="5951857"/>
            <a:ext cx="169200" cy="169200"/>
          </a:xfrm>
          <a:prstGeom prst="ellipse">
            <a:avLst/>
          </a:prstGeom>
          <a:solidFill>
            <a:srgbClr val="8A8D90"/>
          </a:solidFill>
          <a:ln w="19050">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sz="950" b="1" i="0" u="none" strike="noStrike" kern="0" cap="none" spc="0" normalizeH="0" baseline="0" noProof="0" dirty="0">
                <a:ln>
                  <a:noFill/>
                </a:ln>
                <a:solidFill>
                  <a:srgbClr val="FFFFFF"/>
                </a:solidFill>
                <a:effectLst/>
                <a:uLnTx/>
                <a:uFillTx/>
                <a:latin typeface="Segoe UI"/>
                <a:ea typeface="+mn-ea"/>
                <a:cs typeface="+mn-cs"/>
                <a:sym typeface="Arial"/>
              </a:rPr>
              <a:t>2</a:t>
            </a:r>
          </a:p>
        </p:txBody>
      </p:sp>
      <p:grpSp>
        <p:nvGrpSpPr>
          <p:cNvPr id="14" name="Group 13">
            <a:extLst>
              <a:ext uri="{FF2B5EF4-FFF2-40B4-BE49-F238E27FC236}">
                <a16:creationId xmlns:a16="http://schemas.microsoft.com/office/drawing/2014/main" id="{818272F8-2A67-0E60-9B75-1C281E6B61A2}"/>
              </a:ext>
            </a:extLst>
          </p:cNvPr>
          <p:cNvGrpSpPr/>
          <p:nvPr/>
        </p:nvGrpSpPr>
        <p:grpSpPr>
          <a:xfrm>
            <a:off x="661034" y="5757114"/>
            <a:ext cx="4709161" cy="153888"/>
            <a:chOff x="594359" y="5564904"/>
            <a:chExt cx="4709161" cy="153888"/>
          </a:xfrm>
        </p:grpSpPr>
        <p:grpSp>
          <p:nvGrpSpPr>
            <p:cNvPr id="26" name="Group 25">
              <a:extLst>
                <a:ext uri="{FF2B5EF4-FFF2-40B4-BE49-F238E27FC236}">
                  <a16:creationId xmlns:a16="http://schemas.microsoft.com/office/drawing/2014/main" id="{38568044-C97E-B23C-1B52-4EAC9407AD2D}"/>
                </a:ext>
              </a:extLst>
            </p:cNvPr>
            <p:cNvGrpSpPr/>
            <p:nvPr/>
          </p:nvGrpSpPr>
          <p:grpSpPr>
            <a:xfrm>
              <a:off x="795528" y="5564904"/>
              <a:ext cx="4507992" cy="153888"/>
              <a:chOff x="795528" y="5564904"/>
              <a:chExt cx="4507992" cy="153888"/>
            </a:xfrm>
          </p:grpSpPr>
          <p:sp>
            <p:nvSpPr>
              <p:cNvPr id="29" name="TextBox 28">
                <a:extLst>
                  <a:ext uri="{FF2B5EF4-FFF2-40B4-BE49-F238E27FC236}">
                    <a16:creationId xmlns:a16="http://schemas.microsoft.com/office/drawing/2014/main" id="{2F729F82-3206-619C-F190-E05E0A3574B6}"/>
                  </a:ext>
                </a:extLst>
              </p:cNvPr>
              <p:cNvSpPr txBox="1"/>
              <p:nvPr/>
            </p:nvSpPr>
            <p:spPr>
              <a:xfrm>
                <a:off x="795528" y="5564904"/>
                <a:ext cx="2926080" cy="153888"/>
              </a:xfrm>
              <a:prstGeom prst="rect">
                <a:avLst/>
              </a:prstGeom>
              <a:noFill/>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sym typeface="Arial"/>
                  </a:rPr>
                  <a:t>1. </a:t>
                </a:r>
                <a:r>
                  <a:rPr kumimoji="0" sz="1000" b="1"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sym typeface="Arial"/>
                  </a:rPr>
                  <a:t>AI-enabled tools</a:t>
                </a:r>
              </a:p>
            </p:txBody>
          </p:sp>
          <p:sp>
            <p:nvSpPr>
              <p:cNvPr id="30" name="TextBox 29">
                <a:extLst>
                  <a:ext uri="{FF2B5EF4-FFF2-40B4-BE49-F238E27FC236}">
                    <a16:creationId xmlns:a16="http://schemas.microsoft.com/office/drawing/2014/main" id="{95075D1D-B603-8947-2C58-31656DC79113}"/>
                  </a:ext>
                </a:extLst>
              </p:cNvPr>
              <p:cNvSpPr txBox="1"/>
              <p:nvPr/>
            </p:nvSpPr>
            <p:spPr>
              <a:xfrm>
                <a:off x="3749039" y="5564904"/>
                <a:ext cx="731520" cy="153888"/>
              </a:xfrm>
              <a:prstGeom prst="rect">
                <a:avLst/>
              </a:prstGeom>
              <a:noFill/>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 name="TextBox 30">
                <a:extLst>
                  <a:ext uri="{FF2B5EF4-FFF2-40B4-BE49-F238E27FC236}">
                    <a16:creationId xmlns:a16="http://schemas.microsoft.com/office/drawing/2014/main" id="{59AAAEA7-13E4-DF13-4788-EF58B5E2A911}"/>
                  </a:ext>
                </a:extLst>
              </p:cNvPr>
              <p:cNvSpPr txBox="1"/>
              <p:nvPr/>
            </p:nvSpPr>
            <p:spPr>
              <a:xfrm>
                <a:off x="4572000" y="5564904"/>
                <a:ext cx="731520" cy="153888"/>
              </a:xfrm>
              <a:prstGeom prst="rect">
                <a:avLst/>
              </a:prstGeom>
              <a:noFill/>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046A38"/>
                    </a:solidFill>
                    <a:effectLst/>
                    <a:uLnTx/>
                    <a:uFillTx/>
                    <a:latin typeface="Segoe UI" panose="020B0502040204020203" pitchFamily="34" charset="0"/>
                    <a:ea typeface="+mn-ea"/>
                    <a:cs typeface="Segoe UI" panose="020B0502040204020203" pitchFamily="34" charset="0"/>
                    <a:sym typeface="Arial"/>
                  </a:rPr>
                  <a:t>+21% </a:t>
                </a:r>
                <a:r>
                  <a:rPr kumimoji="0" sz="1000" b="0" i="0" u="none" strike="noStrike" kern="1200" cap="none" spc="0" normalizeH="0" baseline="0" noProof="0">
                    <a:ln>
                      <a:noFill/>
                    </a:ln>
                    <a:solidFill>
                      <a:srgbClr val="046A38"/>
                    </a:solidFill>
                    <a:effectLst/>
                    <a:uLnTx/>
                    <a:uFillTx/>
                    <a:latin typeface="Segoe UI" panose="020B0502040204020203" pitchFamily="34" charset="0"/>
                    <a:ea typeface="+mn-ea"/>
                    <a:cs typeface="Segoe UI" panose="020B0502040204020203" pitchFamily="34" charset="0"/>
                    <a:sym typeface="Arial"/>
                  </a:rPr>
                  <a:t>▲</a:t>
                </a:r>
              </a:p>
            </p:txBody>
          </p:sp>
        </p:grpSp>
        <p:sp>
          <p:nvSpPr>
            <p:cNvPr id="27" name="Rounded Rectangle 18">
              <a:extLst>
                <a:ext uri="{FF2B5EF4-FFF2-40B4-BE49-F238E27FC236}">
                  <a16:creationId xmlns:a16="http://schemas.microsoft.com/office/drawing/2014/main" id="{D367344A-A86E-286C-2A89-9EFC4C9E2E3B}"/>
                </a:ext>
              </a:extLst>
            </p:cNvPr>
            <p:cNvSpPr/>
            <p:nvPr/>
          </p:nvSpPr>
          <p:spPr>
            <a:xfrm>
              <a:off x="594359" y="5582412"/>
              <a:ext cx="128016" cy="118872"/>
            </a:xfrm>
            <a:prstGeom prst="roundRect">
              <a:avLst>
                <a:gd name="adj" fmla="val 30000"/>
              </a:avLst>
            </a:prstGeom>
            <a:solidFill>
              <a:srgbClr val="046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grpSp>
      <p:sp>
        <p:nvSpPr>
          <p:cNvPr id="59" name="Oval 58">
            <a:extLst>
              <a:ext uri="{FF2B5EF4-FFF2-40B4-BE49-F238E27FC236}">
                <a16:creationId xmlns:a16="http://schemas.microsoft.com/office/drawing/2014/main" id="{0ED31F04-07E7-6CB2-2CB0-F2A2D0E78D20}"/>
              </a:ext>
            </a:extLst>
          </p:cNvPr>
          <p:cNvSpPr/>
          <p:nvPr/>
        </p:nvSpPr>
        <p:spPr>
          <a:xfrm>
            <a:off x="827464" y="5754438"/>
            <a:ext cx="169200" cy="169200"/>
          </a:xfrm>
          <a:prstGeom prst="ellipse">
            <a:avLst/>
          </a:prstGeom>
          <a:solidFill>
            <a:srgbClr val="046A38"/>
          </a:solidFill>
          <a:ln w="19050">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sz="950" b="1" i="0" u="none" strike="noStrike" kern="0" cap="none" spc="0" normalizeH="0" baseline="0" noProof="0" dirty="0">
                <a:ln>
                  <a:noFill/>
                </a:ln>
                <a:solidFill>
                  <a:srgbClr val="FFFFFF"/>
                </a:solidFill>
                <a:effectLst/>
                <a:uLnTx/>
                <a:uFillTx/>
                <a:latin typeface="Segoe UI"/>
                <a:ea typeface="+mn-ea"/>
                <a:cs typeface="+mn-cs"/>
                <a:sym typeface="Arial"/>
              </a:rPr>
              <a:t>1</a:t>
            </a:r>
          </a:p>
        </p:txBody>
      </p:sp>
      <p:grpSp>
        <p:nvGrpSpPr>
          <p:cNvPr id="146" name="Group 145">
            <a:extLst>
              <a:ext uri="{FF2B5EF4-FFF2-40B4-BE49-F238E27FC236}">
                <a16:creationId xmlns:a16="http://schemas.microsoft.com/office/drawing/2014/main" id="{654676CB-216A-6328-C393-0596A9BAC590}"/>
              </a:ext>
            </a:extLst>
          </p:cNvPr>
          <p:cNvGrpSpPr/>
          <p:nvPr/>
        </p:nvGrpSpPr>
        <p:grpSpPr>
          <a:xfrm>
            <a:off x="249638" y="464705"/>
            <a:ext cx="11521440" cy="585793"/>
            <a:chOff x="249638" y="464705"/>
            <a:chExt cx="11521440" cy="585793"/>
          </a:xfrm>
        </p:grpSpPr>
        <p:sp>
          <p:nvSpPr>
            <p:cNvPr id="147" name="Text 22">
              <a:extLst>
                <a:ext uri="{FF2B5EF4-FFF2-40B4-BE49-F238E27FC236}">
                  <a16:creationId xmlns:a16="http://schemas.microsoft.com/office/drawing/2014/main" id="{75223A1A-4B36-DC63-83C4-1B21A2467724}"/>
                </a:ext>
              </a:extLst>
            </p:cNvPr>
            <p:cNvSpPr/>
            <p:nvPr/>
          </p:nvSpPr>
          <p:spPr>
            <a:xfrm>
              <a:off x="249638" y="464705"/>
              <a:ext cx="7847726" cy="232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0" cap="none" spc="80" normalizeH="0" baseline="0" noProof="0">
                  <a:ln>
                    <a:noFill/>
                  </a:ln>
                  <a:solidFill>
                    <a:srgbClr val="4EA72E"/>
                  </a:solidFill>
                  <a:effectLst/>
                  <a:uLnTx/>
                  <a:uFillTx/>
                  <a:latin typeface="Segoe UI" panose="020B0502040204020203" pitchFamily="34" charset="0"/>
                  <a:ea typeface="Arial" pitchFamily="34" charset="-122"/>
                  <a:cs typeface="Segoe UI" panose="020B0502040204020203" pitchFamily="34" charset="0"/>
                  <a:sym typeface="Arial"/>
                </a:rPr>
                <a:t>SCALING THE OPERATION</a:t>
              </a:r>
            </a:p>
          </p:txBody>
        </p:sp>
        <p:sp>
          <p:nvSpPr>
            <p:cNvPr id="148" name="TextBox 147">
              <a:extLst>
                <a:ext uri="{FF2B5EF4-FFF2-40B4-BE49-F238E27FC236}">
                  <a16:creationId xmlns:a16="http://schemas.microsoft.com/office/drawing/2014/main" id="{341310A2-84E4-61BF-3F07-8846123B7246}"/>
                </a:ext>
              </a:extLst>
            </p:cNvPr>
            <p:cNvSpPr txBox="1"/>
            <p:nvPr/>
          </p:nvSpPr>
          <p:spPr>
            <a:xfrm>
              <a:off x="249638" y="711944"/>
              <a:ext cx="11521440" cy="338554"/>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kumimoji="0" lang="en-US" sz="2200" b="1" i="0" u="none" strike="noStrike" kern="1200" cap="none" spc="0" normalizeH="0" baseline="0" noProof="0">
                  <a:ln>
                    <a:noFill/>
                  </a:ln>
                  <a:solidFill>
                    <a:srgbClr val="111111"/>
                  </a:solidFill>
                  <a:effectLst/>
                  <a:uLnTx/>
                  <a:uFillTx/>
                  <a:latin typeface="Segoe UI" panose="020B0502040204020203" pitchFamily="34" charset="0"/>
                  <a:cs typeface="Segoe UI" panose="020B0502040204020203" pitchFamily="34" charset="0"/>
                  <a:sym typeface="Arial"/>
                </a:rPr>
                <a:t>AI keeps growing, headcount steps back, and process redesign is the surprise</a:t>
              </a:r>
            </a:p>
          </p:txBody>
        </p:sp>
      </p:grpSp>
      <p:sp>
        <p:nvSpPr>
          <p:cNvPr id="155" name="TextBox 154">
            <a:extLst>
              <a:ext uri="{FF2B5EF4-FFF2-40B4-BE49-F238E27FC236}">
                <a16:creationId xmlns:a16="http://schemas.microsoft.com/office/drawing/2014/main" id="{438A6427-0FF3-31ED-4320-B9B5EFECD14B}"/>
              </a:ext>
            </a:extLst>
          </p:cNvPr>
          <p:cNvSpPr txBox="1"/>
          <p:nvPr/>
        </p:nvSpPr>
        <p:spPr>
          <a:xfrm>
            <a:off x="320040" y="1155192"/>
            <a:ext cx="11521440" cy="646331"/>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kumimoji="0" lang="en-US" sz="1400" b="0" i="0" u="none" strike="noStrike" kern="0" cap="none" spc="0" normalizeH="0" baseline="0" noProof="0">
                <a:ln>
                  <a:noFill/>
                </a:ln>
                <a:solidFill>
                  <a:srgbClr val="000000"/>
                </a:solidFill>
                <a:effectLst/>
                <a:uLnTx/>
                <a:uFillTx/>
                <a:latin typeface="Segoe UI" panose="020B0502040204020203" pitchFamily="34" charset="0"/>
                <a:cs typeface="Segoe UI" panose="020B0502040204020203" pitchFamily="34" charset="0"/>
                <a:sym typeface="Arial"/>
              </a:rPr>
              <a:t>With most programs already self-rated as mature, the focus turns to how leaders plan to scale from here. Organizations were asked how they scale fraud and investigations operations today, and where their focus will be over the next three years. Across both banking and insurance, the answers point in the same direction.</a:t>
            </a:r>
            <a:endParaRPr kumimoji="0" lang="en-US" sz="1400" b="0" i="0" u="none" strike="noStrike" kern="1200" cap="none" spc="0" normalizeH="0" baseline="0" noProof="0">
              <a:ln>
                <a:noFill/>
              </a:ln>
              <a:solidFill>
                <a:srgbClr val="404040"/>
              </a:solidFill>
              <a:effectLst/>
              <a:uLnTx/>
              <a:uFillTx/>
              <a:latin typeface="Segoe UI" panose="020B0502040204020203" pitchFamily="34" charset="0"/>
              <a:cs typeface="Segoe UI" panose="020B0502040204020203" pitchFamily="34" charset="0"/>
              <a:sym typeface="Arial"/>
            </a:endParaRPr>
          </a:p>
        </p:txBody>
      </p:sp>
      <p:sp>
        <p:nvSpPr>
          <p:cNvPr id="3" name="Rectangle 2">
            <a:extLst>
              <a:ext uri="{FF2B5EF4-FFF2-40B4-BE49-F238E27FC236}">
                <a16:creationId xmlns:a16="http://schemas.microsoft.com/office/drawing/2014/main" id="{EB5DBE57-AD00-69E4-D4A7-716D9010A3E7}"/>
              </a:ext>
            </a:extLst>
          </p:cNvPr>
          <p:cNvSpPr/>
          <p:nvPr/>
        </p:nvSpPr>
        <p:spPr>
          <a:xfrm>
            <a:off x="208221" y="6680947"/>
            <a:ext cx="2769649" cy="11694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marL="0" marR="0" lvl="0" indent="0" algn="just" defTabSz="914400" rtl="0" eaLnBrk="1" fontAlgn="auto" latinLnBrk="0" hangingPunct="1">
              <a:lnSpc>
                <a:spcPct val="100000"/>
              </a:lnSpc>
              <a:spcBef>
                <a:spcPts val="0"/>
              </a:spcBef>
              <a:spcAft>
                <a:spcPts val="0"/>
              </a:spcAft>
              <a:buClrTx/>
              <a:buSzTx/>
              <a:buFont typeface="Arial"/>
              <a:buNone/>
              <a:tabLst/>
              <a:defRPr/>
            </a:pPr>
            <a:r>
              <a:rPr kumimoji="0" lang="en-US" sz="800" b="0" i="0" u="none" strike="noStrike" kern="1200" cap="none" spc="0" normalizeH="0" baseline="0" noProof="0">
                <a:ln>
                  <a:noFill/>
                </a:ln>
                <a:solidFill>
                  <a:srgbClr val="000000">
                    <a:lumMod val="75000"/>
                    <a:lumOff val="25000"/>
                  </a:srgbClr>
                </a:solidFill>
                <a:effectLst/>
                <a:uLnTx/>
                <a:uFillTx/>
                <a:latin typeface="Segoe UI" panose="020B0502040204020203" pitchFamily="34" charset="0"/>
                <a:ea typeface="Open Sans" panose="020B0606030504020204" pitchFamily="34" charset="0"/>
                <a:cs typeface="Segoe UI" panose="020B0502040204020203" pitchFamily="34" charset="0"/>
                <a:sym typeface="Arial"/>
              </a:rPr>
              <a:t>For detailed data please refer to </a:t>
            </a:r>
            <a:r>
              <a:rPr kumimoji="0" lang="en-US" sz="800" b="0" i="0" u="none" strike="noStrike" kern="1200" cap="none" spc="0" normalizeH="0" baseline="0" noProof="0">
                <a:ln>
                  <a:noFill/>
                </a:ln>
                <a:solidFill>
                  <a:srgbClr val="000000">
                    <a:lumMod val="75000"/>
                    <a:lumOff val="25000"/>
                  </a:srgbClr>
                </a:solidFill>
                <a:effectLst/>
                <a:uLnTx/>
                <a:uFillTx/>
                <a:latin typeface="Segoe UI" panose="020B0502040204020203" pitchFamily="34" charset="0"/>
                <a:ea typeface="Open Sans" panose="020B0606030504020204" pitchFamily="34" charset="0"/>
                <a:cs typeface="Segoe UI" panose="020B0502040204020203" pitchFamily="34" charset="0"/>
                <a:sym typeface="Arial"/>
                <a:hlinkClick r:id="" action="ppaction://noaction"/>
              </a:rPr>
              <a:t>Appendix – D </a:t>
            </a:r>
            <a:endParaRPr kumimoji="0" lang="en-US" sz="800" b="0" i="0" u="none" strike="noStrike" kern="1200" cap="none" spc="0" normalizeH="0" baseline="0" noProof="0">
              <a:ln>
                <a:noFill/>
              </a:ln>
              <a:solidFill>
                <a:srgbClr val="000000">
                  <a:lumMod val="75000"/>
                  <a:lumOff val="25000"/>
                </a:srgbClr>
              </a:solidFill>
              <a:effectLst/>
              <a:uLnTx/>
              <a:uFillTx/>
              <a:latin typeface="Segoe UI" panose="020B0502040204020203" pitchFamily="34" charset="0"/>
              <a:ea typeface="Open Sans" panose="020B0606030504020204" pitchFamily="34" charset="0"/>
              <a:cs typeface="Segoe UI" panose="020B0502040204020203" pitchFamily="34" charset="0"/>
              <a:sym typeface="Arial"/>
            </a:endParaRPr>
          </a:p>
        </p:txBody>
      </p:sp>
      <p:sp>
        <p:nvSpPr>
          <p:cNvPr id="6" name="Oval 5">
            <a:extLst>
              <a:ext uri="{FF2B5EF4-FFF2-40B4-BE49-F238E27FC236}">
                <a16:creationId xmlns:a16="http://schemas.microsoft.com/office/drawing/2014/main" id="{FB785E7B-D61A-05F7-4F82-2ACECE4AD0BB}"/>
              </a:ext>
            </a:extLst>
          </p:cNvPr>
          <p:cNvSpPr/>
          <p:nvPr/>
        </p:nvSpPr>
        <p:spPr>
          <a:xfrm>
            <a:off x="6027342" y="2005578"/>
            <a:ext cx="366405" cy="366405"/>
          </a:xfrm>
          <a:prstGeom prst="ellipse">
            <a:avLst/>
          </a:prstGeom>
          <a:solidFill>
            <a:schemeClr val="tx1"/>
          </a:solidFill>
          <a:ln w="19050">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sz="1600" b="1" i="0" u="none" strike="noStrike" kern="0" cap="none" spc="0" normalizeH="0" baseline="0" noProof="0">
                <a:ln>
                  <a:noFill/>
                </a:ln>
                <a:solidFill>
                  <a:srgbClr val="FFFFFF"/>
                </a:solidFill>
                <a:effectLst/>
                <a:uLnTx/>
                <a:uFillTx/>
                <a:latin typeface="Segoe UI"/>
                <a:ea typeface="+mn-ea"/>
                <a:cs typeface="+mn-cs"/>
                <a:sym typeface="Arial"/>
              </a:rPr>
              <a:t>1</a:t>
            </a:r>
          </a:p>
        </p:txBody>
      </p:sp>
      <p:sp>
        <p:nvSpPr>
          <p:cNvPr id="12" name="Oval 11">
            <a:extLst>
              <a:ext uri="{FF2B5EF4-FFF2-40B4-BE49-F238E27FC236}">
                <a16:creationId xmlns:a16="http://schemas.microsoft.com/office/drawing/2014/main" id="{493526E0-022A-38EF-223D-3708A8EBBD8E}"/>
              </a:ext>
            </a:extLst>
          </p:cNvPr>
          <p:cNvSpPr/>
          <p:nvPr/>
        </p:nvSpPr>
        <p:spPr>
          <a:xfrm>
            <a:off x="6027342" y="3694231"/>
            <a:ext cx="366405" cy="366405"/>
          </a:xfrm>
          <a:prstGeom prst="ellipse">
            <a:avLst/>
          </a:prstGeom>
          <a:solidFill>
            <a:schemeClr val="tx1"/>
          </a:solidFill>
          <a:ln w="19050">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sz="1600" b="1" i="0" u="none" strike="noStrike" kern="0" cap="none" spc="0" normalizeH="0" baseline="0" noProof="0">
                <a:ln>
                  <a:noFill/>
                </a:ln>
                <a:solidFill>
                  <a:srgbClr val="FFFFFF"/>
                </a:solidFill>
                <a:effectLst/>
                <a:uLnTx/>
                <a:uFillTx/>
                <a:latin typeface="Segoe UI"/>
                <a:ea typeface="+mn-ea"/>
                <a:cs typeface="+mn-cs"/>
                <a:sym typeface="Arial"/>
              </a:rPr>
              <a:t>2</a:t>
            </a:r>
          </a:p>
        </p:txBody>
      </p:sp>
      <p:sp>
        <p:nvSpPr>
          <p:cNvPr id="16" name="Oval 15">
            <a:extLst>
              <a:ext uri="{FF2B5EF4-FFF2-40B4-BE49-F238E27FC236}">
                <a16:creationId xmlns:a16="http://schemas.microsoft.com/office/drawing/2014/main" id="{FD5E5165-8571-9CDF-F110-9C7DD0508AB3}"/>
              </a:ext>
            </a:extLst>
          </p:cNvPr>
          <p:cNvSpPr/>
          <p:nvPr/>
        </p:nvSpPr>
        <p:spPr>
          <a:xfrm>
            <a:off x="6027342" y="5348534"/>
            <a:ext cx="366405" cy="366405"/>
          </a:xfrm>
          <a:prstGeom prst="ellipse">
            <a:avLst/>
          </a:prstGeom>
          <a:solidFill>
            <a:schemeClr val="tx1"/>
          </a:solidFill>
          <a:ln w="19050">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sz="1600" b="1" i="0" u="none" strike="noStrike" kern="0" cap="none" spc="0" normalizeH="0" baseline="0" noProof="0">
                <a:ln>
                  <a:noFill/>
                </a:ln>
                <a:solidFill>
                  <a:srgbClr val="FFFFFF"/>
                </a:solidFill>
                <a:effectLst/>
                <a:uLnTx/>
                <a:uFillTx/>
                <a:latin typeface="Segoe UI"/>
                <a:ea typeface="+mn-ea"/>
                <a:cs typeface="+mn-cs"/>
                <a:sym typeface="Arial"/>
              </a:rPr>
              <a:t>3</a:t>
            </a:r>
          </a:p>
        </p:txBody>
      </p:sp>
      <p:sp>
        <p:nvSpPr>
          <p:cNvPr id="18" name="Rectangle 17">
            <a:extLst>
              <a:ext uri="{FF2B5EF4-FFF2-40B4-BE49-F238E27FC236}">
                <a16:creationId xmlns:a16="http://schemas.microsoft.com/office/drawing/2014/main" id="{284ACE73-DD08-FF1B-EA0B-06B3BEF9D734}"/>
              </a:ext>
            </a:extLst>
          </p:cNvPr>
          <p:cNvSpPr/>
          <p:nvPr/>
        </p:nvSpPr>
        <p:spPr>
          <a:xfrm>
            <a:off x="2399991" y="3067076"/>
            <a:ext cx="1088114" cy="261610"/>
          </a:xfrm>
          <a:prstGeom prst="rect">
            <a:avLst/>
          </a:prstGeom>
          <a:noFill/>
        </p:spPr>
        <p:txBody>
          <a:bodyPr wrap="none" lIns="91440" tIns="45720" rIns="91440" bIns="45720">
            <a:prstTxWarp prst="textArchUp">
              <a:avLst>
                <a:gd name="adj" fmla="val 10468689"/>
              </a:avLst>
            </a:prstTxWarp>
            <a:spAutoFit/>
            <a:scene3d>
              <a:camera prst="orthographicFront">
                <a:rot lat="420000" lon="0" rev="0"/>
              </a:camera>
              <a:lightRig rig="threePt" dir="t"/>
            </a:scene3d>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100" b="1" i="0" u="none" strike="noStrike" kern="0" cap="none" spc="0" normalizeH="0" baseline="0" noProof="0">
                <a:ln w="0"/>
                <a:solidFill>
                  <a:srgbClr val="000000"/>
                </a:solidFill>
                <a:effectLst/>
                <a:uLnTx/>
                <a:uFillTx/>
                <a:latin typeface="Segoe UI" panose="020B0502040204020203" pitchFamily="34" charset="0"/>
                <a:cs typeface="Segoe UI" panose="020B0502040204020203" pitchFamily="34" charset="0"/>
                <a:sym typeface="Arial"/>
              </a:rPr>
              <a:t>FOCUS TODAY</a:t>
            </a:r>
          </a:p>
        </p:txBody>
      </p:sp>
    </p:spTree>
    <p:extLst>
      <p:ext uri="{BB962C8B-B14F-4D97-AF65-F5344CB8AC3E}">
        <p14:creationId xmlns:p14="http://schemas.microsoft.com/office/powerpoint/2010/main" val="161393993"/>
      </p:ext>
    </p:extLst>
  </p:cSld>
  <p:clrMapOvr>
    <a:masterClrMapping/>
  </p:clrMapOvr>
  <p:extLst>
    <p:ext uri="{6950BFC3-D8DA-4A85-94F7-54DA5524770B}">
      <p188:commentRel xmlns:p188="http://schemas.microsoft.com/office/powerpoint/2018/8/main" r:id="rId3"/>
    </p:ext>
  </p:extLst>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80000"/>
            <a:lum/>
          </a:blip>
          <a:srcRect/>
          <a:stretch>
            <a:fillRect/>
          </a:stretch>
        </a:blipFill>
        <a:effectLst/>
      </p:bgPr>
    </p:bg>
    <p:spTree>
      <p:nvGrpSpPr>
        <p:cNvPr id="1" name="">
          <a:extLst>
            <a:ext uri="{FF2B5EF4-FFF2-40B4-BE49-F238E27FC236}">
              <a16:creationId xmlns:a16="http://schemas.microsoft.com/office/drawing/2014/main" id="{6D52B074-7025-5481-0B38-5D5BF5A48524}"/>
            </a:ext>
          </a:extLst>
        </p:cNvPr>
        <p:cNvGrpSpPr/>
        <p:nvPr/>
      </p:nvGrpSpPr>
      <p:grpSpPr>
        <a:xfrm>
          <a:off x="0" y="0"/>
          <a:ext cx="0" cy="0"/>
          <a:chOff x="0" y="0"/>
          <a:chExt cx="0" cy="0"/>
        </a:xfrm>
      </p:grpSpPr>
      <p:sp>
        <p:nvSpPr>
          <p:cNvPr id="10" name="Text Placeholder 3">
            <a:extLst>
              <a:ext uri="{FF2B5EF4-FFF2-40B4-BE49-F238E27FC236}">
                <a16:creationId xmlns:a16="http://schemas.microsoft.com/office/drawing/2014/main" id="{80281C64-5DE0-08AB-F211-6229FF02E066}"/>
              </a:ext>
            </a:extLst>
          </p:cNvPr>
          <p:cNvSpPr txBox="1">
            <a:spLocks/>
          </p:cNvSpPr>
          <p:nvPr/>
        </p:nvSpPr>
        <p:spPr>
          <a:xfrm>
            <a:off x="0" y="0"/>
            <a:ext cx="12192000" cy="6858000"/>
          </a:xfrm>
          <a:prstGeom prst="rect">
            <a:avLst/>
          </a:prstGeom>
          <a:solidFill>
            <a:schemeClr val="tx1">
              <a:lumMod val="75000"/>
              <a:lumOff val="25000"/>
              <a:alpha val="70000"/>
            </a:schemeClr>
          </a:solidFill>
          <a:ln>
            <a:noFill/>
          </a:ln>
        </p:spPr>
        <p:txBody>
          <a:bodyPr spcFirstLastPara="1" wrap="square" lIns="365760" tIns="182880" rIns="0" bIns="0" anchor="ctr"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Open Sans"/>
                <a:ea typeface="Open Sans"/>
                <a:cs typeface="Open Sans"/>
                <a:sym typeface="Open Sans"/>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Open Sans"/>
                <a:ea typeface="Open Sans"/>
                <a:cs typeface="Open Sans"/>
                <a:sym typeface="Open Sans"/>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Open Sans"/>
                <a:ea typeface="Open Sans"/>
                <a:cs typeface="Open Sans"/>
                <a:sym typeface="Open Sans"/>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pen Sans"/>
                <a:ea typeface="Open Sans"/>
                <a:cs typeface="Open Sans"/>
                <a:sym typeface="Open Sans"/>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pen Sans"/>
                <a:ea typeface="Open Sans"/>
                <a:cs typeface="Open Sans"/>
                <a:sym typeface="Open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sz="2800" b="1" i="0" u="none" strike="noStrike" kern="0" cap="none" spc="0" normalizeH="0" baseline="0" noProof="0" dirty="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sz="2800" b="1" i="0" u="none" strike="noStrike" kern="0" cap="none" spc="0" normalizeH="0" baseline="0" noProof="0" dirty="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sz="2800" b="1" i="0" u="none" strike="noStrike" kern="0" cap="none" spc="0" normalizeH="0" baseline="0" noProof="0" dirty="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sz="2800" b="1" i="0" u="none" strike="noStrike" kern="0" cap="none" spc="0" normalizeH="0" baseline="0" noProof="0" dirty="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sz="2800" b="1" i="0" u="none" strike="noStrike" kern="0" cap="none" spc="0" normalizeH="0" baseline="0" noProof="0" dirty="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r>
              <a:rPr kumimoji="0" lang="en-US" sz="2800" b="1" i="0" u="none" strike="noStrike" kern="0" cap="none" spc="0" normalizeH="0" baseline="0" noProof="0" dirty="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rPr>
              <a:t>4. Regulatory &amp; Market Change</a:t>
            </a: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sz="2800" b="0" i="0" u="none" strike="noStrike" kern="0" cap="none" spc="0" normalizeH="0" baseline="0" noProof="0" dirty="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r>
              <a:rPr kumimoji="0" lang="en-US" sz="2000" b="0" i="1" u="none" strike="noStrike" kern="0" cap="none" spc="0" normalizeH="0" baseline="0" noProof="0" dirty="0">
                <a:ln>
                  <a:noFill/>
                </a:ln>
                <a:solidFill>
                  <a:srgbClr val="FFFFFF"/>
                </a:solidFill>
                <a:effectLst/>
                <a:uLnTx/>
                <a:uFillTx/>
                <a:latin typeface="Calibri" pitchFamily="34" charset="0"/>
                <a:ea typeface="Calibri" pitchFamily="34" charset="-122"/>
                <a:cs typeface="Calibri" pitchFamily="34" charset="-120"/>
                <a:sym typeface="Open Sans"/>
              </a:rPr>
              <a:t>"Deepfakes, AI, and synthetic ids. AI is getting more advance, but regulations are slow[ing] down AI detection and fraudsters have a green field with AI with no oversight." </a:t>
            </a:r>
            <a:r>
              <a:rPr kumimoji="0" lang="en-US" sz="2000" b="1" i="1" u="none" strike="noStrike" kern="0" cap="none" spc="0" normalizeH="0" baseline="0" noProof="0" dirty="0">
                <a:ln>
                  <a:noFill/>
                </a:ln>
                <a:solidFill>
                  <a:srgbClr val="FFFFFF"/>
                </a:solidFill>
                <a:effectLst/>
                <a:uLnTx/>
                <a:uFillTx/>
                <a:latin typeface="Calibri" pitchFamily="34" charset="0"/>
                <a:ea typeface="Calibri" pitchFamily="34" charset="-122"/>
                <a:cs typeface="Calibri" pitchFamily="34" charset="-120"/>
                <a:sym typeface="Open Sans"/>
              </a:rPr>
              <a:t>— Senior Manager of Large Global Financial Institution</a:t>
            </a:r>
            <a:endParaRPr kumimoji="0" lang="en-US" sz="2000" b="1" i="0" u="none" strike="noStrike" kern="0" cap="none" spc="0" normalizeH="0" baseline="0" noProof="0" dirty="0">
              <a:ln>
                <a:noFill/>
              </a:ln>
              <a:solidFill>
                <a:srgbClr val="000000"/>
              </a:solidFill>
              <a:effectLst/>
              <a:uLnTx/>
              <a:uFillTx/>
              <a:latin typeface="Open Sans"/>
              <a:ea typeface="Open Sans"/>
              <a:cs typeface="Open Sans"/>
              <a:sym typeface="Open Sans"/>
            </a:endParaRPr>
          </a:p>
        </p:txBody>
      </p:sp>
    </p:spTree>
    <p:extLst>
      <p:ext uri="{BB962C8B-B14F-4D97-AF65-F5344CB8AC3E}">
        <p14:creationId xmlns:p14="http://schemas.microsoft.com/office/powerpoint/2010/main" val="376911559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150D7C-60E8-61B9-4FFF-17120D67BC4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4A40D31-958F-BDE6-84D4-32882E3D3471}"/>
              </a:ext>
            </a:extLst>
          </p:cNvPr>
          <p:cNvSpPr/>
          <p:nvPr/>
        </p:nvSpPr>
        <p:spPr>
          <a:xfrm>
            <a:off x="0" y="0"/>
            <a:ext cx="12191695" cy="33832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sym typeface="Arial"/>
            </a:endParaRPr>
          </a:p>
        </p:txBody>
      </p:sp>
      <p:sp>
        <p:nvSpPr>
          <p:cNvPr id="65" name="Rectangle 64">
            <a:extLst>
              <a:ext uri="{FF2B5EF4-FFF2-40B4-BE49-F238E27FC236}">
                <a16:creationId xmlns:a16="http://schemas.microsoft.com/office/drawing/2014/main" id="{0B52354D-4EB1-A450-A9C3-2F7EBAC5B1D7}"/>
              </a:ext>
            </a:extLst>
          </p:cNvPr>
          <p:cNvSpPr/>
          <p:nvPr/>
        </p:nvSpPr>
        <p:spPr>
          <a:xfrm>
            <a:off x="-904" y="2472"/>
            <a:ext cx="12192000" cy="353257"/>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600"/>
              </a:spcBef>
              <a:spcAft>
                <a:spcPts val="0"/>
              </a:spcAft>
              <a:buClrTx/>
              <a:buSzPct val="100000"/>
              <a:buFont typeface="Arial"/>
              <a:buNone/>
              <a:tabLst/>
              <a:defRPr/>
            </a:pPr>
            <a:r>
              <a:rPr kumimoji="0" lang="en-US" sz="1200" b="1" i="0" u="none" strike="noStrike" kern="1200" cap="none" spc="0" normalizeH="0" baseline="0" noProof="0">
                <a:ln>
                  <a:noFill/>
                </a:ln>
                <a:solidFill>
                  <a:prstClr val="white"/>
                </a:solidFill>
                <a:effectLst/>
                <a:uLnTx/>
                <a:uFillTx/>
                <a:latin typeface="Segoe UI" panose="020B0502040204020203" pitchFamily="34" charset="0"/>
                <a:ea typeface="Open Sans" panose="020B0606030504020204" pitchFamily="34" charset="0"/>
                <a:cs typeface="Segoe UI" panose="020B0502040204020203" pitchFamily="34" charset="0"/>
                <a:sym typeface="Arial"/>
              </a:rPr>
              <a:t>REGULATORY &amp; MARKET CHANGE</a:t>
            </a:r>
          </a:p>
        </p:txBody>
      </p:sp>
      <p:sp>
        <p:nvSpPr>
          <p:cNvPr id="15" name="Rounded Rectangle 7">
            <a:extLst>
              <a:ext uri="{FF2B5EF4-FFF2-40B4-BE49-F238E27FC236}">
                <a16:creationId xmlns:a16="http://schemas.microsoft.com/office/drawing/2014/main" id="{9EA536E0-F277-15DA-FEDA-1635656DD100}"/>
              </a:ext>
            </a:extLst>
          </p:cNvPr>
          <p:cNvSpPr/>
          <p:nvPr/>
        </p:nvSpPr>
        <p:spPr>
          <a:xfrm>
            <a:off x="320040" y="1868776"/>
            <a:ext cx="5235934" cy="333550"/>
          </a:xfrm>
          <a:prstGeom prst="roundRect">
            <a:avLst>
              <a:gd name="adj" fmla="val 15000"/>
            </a:avLst>
          </a:prstGeom>
          <a:solidFill>
            <a:srgbClr val="CC3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CA" sz="1800" b="1"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sym typeface="Arial"/>
              </a:rPr>
              <a:t>48%</a:t>
            </a:r>
          </a:p>
        </p:txBody>
      </p:sp>
      <p:sp>
        <p:nvSpPr>
          <p:cNvPr id="19" name="Rounded Rectangle 9">
            <a:extLst>
              <a:ext uri="{FF2B5EF4-FFF2-40B4-BE49-F238E27FC236}">
                <a16:creationId xmlns:a16="http://schemas.microsoft.com/office/drawing/2014/main" id="{BA5BDED5-10D6-62A0-D11D-90543DD3386B}"/>
              </a:ext>
            </a:extLst>
          </p:cNvPr>
          <p:cNvSpPr/>
          <p:nvPr/>
        </p:nvSpPr>
        <p:spPr>
          <a:xfrm>
            <a:off x="320040" y="2257189"/>
            <a:ext cx="365760" cy="365760"/>
          </a:xfrm>
          <a:prstGeom prst="roundRect">
            <a:avLst>
              <a:gd name="adj" fmla="val 50000"/>
            </a:avLst>
          </a:prstGeom>
          <a:solidFill>
            <a:srgbClr val="CC3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pic>
        <p:nvPicPr>
          <p:cNvPr id="21" name="Picture 20" descr="ic_tools_w.png">
            <a:extLst>
              <a:ext uri="{FF2B5EF4-FFF2-40B4-BE49-F238E27FC236}">
                <a16:creationId xmlns:a16="http://schemas.microsoft.com/office/drawing/2014/main" id="{A561603B-8668-DFC1-EEC2-037E4A88480C}"/>
              </a:ext>
            </a:extLst>
          </p:cNvPr>
          <p:cNvPicPr>
            <a:picLocks noChangeAspect="1"/>
          </p:cNvPicPr>
          <p:nvPr/>
        </p:nvPicPr>
        <p:blipFill>
          <a:blip r:embed="rId3"/>
          <a:stretch>
            <a:fillRect/>
          </a:stretch>
        </p:blipFill>
        <p:spPr>
          <a:xfrm>
            <a:off x="400508" y="2337657"/>
            <a:ext cx="204825" cy="204825"/>
          </a:xfrm>
          <a:prstGeom prst="rect">
            <a:avLst/>
          </a:prstGeom>
        </p:spPr>
      </p:pic>
      <p:sp>
        <p:nvSpPr>
          <p:cNvPr id="23" name="TextBox 22">
            <a:extLst>
              <a:ext uri="{FF2B5EF4-FFF2-40B4-BE49-F238E27FC236}">
                <a16:creationId xmlns:a16="http://schemas.microsoft.com/office/drawing/2014/main" id="{6A9DC6BC-5F4E-08EB-3950-B52F64E4A0B9}"/>
              </a:ext>
            </a:extLst>
          </p:cNvPr>
          <p:cNvSpPr txBox="1"/>
          <p:nvPr/>
        </p:nvSpPr>
        <p:spPr>
          <a:xfrm>
            <a:off x="777240" y="2257190"/>
            <a:ext cx="4994818" cy="200055"/>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CA" sz="1300" b="1" i="0" u="none" strike="noStrike" kern="1200" cap="none" spc="0" normalizeH="0" baseline="0" noProof="0">
                <a:ln>
                  <a:noFill/>
                </a:ln>
                <a:solidFill>
                  <a:srgbClr val="CC3300"/>
                </a:solidFill>
                <a:effectLst/>
                <a:uLnTx/>
                <a:uFillTx/>
                <a:latin typeface="Segoe UI" panose="020B0502040204020203" pitchFamily="34" charset="0"/>
                <a:ea typeface="+mn-ea"/>
                <a:cs typeface="Segoe UI" panose="020B0502040204020203" pitchFamily="34" charset="0"/>
                <a:sym typeface="Arial"/>
              </a:rPr>
              <a:t>Remediating existing gaps</a:t>
            </a:r>
          </a:p>
        </p:txBody>
      </p:sp>
      <p:sp>
        <p:nvSpPr>
          <p:cNvPr id="25" name="TextBox 24">
            <a:extLst>
              <a:ext uri="{FF2B5EF4-FFF2-40B4-BE49-F238E27FC236}">
                <a16:creationId xmlns:a16="http://schemas.microsoft.com/office/drawing/2014/main" id="{87CE4E8F-3398-5EFD-810F-187A9F12683A}"/>
              </a:ext>
            </a:extLst>
          </p:cNvPr>
          <p:cNvSpPr txBox="1"/>
          <p:nvPr/>
        </p:nvSpPr>
        <p:spPr>
          <a:xfrm>
            <a:off x="777240" y="2478236"/>
            <a:ext cx="4994818" cy="153888"/>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404040"/>
                </a:solidFill>
                <a:effectLst/>
                <a:uLnTx/>
                <a:uFillTx/>
                <a:latin typeface="Segoe UI" panose="020B0502040204020203" pitchFamily="34" charset="0"/>
                <a:ea typeface="+mn-ea"/>
                <a:cs typeface="Segoe UI" panose="020B0502040204020203" pitchFamily="34" charset="0"/>
                <a:sym typeface="Arial"/>
              </a:rPr>
              <a:t>Fixing known compliance and control weaknesses</a:t>
            </a:r>
          </a:p>
        </p:txBody>
      </p:sp>
      <p:sp>
        <p:nvSpPr>
          <p:cNvPr id="27" name="Rounded Rectangle 13">
            <a:extLst>
              <a:ext uri="{FF2B5EF4-FFF2-40B4-BE49-F238E27FC236}">
                <a16:creationId xmlns:a16="http://schemas.microsoft.com/office/drawing/2014/main" id="{3DB750E4-63E9-C76A-6D81-D11FC90D8982}"/>
              </a:ext>
            </a:extLst>
          </p:cNvPr>
          <p:cNvSpPr/>
          <p:nvPr/>
        </p:nvSpPr>
        <p:spPr>
          <a:xfrm>
            <a:off x="5641452" y="1868776"/>
            <a:ext cx="4194311" cy="333550"/>
          </a:xfrm>
          <a:prstGeom prst="roundRect">
            <a:avLst>
              <a:gd name="adj" fmla="val 15000"/>
            </a:avLst>
          </a:prstGeom>
          <a:solidFill>
            <a:srgbClr val="6FBF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kumimoji="0" lang="en-CA" sz="1800" b="1"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sym typeface="Arial"/>
              </a:rPr>
              <a:t>39%</a:t>
            </a:r>
          </a:p>
        </p:txBody>
      </p:sp>
      <p:grpSp>
        <p:nvGrpSpPr>
          <p:cNvPr id="207" name="Group 206">
            <a:extLst>
              <a:ext uri="{FF2B5EF4-FFF2-40B4-BE49-F238E27FC236}">
                <a16:creationId xmlns:a16="http://schemas.microsoft.com/office/drawing/2014/main" id="{081F1FC8-DF04-5ADF-F468-32B1B8B91CD7}"/>
              </a:ext>
            </a:extLst>
          </p:cNvPr>
          <p:cNvGrpSpPr/>
          <p:nvPr/>
        </p:nvGrpSpPr>
        <p:grpSpPr>
          <a:xfrm>
            <a:off x="5641452" y="2275478"/>
            <a:ext cx="365760" cy="365760"/>
            <a:chOff x="5881786" y="2434293"/>
            <a:chExt cx="365760" cy="365760"/>
          </a:xfrm>
        </p:grpSpPr>
        <p:sp>
          <p:nvSpPr>
            <p:cNvPr id="31" name="Rounded Rectangle 15">
              <a:extLst>
                <a:ext uri="{FF2B5EF4-FFF2-40B4-BE49-F238E27FC236}">
                  <a16:creationId xmlns:a16="http://schemas.microsoft.com/office/drawing/2014/main" id="{7CFA363B-E6DD-A701-8BDD-111C00239FA8}"/>
                </a:ext>
              </a:extLst>
            </p:cNvPr>
            <p:cNvSpPr/>
            <p:nvPr/>
          </p:nvSpPr>
          <p:spPr>
            <a:xfrm>
              <a:off x="5881786" y="2434293"/>
              <a:ext cx="365760" cy="365760"/>
            </a:xfrm>
            <a:prstGeom prst="roundRect">
              <a:avLst>
                <a:gd name="adj" fmla="val 50000"/>
              </a:avLst>
            </a:prstGeom>
            <a:solidFill>
              <a:srgbClr val="6FBF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pic>
          <p:nvPicPr>
            <p:cNvPr id="33" name="Picture 32" descr="ic_binoc_w.png">
              <a:extLst>
                <a:ext uri="{FF2B5EF4-FFF2-40B4-BE49-F238E27FC236}">
                  <a16:creationId xmlns:a16="http://schemas.microsoft.com/office/drawing/2014/main" id="{3FFF9AED-09FA-08A0-DB9E-88F242AA0398}"/>
                </a:ext>
              </a:extLst>
            </p:cNvPr>
            <p:cNvPicPr>
              <a:picLocks noChangeAspect="1"/>
            </p:cNvPicPr>
            <p:nvPr/>
          </p:nvPicPr>
          <p:blipFill>
            <a:blip r:embed="rId4"/>
            <a:stretch>
              <a:fillRect/>
            </a:stretch>
          </p:blipFill>
          <p:spPr>
            <a:xfrm>
              <a:off x="5962253" y="2514760"/>
              <a:ext cx="204825" cy="204825"/>
            </a:xfrm>
            <a:prstGeom prst="rect">
              <a:avLst/>
            </a:prstGeom>
          </p:spPr>
        </p:pic>
      </p:grpSp>
      <p:sp>
        <p:nvSpPr>
          <p:cNvPr id="35" name="TextBox 34">
            <a:extLst>
              <a:ext uri="{FF2B5EF4-FFF2-40B4-BE49-F238E27FC236}">
                <a16:creationId xmlns:a16="http://schemas.microsoft.com/office/drawing/2014/main" id="{3C7D6C3D-248F-6D2A-60EB-256A11449FF7}"/>
              </a:ext>
            </a:extLst>
          </p:cNvPr>
          <p:cNvSpPr txBox="1"/>
          <p:nvPr/>
        </p:nvSpPr>
        <p:spPr>
          <a:xfrm>
            <a:off x="6080364" y="2257190"/>
            <a:ext cx="3955420" cy="200055"/>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300" b="1" i="0" u="none" strike="noStrike" kern="1200" cap="none" spc="0" normalizeH="0" baseline="0" noProof="0">
                <a:ln>
                  <a:noFill/>
                </a:ln>
                <a:solidFill>
                  <a:srgbClr val="023D20"/>
                </a:solidFill>
                <a:effectLst/>
                <a:uLnTx/>
                <a:uFillTx/>
                <a:latin typeface="Segoe UI" panose="020B0502040204020203" pitchFamily="34" charset="0"/>
                <a:ea typeface="+mn-ea"/>
                <a:cs typeface="Segoe UI" panose="020B0502040204020203" pitchFamily="34" charset="0"/>
                <a:sym typeface="Arial"/>
              </a:rPr>
              <a:t>Meeting upcoming regulation</a:t>
            </a:r>
          </a:p>
        </p:txBody>
      </p:sp>
      <p:sp>
        <p:nvSpPr>
          <p:cNvPr id="37" name="TextBox 36">
            <a:extLst>
              <a:ext uri="{FF2B5EF4-FFF2-40B4-BE49-F238E27FC236}">
                <a16:creationId xmlns:a16="http://schemas.microsoft.com/office/drawing/2014/main" id="{9E8C6F67-BB66-6F37-C8AD-5F6E07C4B569}"/>
              </a:ext>
            </a:extLst>
          </p:cNvPr>
          <p:cNvSpPr txBox="1"/>
          <p:nvPr/>
        </p:nvSpPr>
        <p:spPr>
          <a:xfrm>
            <a:off x="6080364" y="2478236"/>
            <a:ext cx="3955420" cy="153888"/>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404040"/>
                </a:solidFill>
                <a:effectLst/>
                <a:uLnTx/>
                <a:uFillTx/>
                <a:latin typeface="Segoe UI" panose="020B0502040204020203" pitchFamily="34" charset="0"/>
                <a:ea typeface="+mn-ea"/>
                <a:cs typeface="Segoe UI" panose="020B0502040204020203" pitchFamily="34" charset="0"/>
                <a:sym typeface="Arial"/>
              </a:rPr>
              <a:t>Building ahead of new and draft requirements</a:t>
            </a:r>
          </a:p>
        </p:txBody>
      </p:sp>
      <p:sp>
        <p:nvSpPr>
          <p:cNvPr id="39" name="Rounded Rectangle 19">
            <a:extLst>
              <a:ext uri="{FF2B5EF4-FFF2-40B4-BE49-F238E27FC236}">
                <a16:creationId xmlns:a16="http://schemas.microsoft.com/office/drawing/2014/main" id="{4DDDF606-9EA5-2624-1B00-D8338977D8D0}"/>
              </a:ext>
            </a:extLst>
          </p:cNvPr>
          <p:cNvSpPr/>
          <p:nvPr/>
        </p:nvSpPr>
        <p:spPr>
          <a:xfrm>
            <a:off x="9921240" y="1868776"/>
            <a:ext cx="1911095" cy="333550"/>
          </a:xfrm>
          <a:prstGeom prst="roundRect">
            <a:avLst>
              <a:gd name="adj" fmla="val 15000"/>
            </a:avLst>
          </a:prstGeom>
          <a:solidFill>
            <a:srgbClr val="8A8D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CA" sz="1800" b="1" i="0" u="none" strike="noStrike" kern="1200" cap="none" spc="0" normalizeH="0" baseline="0" noProof="0" dirty="0">
                <a:ln>
                  <a:noFill/>
                </a:ln>
                <a:solidFill>
                  <a:srgbClr val="FFFFFF"/>
                </a:solidFill>
                <a:effectLst/>
                <a:uLnTx/>
                <a:uFillTx/>
                <a:latin typeface="Segoe UI" panose="020B0502040204020203" pitchFamily="34" charset="0"/>
                <a:ea typeface="+mn-ea"/>
                <a:cs typeface="Segoe UI" panose="020B0502040204020203" pitchFamily="34" charset="0"/>
                <a:sym typeface="Arial"/>
              </a:rPr>
              <a:t>13%</a:t>
            </a:r>
          </a:p>
        </p:txBody>
      </p:sp>
      <p:grpSp>
        <p:nvGrpSpPr>
          <p:cNvPr id="209" name="Group 208">
            <a:extLst>
              <a:ext uri="{FF2B5EF4-FFF2-40B4-BE49-F238E27FC236}">
                <a16:creationId xmlns:a16="http://schemas.microsoft.com/office/drawing/2014/main" id="{EE1E171E-99FC-9B31-D415-3115894F9143}"/>
              </a:ext>
            </a:extLst>
          </p:cNvPr>
          <p:cNvGrpSpPr/>
          <p:nvPr/>
        </p:nvGrpSpPr>
        <p:grpSpPr>
          <a:xfrm>
            <a:off x="9921240" y="2275478"/>
            <a:ext cx="365760" cy="365760"/>
            <a:chOff x="10385846" y="2434293"/>
            <a:chExt cx="365760" cy="365760"/>
          </a:xfrm>
        </p:grpSpPr>
        <p:sp>
          <p:nvSpPr>
            <p:cNvPr id="43" name="Rounded Rectangle 21">
              <a:extLst>
                <a:ext uri="{FF2B5EF4-FFF2-40B4-BE49-F238E27FC236}">
                  <a16:creationId xmlns:a16="http://schemas.microsoft.com/office/drawing/2014/main" id="{56B65900-34BE-9E1E-A03C-532FC6F02EA8}"/>
                </a:ext>
              </a:extLst>
            </p:cNvPr>
            <p:cNvSpPr/>
            <p:nvPr/>
          </p:nvSpPr>
          <p:spPr>
            <a:xfrm>
              <a:off x="10385846" y="2434293"/>
              <a:ext cx="365760" cy="365760"/>
            </a:xfrm>
            <a:prstGeom prst="roundRect">
              <a:avLst>
                <a:gd name="adj" fmla="val 50000"/>
              </a:avLst>
            </a:prstGeom>
            <a:solidFill>
              <a:srgbClr val="8A8D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pic>
          <p:nvPicPr>
            <p:cNvPr id="45" name="Picture 44" descr="ic_minus_w.png">
              <a:extLst>
                <a:ext uri="{FF2B5EF4-FFF2-40B4-BE49-F238E27FC236}">
                  <a16:creationId xmlns:a16="http://schemas.microsoft.com/office/drawing/2014/main" id="{70654E4B-2430-C2B5-11C9-C26EEC30DDDA}"/>
                </a:ext>
              </a:extLst>
            </p:cNvPr>
            <p:cNvPicPr>
              <a:picLocks noChangeAspect="1"/>
            </p:cNvPicPr>
            <p:nvPr/>
          </p:nvPicPr>
          <p:blipFill>
            <a:blip r:embed="rId5"/>
            <a:stretch>
              <a:fillRect/>
            </a:stretch>
          </p:blipFill>
          <p:spPr>
            <a:xfrm>
              <a:off x="10466313" y="2514760"/>
              <a:ext cx="204825" cy="204825"/>
            </a:xfrm>
            <a:prstGeom prst="rect">
              <a:avLst/>
            </a:prstGeom>
          </p:spPr>
        </p:pic>
      </p:grpSp>
      <p:sp>
        <p:nvSpPr>
          <p:cNvPr id="47" name="TextBox 46">
            <a:extLst>
              <a:ext uri="{FF2B5EF4-FFF2-40B4-BE49-F238E27FC236}">
                <a16:creationId xmlns:a16="http://schemas.microsoft.com/office/drawing/2014/main" id="{920FB115-E40A-213A-FF89-34C34F8E1548}"/>
              </a:ext>
            </a:extLst>
          </p:cNvPr>
          <p:cNvSpPr txBox="1"/>
          <p:nvPr/>
        </p:nvSpPr>
        <p:spPr>
          <a:xfrm>
            <a:off x="10360152" y="2257189"/>
            <a:ext cx="1389888" cy="200055"/>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300" b="1" i="0" u="none" strike="noStrike" kern="1200" cap="none" spc="0" normalizeH="0" baseline="0" noProof="0">
                <a:ln>
                  <a:noFill/>
                </a:ln>
                <a:solidFill>
                  <a:srgbClr val="404040"/>
                </a:solidFill>
                <a:effectLst/>
                <a:uLnTx/>
                <a:uFillTx/>
                <a:latin typeface="Segoe UI" panose="020B0502040204020203" pitchFamily="34" charset="0"/>
                <a:ea typeface="+mn-ea"/>
                <a:cs typeface="Segoe UI" panose="020B0502040204020203" pitchFamily="34" charset="0"/>
                <a:sym typeface="Arial"/>
              </a:rPr>
              <a:t>Not a driver</a:t>
            </a:r>
          </a:p>
        </p:txBody>
      </p:sp>
      <p:sp>
        <p:nvSpPr>
          <p:cNvPr id="49" name="TextBox 48">
            <a:extLst>
              <a:ext uri="{FF2B5EF4-FFF2-40B4-BE49-F238E27FC236}">
                <a16:creationId xmlns:a16="http://schemas.microsoft.com/office/drawing/2014/main" id="{EC5E0D81-7872-F885-D7E1-316824DD583E}"/>
              </a:ext>
            </a:extLst>
          </p:cNvPr>
          <p:cNvSpPr txBox="1"/>
          <p:nvPr/>
        </p:nvSpPr>
        <p:spPr>
          <a:xfrm>
            <a:off x="10360152" y="2478235"/>
            <a:ext cx="1389888" cy="153888"/>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404040"/>
                </a:solidFill>
                <a:effectLst/>
                <a:uLnTx/>
                <a:uFillTx/>
                <a:latin typeface="Segoe UI" panose="020B0502040204020203" pitchFamily="34" charset="0"/>
                <a:ea typeface="+mn-ea"/>
                <a:cs typeface="Segoe UI" panose="020B0502040204020203" pitchFamily="34" charset="0"/>
                <a:sym typeface="Arial"/>
              </a:rPr>
              <a:t>Other priorities lead</a:t>
            </a:r>
          </a:p>
        </p:txBody>
      </p:sp>
      <p:sp>
        <p:nvSpPr>
          <p:cNvPr id="51" name="TextBox 50">
            <a:extLst>
              <a:ext uri="{FF2B5EF4-FFF2-40B4-BE49-F238E27FC236}">
                <a16:creationId xmlns:a16="http://schemas.microsoft.com/office/drawing/2014/main" id="{5050E19F-621A-8389-1700-5B987C34A70B}"/>
              </a:ext>
            </a:extLst>
          </p:cNvPr>
          <p:cNvSpPr txBox="1"/>
          <p:nvPr/>
        </p:nvSpPr>
        <p:spPr>
          <a:xfrm>
            <a:off x="320040" y="2956648"/>
            <a:ext cx="5669280" cy="230832"/>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sym typeface="Arial"/>
              </a:rPr>
              <a:t>SMALLER INSTITUTIONS ARE </a:t>
            </a:r>
            <a:r>
              <a:rPr kumimoji="0" lang="en-US" sz="1500" b="1" i="0" u="none" strike="noStrike" kern="1200" cap="none" spc="0" normalizeH="0" baseline="0" noProof="0" dirty="0">
                <a:ln>
                  <a:noFill/>
                </a:ln>
                <a:solidFill>
                  <a:prstClr val="black"/>
                </a:solidFill>
                <a:effectLst/>
                <a:highlight>
                  <a:srgbClr val="FFFF00"/>
                </a:highlight>
                <a:uLnTx/>
                <a:uFillTx/>
                <a:latin typeface="Segoe UI" panose="020B0502040204020203" pitchFamily="34" charset="0"/>
                <a:ea typeface="+mn-ea"/>
                <a:cs typeface="Segoe UI" panose="020B0502040204020203" pitchFamily="34" charset="0"/>
                <a:sym typeface="Arial"/>
              </a:rPr>
              <a:t>STUCK</a:t>
            </a:r>
            <a:r>
              <a:rPr kumimoji="0" lang="en-US" sz="1500" b="1"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sym typeface="Arial"/>
              </a:rPr>
              <a:t> ON REMEDIATION</a:t>
            </a:r>
            <a:endParaRPr kumimoji="0" lang="en-US" sz="15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sym typeface="Arial"/>
            </a:endParaRPr>
          </a:p>
        </p:txBody>
      </p:sp>
      <p:sp>
        <p:nvSpPr>
          <p:cNvPr id="53" name="Rounded Rectangle 26">
            <a:extLst>
              <a:ext uri="{FF2B5EF4-FFF2-40B4-BE49-F238E27FC236}">
                <a16:creationId xmlns:a16="http://schemas.microsoft.com/office/drawing/2014/main" id="{3CB21993-8133-11CF-7891-D38E08F3B9F2}"/>
              </a:ext>
            </a:extLst>
          </p:cNvPr>
          <p:cNvSpPr/>
          <p:nvPr/>
        </p:nvSpPr>
        <p:spPr>
          <a:xfrm>
            <a:off x="338328" y="3405456"/>
            <a:ext cx="2798064" cy="2898065"/>
          </a:xfrm>
          <a:prstGeom prst="roundRect">
            <a:avLst>
              <a:gd name="adj" fmla="val 5000"/>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55" name="Rounded Rectangle 27">
            <a:extLst>
              <a:ext uri="{FF2B5EF4-FFF2-40B4-BE49-F238E27FC236}">
                <a16:creationId xmlns:a16="http://schemas.microsoft.com/office/drawing/2014/main" id="{247E382D-7518-61E6-3A5A-0E0975811561}"/>
              </a:ext>
            </a:extLst>
          </p:cNvPr>
          <p:cNvSpPr/>
          <p:nvPr/>
        </p:nvSpPr>
        <p:spPr>
          <a:xfrm>
            <a:off x="429768" y="3450409"/>
            <a:ext cx="540000" cy="540000"/>
          </a:xfrm>
          <a:prstGeom prst="roundRect">
            <a:avLst>
              <a:gd name="adj" fmla="val 50000"/>
            </a:avLst>
          </a:prstGeom>
          <a:solidFill>
            <a:schemeClr val="tx1">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pic>
        <p:nvPicPr>
          <p:cNvPr id="57" name="Picture 56" descr="ic_bank_w.png">
            <a:extLst>
              <a:ext uri="{FF2B5EF4-FFF2-40B4-BE49-F238E27FC236}">
                <a16:creationId xmlns:a16="http://schemas.microsoft.com/office/drawing/2014/main" id="{93CC5BF3-F2B0-3189-AA7E-63AB7C0F3430}"/>
              </a:ext>
            </a:extLst>
          </p:cNvPr>
          <p:cNvPicPr>
            <a:picLocks noChangeAspect="1"/>
          </p:cNvPicPr>
          <p:nvPr/>
        </p:nvPicPr>
        <p:blipFill>
          <a:blip r:embed="rId6"/>
          <a:stretch>
            <a:fillRect/>
          </a:stretch>
        </p:blipFill>
        <p:spPr>
          <a:xfrm>
            <a:off x="548567" y="3569208"/>
            <a:ext cx="302400" cy="302400"/>
          </a:xfrm>
          <a:prstGeom prst="rect">
            <a:avLst/>
          </a:prstGeom>
        </p:spPr>
      </p:pic>
      <p:sp>
        <p:nvSpPr>
          <p:cNvPr id="59" name="TextBox 58">
            <a:extLst>
              <a:ext uri="{FF2B5EF4-FFF2-40B4-BE49-F238E27FC236}">
                <a16:creationId xmlns:a16="http://schemas.microsoft.com/office/drawing/2014/main" id="{7F2F4E9F-60EC-3386-6987-724B6B80F083}"/>
              </a:ext>
            </a:extLst>
          </p:cNvPr>
          <p:cNvSpPr txBox="1"/>
          <p:nvPr/>
        </p:nvSpPr>
        <p:spPr>
          <a:xfrm>
            <a:off x="1051558" y="3608914"/>
            <a:ext cx="2103120" cy="230832"/>
          </a:xfrm>
          <a:prstGeom prst="rect">
            <a:avLst/>
          </a:prstGeom>
          <a:noFill/>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CA" sz="1500" b="1" i="0" u="none" strike="noStrike" kern="1200" cap="none" spc="0" normalizeH="0" baseline="0" noProof="0">
                <a:ln>
                  <a:noFill/>
                </a:ln>
                <a:solidFill>
                  <a:prstClr val="black">
                    <a:lumMod val="75000"/>
                    <a:lumOff val="25000"/>
                  </a:prstClr>
                </a:solidFill>
                <a:effectLst/>
                <a:uLnTx/>
                <a:uFillTx/>
                <a:latin typeface="Segoe UI" panose="020B0502040204020203" pitchFamily="34" charset="0"/>
                <a:ea typeface="+mn-ea"/>
                <a:cs typeface="Segoe UI" panose="020B0502040204020203" pitchFamily="34" charset="0"/>
                <a:sym typeface="Arial"/>
              </a:rPr>
              <a:t>BANKING</a:t>
            </a:r>
          </a:p>
        </p:txBody>
      </p:sp>
      <p:sp>
        <p:nvSpPr>
          <p:cNvPr id="61" name="TextBox 60">
            <a:extLst>
              <a:ext uri="{FF2B5EF4-FFF2-40B4-BE49-F238E27FC236}">
                <a16:creationId xmlns:a16="http://schemas.microsoft.com/office/drawing/2014/main" id="{B59BD90A-0F10-4605-04E8-68877CB47B57}"/>
              </a:ext>
            </a:extLst>
          </p:cNvPr>
          <p:cNvSpPr txBox="1"/>
          <p:nvPr/>
        </p:nvSpPr>
        <p:spPr>
          <a:xfrm>
            <a:off x="457200" y="4099630"/>
            <a:ext cx="2560320" cy="153888"/>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sym typeface="Arial"/>
              </a:rPr>
              <a:t>Top 100 Global FIs </a:t>
            </a:r>
          </a:p>
        </p:txBody>
      </p:sp>
      <p:sp>
        <p:nvSpPr>
          <p:cNvPr id="63" name="Rounded Rectangle 31">
            <a:extLst>
              <a:ext uri="{FF2B5EF4-FFF2-40B4-BE49-F238E27FC236}">
                <a16:creationId xmlns:a16="http://schemas.microsoft.com/office/drawing/2014/main" id="{1AA4D6FA-6B38-9A17-BCB9-3DFEB5EEADA3}"/>
              </a:ext>
            </a:extLst>
          </p:cNvPr>
          <p:cNvSpPr/>
          <p:nvPr/>
        </p:nvSpPr>
        <p:spPr>
          <a:xfrm>
            <a:off x="457200" y="4309942"/>
            <a:ext cx="1059972" cy="164592"/>
          </a:xfrm>
          <a:prstGeom prst="roundRect">
            <a:avLst>
              <a:gd name="adj" fmla="val 30000"/>
            </a:avLst>
          </a:prstGeom>
          <a:solidFill>
            <a:srgbClr val="CC3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66" name="Rounded Rectangle 32">
            <a:extLst>
              <a:ext uri="{FF2B5EF4-FFF2-40B4-BE49-F238E27FC236}">
                <a16:creationId xmlns:a16="http://schemas.microsoft.com/office/drawing/2014/main" id="{B116E1BF-8DE0-CCD6-E1D0-5081091C4C5D}"/>
              </a:ext>
            </a:extLst>
          </p:cNvPr>
          <p:cNvSpPr/>
          <p:nvPr/>
        </p:nvSpPr>
        <p:spPr>
          <a:xfrm>
            <a:off x="1517172" y="4309942"/>
            <a:ext cx="1211397" cy="164592"/>
          </a:xfrm>
          <a:prstGeom prst="roundRect">
            <a:avLst>
              <a:gd name="adj" fmla="val 30000"/>
            </a:avLst>
          </a:prstGeom>
          <a:solidFill>
            <a:srgbClr val="6FBF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68" name="Rounded Rectangle 33">
            <a:extLst>
              <a:ext uri="{FF2B5EF4-FFF2-40B4-BE49-F238E27FC236}">
                <a16:creationId xmlns:a16="http://schemas.microsoft.com/office/drawing/2014/main" id="{68D2A7AC-1D39-329B-744A-F133312D5B81}"/>
              </a:ext>
            </a:extLst>
          </p:cNvPr>
          <p:cNvSpPr/>
          <p:nvPr/>
        </p:nvSpPr>
        <p:spPr>
          <a:xfrm>
            <a:off x="2728569" y="4309942"/>
            <a:ext cx="252374" cy="164592"/>
          </a:xfrm>
          <a:prstGeom prst="roundRect">
            <a:avLst>
              <a:gd name="adj" fmla="val 30000"/>
            </a:avLst>
          </a:prstGeom>
          <a:solidFill>
            <a:srgbClr val="8A8D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70" name="TextBox 69">
            <a:extLst>
              <a:ext uri="{FF2B5EF4-FFF2-40B4-BE49-F238E27FC236}">
                <a16:creationId xmlns:a16="http://schemas.microsoft.com/office/drawing/2014/main" id="{E299BC18-0676-C1B4-A661-9D9C3BB8D746}"/>
              </a:ext>
            </a:extLst>
          </p:cNvPr>
          <p:cNvSpPr txBox="1"/>
          <p:nvPr/>
        </p:nvSpPr>
        <p:spPr>
          <a:xfrm>
            <a:off x="457200" y="4492822"/>
            <a:ext cx="2560320" cy="138499"/>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kumimoji="0" lang="en-CA" sz="900" b="1" i="0" u="none" strike="noStrike" kern="1200" cap="none" spc="0" normalizeH="0" baseline="0" noProof="0">
                <a:ln>
                  <a:noFill/>
                </a:ln>
                <a:solidFill>
                  <a:srgbClr val="CC3300"/>
                </a:solidFill>
                <a:effectLst/>
                <a:uLnTx/>
                <a:uFillTx/>
                <a:latin typeface="Segoe UI" panose="020B0502040204020203" pitchFamily="34" charset="0"/>
                <a:ea typeface="+mn-ea"/>
                <a:cs typeface="Segoe UI" panose="020B0502040204020203" pitchFamily="34" charset="0"/>
                <a:sym typeface="Arial"/>
              </a:rPr>
              <a:t>42% remediating</a:t>
            </a:r>
            <a:r>
              <a:rPr kumimoji="0" lang="en-CA" sz="900" b="0" i="0" u="none" strike="noStrike" kern="1200" cap="none" spc="0" normalizeH="0" baseline="0" noProof="0">
                <a:ln>
                  <a:noFill/>
                </a:ln>
                <a:solidFill>
                  <a:srgbClr val="CC3300"/>
                </a:solidFill>
                <a:effectLst/>
                <a:uLnTx/>
                <a:uFillTx/>
                <a:latin typeface="Segoe UI" panose="020B0502040204020203" pitchFamily="34" charset="0"/>
                <a:ea typeface="+mn-ea"/>
                <a:cs typeface="Segoe UI" panose="020B0502040204020203" pitchFamily="34" charset="0"/>
                <a:sym typeface="Arial"/>
              </a:rPr>
              <a:t> </a:t>
            </a:r>
            <a:r>
              <a:rPr kumimoji="0" lang="en-CA" sz="900" b="1" i="0" u="none" strike="noStrike" kern="1200" cap="none" spc="0" normalizeH="0" baseline="0" noProof="0">
                <a:ln>
                  <a:noFill/>
                </a:ln>
                <a:solidFill>
                  <a:prstClr val="black">
                    <a:lumMod val="75000"/>
                    <a:lumOff val="25000"/>
                  </a:prstClr>
                </a:solidFill>
                <a:effectLst/>
                <a:uLnTx/>
                <a:uFillTx/>
                <a:latin typeface="Segoe UI" panose="020B0502040204020203" pitchFamily="34" charset="0"/>
                <a:cs typeface="Segoe UI" panose="020B0502040204020203" pitchFamily="34" charset="0"/>
                <a:sym typeface="Arial"/>
              </a:rPr>
              <a:t>·</a:t>
            </a:r>
            <a:r>
              <a:rPr kumimoji="0" sz="900" b="0" i="0" u="none" strike="noStrike" kern="1200" cap="none" spc="0" normalizeH="0" baseline="0" noProof="0">
                <a:ln>
                  <a:noFill/>
                </a:ln>
                <a:solidFill>
                  <a:srgbClr val="75787B"/>
                </a:solidFill>
                <a:effectLst/>
                <a:uLnTx/>
                <a:uFillTx/>
                <a:latin typeface="Segoe UI" panose="020B0502040204020203" pitchFamily="34" charset="0"/>
                <a:ea typeface="+mn-ea"/>
                <a:cs typeface="Segoe UI" panose="020B0502040204020203" pitchFamily="34" charset="0"/>
                <a:sym typeface="Arial"/>
              </a:rPr>
              <a:t> </a:t>
            </a:r>
            <a:r>
              <a:rPr kumimoji="0" sz="900" b="1" i="0" u="none" strike="noStrike" kern="1200" cap="none" spc="0" normalizeH="0" baseline="0" noProof="0">
                <a:ln>
                  <a:noFill/>
                </a:ln>
                <a:solidFill>
                  <a:srgbClr val="6FBF5A"/>
                </a:solidFill>
                <a:effectLst/>
                <a:uLnTx/>
                <a:uFillTx/>
                <a:latin typeface="Segoe UI" panose="020B0502040204020203" pitchFamily="34" charset="0"/>
                <a:ea typeface="+mn-ea"/>
                <a:cs typeface="Segoe UI" panose="020B0502040204020203" pitchFamily="34" charset="0"/>
                <a:sym typeface="Arial"/>
              </a:rPr>
              <a:t>48% upcoming</a:t>
            </a:r>
          </a:p>
        </p:txBody>
      </p:sp>
      <p:sp>
        <p:nvSpPr>
          <p:cNvPr id="72" name="TextBox 71">
            <a:extLst>
              <a:ext uri="{FF2B5EF4-FFF2-40B4-BE49-F238E27FC236}">
                <a16:creationId xmlns:a16="http://schemas.microsoft.com/office/drawing/2014/main" id="{D34B6BFD-52CE-926A-E414-696130E3A0C2}"/>
              </a:ext>
            </a:extLst>
          </p:cNvPr>
          <p:cNvSpPr txBox="1"/>
          <p:nvPr/>
        </p:nvSpPr>
        <p:spPr>
          <a:xfrm>
            <a:off x="457200" y="4739710"/>
            <a:ext cx="2560320" cy="153888"/>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dirty="0">
                <a:ln>
                  <a:noFill/>
                </a:ln>
                <a:solidFill>
                  <a:srgbClr val="000000"/>
                </a:solidFill>
                <a:effectLst/>
                <a:uLnTx/>
                <a:uFillTx/>
                <a:latin typeface="Segoe UI" panose="020B0502040204020203" pitchFamily="34" charset="0"/>
                <a:ea typeface="+mn-ea"/>
                <a:cs typeface="Segoe UI" panose="020B0502040204020203" pitchFamily="34" charset="0"/>
                <a:sym typeface="Arial"/>
              </a:rPr>
              <a:t>Large FIs </a:t>
            </a:r>
          </a:p>
        </p:txBody>
      </p:sp>
      <p:sp>
        <p:nvSpPr>
          <p:cNvPr id="74" name="Rounded Rectangle 36">
            <a:extLst>
              <a:ext uri="{FF2B5EF4-FFF2-40B4-BE49-F238E27FC236}">
                <a16:creationId xmlns:a16="http://schemas.microsoft.com/office/drawing/2014/main" id="{536A357D-5A97-C645-E172-51BCE65FA7D3}"/>
              </a:ext>
            </a:extLst>
          </p:cNvPr>
          <p:cNvSpPr/>
          <p:nvPr/>
        </p:nvSpPr>
        <p:spPr>
          <a:xfrm>
            <a:off x="457200" y="4950022"/>
            <a:ext cx="1362821" cy="164592"/>
          </a:xfrm>
          <a:prstGeom prst="roundRect">
            <a:avLst>
              <a:gd name="adj" fmla="val 30000"/>
            </a:avLst>
          </a:prstGeom>
          <a:solidFill>
            <a:srgbClr val="CC3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76" name="Rounded Rectangle 37">
            <a:extLst>
              <a:ext uri="{FF2B5EF4-FFF2-40B4-BE49-F238E27FC236}">
                <a16:creationId xmlns:a16="http://schemas.microsoft.com/office/drawing/2014/main" id="{69D7CB97-6733-904F-CF8C-FC7E876E6869}"/>
              </a:ext>
            </a:extLst>
          </p:cNvPr>
          <p:cNvSpPr/>
          <p:nvPr/>
        </p:nvSpPr>
        <p:spPr>
          <a:xfrm>
            <a:off x="1820021" y="4950022"/>
            <a:ext cx="731885" cy="164592"/>
          </a:xfrm>
          <a:prstGeom prst="roundRect">
            <a:avLst>
              <a:gd name="adj" fmla="val 30000"/>
            </a:avLst>
          </a:prstGeom>
          <a:solidFill>
            <a:srgbClr val="6FBF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78" name="Rounded Rectangle 38">
            <a:extLst>
              <a:ext uri="{FF2B5EF4-FFF2-40B4-BE49-F238E27FC236}">
                <a16:creationId xmlns:a16="http://schemas.microsoft.com/office/drawing/2014/main" id="{532FC1DF-30BC-C3AD-5E82-2EC1917A7E3E}"/>
              </a:ext>
            </a:extLst>
          </p:cNvPr>
          <p:cNvSpPr/>
          <p:nvPr/>
        </p:nvSpPr>
        <p:spPr>
          <a:xfrm>
            <a:off x="2551907" y="4950022"/>
            <a:ext cx="429036" cy="164592"/>
          </a:xfrm>
          <a:prstGeom prst="roundRect">
            <a:avLst>
              <a:gd name="adj" fmla="val 30000"/>
            </a:avLst>
          </a:prstGeom>
          <a:solidFill>
            <a:srgbClr val="8A8D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80" name="TextBox 79">
            <a:extLst>
              <a:ext uri="{FF2B5EF4-FFF2-40B4-BE49-F238E27FC236}">
                <a16:creationId xmlns:a16="http://schemas.microsoft.com/office/drawing/2014/main" id="{960B568E-1856-38FA-0D9D-65CD4820DD86}"/>
              </a:ext>
            </a:extLst>
          </p:cNvPr>
          <p:cNvSpPr txBox="1"/>
          <p:nvPr/>
        </p:nvSpPr>
        <p:spPr>
          <a:xfrm>
            <a:off x="457200" y="5132902"/>
            <a:ext cx="2560320" cy="138499"/>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kumimoji="0" lang="en-US" sz="900" b="1" i="0" u="none" strike="noStrike" kern="1200" cap="none" spc="0" normalizeH="0" baseline="0" noProof="0">
                <a:ln>
                  <a:noFill/>
                </a:ln>
                <a:solidFill>
                  <a:srgbClr val="CC3300"/>
                </a:solidFill>
                <a:effectLst/>
                <a:uLnTx/>
                <a:uFillTx/>
                <a:latin typeface="Segoe UI" panose="020B0502040204020203" pitchFamily="34" charset="0"/>
                <a:ea typeface="+mn-ea"/>
                <a:cs typeface="Segoe UI" panose="020B0502040204020203" pitchFamily="34" charset="0"/>
                <a:sym typeface="Arial"/>
              </a:rPr>
              <a:t>54% remediating</a:t>
            </a:r>
            <a:r>
              <a:rPr kumimoji="0" lang="en-US" sz="900" b="0" i="0" u="none" strike="noStrike" kern="1200" cap="none" spc="0" normalizeH="0" baseline="0" noProof="0">
                <a:ln>
                  <a:noFill/>
                </a:ln>
                <a:solidFill>
                  <a:srgbClr val="CC3300"/>
                </a:solidFill>
                <a:effectLst/>
                <a:uLnTx/>
                <a:uFillTx/>
                <a:latin typeface="Segoe UI" panose="020B0502040204020203" pitchFamily="34" charset="0"/>
                <a:ea typeface="+mn-ea"/>
                <a:cs typeface="Segoe UI" panose="020B0502040204020203" pitchFamily="34" charset="0"/>
                <a:sym typeface="Arial"/>
              </a:rPr>
              <a:t> </a:t>
            </a:r>
            <a:r>
              <a:rPr kumimoji="0" lang="en-CA" sz="900" b="1" i="0" u="none" strike="noStrike" kern="1200" cap="none" spc="0" normalizeH="0" baseline="0" noProof="0">
                <a:ln>
                  <a:noFill/>
                </a:ln>
                <a:solidFill>
                  <a:prstClr val="black">
                    <a:lumMod val="75000"/>
                    <a:lumOff val="25000"/>
                  </a:prstClr>
                </a:solidFill>
                <a:effectLst/>
                <a:uLnTx/>
                <a:uFillTx/>
                <a:latin typeface="Segoe UI" panose="020B0502040204020203" pitchFamily="34" charset="0"/>
                <a:cs typeface="Segoe UI" panose="020B0502040204020203" pitchFamily="34" charset="0"/>
                <a:sym typeface="Arial"/>
              </a:rPr>
              <a:t>·</a:t>
            </a:r>
            <a:r>
              <a:rPr kumimoji="0" lang="en-CA" sz="900" b="0" i="0" u="none" strike="noStrike" kern="1200" cap="none" spc="0" normalizeH="0" baseline="0" noProof="0">
                <a:ln>
                  <a:noFill/>
                </a:ln>
                <a:solidFill>
                  <a:srgbClr val="75787B"/>
                </a:solidFill>
                <a:effectLst/>
                <a:uLnTx/>
                <a:uFillTx/>
                <a:latin typeface="Segoe UI" panose="020B0502040204020203" pitchFamily="34" charset="0"/>
                <a:ea typeface="+mn-ea"/>
                <a:cs typeface="Segoe UI" panose="020B0502040204020203" pitchFamily="34" charset="0"/>
                <a:sym typeface="Arial"/>
              </a:rPr>
              <a:t> </a:t>
            </a:r>
            <a:r>
              <a:rPr kumimoji="0" lang="en-CA" sz="900" b="1" i="0" u="none" strike="noStrike" kern="1200" cap="none" spc="0" normalizeH="0" baseline="0" noProof="0">
                <a:ln>
                  <a:noFill/>
                </a:ln>
                <a:solidFill>
                  <a:srgbClr val="6FBF5A"/>
                </a:solidFill>
                <a:effectLst/>
                <a:uLnTx/>
                <a:uFillTx/>
                <a:latin typeface="Segoe UI" panose="020B0502040204020203" pitchFamily="34" charset="0"/>
                <a:ea typeface="+mn-ea"/>
                <a:cs typeface="Segoe UI" panose="020B0502040204020203" pitchFamily="34" charset="0"/>
                <a:sym typeface="Arial"/>
              </a:rPr>
              <a:t>29% upcoming</a:t>
            </a:r>
          </a:p>
        </p:txBody>
      </p:sp>
      <p:sp>
        <p:nvSpPr>
          <p:cNvPr id="83" name="TextBox 82">
            <a:extLst>
              <a:ext uri="{FF2B5EF4-FFF2-40B4-BE49-F238E27FC236}">
                <a16:creationId xmlns:a16="http://schemas.microsoft.com/office/drawing/2014/main" id="{2B5EA2C3-6B0E-FA84-4C86-D358F5112252}"/>
              </a:ext>
            </a:extLst>
          </p:cNvPr>
          <p:cNvSpPr txBox="1"/>
          <p:nvPr/>
        </p:nvSpPr>
        <p:spPr>
          <a:xfrm>
            <a:off x="457200" y="5465962"/>
            <a:ext cx="2560320" cy="692497"/>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Top 100 Global Financial Institutions are modestly weighted towards investing in upcoming regulatory requirements, whereas Large Financial Institutions are nearly twice as likely to prioritize remediation of existing gaps (54% vs. 29%).</a:t>
            </a:r>
            <a:endParaRPr kumimoji="0" sz="900" b="0"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endParaRPr>
          </a:p>
        </p:txBody>
      </p:sp>
      <p:sp>
        <p:nvSpPr>
          <p:cNvPr id="87" name="Rounded Rectangle 41">
            <a:extLst>
              <a:ext uri="{FF2B5EF4-FFF2-40B4-BE49-F238E27FC236}">
                <a16:creationId xmlns:a16="http://schemas.microsoft.com/office/drawing/2014/main" id="{019D10F1-32A3-81F0-5150-7EA335CA41A0}"/>
              </a:ext>
            </a:extLst>
          </p:cNvPr>
          <p:cNvSpPr/>
          <p:nvPr/>
        </p:nvSpPr>
        <p:spPr>
          <a:xfrm>
            <a:off x="3209544" y="3376939"/>
            <a:ext cx="2798064" cy="2898065"/>
          </a:xfrm>
          <a:prstGeom prst="roundRect">
            <a:avLst>
              <a:gd name="adj" fmla="val 5000"/>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91" name="Rounded Rectangle 42">
            <a:extLst>
              <a:ext uri="{FF2B5EF4-FFF2-40B4-BE49-F238E27FC236}">
                <a16:creationId xmlns:a16="http://schemas.microsoft.com/office/drawing/2014/main" id="{531A1A04-D92B-5956-982C-26012EE6F265}"/>
              </a:ext>
            </a:extLst>
          </p:cNvPr>
          <p:cNvSpPr/>
          <p:nvPr/>
        </p:nvSpPr>
        <p:spPr>
          <a:xfrm>
            <a:off x="3319272" y="3450409"/>
            <a:ext cx="540000" cy="540000"/>
          </a:xfrm>
          <a:prstGeom prst="roundRect">
            <a:avLst>
              <a:gd name="adj" fmla="val 50000"/>
            </a:avLst>
          </a:prstGeom>
          <a:solidFill>
            <a:schemeClr val="tx1">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pic>
        <p:nvPicPr>
          <p:cNvPr id="94" name="Picture 93" descr="ic_shield_w.png">
            <a:extLst>
              <a:ext uri="{FF2B5EF4-FFF2-40B4-BE49-F238E27FC236}">
                <a16:creationId xmlns:a16="http://schemas.microsoft.com/office/drawing/2014/main" id="{C47F472F-82E9-7D84-A782-B82F12B8E78F}"/>
              </a:ext>
            </a:extLst>
          </p:cNvPr>
          <p:cNvPicPr>
            <a:picLocks noChangeAspect="1"/>
          </p:cNvPicPr>
          <p:nvPr/>
        </p:nvPicPr>
        <p:blipFill>
          <a:blip r:embed="rId7"/>
          <a:stretch>
            <a:fillRect/>
          </a:stretch>
        </p:blipFill>
        <p:spPr>
          <a:xfrm>
            <a:off x="3438071" y="3569208"/>
            <a:ext cx="302400" cy="302400"/>
          </a:xfrm>
          <a:prstGeom prst="rect">
            <a:avLst/>
          </a:prstGeom>
        </p:spPr>
      </p:pic>
      <p:sp>
        <p:nvSpPr>
          <p:cNvPr id="97" name="TextBox 96">
            <a:extLst>
              <a:ext uri="{FF2B5EF4-FFF2-40B4-BE49-F238E27FC236}">
                <a16:creationId xmlns:a16="http://schemas.microsoft.com/office/drawing/2014/main" id="{7DFBF664-782B-B417-11D6-6D7AF34BB78A}"/>
              </a:ext>
            </a:extLst>
          </p:cNvPr>
          <p:cNvSpPr txBox="1"/>
          <p:nvPr/>
        </p:nvSpPr>
        <p:spPr>
          <a:xfrm>
            <a:off x="3941062" y="3608914"/>
            <a:ext cx="2103120" cy="230832"/>
          </a:xfrm>
          <a:prstGeom prst="rect">
            <a:avLst/>
          </a:prstGeom>
          <a:noFill/>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CA" sz="1500" b="1" i="0" u="none" strike="noStrike" kern="1200" cap="none" spc="0" normalizeH="0" baseline="0" noProof="0">
                <a:ln>
                  <a:noFill/>
                </a:ln>
                <a:solidFill>
                  <a:prstClr val="black">
                    <a:lumMod val="75000"/>
                    <a:lumOff val="25000"/>
                  </a:prstClr>
                </a:solidFill>
                <a:effectLst/>
                <a:uLnTx/>
                <a:uFillTx/>
                <a:latin typeface="Segoe UI" panose="020B0502040204020203" pitchFamily="34" charset="0"/>
                <a:ea typeface="+mn-ea"/>
                <a:cs typeface="Segoe UI" panose="020B0502040204020203" pitchFamily="34" charset="0"/>
                <a:sym typeface="Arial"/>
              </a:rPr>
              <a:t>INSURANCE</a:t>
            </a:r>
          </a:p>
        </p:txBody>
      </p:sp>
      <p:sp>
        <p:nvSpPr>
          <p:cNvPr id="101" name="TextBox 100">
            <a:extLst>
              <a:ext uri="{FF2B5EF4-FFF2-40B4-BE49-F238E27FC236}">
                <a16:creationId xmlns:a16="http://schemas.microsoft.com/office/drawing/2014/main" id="{2B0C3D95-999F-D503-2CD1-3B30D8E03510}"/>
              </a:ext>
            </a:extLst>
          </p:cNvPr>
          <p:cNvSpPr txBox="1"/>
          <p:nvPr/>
        </p:nvSpPr>
        <p:spPr>
          <a:xfrm>
            <a:off x="3346704" y="4099630"/>
            <a:ext cx="2560320" cy="153888"/>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dirty="0">
                <a:ln>
                  <a:noFill/>
                </a:ln>
                <a:solidFill>
                  <a:srgbClr val="000000"/>
                </a:solidFill>
                <a:effectLst/>
                <a:uLnTx/>
                <a:uFillTx/>
                <a:latin typeface="Segoe UI" panose="020B0502040204020203" pitchFamily="34" charset="0"/>
                <a:ea typeface="+mn-ea"/>
                <a:cs typeface="Segoe UI" panose="020B0502040204020203" pitchFamily="34" charset="0"/>
                <a:sym typeface="Arial"/>
              </a:rPr>
              <a:t>Top 50 Global Carriers </a:t>
            </a:r>
          </a:p>
        </p:txBody>
      </p:sp>
      <p:sp>
        <p:nvSpPr>
          <p:cNvPr id="105" name="Rounded Rectangle 46">
            <a:extLst>
              <a:ext uri="{FF2B5EF4-FFF2-40B4-BE49-F238E27FC236}">
                <a16:creationId xmlns:a16="http://schemas.microsoft.com/office/drawing/2014/main" id="{909F4EAA-89E2-E666-0D01-A5D404EF8F28}"/>
              </a:ext>
            </a:extLst>
          </p:cNvPr>
          <p:cNvSpPr/>
          <p:nvPr/>
        </p:nvSpPr>
        <p:spPr>
          <a:xfrm>
            <a:off x="3346704" y="4309942"/>
            <a:ext cx="832835" cy="164592"/>
          </a:xfrm>
          <a:prstGeom prst="roundRect">
            <a:avLst>
              <a:gd name="adj" fmla="val 30000"/>
            </a:avLst>
          </a:prstGeom>
          <a:solidFill>
            <a:srgbClr val="CC3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109" name="Rounded Rectangle 47">
            <a:extLst>
              <a:ext uri="{FF2B5EF4-FFF2-40B4-BE49-F238E27FC236}">
                <a16:creationId xmlns:a16="http://schemas.microsoft.com/office/drawing/2014/main" id="{288F5202-EE92-6A05-6B43-DFB2AF9687EB}"/>
              </a:ext>
            </a:extLst>
          </p:cNvPr>
          <p:cNvSpPr/>
          <p:nvPr/>
        </p:nvSpPr>
        <p:spPr>
          <a:xfrm>
            <a:off x="4179539" y="4309942"/>
            <a:ext cx="1186159" cy="164592"/>
          </a:xfrm>
          <a:prstGeom prst="roundRect">
            <a:avLst>
              <a:gd name="adj" fmla="val 30000"/>
            </a:avLst>
          </a:prstGeom>
          <a:solidFill>
            <a:srgbClr val="6FBF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111" name="Rounded Rectangle 48">
            <a:extLst>
              <a:ext uri="{FF2B5EF4-FFF2-40B4-BE49-F238E27FC236}">
                <a16:creationId xmlns:a16="http://schemas.microsoft.com/office/drawing/2014/main" id="{79D68776-17B7-4712-E0E8-4076B392C78D}"/>
              </a:ext>
            </a:extLst>
          </p:cNvPr>
          <p:cNvSpPr/>
          <p:nvPr/>
        </p:nvSpPr>
        <p:spPr>
          <a:xfrm>
            <a:off x="5365699" y="4309942"/>
            <a:ext cx="504748" cy="164592"/>
          </a:xfrm>
          <a:prstGeom prst="roundRect">
            <a:avLst>
              <a:gd name="adj" fmla="val 30000"/>
            </a:avLst>
          </a:prstGeom>
          <a:solidFill>
            <a:srgbClr val="8A8D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113" name="TextBox 112">
            <a:extLst>
              <a:ext uri="{FF2B5EF4-FFF2-40B4-BE49-F238E27FC236}">
                <a16:creationId xmlns:a16="http://schemas.microsoft.com/office/drawing/2014/main" id="{E64A5243-F01A-A1CE-7283-DD3C79FAA3D1}"/>
              </a:ext>
            </a:extLst>
          </p:cNvPr>
          <p:cNvSpPr txBox="1"/>
          <p:nvPr/>
        </p:nvSpPr>
        <p:spPr>
          <a:xfrm>
            <a:off x="3346704" y="4492822"/>
            <a:ext cx="2560320" cy="138499"/>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rgbClr val="CC3300"/>
                </a:solidFill>
                <a:effectLst/>
                <a:uLnTx/>
                <a:uFillTx/>
                <a:latin typeface="Segoe UI" panose="020B0502040204020203" pitchFamily="34" charset="0"/>
                <a:ea typeface="+mn-ea"/>
                <a:cs typeface="Segoe UI" panose="020B0502040204020203" pitchFamily="34" charset="0"/>
                <a:sym typeface="Arial"/>
              </a:rPr>
              <a:t>33% remediating</a:t>
            </a:r>
            <a:r>
              <a:rPr kumimoji="0" lang="en-CA" sz="900" b="0" i="0" u="none" strike="noStrike" kern="1200" cap="none" spc="0" normalizeH="0" baseline="0" noProof="0">
                <a:ln>
                  <a:noFill/>
                </a:ln>
                <a:solidFill>
                  <a:srgbClr val="CC3300"/>
                </a:solidFill>
                <a:effectLst/>
                <a:uLnTx/>
                <a:uFillTx/>
                <a:latin typeface="Segoe UI" panose="020B0502040204020203" pitchFamily="34" charset="0"/>
                <a:ea typeface="+mn-ea"/>
                <a:cs typeface="Segoe UI" panose="020B0502040204020203" pitchFamily="34" charset="0"/>
                <a:sym typeface="Arial"/>
              </a:rPr>
              <a:t>  </a:t>
            </a:r>
            <a:r>
              <a:rPr kumimoji="0" sz="900" b="1" i="0" u="none" strike="noStrike" kern="1200" cap="none" spc="0" normalizeH="0" baseline="0" noProof="0">
                <a:ln>
                  <a:noFill/>
                </a:ln>
                <a:solidFill>
                  <a:prstClr val="black">
                    <a:lumMod val="75000"/>
                    <a:lumOff val="25000"/>
                  </a:prstClr>
                </a:solidFill>
                <a:effectLst/>
                <a:uLnTx/>
                <a:uFillTx/>
                <a:latin typeface="Segoe UI" panose="020B0502040204020203" pitchFamily="34" charset="0"/>
                <a:ea typeface="+mn-ea"/>
                <a:cs typeface="Segoe UI" panose="020B0502040204020203" pitchFamily="34" charset="0"/>
                <a:sym typeface="Arial"/>
              </a:rPr>
              <a:t>·</a:t>
            </a:r>
            <a:r>
              <a:rPr kumimoji="0" sz="900" b="0" i="0" u="none" strike="noStrike" kern="1200" cap="none" spc="0" normalizeH="0" baseline="0" noProof="0">
                <a:ln>
                  <a:noFill/>
                </a:ln>
                <a:solidFill>
                  <a:srgbClr val="75787B"/>
                </a:solidFill>
                <a:effectLst/>
                <a:uLnTx/>
                <a:uFillTx/>
                <a:latin typeface="Segoe UI" panose="020B0502040204020203" pitchFamily="34" charset="0"/>
                <a:ea typeface="+mn-ea"/>
                <a:cs typeface="Segoe UI" panose="020B0502040204020203" pitchFamily="34" charset="0"/>
                <a:sym typeface="Arial"/>
              </a:rPr>
              <a:t>  </a:t>
            </a:r>
            <a:r>
              <a:rPr kumimoji="0" sz="900" b="1" i="0" u="none" strike="noStrike" kern="1200" cap="none" spc="0" normalizeH="0" baseline="0" noProof="0">
                <a:ln>
                  <a:noFill/>
                </a:ln>
                <a:solidFill>
                  <a:srgbClr val="6FBF5A"/>
                </a:solidFill>
                <a:effectLst/>
                <a:uLnTx/>
                <a:uFillTx/>
                <a:latin typeface="Segoe UI" panose="020B0502040204020203" pitchFamily="34" charset="0"/>
                <a:ea typeface="+mn-ea"/>
                <a:cs typeface="Segoe UI" panose="020B0502040204020203" pitchFamily="34" charset="0"/>
                <a:sym typeface="Arial"/>
              </a:rPr>
              <a:t>47% upcoming</a:t>
            </a:r>
          </a:p>
        </p:txBody>
      </p:sp>
      <p:sp>
        <p:nvSpPr>
          <p:cNvPr id="117" name="TextBox 116">
            <a:extLst>
              <a:ext uri="{FF2B5EF4-FFF2-40B4-BE49-F238E27FC236}">
                <a16:creationId xmlns:a16="http://schemas.microsoft.com/office/drawing/2014/main" id="{323A9F63-B641-F4CE-98BE-1E914F4A6334}"/>
              </a:ext>
            </a:extLst>
          </p:cNvPr>
          <p:cNvSpPr txBox="1"/>
          <p:nvPr/>
        </p:nvSpPr>
        <p:spPr>
          <a:xfrm>
            <a:off x="3346704" y="4739710"/>
            <a:ext cx="2560320" cy="153888"/>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dirty="0">
                <a:ln>
                  <a:noFill/>
                </a:ln>
                <a:solidFill>
                  <a:srgbClr val="000000"/>
                </a:solidFill>
                <a:effectLst/>
                <a:uLnTx/>
                <a:uFillTx/>
                <a:latin typeface="Segoe UI" panose="020B0502040204020203" pitchFamily="34" charset="0"/>
                <a:ea typeface="+mn-ea"/>
                <a:cs typeface="Segoe UI" panose="020B0502040204020203" pitchFamily="34" charset="0"/>
                <a:sym typeface="Arial"/>
              </a:rPr>
              <a:t>Large Carriers </a:t>
            </a:r>
          </a:p>
        </p:txBody>
      </p:sp>
      <p:sp>
        <p:nvSpPr>
          <p:cNvPr id="121" name="Rounded Rectangle 51">
            <a:extLst>
              <a:ext uri="{FF2B5EF4-FFF2-40B4-BE49-F238E27FC236}">
                <a16:creationId xmlns:a16="http://schemas.microsoft.com/office/drawing/2014/main" id="{04362CDF-C0AD-33B9-343C-8D206875C852}"/>
              </a:ext>
            </a:extLst>
          </p:cNvPr>
          <p:cNvSpPr/>
          <p:nvPr/>
        </p:nvSpPr>
        <p:spPr>
          <a:xfrm>
            <a:off x="3346704" y="4950022"/>
            <a:ext cx="1766620" cy="164592"/>
          </a:xfrm>
          <a:prstGeom prst="roundRect">
            <a:avLst>
              <a:gd name="adj" fmla="val 30000"/>
            </a:avLst>
          </a:prstGeom>
          <a:solidFill>
            <a:srgbClr val="CC3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125" name="Rounded Rectangle 52">
            <a:extLst>
              <a:ext uri="{FF2B5EF4-FFF2-40B4-BE49-F238E27FC236}">
                <a16:creationId xmlns:a16="http://schemas.microsoft.com/office/drawing/2014/main" id="{A776D1DA-4845-89B3-F1F1-CD0034CBA9AA}"/>
              </a:ext>
            </a:extLst>
          </p:cNvPr>
          <p:cNvSpPr/>
          <p:nvPr/>
        </p:nvSpPr>
        <p:spPr>
          <a:xfrm>
            <a:off x="5113324" y="4950022"/>
            <a:ext cx="757123" cy="164592"/>
          </a:xfrm>
          <a:prstGeom prst="roundRect">
            <a:avLst>
              <a:gd name="adj" fmla="val 30000"/>
            </a:avLst>
          </a:prstGeom>
          <a:solidFill>
            <a:srgbClr val="6FBF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131" name="TextBox 130">
            <a:extLst>
              <a:ext uri="{FF2B5EF4-FFF2-40B4-BE49-F238E27FC236}">
                <a16:creationId xmlns:a16="http://schemas.microsoft.com/office/drawing/2014/main" id="{8F286847-A7A6-9A4E-EB6F-CAF24535E962}"/>
              </a:ext>
            </a:extLst>
          </p:cNvPr>
          <p:cNvSpPr txBox="1"/>
          <p:nvPr/>
        </p:nvSpPr>
        <p:spPr>
          <a:xfrm>
            <a:off x="3346704" y="5132902"/>
            <a:ext cx="2560320" cy="138499"/>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kumimoji="0" lang="en-US" sz="900" b="1" i="0" u="none" strike="noStrike" kern="1200" cap="none" spc="0" normalizeH="0" baseline="0" noProof="0">
                <a:ln>
                  <a:noFill/>
                </a:ln>
                <a:solidFill>
                  <a:srgbClr val="CC3300"/>
                </a:solidFill>
                <a:effectLst/>
                <a:uLnTx/>
                <a:uFillTx/>
                <a:latin typeface="Segoe UI" panose="020B0502040204020203" pitchFamily="34" charset="0"/>
                <a:ea typeface="+mn-ea"/>
                <a:cs typeface="Segoe UI" panose="020B0502040204020203" pitchFamily="34" charset="0"/>
                <a:sym typeface="Arial"/>
              </a:rPr>
              <a:t>70% remediating</a:t>
            </a:r>
            <a:r>
              <a:rPr kumimoji="0" lang="en-US" sz="900" b="0" i="0" u="none" strike="noStrike" kern="1200" cap="none" spc="0" normalizeH="0" baseline="0" noProof="0">
                <a:ln>
                  <a:noFill/>
                </a:ln>
                <a:solidFill>
                  <a:srgbClr val="CC3300"/>
                </a:solidFill>
                <a:effectLst/>
                <a:uLnTx/>
                <a:uFillTx/>
                <a:latin typeface="Segoe UI" panose="020B0502040204020203" pitchFamily="34" charset="0"/>
                <a:ea typeface="+mn-ea"/>
                <a:cs typeface="Segoe UI" panose="020B0502040204020203" pitchFamily="34" charset="0"/>
                <a:sym typeface="Arial"/>
              </a:rPr>
              <a:t> </a:t>
            </a:r>
            <a:r>
              <a:rPr kumimoji="0" lang="en-CA" sz="900" b="1" i="0" u="none" strike="noStrike" kern="1200" cap="none" spc="0" normalizeH="0" baseline="0" noProof="0">
                <a:ln>
                  <a:noFill/>
                </a:ln>
                <a:solidFill>
                  <a:prstClr val="black">
                    <a:lumMod val="75000"/>
                    <a:lumOff val="25000"/>
                  </a:prstClr>
                </a:solidFill>
                <a:effectLst/>
                <a:uLnTx/>
                <a:uFillTx/>
                <a:latin typeface="Segoe UI" panose="020B0502040204020203" pitchFamily="34" charset="0"/>
                <a:cs typeface="Segoe UI" panose="020B0502040204020203" pitchFamily="34" charset="0"/>
                <a:sym typeface="Arial"/>
              </a:rPr>
              <a:t>·</a:t>
            </a:r>
            <a:r>
              <a:rPr kumimoji="0" sz="900" b="0" i="0" u="none" strike="noStrike" kern="1200" cap="none" spc="0" normalizeH="0" baseline="0" noProof="0">
                <a:ln>
                  <a:noFill/>
                </a:ln>
                <a:solidFill>
                  <a:srgbClr val="75787B"/>
                </a:solidFill>
                <a:effectLst/>
                <a:uLnTx/>
                <a:uFillTx/>
                <a:latin typeface="Segoe UI" panose="020B0502040204020203" pitchFamily="34" charset="0"/>
                <a:ea typeface="+mn-ea"/>
                <a:cs typeface="Segoe UI" panose="020B0502040204020203" pitchFamily="34" charset="0"/>
                <a:sym typeface="Arial"/>
              </a:rPr>
              <a:t> </a:t>
            </a:r>
            <a:r>
              <a:rPr kumimoji="0" sz="900" b="1" i="0" u="none" strike="noStrike" kern="1200" cap="none" spc="0" normalizeH="0" baseline="0" noProof="0">
                <a:ln>
                  <a:noFill/>
                </a:ln>
                <a:solidFill>
                  <a:srgbClr val="6FBF5A"/>
                </a:solidFill>
                <a:effectLst/>
                <a:uLnTx/>
                <a:uFillTx/>
                <a:latin typeface="Segoe UI" panose="020B0502040204020203" pitchFamily="34" charset="0"/>
                <a:ea typeface="+mn-ea"/>
                <a:cs typeface="Segoe UI" panose="020B0502040204020203" pitchFamily="34" charset="0"/>
                <a:sym typeface="Arial"/>
              </a:rPr>
              <a:t>30% upcoming</a:t>
            </a:r>
          </a:p>
        </p:txBody>
      </p:sp>
      <p:sp>
        <p:nvSpPr>
          <p:cNvPr id="135" name="TextBox 134">
            <a:extLst>
              <a:ext uri="{FF2B5EF4-FFF2-40B4-BE49-F238E27FC236}">
                <a16:creationId xmlns:a16="http://schemas.microsoft.com/office/drawing/2014/main" id="{4826E89B-63FF-4E0E-9F93-5D66FB6641BF}"/>
              </a:ext>
            </a:extLst>
          </p:cNvPr>
          <p:cNvSpPr txBox="1"/>
          <p:nvPr/>
        </p:nvSpPr>
        <p:spPr>
          <a:xfrm>
            <a:off x="3346704" y="5465962"/>
            <a:ext cx="2560320" cy="692497"/>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The divergence is most pronounced in insurance, where 70% of Large Insurance Carriers prioritize investments to  remediation of existing gaps, compared with 33% of Top 50 Global Insurance Carriers.</a:t>
            </a:r>
            <a:endParaRPr kumimoji="0" sz="900" b="0"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endParaRPr>
          </a:p>
        </p:txBody>
      </p:sp>
      <p:grpSp>
        <p:nvGrpSpPr>
          <p:cNvPr id="85" name="Group 84">
            <a:extLst>
              <a:ext uri="{FF2B5EF4-FFF2-40B4-BE49-F238E27FC236}">
                <a16:creationId xmlns:a16="http://schemas.microsoft.com/office/drawing/2014/main" id="{A75582F6-C48A-4AA8-1067-6CCC55B28FED}"/>
              </a:ext>
            </a:extLst>
          </p:cNvPr>
          <p:cNvGrpSpPr/>
          <p:nvPr/>
        </p:nvGrpSpPr>
        <p:grpSpPr>
          <a:xfrm>
            <a:off x="249638" y="464705"/>
            <a:ext cx="11521440" cy="585793"/>
            <a:chOff x="249638" y="464705"/>
            <a:chExt cx="11521440" cy="585793"/>
          </a:xfrm>
        </p:grpSpPr>
        <p:sp>
          <p:nvSpPr>
            <p:cNvPr id="86" name="Text 22">
              <a:extLst>
                <a:ext uri="{FF2B5EF4-FFF2-40B4-BE49-F238E27FC236}">
                  <a16:creationId xmlns:a16="http://schemas.microsoft.com/office/drawing/2014/main" id="{177870FA-3ACD-7332-78B6-4C372F72BFF1}"/>
                </a:ext>
              </a:extLst>
            </p:cNvPr>
            <p:cNvSpPr/>
            <p:nvPr/>
          </p:nvSpPr>
          <p:spPr>
            <a:xfrm>
              <a:off x="249638" y="464705"/>
              <a:ext cx="7847726" cy="232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0" cap="none" spc="80" normalizeH="0" baseline="0" noProof="0">
                  <a:ln>
                    <a:noFill/>
                  </a:ln>
                  <a:solidFill>
                    <a:srgbClr val="4EA72E"/>
                  </a:solidFill>
                  <a:effectLst/>
                  <a:uLnTx/>
                  <a:uFillTx/>
                  <a:latin typeface="Segoe UI" panose="020B0502040204020203" pitchFamily="34" charset="0"/>
                  <a:ea typeface="Arial" pitchFamily="34" charset="-122"/>
                  <a:cs typeface="Segoe UI" panose="020B0502040204020203" pitchFamily="34" charset="0"/>
                  <a:sym typeface="Arial"/>
                </a:rPr>
                <a:t>WHERE INVESTMENT IS GOING</a:t>
              </a:r>
            </a:p>
          </p:txBody>
        </p:sp>
        <p:sp>
          <p:nvSpPr>
            <p:cNvPr id="88" name="TextBox 87">
              <a:extLst>
                <a:ext uri="{FF2B5EF4-FFF2-40B4-BE49-F238E27FC236}">
                  <a16:creationId xmlns:a16="http://schemas.microsoft.com/office/drawing/2014/main" id="{DEBB915B-81C9-357E-9A6C-D4461E320A87}"/>
                </a:ext>
              </a:extLst>
            </p:cNvPr>
            <p:cNvSpPr txBox="1"/>
            <p:nvPr/>
          </p:nvSpPr>
          <p:spPr>
            <a:xfrm>
              <a:off x="249638" y="711944"/>
              <a:ext cx="11521440" cy="338554"/>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kumimoji="0" lang="en-US" sz="2200" b="1" i="0" u="none" strike="noStrike" kern="1200" cap="none" spc="0" normalizeH="0" baseline="0" noProof="0">
                  <a:ln>
                    <a:noFill/>
                  </a:ln>
                  <a:solidFill>
                    <a:srgbClr val="111111"/>
                  </a:solidFill>
                  <a:effectLst/>
                  <a:uLnTx/>
                  <a:uFillTx/>
                  <a:latin typeface="Segoe UI" panose="020B0502040204020203" pitchFamily="34" charset="0"/>
                  <a:cs typeface="Segoe UI" panose="020B0502040204020203" pitchFamily="34" charset="0"/>
                  <a:sym typeface="Arial"/>
                </a:rPr>
                <a:t>Fraud programs prioritize today's compliance gaps over tomorrow's regulation</a:t>
              </a:r>
            </a:p>
          </p:txBody>
        </p:sp>
      </p:grpSp>
      <p:sp>
        <p:nvSpPr>
          <p:cNvPr id="90" name="TextBox 89">
            <a:extLst>
              <a:ext uri="{FF2B5EF4-FFF2-40B4-BE49-F238E27FC236}">
                <a16:creationId xmlns:a16="http://schemas.microsoft.com/office/drawing/2014/main" id="{70A5B6AA-FFFF-C955-3358-27406A79E032}"/>
              </a:ext>
            </a:extLst>
          </p:cNvPr>
          <p:cNvSpPr txBox="1"/>
          <p:nvPr/>
        </p:nvSpPr>
        <p:spPr>
          <a:xfrm>
            <a:off x="320040" y="1155192"/>
            <a:ext cx="11521440" cy="430887"/>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kumimoji="0" lang="en-US" sz="1400" b="0" i="0" u="none" strike="noStrike" kern="1200" cap="none" spc="0" normalizeH="0" baseline="0" noProof="0">
                <a:ln>
                  <a:noFill/>
                </a:ln>
                <a:solidFill>
                  <a:srgbClr val="404040"/>
                </a:solidFill>
                <a:effectLst/>
                <a:uLnTx/>
                <a:uFillTx/>
                <a:latin typeface="Segoe UI" panose="020B0502040204020203" pitchFamily="34" charset="0"/>
                <a:cs typeface="Segoe UI" panose="020B0502040204020203" pitchFamily="34" charset="0"/>
                <a:sym typeface="Arial"/>
              </a:rPr>
              <a:t>Regulation remains a powerful driver of fraud spending: Nearly half (</a:t>
            </a:r>
            <a:r>
              <a:rPr kumimoji="0" lang="en-US" sz="1400" b="1" i="0" u="none" strike="noStrike" kern="1200" cap="none" spc="0" normalizeH="0" baseline="0" noProof="0">
                <a:ln>
                  <a:noFill/>
                </a:ln>
                <a:solidFill>
                  <a:srgbClr val="404040"/>
                </a:solidFill>
                <a:effectLst/>
                <a:uLnTx/>
                <a:uFillTx/>
                <a:latin typeface="Segoe UI" panose="020B0502040204020203" pitchFamily="34" charset="0"/>
                <a:cs typeface="Segoe UI" panose="020B0502040204020203" pitchFamily="34" charset="0"/>
                <a:sym typeface="Arial"/>
              </a:rPr>
              <a:t>48%</a:t>
            </a:r>
            <a:r>
              <a:rPr kumimoji="0" lang="en-US" sz="1400" b="0" i="0" u="none" strike="noStrike" kern="1200" cap="none" spc="0" normalizeH="0" baseline="0" noProof="0">
                <a:ln>
                  <a:noFill/>
                </a:ln>
                <a:solidFill>
                  <a:srgbClr val="404040"/>
                </a:solidFill>
                <a:effectLst/>
                <a:uLnTx/>
                <a:uFillTx/>
                <a:latin typeface="Segoe UI" panose="020B0502040204020203" pitchFamily="34" charset="0"/>
                <a:cs typeface="Segoe UI" panose="020B0502040204020203" pitchFamily="34" charset="0"/>
                <a:sym typeface="Arial"/>
              </a:rPr>
              <a:t>) are investing mainly to remediate existing compliance and control gaps, compared with </a:t>
            </a:r>
            <a:r>
              <a:rPr kumimoji="0" lang="en-US" sz="1400" b="1" i="0" u="none" strike="noStrike" kern="1200" cap="none" spc="0" normalizeH="0" baseline="0" noProof="0">
                <a:ln>
                  <a:noFill/>
                </a:ln>
                <a:solidFill>
                  <a:srgbClr val="404040"/>
                </a:solidFill>
                <a:effectLst/>
                <a:uLnTx/>
                <a:uFillTx/>
                <a:latin typeface="Segoe UI" panose="020B0502040204020203" pitchFamily="34" charset="0"/>
                <a:cs typeface="Segoe UI" panose="020B0502040204020203" pitchFamily="34" charset="0"/>
                <a:sym typeface="Arial"/>
              </a:rPr>
              <a:t>39%</a:t>
            </a:r>
            <a:r>
              <a:rPr kumimoji="0" lang="en-US" sz="1400" b="0" i="0" u="none" strike="noStrike" kern="1200" cap="none" spc="0" normalizeH="0" baseline="0" noProof="0">
                <a:ln>
                  <a:noFill/>
                </a:ln>
                <a:solidFill>
                  <a:srgbClr val="404040"/>
                </a:solidFill>
                <a:effectLst/>
                <a:uLnTx/>
                <a:uFillTx/>
                <a:latin typeface="Segoe UI" panose="020B0502040204020203" pitchFamily="34" charset="0"/>
                <a:cs typeface="Segoe UI" panose="020B0502040204020203" pitchFamily="34" charset="0"/>
                <a:sym typeface="Arial"/>
              </a:rPr>
              <a:t> investing ahead of upcoming and draft regulations. How organizations split depends heavily on their size and jurisdiction.</a:t>
            </a:r>
          </a:p>
        </p:txBody>
      </p:sp>
      <p:sp>
        <p:nvSpPr>
          <p:cNvPr id="7" name="Rectangle 6">
            <a:extLst>
              <a:ext uri="{FF2B5EF4-FFF2-40B4-BE49-F238E27FC236}">
                <a16:creationId xmlns:a16="http://schemas.microsoft.com/office/drawing/2014/main" id="{C9BC499B-EF51-8195-3EF5-13B813501B4D}"/>
              </a:ext>
            </a:extLst>
          </p:cNvPr>
          <p:cNvSpPr/>
          <p:nvPr/>
        </p:nvSpPr>
        <p:spPr>
          <a:xfrm>
            <a:off x="208221" y="6680947"/>
            <a:ext cx="2769649" cy="11694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marL="0" marR="0" lvl="0" indent="0" algn="just" defTabSz="914400" rtl="0" eaLnBrk="1" fontAlgn="auto" latinLnBrk="0" hangingPunct="1">
              <a:lnSpc>
                <a:spcPct val="100000"/>
              </a:lnSpc>
              <a:spcBef>
                <a:spcPts val="0"/>
              </a:spcBef>
              <a:spcAft>
                <a:spcPts val="0"/>
              </a:spcAft>
              <a:buClrTx/>
              <a:buSzTx/>
              <a:buFont typeface="Arial"/>
              <a:buNone/>
              <a:tabLst/>
              <a:defRPr/>
            </a:pPr>
            <a:r>
              <a:rPr kumimoji="0" lang="en-US" sz="800" b="0" i="0" u="none" strike="noStrike" kern="1200" cap="none" spc="0" normalizeH="0" baseline="0" noProof="0">
                <a:ln>
                  <a:noFill/>
                </a:ln>
                <a:solidFill>
                  <a:srgbClr val="000000">
                    <a:lumMod val="75000"/>
                    <a:lumOff val="25000"/>
                  </a:srgbClr>
                </a:solidFill>
                <a:effectLst/>
                <a:uLnTx/>
                <a:uFillTx/>
                <a:latin typeface="Segoe UI" panose="020B0502040204020203" pitchFamily="34" charset="0"/>
                <a:ea typeface="Open Sans" panose="020B0606030504020204" pitchFamily="34" charset="0"/>
                <a:cs typeface="Segoe UI" panose="020B0502040204020203" pitchFamily="34" charset="0"/>
                <a:sym typeface="Arial"/>
              </a:rPr>
              <a:t>For detailed data please refer to </a:t>
            </a:r>
            <a:r>
              <a:rPr kumimoji="0" lang="en-US" sz="800" b="0" i="0" u="none" strike="noStrike" kern="1200" cap="none" spc="0" normalizeH="0" baseline="0" noProof="0">
                <a:ln>
                  <a:noFill/>
                </a:ln>
                <a:solidFill>
                  <a:srgbClr val="000000">
                    <a:lumMod val="75000"/>
                    <a:lumOff val="25000"/>
                  </a:srgbClr>
                </a:solidFill>
                <a:effectLst/>
                <a:uLnTx/>
                <a:uFillTx/>
                <a:latin typeface="Segoe UI" panose="020B0502040204020203" pitchFamily="34" charset="0"/>
                <a:ea typeface="Open Sans" panose="020B0606030504020204" pitchFamily="34" charset="0"/>
                <a:cs typeface="Segoe UI" panose="020B0502040204020203" pitchFamily="34" charset="0"/>
                <a:sym typeface="Arial"/>
                <a:hlinkClick r:id="" action="ppaction://noaction"/>
              </a:rPr>
              <a:t>Appendix – E </a:t>
            </a:r>
            <a:endParaRPr kumimoji="0" lang="en-US" sz="800" b="0" i="0" u="none" strike="noStrike" kern="1200" cap="none" spc="0" normalizeH="0" baseline="0" noProof="0">
              <a:ln>
                <a:noFill/>
              </a:ln>
              <a:solidFill>
                <a:srgbClr val="000000">
                  <a:lumMod val="75000"/>
                  <a:lumOff val="25000"/>
                </a:srgbClr>
              </a:solidFill>
              <a:effectLst/>
              <a:uLnTx/>
              <a:uFillTx/>
              <a:latin typeface="Segoe UI" panose="020B0502040204020203" pitchFamily="34" charset="0"/>
              <a:ea typeface="Open Sans" panose="020B0606030504020204" pitchFamily="34" charset="0"/>
              <a:cs typeface="Segoe UI" panose="020B0502040204020203" pitchFamily="34" charset="0"/>
              <a:sym typeface="Arial"/>
            </a:endParaRPr>
          </a:p>
        </p:txBody>
      </p:sp>
      <p:sp>
        <p:nvSpPr>
          <p:cNvPr id="84" name="TextBox 83">
            <a:extLst>
              <a:ext uri="{FF2B5EF4-FFF2-40B4-BE49-F238E27FC236}">
                <a16:creationId xmlns:a16="http://schemas.microsoft.com/office/drawing/2014/main" id="{6CD6A1FD-D2B5-936A-55E1-990105715E81}"/>
              </a:ext>
            </a:extLst>
          </p:cNvPr>
          <p:cNvSpPr txBox="1"/>
          <p:nvPr/>
        </p:nvSpPr>
        <p:spPr>
          <a:xfrm>
            <a:off x="6199632" y="2956648"/>
            <a:ext cx="5669280" cy="230832"/>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sym typeface="Arial"/>
              </a:rPr>
              <a:t>REGIONAL DIFFERENCES IN INVESTMENT FOCUS</a:t>
            </a:r>
            <a:endParaRPr kumimoji="0" sz="15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sym typeface="Arial"/>
            </a:endParaRPr>
          </a:p>
        </p:txBody>
      </p:sp>
      <p:sp>
        <p:nvSpPr>
          <p:cNvPr id="89" name="Rounded Rectangle 56">
            <a:extLst>
              <a:ext uri="{FF2B5EF4-FFF2-40B4-BE49-F238E27FC236}">
                <a16:creationId xmlns:a16="http://schemas.microsoft.com/office/drawing/2014/main" id="{AC4A3BE3-4C47-2874-3D26-5142108F623B}"/>
              </a:ext>
            </a:extLst>
          </p:cNvPr>
          <p:cNvSpPr/>
          <p:nvPr/>
        </p:nvSpPr>
        <p:spPr>
          <a:xfrm>
            <a:off x="8732520" y="3418494"/>
            <a:ext cx="118872" cy="118872"/>
          </a:xfrm>
          <a:prstGeom prst="roundRect">
            <a:avLst>
              <a:gd name="adj" fmla="val 50000"/>
            </a:avLst>
          </a:prstGeom>
          <a:solidFill>
            <a:srgbClr val="CC3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92" name="TextBox 91">
            <a:extLst>
              <a:ext uri="{FF2B5EF4-FFF2-40B4-BE49-F238E27FC236}">
                <a16:creationId xmlns:a16="http://schemas.microsoft.com/office/drawing/2014/main" id="{43BB945E-BB9B-C29D-06F8-0BC0735D8B66}"/>
              </a:ext>
            </a:extLst>
          </p:cNvPr>
          <p:cNvSpPr txBox="1"/>
          <p:nvPr/>
        </p:nvSpPr>
        <p:spPr>
          <a:xfrm>
            <a:off x="8897112" y="3404108"/>
            <a:ext cx="1024128" cy="138499"/>
          </a:xfrm>
          <a:prstGeom prst="rect">
            <a:avLst/>
          </a:prstGeom>
          <a:noFill/>
          <a:ln/>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Remediation-led</a:t>
            </a:r>
          </a:p>
        </p:txBody>
      </p:sp>
      <p:sp>
        <p:nvSpPr>
          <p:cNvPr id="93" name="Rounded Rectangle 58">
            <a:extLst>
              <a:ext uri="{FF2B5EF4-FFF2-40B4-BE49-F238E27FC236}">
                <a16:creationId xmlns:a16="http://schemas.microsoft.com/office/drawing/2014/main" id="{85166313-735B-01F3-B204-54E7FFC5F79B}"/>
              </a:ext>
            </a:extLst>
          </p:cNvPr>
          <p:cNvSpPr/>
          <p:nvPr/>
        </p:nvSpPr>
        <p:spPr>
          <a:xfrm>
            <a:off x="9921240" y="3418494"/>
            <a:ext cx="118872" cy="118872"/>
          </a:xfrm>
          <a:prstGeom prst="roundRect">
            <a:avLst>
              <a:gd name="adj" fmla="val 50000"/>
            </a:avLst>
          </a:prstGeom>
          <a:solidFill>
            <a:srgbClr val="6FBF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95" name="TextBox 94">
            <a:extLst>
              <a:ext uri="{FF2B5EF4-FFF2-40B4-BE49-F238E27FC236}">
                <a16:creationId xmlns:a16="http://schemas.microsoft.com/office/drawing/2014/main" id="{EDB698EB-2EF4-5D7C-F768-52A8B83D5758}"/>
              </a:ext>
            </a:extLst>
          </p:cNvPr>
          <p:cNvSpPr txBox="1"/>
          <p:nvPr/>
        </p:nvSpPr>
        <p:spPr>
          <a:xfrm>
            <a:off x="10085832" y="3404108"/>
            <a:ext cx="1024128" cy="138499"/>
          </a:xfrm>
          <a:prstGeom prst="rect">
            <a:avLst/>
          </a:prstGeom>
          <a:noFill/>
          <a:ln/>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Forward-looking</a:t>
            </a:r>
          </a:p>
        </p:txBody>
      </p:sp>
      <p:sp>
        <p:nvSpPr>
          <p:cNvPr id="96" name="Rounded Rectangle 60">
            <a:extLst>
              <a:ext uri="{FF2B5EF4-FFF2-40B4-BE49-F238E27FC236}">
                <a16:creationId xmlns:a16="http://schemas.microsoft.com/office/drawing/2014/main" id="{E14C3506-87D4-B5EE-43B6-60396B5FF6F8}"/>
              </a:ext>
            </a:extLst>
          </p:cNvPr>
          <p:cNvSpPr/>
          <p:nvPr/>
        </p:nvSpPr>
        <p:spPr>
          <a:xfrm>
            <a:off x="11109960" y="3418494"/>
            <a:ext cx="118872" cy="118872"/>
          </a:xfrm>
          <a:prstGeom prst="roundRect">
            <a:avLst>
              <a:gd name="adj" fmla="val 50000"/>
            </a:avLst>
          </a:prstGeom>
          <a:solidFill>
            <a:srgbClr val="8A8D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98" name="TextBox 97">
            <a:extLst>
              <a:ext uri="{FF2B5EF4-FFF2-40B4-BE49-F238E27FC236}">
                <a16:creationId xmlns:a16="http://schemas.microsoft.com/office/drawing/2014/main" id="{1A2DEFFF-9967-2933-A3F7-4CA44B3497AB}"/>
              </a:ext>
            </a:extLst>
          </p:cNvPr>
          <p:cNvSpPr txBox="1"/>
          <p:nvPr/>
        </p:nvSpPr>
        <p:spPr>
          <a:xfrm>
            <a:off x="11274552" y="3404108"/>
            <a:ext cx="777240" cy="138499"/>
          </a:xfrm>
          <a:prstGeom prst="rect">
            <a:avLst/>
          </a:prstGeom>
          <a:noFill/>
          <a:ln/>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Evenly split</a:t>
            </a:r>
          </a:p>
        </p:txBody>
      </p:sp>
      <p:pic>
        <p:nvPicPr>
          <p:cNvPr id="99" name="Picture 98" descr="worldmap.png">
            <a:extLst>
              <a:ext uri="{FF2B5EF4-FFF2-40B4-BE49-F238E27FC236}">
                <a16:creationId xmlns:a16="http://schemas.microsoft.com/office/drawing/2014/main" id="{C76FD326-DD6B-FDE9-3B4E-0FCF09CA0F80}"/>
              </a:ext>
            </a:extLst>
          </p:cNvPr>
          <p:cNvPicPr>
            <a:picLocks noChangeAspect="1"/>
          </p:cNvPicPr>
          <p:nvPr/>
        </p:nvPicPr>
        <p:blipFill>
          <a:blip r:embed="rId8"/>
          <a:stretch>
            <a:fillRect/>
          </a:stretch>
        </p:blipFill>
        <p:spPr>
          <a:xfrm>
            <a:off x="6199632" y="3802542"/>
            <a:ext cx="5669280" cy="2258568"/>
          </a:xfrm>
          <a:prstGeom prst="rect">
            <a:avLst/>
          </a:prstGeom>
        </p:spPr>
      </p:pic>
      <p:sp>
        <p:nvSpPr>
          <p:cNvPr id="100" name="Rounded Rectangle 63">
            <a:extLst>
              <a:ext uri="{FF2B5EF4-FFF2-40B4-BE49-F238E27FC236}">
                <a16:creationId xmlns:a16="http://schemas.microsoft.com/office/drawing/2014/main" id="{2FF9C98C-1B69-CEAF-5A97-156E6EF4AEF0}"/>
              </a:ext>
            </a:extLst>
          </p:cNvPr>
          <p:cNvSpPr/>
          <p:nvPr/>
        </p:nvSpPr>
        <p:spPr>
          <a:xfrm>
            <a:off x="7377176" y="4066702"/>
            <a:ext cx="164592" cy="164592"/>
          </a:xfrm>
          <a:prstGeom prst="roundRect">
            <a:avLst>
              <a:gd name="adj" fmla="val 50000"/>
            </a:avLst>
          </a:prstGeom>
          <a:solidFill>
            <a:srgbClr val="FFFFFF"/>
          </a:solidFill>
          <a:ln w="31750">
            <a:solidFill>
              <a:srgbClr val="CC33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102" name="Rounded Rectangle 64">
            <a:extLst>
              <a:ext uri="{FF2B5EF4-FFF2-40B4-BE49-F238E27FC236}">
                <a16:creationId xmlns:a16="http://schemas.microsoft.com/office/drawing/2014/main" id="{F358A262-F7F1-9B26-9172-DFA117583857}"/>
              </a:ext>
            </a:extLst>
          </p:cNvPr>
          <p:cNvSpPr/>
          <p:nvPr/>
        </p:nvSpPr>
        <p:spPr>
          <a:xfrm>
            <a:off x="7427468" y="4116994"/>
            <a:ext cx="64008" cy="64008"/>
          </a:xfrm>
          <a:prstGeom prst="roundRect">
            <a:avLst>
              <a:gd name="adj" fmla="val 50000"/>
            </a:avLst>
          </a:prstGeom>
          <a:solidFill>
            <a:srgbClr val="CC3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103" name="Rounded Rectangle 65">
            <a:extLst>
              <a:ext uri="{FF2B5EF4-FFF2-40B4-BE49-F238E27FC236}">
                <a16:creationId xmlns:a16="http://schemas.microsoft.com/office/drawing/2014/main" id="{87207E75-163B-222F-3345-2537483F190B}"/>
              </a:ext>
            </a:extLst>
          </p:cNvPr>
          <p:cNvSpPr/>
          <p:nvPr/>
        </p:nvSpPr>
        <p:spPr>
          <a:xfrm>
            <a:off x="7408672" y="4365914"/>
            <a:ext cx="164592" cy="164592"/>
          </a:xfrm>
          <a:prstGeom prst="roundRect">
            <a:avLst>
              <a:gd name="adj" fmla="val 50000"/>
            </a:avLst>
          </a:prstGeom>
          <a:solidFill>
            <a:srgbClr val="FFFFFF"/>
          </a:solidFill>
          <a:ln w="31750">
            <a:solidFill>
              <a:srgbClr val="8A8D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104" name="Rounded Rectangle 66">
            <a:extLst>
              <a:ext uri="{FF2B5EF4-FFF2-40B4-BE49-F238E27FC236}">
                <a16:creationId xmlns:a16="http://schemas.microsoft.com/office/drawing/2014/main" id="{F8E09CF6-1C54-D3CF-8804-BFFC150B6A04}"/>
              </a:ext>
            </a:extLst>
          </p:cNvPr>
          <p:cNvSpPr/>
          <p:nvPr/>
        </p:nvSpPr>
        <p:spPr>
          <a:xfrm>
            <a:off x="7458964" y="4416206"/>
            <a:ext cx="64008" cy="64008"/>
          </a:xfrm>
          <a:prstGeom prst="roundRect">
            <a:avLst>
              <a:gd name="adj" fmla="val 50000"/>
            </a:avLst>
          </a:prstGeom>
          <a:solidFill>
            <a:srgbClr val="8A8D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106" name="Rounded Rectangle 67">
            <a:extLst>
              <a:ext uri="{FF2B5EF4-FFF2-40B4-BE49-F238E27FC236}">
                <a16:creationId xmlns:a16="http://schemas.microsoft.com/office/drawing/2014/main" id="{9A725818-B7BC-ABC3-8195-C2BD660CC3FE}"/>
              </a:ext>
            </a:extLst>
          </p:cNvPr>
          <p:cNvSpPr/>
          <p:nvPr/>
        </p:nvSpPr>
        <p:spPr>
          <a:xfrm>
            <a:off x="9077960" y="4192686"/>
            <a:ext cx="164592" cy="164592"/>
          </a:xfrm>
          <a:prstGeom prst="roundRect">
            <a:avLst>
              <a:gd name="adj" fmla="val 50000"/>
            </a:avLst>
          </a:prstGeom>
          <a:solidFill>
            <a:srgbClr val="FFFFFF"/>
          </a:solidFill>
          <a:ln w="31750">
            <a:solidFill>
              <a:srgbClr val="6FBF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107" name="Rounded Rectangle 68">
            <a:extLst>
              <a:ext uri="{FF2B5EF4-FFF2-40B4-BE49-F238E27FC236}">
                <a16:creationId xmlns:a16="http://schemas.microsoft.com/office/drawing/2014/main" id="{51AC15B9-E86D-FD6F-A419-537322AD1FEA}"/>
              </a:ext>
            </a:extLst>
          </p:cNvPr>
          <p:cNvSpPr/>
          <p:nvPr/>
        </p:nvSpPr>
        <p:spPr>
          <a:xfrm>
            <a:off x="9128252" y="4242978"/>
            <a:ext cx="64008" cy="64008"/>
          </a:xfrm>
          <a:prstGeom prst="roundRect">
            <a:avLst>
              <a:gd name="adj" fmla="val 50000"/>
            </a:avLst>
          </a:prstGeom>
          <a:solidFill>
            <a:srgbClr val="6FBF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108" name="Rounded Rectangle 69">
            <a:extLst>
              <a:ext uri="{FF2B5EF4-FFF2-40B4-BE49-F238E27FC236}">
                <a16:creationId xmlns:a16="http://schemas.microsoft.com/office/drawing/2014/main" id="{A68ABFFD-632B-89E3-D900-16A9E1811728}"/>
              </a:ext>
            </a:extLst>
          </p:cNvPr>
          <p:cNvSpPr/>
          <p:nvPr/>
        </p:nvSpPr>
        <p:spPr>
          <a:xfrm>
            <a:off x="10586618" y="4958826"/>
            <a:ext cx="164592" cy="164592"/>
          </a:xfrm>
          <a:prstGeom prst="roundRect">
            <a:avLst>
              <a:gd name="adj" fmla="val 50000"/>
            </a:avLst>
          </a:prstGeom>
          <a:solidFill>
            <a:srgbClr val="FFFFFF"/>
          </a:solidFill>
          <a:ln w="31750">
            <a:solidFill>
              <a:srgbClr val="6FBF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110" name="Rounded Rectangle 70">
            <a:extLst>
              <a:ext uri="{FF2B5EF4-FFF2-40B4-BE49-F238E27FC236}">
                <a16:creationId xmlns:a16="http://schemas.microsoft.com/office/drawing/2014/main" id="{D03808F7-6698-DB05-3D24-E3CF31A60A92}"/>
              </a:ext>
            </a:extLst>
          </p:cNvPr>
          <p:cNvSpPr/>
          <p:nvPr/>
        </p:nvSpPr>
        <p:spPr>
          <a:xfrm>
            <a:off x="10636910" y="5009118"/>
            <a:ext cx="64008" cy="64008"/>
          </a:xfrm>
          <a:prstGeom prst="roundRect">
            <a:avLst>
              <a:gd name="adj" fmla="val 50000"/>
            </a:avLst>
          </a:prstGeom>
          <a:solidFill>
            <a:srgbClr val="6FBF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112" name="Rounded Rectangle 71">
            <a:extLst>
              <a:ext uri="{FF2B5EF4-FFF2-40B4-BE49-F238E27FC236}">
                <a16:creationId xmlns:a16="http://schemas.microsoft.com/office/drawing/2014/main" id="{45867D1C-0B2A-1924-B42C-96A82063C9A6}"/>
              </a:ext>
            </a:extLst>
          </p:cNvPr>
          <p:cNvSpPr/>
          <p:nvPr/>
        </p:nvSpPr>
        <p:spPr>
          <a:xfrm>
            <a:off x="11062208" y="5373786"/>
            <a:ext cx="164592" cy="164592"/>
          </a:xfrm>
          <a:prstGeom prst="roundRect">
            <a:avLst>
              <a:gd name="adj" fmla="val 50000"/>
            </a:avLst>
          </a:prstGeom>
          <a:solidFill>
            <a:srgbClr val="FFFFFF"/>
          </a:solidFill>
          <a:ln w="31750">
            <a:solidFill>
              <a:srgbClr val="CC33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114" name="Rounded Rectangle 72">
            <a:extLst>
              <a:ext uri="{FF2B5EF4-FFF2-40B4-BE49-F238E27FC236}">
                <a16:creationId xmlns:a16="http://schemas.microsoft.com/office/drawing/2014/main" id="{DABC61B4-A8C4-699E-8447-BE315EF52E87}"/>
              </a:ext>
            </a:extLst>
          </p:cNvPr>
          <p:cNvSpPr/>
          <p:nvPr/>
        </p:nvSpPr>
        <p:spPr>
          <a:xfrm>
            <a:off x="11112500" y="5424078"/>
            <a:ext cx="64008" cy="64008"/>
          </a:xfrm>
          <a:prstGeom prst="roundRect">
            <a:avLst>
              <a:gd name="adj" fmla="val 50000"/>
            </a:avLst>
          </a:prstGeom>
          <a:solidFill>
            <a:srgbClr val="CC3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cxnSp>
        <p:nvCxnSpPr>
          <p:cNvPr id="115" name="Connector 73">
            <a:extLst>
              <a:ext uri="{FF2B5EF4-FFF2-40B4-BE49-F238E27FC236}">
                <a16:creationId xmlns:a16="http://schemas.microsoft.com/office/drawing/2014/main" id="{0AE1A628-7318-9AFD-61C1-3170DE07DBB4}"/>
              </a:ext>
            </a:extLst>
          </p:cNvPr>
          <p:cNvCxnSpPr/>
          <p:nvPr/>
        </p:nvCxnSpPr>
        <p:spPr>
          <a:xfrm>
            <a:off x="7459472" y="4049430"/>
            <a:ext cx="0" cy="99568"/>
          </a:xfrm>
          <a:prstGeom prst="line">
            <a:avLst/>
          </a:prstGeom>
          <a:ln w="15875">
            <a:solidFill>
              <a:srgbClr val="CC3300"/>
            </a:solidFill>
          </a:ln>
        </p:spPr>
        <p:style>
          <a:lnRef idx="2">
            <a:schemeClr val="accent1"/>
          </a:lnRef>
          <a:fillRef idx="0">
            <a:schemeClr val="accent1"/>
          </a:fillRef>
          <a:effectRef idx="1">
            <a:schemeClr val="accent1"/>
          </a:effectRef>
          <a:fontRef idx="minor">
            <a:schemeClr val="tx1"/>
          </a:fontRef>
        </p:style>
      </p:cxnSp>
      <p:sp>
        <p:nvSpPr>
          <p:cNvPr id="116" name="Rounded Rectangle 74">
            <a:extLst>
              <a:ext uri="{FF2B5EF4-FFF2-40B4-BE49-F238E27FC236}">
                <a16:creationId xmlns:a16="http://schemas.microsoft.com/office/drawing/2014/main" id="{7DA22549-B935-7069-0E05-D622C48EA5F7}"/>
              </a:ext>
            </a:extLst>
          </p:cNvPr>
          <p:cNvSpPr/>
          <p:nvPr/>
        </p:nvSpPr>
        <p:spPr>
          <a:xfrm>
            <a:off x="6263640" y="3628806"/>
            <a:ext cx="1371600" cy="420624"/>
          </a:xfrm>
          <a:prstGeom prst="roundRect">
            <a:avLst>
              <a:gd name="adj" fmla="val 12000"/>
            </a:avLst>
          </a:prstGeom>
          <a:solidFill>
            <a:srgbClr val="FFFFFF"/>
          </a:solidFill>
          <a:ln w="15875">
            <a:solidFill>
              <a:srgbClr val="CC33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pic>
        <p:nvPicPr>
          <p:cNvPr id="118" name="Picture 117" descr="ca.png">
            <a:extLst>
              <a:ext uri="{FF2B5EF4-FFF2-40B4-BE49-F238E27FC236}">
                <a16:creationId xmlns:a16="http://schemas.microsoft.com/office/drawing/2014/main" id="{256C9CB9-0BEB-A906-F37B-66E6F1AB9242}"/>
              </a:ext>
            </a:extLst>
          </p:cNvPr>
          <p:cNvPicPr>
            <a:picLocks noChangeAspect="1"/>
          </p:cNvPicPr>
          <p:nvPr/>
        </p:nvPicPr>
        <p:blipFill>
          <a:blip r:embed="rId9"/>
          <a:stretch>
            <a:fillRect/>
          </a:stretch>
        </p:blipFill>
        <p:spPr>
          <a:xfrm>
            <a:off x="6336792" y="3692814"/>
            <a:ext cx="233172" cy="155448"/>
          </a:xfrm>
          <a:prstGeom prst="roundRect">
            <a:avLst/>
          </a:prstGeom>
          <a:ln w="6350">
            <a:solidFill>
              <a:srgbClr val="D0D0CE"/>
            </a:solidFill>
          </a:ln>
        </p:spPr>
      </p:pic>
      <p:sp>
        <p:nvSpPr>
          <p:cNvPr id="119" name="TextBox 118">
            <a:extLst>
              <a:ext uri="{FF2B5EF4-FFF2-40B4-BE49-F238E27FC236}">
                <a16:creationId xmlns:a16="http://schemas.microsoft.com/office/drawing/2014/main" id="{F3086939-1BBA-5680-885E-747E6BF85E05}"/>
              </a:ext>
            </a:extLst>
          </p:cNvPr>
          <p:cNvSpPr txBox="1"/>
          <p:nvPr/>
        </p:nvSpPr>
        <p:spPr>
          <a:xfrm>
            <a:off x="6624827" y="3689022"/>
            <a:ext cx="982980" cy="153888"/>
          </a:xfrm>
          <a:prstGeom prst="rect">
            <a:avLst/>
          </a:prstGeom>
          <a:noFill/>
          <a:ln/>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sym typeface="Arial"/>
              </a:rPr>
              <a:t>Canad</a:t>
            </a:r>
            <a:r>
              <a:rPr kumimoji="0" lang="en-US" sz="1000" b="1"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sym typeface="Arial"/>
              </a:rPr>
              <a:t>a</a:t>
            </a:r>
            <a:endParaRPr kumimoji="0" sz="1000" b="0" i="0" u="none" strike="noStrike" kern="1200" cap="none" spc="0" normalizeH="0" baseline="0" noProof="0">
              <a:ln>
                <a:noFill/>
              </a:ln>
              <a:solidFill>
                <a:srgbClr val="75787B"/>
              </a:solidFill>
              <a:effectLst/>
              <a:uLnTx/>
              <a:uFillTx/>
              <a:latin typeface="Segoe UI" panose="020B0502040204020203" pitchFamily="34" charset="0"/>
              <a:ea typeface="+mn-ea"/>
              <a:cs typeface="Segoe UI" panose="020B0502040204020203" pitchFamily="34" charset="0"/>
              <a:sym typeface="Arial"/>
            </a:endParaRPr>
          </a:p>
        </p:txBody>
      </p:sp>
      <p:sp>
        <p:nvSpPr>
          <p:cNvPr id="120" name="TextBox 119">
            <a:extLst>
              <a:ext uri="{FF2B5EF4-FFF2-40B4-BE49-F238E27FC236}">
                <a16:creationId xmlns:a16="http://schemas.microsoft.com/office/drawing/2014/main" id="{55755B18-91B5-356E-4528-1595265A7519}"/>
              </a:ext>
            </a:extLst>
          </p:cNvPr>
          <p:cNvSpPr txBox="1"/>
          <p:nvPr/>
        </p:nvSpPr>
        <p:spPr>
          <a:xfrm>
            <a:off x="6316914" y="3873145"/>
            <a:ext cx="1340330" cy="138499"/>
          </a:xfrm>
          <a:prstGeom prst="rect">
            <a:avLst/>
          </a:prstGeom>
          <a:noFill/>
          <a:ln/>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CC3300"/>
                </a:solidFill>
                <a:effectLst/>
                <a:uLnTx/>
                <a:uFillTx/>
                <a:latin typeface="Segoe UI" panose="020B0502040204020203" pitchFamily="34" charset="0"/>
                <a:ea typeface="+mn-ea"/>
                <a:cs typeface="Segoe UI" panose="020B0502040204020203" pitchFamily="34" charset="0"/>
                <a:sym typeface="Arial"/>
              </a:rPr>
              <a:t>63%</a:t>
            </a:r>
            <a:r>
              <a:rPr kumimoji="0" sz="900" b="0" i="0" u="none" strike="noStrike" kern="1200" cap="none" spc="0" normalizeH="0" baseline="0" noProof="0">
                <a:ln>
                  <a:noFill/>
                </a:ln>
                <a:solidFill>
                  <a:srgbClr val="404040"/>
                </a:solidFill>
                <a:effectLst/>
                <a:uLnTx/>
                <a:uFillTx/>
                <a:latin typeface="Segoe UI" panose="020B0502040204020203" pitchFamily="34" charset="0"/>
                <a:ea typeface="+mn-ea"/>
                <a:cs typeface="Segoe UI" panose="020B0502040204020203" pitchFamily="34" charset="0"/>
                <a:sym typeface="Arial"/>
              </a:rPr>
              <a:t>  remediating</a:t>
            </a:r>
          </a:p>
        </p:txBody>
      </p:sp>
      <p:cxnSp>
        <p:nvCxnSpPr>
          <p:cNvPr id="122" name="Connector 78">
            <a:extLst>
              <a:ext uri="{FF2B5EF4-FFF2-40B4-BE49-F238E27FC236}">
                <a16:creationId xmlns:a16="http://schemas.microsoft.com/office/drawing/2014/main" id="{C449ACC9-967B-2CF6-B084-E22C98A0C85F}"/>
              </a:ext>
            </a:extLst>
          </p:cNvPr>
          <p:cNvCxnSpPr/>
          <p:nvPr/>
        </p:nvCxnSpPr>
        <p:spPr>
          <a:xfrm flipV="1">
            <a:off x="7490968" y="4448210"/>
            <a:ext cx="0" cy="424180"/>
          </a:xfrm>
          <a:prstGeom prst="line">
            <a:avLst/>
          </a:prstGeom>
          <a:ln w="15875">
            <a:solidFill>
              <a:srgbClr val="8A8D90"/>
            </a:solidFill>
          </a:ln>
        </p:spPr>
        <p:style>
          <a:lnRef idx="2">
            <a:schemeClr val="accent1"/>
          </a:lnRef>
          <a:fillRef idx="0">
            <a:schemeClr val="accent1"/>
          </a:fillRef>
          <a:effectRef idx="1">
            <a:schemeClr val="accent1"/>
          </a:effectRef>
          <a:fontRef idx="minor">
            <a:schemeClr val="tx1"/>
          </a:fontRef>
        </p:style>
      </p:cxnSp>
      <p:sp>
        <p:nvSpPr>
          <p:cNvPr id="123" name="Rounded Rectangle 79">
            <a:extLst>
              <a:ext uri="{FF2B5EF4-FFF2-40B4-BE49-F238E27FC236}">
                <a16:creationId xmlns:a16="http://schemas.microsoft.com/office/drawing/2014/main" id="{8CBB12DC-9D3D-3ECB-FF34-D25E665183E3}"/>
              </a:ext>
            </a:extLst>
          </p:cNvPr>
          <p:cNvSpPr/>
          <p:nvPr/>
        </p:nvSpPr>
        <p:spPr>
          <a:xfrm>
            <a:off x="6263640" y="4872390"/>
            <a:ext cx="2001992" cy="420624"/>
          </a:xfrm>
          <a:prstGeom prst="roundRect">
            <a:avLst>
              <a:gd name="adj" fmla="val 12000"/>
            </a:avLst>
          </a:prstGeom>
          <a:solidFill>
            <a:srgbClr val="FFFFFF"/>
          </a:solidFill>
          <a:ln w="15875">
            <a:solidFill>
              <a:srgbClr val="8A8D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pic>
        <p:nvPicPr>
          <p:cNvPr id="124" name="Picture 123" descr="us.png">
            <a:extLst>
              <a:ext uri="{FF2B5EF4-FFF2-40B4-BE49-F238E27FC236}">
                <a16:creationId xmlns:a16="http://schemas.microsoft.com/office/drawing/2014/main" id="{42DE2EC9-9524-E4DC-E2D5-DD62BD74DBAE}"/>
              </a:ext>
            </a:extLst>
          </p:cNvPr>
          <p:cNvPicPr>
            <a:picLocks noChangeAspect="1"/>
          </p:cNvPicPr>
          <p:nvPr/>
        </p:nvPicPr>
        <p:blipFill>
          <a:blip r:embed="rId10"/>
          <a:stretch>
            <a:fillRect/>
          </a:stretch>
        </p:blipFill>
        <p:spPr>
          <a:xfrm>
            <a:off x="6336792" y="4936398"/>
            <a:ext cx="233172" cy="155448"/>
          </a:xfrm>
          <a:prstGeom prst="roundRect">
            <a:avLst/>
          </a:prstGeom>
          <a:ln w="6350">
            <a:solidFill>
              <a:srgbClr val="D0D0CE"/>
            </a:solidFill>
          </a:ln>
        </p:spPr>
      </p:pic>
      <p:sp>
        <p:nvSpPr>
          <p:cNvPr id="126" name="TextBox 125">
            <a:extLst>
              <a:ext uri="{FF2B5EF4-FFF2-40B4-BE49-F238E27FC236}">
                <a16:creationId xmlns:a16="http://schemas.microsoft.com/office/drawing/2014/main" id="{6366FF55-3A21-7252-26C2-EF4EE6D89CB6}"/>
              </a:ext>
            </a:extLst>
          </p:cNvPr>
          <p:cNvSpPr txBox="1"/>
          <p:nvPr/>
        </p:nvSpPr>
        <p:spPr>
          <a:xfrm>
            <a:off x="6624827" y="4932605"/>
            <a:ext cx="1485899" cy="153888"/>
          </a:xfrm>
          <a:prstGeom prst="rect">
            <a:avLst/>
          </a:prstGeom>
          <a:noFill/>
          <a:ln/>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sym typeface="Arial"/>
              </a:rPr>
              <a:t>United States</a:t>
            </a:r>
            <a:r>
              <a:rPr kumimoji="0" sz="1000" b="0" i="0" u="none" strike="noStrike" kern="1200" cap="none" spc="0" normalizeH="0" baseline="0" noProof="0">
                <a:ln>
                  <a:noFill/>
                </a:ln>
                <a:solidFill>
                  <a:srgbClr val="75787B"/>
                </a:solidFill>
                <a:effectLst/>
                <a:uLnTx/>
                <a:uFillTx/>
                <a:latin typeface="Segoe UI" panose="020B0502040204020203" pitchFamily="34" charset="0"/>
                <a:ea typeface="+mn-ea"/>
                <a:cs typeface="Segoe UI" panose="020B0502040204020203" pitchFamily="34" charset="0"/>
                <a:sym typeface="Arial"/>
              </a:rPr>
              <a:t> </a:t>
            </a:r>
          </a:p>
        </p:txBody>
      </p:sp>
      <p:sp>
        <p:nvSpPr>
          <p:cNvPr id="128" name="TextBox 127">
            <a:extLst>
              <a:ext uri="{FF2B5EF4-FFF2-40B4-BE49-F238E27FC236}">
                <a16:creationId xmlns:a16="http://schemas.microsoft.com/office/drawing/2014/main" id="{192768D3-3B5E-5012-2169-AC5C6EB2A5FE}"/>
              </a:ext>
            </a:extLst>
          </p:cNvPr>
          <p:cNvSpPr txBox="1"/>
          <p:nvPr/>
        </p:nvSpPr>
        <p:spPr>
          <a:xfrm>
            <a:off x="6316914" y="5100336"/>
            <a:ext cx="1874519" cy="138499"/>
          </a:xfrm>
          <a:prstGeom prst="rect">
            <a:avLst/>
          </a:prstGeom>
          <a:noFill/>
          <a:ln/>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8A8D90"/>
                </a:solidFill>
                <a:effectLst/>
                <a:uLnTx/>
                <a:uFillTx/>
                <a:latin typeface="Segoe UI" panose="020B0502040204020203" pitchFamily="34" charset="0"/>
                <a:ea typeface="+mn-ea"/>
                <a:cs typeface="Segoe UI" panose="020B0502040204020203" pitchFamily="34" charset="0"/>
                <a:sym typeface="Arial"/>
              </a:rPr>
              <a:t>41% / 43%</a:t>
            </a:r>
            <a:r>
              <a:rPr kumimoji="0" sz="900" b="0" i="0" u="none" strike="noStrike" kern="1200" cap="none" spc="0" normalizeH="0" baseline="0" noProof="0">
                <a:ln>
                  <a:noFill/>
                </a:ln>
                <a:solidFill>
                  <a:srgbClr val="404040"/>
                </a:solidFill>
                <a:effectLst/>
                <a:uLnTx/>
                <a:uFillTx/>
                <a:latin typeface="Segoe UI" panose="020B0502040204020203" pitchFamily="34" charset="0"/>
                <a:ea typeface="+mn-ea"/>
                <a:cs typeface="Segoe UI" panose="020B0502040204020203" pitchFamily="34" charset="0"/>
                <a:sym typeface="Arial"/>
              </a:rPr>
              <a:t>  remediating / upcoming</a:t>
            </a:r>
          </a:p>
        </p:txBody>
      </p:sp>
      <p:cxnSp>
        <p:nvCxnSpPr>
          <p:cNvPr id="129" name="Connector 83">
            <a:extLst>
              <a:ext uri="{FF2B5EF4-FFF2-40B4-BE49-F238E27FC236}">
                <a16:creationId xmlns:a16="http://schemas.microsoft.com/office/drawing/2014/main" id="{469C3D29-2FF1-36AE-E662-1794CB3E8652}"/>
              </a:ext>
            </a:extLst>
          </p:cNvPr>
          <p:cNvCxnSpPr/>
          <p:nvPr/>
        </p:nvCxnSpPr>
        <p:spPr>
          <a:xfrm>
            <a:off x="9160256" y="4012854"/>
            <a:ext cx="0" cy="262128"/>
          </a:xfrm>
          <a:prstGeom prst="line">
            <a:avLst/>
          </a:prstGeom>
          <a:ln w="15875">
            <a:solidFill>
              <a:srgbClr val="6FBF5A"/>
            </a:solidFill>
          </a:ln>
        </p:spPr>
        <p:style>
          <a:lnRef idx="2">
            <a:schemeClr val="accent1"/>
          </a:lnRef>
          <a:fillRef idx="0">
            <a:schemeClr val="accent1"/>
          </a:fillRef>
          <a:effectRef idx="1">
            <a:schemeClr val="accent1"/>
          </a:effectRef>
          <a:fontRef idx="minor">
            <a:schemeClr val="tx1"/>
          </a:fontRef>
        </p:style>
      </p:cxnSp>
      <p:sp>
        <p:nvSpPr>
          <p:cNvPr id="130" name="Rounded Rectangle 84">
            <a:extLst>
              <a:ext uri="{FF2B5EF4-FFF2-40B4-BE49-F238E27FC236}">
                <a16:creationId xmlns:a16="http://schemas.microsoft.com/office/drawing/2014/main" id="{92AB7DF5-9FD1-E46B-88DE-9A7DED121D82}"/>
              </a:ext>
            </a:extLst>
          </p:cNvPr>
          <p:cNvSpPr/>
          <p:nvPr/>
        </p:nvSpPr>
        <p:spPr>
          <a:xfrm>
            <a:off x="8412480" y="3592230"/>
            <a:ext cx="1417320" cy="420624"/>
          </a:xfrm>
          <a:prstGeom prst="roundRect">
            <a:avLst>
              <a:gd name="adj" fmla="val 12000"/>
            </a:avLst>
          </a:prstGeom>
          <a:solidFill>
            <a:srgbClr val="FFFFFF"/>
          </a:solidFill>
          <a:ln w="15875">
            <a:solidFill>
              <a:srgbClr val="6FBF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pic>
        <p:nvPicPr>
          <p:cNvPr id="132" name="Picture 131" descr="eu.png">
            <a:extLst>
              <a:ext uri="{FF2B5EF4-FFF2-40B4-BE49-F238E27FC236}">
                <a16:creationId xmlns:a16="http://schemas.microsoft.com/office/drawing/2014/main" id="{9B50C184-524D-0E18-D2FB-57EB4A35BAEF}"/>
              </a:ext>
            </a:extLst>
          </p:cNvPr>
          <p:cNvPicPr>
            <a:picLocks noChangeAspect="1"/>
          </p:cNvPicPr>
          <p:nvPr/>
        </p:nvPicPr>
        <p:blipFill>
          <a:blip r:embed="rId11"/>
          <a:stretch>
            <a:fillRect/>
          </a:stretch>
        </p:blipFill>
        <p:spPr>
          <a:xfrm>
            <a:off x="8485632" y="3656238"/>
            <a:ext cx="233172" cy="155448"/>
          </a:xfrm>
          <a:prstGeom prst="roundRect">
            <a:avLst/>
          </a:prstGeom>
          <a:ln w="6350">
            <a:solidFill>
              <a:srgbClr val="D0D0CE"/>
            </a:solidFill>
          </a:ln>
        </p:spPr>
      </p:pic>
      <p:pic>
        <p:nvPicPr>
          <p:cNvPr id="133" name="Picture 132" descr="uk.png">
            <a:extLst>
              <a:ext uri="{FF2B5EF4-FFF2-40B4-BE49-F238E27FC236}">
                <a16:creationId xmlns:a16="http://schemas.microsoft.com/office/drawing/2014/main" id="{78A3D044-CE17-AB80-01CE-FFBF2498A788}"/>
              </a:ext>
            </a:extLst>
          </p:cNvPr>
          <p:cNvPicPr>
            <a:picLocks noChangeAspect="1"/>
          </p:cNvPicPr>
          <p:nvPr/>
        </p:nvPicPr>
        <p:blipFill>
          <a:blip r:embed="rId12"/>
          <a:stretch>
            <a:fillRect/>
          </a:stretch>
        </p:blipFill>
        <p:spPr>
          <a:xfrm>
            <a:off x="8755380" y="3656238"/>
            <a:ext cx="233172" cy="155448"/>
          </a:xfrm>
          <a:prstGeom prst="roundRect">
            <a:avLst/>
          </a:prstGeom>
          <a:ln w="6350">
            <a:solidFill>
              <a:srgbClr val="D0D0CE"/>
            </a:solidFill>
          </a:ln>
        </p:spPr>
      </p:pic>
      <p:sp>
        <p:nvSpPr>
          <p:cNvPr id="134" name="TextBox 133">
            <a:extLst>
              <a:ext uri="{FF2B5EF4-FFF2-40B4-BE49-F238E27FC236}">
                <a16:creationId xmlns:a16="http://schemas.microsoft.com/office/drawing/2014/main" id="{04B4A419-709A-9408-A656-B40A32CFB6B8}"/>
              </a:ext>
            </a:extLst>
          </p:cNvPr>
          <p:cNvSpPr txBox="1"/>
          <p:nvPr/>
        </p:nvSpPr>
        <p:spPr>
          <a:xfrm>
            <a:off x="9043415" y="3652446"/>
            <a:ext cx="758952" cy="153888"/>
          </a:xfrm>
          <a:prstGeom prst="rect">
            <a:avLst/>
          </a:prstGeom>
          <a:noFill/>
          <a:ln/>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sym typeface="Arial"/>
              </a:rPr>
              <a:t>EU + </a:t>
            </a:r>
            <a:r>
              <a:rPr kumimoji="0" lang="en-US" sz="1000" b="1"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sym typeface="Arial"/>
              </a:rPr>
              <a:t>UK</a:t>
            </a:r>
            <a:endParaRPr kumimoji="0" sz="1000" b="0" i="0" u="none" strike="noStrike" kern="1200" cap="none" spc="0" normalizeH="0" baseline="0" noProof="0">
              <a:ln>
                <a:noFill/>
              </a:ln>
              <a:solidFill>
                <a:srgbClr val="75787B"/>
              </a:solidFill>
              <a:effectLst/>
              <a:uLnTx/>
              <a:uFillTx/>
              <a:latin typeface="Segoe UI" panose="020B0502040204020203" pitchFamily="34" charset="0"/>
              <a:ea typeface="+mn-ea"/>
              <a:cs typeface="Segoe UI" panose="020B0502040204020203" pitchFamily="34" charset="0"/>
              <a:sym typeface="Arial"/>
            </a:endParaRPr>
          </a:p>
        </p:txBody>
      </p:sp>
      <p:sp>
        <p:nvSpPr>
          <p:cNvPr id="136" name="TextBox 135">
            <a:extLst>
              <a:ext uri="{FF2B5EF4-FFF2-40B4-BE49-F238E27FC236}">
                <a16:creationId xmlns:a16="http://schemas.microsoft.com/office/drawing/2014/main" id="{A246B7D7-6F7B-2FEB-B6EA-D24AD369A5BE}"/>
              </a:ext>
            </a:extLst>
          </p:cNvPr>
          <p:cNvSpPr txBox="1"/>
          <p:nvPr/>
        </p:nvSpPr>
        <p:spPr>
          <a:xfrm>
            <a:off x="8465753" y="3836569"/>
            <a:ext cx="1388893" cy="138499"/>
          </a:xfrm>
          <a:prstGeom prst="rect">
            <a:avLst/>
          </a:prstGeom>
          <a:noFill/>
          <a:ln/>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6FBF5A"/>
                </a:solidFill>
                <a:effectLst/>
                <a:uLnTx/>
                <a:uFillTx/>
                <a:latin typeface="Segoe UI" panose="020B0502040204020203" pitchFamily="34" charset="0"/>
                <a:ea typeface="+mn-ea"/>
                <a:cs typeface="Segoe UI" panose="020B0502040204020203" pitchFamily="34" charset="0"/>
                <a:sym typeface="Arial"/>
              </a:rPr>
              <a:t>50%</a:t>
            </a:r>
            <a:r>
              <a:rPr kumimoji="0" sz="900" b="0" i="0" u="none" strike="noStrike" kern="1200" cap="none" spc="0" normalizeH="0" baseline="0" noProof="0">
                <a:ln>
                  <a:noFill/>
                </a:ln>
                <a:solidFill>
                  <a:srgbClr val="404040"/>
                </a:solidFill>
                <a:effectLst/>
                <a:uLnTx/>
                <a:uFillTx/>
                <a:latin typeface="Segoe UI" panose="020B0502040204020203" pitchFamily="34" charset="0"/>
                <a:ea typeface="+mn-ea"/>
                <a:cs typeface="Segoe UI" panose="020B0502040204020203" pitchFamily="34" charset="0"/>
                <a:sym typeface="Arial"/>
              </a:rPr>
              <a:t>  upcoming</a:t>
            </a:r>
          </a:p>
        </p:txBody>
      </p:sp>
      <p:cxnSp>
        <p:nvCxnSpPr>
          <p:cNvPr id="137" name="Connector 89">
            <a:extLst>
              <a:ext uri="{FF2B5EF4-FFF2-40B4-BE49-F238E27FC236}">
                <a16:creationId xmlns:a16="http://schemas.microsoft.com/office/drawing/2014/main" id="{2016EC1D-4C2E-778F-686F-504E23CBAAAC}"/>
              </a:ext>
            </a:extLst>
          </p:cNvPr>
          <p:cNvCxnSpPr/>
          <p:nvPr/>
        </p:nvCxnSpPr>
        <p:spPr>
          <a:xfrm>
            <a:off x="10515600" y="5041122"/>
            <a:ext cx="153314" cy="0"/>
          </a:xfrm>
          <a:prstGeom prst="line">
            <a:avLst/>
          </a:prstGeom>
          <a:ln w="15875">
            <a:solidFill>
              <a:srgbClr val="6FBF5A"/>
            </a:solidFill>
          </a:ln>
        </p:spPr>
        <p:style>
          <a:lnRef idx="2">
            <a:schemeClr val="accent1"/>
          </a:lnRef>
          <a:fillRef idx="0">
            <a:schemeClr val="accent1"/>
          </a:fillRef>
          <a:effectRef idx="1">
            <a:schemeClr val="accent1"/>
          </a:effectRef>
          <a:fontRef idx="minor">
            <a:schemeClr val="tx1"/>
          </a:fontRef>
        </p:style>
      </p:cxnSp>
      <p:sp>
        <p:nvSpPr>
          <p:cNvPr id="138" name="Rounded Rectangle 90">
            <a:extLst>
              <a:ext uri="{FF2B5EF4-FFF2-40B4-BE49-F238E27FC236}">
                <a16:creationId xmlns:a16="http://schemas.microsoft.com/office/drawing/2014/main" id="{2B2976E3-9BE7-4839-3297-F5FDCD581AF4}"/>
              </a:ext>
            </a:extLst>
          </p:cNvPr>
          <p:cNvSpPr/>
          <p:nvPr/>
        </p:nvSpPr>
        <p:spPr>
          <a:xfrm>
            <a:off x="9189720" y="4854102"/>
            <a:ext cx="1325880" cy="420624"/>
          </a:xfrm>
          <a:prstGeom prst="roundRect">
            <a:avLst>
              <a:gd name="adj" fmla="val 12000"/>
            </a:avLst>
          </a:prstGeom>
          <a:solidFill>
            <a:srgbClr val="FFFFFF"/>
          </a:solidFill>
          <a:ln w="15875">
            <a:solidFill>
              <a:srgbClr val="6FBF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pic>
        <p:nvPicPr>
          <p:cNvPr id="139" name="Picture 138" descr="sg.png">
            <a:extLst>
              <a:ext uri="{FF2B5EF4-FFF2-40B4-BE49-F238E27FC236}">
                <a16:creationId xmlns:a16="http://schemas.microsoft.com/office/drawing/2014/main" id="{EBE9495B-8318-FF88-D368-D62B41B98E3E}"/>
              </a:ext>
            </a:extLst>
          </p:cNvPr>
          <p:cNvPicPr>
            <a:picLocks noChangeAspect="1"/>
          </p:cNvPicPr>
          <p:nvPr/>
        </p:nvPicPr>
        <p:blipFill>
          <a:blip r:embed="rId13"/>
          <a:stretch>
            <a:fillRect/>
          </a:stretch>
        </p:blipFill>
        <p:spPr>
          <a:xfrm>
            <a:off x="9262872" y="4918110"/>
            <a:ext cx="233172" cy="155448"/>
          </a:xfrm>
          <a:prstGeom prst="roundRect">
            <a:avLst/>
          </a:prstGeom>
          <a:ln w="6350">
            <a:solidFill>
              <a:srgbClr val="D0D0CE"/>
            </a:solidFill>
          </a:ln>
        </p:spPr>
      </p:pic>
      <p:sp>
        <p:nvSpPr>
          <p:cNvPr id="140" name="TextBox 139">
            <a:extLst>
              <a:ext uri="{FF2B5EF4-FFF2-40B4-BE49-F238E27FC236}">
                <a16:creationId xmlns:a16="http://schemas.microsoft.com/office/drawing/2014/main" id="{02CA68A2-3088-7C3E-F0AE-8E160DBE09F4}"/>
              </a:ext>
            </a:extLst>
          </p:cNvPr>
          <p:cNvSpPr txBox="1"/>
          <p:nvPr/>
        </p:nvSpPr>
        <p:spPr>
          <a:xfrm>
            <a:off x="9550908" y="4914318"/>
            <a:ext cx="937259" cy="153888"/>
          </a:xfrm>
          <a:prstGeom prst="rect">
            <a:avLst/>
          </a:prstGeom>
          <a:noFill/>
          <a:ln/>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sym typeface="Arial"/>
              </a:rPr>
              <a:t>Singapore</a:t>
            </a:r>
            <a:r>
              <a:rPr kumimoji="0" sz="1000" b="0" i="0" u="none" strike="noStrike" kern="1200" cap="none" spc="0" normalizeH="0" baseline="0" noProof="0">
                <a:ln>
                  <a:noFill/>
                </a:ln>
                <a:solidFill>
                  <a:srgbClr val="75787B"/>
                </a:solidFill>
                <a:effectLst/>
                <a:uLnTx/>
                <a:uFillTx/>
                <a:latin typeface="Segoe UI" panose="020B0502040204020203" pitchFamily="34" charset="0"/>
                <a:ea typeface="+mn-ea"/>
                <a:cs typeface="Segoe UI" panose="020B0502040204020203" pitchFamily="34" charset="0"/>
                <a:sym typeface="Arial"/>
              </a:rPr>
              <a:t> </a:t>
            </a:r>
          </a:p>
        </p:txBody>
      </p:sp>
      <p:sp>
        <p:nvSpPr>
          <p:cNvPr id="141" name="TextBox 140">
            <a:extLst>
              <a:ext uri="{FF2B5EF4-FFF2-40B4-BE49-F238E27FC236}">
                <a16:creationId xmlns:a16="http://schemas.microsoft.com/office/drawing/2014/main" id="{CCD185B5-3F9B-C4E3-E014-81737590E3FD}"/>
              </a:ext>
            </a:extLst>
          </p:cNvPr>
          <p:cNvSpPr txBox="1"/>
          <p:nvPr/>
        </p:nvSpPr>
        <p:spPr>
          <a:xfrm>
            <a:off x="9242994" y="5098441"/>
            <a:ext cx="1291768" cy="138499"/>
          </a:xfrm>
          <a:prstGeom prst="rect">
            <a:avLst/>
          </a:prstGeom>
          <a:noFill/>
          <a:ln/>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6FBF5A"/>
                </a:solidFill>
                <a:effectLst/>
                <a:uLnTx/>
                <a:uFillTx/>
                <a:latin typeface="Segoe UI" panose="020B0502040204020203" pitchFamily="34" charset="0"/>
                <a:ea typeface="+mn-ea"/>
                <a:cs typeface="Segoe UI" panose="020B0502040204020203" pitchFamily="34" charset="0"/>
                <a:sym typeface="Arial"/>
              </a:rPr>
              <a:t>50%</a:t>
            </a:r>
            <a:r>
              <a:rPr kumimoji="0" sz="900" b="0" i="0" u="none" strike="noStrike" kern="1200" cap="none" spc="0" normalizeH="0" baseline="0" noProof="0">
                <a:ln>
                  <a:noFill/>
                </a:ln>
                <a:solidFill>
                  <a:srgbClr val="404040"/>
                </a:solidFill>
                <a:effectLst/>
                <a:uLnTx/>
                <a:uFillTx/>
                <a:latin typeface="Segoe UI" panose="020B0502040204020203" pitchFamily="34" charset="0"/>
                <a:ea typeface="+mn-ea"/>
                <a:cs typeface="Segoe UI" panose="020B0502040204020203" pitchFamily="34" charset="0"/>
                <a:sym typeface="Arial"/>
              </a:rPr>
              <a:t>  upcoming</a:t>
            </a:r>
          </a:p>
        </p:txBody>
      </p:sp>
      <p:cxnSp>
        <p:nvCxnSpPr>
          <p:cNvPr id="142" name="Connector 94">
            <a:extLst>
              <a:ext uri="{FF2B5EF4-FFF2-40B4-BE49-F238E27FC236}">
                <a16:creationId xmlns:a16="http://schemas.microsoft.com/office/drawing/2014/main" id="{D62735C6-269D-58D0-D771-69E9D95D4965}"/>
              </a:ext>
            </a:extLst>
          </p:cNvPr>
          <p:cNvCxnSpPr/>
          <p:nvPr/>
        </p:nvCxnSpPr>
        <p:spPr>
          <a:xfrm>
            <a:off x="10515600" y="5456082"/>
            <a:ext cx="628904" cy="0"/>
          </a:xfrm>
          <a:prstGeom prst="line">
            <a:avLst/>
          </a:prstGeom>
          <a:ln w="15875">
            <a:solidFill>
              <a:srgbClr val="CC3300"/>
            </a:solidFill>
          </a:ln>
        </p:spPr>
        <p:style>
          <a:lnRef idx="2">
            <a:schemeClr val="accent1"/>
          </a:lnRef>
          <a:fillRef idx="0">
            <a:schemeClr val="accent1"/>
          </a:fillRef>
          <a:effectRef idx="1">
            <a:schemeClr val="accent1"/>
          </a:effectRef>
          <a:fontRef idx="minor">
            <a:schemeClr val="tx1"/>
          </a:fontRef>
        </p:style>
      </p:cxnSp>
      <p:sp>
        <p:nvSpPr>
          <p:cNvPr id="143" name="Rounded Rectangle 95">
            <a:extLst>
              <a:ext uri="{FF2B5EF4-FFF2-40B4-BE49-F238E27FC236}">
                <a16:creationId xmlns:a16="http://schemas.microsoft.com/office/drawing/2014/main" id="{DBDEE5A7-FB08-0E03-6589-E3E9F5398AF2}"/>
              </a:ext>
            </a:extLst>
          </p:cNvPr>
          <p:cNvSpPr/>
          <p:nvPr/>
        </p:nvSpPr>
        <p:spPr>
          <a:xfrm>
            <a:off x="9189720" y="5421030"/>
            <a:ext cx="1325880" cy="420624"/>
          </a:xfrm>
          <a:prstGeom prst="roundRect">
            <a:avLst>
              <a:gd name="adj" fmla="val 12000"/>
            </a:avLst>
          </a:prstGeom>
          <a:solidFill>
            <a:srgbClr val="FFFFFF"/>
          </a:solidFill>
          <a:ln w="15875">
            <a:solidFill>
              <a:srgbClr val="CC33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pic>
        <p:nvPicPr>
          <p:cNvPr id="144" name="Picture 143" descr="au.png">
            <a:extLst>
              <a:ext uri="{FF2B5EF4-FFF2-40B4-BE49-F238E27FC236}">
                <a16:creationId xmlns:a16="http://schemas.microsoft.com/office/drawing/2014/main" id="{9B509B38-F41D-25A5-3CDE-0BBF8220C87B}"/>
              </a:ext>
            </a:extLst>
          </p:cNvPr>
          <p:cNvPicPr>
            <a:picLocks noChangeAspect="1"/>
          </p:cNvPicPr>
          <p:nvPr/>
        </p:nvPicPr>
        <p:blipFill>
          <a:blip r:embed="rId14"/>
          <a:stretch>
            <a:fillRect/>
          </a:stretch>
        </p:blipFill>
        <p:spPr>
          <a:xfrm>
            <a:off x="9262872" y="5485038"/>
            <a:ext cx="233172" cy="155448"/>
          </a:xfrm>
          <a:prstGeom prst="roundRect">
            <a:avLst/>
          </a:prstGeom>
          <a:ln w="6350">
            <a:solidFill>
              <a:srgbClr val="D0D0CE"/>
            </a:solidFill>
          </a:ln>
        </p:spPr>
      </p:pic>
      <p:sp>
        <p:nvSpPr>
          <p:cNvPr id="145" name="TextBox 144">
            <a:extLst>
              <a:ext uri="{FF2B5EF4-FFF2-40B4-BE49-F238E27FC236}">
                <a16:creationId xmlns:a16="http://schemas.microsoft.com/office/drawing/2014/main" id="{41E7C86A-AB7C-9238-393C-3716CBE07C4A}"/>
              </a:ext>
            </a:extLst>
          </p:cNvPr>
          <p:cNvSpPr txBox="1"/>
          <p:nvPr/>
        </p:nvSpPr>
        <p:spPr>
          <a:xfrm>
            <a:off x="9550908" y="5481246"/>
            <a:ext cx="937259" cy="153888"/>
          </a:xfrm>
          <a:prstGeom prst="rect">
            <a:avLst/>
          </a:prstGeom>
          <a:noFill/>
          <a:ln/>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sym typeface="Arial"/>
              </a:rPr>
              <a:t>Australia</a:t>
            </a:r>
            <a:r>
              <a:rPr kumimoji="0" sz="1000" b="0" i="0" u="none" strike="noStrike" kern="1200" cap="none" spc="0" normalizeH="0" baseline="0" noProof="0">
                <a:ln>
                  <a:noFill/>
                </a:ln>
                <a:solidFill>
                  <a:srgbClr val="75787B"/>
                </a:solidFill>
                <a:effectLst/>
                <a:uLnTx/>
                <a:uFillTx/>
                <a:latin typeface="Segoe UI" panose="020B0502040204020203" pitchFamily="34" charset="0"/>
                <a:ea typeface="+mn-ea"/>
                <a:cs typeface="Segoe UI" panose="020B0502040204020203" pitchFamily="34" charset="0"/>
                <a:sym typeface="Arial"/>
              </a:rPr>
              <a:t> </a:t>
            </a:r>
          </a:p>
        </p:txBody>
      </p:sp>
      <p:sp>
        <p:nvSpPr>
          <p:cNvPr id="146" name="TextBox 145">
            <a:extLst>
              <a:ext uri="{FF2B5EF4-FFF2-40B4-BE49-F238E27FC236}">
                <a16:creationId xmlns:a16="http://schemas.microsoft.com/office/drawing/2014/main" id="{A7CB9D72-9EE9-C595-FD14-0985A82EFE0C}"/>
              </a:ext>
            </a:extLst>
          </p:cNvPr>
          <p:cNvSpPr txBox="1"/>
          <p:nvPr/>
        </p:nvSpPr>
        <p:spPr>
          <a:xfrm>
            <a:off x="9242994" y="5665369"/>
            <a:ext cx="1291768" cy="138499"/>
          </a:xfrm>
          <a:prstGeom prst="rect">
            <a:avLst/>
          </a:prstGeom>
          <a:noFill/>
          <a:ln/>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dirty="0">
                <a:ln>
                  <a:noFill/>
                </a:ln>
                <a:solidFill>
                  <a:srgbClr val="CC3300"/>
                </a:solidFill>
                <a:effectLst/>
                <a:uLnTx/>
                <a:uFillTx/>
                <a:latin typeface="Segoe UI" panose="020B0502040204020203" pitchFamily="34" charset="0"/>
                <a:ea typeface="+mn-ea"/>
                <a:cs typeface="Segoe UI" panose="020B0502040204020203" pitchFamily="34" charset="0"/>
                <a:sym typeface="Arial"/>
              </a:rPr>
              <a:t>63%</a:t>
            </a:r>
            <a:r>
              <a:rPr kumimoji="0" sz="900" b="0"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  remediating</a:t>
            </a:r>
          </a:p>
        </p:txBody>
      </p:sp>
    </p:spTree>
    <p:extLst>
      <p:ext uri="{BB962C8B-B14F-4D97-AF65-F5344CB8AC3E}">
        <p14:creationId xmlns:p14="http://schemas.microsoft.com/office/powerpoint/2010/main" val="11745981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F96C25-6E9F-1053-C296-EA995A01ED29}"/>
            </a:ext>
          </a:extLst>
        </p:cNvPr>
        <p:cNvGrpSpPr/>
        <p:nvPr/>
      </p:nvGrpSpPr>
      <p:grpSpPr>
        <a:xfrm>
          <a:off x="0" y="0"/>
          <a:ext cx="0" cy="0"/>
          <a:chOff x="0" y="0"/>
          <a:chExt cx="0" cy="0"/>
        </a:xfrm>
      </p:grpSpPr>
      <p:sp>
        <p:nvSpPr>
          <p:cNvPr id="341" name="Rounded Rectangle 50">
            <a:extLst>
              <a:ext uri="{FF2B5EF4-FFF2-40B4-BE49-F238E27FC236}">
                <a16:creationId xmlns:a16="http://schemas.microsoft.com/office/drawing/2014/main" id="{83E508CE-6292-4A8D-09DC-FD434ED780E7}"/>
              </a:ext>
            </a:extLst>
          </p:cNvPr>
          <p:cNvSpPr/>
          <p:nvPr/>
        </p:nvSpPr>
        <p:spPr>
          <a:xfrm>
            <a:off x="320040" y="5638800"/>
            <a:ext cx="5632704" cy="901444"/>
          </a:xfrm>
          <a:prstGeom prst="roundRect">
            <a:avLst>
              <a:gd name="adj" fmla="val 5000"/>
            </a:avLst>
          </a:prstGeom>
          <a:solidFill>
            <a:srgbClr val="FFFFFF"/>
          </a:solidFill>
          <a:ln w="38100">
            <a:solidFill>
              <a:srgbClr val="F0F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2" name="Rectangle 1">
            <a:extLst>
              <a:ext uri="{FF2B5EF4-FFF2-40B4-BE49-F238E27FC236}">
                <a16:creationId xmlns:a16="http://schemas.microsoft.com/office/drawing/2014/main" id="{BE8F940B-7B5E-69E5-059A-DCB16FD6D2F4}"/>
              </a:ext>
            </a:extLst>
          </p:cNvPr>
          <p:cNvSpPr/>
          <p:nvPr/>
        </p:nvSpPr>
        <p:spPr>
          <a:xfrm>
            <a:off x="0" y="0"/>
            <a:ext cx="12191695" cy="33832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mn-ea"/>
              <a:cs typeface="+mn-cs"/>
              <a:sym typeface="Arial"/>
            </a:endParaRPr>
          </a:p>
        </p:txBody>
      </p:sp>
      <p:sp>
        <p:nvSpPr>
          <p:cNvPr id="65" name="Rectangle 64">
            <a:extLst>
              <a:ext uri="{FF2B5EF4-FFF2-40B4-BE49-F238E27FC236}">
                <a16:creationId xmlns:a16="http://schemas.microsoft.com/office/drawing/2014/main" id="{1D130DC1-7D01-049B-431F-25B3E378CC84}"/>
              </a:ext>
            </a:extLst>
          </p:cNvPr>
          <p:cNvSpPr/>
          <p:nvPr/>
        </p:nvSpPr>
        <p:spPr>
          <a:xfrm>
            <a:off x="-904" y="2472"/>
            <a:ext cx="12192000" cy="353257"/>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600"/>
              </a:spcBef>
              <a:spcAft>
                <a:spcPts val="0"/>
              </a:spcAft>
              <a:buClrTx/>
              <a:buSzPct val="100000"/>
              <a:buFont typeface="Arial"/>
              <a:buNone/>
              <a:tabLst/>
              <a:defRPr/>
            </a:pPr>
            <a:r>
              <a:rPr kumimoji="0" lang="en-US" sz="1200" b="1" i="0" u="none" strike="noStrike" kern="1200" cap="none" spc="0" normalizeH="0" baseline="0" noProof="0" dirty="0">
                <a:ln>
                  <a:noFill/>
                </a:ln>
                <a:solidFill>
                  <a:prstClr val="white"/>
                </a:solidFill>
                <a:effectLst/>
                <a:uLnTx/>
                <a:uFillTx/>
                <a:latin typeface="Segoe UI" panose="020B0502040204020203" pitchFamily="34" charset="0"/>
                <a:ea typeface="Open Sans" panose="020B0606030504020204" pitchFamily="34" charset="0"/>
                <a:cs typeface="Segoe UI" panose="020B0502040204020203" pitchFamily="34" charset="0"/>
                <a:sym typeface="Arial"/>
              </a:rPr>
              <a:t>REGULATORY &amp; MARKET CHANGE</a:t>
            </a:r>
          </a:p>
        </p:txBody>
      </p:sp>
      <p:sp>
        <p:nvSpPr>
          <p:cNvPr id="173" name="TextBox 172">
            <a:extLst>
              <a:ext uri="{FF2B5EF4-FFF2-40B4-BE49-F238E27FC236}">
                <a16:creationId xmlns:a16="http://schemas.microsoft.com/office/drawing/2014/main" id="{EF78BC5D-4939-FF26-EA68-B880BF01495B}"/>
              </a:ext>
            </a:extLst>
          </p:cNvPr>
          <p:cNvSpPr txBox="1"/>
          <p:nvPr/>
        </p:nvSpPr>
        <p:spPr>
          <a:xfrm>
            <a:off x="320040" y="1965960"/>
            <a:ext cx="5669280" cy="200055"/>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CA" sz="1300" b="1" i="0" u="none" strike="noStrike" kern="1200" cap="none" spc="0" normalizeH="0" baseline="0" noProof="0" dirty="0">
                <a:ln>
                  <a:noFill/>
                </a:ln>
                <a:solidFill>
                  <a:srgbClr val="046A38"/>
                </a:solidFill>
                <a:effectLst/>
                <a:uLnTx/>
                <a:uFillTx/>
                <a:latin typeface="Segoe UI" panose="020B0502040204020203" pitchFamily="34" charset="0"/>
                <a:ea typeface="+mn-ea"/>
                <a:cs typeface="Segoe UI" panose="020B0502040204020203" pitchFamily="34" charset="0"/>
                <a:sym typeface="Arial"/>
              </a:rPr>
              <a:t>TOP THREE ANTICIPATED CHANGES</a:t>
            </a:r>
            <a:endParaRPr kumimoji="0" sz="1300" b="0" i="0" u="none" strike="noStrike" kern="1200" cap="none" spc="0" normalizeH="0" baseline="0" noProof="0" dirty="0">
              <a:ln>
                <a:noFill/>
              </a:ln>
              <a:solidFill>
                <a:srgbClr val="75787B"/>
              </a:solidFill>
              <a:effectLst/>
              <a:uLnTx/>
              <a:uFillTx/>
              <a:latin typeface="Segoe UI" panose="020B0502040204020203" pitchFamily="34" charset="0"/>
              <a:ea typeface="+mn-ea"/>
              <a:cs typeface="Segoe UI" panose="020B0502040204020203" pitchFamily="34" charset="0"/>
              <a:sym typeface="Arial"/>
            </a:endParaRPr>
          </a:p>
        </p:txBody>
      </p:sp>
      <p:sp>
        <p:nvSpPr>
          <p:cNvPr id="175" name="Rounded Rectangle 7">
            <a:extLst>
              <a:ext uri="{FF2B5EF4-FFF2-40B4-BE49-F238E27FC236}">
                <a16:creationId xmlns:a16="http://schemas.microsoft.com/office/drawing/2014/main" id="{C8C722C8-D1E4-F6D7-409B-1FFC334DABA3}"/>
              </a:ext>
            </a:extLst>
          </p:cNvPr>
          <p:cNvSpPr/>
          <p:nvPr/>
        </p:nvSpPr>
        <p:spPr>
          <a:xfrm>
            <a:off x="326359" y="2232152"/>
            <a:ext cx="3749039" cy="1930273"/>
          </a:xfrm>
          <a:prstGeom prst="roundRect">
            <a:avLst>
              <a:gd name="adj" fmla="val 5000"/>
            </a:avLst>
          </a:prstGeom>
          <a:solidFill>
            <a:srgbClr val="046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grpSp>
        <p:nvGrpSpPr>
          <p:cNvPr id="327" name="Group 326">
            <a:extLst>
              <a:ext uri="{FF2B5EF4-FFF2-40B4-BE49-F238E27FC236}">
                <a16:creationId xmlns:a16="http://schemas.microsoft.com/office/drawing/2014/main" id="{B254BE5C-73F2-8941-1A85-19147BD823F8}"/>
              </a:ext>
            </a:extLst>
          </p:cNvPr>
          <p:cNvGrpSpPr/>
          <p:nvPr/>
        </p:nvGrpSpPr>
        <p:grpSpPr>
          <a:xfrm>
            <a:off x="502920" y="2415032"/>
            <a:ext cx="576000" cy="576000"/>
            <a:chOff x="502920" y="2491232"/>
            <a:chExt cx="566928" cy="566928"/>
          </a:xfrm>
        </p:grpSpPr>
        <p:sp>
          <p:nvSpPr>
            <p:cNvPr id="177" name="Rounded Rectangle 8">
              <a:extLst>
                <a:ext uri="{FF2B5EF4-FFF2-40B4-BE49-F238E27FC236}">
                  <a16:creationId xmlns:a16="http://schemas.microsoft.com/office/drawing/2014/main" id="{FEB84158-278E-02C2-1130-9154E00808CA}"/>
                </a:ext>
              </a:extLst>
            </p:cNvPr>
            <p:cNvSpPr/>
            <p:nvPr/>
          </p:nvSpPr>
          <p:spPr>
            <a:xfrm>
              <a:off x="502920" y="2491232"/>
              <a:ext cx="566928" cy="566928"/>
            </a:xfrm>
            <a:prstGeom prst="roundRect">
              <a:avLst>
                <a:gd name="adj" fmla="val 50000"/>
              </a:avLst>
            </a:prstGeom>
            <a:solidFill>
              <a:srgbClr val="4EA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pic>
          <p:nvPicPr>
            <p:cNvPr id="179" name="Picture 178" descr="ic_id_w.png">
              <a:extLst>
                <a:ext uri="{FF2B5EF4-FFF2-40B4-BE49-F238E27FC236}">
                  <a16:creationId xmlns:a16="http://schemas.microsoft.com/office/drawing/2014/main" id="{577464DB-4CC4-11FA-3BD4-DA067D4722B7}"/>
                </a:ext>
              </a:extLst>
            </p:cNvPr>
            <p:cNvPicPr>
              <a:picLocks noChangeAspect="1"/>
            </p:cNvPicPr>
            <p:nvPr/>
          </p:nvPicPr>
          <p:blipFill>
            <a:blip r:embed="rId3"/>
            <a:stretch>
              <a:fillRect/>
            </a:stretch>
          </p:blipFill>
          <p:spPr>
            <a:xfrm>
              <a:off x="627644" y="2615956"/>
              <a:ext cx="317479" cy="317479"/>
            </a:xfrm>
            <a:prstGeom prst="rect">
              <a:avLst/>
            </a:prstGeom>
          </p:spPr>
        </p:pic>
      </p:grpSp>
      <p:sp>
        <p:nvSpPr>
          <p:cNvPr id="181" name="TextBox 180">
            <a:extLst>
              <a:ext uri="{FF2B5EF4-FFF2-40B4-BE49-F238E27FC236}">
                <a16:creationId xmlns:a16="http://schemas.microsoft.com/office/drawing/2014/main" id="{C6B30655-CDA8-75DA-3A8D-5953414CC18C}"/>
              </a:ext>
            </a:extLst>
          </p:cNvPr>
          <p:cNvSpPr txBox="1"/>
          <p:nvPr/>
        </p:nvSpPr>
        <p:spPr>
          <a:xfrm>
            <a:off x="1216152" y="2443131"/>
            <a:ext cx="1645920" cy="492443"/>
          </a:xfrm>
          <a:prstGeom prst="rect">
            <a:avLst/>
          </a:prstGeom>
          <a:noFill/>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3200" b="1" i="0" u="none" strike="noStrike" kern="1200" cap="none" spc="0" normalizeH="0" baseline="0" noProof="0" dirty="0">
                <a:ln>
                  <a:noFill/>
                </a:ln>
                <a:solidFill>
                  <a:srgbClr val="FFFFFF"/>
                </a:solidFill>
                <a:effectLst/>
                <a:uLnTx/>
                <a:uFillTx/>
                <a:latin typeface="Segoe UI" panose="020B0502040204020203" pitchFamily="34" charset="0"/>
                <a:ea typeface="+mn-ea"/>
                <a:cs typeface="Segoe UI" panose="020B0502040204020203" pitchFamily="34" charset="0"/>
                <a:sym typeface="Arial"/>
              </a:rPr>
              <a:t>71%</a:t>
            </a:r>
          </a:p>
        </p:txBody>
      </p:sp>
      <p:sp>
        <p:nvSpPr>
          <p:cNvPr id="183" name="Rounded Rectangle 11">
            <a:extLst>
              <a:ext uri="{FF2B5EF4-FFF2-40B4-BE49-F238E27FC236}">
                <a16:creationId xmlns:a16="http://schemas.microsoft.com/office/drawing/2014/main" id="{2C64C571-35C8-D040-15A1-05F34478052C}"/>
              </a:ext>
            </a:extLst>
          </p:cNvPr>
          <p:cNvSpPr/>
          <p:nvPr/>
        </p:nvSpPr>
        <p:spPr>
          <a:xfrm>
            <a:off x="3566159" y="2415032"/>
            <a:ext cx="360000" cy="36000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1200" b="1" i="0" u="none" strike="noStrike" kern="1200" cap="none" spc="0" normalizeH="0" baseline="0" noProof="0" dirty="0">
                <a:ln>
                  <a:noFill/>
                </a:ln>
                <a:solidFill>
                  <a:srgbClr val="046A38"/>
                </a:solidFill>
                <a:effectLst/>
                <a:uLnTx/>
                <a:uFillTx/>
                <a:latin typeface="Segoe UI" panose="020B0502040204020203" pitchFamily="34" charset="0"/>
                <a:ea typeface="+mn-ea"/>
                <a:cs typeface="Segoe UI" panose="020B0502040204020203" pitchFamily="34" charset="0"/>
                <a:sym typeface="Arial"/>
              </a:rPr>
              <a:t>#1</a:t>
            </a:r>
          </a:p>
        </p:txBody>
      </p:sp>
      <p:sp>
        <p:nvSpPr>
          <p:cNvPr id="187" name="TextBox 186">
            <a:extLst>
              <a:ext uri="{FF2B5EF4-FFF2-40B4-BE49-F238E27FC236}">
                <a16:creationId xmlns:a16="http://schemas.microsoft.com/office/drawing/2014/main" id="{5C393E1D-C38F-7EDF-8799-7D78F8F5B29F}"/>
              </a:ext>
            </a:extLst>
          </p:cNvPr>
          <p:cNvSpPr txBox="1"/>
          <p:nvPr/>
        </p:nvSpPr>
        <p:spPr>
          <a:xfrm>
            <a:off x="502920" y="3051540"/>
            <a:ext cx="3383279" cy="369332"/>
          </a:xfrm>
          <a:prstGeom prst="rect">
            <a:avLst/>
          </a:prstGeom>
          <a:noFill/>
        </p:spPr>
        <p:txBody>
          <a:bodyPr wrap="square" lIns="0" tIns="0" rIns="0" bIns="0" anchor="b">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dirty="0">
                <a:ln>
                  <a:noFill/>
                </a:ln>
                <a:solidFill>
                  <a:srgbClr val="DCEFD0"/>
                </a:solidFill>
                <a:effectLst/>
                <a:uLnTx/>
                <a:uFillTx/>
                <a:latin typeface="Segoe UI" panose="020B0502040204020203" pitchFamily="34" charset="0"/>
                <a:ea typeface="+mn-ea"/>
                <a:cs typeface="Segoe UI" panose="020B0502040204020203" pitchFamily="34" charset="0"/>
                <a:sym typeface="Arial"/>
              </a:rPr>
              <a:t>CUSTOMER IDENTITY, AUTHENTICATION &amp; DIGITAL TRUST</a:t>
            </a:r>
          </a:p>
        </p:txBody>
      </p:sp>
      <p:sp>
        <p:nvSpPr>
          <p:cNvPr id="189" name="TextBox 188">
            <a:extLst>
              <a:ext uri="{FF2B5EF4-FFF2-40B4-BE49-F238E27FC236}">
                <a16:creationId xmlns:a16="http://schemas.microsoft.com/office/drawing/2014/main" id="{FD223FF5-EE11-62FC-F39F-6756044EB9C1}"/>
              </a:ext>
            </a:extLst>
          </p:cNvPr>
          <p:cNvSpPr txBox="1"/>
          <p:nvPr/>
        </p:nvSpPr>
        <p:spPr>
          <a:xfrm>
            <a:off x="502920" y="3466592"/>
            <a:ext cx="3383279" cy="461665"/>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dirty="0">
                <a:ln>
                  <a:noFill/>
                </a:ln>
                <a:solidFill>
                  <a:srgbClr val="FFFFFF"/>
                </a:solidFill>
                <a:effectLst/>
                <a:uLnTx/>
                <a:uFillTx/>
                <a:latin typeface="Segoe UI" panose="020B0502040204020203" pitchFamily="34" charset="0"/>
                <a:ea typeface="+mn-ea"/>
                <a:cs typeface="Segoe UI" panose="020B0502040204020203" pitchFamily="34" charset="0"/>
                <a:sym typeface="Arial"/>
              </a:rPr>
              <a:t>Rising expectations for how customers are verified and protected, as deepfakes and synthetic identities make it harder to know who is on the other end.</a:t>
            </a:r>
          </a:p>
        </p:txBody>
      </p:sp>
      <p:sp>
        <p:nvSpPr>
          <p:cNvPr id="191" name="Rounded Rectangle 15">
            <a:extLst>
              <a:ext uri="{FF2B5EF4-FFF2-40B4-BE49-F238E27FC236}">
                <a16:creationId xmlns:a16="http://schemas.microsoft.com/office/drawing/2014/main" id="{CB5EA6E2-58E0-ECB8-190A-A96C82D5B842}"/>
              </a:ext>
            </a:extLst>
          </p:cNvPr>
          <p:cNvSpPr/>
          <p:nvPr/>
        </p:nvSpPr>
        <p:spPr>
          <a:xfrm>
            <a:off x="4219956" y="2232152"/>
            <a:ext cx="3749039" cy="1930273"/>
          </a:xfrm>
          <a:prstGeom prst="roundRect">
            <a:avLst>
              <a:gd name="adj" fmla="val 5000"/>
            </a:avLst>
          </a:prstGeom>
          <a:solidFill>
            <a:srgbClr val="4EA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grpSp>
        <p:nvGrpSpPr>
          <p:cNvPr id="328" name="Group 327">
            <a:extLst>
              <a:ext uri="{FF2B5EF4-FFF2-40B4-BE49-F238E27FC236}">
                <a16:creationId xmlns:a16="http://schemas.microsoft.com/office/drawing/2014/main" id="{43535E94-0496-59CE-7BD8-B492362F224D}"/>
              </a:ext>
            </a:extLst>
          </p:cNvPr>
          <p:cNvGrpSpPr/>
          <p:nvPr/>
        </p:nvGrpSpPr>
        <p:grpSpPr>
          <a:xfrm>
            <a:off x="4402836" y="2415032"/>
            <a:ext cx="576000" cy="576000"/>
            <a:chOff x="4402836" y="2491232"/>
            <a:chExt cx="566928" cy="566928"/>
          </a:xfrm>
        </p:grpSpPr>
        <p:sp>
          <p:nvSpPr>
            <p:cNvPr id="193" name="Rounded Rectangle 16">
              <a:extLst>
                <a:ext uri="{FF2B5EF4-FFF2-40B4-BE49-F238E27FC236}">
                  <a16:creationId xmlns:a16="http://schemas.microsoft.com/office/drawing/2014/main" id="{D04E8EB5-24CB-1956-168F-2B1CABD84B26}"/>
                </a:ext>
              </a:extLst>
            </p:cNvPr>
            <p:cNvSpPr/>
            <p:nvPr/>
          </p:nvSpPr>
          <p:spPr>
            <a:xfrm>
              <a:off x="4402836" y="2491232"/>
              <a:ext cx="566928" cy="566928"/>
            </a:xfrm>
            <a:prstGeom prst="roundRect">
              <a:avLst>
                <a:gd name="adj" fmla="val 50000"/>
              </a:avLst>
            </a:prstGeom>
            <a:solidFill>
              <a:srgbClr val="046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pic>
          <p:nvPicPr>
            <p:cNvPr id="195" name="Picture 194" descr="ic_lock_w.png">
              <a:extLst>
                <a:ext uri="{FF2B5EF4-FFF2-40B4-BE49-F238E27FC236}">
                  <a16:creationId xmlns:a16="http://schemas.microsoft.com/office/drawing/2014/main" id="{038D349F-EE91-F3A2-53F2-6A248B238746}"/>
                </a:ext>
              </a:extLst>
            </p:cNvPr>
            <p:cNvPicPr>
              <a:picLocks noChangeAspect="1"/>
            </p:cNvPicPr>
            <p:nvPr/>
          </p:nvPicPr>
          <p:blipFill>
            <a:blip r:embed="rId4"/>
            <a:stretch>
              <a:fillRect/>
            </a:stretch>
          </p:blipFill>
          <p:spPr>
            <a:xfrm>
              <a:off x="4527560" y="2615956"/>
              <a:ext cx="317479" cy="317479"/>
            </a:xfrm>
            <a:prstGeom prst="rect">
              <a:avLst/>
            </a:prstGeom>
          </p:spPr>
        </p:pic>
      </p:grpSp>
      <p:sp>
        <p:nvSpPr>
          <p:cNvPr id="197" name="TextBox 196">
            <a:extLst>
              <a:ext uri="{FF2B5EF4-FFF2-40B4-BE49-F238E27FC236}">
                <a16:creationId xmlns:a16="http://schemas.microsoft.com/office/drawing/2014/main" id="{F8306A01-B79B-C7C5-9D47-88A190967AB1}"/>
              </a:ext>
            </a:extLst>
          </p:cNvPr>
          <p:cNvSpPr txBox="1"/>
          <p:nvPr/>
        </p:nvSpPr>
        <p:spPr>
          <a:xfrm>
            <a:off x="5116068" y="2443131"/>
            <a:ext cx="1645920" cy="492443"/>
          </a:xfrm>
          <a:prstGeom prst="rect">
            <a:avLst/>
          </a:prstGeom>
          <a:noFill/>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3200" b="1" i="0" u="none" strike="noStrike" kern="1200" cap="none" spc="0" normalizeH="0" baseline="0" noProof="0" dirty="0">
                <a:ln>
                  <a:noFill/>
                </a:ln>
                <a:solidFill>
                  <a:srgbClr val="FFFFFF"/>
                </a:solidFill>
                <a:effectLst/>
                <a:uLnTx/>
                <a:uFillTx/>
                <a:latin typeface="Segoe UI" panose="020B0502040204020203" pitchFamily="34" charset="0"/>
                <a:ea typeface="+mn-ea"/>
                <a:cs typeface="Segoe UI" panose="020B0502040204020203" pitchFamily="34" charset="0"/>
                <a:sym typeface="Arial"/>
              </a:rPr>
              <a:t>66%</a:t>
            </a:r>
          </a:p>
        </p:txBody>
      </p:sp>
      <p:sp>
        <p:nvSpPr>
          <p:cNvPr id="200" name="Rounded Rectangle 19">
            <a:extLst>
              <a:ext uri="{FF2B5EF4-FFF2-40B4-BE49-F238E27FC236}">
                <a16:creationId xmlns:a16="http://schemas.microsoft.com/office/drawing/2014/main" id="{01F220EE-6673-BC2F-7C48-089D5EFC5C3C}"/>
              </a:ext>
            </a:extLst>
          </p:cNvPr>
          <p:cNvSpPr/>
          <p:nvPr/>
        </p:nvSpPr>
        <p:spPr>
          <a:xfrm>
            <a:off x="7466075" y="2415032"/>
            <a:ext cx="360000" cy="36000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1200" b="1" i="0" u="none" strike="noStrike" kern="1200" cap="none" spc="0" normalizeH="0" baseline="0" noProof="0" dirty="0">
                <a:ln>
                  <a:noFill/>
                </a:ln>
                <a:solidFill>
                  <a:srgbClr val="4EA72E"/>
                </a:solidFill>
                <a:effectLst/>
                <a:uLnTx/>
                <a:uFillTx/>
                <a:latin typeface="Segoe UI" panose="020B0502040204020203" pitchFamily="34" charset="0"/>
                <a:ea typeface="+mn-ea"/>
                <a:cs typeface="Segoe UI" panose="020B0502040204020203" pitchFamily="34" charset="0"/>
                <a:sym typeface="Arial"/>
              </a:rPr>
              <a:t>#2</a:t>
            </a:r>
          </a:p>
        </p:txBody>
      </p:sp>
      <p:sp>
        <p:nvSpPr>
          <p:cNvPr id="204" name="TextBox 203">
            <a:extLst>
              <a:ext uri="{FF2B5EF4-FFF2-40B4-BE49-F238E27FC236}">
                <a16:creationId xmlns:a16="http://schemas.microsoft.com/office/drawing/2014/main" id="{2D69CD41-4A14-2D55-675B-1EE1F6692FA1}"/>
              </a:ext>
            </a:extLst>
          </p:cNvPr>
          <p:cNvSpPr txBox="1"/>
          <p:nvPr/>
        </p:nvSpPr>
        <p:spPr>
          <a:xfrm>
            <a:off x="4402836" y="3143873"/>
            <a:ext cx="3383279" cy="184666"/>
          </a:xfrm>
          <a:prstGeom prst="rect">
            <a:avLst/>
          </a:prstGeom>
          <a:noFill/>
        </p:spPr>
        <p:txBody>
          <a:bodyPr wrap="square" lIns="0" tIns="0" rIns="0" bIns="0" anchor="b">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dirty="0">
                <a:ln>
                  <a:noFill/>
                </a:ln>
                <a:solidFill>
                  <a:srgbClr val="DCEFD0"/>
                </a:solidFill>
                <a:effectLst/>
                <a:uLnTx/>
                <a:uFillTx/>
                <a:latin typeface="Segoe UI" panose="020B0502040204020203" pitchFamily="34" charset="0"/>
                <a:ea typeface="+mn-ea"/>
                <a:cs typeface="Segoe UI" panose="020B0502040204020203" pitchFamily="34" charset="0"/>
                <a:sym typeface="Arial"/>
              </a:rPr>
              <a:t>PRIVACY, DATA-SHARING &amp; AI GOVERNANCE</a:t>
            </a:r>
          </a:p>
        </p:txBody>
      </p:sp>
      <p:sp>
        <p:nvSpPr>
          <p:cNvPr id="206" name="TextBox 205">
            <a:extLst>
              <a:ext uri="{FF2B5EF4-FFF2-40B4-BE49-F238E27FC236}">
                <a16:creationId xmlns:a16="http://schemas.microsoft.com/office/drawing/2014/main" id="{98C8D8F5-1DE3-A497-7524-CE19DC74063F}"/>
              </a:ext>
            </a:extLst>
          </p:cNvPr>
          <p:cNvSpPr txBox="1"/>
          <p:nvPr/>
        </p:nvSpPr>
        <p:spPr>
          <a:xfrm>
            <a:off x="4402836" y="3466592"/>
            <a:ext cx="3383279" cy="461665"/>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dirty="0">
                <a:ln>
                  <a:noFill/>
                </a:ln>
                <a:solidFill>
                  <a:srgbClr val="FFFFFF"/>
                </a:solidFill>
                <a:effectLst/>
                <a:uLnTx/>
                <a:uFillTx/>
                <a:latin typeface="Segoe UI" panose="020B0502040204020203" pitchFamily="34" charset="0"/>
                <a:ea typeface="+mn-ea"/>
                <a:cs typeface="Segoe UI" panose="020B0502040204020203" pitchFamily="34" charset="0"/>
                <a:sym typeface="Arial"/>
              </a:rPr>
              <a:t>New rules on how customer data can be used and shared, and how AI models must be governed, shaping what fraud teams can build and deploy.</a:t>
            </a:r>
          </a:p>
        </p:txBody>
      </p:sp>
      <p:sp>
        <p:nvSpPr>
          <p:cNvPr id="210" name="Rounded Rectangle 23">
            <a:extLst>
              <a:ext uri="{FF2B5EF4-FFF2-40B4-BE49-F238E27FC236}">
                <a16:creationId xmlns:a16="http://schemas.microsoft.com/office/drawing/2014/main" id="{A6B7451B-24AE-CE62-99B6-E23ED2C281C2}"/>
              </a:ext>
            </a:extLst>
          </p:cNvPr>
          <p:cNvSpPr/>
          <p:nvPr/>
        </p:nvSpPr>
        <p:spPr>
          <a:xfrm>
            <a:off x="8119872" y="2232152"/>
            <a:ext cx="3749039" cy="1930273"/>
          </a:xfrm>
          <a:prstGeom prst="roundRect">
            <a:avLst>
              <a:gd name="adj" fmla="val 5000"/>
            </a:avLst>
          </a:prstGeom>
          <a:solidFill>
            <a:srgbClr val="023D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grpSp>
        <p:nvGrpSpPr>
          <p:cNvPr id="329" name="Group 328">
            <a:extLst>
              <a:ext uri="{FF2B5EF4-FFF2-40B4-BE49-F238E27FC236}">
                <a16:creationId xmlns:a16="http://schemas.microsoft.com/office/drawing/2014/main" id="{4A8C9172-3268-D120-E80A-D7D9AD9414B3}"/>
              </a:ext>
            </a:extLst>
          </p:cNvPr>
          <p:cNvGrpSpPr/>
          <p:nvPr/>
        </p:nvGrpSpPr>
        <p:grpSpPr>
          <a:xfrm>
            <a:off x="8302752" y="2415032"/>
            <a:ext cx="576000" cy="576000"/>
            <a:chOff x="8302752" y="2491232"/>
            <a:chExt cx="566928" cy="566928"/>
          </a:xfrm>
        </p:grpSpPr>
        <p:sp>
          <p:nvSpPr>
            <p:cNvPr id="214" name="Rounded Rectangle 24">
              <a:extLst>
                <a:ext uri="{FF2B5EF4-FFF2-40B4-BE49-F238E27FC236}">
                  <a16:creationId xmlns:a16="http://schemas.microsoft.com/office/drawing/2014/main" id="{D3710F9C-48EE-2FBC-6E37-892E8FD50B64}"/>
                </a:ext>
              </a:extLst>
            </p:cNvPr>
            <p:cNvSpPr/>
            <p:nvPr/>
          </p:nvSpPr>
          <p:spPr>
            <a:xfrm>
              <a:off x="8302752" y="2491232"/>
              <a:ext cx="566928" cy="566928"/>
            </a:xfrm>
            <a:prstGeom prst="roundRect">
              <a:avLst>
                <a:gd name="adj" fmla="val 50000"/>
              </a:avLst>
            </a:prstGeom>
            <a:solidFill>
              <a:srgbClr val="4EA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pic>
          <p:nvPicPr>
            <p:cNvPr id="216" name="Picture 215" descr="ic_bolt_w.png">
              <a:extLst>
                <a:ext uri="{FF2B5EF4-FFF2-40B4-BE49-F238E27FC236}">
                  <a16:creationId xmlns:a16="http://schemas.microsoft.com/office/drawing/2014/main" id="{81E31260-BDA9-5BF9-7833-B2549B132037}"/>
                </a:ext>
              </a:extLst>
            </p:cNvPr>
            <p:cNvPicPr>
              <a:picLocks noChangeAspect="1"/>
            </p:cNvPicPr>
            <p:nvPr/>
          </p:nvPicPr>
          <p:blipFill>
            <a:blip r:embed="rId5"/>
            <a:stretch>
              <a:fillRect/>
            </a:stretch>
          </p:blipFill>
          <p:spPr>
            <a:xfrm>
              <a:off x="8427476" y="2615956"/>
              <a:ext cx="317479" cy="317479"/>
            </a:xfrm>
            <a:prstGeom prst="rect">
              <a:avLst/>
            </a:prstGeom>
          </p:spPr>
        </p:pic>
      </p:grpSp>
      <p:sp>
        <p:nvSpPr>
          <p:cNvPr id="218" name="TextBox 217">
            <a:extLst>
              <a:ext uri="{FF2B5EF4-FFF2-40B4-BE49-F238E27FC236}">
                <a16:creationId xmlns:a16="http://schemas.microsoft.com/office/drawing/2014/main" id="{B654BB6C-D881-1B7B-B9A8-691621DA931A}"/>
              </a:ext>
            </a:extLst>
          </p:cNvPr>
          <p:cNvSpPr txBox="1"/>
          <p:nvPr/>
        </p:nvSpPr>
        <p:spPr>
          <a:xfrm>
            <a:off x="9015984" y="2443131"/>
            <a:ext cx="1645920" cy="492443"/>
          </a:xfrm>
          <a:prstGeom prst="rect">
            <a:avLst/>
          </a:prstGeom>
          <a:noFill/>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3200" b="1" i="0" u="none" strike="noStrike" kern="1200" cap="none" spc="0" normalizeH="0" baseline="0" noProof="0" dirty="0">
                <a:ln>
                  <a:noFill/>
                </a:ln>
                <a:solidFill>
                  <a:srgbClr val="FFFFFF"/>
                </a:solidFill>
                <a:effectLst/>
                <a:uLnTx/>
                <a:uFillTx/>
                <a:latin typeface="Segoe UI" panose="020B0502040204020203" pitchFamily="34" charset="0"/>
                <a:ea typeface="+mn-ea"/>
                <a:cs typeface="Segoe UI" panose="020B0502040204020203" pitchFamily="34" charset="0"/>
                <a:sym typeface="Arial"/>
              </a:rPr>
              <a:t>65%</a:t>
            </a:r>
          </a:p>
        </p:txBody>
      </p:sp>
      <p:sp>
        <p:nvSpPr>
          <p:cNvPr id="220" name="Rounded Rectangle 27">
            <a:extLst>
              <a:ext uri="{FF2B5EF4-FFF2-40B4-BE49-F238E27FC236}">
                <a16:creationId xmlns:a16="http://schemas.microsoft.com/office/drawing/2014/main" id="{9D1FA912-C607-0D75-97CD-A4C2FC1439FF}"/>
              </a:ext>
            </a:extLst>
          </p:cNvPr>
          <p:cNvSpPr/>
          <p:nvPr/>
        </p:nvSpPr>
        <p:spPr>
          <a:xfrm>
            <a:off x="11365992" y="2415032"/>
            <a:ext cx="360000" cy="36000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1200" b="1" i="0" u="none" strike="noStrike" kern="1200" cap="none" spc="0" normalizeH="0" baseline="0" noProof="0" dirty="0">
                <a:ln>
                  <a:noFill/>
                </a:ln>
                <a:solidFill>
                  <a:srgbClr val="023D20"/>
                </a:solidFill>
                <a:effectLst/>
                <a:uLnTx/>
                <a:uFillTx/>
                <a:latin typeface="Segoe UI" panose="020B0502040204020203" pitchFamily="34" charset="0"/>
                <a:ea typeface="+mn-ea"/>
                <a:cs typeface="Segoe UI" panose="020B0502040204020203" pitchFamily="34" charset="0"/>
                <a:sym typeface="Arial"/>
              </a:rPr>
              <a:t>#3</a:t>
            </a:r>
          </a:p>
        </p:txBody>
      </p:sp>
      <p:sp>
        <p:nvSpPr>
          <p:cNvPr id="224" name="TextBox 223">
            <a:extLst>
              <a:ext uri="{FF2B5EF4-FFF2-40B4-BE49-F238E27FC236}">
                <a16:creationId xmlns:a16="http://schemas.microsoft.com/office/drawing/2014/main" id="{A3269CF9-D734-D016-E2D0-8A84ABB69A2A}"/>
              </a:ext>
            </a:extLst>
          </p:cNvPr>
          <p:cNvSpPr txBox="1"/>
          <p:nvPr/>
        </p:nvSpPr>
        <p:spPr>
          <a:xfrm>
            <a:off x="8302752" y="3143873"/>
            <a:ext cx="3383279" cy="184666"/>
          </a:xfrm>
          <a:prstGeom prst="rect">
            <a:avLst/>
          </a:prstGeom>
          <a:noFill/>
        </p:spPr>
        <p:txBody>
          <a:bodyPr wrap="square" lIns="0" tIns="0" rIns="0" bIns="0" anchor="b">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dirty="0">
                <a:ln>
                  <a:noFill/>
                </a:ln>
                <a:solidFill>
                  <a:srgbClr val="DCEFD0"/>
                </a:solidFill>
                <a:effectLst/>
                <a:uLnTx/>
                <a:uFillTx/>
                <a:latin typeface="Segoe UI" panose="020B0502040204020203" pitchFamily="34" charset="0"/>
                <a:ea typeface="+mn-ea"/>
                <a:cs typeface="Segoe UI" panose="020B0502040204020203" pitchFamily="34" charset="0"/>
                <a:sym typeface="Arial"/>
              </a:rPr>
              <a:t>PAYMENT INNOVATION</a:t>
            </a:r>
          </a:p>
        </p:txBody>
      </p:sp>
      <p:sp>
        <p:nvSpPr>
          <p:cNvPr id="226" name="TextBox 225">
            <a:extLst>
              <a:ext uri="{FF2B5EF4-FFF2-40B4-BE49-F238E27FC236}">
                <a16:creationId xmlns:a16="http://schemas.microsoft.com/office/drawing/2014/main" id="{690E05E4-132D-C2D6-496B-DCBAE4DDB2D2}"/>
              </a:ext>
            </a:extLst>
          </p:cNvPr>
          <p:cNvSpPr txBox="1"/>
          <p:nvPr/>
        </p:nvSpPr>
        <p:spPr>
          <a:xfrm>
            <a:off x="8302752" y="3466592"/>
            <a:ext cx="3383279" cy="461665"/>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dirty="0">
                <a:ln>
                  <a:noFill/>
                </a:ln>
                <a:solidFill>
                  <a:srgbClr val="FFFFFF"/>
                </a:solidFill>
                <a:effectLst/>
                <a:uLnTx/>
                <a:uFillTx/>
                <a:latin typeface="Segoe UI" panose="020B0502040204020203" pitchFamily="34" charset="0"/>
                <a:ea typeface="+mn-ea"/>
                <a:cs typeface="Segoe UI" panose="020B0502040204020203" pitchFamily="34" charset="0"/>
                <a:sym typeface="Arial"/>
              </a:rPr>
              <a:t>Real-time payments, stablecoins and agentic payments move money faster, shrinking the window to detect and stop fraud before funds are gone.</a:t>
            </a:r>
          </a:p>
        </p:txBody>
      </p:sp>
      <p:sp>
        <p:nvSpPr>
          <p:cNvPr id="239" name="TextBox 238">
            <a:extLst>
              <a:ext uri="{FF2B5EF4-FFF2-40B4-BE49-F238E27FC236}">
                <a16:creationId xmlns:a16="http://schemas.microsoft.com/office/drawing/2014/main" id="{8089E128-6F1F-19A5-893F-54C708BC36CA}"/>
              </a:ext>
            </a:extLst>
          </p:cNvPr>
          <p:cNvSpPr txBox="1"/>
          <p:nvPr/>
        </p:nvSpPr>
        <p:spPr>
          <a:xfrm>
            <a:off x="320040" y="4246880"/>
            <a:ext cx="5669280" cy="200055"/>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300" b="1" i="0" u="none" strike="noStrike" kern="1200" cap="none" spc="0" normalizeH="0" baseline="0" noProof="0" dirty="0">
                <a:ln>
                  <a:noFill/>
                </a:ln>
                <a:solidFill>
                  <a:srgbClr val="046A38"/>
                </a:solidFill>
                <a:effectLst/>
                <a:uLnTx/>
                <a:uFillTx/>
                <a:latin typeface="Segoe UI" panose="020B0502040204020203" pitchFamily="34" charset="0"/>
                <a:ea typeface="+mn-ea"/>
                <a:cs typeface="Segoe UI" panose="020B0502040204020203" pitchFamily="34" charset="0"/>
                <a:sym typeface="Arial"/>
              </a:rPr>
              <a:t>FURTHER DOWN THE LIST</a:t>
            </a:r>
            <a:endParaRPr kumimoji="0" sz="1300" b="0" i="0" u="none" strike="noStrike" kern="1200" cap="none" spc="0" normalizeH="0" baseline="0" noProof="0" dirty="0">
              <a:ln>
                <a:noFill/>
              </a:ln>
              <a:solidFill>
                <a:srgbClr val="75787B"/>
              </a:solidFill>
              <a:effectLst/>
              <a:uLnTx/>
              <a:uFillTx/>
              <a:latin typeface="Segoe UI" panose="020B0502040204020203" pitchFamily="34" charset="0"/>
              <a:ea typeface="+mn-ea"/>
              <a:cs typeface="Segoe UI" panose="020B0502040204020203" pitchFamily="34" charset="0"/>
              <a:sym typeface="Arial"/>
            </a:endParaRPr>
          </a:p>
        </p:txBody>
      </p:sp>
      <p:sp>
        <p:nvSpPr>
          <p:cNvPr id="242" name="Rounded Rectangle 32">
            <a:extLst>
              <a:ext uri="{FF2B5EF4-FFF2-40B4-BE49-F238E27FC236}">
                <a16:creationId xmlns:a16="http://schemas.microsoft.com/office/drawing/2014/main" id="{C8652960-8CB7-FC67-A19D-81632A8AE9E0}"/>
              </a:ext>
            </a:extLst>
          </p:cNvPr>
          <p:cNvSpPr/>
          <p:nvPr/>
        </p:nvSpPr>
        <p:spPr>
          <a:xfrm>
            <a:off x="320040" y="4493768"/>
            <a:ext cx="1828800" cy="972000"/>
          </a:xfrm>
          <a:prstGeom prst="roundRect">
            <a:avLst>
              <a:gd name="adj" fmla="val 8000"/>
            </a:avLst>
          </a:prstGeom>
          <a:solidFill>
            <a:srgbClr val="F0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grpSp>
        <p:nvGrpSpPr>
          <p:cNvPr id="324" name="Group 323">
            <a:extLst>
              <a:ext uri="{FF2B5EF4-FFF2-40B4-BE49-F238E27FC236}">
                <a16:creationId xmlns:a16="http://schemas.microsoft.com/office/drawing/2014/main" id="{DA7BB485-12A7-50F7-F203-AD56462B954E}"/>
              </a:ext>
            </a:extLst>
          </p:cNvPr>
          <p:cNvGrpSpPr/>
          <p:nvPr/>
        </p:nvGrpSpPr>
        <p:grpSpPr>
          <a:xfrm>
            <a:off x="411479" y="4603496"/>
            <a:ext cx="360000" cy="360000"/>
            <a:chOff x="411479" y="4603496"/>
            <a:chExt cx="347472" cy="347472"/>
          </a:xfrm>
        </p:grpSpPr>
        <p:sp>
          <p:nvSpPr>
            <p:cNvPr id="244" name="Rounded Rectangle 33">
              <a:extLst>
                <a:ext uri="{FF2B5EF4-FFF2-40B4-BE49-F238E27FC236}">
                  <a16:creationId xmlns:a16="http://schemas.microsoft.com/office/drawing/2014/main" id="{6DEEB61E-50C7-3877-5F25-59CA69FB8402}"/>
                </a:ext>
              </a:extLst>
            </p:cNvPr>
            <p:cNvSpPr/>
            <p:nvPr/>
          </p:nvSpPr>
          <p:spPr>
            <a:xfrm>
              <a:off x="411479" y="4603496"/>
              <a:ext cx="347472" cy="347472"/>
            </a:xfrm>
            <a:prstGeom prst="roundRect">
              <a:avLst>
                <a:gd name="adj" fmla="val 50000"/>
              </a:avLst>
            </a:prstGeom>
            <a:solidFill>
              <a:srgbClr val="A9A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pic>
          <p:nvPicPr>
            <p:cNvPr id="247" name="Picture 246" descr="ic_scale_w.png">
              <a:extLst>
                <a:ext uri="{FF2B5EF4-FFF2-40B4-BE49-F238E27FC236}">
                  <a16:creationId xmlns:a16="http://schemas.microsoft.com/office/drawing/2014/main" id="{CC4C707B-F630-C061-D1E5-2423F1CC04BA}"/>
                </a:ext>
              </a:extLst>
            </p:cNvPr>
            <p:cNvPicPr>
              <a:picLocks noChangeAspect="1"/>
            </p:cNvPicPr>
            <p:nvPr/>
          </p:nvPicPr>
          <p:blipFill>
            <a:blip r:embed="rId6"/>
            <a:stretch>
              <a:fillRect/>
            </a:stretch>
          </p:blipFill>
          <p:spPr>
            <a:xfrm>
              <a:off x="487923" y="4679939"/>
              <a:ext cx="194584" cy="194584"/>
            </a:xfrm>
            <a:prstGeom prst="rect">
              <a:avLst/>
            </a:prstGeom>
          </p:spPr>
        </p:pic>
      </p:grpSp>
      <p:sp>
        <p:nvSpPr>
          <p:cNvPr id="249" name="TextBox 248">
            <a:extLst>
              <a:ext uri="{FF2B5EF4-FFF2-40B4-BE49-F238E27FC236}">
                <a16:creationId xmlns:a16="http://schemas.microsoft.com/office/drawing/2014/main" id="{F8942791-6A5F-2BF4-E00A-F7C87AD12B80}"/>
              </a:ext>
            </a:extLst>
          </p:cNvPr>
          <p:cNvSpPr txBox="1"/>
          <p:nvPr/>
        </p:nvSpPr>
        <p:spPr>
          <a:xfrm>
            <a:off x="882904" y="4592491"/>
            <a:ext cx="1280160" cy="384721"/>
          </a:xfrm>
          <a:prstGeom prst="rect">
            <a:avLst/>
          </a:prstGeom>
          <a:noFill/>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500" b="1"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36%</a:t>
            </a:r>
          </a:p>
        </p:txBody>
      </p:sp>
      <p:sp>
        <p:nvSpPr>
          <p:cNvPr id="251" name="TextBox 250">
            <a:extLst>
              <a:ext uri="{FF2B5EF4-FFF2-40B4-BE49-F238E27FC236}">
                <a16:creationId xmlns:a16="http://schemas.microsoft.com/office/drawing/2014/main" id="{E0FC77D0-DCC8-B836-55AB-F1879F3D7516}"/>
              </a:ext>
            </a:extLst>
          </p:cNvPr>
          <p:cNvSpPr txBox="1"/>
          <p:nvPr/>
        </p:nvSpPr>
        <p:spPr>
          <a:xfrm>
            <a:off x="431800" y="5031232"/>
            <a:ext cx="1678432" cy="307777"/>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Liability &amp; reimbursement changes</a:t>
            </a:r>
          </a:p>
        </p:txBody>
      </p:sp>
      <p:sp>
        <p:nvSpPr>
          <p:cNvPr id="253" name="Rounded Rectangle 37">
            <a:extLst>
              <a:ext uri="{FF2B5EF4-FFF2-40B4-BE49-F238E27FC236}">
                <a16:creationId xmlns:a16="http://schemas.microsoft.com/office/drawing/2014/main" id="{F7A5072F-B7EB-0061-3CA4-A2B78102FA6A}"/>
              </a:ext>
            </a:extLst>
          </p:cNvPr>
          <p:cNvSpPr/>
          <p:nvPr/>
        </p:nvSpPr>
        <p:spPr>
          <a:xfrm>
            <a:off x="2221992" y="4493768"/>
            <a:ext cx="1828800" cy="972000"/>
          </a:xfrm>
          <a:prstGeom prst="roundRect">
            <a:avLst>
              <a:gd name="adj" fmla="val 8000"/>
            </a:avLst>
          </a:prstGeom>
          <a:solidFill>
            <a:srgbClr val="F0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grpSp>
        <p:nvGrpSpPr>
          <p:cNvPr id="325" name="Group 324">
            <a:extLst>
              <a:ext uri="{FF2B5EF4-FFF2-40B4-BE49-F238E27FC236}">
                <a16:creationId xmlns:a16="http://schemas.microsoft.com/office/drawing/2014/main" id="{2CDE4ED6-F717-A80A-8E0D-380E1CA8130D}"/>
              </a:ext>
            </a:extLst>
          </p:cNvPr>
          <p:cNvGrpSpPr/>
          <p:nvPr/>
        </p:nvGrpSpPr>
        <p:grpSpPr>
          <a:xfrm>
            <a:off x="2313432" y="4603496"/>
            <a:ext cx="360000" cy="360000"/>
            <a:chOff x="2313432" y="4603496"/>
            <a:chExt cx="347472" cy="347472"/>
          </a:xfrm>
        </p:grpSpPr>
        <p:sp>
          <p:nvSpPr>
            <p:cNvPr id="256" name="Rounded Rectangle 38">
              <a:extLst>
                <a:ext uri="{FF2B5EF4-FFF2-40B4-BE49-F238E27FC236}">
                  <a16:creationId xmlns:a16="http://schemas.microsoft.com/office/drawing/2014/main" id="{E2C4CE64-3FCB-CBFB-534B-1B7F015273A5}"/>
                </a:ext>
              </a:extLst>
            </p:cNvPr>
            <p:cNvSpPr/>
            <p:nvPr/>
          </p:nvSpPr>
          <p:spPr>
            <a:xfrm>
              <a:off x="2313432" y="4603496"/>
              <a:ext cx="347472" cy="347472"/>
            </a:xfrm>
            <a:prstGeom prst="roundRect">
              <a:avLst>
                <a:gd name="adj" fmla="val 50000"/>
              </a:avLst>
            </a:prstGeom>
            <a:solidFill>
              <a:srgbClr val="A9A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pic>
          <p:nvPicPr>
            <p:cNvPr id="258" name="Picture 257" descr="ic_aml_w.png">
              <a:extLst>
                <a:ext uri="{FF2B5EF4-FFF2-40B4-BE49-F238E27FC236}">
                  <a16:creationId xmlns:a16="http://schemas.microsoft.com/office/drawing/2014/main" id="{F58B6826-619D-67DD-B22D-2CE4B35369F5}"/>
                </a:ext>
              </a:extLst>
            </p:cNvPr>
            <p:cNvPicPr>
              <a:picLocks noChangeAspect="1"/>
            </p:cNvPicPr>
            <p:nvPr/>
          </p:nvPicPr>
          <p:blipFill>
            <a:blip r:embed="rId7"/>
            <a:stretch>
              <a:fillRect/>
            </a:stretch>
          </p:blipFill>
          <p:spPr>
            <a:xfrm>
              <a:off x="2389875" y="4679939"/>
              <a:ext cx="194584" cy="194584"/>
            </a:xfrm>
            <a:prstGeom prst="rect">
              <a:avLst/>
            </a:prstGeom>
          </p:spPr>
        </p:pic>
      </p:grpSp>
      <p:sp>
        <p:nvSpPr>
          <p:cNvPr id="261" name="TextBox 260">
            <a:extLst>
              <a:ext uri="{FF2B5EF4-FFF2-40B4-BE49-F238E27FC236}">
                <a16:creationId xmlns:a16="http://schemas.microsoft.com/office/drawing/2014/main" id="{D3768603-2799-3F0F-DB7A-38EFF9F85A08}"/>
              </a:ext>
            </a:extLst>
          </p:cNvPr>
          <p:cNvSpPr txBox="1"/>
          <p:nvPr/>
        </p:nvSpPr>
        <p:spPr>
          <a:xfrm>
            <a:off x="2784856" y="4592491"/>
            <a:ext cx="1280160" cy="384721"/>
          </a:xfrm>
          <a:prstGeom prst="rect">
            <a:avLst/>
          </a:prstGeom>
          <a:noFill/>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500" b="1"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33%</a:t>
            </a:r>
          </a:p>
        </p:txBody>
      </p:sp>
      <p:sp>
        <p:nvSpPr>
          <p:cNvPr id="263" name="TextBox 262">
            <a:extLst>
              <a:ext uri="{FF2B5EF4-FFF2-40B4-BE49-F238E27FC236}">
                <a16:creationId xmlns:a16="http://schemas.microsoft.com/office/drawing/2014/main" id="{774B1F99-1516-31B4-026B-69932AF70C03}"/>
              </a:ext>
            </a:extLst>
          </p:cNvPr>
          <p:cNvSpPr txBox="1"/>
          <p:nvPr/>
        </p:nvSpPr>
        <p:spPr>
          <a:xfrm>
            <a:off x="2333752" y="5031232"/>
            <a:ext cx="1678432" cy="307777"/>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AML modernization initiatives</a:t>
            </a:r>
          </a:p>
        </p:txBody>
      </p:sp>
      <p:sp>
        <p:nvSpPr>
          <p:cNvPr id="265" name="Rounded Rectangle 42">
            <a:extLst>
              <a:ext uri="{FF2B5EF4-FFF2-40B4-BE49-F238E27FC236}">
                <a16:creationId xmlns:a16="http://schemas.microsoft.com/office/drawing/2014/main" id="{2EE75046-8852-53B3-526B-0F9C614C3CC5}"/>
              </a:ext>
            </a:extLst>
          </p:cNvPr>
          <p:cNvSpPr/>
          <p:nvPr/>
        </p:nvSpPr>
        <p:spPr>
          <a:xfrm>
            <a:off x="4123944" y="4493768"/>
            <a:ext cx="1828800" cy="972000"/>
          </a:xfrm>
          <a:prstGeom prst="roundRect">
            <a:avLst>
              <a:gd name="adj" fmla="val 8000"/>
            </a:avLst>
          </a:prstGeom>
          <a:solidFill>
            <a:srgbClr val="F0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grpSp>
        <p:nvGrpSpPr>
          <p:cNvPr id="326" name="Group 325">
            <a:extLst>
              <a:ext uri="{FF2B5EF4-FFF2-40B4-BE49-F238E27FC236}">
                <a16:creationId xmlns:a16="http://schemas.microsoft.com/office/drawing/2014/main" id="{77953DF0-A243-7D45-CDF4-548C9C1733F7}"/>
              </a:ext>
            </a:extLst>
          </p:cNvPr>
          <p:cNvGrpSpPr/>
          <p:nvPr/>
        </p:nvGrpSpPr>
        <p:grpSpPr>
          <a:xfrm>
            <a:off x="4215383" y="4603496"/>
            <a:ext cx="360000" cy="360000"/>
            <a:chOff x="4215383" y="4603496"/>
            <a:chExt cx="347472" cy="347472"/>
          </a:xfrm>
        </p:grpSpPr>
        <p:sp>
          <p:nvSpPr>
            <p:cNvPr id="267" name="Rounded Rectangle 43">
              <a:extLst>
                <a:ext uri="{FF2B5EF4-FFF2-40B4-BE49-F238E27FC236}">
                  <a16:creationId xmlns:a16="http://schemas.microsoft.com/office/drawing/2014/main" id="{A9DAB93C-F7FA-A4B1-F553-E5FA50860E0C}"/>
                </a:ext>
              </a:extLst>
            </p:cNvPr>
            <p:cNvSpPr/>
            <p:nvPr/>
          </p:nvSpPr>
          <p:spPr>
            <a:xfrm>
              <a:off x="4215383" y="4603496"/>
              <a:ext cx="347472" cy="347472"/>
            </a:xfrm>
            <a:prstGeom prst="roundRect">
              <a:avLst>
                <a:gd name="adj" fmla="val 50000"/>
              </a:avLst>
            </a:prstGeom>
            <a:solidFill>
              <a:srgbClr val="A9A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pic>
          <p:nvPicPr>
            <p:cNvPr id="297" name="Picture 296" descr="ic_open_w.png">
              <a:extLst>
                <a:ext uri="{FF2B5EF4-FFF2-40B4-BE49-F238E27FC236}">
                  <a16:creationId xmlns:a16="http://schemas.microsoft.com/office/drawing/2014/main" id="{0583A7EC-AE0E-9E30-0CB9-74AFCF60E8A7}"/>
                </a:ext>
              </a:extLst>
            </p:cNvPr>
            <p:cNvPicPr>
              <a:picLocks noChangeAspect="1"/>
            </p:cNvPicPr>
            <p:nvPr/>
          </p:nvPicPr>
          <p:blipFill>
            <a:blip r:embed="rId8"/>
            <a:stretch>
              <a:fillRect/>
            </a:stretch>
          </p:blipFill>
          <p:spPr>
            <a:xfrm>
              <a:off x="4291827" y="4679939"/>
              <a:ext cx="194584" cy="194584"/>
            </a:xfrm>
            <a:prstGeom prst="rect">
              <a:avLst/>
            </a:prstGeom>
          </p:spPr>
        </p:pic>
      </p:grpSp>
      <p:sp>
        <p:nvSpPr>
          <p:cNvPr id="299" name="TextBox 298">
            <a:extLst>
              <a:ext uri="{FF2B5EF4-FFF2-40B4-BE49-F238E27FC236}">
                <a16:creationId xmlns:a16="http://schemas.microsoft.com/office/drawing/2014/main" id="{0C6DE0C6-730F-2FEB-4677-C8B5E672F9A4}"/>
              </a:ext>
            </a:extLst>
          </p:cNvPr>
          <p:cNvSpPr txBox="1"/>
          <p:nvPr/>
        </p:nvSpPr>
        <p:spPr>
          <a:xfrm>
            <a:off x="4686808" y="4592491"/>
            <a:ext cx="1280160" cy="384721"/>
          </a:xfrm>
          <a:prstGeom prst="rect">
            <a:avLst/>
          </a:prstGeom>
          <a:noFill/>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500" b="1"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29%</a:t>
            </a:r>
          </a:p>
        </p:txBody>
      </p:sp>
      <p:sp>
        <p:nvSpPr>
          <p:cNvPr id="301" name="TextBox 300">
            <a:extLst>
              <a:ext uri="{FF2B5EF4-FFF2-40B4-BE49-F238E27FC236}">
                <a16:creationId xmlns:a16="http://schemas.microsoft.com/office/drawing/2014/main" id="{A6421C99-8E1C-7DF6-1F66-14E89733C646}"/>
              </a:ext>
            </a:extLst>
          </p:cNvPr>
          <p:cNvSpPr txBox="1"/>
          <p:nvPr/>
        </p:nvSpPr>
        <p:spPr>
          <a:xfrm>
            <a:off x="4235704" y="5031232"/>
            <a:ext cx="1678432" cy="307777"/>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Open banking / consumer-driven banking</a:t>
            </a:r>
          </a:p>
        </p:txBody>
      </p:sp>
      <p:sp>
        <p:nvSpPr>
          <p:cNvPr id="305" name="TextBox 304">
            <a:extLst>
              <a:ext uri="{FF2B5EF4-FFF2-40B4-BE49-F238E27FC236}">
                <a16:creationId xmlns:a16="http://schemas.microsoft.com/office/drawing/2014/main" id="{30543B11-F3A1-B0C6-9973-BD046F9EF9D5}"/>
              </a:ext>
            </a:extLst>
          </p:cNvPr>
          <p:cNvSpPr txBox="1"/>
          <p:nvPr/>
        </p:nvSpPr>
        <p:spPr>
          <a:xfrm>
            <a:off x="502920" y="5720080"/>
            <a:ext cx="5349240" cy="169277"/>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WHY OPEN BANKING RANKS LAST</a:t>
            </a:r>
          </a:p>
        </p:txBody>
      </p:sp>
      <p:sp>
        <p:nvSpPr>
          <p:cNvPr id="307" name="TextBox 306">
            <a:extLst>
              <a:ext uri="{FF2B5EF4-FFF2-40B4-BE49-F238E27FC236}">
                <a16:creationId xmlns:a16="http://schemas.microsoft.com/office/drawing/2014/main" id="{54040FFC-A3B1-D483-46E9-A761DC4D3BDC}"/>
              </a:ext>
            </a:extLst>
          </p:cNvPr>
          <p:cNvSpPr txBox="1"/>
          <p:nvPr/>
        </p:nvSpPr>
        <p:spPr>
          <a:xfrm>
            <a:off x="502920" y="5907024"/>
            <a:ext cx="5349240" cy="615553"/>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kumimoji="0" sz="1000" b="0"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Open banking was the least selected change (29%). In many markets its frameworks are already defined and in place</a:t>
            </a:r>
            <a:r>
              <a:rPr kumimoji="0" lang="en-US" sz="1000" b="0"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 </a:t>
            </a:r>
            <a:r>
              <a:rPr kumimoji="0" lang="en-US" sz="1000" b="0" i="0" u="none" strike="noStrike" kern="1200" cap="none" spc="0" normalizeH="0" baseline="0" noProof="0" dirty="0">
                <a:ln>
                  <a:noFill/>
                </a:ln>
                <a:solidFill>
                  <a:srgbClr val="404040"/>
                </a:solidFill>
                <a:effectLst/>
                <a:uLnTx/>
                <a:uFillTx/>
                <a:latin typeface="Segoe UI" panose="020B0502040204020203" pitchFamily="34" charset="0"/>
                <a:cs typeface="Segoe UI" panose="020B0502040204020203" pitchFamily="34" charset="0"/>
                <a:sym typeface="Arial"/>
              </a:rPr>
              <a:t>(e.g., the UK’s Open Banking regime, PSD2 in the EU and Australia’s Consumer Data Right)</a:t>
            </a:r>
            <a:r>
              <a:rPr kumimoji="0" sz="1000" b="0"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 so respondents may see it as a known quantity rather than an emerging disruption.</a:t>
            </a:r>
          </a:p>
        </p:txBody>
      </p:sp>
      <p:grpSp>
        <p:nvGrpSpPr>
          <p:cNvPr id="20" name="Group 19">
            <a:extLst>
              <a:ext uri="{FF2B5EF4-FFF2-40B4-BE49-F238E27FC236}">
                <a16:creationId xmlns:a16="http://schemas.microsoft.com/office/drawing/2014/main" id="{E538B817-6044-ED42-0E0B-A3952ADAE0AC}"/>
              </a:ext>
            </a:extLst>
          </p:cNvPr>
          <p:cNvGrpSpPr/>
          <p:nvPr/>
        </p:nvGrpSpPr>
        <p:grpSpPr>
          <a:xfrm>
            <a:off x="6199632" y="4498085"/>
            <a:ext cx="5669280" cy="2042159"/>
            <a:chOff x="6199632" y="4409440"/>
            <a:chExt cx="5669280" cy="2042159"/>
          </a:xfrm>
        </p:grpSpPr>
        <p:grpSp>
          <p:nvGrpSpPr>
            <p:cNvPr id="19" name="Group 18">
              <a:extLst>
                <a:ext uri="{FF2B5EF4-FFF2-40B4-BE49-F238E27FC236}">
                  <a16:creationId xmlns:a16="http://schemas.microsoft.com/office/drawing/2014/main" id="{B96CD416-769B-62CE-1E8E-D52974FDD0F9}"/>
                </a:ext>
              </a:extLst>
            </p:cNvPr>
            <p:cNvGrpSpPr/>
            <p:nvPr/>
          </p:nvGrpSpPr>
          <p:grpSpPr>
            <a:xfrm>
              <a:off x="6199632" y="4409440"/>
              <a:ext cx="5669280" cy="2042159"/>
              <a:chOff x="6199632" y="4409440"/>
              <a:chExt cx="5669280" cy="2042159"/>
            </a:xfrm>
          </p:grpSpPr>
          <p:sp>
            <p:nvSpPr>
              <p:cNvPr id="309" name="Rounded Rectangle 50">
                <a:extLst>
                  <a:ext uri="{FF2B5EF4-FFF2-40B4-BE49-F238E27FC236}">
                    <a16:creationId xmlns:a16="http://schemas.microsoft.com/office/drawing/2014/main" id="{65084A1D-A054-E456-F5F2-A332860D935B}"/>
                  </a:ext>
                </a:extLst>
              </p:cNvPr>
              <p:cNvSpPr/>
              <p:nvPr/>
            </p:nvSpPr>
            <p:spPr>
              <a:xfrm>
                <a:off x="6199632" y="4409440"/>
                <a:ext cx="5669280" cy="2042159"/>
              </a:xfrm>
              <a:prstGeom prst="roundRect">
                <a:avLst>
                  <a:gd name="adj" fmla="val 50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313" name="Rounded Rectangle 52">
                <a:extLst>
                  <a:ext uri="{FF2B5EF4-FFF2-40B4-BE49-F238E27FC236}">
                    <a16:creationId xmlns:a16="http://schemas.microsoft.com/office/drawing/2014/main" id="{0E5F8565-855E-495E-AF8C-E66C261F2FB5}"/>
                  </a:ext>
                </a:extLst>
              </p:cNvPr>
              <p:cNvSpPr/>
              <p:nvPr/>
            </p:nvSpPr>
            <p:spPr>
              <a:xfrm>
                <a:off x="6419088" y="4500880"/>
                <a:ext cx="457200" cy="457200"/>
              </a:xfrm>
              <a:prstGeom prst="roundRect">
                <a:avLst>
                  <a:gd name="adj" fmla="val 50000"/>
                </a:avLst>
              </a:prstGeom>
              <a:solidFill>
                <a:srgbClr val="046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pic>
            <p:nvPicPr>
              <p:cNvPr id="315" name="Picture 314" descr="ic_warn_w.png">
                <a:extLst>
                  <a:ext uri="{FF2B5EF4-FFF2-40B4-BE49-F238E27FC236}">
                    <a16:creationId xmlns:a16="http://schemas.microsoft.com/office/drawing/2014/main" id="{3E2E60FB-0DA9-B992-5C69-2A073B348B5E}"/>
                  </a:ext>
                </a:extLst>
              </p:cNvPr>
              <p:cNvPicPr>
                <a:picLocks noChangeAspect="1"/>
              </p:cNvPicPr>
              <p:nvPr/>
            </p:nvPicPr>
            <p:blipFill>
              <a:blip r:embed="rId9"/>
              <a:stretch>
                <a:fillRect/>
              </a:stretch>
            </p:blipFill>
            <p:spPr>
              <a:xfrm>
                <a:off x="6519672" y="4601464"/>
                <a:ext cx="256032" cy="256032"/>
              </a:xfrm>
              <a:prstGeom prst="rect">
                <a:avLst/>
              </a:prstGeom>
            </p:spPr>
          </p:pic>
          <p:sp>
            <p:nvSpPr>
              <p:cNvPr id="317" name="TextBox 316">
                <a:extLst>
                  <a:ext uri="{FF2B5EF4-FFF2-40B4-BE49-F238E27FC236}">
                    <a16:creationId xmlns:a16="http://schemas.microsoft.com/office/drawing/2014/main" id="{20416DD8-6DC3-F622-3F18-A1653EB7C1DE}"/>
                  </a:ext>
                </a:extLst>
              </p:cNvPr>
              <p:cNvSpPr txBox="1"/>
              <p:nvPr/>
            </p:nvSpPr>
            <p:spPr>
              <a:xfrm>
                <a:off x="6995160" y="4529425"/>
                <a:ext cx="4754880" cy="400110"/>
              </a:xfrm>
              <a:prstGeom prst="rect">
                <a:avLst/>
              </a:prstGeom>
              <a:noFill/>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300" b="1" i="0" u="none" strike="noStrike" kern="1200" cap="none" spc="0" normalizeH="0" baseline="0" noProof="0" dirty="0">
                    <a:ln>
                      <a:noFill/>
                    </a:ln>
                    <a:solidFill>
                      <a:srgbClr val="023D20"/>
                    </a:solidFill>
                    <a:effectLst/>
                    <a:uLnTx/>
                    <a:uFillTx/>
                    <a:latin typeface="Segoe UI" panose="020B0502040204020203" pitchFamily="34" charset="0"/>
                    <a:ea typeface="+mn-ea"/>
                    <a:cs typeface="Segoe UI" panose="020B0502040204020203" pitchFamily="34" charset="0"/>
                    <a:sym typeface="Arial"/>
                  </a:rPr>
                  <a:t>THE TENSION: CHANGE IS COMING FASTER THAN READINESS</a:t>
                </a:r>
              </a:p>
            </p:txBody>
          </p:sp>
        </p:grpSp>
        <p:sp>
          <p:nvSpPr>
            <p:cNvPr id="319" name="TextBox 318">
              <a:extLst>
                <a:ext uri="{FF2B5EF4-FFF2-40B4-BE49-F238E27FC236}">
                  <a16:creationId xmlns:a16="http://schemas.microsoft.com/office/drawing/2014/main" id="{3ED3B12A-AD15-821E-CFD7-D9DD99D19D30}"/>
                </a:ext>
              </a:extLst>
            </p:cNvPr>
            <p:cNvSpPr txBox="1"/>
            <p:nvPr/>
          </p:nvSpPr>
          <p:spPr>
            <a:xfrm>
              <a:off x="6419088" y="5049520"/>
              <a:ext cx="5303520" cy="1264449"/>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500"/>
                </a:spcAft>
                <a:buClrTx/>
                <a:buSzTx/>
                <a:buFontTx/>
                <a:buNone/>
                <a:tabLst/>
                <a:defRPr/>
              </a:pPr>
              <a:r>
                <a:rPr kumimoji="0" sz="1300" b="0"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Respondents expect major change ahead, yet </a:t>
              </a:r>
              <a:r>
                <a:rPr kumimoji="0" sz="1300" b="1"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nearly half (48%) are still investing mainly to </a:t>
              </a:r>
              <a:r>
                <a:rPr kumimoji="0" lang="en-US" sz="1300" b="1"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remediate</a:t>
              </a:r>
              <a:r>
                <a:rPr kumimoji="0" sz="1300" b="1"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 existing compliance gaps</a:t>
              </a:r>
              <a:r>
                <a:rPr kumimoji="0" sz="1300" b="0"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a:t>
              </a:r>
            </a:p>
            <a:p>
              <a:pPr marL="0" marR="0" lvl="0" indent="0" algn="l" defTabSz="457200" rtl="0" eaLnBrk="1" fontAlgn="auto" latinLnBrk="0" hangingPunct="1">
                <a:lnSpc>
                  <a:spcPct val="100000"/>
                </a:lnSpc>
                <a:spcBef>
                  <a:spcPts val="0"/>
                </a:spcBef>
                <a:spcAft>
                  <a:spcPts val="500"/>
                </a:spcAft>
                <a:buClrTx/>
                <a:buSzTx/>
                <a:buFontTx/>
                <a:buNone/>
                <a:tabLst/>
                <a:defRPr/>
              </a:pPr>
              <a:r>
                <a:rPr kumimoji="0" sz="1300" b="0"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For organizations </a:t>
              </a:r>
              <a:r>
                <a:rPr kumimoji="0" lang="en-US" sz="1300" b="0"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primarily </a:t>
              </a:r>
              <a:r>
                <a:rPr kumimoji="0" sz="1300" b="0"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focused on remediation, especially smaller institutions, each new wave of identity, data, AI and payment requirements risks adding to the backlog rather than being addressed ahead of time.</a:t>
              </a:r>
            </a:p>
          </p:txBody>
        </p:sp>
      </p:grpSp>
      <p:sp>
        <p:nvSpPr>
          <p:cNvPr id="331" name="Rounded Rectangle 11">
            <a:extLst>
              <a:ext uri="{FF2B5EF4-FFF2-40B4-BE49-F238E27FC236}">
                <a16:creationId xmlns:a16="http://schemas.microsoft.com/office/drawing/2014/main" id="{FCE5FC86-CD29-59ED-3AC5-2B73BEF7E523}"/>
              </a:ext>
            </a:extLst>
          </p:cNvPr>
          <p:cNvSpPr/>
          <p:nvPr/>
        </p:nvSpPr>
        <p:spPr>
          <a:xfrm>
            <a:off x="1815560" y="4576063"/>
            <a:ext cx="252000" cy="252000"/>
          </a:xfrm>
          <a:prstGeom prst="roundRect">
            <a:avLst>
              <a:gd name="adj" fmla="val 50000"/>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1000" b="1"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rPr>
              <a:t>#4</a:t>
            </a:r>
          </a:p>
        </p:txBody>
      </p:sp>
      <p:sp>
        <p:nvSpPr>
          <p:cNvPr id="335" name="Rounded Rectangle 11">
            <a:extLst>
              <a:ext uri="{FF2B5EF4-FFF2-40B4-BE49-F238E27FC236}">
                <a16:creationId xmlns:a16="http://schemas.microsoft.com/office/drawing/2014/main" id="{DC1FFB48-6D5A-4399-5C1E-89B5B01023E9}"/>
              </a:ext>
            </a:extLst>
          </p:cNvPr>
          <p:cNvSpPr/>
          <p:nvPr/>
        </p:nvSpPr>
        <p:spPr>
          <a:xfrm>
            <a:off x="3717512" y="4576063"/>
            <a:ext cx="252000" cy="252000"/>
          </a:xfrm>
          <a:prstGeom prst="roundRect">
            <a:avLst>
              <a:gd name="adj" fmla="val 50000"/>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1000" b="1"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rPr>
              <a:t>#5</a:t>
            </a:r>
          </a:p>
        </p:txBody>
      </p:sp>
      <p:sp>
        <p:nvSpPr>
          <p:cNvPr id="337" name="Rounded Rectangle 11">
            <a:extLst>
              <a:ext uri="{FF2B5EF4-FFF2-40B4-BE49-F238E27FC236}">
                <a16:creationId xmlns:a16="http://schemas.microsoft.com/office/drawing/2014/main" id="{3B6C0846-968D-D788-400D-2E78B3E0BD4F}"/>
              </a:ext>
            </a:extLst>
          </p:cNvPr>
          <p:cNvSpPr/>
          <p:nvPr/>
        </p:nvSpPr>
        <p:spPr>
          <a:xfrm>
            <a:off x="5619464" y="4576063"/>
            <a:ext cx="252000" cy="252000"/>
          </a:xfrm>
          <a:prstGeom prst="roundRect">
            <a:avLst>
              <a:gd name="adj" fmla="val 50000"/>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1000" b="1"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rPr>
              <a:t>#6</a:t>
            </a:r>
          </a:p>
        </p:txBody>
      </p:sp>
      <p:sp>
        <p:nvSpPr>
          <p:cNvPr id="339" name="Flowchart: Manual Operation 338">
            <a:extLst>
              <a:ext uri="{FF2B5EF4-FFF2-40B4-BE49-F238E27FC236}">
                <a16:creationId xmlns:a16="http://schemas.microsoft.com/office/drawing/2014/main" id="{156BB1FC-2C85-62C9-E326-82A099748C3F}"/>
              </a:ext>
            </a:extLst>
          </p:cNvPr>
          <p:cNvSpPr/>
          <p:nvPr/>
        </p:nvSpPr>
        <p:spPr>
          <a:xfrm rot="10800000">
            <a:off x="4245518" y="5349911"/>
            <a:ext cx="1606642" cy="288888"/>
          </a:xfrm>
          <a:prstGeom prst="flowChartManualOperation">
            <a:avLst/>
          </a:prstGeom>
          <a:solidFill>
            <a:srgbClr val="F0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CA" sz="1400" b="0" i="0" u="none" strike="noStrike" kern="0" cap="none" spc="0" normalizeH="0" baseline="0" noProof="0" dirty="0">
              <a:ln>
                <a:noFill/>
              </a:ln>
              <a:solidFill>
                <a:prstClr val="white"/>
              </a:solidFill>
              <a:effectLst/>
              <a:uLnTx/>
              <a:uFillTx/>
              <a:latin typeface="Calibri"/>
              <a:ea typeface="+mn-ea"/>
              <a:cs typeface="+mn-cs"/>
              <a:sym typeface="Arial"/>
            </a:endParaRPr>
          </a:p>
        </p:txBody>
      </p:sp>
      <p:sp>
        <p:nvSpPr>
          <p:cNvPr id="6" name="TextBox 5">
            <a:extLst>
              <a:ext uri="{FF2B5EF4-FFF2-40B4-BE49-F238E27FC236}">
                <a16:creationId xmlns:a16="http://schemas.microsoft.com/office/drawing/2014/main" id="{7EE09981-8DEA-F181-B01F-04152660437E}"/>
              </a:ext>
            </a:extLst>
          </p:cNvPr>
          <p:cNvSpPr txBox="1"/>
          <p:nvPr/>
        </p:nvSpPr>
        <p:spPr>
          <a:xfrm>
            <a:off x="2308861" y="3959620"/>
            <a:ext cx="1841435" cy="21544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800" b="1"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rPr>
              <a:t>Banking 72% · Insurance 68% </a:t>
            </a:r>
            <a:endParaRPr kumimoji="0" lang="en-CA" sz="800" b="1" i="0" u="none" strike="noStrike" kern="0" cap="none" spc="0" normalizeH="0" baseline="0" noProof="0" dirty="0">
              <a:ln>
                <a:noFill/>
              </a:ln>
              <a:solidFill>
                <a:prstClr val="white"/>
              </a:solidFill>
              <a:effectLst/>
              <a:uLnTx/>
              <a:uFillTx/>
              <a:latin typeface="Arial"/>
              <a:cs typeface="Arial"/>
              <a:sym typeface="Arial"/>
            </a:endParaRPr>
          </a:p>
        </p:txBody>
      </p:sp>
      <p:sp>
        <p:nvSpPr>
          <p:cNvPr id="12" name="TextBox 11">
            <a:extLst>
              <a:ext uri="{FF2B5EF4-FFF2-40B4-BE49-F238E27FC236}">
                <a16:creationId xmlns:a16="http://schemas.microsoft.com/office/drawing/2014/main" id="{2CC6B312-75F5-46DD-359F-B76D89F34923}"/>
              </a:ext>
            </a:extLst>
          </p:cNvPr>
          <p:cNvSpPr txBox="1"/>
          <p:nvPr/>
        </p:nvSpPr>
        <p:spPr>
          <a:xfrm>
            <a:off x="6202458" y="3959620"/>
            <a:ext cx="1841435" cy="21544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800" b="1"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rPr>
              <a:t>Banking 68% · Insurance 60% </a:t>
            </a:r>
            <a:endParaRPr kumimoji="0" lang="en-CA" sz="800" b="1" i="0" u="none" strike="noStrike" kern="0" cap="none" spc="0" normalizeH="0" baseline="0" noProof="0" dirty="0">
              <a:ln>
                <a:noFill/>
              </a:ln>
              <a:solidFill>
                <a:prstClr val="white"/>
              </a:solidFill>
              <a:effectLst/>
              <a:uLnTx/>
              <a:uFillTx/>
              <a:latin typeface="Arial"/>
              <a:cs typeface="Arial"/>
              <a:sym typeface="Arial"/>
            </a:endParaRPr>
          </a:p>
        </p:txBody>
      </p:sp>
      <p:sp>
        <p:nvSpPr>
          <p:cNvPr id="16" name="TextBox 15">
            <a:extLst>
              <a:ext uri="{FF2B5EF4-FFF2-40B4-BE49-F238E27FC236}">
                <a16:creationId xmlns:a16="http://schemas.microsoft.com/office/drawing/2014/main" id="{48BCB576-1AE6-792F-A8B3-5A676062B0A7}"/>
              </a:ext>
            </a:extLst>
          </p:cNvPr>
          <p:cNvSpPr txBox="1"/>
          <p:nvPr/>
        </p:nvSpPr>
        <p:spPr>
          <a:xfrm>
            <a:off x="5326158" y="4112020"/>
            <a:ext cx="1841435" cy="21544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800" b="1"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rPr>
              <a:t>Banking 72% · Insurance 68% </a:t>
            </a:r>
            <a:endParaRPr kumimoji="0" lang="en-CA" sz="800" b="1" i="0" u="none" strike="noStrike" kern="0" cap="none" spc="0" normalizeH="0" baseline="0" noProof="0" dirty="0">
              <a:ln>
                <a:noFill/>
              </a:ln>
              <a:solidFill>
                <a:prstClr val="white"/>
              </a:solidFill>
              <a:effectLst/>
              <a:uLnTx/>
              <a:uFillTx/>
              <a:latin typeface="Arial"/>
              <a:cs typeface="Arial"/>
              <a:sym typeface="Arial"/>
            </a:endParaRPr>
          </a:p>
        </p:txBody>
      </p:sp>
      <p:sp>
        <p:nvSpPr>
          <p:cNvPr id="18" name="TextBox 17">
            <a:extLst>
              <a:ext uri="{FF2B5EF4-FFF2-40B4-BE49-F238E27FC236}">
                <a16:creationId xmlns:a16="http://schemas.microsoft.com/office/drawing/2014/main" id="{3D4041ED-AA2C-B7B0-922C-60A2154AF6D8}"/>
              </a:ext>
            </a:extLst>
          </p:cNvPr>
          <p:cNvSpPr txBox="1"/>
          <p:nvPr/>
        </p:nvSpPr>
        <p:spPr>
          <a:xfrm>
            <a:off x="10102374" y="3959620"/>
            <a:ext cx="1841435" cy="21544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800" b="1"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rPr>
              <a:t>Banking 61% · Insurance 76% </a:t>
            </a:r>
            <a:endParaRPr kumimoji="0" lang="en-CA" sz="800" b="1" i="0" u="none" strike="noStrike" kern="0" cap="none" spc="0" normalizeH="0" baseline="0" noProof="0" dirty="0">
              <a:ln>
                <a:noFill/>
              </a:ln>
              <a:solidFill>
                <a:prstClr val="white"/>
              </a:solidFill>
              <a:effectLst/>
              <a:uLnTx/>
              <a:uFillTx/>
              <a:latin typeface="Arial"/>
              <a:cs typeface="Arial"/>
              <a:sym typeface="Arial"/>
            </a:endParaRPr>
          </a:p>
        </p:txBody>
      </p:sp>
      <p:grpSp>
        <p:nvGrpSpPr>
          <p:cNvPr id="21" name="Group 20">
            <a:extLst>
              <a:ext uri="{FF2B5EF4-FFF2-40B4-BE49-F238E27FC236}">
                <a16:creationId xmlns:a16="http://schemas.microsoft.com/office/drawing/2014/main" id="{E0DE12D1-6D6B-3E0E-41CE-FD8EC00F69D2}"/>
              </a:ext>
            </a:extLst>
          </p:cNvPr>
          <p:cNvGrpSpPr/>
          <p:nvPr/>
        </p:nvGrpSpPr>
        <p:grpSpPr>
          <a:xfrm>
            <a:off x="249638" y="464705"/>
            <a:ext cx="11521440" cy="585793"/>
            <a:chOff x="249638" y="464705"/>
            <a:chExt cx="11521440" cy="585793"/>
          </a:xfrm>
        </p:grpSpPr>
        <p:sp>
          <p:nvSpPr>
            <p:cNvPr id="22" name="Text 22">
              <a:extLst>
                <a:ext uri="{FF2B5EF4-FFF2-40B4-BE49-F238E27FC236}">
                  <a16:creationId xmlns:a16="http://schemas.microsoft.com/office/drawing/2014/main" id="{660B26CA-2F4B-98B0-506D-013D2DFDA47A}"/>
                </a:ext>
              </a:extLst>
            </p:cNvPr>
            <p:cNvSpPr/>
            <p:nvPr/>
          </p:nvSpPr>
          <p:spPr>
            <a:xfrm>
              <a:off x="249638" y="464705"/>
              <a:ext cx="7847726" cy="232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0" cap="none" spc="80" normalizeH="0" baseline="0" noProof="0" dirty="0">
                  <a:ln>
                    <a:noFill/>
                  </a:ln>
                  <a:solidFill>
                    <a:srgbClr val="4EA72E"/>
                  </a:solidFill>
                  <a:effectLst/>
                  <a:uLnTx/>
                  <a:uFillTx/>
                  <a:latin typeface="Segoe UI" panose="020B0502040204020203" pitchFamily="34" charset="0"/>
                  <a:ea typeface="Arial" pitchFamily="34" charset="-122"/>
                  <a:cs typeface="Segoe UI" panose="020B0502040204020203" pitchFamily="34" charset="0"/>
                  <a:sym typeface="Arial"/>
                </a:rPr>
                <a:t>WHATS COMING NEXT</a:t>
              </a:r>
            </a:p>
          </p:txBody>
        </p:sp>
        <p:sp>
          <p:nvSpPr>
            <p:cNvPr id="23" name="TextBox 22">
              <a:extLst>
                <a:ext uri="{FF2B5EF4-FFF2-40B4-BE49-F238E27FC236}">
                  <a16:creationId xmlns:a16="http://schemas.microsoft.com/office/drawing/2014/main" id="{676B8D1E-5DFC-6C6C-DEAF-F83A771FE297}"/>
                </a:ext>
              </a:extLst>
            </p:cNvPr>
            <p:cNvSpPr txBox="1"/>
            <p:nvPr/>
          </p:nvSpPr>
          <p:spPr>
            <a:xfrm>
              <a:off x="249638" y="711944"/>
              <a:ext cx="11521440" cy="338554"/>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kumimoji="0" lang="en-US" sz="2200" b="1" i="0" u="none" strike="noStrike" kern="1200" cap="none" spc="0" normalizeH="0" baseline="0" noProof="0" dirty="0">
                  <a:ln>
                    <a:noFill/>
                  </a:ln>
                  <a:solidFill>
                    <a:srgbClr val="111111"/>
                  </a:solidFill>
                  <a:effectLst/>
                  <a:uLnTx/>
                  <a:uFillTx/>
                  <a:latin typeface="Segoe UI" panose="020B0502040204020203" pitchFamily="34" charset="0"/>
                  <a:cs typeface="Segoe UI" panose="020B0502040204020203" pitchFamily="34" charset="0"/>
                  <a:sym typeface="Arial"/>
                </a:rPr>
                <a:t>Top of mind changes: Customer identity, AI governance, &amp; payment innovation</a:t>
              </a:r>
            </a:p>
          </p:txBody>
        </p:sp>
      </p:grpSp>
      <p:sp>
        <p:nvSpPr>
          <p:cNvPr id="24" name="TextBox 23">
            <a:extLst>
              <a:ext uri="{FF2B5EF4-FFF2-40B4-BE49-F238E27FC236}">
                <a16:creationId xmlns:a16="http://schemas.microsoft.com/office/drawing/2014/main" id="{9540EB17-5DE2-BFA8-EC9E-D88A14C8F494}"/>
              </a:ext>
            </a:extLst>
          </p:cNvPr>
          <p:cNvSpPr txBox="1"/>
          <p:nvPr/>
        </p:nvSpPr>
        <p:spPr>
          <a:xfrm>
            <a:off x="320040" y="1155192"/>
            <a:ext cx="11521440" cy="646331"/>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kumimoji="0" lang="en-US" sz="1400" b="0" i="0" u="none" strike="noStrike" kern="1200" cap="none" spc="0" normalizeH="0" baseline="0" noProof="0" dirty="0">
                <a:ln>
                  <a:noFill/>
                </a:ln>
                <a:solidFill>
                  <a:srgbClr val="404040"/>
                </a:solidFill>
                <a:effectLst/>
                <a:uLnTx/>
                <a:uFillTx/>
                <a:latin typeface="Segoe UI" panose="020B0502040204020203" pitchFamily="34" charset="0"/>
                <a:cs typeface="Segoe UI" panose="020B0502040204020203" pitchFamily="34" charset="0"/>
                <a:sym typeface="Arial"/>
              </a:rPr>
              <a:t>Respondents were asked which </a:t>
            </a:r>
            <a:r>
              <a:rPr kumimoji="0" lang="en-US" sz="1400" b="1" i="0" u="none" strike="noStrike" kern="1200" cap="none" spc="0" normalizeH="0" baseline="0" noProof="0" dirty="0">
                <a:ln>
                  <a:noFill/>
                </a:ln>
                <a:solidFill>
                  <a:srgbClr val="404040"/>
                </a:solidFill>
                <a:effectLst/>
                <a:uLnTx/>
                <a:uFillTx/>
                <a:latin typeface="Segoe UI" panose="020B0502040204020203" pitchFamily="34" charset="0"/>
                <a:cs typeface="Segoe UI" panose="020B0502040204020203" pitchFamily="34" charset="0"/>
                <a:sym typeface="Arial"/>
              </a:rPr>
              <a:t>upcoming regulatory or market changes will have the greatest impact on their fraud programs</a:t>
            </a:r>
            <a:r>
              <a:rPr kumimoji="0" lang="en-US" sz="1400" b="0" i="0" u="none" strike="noStrike" kern="1200" cap="none" spc="0" normalizeH="0" baseline="0" noProof="0" dirty="0">
                <a:ln>
                  <a:noFill/>
                </a:ln>
                <a:solidFill>
                  <a:srgbClr val="404040"/>
                </a:solidFill>
                <a:effectLst/>
                <a:uLnTx/>
                <a:uFillTx/>
                <a:latin typeface="Segoe UI" panose="020B0502040204020203" pitchFamily="34" charset="0"/>
                <a:cs typeface="Segoe UI" panose="020B0502040204020203" pitchFamily="34" charset="0"/>
                <a:sym typeface="Arial"/>
              </a:rPr>
              <a:t>, respondents converged on three. Together, they point to a fraud landscape being reshaped by how customers are verified, how data and AI are governed, and how fast money moves.</a:t>
            </a:r>
          </a:p>
        </p:txBody>
      </p:sp>
      <p:sp>
        <p:nvSpPr>
          <p:cNvPr id="4" name="Rectangle 3">
            <a:extLst>
              <a:ext uri="{FF2B5EF4-FFF2-40B4-BE49-F238E27FC236}">
                <a16:creationId xmlns:a16="http://schemas.microsoft.com/office/drawing/2014/main" id="{8FF5E665-4951-2A5F-CD48-9273B05E314A}"/>
              </a:ext>
            </a:extLst>
          </p:cNvPr>
          <p:cNvSpPr/>
          <p:nvPr/>
        </p:nvSpPr>
        <p:spPr>
          <a:xfrm>
            <a:off x="208221" y="6680947"/>
            <a:ext cx="2769649" cy="11694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marL="0" marR="0" lvl="0" indent="0" algn="just" defTabSz="914400" rtl="0" eaLnBrk="1" fontAlgn="auto" latinLnBrk="0" hangingPunct="1">
              <a:lnSpc>
                <a:spcPct val="100000"/>
              </a:lnSpc>
              <a:spcBef>
                <a:spcPts val="0"/>
              </a:spcBef>
              <a:spcAft>
                <a:spcPts val="0"/>
              </a:spcAft>
              <a:buClrTx/>
              <a:buSzTx/>
              <a:buFont typeface="Arial"/>
              <a:buNone/>
              <a:tabLst/>
              <a:defRPr/>
            </a:pPr>
            <a:r>
              <a:rPr kumimoji="0" lang="en-US" sz="800" b="0" i="0" u="none" strike="noStrike" kern="1200" cap="none" spc="0" normalizeH="0" baseline="0" noProof="0" dirty="0">
                <a:ln>
                  <a:noFill/>
                </a:ln>
                <a:solidFill>
                  <a:srgbClr val="000000">
                    <a:lumMod val="75000"/>
                    <a:lumOff val="25000"/>
                  </a:srgbClr>
                </a:solidFill>
                <a:effectLst/>
                <a:uLnTx/>
                <a:uFillTx/>
                <a:latin typeface="Segoe UI" panose="020B0502040204020203" pitchFamily="34" charset="0"/>
                <a:ea typeface="Open Sans" panose="020B0606030504020204" pitchFamily="34" charset="0"/>
                <a:cs typeface="Segoe UI" panose="020B0502040204020203" pitchFamily="34" charset="0"/>
                <a:sym typeface="Arial"/>
              </a:rPr>
              <a:t>For detailed data please refer to </a:t>
            </a:r>
            <a:r>
              <a:rPr kumimoji="0" lang="en-US" sz="800" b="0" i="0" u="none" strike="noStrike" kern="1200" cap="none" spc="0" normalizeH="0" baseline="0" noProof="0" dirty="0">
                <a:ln>
                  <a:noFill/>
                </a:ln>
                <a:solidFill>
                  <a:srgbClr val="000000">
                    <a:lumMod val="75000"/>
                    <a:lumOff val="25000"/>
                  </a:srgbClr>
                </a:solidFill>
                <a:effectLst/>
                <a:uLnTx/>
                <a:uFillTx/>
                <a:latin typeface="Segoe UI" panose="020B0502040204020203" pitchFamily="34" charset="0"/>
                <a:ea typeface="Open Sans" panose="020B0606030504020204" pitchFamily="34" charset="0"/>
                <a:cs typeface="Segoe UI" panose="020B0502040204020203" pitchFamily="34" charset="0"/>
                <a:sym typeface="Arial"/>
                <a:hlinkClick r:id="" action="ppaction://noaction"/>
              </a:rPr>
              <a:t>Appendix – E </a:t>
            </a:r>
            <a:endParaRPr kumimoji="0" lang="en-US" sz="800" b="0" i="0" u="none" strike="noStrike" kern="1200" cap="none" spc="0" normalizeH="0" baseline="0" noProof="0" dirty="0">
              <a:ln>
                <a:noFill/>
              </a:ln>
              <a:solidFill>
                <a:srgbClr val="000000">
                  <a:lumMod val="75000"/>
                  <a:lumOff val="25000"/>
                </a:srgbClr>
              </a:solidFill>
              <a:effectLst/>
              <a:uLnTx/>
              <a:uFillTx/>
              <a:latin typeface="Segoe UI" panose="020B0502040204020203" pitchFamily="34" charset="0"/>
              <a:ea typeface="Open Sans" panose="020B0606030504020204" pitchFamily="34" charset="0"/>
              <a:cs typeface="Segoe UI" panose="020B0502040204020203" pitchFamily="34" charset="0"/>
              <a:sym typeface="Arial"/>
            </a:endParaRPr>
          </a:p>
        </p:txBody>
      </p:sp>
    </p:spTree>
    <p:extLst>
      <p:ext uri="{BB962C8B-B14F-4D97-AF65-F5344CB8AC3E}">
        <p14:creationId xmlns:p14="http://schemas.microsoft.com/office/powerpoint/2010/main" val="41501661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80000"/>
            <a:lum/>
          </a:blip>
          <a:srcRect/>
          <a:stretch>
            <a:fillRect/>
          </a:stretch>
        </a:blipFill>
        <a:effectLst/>
      </p:bgPr>
    </p:bg>
    <p:spTree>
      <p:nvGrpSpPr>
        <p:cNvPr id="1" name="">
          <a:extLst>
            <a:ext uri="{FF2B5EF4-FFF2-40B4-BE49-F238E27FC236}">
              <a16:creationId xmlns:a16="http://schemas.microsoft.com/office/drawing/2014/main" id="{496308F7-D832-EB30-B8B8-FAC27973DC11}"/>
            </a:ext>
          </a:extLst>
        </p:cNvPr>
        <p:cNvGrpSpPr/>
        <p:nvPr/>
      </p:nvGrpSpPr>
      <p:grpSpPr>
        <a:xfrm>
          <a:off x="0" y="0"/>
          <a:ext cx="0" cy="0"/>
          <a:chOff x="0" y="0"/>
          <a:chExt cx="0" cy="0"/>
        </a:xfrm>
      </p:grpSpPr>
      <p:sp>
        <p:nvSpPr>
          <p:cNvPr id="10" name="Text Placeholder 3">
            <a:extLst>
              <a:ext uri="{FF2B5EF4-FFF2-40B4-BE49-F238E27FC236}">
                <a16:creationId xmlns:a16="http://schemas.microsoft.com/office/drawing/2014/main" id="{1CCCB8C9-6701-31FE-2275-E7EE13079598}"/>
              </a:ext>
            </a:extLst>
          </p:cNvPr>
          <p:cNvSpPr txBox="1">
            <a:spLocks/>
          </p:cNvSpPr>
          <p:nvPr/>
        </p:nvSpPr>
        <p:spPr>
          <a:xfrm>
            <a:off x="0" y="0"/>
            <a:ext cx="12192000" cy="6858000"/>
          </a:xfrm>
          <a:prstGeom prst="rect">
            <a:avLst/>
          </a:prstGeom>
          <a:solidFill>
            <a:schemeClr val="tx1">
              <a:lumMod val="75000"/>
              <a:lumOff val="25000"/>
              <a:alpha val="70000"/>
            </a:schemeClr>
          </a:solidFill>
          <a:ln>
            <a:noFill/>
          </a:ln>
        </p:spPr>
        <p:txBody>
          <a:bodyPr spcFirstLastPara="1" wrap="square" lIns="365760" tIns="182880" rIns="0" bIns="0" anchor="ctr"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Open Sans"/>
                <a:ea typeface="Open Sans"/>
                <a:cs typeface="Open Sans"/>
                <a:sym typeface="Open Sans"/>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Open Sans"/>
                <a:ea typeface="Open Sans"/>
                <a:cs typeface="Open Sans"/>
                <a:sym typeface="Open Sans"/>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Open Sans"/>
                <a:ea typeface="Open Sans"/>
                <a:cs typeface="Open Sans"/>
                <a:sym typeface="Open Sans"/>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pen Sans"/>
                <a:ea typeface="Open Sans"/>
                <a:cs typeface="Open Sans"/>
                <a:sym typeface="Open Sans"/>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pen Sans"/>
                <a:ea typeface="Open Sans"/>
                <a:cs typeface="Open Sans"/>
                <a:sym typeface="Open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sz="2800" b="1" i="0" u="none" strike="noStrike" kern="0" cap="none" spc="0" normalizeH="0" baseline="0" noProof="0" dirty="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sz="2800" b="1" i="0" u="none" strike="noStrike" kern="0" cap="none" spc="0" normalizeH="0" baseline="0" noProof="0" dirty="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sz="2800" b="1" i="0" u="none" strike="noStrike" kern="0" cap="none" spc="0" normalizeH="0" baseline="0" noProof="0" dirty="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sz="2800" b="1" i="0" u="none" strike="noStrike" kern="0" cap="none" spc="0" normalizeH="0" baseline="0" noProof="0" dirty="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sz="2800" b="1" i="0" u="none" strike="noStrike" kern="0" cap="none" spc="0" normalizeH="0" baseline="0" noProof="0" dirty="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r>
              <a:rPr kumimoji="0" lang="en-US" sz="2800" b="1" i="0" u="none" strike="noStrike" kern="0" cap="none" spc="0" normalizeH="0" baseline="0" noProof="0" dirty="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rPr>
              <a:t>Appendices</a:t>
            </a: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sz="2800" b="0" i="0" u="none" strike="noStrike" kern="0" cap="none" spc="0" normalizeH="0" baseline="0" noProof="0" dirty="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br>
              <a:rPr kumimoji="0" lang="en-US" sz="2000" b="0" i="1" u="none" strike="noStrike" kern="0" cap="none" spc="0" normalizeH="0" baseline="0" noProof="0" dirty="0">
                <a:ln>
                  <a:noFill/>
                </a:ln>
                <a:solidFill>
                  <a:srgbClr val="FFFFFF"/>
                </a:solidFill>
                <a:effectLst/>
                <a:uLnTx/>
                <a:uFillTx/>
                <a:latin typeface="Calibri" pitchFamily="34" charset="0"/>
                <a:ea typeface="Calibri" pitchFamily="34" charset="-122"/>
                <a:cs typeface="Calibri" pitchFamily="34" charset="-120"/>
                <a:sym typeface="Open Sans"/>
              </a:rPr>
            </a:br>
            <a:endParaRPr kumimoji="0" lang="en-US" sz="2000" b="0" i="1" u="none" strike="noStrike" kern="0" cap="none" spc="0" normalizeH="0" baseline="0" noProof="0" dirty="0">
              <a:ln>
                <a:noFill/>
              </a:ln>
              <a:solidFill>
                <a:srgbClr val="FFFFFF"/>
              </a:solidFill>
              <a:effectLst/>
              <a:uLnTx/>
              <a:uFillTx/>
              <a:latin typeface="Calibri" pitchFamily="34" charset="0"/>
              <a:ea typeface="Calibri" pitchFamily="34" charset="-122"/>
              <a:cs typeface="Calibri" pitchFamily="34" charset="-120"/>
              <a:sym typeface="Open Sans"/>
            </a:endParaRPr>
          </a:p>
        </p:txBody>
      </p:sp>
    </p:spTree>
    <p:extLst>
      <p:ext uri="{BB962C8B-B14F-4D97-AF65-F5344CB8AC3E}">
        <p14:creationId xmlns:p14="http://schemas.microsoft.com/office/powerpoint/2010/main" val="355527743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006" y="292608"/>
            <a:ext cx="11188598" cy="182880"/>
          </a:xfrm>
          <a:prstGeom prst="rect">
            <a:avLst/>
          </a:prstGeom>
          <a:noFill/>
          <a:ln/>
        </p:spPr>
        <p:txBody>
          <a:bodyPr wrap="square" lIns="0" tIns="0" rIns="0" bIns="0" rtlCol="0" anchor="t"/>
          <a:lstStyle/>
          <a:p>
            <a:pPr algn="l" indent="0" marL="0">
              <a:buNone/>
            </a:pPr>
            <a:r>
              <a:rPr lang="en-US" sz="1050" b="1" spc="150" kern="0" dirty="0">
                <a:solidFill>
                  <a:srgbClr val="046A38"/>
                </a:solidFill>
                <a:latin typeface="Calibri" pitchFamily="34" charset="0"/>
                <a:ea typeface="Calibri" pitchFamily="34" charset="-122"/>
                <a:cs typeface="Calibri" pitchFamily="34" charset="-120"/>
              </a:rPr>
              <a:t>APPENDIX</a:t>
            </a:r>
            <a:endParaRPr lang="en-US" sz="1050" dirty="0"/>
          </a:p>
        </p:txBody>
      </p:sp>
      <p:sp>
        <p:nvSpPr>
          <p:cNvPr id="3" name="Text 1"/>
          <p:cNvSpPr txBox="1"/>
          <p:nvPr/>
        </p:nvSpPr>
        <p:spPr>
          <a:xfrm>
            <a:off x="502006" y="475488"/>
            <a:ext cx="11188598" cy="310896"/>
          </a:xfrm>
          <a:prstGeom prst="rect">
            <a:avLst/>
          </a:prstGeom>
          <a:noFill/>
          <a:ln/>
        </p:spPr>
        <p:txBody>
          <a:bodyPr wrap="squar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Methodology</a:t>
            </a:r>
            <a:endParaRPr lang="en-US" sz="1900" dirty="0"/>
          </a:p>
        </p:txBody>
      </p:sp>
      <p:sp>
        <p:nvSpPr>
          <p:cNvPr id="4" name="Text 2"/>
          <p:cNvSpPr txBox="1"/>
          <p:nvPr/>
        </p:nvSpPr>
        <p:spPr>
          <a:xfrm>
            <a:off x="502006" y="804672"/>
            <a:ext cx="11188598" cy="713232"/>
          </a:xfrm>
          <a:prstGeom prst="rect">
            <a:avLst/>
          </a:prstGeom>
          <a:noFill/>
          <a:ln/>
        </p:spPr>
        <p:txBody>
          <a:bodyPr wrap="square" lIns="0" tIns="0" rIns="0" bIns="0" rtlCol="0" anchor="t"/>
          <a:lstStyle/>
          <a:p>
            <a:pPr algn="l" indent="0" marL="0">
              <a:lnSpc>
                <a:spcPct val="105000"/>
              </a:lnSpc>
              <a:buNone/>
            </a:pPr>
            <a:r>
              <a:rPr lang="en-US" sz="1300" b="1" dirty="0">
                <a:solidFill>
                  <a:srgbClr val="046A38"/>
                </a:solidFill>
                <a:latin typeface="Calibri" pitchFamily="34" charset="0"/>
                <a:ea typeface="Calibri" pitchFamily="34" charset="-122"/>
                <a:cs typeface="Calibri" pitchFamily="34" charset="-120"/>
              </a:rPr>
              <a:t>A quantitative survey of senior fraud risk leaders across banking and insurance, fielded globally.</a:t>
            </a:r>
            <a:endParaRPr lang="en-US" sz="1300" dirty="0"/>
          </a:p>
        </p:txBody>
      </p:sp>
      <p:sp>
        <p:nvSpPr>
          <p:cNvPr id="5" name="Text 3"/>
          <p:cNvSpPr txBox="1"/>
          <p:nvPr/>
        </p:nvSpPr>
        <p:spPr>
          <a:xfrm>
            <a:off x="11346790" y="6537960"/>
            <a:ext cx="343814" cy="182880"/>
          </a:xfrm>
          <a:prstGeom prst="rect">
            <a:avLst/>
          </a:prstGeom>
          <a:noFill/>
          <a:ln/>
        </p:spPr>
        <p:txBody>
          <a:bodyPr wrap="square" rtlCol="0" anchor="ctr"/>
          <a:lstStyle/>
          <a:p>
            <a:pPr algn="r" indent="0" marL="0">
              <a:buNone/>
            </a:pPr>
            <a:r>
              <a:rPr lang="en-US" sz="900" dirty="0">
                <a:solidFill>
                  <a:srgbClr val="53565A"/>
                </a:solidFill>
                <a:latin typeface="Calibri" pitchFamily="34" charset="0"/>
                <a:ea typeface="Calibri" pitchFamily="34" charset="-122"/>
                <a:cs typeface="Calibri" pitchFamily="34" charset="-120"/>
              </a:rPr>
              <a:t>101</a:t>
            </a:r>
            <a:endParaRPr lang="en-US" sz="900" dirty="0"/>
          </a:p>
        </p:txBody>
      </p:sp>
      <p:sp>
        <p:nvSpPr>
          <p:cNvPr id="6" name="Text 4"/>
          <p:cNvSpPr txBox="1"/>
          <p:nvPr/>
        </p:nvSpPr>
        <p:spPr>
          <a:xfrm>
            <a:off x="502006" y="1627632"/>
            <a:ext cx="11188598" cy="1417320"/>
          </a:xfrm>
          <a:prstGeom prst="rect">
            <a:avLst/>
          </a:prstGeom>
          <a:noFill/>
          <a:ln/>
        </p:spPr>
        <p:txBody>
          <a:bodyPr wrap="square" lIns="0" tIns="0" rIns="0" bIns="0" rtlCol="0" anchor="t"/>
          <a:lstStyle/>
          <a:p>
            <a:pPr algn="l" indent="0" marL="0">
              <a:lnSpc>
                <a:spcPct val="118000"/>
              </a:lnSpc>
              <a:buNone/>
            </a:pPr>
            <a:r>
              <a:rPr lang="en-US" sz="1200" b="1" dirty="0">
                <a:solidFill>
                  <a:srgbClr val="000000"/>
                </a:solidFill>
                <a:latin typeface="Calibri" pitchFamily="34" charset="0"/>
                <a:ea typeface="Calibri" pitchFamily="34" charset="-122"/>
                <a:cs typeface="Calibri" pitchFamily="34" charset="-120"/>
              </a:rPr>
              <a:t>Objective
</a:t>
            </a:r>
            <a:endParaRPr lang="en-US" sz="1200" dirty="0"/>
          </a:p>
          <a:p>
            <a:pPr algn="l" indent="0" marL="0">
              <a:lnSpc>
                <a:spcPct val="118000"/>
              </a:lnSpc>
              <a:buNone/>
            </a:pPr>
            <a:r>
              <a:rPr lang="en-US" sz="1100" dirty="0">
                <a:solidFill>
                  <a:srgbClr val="53565A"/>
                </a:solidFill>
                <a:latin typeface="Calibri" pitchFamily="34" charset="0"/>
                <a:ea typeface="Calibri" pitchFamily="34" charset="-122"/>
                <a:cs typeface="Calibri" pitchFamily="34" charset="-120"/>
              </a:rPr>
              <a:t>This research was conducted to understand how banking and insurance fraud leaders are responding to the shifting fraud risk landscape — specifically the rise of AI-enabled and deepfake fraud, the barriers and opportunities around industry data sharing, the transformation of fraud operating models, and the growing challenge of managing regulatory expectations amid payment and market innovation.</a:t>
            </a:r>
            <a:endParaRPr lang="en-US" sz="1200" dirty="0"/>
          </a:p>
        </p:txBody>
      </p:sp>
      <p:sp>
        <p:nvSpPr>
          <p:cNvPr id="7" name="Text 5"/>
          <p:cNvSpPr txBox="1"/>
          <p:nvPr/>
        </p:nvSpPr>
        <p:spPr>
          <a:xfrm>
            <a:off x="502006" y="3163824"/>
            <a:ext cx="11188598" cy="1554480"/>
          </a:xfrm>
          <a:prstGeom prst="rect">
            <a:avLst/>
          </a:prstGeom>
          <a:noFill/>
          <a:ln/>
        </p:spPr>
        <p:txBody>
          <a:bodyPr wrap="square" lIns="0" tIns="0" rIns="0" bIns="0" rtlCol="0" anchor="t"/>
          <a:lstStyle/>
          <a:p>
            <a:pPr algn="l" indent="0" marL="0">
              <a:lnSpc>
                <a:spcPct val="118000"/>
              </a:lnSpc>
              <a:buNone/>
            </a:pPr>
            <a:r>
              <a:rPr lang="en-US" sz="1200" b="1" dirty="0">
                <a:solidFill>
                  <a:srgbClr val="000000"/>
                </a:solidFill>
                <a:latin typeface="Calibri" pitchFamily="34" charset="0"/>
                <a:ea typeface="Calibri" pitchFamily="34" charset="-122"/>
                <a:cs typeface="Calibri" pitchFamily="34" charset="-120"/>
              </a:rPr>
              <a:t>Survey Design &amp; Fielding
</a:t>
            </a:r>
            <a:endParaRPr lang="en-US" sz="1200" dirty="0"/>
          </a:p>
          <a:p>
            <a:pPr algn="l" indent="0" marL="0">
              <a:lnSpc>
                <a:spcPct val="118000"/>
              </a:lnSpc>
              <a:buNone/>
            </a:pPr>
            <a:r>
              <a:rPr lang="en-US" sz="1100" dirty="0">
                <a:solidFill>
                  <a:srgbClr val="53565A"/>
                </a:solidFill>
                <a:latin typeface="Calibri" pitchFamily="34" charset="0"/>
                <a:ea typeface="Calibri" pitchFamily="34" charset="-122"/>
                <a:cs typeface="Calibri" pitchFamily="34" charset="-120"/>
              </a:rPr>
              <a:t>Deloitte, in partnership with GLG (Gerson Lehrman Group), fielded a quantitative online survey of senior fraud risk leaders at large banking and insurance organizations across the United States, Canada, the United Kingdom, the EU, Australia, and Singapore. To qualify, respondents had to work in a fraud-specific function (Fraud Risk &amp; Governance, Fraud Operations, Fraud Strategy &amp; Transformation, Fraud Analytics/Intelligence, Special Investigations, or Fraud Investigations) at Senior Manager-level or above, at a Banking or Insurance Carrier organization classified as a Top 100/Large financial institution or Top 50/Large insurance carrier.</a:t>
            </a:r>
            <a:endParaRPr lang="en-US" sz="1200" dirty="0"/>
          </a:p>
        </p:txBody>
      </p:sp>
      <p:sp>
        <p:nvSpPr>
          <p:cNvPr id="8" name="Shape 6"/>
          <p:cNvSpPr/>
          <p:nvPr/>
        </p:nvSpPr>
        <p:spPr>
          <a:xfrm>
            <a:off x="502006" y="4873752"/>
            <a:ext cx="2646274" cy="914400"/>
          </a:xfrm>
          <a:prstGeom prst="roundRect">
            <a:avLst>
              <a:gd name="adj" fmla="val 6000"/>
            </a:avLst>
          </a:prstGeom>
          <a:solidFill>
            <a:srgbClr val="F2F2F2"/>
          </a:solidFill>
          <a:ln/>
        </p:spPr>
      </p:sp>
      <p:sp>
        <p:nvSpPr>
          <p:cNvPr id="9" name="Text 7"/>
          <p:cNvSpPr txBox="1"/>
          <p:nvPr/>
        </p:nvSpPr>
        <p:spPr>
          <a:xfrm>
            <a:off x="666598" y="4965192"/>
            <a:ext cx="2317090" cy="438912"/>
          </a:xfrm>
          <a:prstGeom prst="rect">
            <a:avLst/>
          </a:prstGeom>
          <a:noFill/>
          <a:ln/>
        </p:spPr>
        <p:txBody>
          <a:bodyPr wrap="square" lIns="0" tIns="0" rIns="0" bIns="0" rtlCol="0" anchor="b"/>
          <a:lstStyle/>
          <a:p>
            <a:pPr algn="l" indent="0" marL="0">
              <a:buNone/>
            </a:pPr>
            <a:r>
              <a:rPr lang="en-US" sz="2600" b="1" dirty="0">
                <a:solidFill>
                  <a:srgbClr val="046A38"/>
                </a:solidFill>
                <a:latin typeface="Calibri" pitchFamily="34" charset="0"/>
                <a:ea typeface="Calibri" pitchFamily="34" charset="-122"/>
                <a:cs typeface="Calibri" pitchFamily="34" charset="-120"/>
              </a:rPr>
              <a:t>922</a:t>
            </a:r>
            <a:endParaRPr lang="en-US" sz="2600" dirty="0"/>
          </a:p>
        </p:txBody>
      </p:sp>
      <p:sp>
        <p:nvSpPr>
          <p:cNvPr id="10" name="Text 8"/>
          <p:cNvSpPr txBox="1"/>
          <p:nvPr/>
        </p:nvSpPr>
        <p:spPr>
          <a:xfrm>
            <a:off x="666598" y="5385816"/>
            <a:ext cx="2317090" cy="365760"/>
          </a:xfrm>
          <a:prstGeom prst="rect">
            <a:avLst/>
          </a:prstGeom>
          <a:noFill/>
          <a:ln/>
        </p:spPr>
        <p:txBody>
          <a:bodyPr wrap="square" lIns="0" tIns="0" rIns="0" bIns="0" rtlCol="0" anchor="t"/>
          <a:lstStyle/>
          <a:p>
            <a:pPr algn="l" indent="0" marL="0">
              <a:lnSpc>
                <a:spcPct val="108000"/>
              </a:lnSpc>
              <a:buNone/>
            </a:pPr>
            <a:r>
              <a:rPr lang="en-US" sz="1000" dirty="0">
                <a:solidFill>
                  <a:srgbClr val="53565A"/>
                </a:solidFill>
                <a:latin typeface="Calibri" pitchFamily="34" charset="0"/>
                <a:ea typeface="Calibri" pitchFamily="34" charset="-122"/>
                <a:cs typeface="Calibri" pitchFamily="34" charset="-120"/>
              </a:rPr>
              <a:t>total respondents reached</a:t>
            </a:r>
            <a:endParaRPr lang="en-US" sz="1000" dirty="0"/>
          </a:p>
        </p:txBody>
      </p:sp>
      <p:sp>
        <p:nvSpPr>
          <p:cNvPr id="11" name="Shape 9"/>
          <p:cNvSpPr/>
          <p:nvPr/>
        </p:nvSpPr>
        <p:spPr>
          <a:xfrm>
            <a:off x="3349447" y="4873752"/>
            <a:ext cx="2646274" cy="914400"/>
          </a:xfrm>
          <a:prstGeom prst="roundRect">
            <a:avLst>
              <a:gd name="adj" fmla="val 6000"/>
            </a:avLst>
          </a:prstGeom>
          <a:solidFill>
            <a:srgbClr val="F2F2F2"/>
          </a:solidFill>
          <a:ln/>
        </p:spPr>
      </p:sp>
      <p:sp>
        <p:nvSpPr>
          <p:cNvPr id="12" name="Text 10"/>
          <p:cNvSpPr txBox="1"/>
          <p:nvPr/>
        </p:nvSpPr>
        <p:spPr>
          <a:xfrm>
            <a:off x="3514039" y="4965192"/>
            <a:ext cx="2317090" cy="438912"/>
          </a:xfrm>
          <a:prstGeom prst="rect">
            <a:avLst/>
          </a:prstGeom>
          <a:noFill/>
          <a:ln/>
        </p:spPr>
        <p:txBody>
          <a:bodyPr wrap="square" lIns="0" tIns="0" rIns="0" bIns="0" rtlCol="0" anchor="b"/>
          <a:lstStyle/>
          <a:p>
            <a:pPr algn="l" indent="0" marL="0">
              <a:buNone/>
            </a:pPr>
            <a:r>
              <a:rPr lang="en-US" sz="2600" b="1" dirty="0">
                <a:solidFill>
                  <a:srgbClr val="046A38"/>
                </a:solidFill>
                <a:latin typeface="Calibri" pitchFamily="34" charset="0"/>
                <a:ea typeface="Calibri" pitchFamily="34" charset="-122"/>
                <a:cs typeface="Calibri" pitchFamily="34" charset="-120"/>
              </a:rPr>
              <a:t>100</a:t>
            </a:r>
            <a:endParaRPr lang="en-US" sz="2600" dirty="0"/>
          </a:p>
        </p:txBody>
      </p:sp>
      <p:sp>
        <p:nvSpPr>
          <p:cNvPr id="13" name="Text 11"/>
          <p:cNvSpPr txBox="1"/>
          <p:nvPr/>
        </p:nvSpPr>
        <p:spPr>
          <a:xfrm>
            <a:off x="3514039" y="5385816"/>
            <a:ext cx="2317090" cy="365760"/>
          </a:xfrm>
          <a:prstGeom prst="rect">
            <a:avLst/>
          </a:prstGeom>
          <a:noFill/>
          <a:ln/>
        </p:spPr>
        <p:txBody>
          <a:bodyPr wrap="square" lIns="0" tIns="0" rIns="0" bIns="0" rtlCol="0" anchor="t"/>
          <a:lstStyle/>
          <a:p>
            <a:pPr algn="l" indent="0" marL="0">
              <a:lnSpc>
                <a:spcPct val="108000"/>
              </a:lnSpc>
              <a:buNone/>
            </a:pPr>
            <a:r>
              <a:rPr lang="en-US" sz="1000" dirty="0">
                <a:solidFill>
                  <a:srgbClr val="53565A"/>
                </a:solidFill>
                <a:latin typeface="Calibri" pitchFamily="34" charset="0"/>
                <a:ea typeface="Calibri" pitchFamily="34" charset="-122"/>
                <a:cs typeface="Calibri" pitchFamily="34" charset="-120"/>
              </a:rPr>
              <a:t>qualified and completed — 75 Banking / 25 Insurance</a:t>
            </a:r>
            <a:endParaRPr lang="en-US" sz="1000" dirty="0"/>
          </a:p>
        </p:txBody>
      </p:sp>
      <p:sp>
        <p:nvSpPr>
          <p:cNvPr id="14" name="Shape 12"/>
          <p:cNvSpPr/>
          <p:nvPr/>
        </p:nvSpPr>
        <p:spPr>
          <a:xfrm>
            <a:off x="6196889" y="4873752"/>
            <a:ext cx="2646274" cy="914400"/>
          </a:xfrm>
          <a:prstGeom prst="roundRect">
            <a:avLst>
              <a:gd name="adj" fmla="val 6000"/>
            </a:avLst>
          </a:prstGeom>
          <a:solidFill>
            <a:srgbClr val="F2F2F2"/>
          </a:solidFill>
          <a:ln/>
        </p:spPr>
      </p:sp>
      <p:sp>
        <p:nvSpPr>
          <p:cNvPr id="15" name="Text 13"/>
          <p:cNvSpPr txBox="1"/>
          <p:nvPr/>
        </p:nvSpPr>
        <p:spPr>
          <a:xfrm>
            <a:off x="6361481" y="4965192"/>
            <a:ext cx="2317090" cy="438912"/>
          </a:xfrm>
          <a:prstGeom prst="rect">
            <a:avLst/>
          </a:prstGeom>
          <a:noFill/>
          <a:ln/>
        </p:spPr>
        <p:txBody>
          <a:bodyPr wrap="square" lIns="0" tIns="0" rIns="0" bIns="0" rtlCol="0" anchor="b"/>
          <a:lstStyle/>
          <a:p>
            <a:pPr algn="l" indent="0" marL="0">
              <a:buNone/>
            </a:pPr>
            <a:r>
              <a:rPr lang="en-US" sz="2600" b="1" dirty="0">
                <a:solidFill>
                  <a:srgbClr val="046A38"/>
                </a:solidFill>
                <a:latin typeface="Calibri" pitchFamily="34" charset="0"/>
                <a:ea typeface="Calibri" pitchFamily="34" charset="-122"/>
                <a:cs typeface="Calibri" pitchFamily="34" charset="-120"/>
              </a:rPr>
              <a:t>76%</a:t>
            </a:r>
            <a:endParaRPr lang="en-US" sz="2600" dirty="0"/>
          </a:p>
        </p:txBody>
      </p:sp>
      <p:sp>
        <p:nvSpPr>
          <p:cNvPr id="16" name="Text 14"/>
          <p:cNvSpPr txBox="1"/>
          <p:nvPr/>
        </p:nvSpPr>
        <p:spPr>
          <a:xfrm>
            <a:off x="6361481" y="5385816"/>
            <a:ext cx="2317090" cy="365760"/>
          </a:xfrm>
          <a:prstGeom prst="rect">
            <a:avLst/>
          </a:prstGeom>
          <a:noFill/>
          <a:ln/>
        </p:spPr>
        <p:txBody>
          <a:bodyPr wrap="square" lIns="0" tIns="0" rIns="0" bIns="0" rtlCol="0" anchor="t"/>
          <a:lstStyle/>
          <a:p>
            <a:pPr algn="l" indent="0" marL="0">
              <a:lnSpc>
                <a:spcPct val="108000"/>
              </a:lnSpc>
              <a:buNone/>
            </a:pPr>
            <a:r>
              <a:rPr lang="en-US" sz="1000" dirty="0">
                <a:solidFill>
                  <a:srgbClr val="53565A"/>
                </a:solidFill>
                <a:latin typeface="Calibri" pitchFamily="34" charset="0"/>
                <a:ea typeface="Calibri" pitchFamily="34" charset="-122"/>
                <a:cs typeface="Calibri" pitchFamily="34" charset="-120"/>
              </a:rPr>
              <a:t>Director-level or above</a:t>
            </a:r>
            <a:endParaRPr lang="en-US" sz="1000" dirty="0"/>
          </a:p>
        </p:txBody>
      </p:sp>
      <p:sp>
        <p:nvSpPr>
          <p:cNvPr id="17" name="Shape 15"/>
          <p:cNvSpPr/>
          <p:nvPr/>
        </p:nvSpPr>
        <p:spPr>
          <a:xfrm>
            <a:off x="9044330" y="4873752"/>
            <a:ext cx="2646274" cy="914400"/>
          </a:xfrm>
          <a:prstGeom prst="roundRect">
            <a:avLst>
              <a:gd name="adj" fmla="val 6000"/>
            </a:avLst>
          </a:prstGeom>
          <a:solidFill>
            <a:srgbClr val="F2F2F2"/>
          </a:solidFill>
          <a:ln/>
        </p:spPr>
      </p:sp>
      <p:sp>
        <p:nvSpPr>
          <p:cNvPr id="18" name="Text 16"/>
          <p:cNvSpPr txBox="1"/>
          <p:nvPr/>
        </p:nvSpPr>
        <p:spPr>
          <a:xfrm>
            <a:off x="9208922" y="4965192"/>
            <a:ext cx="2317090" cy="438912"/>
          </a:xfrm>
          <a:prstGeom prst="rect">
            <a:avLst/>
          </a:prstGeom>
          <a:noFill/>
          <a:ln/>
        </p:spPr>
        <p:txBody>
          <a:bodyPr wrap="square" lIns="0" tIns="0" rIns="0" bIns="0" rtlCol="0" anchor="b"/>
          <a:lstStyle/>
          <a:p>
            <a:pPr algn="l" indent="0" marL="0">
              <a:buNone/>
            </a:pPr>
            <a:r>
              <a:rPr lang="en-US" sz="2600" b="1" dirty="0">
                <a:solidFill>
                  <a:srgbClr val="046A38"/>
                </a:solidFill>
                <a:latin typeface="Calibri" pitchFamily="34" charset="0"/>
                <a:ea typeface="Calibri" pitchFamily="34" charset="-122"/>
                <a:cs typeface="Calibri" pitchFamily="34" charset="-120"/>
              </a:rPr>
              <a:t>100%</a:t>
            </a:r>
            <a:endParaRPr lang="en-US" sz="2600" dirty="0"/>
          </a:p>
        </p:txBody>
      </p:sp>
      <p:sp>
        <p:nvSpPr>
          <p:cNvPr id="19" name="Text 17"/>
          <p:cNvSpPr txBox="1"/>
          <p:nvPr/>
        </p:nvSpPr>
        <p:spPr>
          <a:xfrm>
            <a:off x="9208922" y="5385816"/>
            <a:ext cx="2317090" cy="365760"/>
          </a:xfrm>
          <a:prstGeom prst="rect">
            <a:avLst/>
          </a:prstGeom>
          <a:noFill/>
          <a:ln/>
        </p:spPr>
        <p:txBody>
          <a:bodyPr wrap="square" lIns="0" tIns="0" rIns="0" bIns="0" rtlCol="0" anchor="t"/>
          <a:lstStyle/>
          <a:p>
            <a:pPr algn="l" indent="0" marL="0">
              <a:lnSpc>
                <a:spcPct val="108000"/>
              </a:lnSpc>
              <a:buNone/>
            </a:pPr>
            <a:r>
              <a:rPr lang="en-US" sz="1000" dirty="0">
                <a:solidFill>
                  <a:srgbClr val="53565A"/>
                </a:solidFill>
                <a:latin typeface="Calibri" pitchFamily="34" charset="0"/>
                <a:ea typeface="Calibri" pitchFamily="34" charset="-122"/>
                <a:cs typeface="Calibri" pitchFamily="34" charset="-120"/>
              </a:rPr>
              <a:t>answered the open-ended question (Q12)</a:t>
            </a:r>
            <a:endParaRPr lang="en-US" sz="1000" dirty="0"/>
          </a:p>
        </p:txBody>
      </p:sp>
      <p:sp>
        <p:nvSpPr>
          <p:cNvPr id="20" name="Shape 18"/>
          <p:cNvSpPr/>
          <p:nvPr/>
        </p:nvSpPr>
        <p:spPr>
          <a:xfrm>
            <a:off x="502006" y="5952744"/>
            <a:ext cx="11188598" cy="0"/>
          </a:xfrm>
          <a:prstGeom prst="line">
            <a:avLst/>
          </a:prstGeom>
          <a:noFill/>
          <a:ln w="9525">
            <a:solidFill>
              <a:srgbClr val="D0D0CE"/>
            </a:solidFill>
            <a:prstDash val="solid"/>
          </a:ln>
        </p:spPr>
      </p:sp>
      <p:sp>
        <p:nvSpPr>
          <p:cNvPr id="21" name="Text 19"/>
          <p:cNvSpPr txBox="1"/>
          <p:nvPr/>
        </p:nvSpPr>
        <p:spPr>
          <a:xfrm>
            <a:off x="502006" y="6025896"/>
            <a:ext cx="11188598" cy="274320"/>
          </a:xfrm>
          <a:prstGeom prst="rect">
            <a:avLst/>
          </a:prstGeom>
          <a:noFill/>
          <a:ln/>
        </p:spPr>
        <p:txBody>
          <a:bodyPr wrap="square" lIns="0" tIns="0" rIns="0" bIns="0" rtlCol="0" anchor="t"/>
          <a:lstStyle/>
          <a:p>
            <a:pPr algn="l" indent="0" marL="0">
              <a:buNone/>
            </a:pPr>
            <a:r>
              <a:rPr lang="en-US" sz="850" i="1" dirty="0">
                <a:solidFill>
                  <a:srgbClr val="53565A"/>
                </a:solidFill>
                <a:latin typeface="Calibri" pitchFamily="34" charset="0"/>
                <a:ea typeface="Calibri" pitchFamily="34" charset="-122"/>
                <a:cs typeface="Calibri" pitchFamily="34" charset="-120"/>
              </a:rPr>
              <a:t>Screening based on S1 (industry vertical), S4 (department), S5 (title), and S8/S9 (employer tier). See Profile of Respondents for the full qualified-sample breakdown.</a:t>
            </a:r>
            <a:endParaRPr lang="en-US" sz="8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006" y="292608"/>
            <a:ext cx="11188598" cy="182880"/>
          </a:xfrm>
          <a:prstGeom prst="rect">
            <a:avLst/>
          </a:prstGeom>
          <a:noFill/>
          <a:ln/>
        </p:spPr>
        <p:txBody>
          <a:bodyPr wrap="square" lIns="0" tIns="0" rIns="0" bIns="0" rtlCol="0" anchor="t"/>
          <a:lstStyle/>
          <a:p>
            <a:pPr algn="l" indent="0" marL="0">
              <a:buNone/>
            </a:pPr>
            <a:r>
              <a:rPr lang="en-US" sz="1050" b="1" spc="150" kern="0" dirty="0">
                <a:solidFill>
                  <a:srgbClr val="046A38"/>
                </a:solidFill>
                <a:latin typeface="Calibri" pitchFamily="34" charset="0"/>
                <a:ea typeface="Calibri" pitchFamily="34" charset="-122"/>
                <a:cs typeface="Calibri" pitchFamily="34" charset="-120"/>
              </a:rPr>
              <a:t>APPENDIX</a:t>
            </a:r>
            <a:endParaRPr lang="en-US" sz="1050" dirty="0"/>
          </a:p>
        </p:txBody>
      </p:sp>
      <p:sp>
        <p:nvSpPr>
          <p:cNvPr id="3" name="Text 1"/>
          <p:cNvSpPr txBox="1"/>
          <p:nvPr/>
        </p:nvSpPr>
        <p:spPr>
          <a:xfrm>
            <a:off x="502006" y="475488"/>
            <a:ext cx="11188598" cy="310896"/>
          </a:xfrm>
          <a:prstGeom prst="rect">
            <a:avLst/>
          </a:prstGeom>
          <a:noFill/>
          <a:ln/>
        </p:spPr>
        <p:txBody>
          <a:bodyPr wrap="squar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Profile of Respondents</a:t>
            </a:r>
            <a:endParaRPr lang="en-US" sz="1900" dirty="0"/>
          </a:p>
        </p:txBody>
      </p:sp>
      <p:sp>
        <p:nvSpPr>
          <p:cNvPr id="4" name="Text 2"/>
          <p:cNvSpPr txBox="1"/>
          <p:nvPr/>
        </p:nvSpPr>
        <p:spPr>
          <a:xfrm>
            <a:off x="502006" y="804672"/>
            <a:ext cx="11188598" cy="713232"/>
          </a:xfrm>
          <a:prstGeom prst="rect">
            <a:avLst/>
          </a:prstGeom>
          <a:noFill/>
          <a:ln/>
        </p:spPr>
        <p:txBody>
          <a:bodyPr wrap="square" lIns="0" tIns="0" rIns="0" bIns="0" rtlCol="0" anchor="t"/>
          <a:lstStyle/>
          <a:p>
            <a:pPr algn="l" indent="0" marL="0">
              <a:lnSpc>
                <a:spcPct val="105000"/>
              </a:lnSpc>
              <a:buNone/>
            </a:pPr>
            <a:r>
              <a:rPr lang="en-US" sz="1300" b="1" dirty="0">
                <a:solidFill>
                  <a:srgbClr val="046A38"/>
                </a:solidFill>
                <a:latin typeface="Calibri" pitchFamily="34" charset="0"/>
                <a:ea typeface="Calibri" pitchFamily="34" charset="-122"/>
                <a:cs typeface="Calibri" pitchFamily="34" charset="-120"/>
              </a:rPr>
              <a:t>100 qualified respondents — 75 Banking, 25 Insurance — spanning six markets and the full fraud function.</a:t>
            </a:r>
            <a:endParaRPr lang="en-US" sz="1300" dirty="0"/>
          </a:p>
        </p:txBody>
      </p:sp>
      <p:sp>
        <p:nvSpPr>
          <p:cNvPr id="5" name="Text 3"/>
          <p:cNvSpPr txBox="1"/>
          <p:nvPr/>
        </p:nvSpPr>
        <p:spPr>
          <a:xfrm>
            <a:off x="11346790" y="6537960"/>
            <a:ext cx="343814" cy="182880"/>
          </a:xfrm>
          <a:prstGeom prst="rect">
            <a:avLst/>
          </a:prstGeom>
          <a:noFill/>
          <a:ln/>
        </p:spPr>
        <p:txBody>
          <a:bodyPr wrap="square" rtlCol="0" anchor="ctr"/>
          <a:lstStyle/>
          <a:p>
            <a:pPr algn="r" indent="0" marL="0">
              <a:buNone/>
            </a:pPr>
            <a:r>
              <a:rPr lang="en-US" sz="900" dirty="0">
                <a:solidFill>
                  <a:srgbClr val="53565A"/>
                </a:solidFill>
                <a:latin typeface="Calibri" pitchFamily="34" charset="0"/>
                <a:ea typeface="Calibri" pitchFamily="34" charset="-122"/>
                <a:cs typeface="Calibri" pitchFamily="34" charset="-120"/>
              </a:rPr>
              <a:t>102</a:t>
            </a:r>
            <a:endParaRPr lang="en-US" sz="900" dirty="0"/>
          </a:p>
        </p:txBody>
      </p:sp>
      <p:sp>
        <p:nvSpPr>
          <p:cNvPr id="6" name="Shape 4"/>
          <p:cNvSpPr/>
          <p:nvPr/>
        </p:nvSpPr>
        <p:spPr>
          <a:xfrm>
            <a:off x="502006" y="1627632"/>
            <a:ext cx="3595421" cy="713232"/>
          </a:xfrm>
          <a:prstGeom prst="roundRect">
            <a:avLst>
              <a:gd name="adj" fmla="val 7692"/>
            </a:avLst>
          </a:prstGeom>
          <a:solidFill>
            <a:srgbClr val="F2F2F2"/>
          </a:solidFill>
          <a:ln/>
        </p:spPr>
      </p:sp>
      <p:sp>
        <p:nvSpPr>
          <p:cNvPr id="7" name="Text 5"/>
          <p:cNvSpPr txBox="1"/>
          <p:nvPr/>
        </p:nvSpPr>
        <p:spPr>
          <a:xfrm>
            <a:off x="666598" y="1719072"/>
            <a:ext cx="3266237" cy="342351"/>
          </a:xfrm>
          <a:prstGeom prst="rect">
            <a:avLst/>
          </a:prstGeom>
          <a:noFill/>
          <a:ln/>
        </p:spPr>
        <p:txBody>
          <a:bodyPr wrap="square" lIns="0" tIns="0" rIns="0" bIns="0" rtlCol="0" anchor="b"/>
          <a:lstStyle/>
          <a:p>
            <a:pPr algn="l" indent="0" marL="0">
              <a:buNone/>
            </a:pPr>
            <a:r>
              <a:rPr lang="en-US" sz="2600" b="1" dirty="0">
                <a:solidFill>
                  <a:srgbClr val="046A38"/>
                </a:solidFill>
                <a:latin typeface="Calibri" pitchFamily="34" charset="0"/>
                <a:ea typeface="Calibri" pitchFamily="34" charset="-122"/>
                <a:cs typeface="Calibri" pitchFamily="34" charset="-120"/>
              </a:rPr>
              <a:t>100</a:t>
            </a:r>
            <a:endParaRPr lang="en-US" sz="2600" dirty="0"/>
          </a:p>
        </p:txBody>
      </p:sp>
      <p:sp>
        <p:nvSpPr>
          <p:cNvPr id="8" name="Text 6"/>
          <p:cNvSpPr txBox="1"/>
          <p:nvPr/>
        </p:nvSpPr>
        <p:spPr>
          <a:xfrm>
            <a:off x="666598" y="2027042"/>
            <a:ext cx="3266237" cy="285293"/>
          </a:xfrm>
          <a:prstGeom prst="rect">
            <a:avLst/>
          </a:prstGeom>
          <a:noFill/>
          <a:ln/>
        </p:spPr>
        <p:txBody>
          <a:bodyPr wrap="square" lIns="0" tIns="0" rIns="0" bIns="0" rtlCol="0" anchor="t"/>
          <a:lstStyle/>
          <a:p>
            <a:pPr algn="l" indent="0" marL="0">
              <a:lnSpc>
                <a:spcPct val="108000"/>
              </a:lnSpc>
              <a:buNone/>
            </a:pPr>
            <a:r>
              <a:rPr lang="en-US" sz="1000" dirty="0">
                <a:solidFill>
                  <a:srgbClr val="53565A"/>
                </a:solidFill>
                <a:latin typeface="Calibri" pitchFamily="34" charset="0"/>
                <a:ea typeface="Calibri" pitchFamily="34" charset="-122"/>
                <a:cs typeface="Calibri" pitchFamily="34" charset="-120"/>
              </a:rPr>
              <a:t>qualified respondents (75 Banking / 25 Insurance)</a:t>
            </a:r>
            <a:endParaRPr lang="en-US" sz="1000" dirty="0"/>
          </a:p>
        </p:txBody>
      </p:sp>
      <p:sp>
        <p:nvSpPr>
          <p:cNvPr id="9" name="Shape 7"/>
          <p:cNvSpPr/>
          <p:nvPr/>
        </p:nvSpPr>
        <p:spPr>
          <a:xfrm>
            <a:off x="4298594" y="1627632"/>
            <a:ext cx="3595421" cy="713232"/>
          </a:xfrm>
          <a:prstGeom prst="roundRect">
            <a:avLst>
              <a:gd name="adj" fmla="val 7692"/>
            </a:avLst>
          </a:prstGeom>
          <a:solidFill>
            <a:srgbClr val="F2F2F2"/>
          </a:solidFill>
          <a:ln/>
        </p:spPr>
      </p:sp>
      <p:sp>
        <p:nvSpPr>
          <p:cNvPr id="10" name="Text 8"/>
          <p:cNvSpPr txBox="1"/>
          <p:nvPr/>
        </p:nvSpPr>
        <p:spPr>
          <a:xfrm>
            <a:off x="4463186" y="1719072"/>
            <a:ext cx="3266237" cy="342351"/>
          </a:xfrm>
          <a:prstGeom prst="rect">
            <a:avLst/>
          </a:prstGeom>
          <a:noFill/>
          <a:ln/>
        </p:spPr>
        <p:txBody>
          <a:bodyPr wrap="square" lIns="0" tIns="0" rIns="0" bIns="0" rtlCol="0" anchor="b"/>
          <a:lstStyle/>
          <a:p>
            <a:pPr algn="l" indent="0" marL="0">
              <a:buNone/>
            </a:pPr>
            <a:r>
              <a:rPr lang="en-US" sz="2600" b="1" dirty="0">
                <a:solidFill>
                  <a:srgbClr val="046A38"/>
                </a:solidFill>
                <a:latin typeface="Calibri" pitchFamily="34" charset="0"/>
                <a:ea typeface="Calibri" pitchFamily="34" charset="-122"/>
                <a:cs typeface="Calibri" pitchFamily="34" charset="-120"/>
              </a:rPr>
              <a:t>76%</a:t>
            </a:r>
            <a:endParaRPr lang="en-US" sz="2600" dirty="0"/>
          </a:p>
        </p:txBody>
      </p:sp>
      <p:sp>
        <p:nvSpPr>
          <p:cNvPr id="11" name="Text 9"/>
          <p:cNvSpPr txBox="1"/>
          <p:nvPr/>
        </p:nvSpPr>
        <p:spPr>
          <a:xfrm>
            <a:off x="4463186" y="2027042"/>
            <a:ext cx="3266237" cy="285293"/>
          </a:xfrm>
          <a:prstGeom prst="rect">
            <a:avLst/>
          </a:prstGeom>
          <a:noFill/>
          <a:ln/>
        </p:spPr>
        <p:txBody>
          <a:bodyPr wrap="square" lIns="0" tIns="0" rIns="0" bIns="0" rtlCol="0" anchor="t"/>
          <a:lstStyle/>
          <a:p>
            <a:pPr algn="l" indent="0" marL="0">
              <a:lnSpc>
                <a:spcPct val="108000"/>
              </a:lnSpc>
              <a:buNone/>
            </a:pPr>
            <a:r>
              <a:rPr lang="en-US" sz="1000" dirty="0">
                <a:solidFill>
                  <a:srgbClr val="53565A"/>
                </a:solidFill>
                <a:latin typeface="Calibri" pitchFamily="34" charset="0"/>
                <a:ea typeface="Calibri" pitchFamily="34" charset="-122"/>
                <a:cs typeface="Calibri" pitchFamily="34" charset="-120"/>
              </a:rPr>
              <a:t>Director-level or above</a:t>
            </a:r>
            <a:endParaRPr lang="en-US" sz="1000" dirty="0"/>
          </a:p>
        </p:txBody>
      </p:sp>
      <p:sp>
        <p:nvSpPr>
          <p:cNvPr id="12" name="Shape 10"/>
          <p:cNvSpPr/>
          <p:nvPr/>
        </p:nvSpPr>
        <p:spPr>
          <a:xfrm>
            <a:off x="8095183" y="1627632"/>
            <a:ext cx="3595421" cy="713232"/>
          </a:xfrm>
          <a:prstGeom prst="roundRect">
            <a:avLst>
              <a:gd name="adj" fmla="val 7692"/>
            </a:avLst>
          </a:prstGeom>
          <a:solidFill>
            <a:srgbClr val="F2F2F2"/>
          </a:solidFill>
          <a:ln/>
        </p:spPr>
      </p:sp>
      <p:sp>
        <p:nvSpPr>
          <p:cNvPr id="13" name="Text 11"/>
          <p:cNvSpPr txBox="1"/>
          <p:nvPr/>
        </p:nvSpPr>
        <p:spPr>
          <a:xfrm>
            <a:off x="8259775" y="1719072"/>
            <a:ext cx="3266237" cy="342351"/>
          </a:xfrm>
          <a:prstGeom prst="rect">
            <a:avLst/>
          </a:prstGeom>
          <a:noFill/>
          <a:ln/>
        </p:spPr>
        <p:txBody>
          <a:bodyPr wrap="square" lIns="0" tIns="0" rIns="0" bIns="0" rtlCol="0" anchor="b"/>
          <a:lstStyle/>
          <a:p>
            <a:pPr algn="l" indent="0" marL="0">
              <a:buNone/>
            </a:pPr>
            <a:r>
              <a:rPr lang="en-US" sz="2600" b="1" dirty="0">
                <a:solidFill>
                  <a:srgbClr val="046A38"/>
                </a:solidFill>
                <a:latin typeface="Calibri" pitchFamily="34" charset="0"/>
                <a:ea typeface="Calibri" pitchFamily="34" charset="-122"/>
                <a:cs typeface="Calibri" pitchFamily="34" charset="-120"/>
              </a:rPr>
              <a:t>6</a:t>
            </a:r>
            <a:endParaRPr lang="en-US" sz="2600" dirty="0"/>
          </a:p>
        </p:txBody>
      </p:sp>
      <p:sp>
        <p:nvSpPr>
          <p:cNvPr id="14" name="Text 12"/>
          <p:cNvSpPr txBox="1"/>
          <p:nvPr/>
        </p:nvSpPr>
        <p:spPr>
          <a:xfrm>
            <a:off x="8259775" y="2027042"/>
            <a:ext cx="3266237" cy="285293"/>
          </a:xfrm>
          <a:prstGeom prst="rect">
            <a:avLst/>
          </a:prstGeom>
          <a:noFill/>
          <a:ln/>
        </p:spPr>
        <p:txBody>
          <a:bodyPr wrap="square" lIns="0" tIns="0" rIns="0" bIns="0" rtlCol="0" anchor="t"/>
          <a:lstStyle/>
          <a:p>
            <a:pPr algn="l" indent="0" marL="0">
              <a:lnSpc>
                <a:spcPct val="108000"/>
              </a:lnSpc>
              <a:buNone/>
            </a:pPr>
            <a:r>
              <a:rPr lang="en-US" sz="1000" dirty="0">
                <a:solidFill>
                  <a:srgbClr val="53565A"/>
                </a:solidFill>
                <a:latin typeface="Calibri" pitchFamily="34" charset="0"/>
                <a:ea typeface="Calibri" pitchFamily="34" charset="-122"/>
                <a:cs typeface="Calibri" pitchFamily="34" charset="-120"/>
              </a:rPr>
              <a:t>markets: US, Canada, UK, EU, Australia, Singapore</a:t>
            </a:r>
            <a:endParaRPr lang="en-US" sz="1000" dirty="0"/>
          </a:p>
        </p:txBody>
      </p:sp>
      <p:sp>
        <p:nvSpPr>
          <p:cNvPr id="15" name="Text 13"/>
          <p:cNvSpPr txBox="1"/>
          <p:nvPr/>
        </p:nvSpPr>
        <p:spPr>
          <a:xfrm>
            <a:off x="502006" y="2542032"/>
            <a:ext cx="5457139" cy="310896"/>
          </a:xfrm>
          <a:prstGeom prst="rect">
            <a:avLst/>
          </a:prstGeom>
          <a:noFill/>
          <a:ln/>
        </p:spPr>
        <p:txBody>
          <a:bodyPr wrap="square" lIns="0" tIns="0" rIns="0" bIns="0" rtlCol="0" anchor="b"/>
          <a:lstStyle/>
          <a:p>
            <a:pPr algn="l" indent="0" marL="0">
              <a:lnSpc>
                <a:spcPct val="95000"/>
              </a:lnSpc>
              <a:buNone/>
            </a:pPr>
            <a:r>
              <a:rPr lang="en-US" sz="850" b="1" dirty="0">
                <a:solidFill>
                  <a:srgbClr val="046A38"/>
                </a:solidFill>
                <a:latin typeface="IBM Plex Mono" pitchFamily="34" charset="0"/>
                <a:ea typeface="IBM Plex Mono" pitchFamily="34" charset="-122"/>
                <a:cs typeface="IBM Plex Mono" pitchFamily="34" charset="-120"/>
              </a:rPr>
              <a:t>S8 / S9  </a:t>
            </a:r>
            <a:pPr algn="l" indent="0" marL="0">
              <a:lnSpc>
                <a:spcPct val="95000"/>
              </a:lnSpc>
              <a:buNone/>
            </a:pPr>
            <a:r>
              <a:rPr lang="en-US" sz="1150" b="1" dirty="0">
                <a:solidFill>
                  <a:srgbClr val="000000"/>
                </a:solidFill>
                <a:latin typeface="Calibri" pitchFamily="34" charset="0"/>
                <a:ea typeface="Calibri" pitchFamily="34" charset="-122"/>
                <a:cs typeface="Calibri" pitchFamily="34" charset="-120"/>
              </a:rPr>
              <a:t>Institution Tier</a:t>
            </a:r>
            <a:endParaRPr lang="en-US" sz="85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02006" y="2834640"/>
          <a:ext cx="5457139" cy="914400"/>
        </p:xfrm>
        <a:graphic>
          <a:graphicData uri="http://schemas.openxmlformats.org/drawingml/2006/table">
            <a:tbl>
              <a:tblPr/>
              <a:tblGrid>
                <a:gridCol w="4268419"/>
                <a:gridCol w="594360"/>
                <a:gridCol w="594360"/>
              </a:tblGrid>
              <a:tr h="237744">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Segment</a:t>
                      </a:r>
                      <a:endParaRPr lang="en-US" sz="950" dirty="0">
                        <a:latin typeface="Calibri" charset="0"/>
                        <a:ea typeface="Calibri" charset="0"/>
                        <a:cs typeface="Calibri" charset="0"/>
                      </a:endParaRPr>
                    </a:p>
                  </a:txBody>
                  <a:tcPr marL="91440" marR="91440" marT="45720" marB="4572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46A38"/>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n</a:t>
                      </a:r>
                      <a:endParaRPr lang="en-US" sz="950" dirty="0">
                        <a:latin typeface="Calibri" charset="0"/>
                        <a:ea typeface="Calibri" charset="0"/>
                        <a:cs typeface="Calibri" charset="0"/>
                      </a:endParaRPr>
                    </a:p>
                  </a:txBody>
                  <a:tcPr marL="91440" marR="91440" marT="45720" marB="4572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46A38"/>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91440" marR="91440" marT="45720" marB="4572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46A38"/>
                    </a:solidFill>
                  </a:tcPr>
                </a:tc>
              </a:tr>
              <a:tr h="237744">
                <a:tc>
                  <a:txBody>
                    <a:bodyPr/>
                    <a:lstStyle/>
                    <a:p>
                      <a:pPr algn="l" indent="0" marL="0">
                        <a:buNone/>
                      </a:pPr>
                      <a:r>
                        <a:rPr lang="en-US" sz="950" dirty="0">
                          <a:solidFill>
                            <a:srgbClr val="000000"/>
                          </a:solidFill>
                          <a:latin typeface="Calibri" pitchFamily="34" charset="0"/>
                          <a:ea typeface="Calibri" pitchFamily="34" charset="-122"/>
                          <a:cs typeface="Calibri" pitchFamily="34" charset="-120"/>
                        </a:rPr>
                        <a:t>Banking — Top 100 FI</a:t>
                      </a:r>
                      <a:endParaRPr lang="en-US" sz="950" dirty="0">
                        <a:latin typeface="Calibri" charset="0"/>
                        <a:ea typeface="Calibri" charset="0"/>
                        <a:cs typeface="Calibri" charset="0"/>
                      </a:endParaRPr>
                    </a:p>
                  </a:txBody>
                  <a:tcPr marL="91440" marR="91440" marT="45720" marB="4572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FFFFFF"/>
                    </a:solidFill>
                  </a:tcPr>
                </a:tc>
                <a:tc>
                  <a:txBody>
                    <a:bodyPr/>
                    <a:lstStyle/>
                    <a:p>
                      <a:pPr algn="l" indent="0" marL="0">
                        <a:buNone/>
                      </a:pPr>
                      <a:r>
                        <a:rPr lang="en-US" sz="950" dirty="0">
                          <a:solidFill>
                            <a:srgbClr val="000000"/>
                          </a:solidFill>
                          <a:latin typeface="Calibri" pitchFamily="34" charset="0"/>
                          <a:ea typeface="Calibri" pitchFamily="34" charset="-122"/>
                          <a:cs typeface="Calibri" pitchFamily="34" charset="-120"/>
                        </a:rPr>
                        <a:t>40</a:t>
                      </a:r>
                      <a:endParaRPr lang="en-US" sz="950" dirty="0">
                        <a:latin typeface="Calibri" charset="0"/>
                        <a:ea typeface="Calibri" charset="0"/>
                        <a:cs typeface="Calibri" charset="0"/>
                      </a:endParaRPr>
                    </a:p>
                  </a:txBody>
                  <a:tcPr marL="91440" marR="91440" marT="45720" marB="4572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FFFFFF"/>
                    </a:solidFill>
                  </a:tcPr>
                </a:tc>
                <a:tc>
                  <a:txBody>
                    <a:bodyPr/>
                    <a:lstStyle/>
                    <a:p>
                      <a:pPr algn="l" indent="0" marL="0">
                        <a:buNone/>
                      </a:pPr>
                      <a:r>
                        <a:rPr lang="en-US" sz="950" dirty="0">
                          <a:solidFill>
                            <a:srgbClr val="000000"/>
                          </a:solidFill>
                          <a:latin typeface="Calibri" pitchFamily="34" charset="0"/>
                          <a:ea typeface="Calibri" pitchFamily="34" charset="-122"/>
                          <a:cs typeface="Calibri" pitchFamily="34" charset="-120"/>
                        </a:rPr>
                        <a:t>53%</a:t>
                      </a:r>
                      <a:endParaRPr lang="en-US" sz="950" dirty="0">
                        <a:latin typeface="Calibri" charset="0"/>
                        <a:ea typeface="Calibri" charset="0"/>
                        <a:cs typeface="Calibri" charset="0"/>
                      </a:endParaRPr>
                    </a:p>
                  </a:txBody>
                  <a:tcPr marL="91440" marR="91440" marT="45720" marB="4572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FFFFFF"/>
                    </a:solidFill>
                  </a:tcPr>
                </a:tc>
              </a:tr>
              <a:tr h="237744">
                <a:tc>
                  <a:txBody>
                    <a:bodyPr/>
                    <a:lstStyle/>
                    <a:p>
                      <a:pPr algn="l" indent="0" marL="0">
                        <a:buNone/>
                      </a:pPr>
                      <a:r>
                        <a:rPr lang="en-US" sz="950" dirty="0">
                          <a:solidFill>
                            <a:srgbClr val="000000"/>
                          </a:solidFill>
                          <a:latin typeface="Calibri" pitchFamily="34" charset="0"/>
                          <a:ea typeface="Calibri" pitchFamily="34" charset="-122"/>
                          <a:cs typeface="Calibri" pitchFamily="34" charset="-120"/>
                        </a:rPr>
                        <a:t>Banking — Large FI</a:t>
                      </a:r>
                      <a:endParaRPr lang="en-US" sz="950" dirty="0">
                        <a:latin typeface="Calibri" charset="0"/>
                        <a:ea typeface="Calibri" charset="0"/>
                        <a:cs typeface="Calibri" charset="0"/>
                      </a:endParaRPr>
                    </a:p>
                  </a:txBody>
                  <a:tcPr marL="91440" marR="91440" marT="45720" marB="4572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F2F2F2"/>
                    </a:solidFill>
                  </a:tcPr>
                </a:tc>
                <a:tc>
                  <a:txBody>
                    <a:bodyPr/>
                    <a:lstStyle/>
                    <a:p>
                      <a:pPr algn="l" indent="0" marL="0">
                        <a:buNone/>
                      </a:pPr>
                      <a:r>
                        <a:rPr lang="en-US" sz="950" dirty="0">
                          <a:solidFill>
                            <a:srgbClr val="000000"/>
                          </a:solidFill>
                          <a:latin typeface="Calibri" pitchFamily="34" charset="0"/>
                          <a:ea typeface="Calibri" pitchFamily="34" charset="-122"/>
                          <a:cs typeface="Calibri" pitchFamily="34" charset="-120"/>
                        </a:rPr>
                        <a:t>35</a:t>
                      </a:r>
                      <a:endParaRPr lang="en-US" sz="950" dirty="0">
                        <a:latin typeface="Calibri" charset="0"/>
                        <a:ea typeface="Calibri" charset="0"/>
                        <a:cs typeface="Calibri" charset="0"/>
                      </a:endParaRPr>
                    </a:p>
                  </a:txBody>
                  <a:tcPr marL="91440" marR="91440" marT="45720" marB="4572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F2F2F2"/>
                    </a:solidFill>
                  </a:tcPr>
                </a:tc>
                <a:tc>
                  <a:txBody>
                    <a:bodyPr/>
                    <a:lstStyle/>
                    <a:p>
                      <a:pPr algn="l" indent="0" marL="0">
                        <a:buNone/>
                      </a:pPr>
                      <a:r>
                        <a:rPr lang="en-US" sz="950" dirty="0">
                          <a:solidFill>
                            <a:srgbClr val="000000"/>
                          </a:solidFill>
                          <a:latin typeface="Calibri" pitchFamily="34" charset="0"/>
                          <a:ea typeface="Calibri" pitchFamily="34" charset="-122"/>
                          <a:cs typeface="Calibri" pitchFamily="34" charset="-120"/>
                        </a:rPr>
                        <a:t>47%</a:t>
                      </a:r>
                      <a:endParaRPr lang="en-US" sz="950" dirty="0">
                        <a:latin typeface="Calibri" charset="0"/>
                        <a:ea typeface="Calibri" charset="0"/>
                        <a:cs typeface="Calibri" charset="0"/>
                      </a:endParaRPr>
                    </a:p>
                  </a:txBody>
                  <a:tcPr marL="91440" marR="91440" marT="45720" marB="4572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F2F2F2"/>
                    </a:solidFill>
                  </a:tcPr>
                </a:tc>
              </a:tr>
              <a:tr h="237744">
                <a:tc>
                  <a:txBody>
                    <a:bodyPr/>
                    <a:lstStyle/>
                    <a:p>
                      <a:pPr algn="l" indent="0" marL="0">
                        <a:buNone/>
                      </a:pPr>
                      <a:r>
                        <a:rPr lang="en-US" sz="950" dirty="0">
                          <a:solidFill>
                            <a:srgbClr val="000000"/>
                          </a:solidFill>
                          <a:latin typeface="Calibri" pitchFamily="34" charset="0"/>
                          <a:ea typeface="Calibri" pitchFamily="34" charset="-122"/>
                          <a:cs typeface="Calibri" pitchFamily="34" charset="-120"/>
                        </a:rPr>
                        <a:t>Insurance — Top 50 Carrier</a:t>
                      </a:r>
                      <a:endParaRPr lang="en-US" sz="950" dirty="0">
                        <a:latin typeface="Calibri" charset="0"/>
                        <a:ea typeface="Calibri" charset="0"/>
                        <a:cs typeface="Calibri" charset="0"/>
                      </a:endParaRPr>
                    </a:p>
                  </a:txBody>
                  <a:tcPr marL="91440" marR="91440" marT="45720" marB="4572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FFFFFF"/>
                    </a:solidFill>
                  </a:tcPr>
                </a:tc>
                <a:tc>
                  <a:txBody>
                    <a:bodyPr/>
                    <a:lstStyle/>
                    <a:p>
                      <a:pPr algn="l" indent="0" marL="0">
                        <a:buNone/>
                      </a:pPr>
                      <a:r>
                        <a:rPr lang="en-US" sz="950" dirty="0">
                          <a:solidFill>
                            <a:srgbClr val="000000"/>
                          </a:solidFill>
                          <a:latin typeface="Calibri" pitchFamily="34" charset="0"/>
                          <a:ea typeface="Calibri" pitchFamily="34" charset="-122"/>
                          <a:cs typeface="Calibri" pitchFamily="34" charset="-120"/>
                        </a:rPr>
                        <a:t>15</a:t>
                      </a:r>
                      <a:endParaRPr lang="en-US" sz="950" dirty="0">
                        <a:latin typeface="Calibri" charset="0"/>
                        <a:ea typeface="Calibri" charset="0"/>
                        <a:cs typeface="Calibri" charset="0"/>
                      </a:endParaRPr>
                    </a:p>
                  </a:txBody>
                  <a:tcPr marL="91440" marR="91440" marT="45720" marB="4572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FFFFFF"/>
                    </a:solidFill>
                  </a:tcPr>
                </a:tc>
                <a:tc>
                  <a:txBody>
                    <a:bodyPr/>
                    <a:lstStyle/>
                    <a:p>
                      <a:pPr algn="l" indent="0" marL="0">
                        <a:buNone/>
                      </a:pPr>
                      <a:r>
                        <a:rPr lang="en-US" sz="950" dirty="0">
                          <a:solidFill>
                            <a:srgbClr val="000000"/>
                          </a:solidFill>
                          <a:latin typeface="Calibri" pitchFamily="34" charset="0"/>
                          <a:ea typeface="Calibri" pitchFamily="34" charset="-122"/>
                          <a:cs typeface="Calibri" pitchFamily="34" charset="-120"/>
                        </a:rPr>
                        <a:t>60%</a:t>
                      </a:r>
                      <a:endParaRPr lang="en-US" sz="950" dirty="0">
                        <a:latin typeface="Calibri" charset="0"/>
                        <a:ea typeface="Calibri" charset="0"/>
                        <a:cs typeface="Calibri" charset="0"/>
                      </a:endParaRPr>
                    </a:p>
                  </a:txBody>
                  <a:tcPr marL="91440" marR="91440" marT="45720" marB="4572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FFFFFF"/>
                    </a:solidFill>
                  </a:tcPr>
                </a:tc>
              </a:tr>
              <a:tr h="237744">
                <a:tc>
                  <a:txBody>
                    <a:bodyPr/>
                    <a:lstStyle/>
                    <a:p>
                      <a:pPr algn="l" indent="0" marL="0">
                        <a:buNone/>
                      </a:pPr>
                      <a:r>
                        <a:rPr lang="en-US" sz="950" dirty="0">
                          <a:solidFill>
                            <a:srgbClr val="000000"/>
                          </a:solidFill>
                          <a:latin typeface="Calibri" pitchFamily="34" charset="0"/>
                          <a:ea typeface="Calibri" pitchFamily="34" charset="-122"/>
                          <a:cs typeface="Calibri" pitchFamily="34" charset="-120"/>
                        </a:rPr>
                        <a:t>Insurance — Large Carrier</a:t>
                      </a:r>
                      <a:endParaRPr lang="en-US" sz="950" dirty="0">
                        <a:latin typeface="Calibri" charset="0"/>
                        <a:ea typeface="Calibri" charset="0"/>
                        <a:cs typeface="Calibri" charset="0"/>
                      </a:endParaRPr>
                    </a:p>
                  </a:txBody>
                  <a:tcPr marL="91440" marR="91440" marT="45720" marB="4572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F2F2F2"/>
                    </a:solidFill>
                  </a:tcPr>
                </a:tc>
                <a:tc>
                  <a:txBody>
                    <a:bodyPr/>
                    <a:lstStyle/>
                    <a:p>
                      <a:pPr algn="l" indent="0" marL="0">
                        <a:buNone/>
                      </a:pPr>
                      <a:r>
                        <a:rPr lang="en-US" sz="950" dirty="0">
                          <a:solidFill>
                            <a:srgbClr val="000000"/>
                          </a:solidFill>
                          <a:latin typeface="Calibri" pitchFamily="34" charset="0"/>
                          <a:ea typeface="Calibri" pitchFamily="34" charset="-122"/>
                          <a:cs typeface="Calibri" pitchFamily="34" charset="-120"/>
                        </a:rPr>
                        <a:t>10</a:t>
                      </a:r>
                      <a:endParaRPr lang="en-US" sz="950" dirty="0">
                        <a:latin typeface="Calibri" charset="0"/>
                        <a:ea typeface="Calibri" charset="0"/>
                        <a:cs typeface="Calibri" charset="0"/>
                      </a:endParaRPr>
                    </a:p>
                  </a:txBody>
                  <a:tcPr marL="91440" marR="91440" marT="45720" marB="4572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F2F2F2"/>
                    </a:solidFill>
                  </a:tcPr>
                </a:tc>
                <a:tc>
                  <a:txBody>
                    <a:bodyPr/>
                    <a:lstStyle/>
                    <a:p>
                      <a:pPr algn="l" indent="0" marL="0">
                        <a:buNone/>
                      </a:pPr>
                      <a:r>
                        <a:rPr lang="en-US" sz="950" dirty="0">
                          <a:solidFill>
                            <a:srgbClr val="000000"/>
                          </a:solidFill>
                          <a:latin typeface="Calibri" pitchFamily="34" charset="0"/>
                          <a:ea typeface="Calibri" pitchFamily="34" charset="-122"/>
                          <a:cs typeface="Calibri" pitchFamily="34" charset="-120"/>
                        </a:rPr>
                        <a:t>40%</a:t>
                      </a:r>
                      <a:endParaRPr lang="en-US" sz="950" dirty="0">
                        <a:latin typeface="Calibri" charset="0"/>
                        <a:ea typeface="Calibri" charset="0"/>
                        <a:cs typeface="Calibri" charset="0"/>
                      </a:endParaRPr>
                    </a:p>
                  </a:txBody>
                  <a:tcPr marL="91440" marR="91440" marT="45720" marB="4572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F2F2F2"/>
                    </a:solidFill>
                  </a:tcPr>
                </a:tc>
              </a:tr>
            </a:tbl>
          </a:graphicData>
        </a:graphic>
      </p:graphicFrame>
      <p:sp>
        <p:nvSpPr>
          <p:cNvPr id="17" name="Text 14"/>
          <p:cNvSpPr txBox="1"/>
          <p:nvPr/>
        </p:nvSpPr>
        <p:spPr>
          <a:xfrm>
            <a:off x="6233465" y="2542032"/>
            <a:ext cx="5457139" cy="310896"/>
          </a:xfrm>
          <a:prstGeom prst="rect">
            <a:avLst/>
          </a:prstGeom>
          <a:noFill/>
          <a:ln/>
        </p:spPr>
        <p:txBody>
          <a:bodyPr wrap="square" lIns="0" tIns="0" rIns="0" bIns="0" rtlCol="0" anchor="b"/>
          <a:lstStyle/>
          <a:p>
            <a:pPr algn="l" indent="0" marL="0">
              <a:lnSpc>
                <a:spcPct val="95000"/>
              </a:lnSpc>
              <a:buNone/>
            </a:pPr>
            <a:r>
              <a:rPr lang="en-US" sz="850" b="1" dirty="0">
                <a:solidFill>
                  <a:srgbClr val="046A38"/>
                </a:solidFill>
                <a:latin typeface="IBM Plex Mono" pitchFamily="34" charset="0"/>
                <a:ea typeface="IBM Plex Mono" pitchFamily="34" charset="-122"/>
                <a:cs typeface="IBM Plex Mono" pitchFamily="34" charset="-120"/>
              </a:rPr>
              <a:t>S6  </a:t>
            </a:r>
            <a:pPr algn="l" indent="0" marL="0">
              <a:lnSpc>
                <a:spcPct val="95000"/>
              </a:lnSpc>
              <a:buNone/>
            </a:pPr>
            <a:r>
              <a:rPr lang="en-US" sz="1150" b="1" dirty="0">
                <a:solidFill>
                  <a:srgbClr val="000000"/>
                </a:solidFill>
                <a:latin typeface="Calibri" pitchFamily="34" charset="0"/>
                <a:ea typeface="Calibri" pitchFamily="34" charset="-122"/>
                <a:cs typeface="Calibri" pitchFamily="34" charset="-120"/>
              </a:rPr>
              <a:t>Geography, by Sector</a:t>
            </a:r>
            <a:endParaRPr lang="en-US" sz="850" dirty="0"/>
          </a:p>
        </p:txBody>
      </p:sp>
      <p:graphicFrame>
        <p:nvGraphicFramePr>
          <p:cNvPr id="5" name="Table 1"/>
          <p:cNvGraphicFramePr>
            <a:graphicFrameLocks noGrp="1"/>
          </p:cNvGraphicFramePr>
          <p:nvPr>
            <p:extLst>
              <p:ext uri="{D42A27DB-BD31-4B8C-83A1-F6EECF244321}">
                <p14:modId xmlns:p14="http://schemas.microsoft.com/office/powerpoint/2010/main" val="1579011935"/>
              </p:ext>
            </p:extLst>
          </p:nvPr>
        </p:nvGraphicFramePr>
        <p:xfrm>
          <a:off x="6233465" y="2834640"/>
          <a:ext cx="5457139" cy="914400"/>
        </p:xfrm>
        <a:graphic>
          <a:graphicData uri="http://schemas.openxmlformats.org/drawingml/2006/table">
            <a:tbl>
              <a:tblPr/>
              <a:tblGrid>
                <a:gridCol w="3811219"/>
                <a:gridCol w="822960"/>
                <a:gridCol w="822960"/>
              </a:tblGrid>
              <a:tr h="199339">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Market</a:t>
                      </a:r>
                      <a:endParaRPr lang="en-US" sz="950" dirty="0">
                        <a:latin typeface="Calibri" charset="0"/>
                        <a:ea typeface="Calibri" charset="0"/>
                        <a:cs typeface="Calibri" charset="0"/>
                      </a:endParaRPr>
                    </a:p>
                  </a:txBody>
                  <a:tcPr marL="91440" marR="91440" marT="45720" marB="4572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46A38"/>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Banking</a:t>
                      </a:r>
                      <a:endParaRPr lang="en-US" sz="950" dirty="0">
                        <a:latin typeface="Calibri" charset="0"/>
                        <a:ea typeface="Calibri" charset="0"/>
                        <a:cs typeface="Calibri" charset="0"/>
                      </a:endParaRPr>
                    </a:p>
                  </a:txBody>
                  <a:tcPr marL="91440" marR="91440" marT="45720" marB="4572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46A38"/>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Insurance</a:t>
                      </a:r>
                      <a:endParaRPr lang="en-US" sz="950" dirty="0">
                        <a:latin typeface="Calibri" charset="0"/>
                        <a:ea typeface="Calibri" charset="0"/>
                        <a:cs typeface="Calibri" charset="0"/>
                      </a:endParaRPr>
                    </a:p>
                  </a:txBody>
                  <a:tcPr marL="91440" marR="91440" marT="45720" marB="4572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46A38"/>
                    </a:solidFill>
                  </a:tcPr>
                </a:tc>
              </a:tr>
              <a:tr h="199339">
                <a:tc>
                  <a:txBody>
                    <a:bodyPr/>
                    <a:lstStyle/>
                    <a:p>
                      <a:pPr algn="l" indent="0" marL="0">
                        <a:buNone/>
                      </a:pPr>
                      <a:r>
                        <a:rPr lang="en-US" sz="950" dirty="0">
                          <a:solidFill>
                            <a:srgbClr val="000000"/>
                          </a:solidFill>
                          <a:latin typeface="Calibri" pitchFamily="34" charset="0"/>
                          <a:ea typeface="Calibri" pitchFamily="34" charset="-122"/>
                          <a:cs typeface="Calibri" pitchFamily="34" charset="-120"/>
                        </a:rPr>
                        <a:t>United States</a:t>
                      </a:r>
                      <a:endParaRPr lang="en-US" sz="950" dirty="0">
                        <a:latin typeface="Calibri" charset="0"/>
                        <a:ea typeface="Calibri" charset="0"/>
                        <a:cs typeface="Calibri" charset="0"/>
                      </a:endParaRPr>
                    </a:p>
                  </a:txBody>
                  <a:tcPr marL="91440" marR="91440" marT="45720" marB="4572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FFFFFF"/>
                    </a:solidFill>
                  </a:tcPr>
                </a:tc>
                <a:tc>
                  <a:txBody>
                    <a:bodyPr/>
                    <a:lstStyle/>
                    <a:p>
                      <a:pPr algn="l" indent="0" marL="0">
                        <a:buNone/>
                      </a:pPr>
                      <a:r>
                        <a:rPr lang="en-US" sz="950" dirty="0">
                          <a:solidFill>
                            <a:srgbClr val="000000"/>
                          </a:solidFill>
                          <a:latin typeface="Calibri" pitchFamily="34" charset="0"/>
                          <a:ea typeface="Calibri" pitchFamily="34" charset="-122"/>
                          <a:cs typeface="Calibri" pitchFamily="34" charset="-120"/>
                        </a:rPr>
                        <a:t>45%</a:t>
                      </a:r>
                      <a:endParaRPr lang="en-US" sz="950" dirty="0">
                        <a:latin typeface="Calibri" charset="0"/>
                        <a:ea typeface="Calibri" charset="0"/>
                        <a:cs typeface="Calibri" charset="0"/>
                      </a:endParaRPr>
                    </a:p>
                  </a:txBody>
                  <a:tcPr marL="91440" marR="91440" marT="45720" marB="4572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FFFFFF"/>
                    </a:solidFill>
                  </a:tcPr>
                </a:tc>
                <a:tc>
                  <a:txBody>
                    <a:bodyPr/>
                    <a:lstStyle/>
                    <a:p>
                      <a:pPr algn="l" indent="0" marL="0">
                        <a:buNone/>
                      </a:pPr>
                      <a:r>
                        <a:rPr lang="en-US" sz="950" dirty="0">
                          <a:solidFill>
                            <a:srgbClr val="000000"/>
                          </a:solidFill>
                          <a:latin typeface="Calibri" pitchFamily="34" charset="0"/>
                          <a:ea typeface="Calibri" pitchFamily="34" charset="-122"/>
                          <a:cs typeface="Calibri" pitchFamily="34" charset="-120"/>
                        </a:rPr>
                        <a:t>40%</a:t>
                      </a:r>
                      <a:endParaRPr lang="en-US" sz="950" dirty="0">
                        <a:latin typeface="Calibri" charset="0"/>
                        <a:ea typeface="Calibri" charset="0"/>
                        <a:cs typeface="Calibri" charset="0"/>
                      </a:endParaRPr>
                    </a:p>
                  </a:txBody>
                  <a:tcPr marL="91440" marR="91440" marT="45720" marB="4572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FFFFFF"/>
                    </a:solidFill>
                  </a:tcPr>
                </a:tc>
              </a:tr>
              <a:tr h="199339">
                <a:tc>
                  <a:txBody>
                    <a:bodyPr/>
                    <a:lstStyle/>
                    <a:p>
                      <a:pPr algn="l" indent="0" marL="0">
                        <a:buNone/>
                      </a:pPr>
                      <a:r>
                        <a:rPr lang="en-US" sz="950" dirty="0">
                          <a:solidFill>
                            <a:srgbClr val="000000"/>
                          </a:solidFill>
                          <a:latin typeface="Calibri" pitchFamily="34" charset="0"/>
                          <a:ea typeface="Calibri" pitchFamily="34" charset="-122"/>
                          <a:cs typeface="Calibri" pitchFamily="34" charset="-120"/>
                        </a:rPr>
                        <a:t>Canada</a:t>
                      </a:r>
                      <a:endParaRPr lang="en-US" sz="950" dirty="0">
                        <a:latin typeface="Calibri" charset="0"/>
                        <a:ea typeface="Calibri" charset="0"/>
                        <a:cs typeface="Calibri" charset="0"/>
                      </a:endParaRPr>
                    </a:p>
                  </a:txBody>
                  <a:tcPr marL="91440" marR="91440" marT="45720" marB="4572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F2F2F2"/>
                    </a:solidFill>
                  </a:tcPr>
                </a:tc>
                <a:tc>
                  <a:txBody>
                    <a:bodyPr/>
                    <a:lstStyle/>
                    <a:p>
                      <a:pPr algn="l" indent="0" marL="0">
                        <a:buNone/>
                      </a:pPr>
                      <a:r>
                        <a:rPr lang="en-US" sz="950" dirty="0">
                          <a:solidFill>
                            <a:srgbClr val="000000"/>
                          </a:solidFill>
                          <a:latin typeface="Calibri" pitchFamily="34" charset="0"/>
                          <a:ea typeface="Calibri" pitchFamily="34" charset="-122"/>
                          <a:cs typeface="Calibri" pitchFamily="34" charset="-120"/>
                        </a:rPr>
                        <a:t>24%</a:t>
                      </a:r>
                      <a:endParaRPr lang="en-US" sz="950" dirty="0">
                        <a:latin typeface="Calibri" charset="0"/>
                        <a:ea typeface="Calibri" charset="0"/>
                        <a:cs typeface="Calibri" charset="0"/>
                      </a:endParaRPr>
                    </a:p>
                  </a:txBody>
                  <a:tcPr marL="91440" marR="91440" marT="45720" marB="4572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F2F2F2"/>
                    </a:solidFill>
                  </a:tcPr>
                </a:tc>
                <a:tc>
                  <a:txBody>
                    <a:bodyPr/>
                    <a:lstStyle/>
                    <a:p>
                      <a:pPr algn="l" indent="0" marL="0">
                        <a:buNone/>
                      </a:pPr>
                      <a:r>
                        <a:rPr lang="en-US" sz="950" dirty="0">
                          <a:solidFill>
                            <a:srgbClr val="000000"/>
                          </a:solidFill>
                          <a:latin typeface="Calibri" pitchFamily="34" charset="0"/>
                          <a:ea typeface="Calibri" pitchFamily="34" charset="-122"/>
                          <a:cs typeface="Calibri" pitchFamily="34" charset="-120"/>
                        </a:rPr>
                        <a:t>48%</a:t>
                      </a:r>
                      <a:endParaRPr lang="en-US" sz="950" dirty="0">
                        <a:latin typeface="Calibri" charset="0"/>
                        <a:ea typeface="Calibri" charset="0"/>
                        <a:cs typeface="Calibri" charset="0"/>
                      </a:endParaRPr>
                    </a:p>
                  </a:txBody>
                  <a:tcPr marL="91440" marR="91440" marT="45720" marB="4572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F2F2F2"/>
                    </a:solidFill>
                  </a:tcPr>
                </a:tc>
              </a:tr>
              <a:tr h="199339">
                <a:tc>
                  <a:txBody>
                    <a:bodyPr/>
                    <a:lstStyle/>
                    <a:p>
                      <a:pPr algn="l" indent="0" marL="0">
                        <a:buNone/>
                      </a:pPr>
                      <a:r>
                        <a:rPr lang="en-US" sz="950" dirty="0">
                          <a:solidFill>
                            <a:srgbClr val="000000"/>
                          </a:solidFill>
                          <a:latin typeface="Calibri" pitchFamily="34" charset="0"/>
                          <a:ea typeface="Calibri" pitchFamily="34" charset="-122"/>
                          <a:cs typeface="Calibri" pitchFamily="34" charset="-120"/>
                        </a:rPr>
                        <a:t>Europe (EU + UK)</a:t>
                      </a:r>
                      <a:endParaRPr lang="en-US" sz="950" dirty="0">
                        <a:latin typeface="Calibri" charset="0"/>
                        <a:ea typeface="Calibri" charset="0"/>
                        <a:cs typeface="Calibri" charset="0"/>
                      </a:endParaRPr>
                    </a:p>
                  </a:txBody>
                  <a:tcPr marL="91440" marR="91440" marT="45720" marB="4572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FFFFFF"/>
                    </a:solidFill>
                  </a:tcPr>
                </a:tc>
                <a:tc>
                  <a:txBody>
                    <a:bodyPr/>
                    <a:lstStyle/>
                    <a:p>
                      <a:pPr algn="l" indent="0" marL="0">
                        <a:buNone/>
                      </a:pPr>
                      <a:r>
                        <a:rPr lang="en-US" sz="950" dirty="0">
                          <a:solidFill>
                            <a:srgbClr val="000000"/>
                          </a:solidFill>
                          <a:latin typeface="Calibri" pitchFamily="34" charset="0"/>
                          <a:ea typeface="Calibri" pitchFamily="34" charset="-122"/>
                          <a:cs typeface="Calibri" pitchFamily="34" charset="-120"/>
                        </a:rPr>
                        <a:t>16%</a:t>
                      </a:r>
                      <a:endParaRPr lang="en-US" sz="950" dirty="0">
                        <a:latin typeface="Calibri" charset="0"/>
                        <a:ea typeface="Calibri" charset="0"/>
                        <a:cs typeface="Calibri" charset="0"/>
                      </a:endParaRPr>
                    </a:p>
                  </a:txBody>
                  <a:tcPr marL="91440" marR="91440" marT="45720" marB="4572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FFFFFF"/>
                    </a:solidFill>
                  </a:tcPr>
                </a:tc>
                <a:tc>
                  <a:txBody>
                    <a:bodyPr/>
                    <a:lstStyle/>
                    <a:p>
                      <a:pPr algn="l" indent="0" marL="0">
                        <a:buNone/>
                      </a:pPr>
                      <a:r>
                        <a:rPr lang="en-US" sz="950" dirty="0">
                          <a:solidFill>
                            <a:srgbClr val="000000"/>
                          </a:solidFill>
                          <a:latin typeface="Calibri" pitchFamily="34" charset="0"/>
                          <a:ea typeface="Calibri" pitchFamily="34" charset="-122"/>
                          <a:cs typeface="Calibri" pitchFamily="34" charset="-120"/>
                        </a:rPr>
                        <a:t>8%</a:t>
                      </a:r>
                      <a:endParaRPr lang="en-US" sz="950" dirty="0">
                        <a:latin typeface="Calibri" charset="0"/>
                        <a:ea typeface="Calibri" charset="0"/>
                        <a:cs typeface="Calibri" charset="0"/>
                      </a:endParaRPr>
                    </a:p>
                  </a:txBody>
                  <a:tcPr marL="91440" marR="91440" marT="45720" marB="4572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FFFFFF"/>
                    </a:solidFill>
                  </a:tcPr>
                </a:tc>
              </a:tr>
              <a:tr h="199339">
                <a:tc>
                  <a:txBody>
                    <a:bodyPr/>
                    <a:lstStyle/>
                    <a:p>
                      <a:pPr algn="l" indent="0" marL="0">
                        <a:buNone/>
                      </a:pPr>
                      <a:r>
                        <a:rPr lang="en-US" sz="950" dirty="0">
                          <a:solidFill>
                            <a:srgbClr val="000000"/>
                          </a:solidFill>
                          <a:latin typeface="Calibri" pitchFamily="34" charset="0"/>
                          <a:ea typeface="Calibri" pitchFamily="34" charset="-122"/>
                          <a:cs typeface="Calibri" pitchFamily="34" charset="-120"/>
                        </a:rPr>
                        <a:t>Australia</a:t>
                      </a:r>
                      <a:endParaRPr lang="en-US" sz="950" dirty="0">
                        <a:latin typeface="Calibri" charset="0"/>
                        <a:ea typeface="Calibri" charset="0"/>
                        <a:cs typeface="Calibri" charset="0"/>
                      </a:endParaRPr>
                    </a:p>
                  </a:txBody>
                  <a:tcPr marL="91440" marR="91440" marT="45720" marB="4572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F2F2F2"/>
                    </a:solidFill>
                  </a:tcPr>
                </a:tc>
                <a:tc>
                  <a:txBody>
                    <a:bodyPr/>
                    <a:lstStyle/>
                    <a:p>
                      <a:pPr algn="l" indent="0" marL="0">
                        <a:buNone/>
                      </a:pPr>
                      <a:r>
                        <a:rPr lang="en-US" sz="950" dirty="0">
                          <a:solidFill>
                            <a:srgbClr val="000000"/>
                          </a:solidFill>
                          <a:latin typeface="Calibri" pitchFamily="34" charset="0"/>
                          <a:ea typeface="Calibri" pitchFamily="34" charset="-122"/>
                          <a:cs typeface="Calibri" pitchFamily="34" charset="-120"/>
                        </a:rPr>
                        <a:t>9%</a:t>
                      </a:r>
                      <a:endParaRPr lang="en-US" sz="950" dirty="0">
                        <a:latin typeface="Calibri" charset="0"/>
                        <a:ea typeface="Calibri" charset="0"/>
                        <a:cs typeface="Calibri" charset="0"/>
                      </a:endParaRPr>
                    </a:p>
                  </a:txBody>
                  <a:tcPr marL="91440" marR="91440" marT="45720" marB="4572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F2F2F2"/>
                    </a:solidFill>
                  </a:tcPr>
                </a:tc>
                <a:tc>
                  <a:txBody>
                    <a:bodyPr/>
                    <a:lstStyle/>
                    <a:p>
                      <a:pPr algn="l" indent="0" marL="0">
                        <a:buNone/>
                      </a:pPr>
                      <a:r>
                        <a:rPr lang="en-US" sz="950" dirty="0">
                          <a:solidFill>
                            <a:srgbClr val="000000"/>
                          </a:solidFill>
                          <a:latin typeface="Calibri" pitchFamily="34" charset="0"/>
                          <a:ea typeface="Calibri" pitchFamily="34" charset="-122"/>
                          <a:cs typeface="Calibri" pitchFamily="34" charset="-120"/>
                        </a:rPr>
                        <a:t>4%</a:t>
                      </a:r>
                      <a:endParaRPr lang="en-US" sz="950" dirty="0">
                        <a:latin typeface="Calibri" charset="0"/>
                        <a:ea typeface="Calibri" charset="0"/>
                        <a:cs typeface="Calibri" charset="0"/>
                      </a:endParaRPr>
                    </a:p>
                  </a:txBody>
                  <a:tcPr marL="91440" marR="91440" marT="45720" marB="4572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F2F2F2"/>
                    </a:solidFill>
                  </a:tcPr>
                </a:tc>
              </a:tr>
              <a:tr h="199339">
                <a:tc>
                  <a:txBody>
                    <a:bodyPr/>
                    <a:lstStyle/>
                    <a:p>
                      <a:pPr algn="l" indent="0" marL="0">
                        <a:buNone/>
                      </a:pPr>
                      <a:r>
                        <a:rPr lang="en-US" sz="950" dirty="0">
                          <a:solidFill>
                            <a:srgbClr val="000000"/>
                          </a:solidFill>
                          <a:latin typeface="Calibri" pitchFamily="34" charset="0"/>
                          <a:ea typeface="Calibri" pitchFamily="34" charset="-122"/>
                          <a:cs typeface="Calibri" pitchFamily="34" charset="-120"/>
                        </a:rPr>
                        <a:t>Singapore</a:t>
                      </a:r>
                      <a:endParaRPr lang="en-US" sz="950" dirty="0">
                        <a:latin typeface="Calibri" charset="0"/>
                        <a:ea typeface="Calibri" charset="0"/>
                        <a:cs typeface="Calibri" charset="0"/>
                      </a:endParaRPr>
                    </a:p>
                  </a:txBody>
                  <a:tcPr marL="91440" marR="91440" marT="45720" marB="4572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FFFFFF"/>
                    </a:solidFill>
                  </a:tcPr>
                </a:tc>
                <a:tc>
                  <a:txBody>
                    <a:bodyPr/>
                    <a:lstStyle/>
                    <a:p>
                      <a:pPr algn="l" indent="0" marL="0">
                        <a:buNone/>
                      </a:pPr>
                      <a:r>
                        <a:rPr lang="en-US" sz="950" dirty="0">
                          <a:solidFill>
                            <a:srgbClr val="000000"/>
                          </a:solidFill>
                          <a:latin typeface="Calibri" pitchFamily="34" charset="0"/>
                          <a:ea typeface="Calibri" pitchFamily="34" charset="-122"/>
                          <a:cs typeface="Calibri" pitchFamily="34" charset="-120"/>
                        </a:rPr>
                        <a:t>5%</a:t>
                      </a:r>
                      <a:endParaRPr lang="en-US" sz="950" dirty="0">
                        <a:latin typeface="Calibri" charset="0"/>
                        <a:ea typeface="Calibri" charset="0"/>
                        <a:cs typeface="Calibri" charset="0"/>
                      </a:endParaRPr>
                    </a:p>
                  </a:txBody>
                  <a:tcPr marL="91440" marR="91440" marT="45720" marB="4572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FFFFFF"/>
                    </a:solidFill>
                  </a:tcPr>
                </a:tc>
                <a:tc>
                  <a:txBody>
                    <a:bodyPr/>
                    <a:lstStyle/>
                    <a:p>
                      <a:pPr algn="l" indent="0" marL="0">
                        <a:buNone/>
                      </a:pPr>
                      <a:r>
                        <a:rPr lang="en-US" sz="950" dirty="0">
                          <a:solidFill>
                            <a:srgbClr val="000000"/>
                          </a:solidFill>
                          <a:latin typeface="Calibri" pitchFamily="34" charset="0"/>
                          <a:ea typeface="Calibri" pitchFamily="34" charset="-122"/>
                          <a:cs typeface="Calibri" pitchFamily="34" charset="-120"/>
                        </a:rPr>
                        <a:t>0%</a:t>
                      </a:r>
                      <a:endParaRPr lang="en-US" sz="950" dirty="0">
                        <a:latin typeface="Calibri" charset="0"/>
                        <a:ea typeface="Calibri" charset="0"/>
                        <a:cs typeface="Calibri" charset="0"/>
                      </a:endParaRPr>
                    </a:p>
                  </a:txBody>
                  <a:tcPr marL="91440" marR="91440" marT="45720" marB="4572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FFFFFF"/>
                    </a:solidFill>
                  </a:tcPr>
                </a:tc>
              </a:tr>
            </a:tbl>
          </a:graphicData>
        </a:graphic>
      </p:graphicFrame>
      <p:sp>
        <p:nvSpPr>
          <p:cNvPr id="19" name="Text 15"/>
          <p:cNvSpPr txBox="1"/>
          <p:nvPr/>
        </p:nvSpPr>
        <p:spPr>
          <a:xfrm>
            <a:off x="502006" y="4562856"/>
            <a:ext cx="5457139" cy="310896"/>
          </a:xfrm>
          <a:prstGeom prst="rect">
            <a:avLst/>
          </a:prstGeom>
          <a:noFill/>
          <a:ln/>
        </p:spPr>
        <p:txBody>
          <a:bodyPr wrap="square" lIns="0" tIns="0" rIns="0" bIns="0" rtlCol="0" anchor="b"/>
          <a:lstStyle/>
          <a:p>
            <a:pPr algn="l" indent="0" marL="0">
              <a:lnSpc>
                <a:spcPct val="95000"/>
              </a:lnSpc>
              <a:buNone/>
            </a:pPr>
            <a:r>
              <a:rPr lang="en-US" sz="850" b="1" dirty="0">
                <a:solidFill>
                  <a:srgbClr val="046A38"/>
                </a:solidFill>
                <a:latin typeface="IBM Plex Mono" pitchFamily="34" charset="0"/>
                <a:ea typeface="IBM Plex Mono" pitchFamily="34" charset="-122"/>
                <a:cs typeface="IBM Plex Mono" pitchFamily="34" charset="-120"/>
              </a:rPr>
              <a:t>S4  </a:t>
            </a:r>
            <a:pPr algn="l" indent="0" marL="0">
              <a:lnSpc>
                <a:spcPct val="95000"/>
              </a:lnSpc>
              <a:buNone/>
            </a:pPr>
            <a:r>
              <a:rPr lang="en-US" sz="1150" b="1" dirty="0">
                <a:solidFill>
                  <a:srgbClr val="000000"/>
                </a:solidFill>
                <a:latin typeface="Calibri" pitchFamily="34" charset="0"/>
                <a:ea typeface="Calibri" pitchFamily="34" charset="-122"/>
                <a:cs typeface="Calibri" pitchFamily="34" charset="-120"/>
              </a:rPr>
              <a:t>Department, by Sector</a:t>
            </a:r>
            <a:endParaRPr lang="en-US" sz="850" dirty="0"/>
          </a:p>
        </p:txBody>
      </p:sp>
      <p:graphicFrame>
        <p:nvGraphicFramePr>
          <p:cNvPr id="7" name="Table 2"/>
          <p:cNvGraphicFramePr>
            <a:graphicFrameLocks noGrp="1"/>
          </p:cNvGraphicFramePr>
          <p:nvPr>
            <p:extLst>
              <p:ext uri="{D42A27DB-BD31-4B8C-83A1-F6EECF244321}">
                <p14:modId xmlns:p14="http://schemas.microsoft.com/office/powerpoint/2010/main" val="1579011935"/>
              </p:ext>
            </p:extLst>
          </p:nvPr>
        </p:nvGraphicFramePr>
        <p:xfrm>
          <a:off x="502006" y="4855464"/>
          <a:ext cx="5457139" cy="914400"/>
        </p:xfrm>
        <a:graphic>
          <a:graphicData uri="http://schemas.openxmlformats.org/drawingml/2006/table">
            <a:tbl>
              <a:tblPr/>
              <a:tblGrid>
                <a:gridCol w="3811219"/>
                <a:gridCol w="822960"/>
                <a:gridCol w="822960"/>
              </a:tblGrid>
              <a:tr h="180137">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Department</a:t>
                      </a:r>
                      <a:endParaRPr lang="en-US" sz="950" dirty="0">
                        <a:latin typeface="Calibri" charset="0"/>
                        <a:ea typeface="Calibri" charset="0"/>
                        <a:cs typeface="Calibri" charset="0"/>
                      </a:endParaRPr>
                    </a:p>
                  </a:txBody>
                  <a:tcPr marL="91440" marR="91440" marT="45720" marB="4572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46A38"/>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Banking</a:t>
                      </a:r>
                      <a:endParaRPr lang="en-US" sz="950" dirty="0">
                        <a:latin typeface="Calibri" charset="0"/>
                        <a:ea typeface="Calibri" charset="0"/>
                        <a:cs typeface="Calibri" charset="0"/>
                      </a:endParaRPr>
                    </a:p>
                  </a:txBody>
                  <a:tcPr marL="91440" marR="91440" marT="45720" marB="4572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46A38"/>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Insurance</a:t>
                      </a:r>
                      <a:endParaRPr lang="en-US" sz="950" dirty="0">
                        <a:latin typeface="Calibri" charset="0"/>
                        <a:ea typeface="Calibri" charset="0"/>
                        <a:cs typeface="Calibri" charset="0"/>
                      </a:endParaRPr>
                    </a:p>
                  </a:txBody>
                  <a:tcPr marL="91440" marR="91440" marT="45720" marB="4572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46A38"/>
                    </a:solidFill>
                  </a:tcPr>
                </a:tc>
              </a:tr>
              <a:tr h="180137">
                <a:tc>
                  <a:txBody>
                    <a:bodyPr/>
                    <a:lstStyle/>
                    <a:p>
                      <a:pPr algn="l" indent="0" marL="0">
                        <a:buNone/>
                      </a:pPr>
                      <a:r>
                        <a:rPr lang="en-US" sz="950" dirty="0">
                          <a:solidFill>
                            <a:srgbClr val="000000"/>
                          </a:solidFill>
                          <a:latin typeface="Calibri" pitchFamily="34" charset="0"/>
                          <a:ea typeface="Calibri" pitchFamily="34" charset="-122"/>
                          <a:cs typeface="Calibri" pitchFamily="34" charset="-120"/>
                        </a:rPr>
                        <a:t>Fraud Operations</a:t>
                      </a:r>
                      <a:endParaRPr lang="en-US" sz="950" dirty="0">
                        <a:latin typeface="Calibri" charset="0"/>
                        <a:ea typeface="Calibri" charset="0"/>
                        <a:cs typeface="Calibri" charset="0"/>
                      </a:endParaRPr>
                    </a:p>
                  </a:txBody>
                  <a:tcPr marL="91440" marR="91440" marT="45720" marB="4572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FFFFFF"/>
                    </a:solidFill>
                  </a:tcPr>
                </a:tc>
                <a:tc>
                  <a:txBody>
                    <a:bodyPr/>
                    <a:lstStyle/>
                    <a:p>
                      <a:pPr algn="l" indent="0" marL="0">
                        <a:buNone/>
                      </a:pPr>
                      <a:r>
                        <a:rPr lang="en-US" sz="950" dirty="0">
                          <a:solidFill>
                            <a:srgbClr val="000000"/>
                          </a:solidFill>
                          <a:latin typeface="Calibri" pitchFamily="34" charset="0"/>
                          <a:ea typeface="Calibri" pitchFamily="34" charset="-122"/>
                          <a:cs typeface="Calibri" pitchFamily="34" charset="-120"/>
                        </a:rPr>
                        <a:t>27%</a:t>
                      </a:r>
                      <a:endParaRPr lang="en-US" sz="950" dirty="0">
                        <a:latin typeface="Calibri" charset="0"/>
                        <a:ea typeface="Calibri" charset="0"/>
                        <a:cs typeface="Calibri" charset="0"/>
                      </a:endParaRPr>
                    </a:p>
                  </a:txBody>
                  <a:tcPr marL="91440" marR="91440" marT="45720" marB="4572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FFFFFF"/>
                    </a:solidFill>
                  </a:tcPr>
                </a:tc>
                <a:tc>
                  <a:txBody>
                    <a:bodyPr/>
                    <a:lstStyle/>
                    <a:p>
                      <a:pPr algn="l" indent="0" marL="0">
                        <a:buNone/>
                      </a:pPr>
                      <a:r>
                        <a:rPr lang="en-US" sz="950" dirty="0">
                          <a:solidFill>
                            <a:srgbClr val="000000"/>
                          </a:solidFill>
                          <a:latin typeface="Calibri" pitchFamily="34" charset="0"/>
                          <a:ea typeface="Calibri" pitchFamily="34" charset="-122"/>
                          <a:cs typeface="Calibri" pitchFamily="34" charset="-120"/>
                        </a:rPr>
                        <a:t>20%</a:t>
                      </a:r>
                      <a:endParaRPr lang="en-US" sz="950" dirty="0">
                        <a:latin typeface="Calibri" charset="0"/>
                        <a:ea typeface="Calibri" charset="0"/>
                        <a:cs typeface="Calibri" charset="0"/>
                      </a:endParaRPr>
                    </a:p>
                  </a:txBody>
                  <a:tcPr marL="91440" marR="91440" marT="45720" marB="4572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FFFFFF"/>
                    </a:solidFill>
                  </a:tcPr>
                </a:tc>
              </a:tr>
              <a:tr h="180137">
                <a:tc>
                  <a:txBody>
                    <a:bodyPr/>
                    <a:lstStyle/>
                    <a:p>
                      <a:pPr algn="l" indent="0" marL="0">
                        <a:buNone/>
                      </a:pPr>
                      <a:r>
                        <a:rPr lang="en-US" sz="950" dirty="0">
                          <a:solidFill>
                            <a:srgbClr val="000000"/>
                          </a:solidFill>
                          <a:latin typeface="Calibri" pitchFamily="34" charset="0"/>
                          <a:ea typeface="Calibri" pitchFamily="34" charset="-122"/>
                          <a:cs typeface="Calibri" pitchFamily="34" charset="-120"/>
                        </a:rPr>
                        <a:t>Fraud Risk &amp; Governance</a:t>
                      </a:r>
                      <a:endParaRPr lang="en-US" sz="950" dirty="0">
                        <a:latin typeface="Calibri" charset="0"/>
                        <a:ea typeface="Calibri" charset="0"/>
                        <a:cs typeface="Calibri" charset="0"/>
                      </a:endParaRPr>
                    </a:p>
                  </a:txBody>
                  <a:tcPr marL="91440" marR="91440" marT="45720" marB="4572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F2F2F2"/>
                    </a:solidFill>
                  </a:tcPr>
                </a:tc>
                <a:tc>
                  <a:txBody>
                    <a:bodyPr/>
                    <a:lstStyle/>
                    <a:p>
                      <a:pPr algn="l" indent="0" marL="0">
                        <a:buNone/>
                      </a:pPr>
                      <a:r>
                        <a:rPr lang="en-US" sz="950" dirty="0">
                          <a:solidFill>
                            <a:srgbClr val="000000"/>
                          </a:solidFill>
                          <a:latin typeface="Calibri" pitchFamily="34" charset="0"/>
                          <a:ea typeface="Calibri" pitchFamily="34" charset="-122"/>
                          <a:cs typeface="Calibri" pitchFamily="34" charset="-120"/>
                        </a:rPr>
                        <a:t>19%</a:t>
                      </a:r>
                      <a:endParaRPr lang="en-US" sz="950" dirty="0">
                        <a:latin typeface="Calibri" charset="0"/>
                        <a:ea typeface="Calibri" charset="0"/>
                        <a:cs typeface="Calibri" charset="0"/>
                      </a:endParaRPr>
                    </a:p>
                  </a:txBody>
                  <a:tcPr marL="91440" marR="91440" marT="45720" marB="4572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F2F2F2"/>
                    </a:solidFill>
                  </a:tcPr>
                </a:tc>
                <a:tc>
                  <a:txBody>
                    <a:bodyPr/>
                    <a:lstStyle/>
                    <a:p>
                      <a:pPr algn="l" indent="0" marL="0">
                        <a:buNone/>
                      </a:pPr>
                      <a:r>
                        <a:rPr lang="en-US" sz="950" dirty="0">
                          <a:solidFill>
                            <a:srgbClr val="000000"/>
                          </a:solidFill>
                          <a:latin typeface="Calibri" pitchFamily="34" charset="0"/>
                          <a:ea typeface="Calibri" pitchFamily="34" charset="-122"/>
                          <a:cs typeface="Calibri" pitchFamily="34" charset="-120"/>
                        </a:rPr>
                        <a:t>32%</a:t>
                      </a:r>
                      <a:endParaRPr lang="en-US" sz="950" dirty="0">
                        <a:latin typeface="Calibri" charset="0"/>
                        <a:ea typeface="Calibri" charset="0"/>
                        <a:cs typeface="Calibri" charset="0"/>
                      </a:endParaRPr>
                    </a:p>
                  </a:txBody>
                  <a:tcPr marL="91440" marR="91440" marT="45720" marB="4572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F2F2F2"/>
                    </a:solidFill>
                  </a:tcPr>
                </a:tc>
              </a:tr>
              <a:tr h="180137">
                <a:tc>
                  <a:txBody>
                    <a:bodyPr/>
                    <a:lstStyle/>
                    <a:p>
                      <a:pPr algn="l" indent="0" marL="0">
                        <a:buNone/>
                      </a:pPr>
                      <a:r>
                        <a:rPr lang="en-US" sz="950" dirty="0">
                          <a:solidFill>
                            <a:srgbClr val="000000"/>
                          </a:solidFill>
                          <a:latin typeface="Calibri" pitchFamily="34" charset="0"/>
                          <a:ea typeface="Calibri" pitchFamily="34" charset="-122"/>
                          <a:cs typeface="Calibri" pitchFamily="34" charset="-120"/>
                        </a:rPr>
                        <a:t>Fraud Strategy &amp; Transform.</a:t>
                      </a:r>
                      <a:endParaRPr lang="en-US" sz="950" dirty="0">
                        <a:latin typeface="Calibri" charset="0"/>
                        <a:ea typeface="Calibri" charset="0"/>
                        <a:cs typeface="Calibri" charset="0"/>
                      </a:endParaRPr>
                    </a:p>
                  </a:txBody>
                  <a:tcPr marL="91440" marR="91440" marT="45720" marB="4572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FFFFFF"/>
                    </a:solidFill>
                  </a:tcPr>
                </a:tc>
                <a:tc>
                  <a:txBody>
                    <a:bodyPr/>
                    <a:lstStyle/>
                    <a:p>
                      <a:pPr algn="l" indent="0" marL="0">
                        <a:buNone/>
                      </a:pPr>
                      <a:r>
                        <a:rPr lang="en-US" sz="950" dirty="0">
                          <a:solidFill>
                            <a:srgbClr val="000000"/>
                          </a:solidFill>
                          <a:latin typeface="Calibri" pitchFamily="34" charset="0"/>
                          <a:ea typeface="Calibri" pitchFamily="34" charset="-122"/>
                          <a:cs typeface="Calibri" pitchFamily="34" charset="-120"/>
                        </a:rPr>
                        <a:t>20%</a:t>
                      </a:r>
                      <a:endParaRPr lang="en-US" sz="950" dirty="0">
                        <a:latin typeface="Calibri" charset="0"/>
                        <a:ea typeface="Calibri" charset="0"/>
                        <a:cs typeface="Calibri" charset="0"/>
                      </a:endParaRPr>
                    </a:p>
                  </a:txBody>
                  <a:tcPr marL="91440" marR="91440" marT="45720" marB="4572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FFFFFF"/>
                    </a:solidFill>
                  </a:tcPr>
                </a:tc>
                <a:tc>
                  <a:txBody>
                    <a:bodyPr/>
                    <a:lstStyle/>
                    <a:p>
                      <a:pPr algn="l" indent="0" marL="0">
                        <a:buNone/>
                      </a:pPr>
                      <a:r>
                        <a:rPr lang="en-US" sz="950" dirty="0">
                          <a:solidFill>
                            <a:srgbClr val="000000"/>
                          </a:solidFill>
                          <a:latin typeface="Calibri" pitchFamily="34" charset="0"/>
                          <a:ea typeface="Calibri" pitchFamily="34" charset="-122"/>
                          <a:cs typeface="Calibri" pitchFamily="34" charset="-120"/>
                        </a:rPr>
                        <a:t>12%</a:t>
                      </a:r>
                      <a:endParaRPr lang="en-US" sz="950" dirty="0">
                        <a:latin typeface="Calibri" charset="0"/>
                        <a:ea typeface="Calibri" charset="0"/>
                        <a:cs typeface="Calibri" charset="0"/>
                      </a:endParaRPr>
                    </a:p>
                  </a:txBody>
                  <a:tcPr marL="91440" marR="91440" marT="45720" marB="4572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FFFFFF"/>
                    </a:solidFill>
                  </a:tcPr>
                </a:tc>
              </a:tr>
              <a:tr h="180137">
                <a:tc>
                  <a:txBody>
                    <a:bodyPr/>
                    <a:lstStyle/>
                    <a:p>
                      <a:pPr algn="l" indent="0" marL="0">
                        <a:buNone/>
                      </a:pPr>
                      <a:r>
                        <a:rPr lang="en-US" sz="950" dirty="0">
                          <a:solidFill>
                            <a:srgbClr val="000000"/>
                          </a:solidFill>
                          <a:latin typeface="Calibri" pitchFamily="34" charset="0"/>
                          <a:ea typeface="Calibri" pitchFamily="34" charset="-122"/>
                          <a:cs typeface="Calibri" pitchFamily="34" charset="-120"/>
                        </a:rPr>
                        <a:t>Fraud Analytics / Intel.</a:t>
                      </a:r>
                      <a:endParaRPr lang="en-US" sz="950" dirty="0">
                        <a:latin typeface="Calibri" charset="0"/>
                        <a:ea typeface="Calibri" charset="0"/>
                        <a:cs typeface="Calibri" charset="0"/>
                      </a:endParaRPr>
                    </a:p>
                  </a:txBody>
                  <a:tcPr marL="91440" marR="91440" marT="45720" marB="4572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F2F2F2"/>
                    </a:solidFill>
                  </a:tcPr>
                </a:tc>
                <a:tc>
                  <a:txBody>
                    <a:bodyPr/>
                    <a:lstStyle/>
                    <a:p>
                      <a:pPr algn="l" indent="0" marL="0">
                        <a:buNone/>
                      </a:pPr>
                      <a:r>
                        <a:rPr lang="en-US" sz="950" dirty="0">
                          <a:solidFill>
                            <a:srgbClr val="000000"/>
                          </a:solidFill>
                          <a:latin typeface="Calibri" pitchFamily="34" charset="0"/>
                          <a:ea typeface="Calibri" pitchFamily="34" charset="-122"/>
                          <a:cs typeface="Calibri" pitchFamily="34" charset="-120"/>
                        </a:rPr>
                        <a:t>20%</a:t>
                      </a:r>
                      <a:endParaRPr lang="en-US" sz="950" dirty="0">
                        <a:latin typeface="Calibri" charset="0"/>
                        <a:ea typeface="Calibri" charset="0"/>
                        <a:cs typeface="Calibri" charset="0"/>
                      </a:endParaRPr>
                    </a:p>
                  </a:txBody>
                  <a:tcPr marL="91440" marR="91440" marT="45720" marB="4572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F2F2F2"/>
                    </a:solidFill>
                  </a:tcPr>
                </a:tc>
                <a:tc>
                  <a:txBody>
                    <a:bodyPr/>
                    <a:lstStyle/>
                    <a:p>
                      <a:pPr algn="l" indent="0" marL="0">
                        <a:buNone/>
                      </a:pPr>
                      <a:r>
                        <a:rPr lang="en-US" sz="950" dirty="0">
                          <a:solidFill>
                            <a:srgbClr val="000000"/>
                          </a:solidFill>
                          <a:latin typeface="Calibri" pitchFamily="34" charset="0"/>
                          <a:ea typeface="Calibri" pitchFamily="34" charset="-122"/>
                          <a:cs typeface="Calibri" pitchFamily="34" charset="-120"/>
                        </a:rPr>
                        <a:t>8%</a:t>
                      </a:r>
                      <a:endParaRPr lang="en-US" sz="950" dirty="0">
                        <a:latin typeface="Calibri" charset="0"/>
                        <a:ea typeface="Calibri" charset="0"/>
                        <a:cs typeface="Calibri" charset="0"/>
                      </a:endParaRPr>
                    </a:p>
                  </a:txBody>
                  <a:tcPr marL="91440" marR="91440" marT="45720" marB="4572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F2F2F2"/>
                    </a:solidFill>
                  </a:tcPr>
                </a:tc>
              </a:tr>
              <a:tr h="180137">
                <a:tc>
                  <a:txBody>
                    <a:bodyPr/>
                    <a:lstStyle/>
                    <a:p>
                      <a:pPr algn="l" indent="0" marL="0">
                        <a:buNone/>
                      </a:pPr>
                      <a:r>
                        <a:rPr lang="en-US" sz="950" dirty="0">
                          <a:solidFill>
                            <a:srgbClr val="000000"/>
                          </a:solidFill>
                          <a:latin typeface="Calibri" pitchFamily="34" charset="0"/>
                          <a:ea typeface="Calibri" pitchFamily="34" charset="-122"/>
                          <a:cs typeface="Calibri" pitchFamily="34" charset="-120"/>
                        </a:rPr>
                        <a:t>Special Investigations</a:t>
                      </a:r>
                      <a:endParaRPr lang="en-US" sz="950" dirty="0">
                        <a:latin typeface="Calibri" charset="0"/>
                        <a:ea typeface="Calibri" charset="0"/>
                        <a:cs typeface="Calibri" charset="0"/>
                      </a:endParaRPr>
                    </a:p>
                  </a:txBody>
                  <a:tcPr marL="91440" marR="91440" marT="45720" marB="4572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FFFFFF"/>
                    </a:solidFill>
                  </a:tcPr>
                </a:tc>
                <a:tc>
                  <a:txBody>
                    <a:bodyPr/>
                    <a:lstStyle/>
                    <a:p>
                      <a:pPr algn="l" indent="0" marL="0">
                        <a:buNone/>
                      </a:pPr>
                      <a:r>
                        <a:rPr lang="en-US" sz="950" dirty="0">
                          <a:solidFill>
                            <a:srgbClr val="000000"/>
                          </a:solidFill>
                          <a:latin typeface="Calibri" pitchFamily="34" charset="0"/>
                          <a:ea typeface="Calibri" pitchFamily="34" charset="-122"/>
                          <a:cs typeface="Calibri" pitchFamily="34" charset="-120"/>
                        </a:rPr>
                        <a:t>7%</a:t>
                      </a:r>
                      <a:endParaRPr lang="en-US" sz="950" dirty="0">
                        <a:latin typeface="Calibri" charset="0"/>
                        <a:ea typeface="Calibri" charset="0"/>
                        <a:cs typeface="Calibri" charset="0"/>
                      </a:endParaRPr>
                    </a:p>
                  </a:txBody>
                  <a:tcPr marL="91440" marR="91440" marT="45720" marB="4572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FFFFFF"/>
                    </a:solidFill>
                  </a:tcPr>
                </a:tc>
                <a:tc>
                  <a:txBody>
                    <a:bodyPr/>
                    <a:lstStyle/>
                    <a:p>
                      <a:pPr algn="l" indent="0" marL="0">
                        <a:buNone/>
                      </a:pPr>
                      <a:r>
                        <a:rPr lang="en-US" sz="950" dirty="0">
                          <a:solidFill>
                            <a:srgbClr val="000000"/>
                          </a:solidFill>
                          <a:latin typeface="Calibri" pitchFamily="34" charset="0"/>
                          <a:ea typeface="Calibri" pitchFamily="34" charset="-122"/>
                          <a:cs typeface="Calibri" pitchFamily="34" charset="-120"/>
                        </a:rPr>
                        <a:t>16%</a:t>
                      </a:r>
                      <a:endParaRPr lang="en-US" sz="950" dirty="0">
                        <a:latin typeface="Calibri" charset="0"/>
                        <a:ea typeface="Calibri" charset="0"/>
                        <a:cs typeface="Calibri" charset="0"/>
                      </a:endParaRPr>
                    </a:p>
                  </a:txBody>
                  <a:tcPr marL="91440" marR="91440" marT="45720" marB="4572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FFFFFF"/>
                    </a:solidFill>
                  </a:tcPr>
                </a:tc>
              </a:tr>
              <a:tr h="180137">
                <a:tc>
                  <a:txBody>
                    <a:bodyPr/>
                    <a:lstStyle/>
                    <a:p>
                      <a:pPr algn="l" indent="0" marL="0">
                        <a:buNone/>
                      </a:pPr>
                      <a:r>
                        <a:rPr lang="en-US" sz="950" dirty="0">
                          <a:solidFill>
                            <a:srgbClr val="000000"/>
                          </a:solidFill>
                          <a:latin typeface="Calibri" pitchFamily="34" charset="0"/>
                          <a:ea typeface="Calibri" pitchFamily="34" charset="-122"/>
                          <a:cs typeface="Calibri" pitchFamily="34" charset="-120"/>
                        </a:rPr>
                        <a:t>Fraud Investigations</a:t>
                      </a:r>
                      <a:endParaRPr lang="en-US" sz="950" dirty="0">
                        <a:latin typeface="Calibri" charset="0"/>
                        <a:ea typeface="Calibri" charset="0"/>
                        <a:cs typeface="Calibri" charset="0"/>
                      </a:endParaRPr>
                    </a:p>
                  </a:txBody>
                  <a:tcPr marL="91440" marR="91440" marT="45720" marB="4572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F2F2F2"/>
                    </a:solidFill>
                  </a:tcPr>
                </a:tc>
                <a:tc>
                  <a:txBody>
                    <a:bodyPr/>
                    <a:lstStyle/>
                    <a:p>
                      <a:pPr algn="l" indent="0" marL="0">
                        <a:buNone/>
                      </a:pPr>
                      <a:r>
                        <a:rPr lang="en-US" sz="950" dirty="0">
                          <a:solidFill>
                            <a:srgbClr val="000000"/>
                          </a:solidFill>
                          <a:latin typeface="Calibri" pitchFamily="34" charset="0"/>
                          <a:ea typeface="Calibri" pitchFamily="34" charset="-122"/>
                          <a:cs typeface="Calibri" pitchFamily="34" charset="-120"/>
                        </a:rPr>
                        <a:t>8%</a:t>
                      </a:r>
                      <a:endParaRPr lang="en-US" sz="950" dirty="0">
                        <a:latin typeface="Calibri" charset="0"/>
                        <a:ea typeface="Calibri" charset="0"/>
                        <a:cs typeface="Calibri" charset="0"/>
                      </a:endParaRPr>
                    </a:p>
                  </a:txBody>
                  <a:tcPr marL="91440" marR="91440" marT="45720" marB="4572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F2F2F2"/>
                    </a:solidFill>
                  </a:tcPr>
                </a:tc>
                <a:tc>
                  <a:txBody>
                    <a:bodyPr/>
                    <a:lstStyle/>
                    <a:p>
                      <a:pPr algn="l" indent="0" marL="0">
                        <a:buNone/>
                      </a:pPr>
                      <a:r>
                        <a:rPr lang="en-US" sz="950" dirty="0">
                          <a:solidFill>
                            <a:srgbClr val="000000"/>
                          </a:solidFill>
                          <a:latin typeface="Calibri" pitchFamily="34" charset="0"/>
                          <a:ea typeface="Calibri" pitchFamily="34" charset="-122"/>
                          <a:cs typeface="Calibri" pitchFamily="34" charset="-120"/>
                        </a:rPr>
                        <a:t>12%</a:t>
                      </a:r>
                      <a:endParaRPr lang="en-US" sz="950" dirty="0">
                        <a:latin typeface="Calibri" charset="0"/>
                        <a:ea typeface="Calibri" charset="0"/>
                        <a:cs typeface="Calibri" charset="0"/>
                      </a:endParaRPr>
                    </a:p>
                  </a:txBody>
                  <a:tcPr marL="91440" marR="91440" marT="45720" marB="4572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F2F2F2"/>
                    </a:solidFill>
                  </a:tcPr>
                </a:tc>
              </a:tr>
            </a:tbl>
          </a:graphicData>
        </a:graphic>
      </p:graphicFrame>
      <p:sp>
        <p:nvSpPr>
          <p:cNvPr id="21" name="Text 16"/>
          <p:cNvSpPr txBox="1"/>
          <p:nvPr/>
        </p:nvSpPr>
        <p:spPr>
          <a:xfrm>
            <a:off x="6233465" y="4562856"/>
            <a:ext cx="5457139" cy="310896"/>
          </a:xfrm>
          <a:prstGeom prst="rect">
            <a:avLst/>
          </a:prstGeom>
          <a:noFill/>
          <a:ln/>
        </p:spPr>
        <p:txBody>
          <a:bodyPr wrap="square" lIns="0" tIns="0" rIns="0" bIns="0" rtlCol="0" anchor="b"/>
          <a:lstStyle/>
          <a:p>
            <a:pPr algn="l" indent="0" marL="0">
              <a:lnSpc>
                <a:spcPct val="95000"/>
              </a:lnSpc>
              <a:buNone/>
            </a:pPr>
            <a:r>
              <a:rPr lang="en-US" sz="850" b="1" dirty="0">
                <a:solidFill>
                  <a:srgbClr val="046A38"/>
                </a:solidFill>
                <a:latin typeface="IBM Plex Mono" pitchFamily="34" charset="0"/>
                <a:ea typeface="IBM Plex Mono" pitchFamily="34" charset="-122"/>
                <a:cs typeface="IBM Plex Mono" pitchFamily="34" charset="-120"/>
              </a:rPr>
              <a:t>S5  </a:t>
            </a:r>
            <a:pPr algn="l" indent="0" marL="0">
              <a:lnSpc>
                <a:spcPct val="95000"/>
              </a:lnSpc>
              <a:buNone/>
            </a:pPr>
            <a:r>
              <a:rPr lang="en-US" sz="1150" b="1" dirty="0">
                <a:solidFill>
                  <a:srgbClr val="000000"/>
                </a:solidFill>
                <a:latin typeface="Calibri" pitchFamily="34" charset="0"/>
                <a:ea typeface="Calibri" pitchFamily="34" charset="-122"/>
                <a:cs typeface="Calibri" pitchFamily="34" charset="-120"/>
              </a:rPr>
              <a:t>Title / Seniority (n=100)</a:t>
            </a:r>
            <a:endParaRPr lang="en-US" sz="850" dirty="0"/>
          </a:p>
        </p:txBody>
      </p:sp>
      <p:graphicFrame>
        <p:nvGraphicFramePr>
          <p:cNvPr id="9" name="Table 3"/>
          <p:cNvGraphicFramePr>
            <a:graphicFrameLocks noGrp="1"/>
          </p:cNvGraphicFramePr>
          <p:nvPr>
            <p:extLst>
              <p:ext uri="{D42A27DB-BD31-4B8C-83A1-F6EECF244321}">
                <p14:modId xmlns:p14="http://schemas.microsoft.com/office/powerpoint/2010/main" val="1579011935"/>
              </p:ext>
            </p:extLst>
          </p:nvPr>
        </p:nvGraphicFramePr>
        <p:xfrm>
          <a:off x="6233465" y="4855464"/>
          <a:ext cx="5457139" cy="914400"/>
        </p:xfrm>
        <a:graphic>
          <a:graphicData uri="http://schemas.openxmlformats.org/drawingml/2006/table">
            <a:tbl>
              <a:tblPr/>
              <a:tblGrid>
                <a:gridCol w="4268419"/>
                <a:gridCol w="594360"/>
                <a:gridCol w="594360"/>
              </a:tblGrid>
              <a:tr h="199339">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Title</a:t>
                      </a:r>
                      <a:endParaRPr lang="en-US" sz="950" dirty="0">
                        <a:latin typeface="Calibri" charset="0"/>
                        <a:ea typeface="Calibri" charset="0"/>
                        <a:cs typeface="Calibri" charset="0"/>
                      </a:endParaRPr>
                    </a:p>
                  </a:txBody>
                  <a:tcPr marL="91440" marR="91440" marT="45720" marB="4572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46A38"/>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n</a:t>
                      </a:r>
                      <a:endParaRPr lang="en-US" sz="950" dirty="0">
                        <a:latin typeface="Calibri" charset="0"/>
                        <a:ea typeface="Calibri" charset="0"/>
                        <a:cs typeface="Calibri" charset="0"/>
                      </a:endParaRPr>
                    </a:p>
                  </a:txBody>
                  <a:tcPr marL="91440" marR="91440" marT="45720" marB="4572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46A38"/>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91440" marR="91440" marT="45720" marB="4572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46A38"/>
                    </a:solidFill>
                  </a:tcPr>
                </a:tc>
              </a:tr>
              <a:tr h="199339">
                <a:tc>
                  <a:txBody>
                    <a:bodyPr/>
                    <a:lstStyle/>
                    <a:p>
                      <a:pPr algn="l" indent="0" marL="0">
                        <a:buNone/>
                      </a:pPr>
                      <a:r>
                        <a:rPr lang="en-US" sz="950" dirty="0">
                          <a:solidFill>
                            <a:srgbClr val="000000"/>
                          </a:solidFill>
                          <a:latin typeface="Calibri" pitchFamily="34" charset="0"/>
                          <a:ea typeface="Calibri" pitchFamily="34" charset="-122"/>
                          <a:cs typeface="Calibri" pitchFamily="34" charset="-120"/>
                        </a:rPr>
                        <a:t>Director-level</a:t>
                      </a:r>
                      <a:endParaRPr lang="en-US" sz="950" dirty="0">
                        <a:latin typeface="Calibri" charset="0"/>
                        <a:ea typeface="Calibri" charset="0"/>
                        <a:cs typeface="Calibri" charset="0"/>
                      </a:endParaRPr>
                    </a:p>
                  </a:txBody>
                  <a:tcPr marL="91440" marR="91440" marT="45720" marB="4572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FFFFFF"/>
                    </a:solidFill>
                  </a:tcPr>
                </a:tc>
                <a:tc>
                  <a:txBody>
                    <a:bodyPr/>
                    <a:lstStyle/>
                    <a:p>
                      <a:pPr algn="l" indent="0" marL="0">
                        <a:buNone/>
                      </a:pPr>
                      <a:r>
                        <a:rPr lang="en-US" sz="950" dirty="0">
                          <a:solidFill>
                            <a:srgbClr val="000000"/>
                          </a:solidFill>
                          <a:latin typeface="Calibri" pitchFamily="34" charset="0"/>
                          <a:ea typeface="Calibri" pitchFamily="34" charset="-122"/>
                          <a:cs typeface="Calibri" pitchFamily="34" charset="-120"/>
                        </a:rPr>
                        <a:t>35</a:t>
                      </a:r>
                      <a:endParaRPr lang="en-US" sz="950" dirty="0">
                        <a:latin typeface="Calibri" charset="0"/>
                        <a:ea typeface="Calibri" charset="0"/>
                        <a:cs typeface="Calibri" charset="0"/>
                      </a:endParaRPr>
                    </a:p>
                  </a:txBody>
                  <a:tcPr marL="91440" marR="91440" marT="45720" marB="4572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FFFFFF"/>
                    </a:solidFill>
                  </a:tcPr>
                </a:tc>
                <a:tc>
                  <a:txBody>
                    <a:bodyPr/>
                    <a:lstStyle/>
                    <a:p>
                      <a:pPr algn="l" indent="0" marL="0">
                        <a:buNone/>
                      </a:pPr>
                      <a:r>
                        <a:rPr lang="en-US" sz="950" dirty="0">
                          <a:solidFill>
                            <a:srgbClr val="000000"/>
                          </a:solidFill>
                          <a:latin typeface="Calibri" pitchFamily="34" charset="0"/>
                          <a:ea typeface="Calibri" pitchFamily="34" charset="-122"/>
                          <a:cs typeface="Calibri" pitchFamily="34" charset="-120"/>
                        </a:rPr>
                        <a:t>35%</a:t>
                      </a:r>
                      <a:endParaRPr lang="en-US" sz="950" dirty="0">
                        <a:latin typeface="Calibri" charset="0"/>
                        <a:ea typeface="Calibri" charset="0"/>
                        <a:cs typeface="Calibri" charset="0"/>
                      </a:endParaRPr>
                    </a:p>
                  </a:txBody>
                  <a:tcPr marL="91440" marR="91440" marT="45720" marB="4572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FFFFFF"/>
                    </a:solidFill>
                  </a:tcPr>
                </a:tc>
              </a:tr>
              <a:tr h="199339">
                <a:tc>
                  <a:txBody>
                    <a:bodyPr/>
                    <a:lstStyle/>
                    <a:p>
                      <a:pPr algn="l" indent="0" marL="0">
                        <a:buNone/>
                      </a:pPr>
                      <a:r>
                        <a:rPr lang="en-US" sz="950" dirty="0">
                          <a:solidFill>
                            <a:srgbClr val="000000"/>
                          </a:solidFill>
                          <a:latin typeface="Calibri" pitchFamily="34" charset="0"/>
                          <a:ea typeface="Calibri" pitchFamily="34" charset="-122"/>
                          <a:cs typeface="Calibri" pitchFamily="34" charset="-120"/>
                        </a:rPr>
                        <a:t>VP-level</a:t>
                      </a:r>
                      <a:endParaRPr lang="en-US" sz="950" dirty="0">
                        <a:latin typeface="Calibri" charset="0"/>
                        <a:ea typeface="Calibri" charset="0"/>
                        <a:cs typeface="Calibri" charset="0"/>
                      </a:endParaRPr>
                    </a:p>
                  </a:txBody>
                  <a:tcPr marL="91440" marR="91440" marT="45720" marB="4572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F2F2F2"/>
                    </a:solidFill>
                  </a:tcPr>
                </a:tc>
                <a:tc>
                  <a:txBody>
                    <a:bodyPr/>
                    <a:lstStyle/>
                    <a:p>
                      <a:pPr algn="l" indent="0" marL="0">
                        <a:buNone/>
                      </a:pPr>
                      <a:r>
                        <a:rPr lang="en-US" sz="950" dirty="0">
                          <a:solidFill>
                            <a:srgbClr val="000000"/>
                          </a:solidFill>
                          <a:latin typeface="Calibri" pitchFamily="34" charset="0"/>
                          <a:ea typeface="Calibri" pitchFamily="34" charset="-122"/>
                          <a:cs typeface="Calibri" pitchFamily="34" charset="-120"/>
                        </a:rPr>
                        <a:t>24</a:t>
                      </a:r>
                      <a:endParaRPr lang="en-US" sz="950" dirty="0">
                        <a:latin typeface="Calibri" charset="0"/>
                        <a:ea typeface="Calibri" charset="0"/>
                        <a:cs typeface="Calibri" charset="0"/>
                      </a:endParaRPr>
                    </a:p>
                  </a:txBody>
                  <a:tcPr marL="91440" marR="91440" marT="45720" marB="4572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F2F2F2"/>
                    </a:solidFill>
                  </a:tcPr>
                </a:tc>
                <a:tc>
                  <a:txBody>
                    <a:bodyPr/>
                    <a:lstStyle/>
                    <a:p>
                      <a:pPr algn="l" indent="0" marL="0">
                        <a:buNone/>
                      </a:pPr>
                      <a:r>
                        <a:rPr lang="en-US" sz="950" dirty="0">
                          <a:solidFill>
                            <a:srgbClr val="000000"/>
                          </a:solidFill>
                          <a:latin typeface="Calibri" pitchFamily="34" charset="0"/>
                          <a:ea typeface="Calibri" pitchFamily="34" charset="-122"/>
                          <a:cs typeface="Calibri" pitchFamily="34" charset="-120"/>
                        </a:rPr>
                        <a:t>24%</a:t>
                      </a:r>
                      <a:endParaRPr lang="en-US" sz="950" dirty="0">
                        <a:latin typeface="Calibri" charset="0"/>
                        <a:ea typeface="Calibri" charset="0"/>
                        <a:cs typeface="Calibri" charset="0"/>
                      </a:endParaRPr>
                    </a:p>
                  </a:txBody>
                  <a:tcPr marL="91440" marR="91440" marT="45720" marB="4572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F2F2F2"/>
                    </a:solidFill>
                  </a:tcPr>
                </a:tc>
              </a:tr>
              <a:tr h="199339">
                <a:tc>
                  <a:txBody>
                    <a:bodyPr/>
                    <a:lstStyle/>
                    <a:p>
                      <a:pPr algn="l" indent="0" marL="0">
                        <a:buNone/>
                      </a:pPr>
                      <a:r>
                        <a:rPr lang="en-US" sz="950" dirty="0">
                          <a:solidFill>
                            <a:srgbClr val="000000"/>
                          </a:solidFill>
                          <a:latin typeface="Calibri" pitchFamily="34" charset="0"/>
                          <a:ea typeface="Calibri" pitchFamily="34" charset="-122"/>
                          <a:cs typeface="Calibri" pitchFamily="34" charset="-120"/>
                        </a:rPr>
                        <a:t>Senior Manager-level</a:t>
                      </a:r>
                      <a:endParaRPr lang="en-US" sz="950" dirty="0">
                        <a:latin typeface="Calibri" charset="0"/>
                        <a:ea typeface="Calibri" charset="0"/>
                        <a:cs typeface="Calibri" charset="0"/>
                      </a:endParaRPr>
                    </a:p>
                  </a:txBody>
                  <a:tcPr marL="91440" marR="91440" marT="45720" marB="4572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FFFFFF"/>
                    </a:solidFill>
                  </a:tcPr>
                </a:tc>
                <a:tc>
                  <a:txBody>
                    <a:bodyPr/>
                    <a:lstStyle/>
                    <a:p>
                      <a:pPr algn="l" indent="0" marL="0">
                        <a:buNone/>
                      </a:pPr>
                      <a:r>
                        <a:rPr lang="en-US" sz="950" dirty="0">
                          <a:solidFill>
                            <a:srgbClr val="000000"/>
                          </a:solidFill>
                          <a:latin typeface="Calibri" pitchFamily="34" charset="0"/>
                          <a:ea typeface="Calibri" pitchFamily="34" charset="-122"/>
                          <a:cs typeface="Calibri" pitchFamily="34" charset="-120"/>
                        </a:rPr>
                        <a:t>24</a:t>
                      </a:r>
                      <a:endParaRPr lang="en-US" sz="950" dirty="0">
                        <a:latin typeface="Calibri" charset="0"/>
                        <a:ea typeface="Calibri" charset="0"/>
                        <a:cs typeface="Calibri" charset="0"/>
                      </a:endParaRPr>
                    </a:p>
                  </a:txBody>
                  <a:tcPr marL="91440" marR="91440" marT="45720" marB="4572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FFFFFF"/>
                    </a:solidFill>
                  </a:tcPr>
                </a:tc>
                <a:tc>
                  <a:txBody>
                    <a:bodyPr/>
                    <a:lstStyle/>
                    <a:p>
                      <a:pPr algn="l" indent="0" marL="0">
                        <a:buNone/>
                      </a:pPr>
                      <a:r>
                        <a:rPr lang="en-US" sz="950" dirty="0">
                          <a:solidFill>
                            <a:srgbClr val="000000"/>
                          </a:solidFill>
                          <a:latin typeface="Calibri" pitchFamily="34" charset="0"/>
                          <a:ea typeface="Calibri" pitchFamily="34" charset="-122"/>
                          <a:cs typeface="Calibri" pitchFamily="34" charset="-120"/>
                        </a:rPr>
                        <a:t>24%</a:t>
                      </a:r>
                      <a:endParaRPr lang="en-US" sz="950" dirty="0">
                        <a:latin typeface="Calibri" charset="0"/>
                        <a:ea typeface="Calibri" charset="0"/>
                        <a:cs typeface="Calibri" charset="0"/>
                      </a:endParaRPr>
                    </a:p>
                  </a:txBody>
                  <a:tcPr marL="91440" marR="91440" marT="45720" marB="4572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FFFFFF"/>
                    </a:solidFill>
                  </a:tcPr>
                </a:tc>
              </a:tr>
              <a:tr h="199339">
                <a:tc>
                  <a:txBody>
                    <a:bodyPr/>
                    <a:lstStyle/>
                    <a:p>
                      <a:pPr algn="l" indent="0" marL="0">
                        <a:buNone/>
                      </a:pPr>
                      <a:r>
                        <a:rPr lang="en-US" sz="950" dirty="0">
                          <a:solidFill>
                            <a:srgbClr val="000000"/>
                          </a:solidFill>
                          <a:latin typeface="Calibri" pitchFamily="34" charset="0"/>
                          <a:ea typeface="Calibri" pitchFamily="34" charset="-122"/>
                          <a:cs typeface="Calibri" pitchFamily="34" charset="-120"/>
                        </a:rPr>
                        <a:t>SVP-level</a:t>
                      </a:r>
                      <a:endParaRPr lang="en-US" sz="950" dirty="0">
                        <a:latin typeface="Calibri" charset="0"/>
                        <a:ea typeface="Calibri" charset="0"/>
                        <a:cs typeface="Calibri" charset="0"/>
                      </a:endParaRPr>
                    </a:p>
                  </a:txBody>
                  <a:tcPr marL="91440" marR="91440" marT="45720" marB="4572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F2F2F2"/>
                    </a:solidFill>
                  </a:tcPr>
                </a:tc>
                <a:tc>
                  <a:txBody>
                    <a:bodyPr/>
                    <a:lstStyle/>
                    <a:p>
                      <a:pPr algn="l" indent="0" marL="0">
                        <a:buNone/>
                      </a:pPr>
                      <a:r>
                        <a:rPr lang="en-US" sz="950" dirty="0">
                          <a:solidFill>
                            <a:srgbClr val="000000"/>
                          </a:solidFill>
                          <a:latin typeface="Calibri" pitchFamily="34" charset="0"/>
                          <a:ea typeface="Calibri" pitchFamily="34" charset="-122"/>
                          <a:cs typeface="Calibri" pitchFamily="34" charset="-120"/>
                        </a:rPr>
                        <a:t>11</a:t>
                      </a:r>
                      <a:endParaRPr lang="en-US" sz="950" dirty="0">
                        <a:latin typeface="Calibri" charset="0"/>
                        <a:ea typeface="Calibri" charset="0"/>
                        <a:cs typeface="Calibri" charset="0"/>
                      </a:endParaRPr>
                    </a:p>
                  </a:txBody>
                  <a:tcPr marL="91440" marR="91440" marT="45720" marB="4572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F2F2F2"/>
                    </a:solidFill>
                  </a:tcPr>
                </a:tc>
                <a:tc>
                  <a:txBody>
                    <a:bodyPr/>
                    <a:lstStyle/>
                    <a:p>
                      <a:pPr algn="l" indent="0" marL="0">
                        <a:buNone/>
                      </a:pPr>
                      <a:r>
                        <a:rPr lang="en-US" sz="950" dirty="0">
                          <a:solidFill>
                            <a:srgbClr val="000000"/>
                          </a:solidFill>
                          <a:latin typeface="Calibri" pitchFamily="34" charset="0"/>
                          <a:ea typeface="Calibri" pitchFamily="34" charset="-122"/>
                          <a:cs typeface="Calibri" pitchFamily="34" charset="-120"/>
                        </a:rPr>
                        <a:t>11%</a:t>
                      </a:r>
                      <a:endParaRPr lang="en-US" sz="950" dirty="0">
                        <a:latin typeface="Calibri" charset="0"/>
                        <a:ea typeface="Calibri" charset="0"/>
                        <a:cs typeface="Calibri" charset="0"/>
                      </a:endParaRPr>
                    </a:p>
                  </a:txBody>
                  <a:tcPr marL="91440" marR="91440" marT="45720" marB="4572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F2F2F2"/>
                    </a:solidFill>
                  </a:tcPr>
                </a:tc>
              </a:tr>
              <a:tr h="199339">
                <a:tc>
                  <a:txBody>
                    <a:bodyPr/>
                    <a:lstStyle/>
                    <a:p>
                      <a:pPr algn="l" indent="0" marL="0">
                        <a:buNone/>
                      </a:pPr>
                      <a:r>
                        <a:rPr lang="en-US" sz="950" dirty="0">
                          <a:solidFill>
                            <a:srgbClr val="000000"/>
                          </a:solidFill>
                          <a:latin typeface="Calibri" pitchFamily="34" charset="0"/>
                          <a:ea typeface="Calibri" pitchFamily="34" charset="-122"/>
                          <a:cs typeface="Calibri" pitchFamily="34" charset="-120"/>
                        </a:rPr>
                        <a:t>C-level</a:t>
                      </a:r>
                      <a:endParaRPr lang="en-US" sz="950" dirty="0">
                        <a:latin typeface="Calibri" charset="0"/>
                        <a:ea typeface="Calibri" charset="0"/>
                        <a:cs typeface="Calibri" charset="0"/>
                      </a:endParaRPr>
                    </a:p>
                  </a:txBody>
                  <a:tcPr marL="91440" marR="91440" marT="45720" marB="4572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FFFFFF"/>
                    </a:solidFill>
                  </a:tcPr>
                </a:tc>
                <a:tc>
                  <a:txBody>
                    <a:bodyPr/>
                    <a:lstStyle/>
                    <a:p>
                      <a:pPr algn="l" indent="0" marL="0">
                        <a:buNone/>
                      </a:pPr>
                      <a:r>
                        <a:rPr lang="en-US" sz="950" dirty="0">
                          <a:solidFill>
                            <a:srgbClr val="000000"/>
                          </a:solidFill>
                          <a:latin typeface="Calibri" pitchFamily="34" charset="0"/>
                          <a:ea typeface="Calibri" pitchFamily="34" charset="-122"/>
                          <a:cs typeface="Calibri" pitchFamily="34" charset="-120"/>
                        </a:rPr>
                        <a:t>6</a:t>
                      </a:r>
                      <a:endParaRPr lang="en-US" sz="950" dirty="0">
                        <a:latin typeface="Calibri" charset="0"/>
                        <a:ea typeface="Calibri" charset="0"/>
                        <a:cs typeface="Calibri" charset="0"/>
                      </a:endParaRPr>
                    </a:p>
                  </a:txBody>
                  <a:tcPr marL="91440" marR="91440" marT="45720" marB="4572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FFFFFF"/>
                    </a:solidFill>
                  </a:tcPr>
                </a:tc>
                <a:tc>
                  <a:txBody>
                    <a:bodyPr/>
                    <a:lstStyle/>
                    <a:p>
                      <a:pPr algn="l" indent="0" marL="0">
                        <a:buNone/>
                      </a:pPr>
                      <a:r>
                        <a:rPr lang="en-US" sz="950" dirty="0">
                          <a:solidFill>
                            <a:srgbClr val="000000"/>
                          </a:solidFill>
                          <a:latin typeface="Calibri" pitchFamily="34" charset="0"/>
                          <a:ea typeface="Calibri" pitchFamily="34" charset="-122"/>
                          <a:cs typeface="Calibri" pitchFamily="34" charset="-120"/>
                        </a:rPr>
                        <a:t>6%</a:t>
                      </a:r>
                      <a:endParaRPr lang="en-US" sz="950" dirty="0">
                        <a:latin typeface="Calibri" charset="0"/>
                        <a:ea typeface="Calibri" charset="0"/>
                        <a:cs typeface="Calibri" charset="0"/>
                      </a:endParaRPr>
                    </a:p>
                  </a:txBody>
                  <a:tcPr marL="91440" marR="91440" marT="45720" marB="4572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FFFFFF"/>
                    </a:solidFill>
                  </a:tcPr>
                </a:tc>
              </a:tr>
            </a:tbl>
          </a:graphicData>
        </a:graphic>
      </p:graphicFrame>
      <p:sp>
        <p:nvSpPr>
          <p:cNvPr id="23" name="Text 17"/>
          <p:cNvSpPr txBox="1"/>
          <p:nvPr/>
        </p:nvSpPr>
        <p:spPr>
          <a:xfrm>
            <a:off x="502006" y="6199632"/>
            <a:ext cx="10639958" cy="274320"/>
          </a:xfrm>
          <a:prstGeom prst="rect">
            <a:avLst/>
          </a:prstGeom>
          <a:noFill/>
          <a:ln/>
        </p:spPr>
        <p:txBody>
          <a:bodyPr wrap="square" lIns="0" tIns="0" rIns="0" bIns="0" rtlCol="0" anchor="t"/>
          <a:lstStyle/>
          <a:p>
            <a:pPr algn="l" indent="0" marL="0">
              <a:buNone/>
            </a:pPr>
            <a:r>
              <a:rPr lang="en-US" sz="750" i="1" dirty="0">
                <a:solidFill>
                  <a:srgbClr val="53565A"/>
                </a:solidFill>
                <a:latin typeface="Calibri" pitchFamily="34" charset="0"/>
                <a:ea typeface="Calibri" pitchFamily="34" charset="-122"/>
                <a:cs typeface="Calibri" pitchFamily="34" charset="-120"/>
              </a:rPr>
              <a:t>Institution tier includes 6 respondents reclassified from their employer description elsewhere in the survey. Europe combines EU and UK. Percentages may not sum to exactly 100% due to rounding.</a:t>
            </a:r>
            <a:endParaRPr lang="en-US" sz="7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006" y="292608"/>
            <a:ext cx="11188598" cy="182880"/>
          </a:xfrm>
          <a:prstGeom prst="rect">
            <a:avLst/>
          </a:prstGeom>
          <a:noFill/>
          <a:ln/>
        </p:spPr>
        <p:txBody>
          <a:bodyPr wrap="square" lIns="0" tIns="0" rIns="0" bIns="0" rtlCol="0" anchor="t"/>
          <a:lstStyle/>
          <a:p>
            <a:pPr algn="l" indent="0" marL="0">
              <a:buNone/>
            </a:pPr>
            <a:r>
              <a:rPr lang="en-US" sz="1050" b="1" spc="150" kern="0" dirty="0">
                <a:solidFill>
                  <a:srgbClr val="046A38"/>
                </a:solidFill>
                <a:latin typeface="Calibri" pitchFamily="34" charset="0"/>
                <a:ea typeface="Calibri" pitchFamily="34" charset="-122"/>
                <a:cs typeface="Calibri" pitchFamily="34" charset="-120"/>
              </a:rPr>
              <a:t>APPENDIX — RESULTS</a:t>
            </a:r>
            <a:endParaRPr lang="en-US" sz="1050" dirty="0"/>
          </a:p>
        </p:txBody>
      </p:sp>
      <p:sp>
        <p:nvSpPr>
          <p:cNvPr id="3" name="Text 1"/>
          <p:cNvSpPr txBox="1"/>
          <p:nvPr/>
        </p:nvSpPr>
        <p:spPr>
          <a:xfrm>
            <a:off x="502006" y="475488"/>
            <a:ext cx="11188598" cy="310896"/>
          </a:xfrm>
          <a:prstGeom prst="rect">
            <a:avLst/>
          </a:prstGeom>
          <a:noFill/>
          <a:ln/>
        </p:spPr>
        <p:txBody>
          <a:bodyPr wrap="squar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Deepfake &amp; Emerging AI Risk</a:t>
            </a:r>
            <a:endParaRPr lang="en-US" sz="1900" dirty="0"/>
          </a:p>
        </p:txBody>
      </p:sp>
      <p:sp>
        <p:nvSpPr>
          <p:cNvPr id="4" name="Text 2"/>
          <p:cNvSpPr txBox="1"/>
          <p:nvPr/>
        </p:nvSpPr>
        <p:spPr>
          <a:xfrm>
            <a:off x="502006" y="804672"/>
            <a:ext cx="11188598" cy="713232"/>
          </a:xfrm>
          <a:prstGeom prst="rect">
            <a:avLst/>
          </a:prstGeom>
          <a:noFill/>
          <a:ln/>
        </p:spPr>
        <p:txBody>
          <a:bodyPr wrap="square" lIns="0" tIns="0" rIns="0" bIns="0" rtlCol="0" anchor="t"/>
          <a:lstStyle/>
          <a:p>
            <a:pPr algn="l" indent="0" marL="0">
              <a:lnSpc>
                <a:spcPct val="105000"/>
              </a:lnSpc>
              <a:buNone/>
            </a:pPr>
            <a:r>
              <a:rPr lang="en-US" sz="1300" b="1" dirty="0">
                <a:solidFill>
                  <a:srgbClr val="046A38"/>
                </a:solidFill>
                <a:latin typeface="Calibri" pitchFamily="34" charset="0"/>
                <a:ea typeface="Calibri" pitchFamily="34" charset="-122"/>
                <a:cs typeface="Calibri" pitchFamily="34" charset="-120"/>
              </a:rPr>
              <a:t>Identity and payment moments carry the greatest vulnerability; staff training and identity verification are the top obstacles.</a:t>
            </a:r>
            <a:endParaRPr lang="en-US" sz="1300" dirty="0"/>
          </a:p>
        </p:txBody>
      </p:sp>
      <p:sp>
        <p:nvSpPr>
          <p:cNvPr id="5" name="Text 3"/>
          <p:cNvSpPr txBox="1"/>
          <p:nvPr/>
        </p:nvSpPr>
        <p:spPr>
          <a:xfrm>
            <a:off x="11346790" y="6537960"/>
            <a:ext cx="343814" cy="182880"/>
          </a:xfrm>
          <a:prstGeom prst="rect">
            <a:avLst/>
          </a:prstGeom>
          <a:noFill/>
          <a:ln/>
        </p:spPr>
        <p:txBody>
          <a:bodyPr wrap="square" rtlCol="0" anchor="ctr"/>
          <a:lstStyle/>
          <a:p>
            <a:pPr algn="r" indent="0" marL="0">
              <a:buNone/>
            </a:pPr>
            <a:r>
              <a:rPr lang="en-US" sz="900" dirty="0">
                <a:solidFill>
                  <a:srgbClr val="53565A"/>
                </a:solidFill>
                <a:latin typeface="Calibri" pitchFamily="34" charset="0"/>
                <a:ea typeface="Calibri" pitchFamily="34" charset="-122"/>
                <a:cs typeface="Calibri" pitchFamily="34" charset="-120"/>
              </a:rPr>
              <a:t>103</a:t>
            </a:r>
            <a:endParaRPr lang="en-US" sz="900" dirty="0"/>
          </a:p>
        </p:txBody>
      </p:sp>
      <p:sp>
        <p:nvSpPr>
          <p:cNvPr id="6" name="Text 4"/>
          <p:cNvSpPr txBox="1"/>
          <p:nvPr/>
        </p:nvSpPr>
        <p:spPr>
          <a:xfrm>
            <a:off x="502006" y="1627632"/>
            <a:ext cx="5457139" cy="310896"/>
          </a:xfrm>
          <a:prstGeom prst="rect">
            <a:avLst/>
          </a:prstGeom>
          <a:noFill/>
          <a:ln/>
        </p:spPr>
        <p:txBody>
          <a:bodyPr wrap="square" lIns="0" tIns="0" rIns="0" bIns="0" rtlCol="0" anchor="b"/>
          <a:lstStyle/>
          <a:p>
            <a:pPr algn="l" indent="0" marL="0">
              <a:lnSpc>
                <a:spcPct val="95000"/>
              </a:lnSpc>
              <a:buNone/>
            </a:pPr>
            <a:r>
              <a:rPr lang="en-US" sz="850" b="1" dirty="0">
                <a:solidFill>
                  <a:srgbClr val="046A38"/>
                </a:solidFill>
                <a:latin typeface="IBM Plex Mono" pitchFamily="34" charset="0"/>
                <a:ea typeface="IBM Plex Mono" pitchFamily="34" charset="-122"/>
                <a:cs typeface="IBM Plex Mono" pitchFamily="34" charset="-120"/>
              </a:rPr>
              <a:t>Q2  </a:t>
            </a:r>
            <a:pPr algn="l" indent="0" marL="0">
              <a:lnSpc>
                <a:spcPct val="95000"/>
              </a:lnSpc>
              <a:buNone/>
            </a:pPr>
            <a:r>
              <a:rPr lang="en-US" sz="1150" b="1" dirty="0">
                <a:solidFill>
                  <a:srgbClr val="000000"/>
                </a:solidFill>
                <a:latin typeface="Calibri" pitchFamily="34" charset="0"/>
                <a:ea typeface="Calibri" pitchFamily="34" charset="-122"/>
                <a:cs typeface="Calibri" pitchFamily="34" charset="-120"/>
              </a:rPr>
              <a:t>Greatest Increase in AI/Deepfake Vulnerability</a:t>
            </a:r>
            <a:endParaRPr lang="en-US" sz="850" dirty="0"/>
          </a:p>
        </p:txBody>
      </p:sp>
      <p:graphicFrame>
        <p:nvGraphicFramePr>
          <p:cNvPr id="7" name="Chart 0" descr=""/>
          <p:cNvGraphicFramePr/>
          <p:nvPr/>
        </p:nvGraphicFramePr>
        <p:xfrm>
          <a:off x="502006" y="2048256"/>
          <a:ext cx="5457139" cy="3154680"/>
        </p:xfrm>
        <a:graphic xmlns:a="http://schemas.openxmlformats.org/drawingml/2006/main">
          <a:graphicData uri="http://schemas.openxmlformats.org/drawingml/2006/chart">
            <c:chart xmlns:c="http://schemas.openxmlformats.org/drawingml/2006/chart" r:id="rId1"/>
          </a:graphicData>
        </a:graphic>
      </p:graphicFrame>
      <p:sp>
        <p:nvSpPr>
          <p:cNvPr id="8" name="Text 5"/>
          <p:cNvSpPr txBox="1"/>
          <p:nvPr/>
        </p:nvSpPr>
        <p:spPr>
          <a:xfrm>
            <a:off x="6233465" y="1627632"/>
            <a:ext cx="5457139" cy="310896"/>
          </a:xfrm>
          <a:prstGeom prst="rect">
            <a:avLst/>
          </a:prstGeom>
          <a:noFill/>
          <a:ln/>
        </p:spPr>
        <p:txBody>
          <a:bodyPr wrap="square" lIns="0" tIns="0" rIns="0" bIns="0" rtlCol="0" anchor="b"/>
          <a:lstStyle/>
          <a:p>
            <a:pPr algn="l" indent="0" marL="0">
              <a:lnSpc>
                <a:spcPct val="95000"/>
              </a:lnSpc>
              <a:buNone/>
            </a:pPr>
            <a:r>
              <a:rPr lang="en-US" sz="850" b="1" dirty="0">
                <a:solidFill>
                  <a:srgbClr val="046A38"/>
                </a:solidFill>
                <a:latin typeface="IBM Plex Mono" pitchFamily="34" charset="0"/>
                <a:ea typeface="IBM Plex Mono" pitchFamily="34" charset="-122"/>
                <a:cs typeface="IBM Plex Mono" pitchFamily="34" charset="-120"/>
              </a:rPr>
              <a:t>Q3  </a:t>
            </a:r>
            <a:pPr algn="l" indent="0" marL="0">
              <a:lnSpc>
                <a:spcPct val="95000"/>
              </a:lnSpc>
              <a:buNone/>
            </a:pPr>
            <a:r>
              <a:rPr lang="en-US" sz="1150" b="1" dirty="0">
                <a:solidFill>
                  <a:srgbClr val="000000"/>
                </a:solidFill>
                <a:latin typeface="Calibri" pitchFamily="34" charset="0"/>
                <a:ea typeface="Calibri" pitchFamily="34" charset="-122"/>
                <a:cs typeface="Calibri" pitchFamily="34" charset="-120"/>
              </a:rPr>
              <a:t>Obstacles to Managing AI-Driven Fraud Risk</a:t>
            </a:r>
            <a:endParaRPr lang="en-US" sz="850" dirty="0"/>
          </a:p>
        </p:txBody>
      </p:sp>
      <p:graphicFrame>
        <p:nvGraphicFramePr>
          <p:cNvPr id="9" name="Chart 1" descr=""/>
          <p:cNvGraphicFramePr/>
          <p:nvPr/>
        </p:nvGraphicFramePr>
        <p:xfrm>
          <a:off x="6233465" y="2048256"/>
          <a:ext cx="5457139" cy="3154680"/>
        </p:xfrm>
        <a:graphic xmlns:a="http://schemas.openxmlformats.org/drawingml/2006/main">
          <a:graphicData uri="http://schemas.openxmlformats.org/drawingml/2006/chart">
            <c:chart xmlns:c="http://schemas.openxmlformats.org/drawingml/2006/chart" r:id="rId2"/>
          </a:graphicData>
        </a:graphic>
      </p:graphicFrame>
      <p:sp>
        <p:nvSpPr>
          <p:cNvPr id="10" name="Shape 6"/>
          <p:cNvSpPr/>
          <p:nvPr/>
        </p:nvSpPr>
        <p:spPr>
          <a:xfrm>
            <a:off x="502006" y="5276088"/>
            <a:ext cx="11188598" cy="0"/>
          </a:xfrm>
          <a:prstGeom prst="line">
            <a:avLst/>
          </a:prstGeom>
          <a:noFill/>
          <a:ln w="9525">
            <a:solidFill>
              <a:srgbClr val="D0D0CE"/>
            </a:solidFill>
            <a:prstDash val="solid"/>
          </a:ln>
        </p:spPr>
      </p:sp>
      <p:sp>
        <p:nvSpPr>
          <p:cNvPr id="11" name="Text 7"/>
          <p:cNvSpPr txBox="1"/>
          <p:nvPr/>
        </p:nvSpPr>
        <p:spPr>
          <a:xfrm>
            <a:off x="502006" y="5330952"/>
            <a:ext cx="11188598" cy="274320"/>
          </a:xfrm>
          <a:prstGeom prst="rect">
            <a:avLst/>
          </a:prstGeom>
          <a:noFill/>
          <a:ln/>
        </p:spPr>
        <p:txBody>
          <a:bodyPr wrap="square" lIns="0" tIns="0" rIns="0" bIns="0" rtlCol="0" anchor="t"/>
          <a:lstStyle/>
          <a:p>
            <a:pPr algn="l" indent="0" marL="0">
              <a:lnSpc>
                <a:spcPct val="110000"/>
              </a:lnSpc>
              <a:buNone/>
            </a:pPr>
            <a:r>
              <a:rPr lang="en-US" sz="800" dirty="0">
                <a:solidFill>
                  <a:srgbClr val="53565A"/>
                </a:solidFill>
                <a:latin typeface="Calibri" pitchFamily="34" charset="0"/>
                <a:ea typeface="Calibri" pitchFamily="34" charset="-122"/>
                <a:cs typeface="Calibri" pitchFamily="34" charset="-120"/>
              </a:rPr>
              <a:t>Q2: Ranked top 3, % placed anywhere in top 3 (not mutually exclusive). Q3: Select all that apply. n=100 for both. See the Full Results deck for sector, region, and institution-tier breakdowns.</a:t>
            </a:r>
            <a:endParaRPr lang="en-US" sz="8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006" y="292608"/>
            <a:ext cx="11188598" cy="182880"/>
          </a:xfrm>
          <a:prstGeom prst="rect">
            <a:avLst/>
          </a:prstGeom>
          <a:noFill/>
          <a:ln/>
        </p:spPr>
        <p:txBody>
          <a:bodyPr wrap="square" lIns="0" tIns="0" rIns="0" bIns="0" rtlCol="0" anchor="t"/>
          <a:lstStyle/>
          <a:p>
            <a:pPr algn="l" indent="0" marL="0">
              <a:buNone/>
            </a:pPr>
            <a:r>
              <a:rPr lang="en-US" sz="1050" b="1" spc="150" kern="0" dirty="0">
                <a:solidFill>
                  <a:srgbClr val="046A38"/>
                </a:solidFill>
                <a:latin typeface="Calibri" pitchFamily="34" charset="0"/>
                <a:ea typeface="Calibri" pitchFamily="34" charset="-122"/>
                <a:cs typeface="Calibri" pitchFamily="34" charset="-120"/>
              </a:rPr>
              <a:t>APPENDIX — RESULTS</a:t>
            </a:r>
            <a:endParaRPr lang="en-US" sz="1050" dirty="0"/>
          </a:p>
        </p:txBody>
      </p:sp>
      <p:sp>
        <p:nvSpPr>
          <p:cNvPr id="3" name="Text 1"/>
          <p:cNvSpPr txBox="1"/>
          <p:nvPr/>
        </p:nvSpPr>
        <p:spPr>
          <a:xfrm>
            <a:off x="502006" y="475488"/>
            <a:ext cx="11188598" cy="310896"/>
          </a:xfrm>
          <a:prstGeom prst="rect">
            <a:avLst/>
          </a:prstGeom>
          <a:noFill/>
          <a:ln/>
        </p:spPr>
        <p:txBody>
          <a:bodyPr wrap="squar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Fraud Information Sharing</a:t>
            </a:r>
            <a:endParaRPr lang="en-US" sz="1900" dirty="0"/>
          </a:p>
        </p:txBody>
      </p:sp>
      <p:sp>
        <p:nvSpPr>
          <p:cNvPr id="4" name="Text 2"/>
          <p:cNvSpPr txBox="1"/>
          <p:nvPr/>
        </p:nvSpPr>
        <p:spPr>
          <a:xfrm>
            <a:off x="502006" y="804672"/>
            <a:ext cx="11188598" cy="713232"/>
          </a:xfrm>
          <a:prstGeom prst="rect">
            <a:avLst/>
          </a:prstGeom>
          <a:noFill/>
          <a:ln/>
        </p:spPr>
        <p:txBody>
          <a:bodyPr wrap="square" lIns="0" tIns="0" rIns="0" bIns="0" rtlCol="0" anchor="t"/>
          <a:lstStyle/>
          <a:p>
            <a:pPr algn="l" indent="0" marL="0">
              <a:lnSpc>
                <a:spcPct val="105000"/>
              </a:lnSpc>
              <a:buNone/>
            </a:pPr>
            <a:r>
              <a:rPr lang="en-US" sz="1300" b="1" dirty="0">
                <a:solidFill>
                  <a:srgbClr val="046A38"/>
                </a:solidFill>
                <a:latin typeface="Calibri" pitchFamily="34" charset="0"/>
                <a:ea typeface="Calibri" pitchFamily="34" charset="-122"/>
                <a:cs typeface="Calibri" pitchFamily="34" charset="-120"/>
              </a:rPr>
              <a:t>Structural barriers — data quality and legal constraints — dominate, and a centralized utility is the top-requested fix.</a:t>
            </a:r>
            <a:endParaRPr lang="en-US" sz="1300" dirty="0"/>
          </a:p>
        </p:txBody>
      </p:sp>
      <p:sp>
        <p:nvSpPr>
          <p:cNvPr id="5" name="Text 3"/>
          <p:cNvSpPr txBox="1"/>
          <p:nvPr/>
        </p:nvSpPr>
        <p:spPr>
          <a:xfrm>
            <a:off x="11346790" y="6537960"/>
            <a:ext cx="343814" cy="182880"/>
          </a:xfrm>
          <a:prstGeom prst="rect">
            <a:avLst/>
          </a:prstGeom>
          <a:noFill/>
          <a:ln/>
        </p:spPr>
        <p:txBody>
          <a:bodyPr wrap="square" rtlCol="0" anchor="ctr"/>
          <a:lstStyle/>
          <a:p>
            <a:pPr algn="r" indent="0" marL="0">
              <a:buNone/>
            </a:pPr>
            <a:r>
              <a:rPr lang="en-US" sz="900" dirty="0">
                <a:solidFill>
                  <a:srgbClr val="53565A"/>
                </a:solidFill>
                <a:latin typeface="Calibri" pitchFamily="34" charset="0"/>
                <a:ea typeface="Calibri" pitchFamily="34" charset="-122"/>
                <a:cs typeface="Calibri" pitchFamily="34" charset="-120"/>
              </a:rPr>
              <a:t>104</a:t>
            </a:r>
            <a:endParaRPr lang="en-US" sz="900" dirty="0"/>
          </a:p>
        </p:txBody>
      </p:sp>
      <p:sp>
        <p:nvSpPr>
          <p:cNvPr id="6" name="Text 4"/>
          <p:cNvSpPr txBox="1"/>
          <p:nvPr/>
        </p:nvSpPr>
        <p:spPr>
          <a:xfrm>
            <a:off x="502006" y="1627632"/>
            <a:ext cx="5457139" cy="310896"/>
          </a:xfrm>
          <a:prstGeom prst="rect">
            <a:avLst/>
          </a:prstGeom>
          <a:noFill/>
          <a:ln/>
        </p:spPr>
        <p:txBody>
          <a:bodyPr wrap="square" lIns="0" tIns="0" rIns="0" bIns="0" rtlCol="0" anchor="b"/>
          <a:lstStyle/>
          <a:p>
            <a:pPr algn="l" indent="0" marL="0">
              <a:lnSpc>
                <a:spcPct val="95000"/>
              </a:lnSpc>
              <a:buNone/>
            </a:pPr>
            <a:r>
              <a:rPr lang="en-US" sz="850" b="1" dirty="0">
                <a:solidFill>
                  <a:srgbClr val="046A38"/>
                </a:solidFill>
                <a:latin typeface="IBM Plex Mono" pitchFamily="34" charset="0"/>
                <a:ea typeface="IBM Plex Mono" pitchFamily="34" charset="-122"/>
                <a:cs typeface="IBM Plex Mono" pitchFamily="34" charset="-120"/>
              </a:rPr>
              <a:t>Q5  </a:t>
            </a:r>
            <a:pPr algn="l" indent="0" marL="0">
              <a:lnSpc>
                <a:spcPct val="95000"/>
              </a:lnSpc>
              <a:buNone/>
            </a:pPr>
            <a:r>
              <a:rPr lang="en-US" sz="1150" b="1" dirty="0">
                <a:solidFill>
                  <a:srgbClr val="000000"/>
                </a:solidFill>
                <a:latin typeface="Calibri" pitchFamily="34" charset="0"/>
                <a:ea typeface="Calibri" pitchFamily="34" charset="-122"/>
                <a:cs typeface="Calibri" pitchFamily="34" charset="-120"/>
              </a:rPr>
              <a:t>Barriers to Effective Information Sharing</a:t>
            </a:r>
            <a:endParaRPr lang="en-US" sz="850" dirty="0"/>
          </a:p>
        </p:txBody>
      </p:sp>
      <p:graphicFrame>
        <p:nvGraphicFramePr>
          <p:cNvPr id="7" name="Chart 0" descr=""/>
          <p:cNvGraphicFramePr/>
          <p:nvPr/>
        </p:nvGraphicFramePr>
        <p:xfrm>
          <a:off x="502006" y="2048256"/>
          <a:ext cx="5457139" cy="3154680"/>
        </p:xfrm>
        <a:graphic xmlns:a="http://schemas.openxmlformats.org/drawingml/2006/main">
          <a:graphicData uri="http://schemas.openxmlformats.org/drawingml/2006/chart">
            <c:chart xmlns:c="http://schemas.openxmlformats.org/drawingml/2006/chart" r:id="rId1"/>
          </a:graphicData>
        </a:graphic>
      </p:graphicFrame>
      <p:sp>
        <p:nvSpPr>
          <p:cNvPr id="8" name="Text 5"/>
          <p:cNvSpPr txBox="1"/>
          <p:nvPr/>
        </p:nvSpPr>
        <p:spPr>
          <a:xfrm>
            <a:off x="6233465" y="1627632"/>
            <a:ext cx="5457139" cy="310896"/>
          </a:xfrm>
          <a:prstGeom prst="rect">
            <a:avLst/>
          </a:prstGeom>
          <a:noFill/>
          <a:ln/>
        </p:spPr>
        <p:txBody>
          <a:bodyPr wrap="square" lIns="0" tIns="0" rIns="0" bIns="0" rtlCol="0" anchor="b"/>
          <a:lstStyle/>
          <a:p>
            <a:pPr algn="l" indent="0" marL="0">
              <a:lnSpc>
                <a:spcPct val="95000"/>
              </a:lnSpc>
              <a:buNone/>
            </a:pPr>
            <a:r>
              <a:rPr lang="en-US" sz="850" b="1" dirty="0">
                <a:solidFill>
                  <a:srgbClr val="046A38"/>
                </a:solidFill>
                <a:latin typeface="IBM Plex Mono" pitchFamily="34" charset="0"/>
                <a:ea typeface="IBM Plex Mono" pitchFamily="34" charset="-122"/>
                <a:cs typeface="IBM Plex Mono" pitchFamily="34" charset="-120"/>
              </a:rPr>
              <a:t>Q4  </a:t>
            </a:r>
            <a:pPr algn="l" indent="0" marL="0">
              <a:lnSpc>
                <a:spcPct val="95000"/>
              </a:lnSpc>
              <a:buNone/>
            </a:pPr>
            <a:r>
              <a:rPr lang="en-US" sz="1150" b="1" dirty="0">
                <a:solidFill>
                  <a:srgbClr val="000000"/>
                </a:solidFill>
                <a:latin typeface="Calibri" pitchFamily="34" charset="0"/>
                <a:ea typeface="Calibri" pitchFamily="34" charset="-122"/>
                <a:cs typeface="Calibri" pitchFamily="34" charset="-120"/>
              </a:rPr>
              <a:t>Government Action With the Greatest Impact</a:t>
            </a:r>
            <a:endParaRPr lang="en-US" sz="850" dirty="0"/>
          </a:p>
        </p:txBody>
      </p:sp>
      <p:graphicFrame>
        <p:nvGraphicFramePr>
          <p:cNvPr id="9" name="Chart 1" descr=""/>
          <p:cNvGraphicFramePr/>
          <p:nvPr/>
        </p:nvGraphicFramePr>
        <p:xfrm>
          <a:off x="6233465" y="2048256"/>
          <a:ext cx="5457139" cy="3154680"/>
        </p:xfrm>
        <a:graphic xmlns:a="http://schemas.openxmlformats.org/drawingml/2006/main">
          <a:graphicData uri="http://schemas.openxmlformats.org/drawingml/2006/chart">
            <c:chart xmlns:c="http://schemas.openxmlformats.org/drawingml/2006/chart" r:id="rId2"/>
          </a:graphicData>
        </a:graphic>
      </p:graphicFrame>
      <p:sp>
        <p:nvSpPr>
          <p:cNvPr id="10" name="Shape 6"/>
          <p:cNvSpPr/>
          <p:nvPr/>
        </p:nvSpPr>
        <p:spPr>
          <a:xfrm>
            <a:off x="502006" y="5276088"/>
            <a:ext cx="11188598" cy="0"/>
          </a:xfrm>
          <a:prstGeom prst="line">
            <a:avLst/>
          </a:prstGeom>
          <a:noFill/>
          <a:ln w="9525">
            <a:solidFill>
              <a:srgbClr val="D0D0CE"/>
            </a:solidFill>
            <a:prstDash val="solid"/>
          </a:ln>
        </p:spPr>
      </p:sp>
      <p:sp>
        <p:nvSpPr>
          <p:cNvPr id="11" name="Text 7"/>
          <p:cNvSpPr txBox="1"/>
          <p:nvPr/>
        </p:nvSpPr>
        <p:spPr>
          <a:xfrm>
            <a:off x="502006" y="5330952"/>
            <a:ext cx="11188598" cy="274320"/>
          </a:xfrm>
          <a:prstGeom prst="rect">
            <a:avLst/>
          </a:prstGeom>
          <a:noFill/>
          <a:ln/>
        </p:spPr>
        <p:txBody>
          <a:bodyPr wrap="square" lIns="0" tIns="0" rIns="0" bIns="0" rtlCol="0" anchor="t"/>
          <a:lstStyle/>
          <a:p>
            <a:pPr algn="l" indent="0" marL="0">
              <a:lnSpc>
                <a:spcPct val="110000"/>
              </a:lnSpc>
              <a:buNone/>
            </a:pPr>
            <a:r>
              <a:rPr lang="en-US" sz="800" dirty="0">
                <a:solidFill>
                  <a:srgbClr val="53565A"/>
                </a:solidFill>
                <a:latin typeface="Calibri" pitchFamily="34" charset="0"/>
                <a:ea typeface="Calibri" pitchFamily="34" charset="-122"/>
                <a:cs typeface="Calibri" pitchFamily="34" charset="-120"/>
              </a:rPr>
              <a:t>Q5: Ranked top 3, % placed anywhere in top 3 (not mutually exclusive). Q4: Single select. n=100 for both. See the Full Results deck for sector and region breakdowns.</a:t>
            </a:r>
            <a:endParaRPr lang="en-US" sz="8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006" y="292608"/>
            <a:ext cx="11188598" cy="182880"/>
          </a:xfrm>
          <a:prstGeom prst="rect">
            <a:avLst/>
          </a:prstGeom>
          <a:noFill/>
          <a:ln/>
        </p:spPr>
        <p:txBody>
          <a:bodyPr wrap="square" lIns="0" tIns="0" rIns="0" bIns="0" rtlCol="0" anchor="t"/>
          <a:lstStyle/>
          <a:p>
            <a:pPr algn="l" indent="0" marL="0">
              <a:buNone/>
            </a:pPr>
            <a:r>
              <a:rPr lang="en-US" sz="1050" b="1" spc="150" kern="0" dirty="0">
                <a:solidFill>
                  <a:srgbClr val="046A38"/>
                </a:solidFill>
                <a:latin typeface="Calibri" pitchFamily="34" charset="0"/>
                <a:ea typeface="Calibri" pitchFamily="34" charset="-122"/>
                <a:cs typeface="Calibri" pitchFamily="34" charset="-120"/>
              </a:rPr>
              <a:t>APPENDIX — RESULTS</a:t>
            </a:r>
            <a:endParaRPr lang="en-US" sz="1050" dirty="0"/>
          </a:p>
        </p:txBody>
      </p:sp>
      <p:sp>
        <p:nvSpPr>
          <p:cNvPr id="3" name="Text 1"/>
          <p:cNvSpPr txBox="1"/>
          <p:nvPr/>
        </p:nvSpPr>
        <p:spPr>
          <a:xfrm>
            <a:off x="502006" y="475488"/>
            <a:ext cx="11188598" cy="310896"/>
          </a:xfrm>
          <a:prstGeom prst="rect">
            <a:avLst/>
          </a:prstGeom>
          <a:noFill/>
          <a:ln/>
        </p:spPr>
        <p:txBody>
          <a:bodyPr wrap="squar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Operating Model Transformation</a:t>
            </a:r>
            <a:endParaRPr lang="en-US" sz="1900" dirty="0"/>
          </a:p>
        </p:txBody>
      </p:sp>
      <p:sp>
        <p:nvSpPr>
          <p:cNvPr id="4" name="Text 2"/>
          <p:cNvSpPr txBox="1"/>
          <p:nvPr/>
        </p:nvSpPr>
        <p:spPr>
          <a:xfrm>
            <a:off x="502006" y="804672"/>
            <a:ext cx="11188598" cy="713232"/>
          </a:xfrm>
          <a:prstGeom prst="rect">
            <a:avLst/>
          </a:prstGeom>
          <a:noFill/>
          <a:ln/>
        </p:spPr>
        <p:txBody>
          <a:bodyPr wrap="square" lIns="0" tIns="0" rIns="0" bIns="0" rtlCol="0" anchor="t"/>
          <a:lstStyle/>
          <a:p>
            <a:pPr algn="l" indent="0" marL="0">
              <a:lnSpc>
                <a:spcPct val="105000"/>
              </a:lnSpc>
              <a:buNone/>
            </a:pPr>
            <a:r>
              <a:rPr lang="en-US" sz="1300" b="1" dirty="0">
                <a:solidFill>
                  <a:srgbClr val="046A38"/>
                </a:solidFill>
                <a:latin typeface="Calibri" pitchFamily="34" charset="0"/>
                <a:ea typeface="Calibri" pitchFamily="34" charset="-122"/>
                <a:cs typeface="Calibri" pitchFamily="34" charset="-120"/>
              </a:rPr>
              <a:t>82% self-rate Integrated or Advanced maturity; AI-enabled tools keep extending their lead as the primary scaling lever.</a:t>
            </a:r>
            <a:endParaRPr lang="en-US" sz="1300" dirty="0"/>
          </a:p>
        </p:txBody>
      </p:sp>
      <p:sp>
        <p:nvSpPr>
          <p:cNvPr id="5" name="Text 3"/>
          <p:cNvSpPr txBox="1"/>
          <p:nvPr/>
        </p:nvSpPr>
        <p:spPr>
          <a:xfrm>
            <a:off x="11346790" y="6537960"/>
            <a:ext cx="343814" cy="182880"/>
          </a:xfrm>
          <a:prstGeom prst="rect">
            <a:avLst/>
          </a:prstGeom>
          <a:noFill/>
          <a:ln/>
        </p:spPr>
        <p:txBody>
          <a:bodyPr wrap="square" rtlCol="0" anchor="ctr"/>
          <a:lstStyle/>
          <a:p>
            <a:pPr algn="r" indent="0" marL="0">
              <a:buNone/>
            </a:pPr>
            <a:r>
              <a:rPr lang="en-US" sz="900" dirty="0">
                <a:solidFill>
                  <a:srgbClr val="53565A"/>
                </a:solidFill>
                <a:latin typeface="Calibri" pitchFamily="34" charset="0"/>
                <a:ea typeface="Calibri" pitchFamily="34" charset="-122"/>
                <a:cs typeface="Calibri" pitchFamily="34" charset="-120"/>
              </a:rPr>
              <a:t>105</a:t>
            </a:r>
            <a:endParaRPr lang="en-US" sz="900" dirty="0"/>
          </a:p>
        </p:txBody>
      </p:sp>
      <p:sp>
        <p:nvSpPr>
          <p:cNvPr id="6" name="Text 4"/>
          <p:cNvSpPr txBox="1"/>
          <p:nvPr/>
        </p:nvSpPr>
        <p:spPr>
          <a:xfrm>
            <a:off x="502006" y="1627632"/>
            <a:ext cx="5457139" cy="310896"/>
          </a:xfrm>
          <a:prstGeom prst="rect">
            <a:avLst/>
          </a:prstGeom>
          <a:noFill/>
          <a:ln/>
        </p:spPr>
        <p:txBody>
          <a:bodyPr wrap="square" lIns="0" tIns="0" rIns="0" bIns="0" rtlCol="0" anchor="b"/>
          <a:lstStyle/>
          <a:p>
            <a:pPr algn="l" indent="0" marL="0">
              <a:lnSpc>
                <a:spcPct val="95000"/>
              </a:lnSpc>
              <a:buNone/>
            </a:pPr>
            <a:r>
              <a:rPr lang="en-US" sz="850" b="1" dirty="0">
                <a:solidFill>
                  <a:srgbClr val="046A38"/>
                </a:solidFill>
                <a:latin typeface="IBM Plex Mono" pitchFamily="34" charset="0"/>
                <a:ea typeface="IBM Plex Mono" pitchFamily="34" charset="-122"/>
                <a:cs typeface="IBM Plex Mono" pitchFamily="34" charset="-120"/>
              </a:rPr>
              <a:t>Q1  </a:t>
            </a:r>
            <a:pPr algn="l" indent="0" marL="0">
              <a:lnSpc>
                <a:spcPct val="95000"/>
              </a:lnSpc>
              <a:buNone/>
            </a:pPr>
            <a:r>
              <a:rPr lang="en-US" sz="1150" b="1" dirty="0">
                <a:solidFill>
                  <a:srgbClr val="000000"/>
                </a:solidFill>
                <a:latin typeface="Calibri" pitchFamily="34" charset="0"/>
                <a:ea typeface="Calibri" pitchFamily="34" charset="-122"/>
                <a:cs typeface="Calibri" pitchFamily="34" charset="-120"/>
              </a:rPr>
              <a:t>Self-Reported Fraud Program Maturity</a:t>
            </a:r>
            <a:endParaRPr lang="en-US" sz="850" dirty="0"/>
          </a:p>
        </p:txBody>
      </p:sp>
      <p:graphicFrame>
        <p:nvGraphicFramePr>
          <p:cNvPr id="7" name="Chart 0" descr=""/>
          <p:cNvGraphicFramePr/>
          <p:nvPr/>
        </p:nvGraphicFramePr>
        <p:xfrm>
          <a:off x="502006" y="2048256"/>
          <a:ext cx="5457139" cy="3154680"/>
        </p:xfrm>
        <a:graphic xmlns:a="http://schemas.openxmlformats.org/drawingml/2006/main">
          <a:graphicData uri="http://schemas.openxmlformats.org/drawingml/2006/chart">
            <c:chart xmlns:c="http://schemas.openxmlformats.org/drawingml/2006/chart" r:id="rId1"/>
          </a:graphicData>
        </a:graphic>
      </p:graphicFrame>
      <p:sp>
        <p:nvSpPr>
          <p:cNvPr id="8" name="Text 5"/>
          <p:cNvSpPr txBox="1"/>
          <p:nvPr/>
        </p:nvSpPr>
        <p:spPr>
          <a:xfrm>
            <a:off x="6233465" y="1627632"/>
            <a:ext cx="5457139" cy="310896"/>
          </a:xfrm>
          <a:prstGeom prst="rect">
            <a:avLst/>
          </a:prstGeom>
          <a:noFill/>
          <a:ln/>
        </p:spPr>
        <p:txBody>
          <a:bodyPr wrap="square" lIns="0" tIns="0" rIns="0" bIns="0" rtlCol="0" anchor="b"/>
          <a:lstStyle/>
          <a:p>
            <a:pPr algn="l" indent="0" marL="0">
              <a:lnSpc>
                <a:spcPct val="95000"/>
              </a:lnSpc>
              <a:buNone/>
            </a:pPr>
            <a:r>
              <a:rPr lang="en-US" sz="850" b="1" dirty="0">
                <a:solidFill>
                  <a:srgbClr val="046A38"/>
                </a:solidFill>
                <a:latin typeface="IBM Plex Mono" pitchFamily="34" charset="0"/>
                <a:ea typeface="IBM Plex Mono" pitchFamily="34" charset="-122"/>
                <a:cs typeface="IBM Plex Mono" pitchFamily="34" charset="-120"/>
              </a:rPr>
              <a:t>Q8 / Q9  </a:t>
            </a:r>
            <a:pPr algn="l" indent="0" marL="0">
              <a:lnSpc>
                <a:spcPct val="95000"/>
              </a:lnSpc>
              <a:buNone/>
            </a:pPr>
            <a:r>
              <a:rPr lang="en-US" sz="1150" b="1" dirty="0">
                <a:solidFill>
                  <a:srgbClr val="000000"/>
                </a:solidFill>
                <a:latin typeface="Calibri" pitchFamily="34" charset="0"/>
                <a:ea typeface="Calibri" pitchFamily="34" charset="-122"/>
                <a:cs typeface="Calibri" pitchFamily="34" charset="-120"/>
              </a:rPr>
              <a:t>Scaling Approach — Today vs. 3-Year Focus</a:t>
            </a:r>
            <a:endParaRPr lang="en-US" sz="850" dirty="0"/>
          </a:p>
        </p:txBody>
      </p:sp>
      <p:graphicFrame>
        <p:nvGraphicFramePr>
          <p:cNvPr id="9" name="Chart 1" descr=""/>
          <p:cNvGraphicFramePr/>
          <p:nvPr/>
        </p:nvGraphicFramePr>
        <p:xfrm>
          <a:off x="6233465" y="2048256"/>
          <a:ext cx="5457139" cy="2880360"/>
        </p:xfrm>
        <a:graphic xmlns:a="http://schemas.openxmlformats.org/drawingml/2006/main">
          <a:graphicData uri="http://schemas.openxmlformats.org/drawingml/2006/chart">
            <c:chart xmlns:c="http://schemas.openxmlformats.org/drawingml/2006/chart" r:id="rId2"/>
          </a:graphicData>
        </a:graphic>
      </p:graphicFrame>
      <p:sp>
        <p:nvSpPr>
          <p:cNvPr id="10" name="Shape 6"/>
          <p:cNvSpPr/>
          <p:nvPr/>
        </p:nvSpPr>
        <p:spPr>
          <a:xfrm>
            <a:off x="502006" y="5276088"/>
            <a:ext cx="11188598" cy="0"/>
          </a:xfrm>
          <a:prstGeom prst="line">
            <a:avLst/>
          </a:prstGeom>
          <a:noFill/>
          <a:ln w="9525">
            <a:solidFill>
              <a:srgbClr val="D0D0CE"/>
            </a:solidFill>
            <a:prstDash val="solid"/>
          </a:ln>
        </p:spPr>
      </p:sp>
      <p:sp>
        <p:nvSpPr>
          <p:cNvPr id="11" name="Text 7"/>
          <p:cNvSpPr txBox="1"/>
          <p:nvPr/>
        </p:nvSpPr>
        <p:spPr>
          <a:xfrm>
            <a:off x="502006" y="5330952"/>
            <a:ext cx="11188598" cy="274320"/>
          </a:xfrm>
          <a:prstGeom prst="rect">
            <a:avLst/>
          </a:prstGeom>
          <a:noFill/>
          <a:ln/>
        </p:spPr>
        <p:txBody>
          <a:bodyPr wrap="square" lIns="0" tIns="0" rIns="0" bIns="0" rtlCol="0" anchor="t"/>
          <a:lstStyle/>
          <a:p>
            <a:pPr algn="l" indent="0" marL="0">
              <a:lnSpc>
                <a:spcPct val="110000"/>
              </a:lnSpc>
              <a:buNone/>
            </a:pPr>
            <a:r>
              <a:rPr lang="en-US" sz="800" dirty="0">
                <a:solidFill>
                  <a:srgbClr val="53565A"/>
                </a:solidFill>
                <a:latin typeface="Calibri" pitchFamily="34" charset="0"/>
                <a:ea typeface="Calibri" pitchFamily="34" charset="-122"/>
                <a:cs typeface="Calibri" pitchFamily="34" charset="-120"/>
              </a:rPr>
              <a:t>Q1: Single select, low → high maturity. Q8/Q9: Single select, asked twice (current approach vs. 3-year focus). n=100 for both. See the Full Results deck for sector and institution-tier breakdowns.</a:t>
            </a:r>
            <a:endParaRPr lang="en-US" sz="8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006" y="292608"/>
            <a:ext cx="11188598" cy="182880"/>
          </a:xfrm>
          <a:prstGeom prst="rect">
            <a:avLst/>
          </a:prstGeom>
          <a:noFill/>
          <a:ln/>
        </p:spPr>
        <p:txBody>
          <a:bodyPr wrap="square" lIns="0" tIns="0" rIns="0" bIns="0" rtlCol="0" anchor="t"/>
          <a:lstStyle/>
          <a:p>
            <a:pPr algn="l" indent="0" marL="0">
              <a:buNone/>
            </a:pPr>
            <a:r>
              <a:rPr lang="en-US" sz="1050" b="1" spc="150" kern="0" dirty="0">
                <a:solidFill>
                  <a:srgbClr val="046A38"/>
                </a:solidFill>
                <a:latin typeface="Calibri" pitchFamily="34" charset="0"/>
                <a:ea typeface="Calibri" pitchFamily="34" charset="-122"/>
                <a:cs typeface="Calibri" pitchFamily="34" charset="-120"/>
              </a:rPr>
              <a:t>APPENDIX — RESULTS</a:t>
            </a:r>
            <a:endParaRPr lang="en-US" sz="1050" dirty="0"/>
          </a:p>
        </p:txBody>
      </p:sp>
      <p:sp>
        <p:nvSpPr>
          <p:cNvPr id="3" name="Text 1"/>
          <p:cNvSpPr txBox="1"/>
          <p:nvPr/>
        </p:nvSpPr>
        <p:spPr>
          <a:xfrm>
            <a:off x="502006" y="475488"/>
            <a:ext cx="11188598" cy="310896"/>
          </a:xfrm>
          <a:prstGeom prst="rect">
            <a:avLst/>
          </a:prstGeom>
          <a:noFill/>
          <a:ln/>
        </p:spPr>
        <p:txBody>
          <a:bodyPr wrap="squar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Regulatory &amp; Market Change</a:t>
            </a:r>
            <a:endParaRPr lang="en-US" sz="1900" dirty="0"/>
          </a:p>
        </p:txBody>
      </p:sp>
      <p:sp>
        <p:nvSpPr>
          <p:cNvPr id="4" name="Text 2"/>
          <p:cNvSpPr txBox="1"/>
          <p:nvPr/>
        </p:nvSpPr>
        <p:spPr>
          <a:xfrm>
            <a:off x="502006" y="804672"/>
            <a:ext cx="11188598" cy="713232"/>
          </a:xfrm>
          <a:prstGeom prst="rect">
            <a:avLst/>
          </a:prstGeom>
          <a:noFill/>
          <a:ln/>
        </p:spPr>
        <p:txBody>
          <a:bodyPr wrap="square" lIns="0" tIns="0" rIns="0" bIns="0" rtlCol="0" anchor="t"/>
          <a:lstStyle/>
          <a:p>
            <a:pPr algn="l" indent="0" marL="0">
              <a:lnSpc>
                <a:spcPct val="105000"/>
              </a:lnSpc>
              <a:buNone/>
            </a:pPr>
            <a:r>
              <a:rPr lang="en-US" sz="1300" b="1" dirty="0">
                <a:solidFill>
                  <a:srgbClr val="046A38"/>
                </a:solidFill>
                <a:latin typeface="Calibri" pitchFamily="34" charset="0"/>
                <a:ea typeface="Calibri" pitchFamily="34" charset="-122"/>
                <a:cs typeface="Calibri" pitchFamily="34" charset="-120"/>
              </a:rPr>
              <a:t>Fraud spending still leans toward remediating existing gaps, even as identity, privacy, and payment innovation top what's coming next.</a:t>
            </a:r>
            <a:endParaRPr lang="en-US" sz="1300" dirty="0"/>
          </a:p>
        </p:txBody>
      </p:sp>
      <p:sp>
        <p:nvSpPr>
          <p:cNvPr id="5" name="Text 3"/>
          <p:cNvSpPr txBox="1"/>
          <p:nvPr/>
        </p:nvSpPr>
        <p:spPr>
          <a:xfrm>
            <a:off x="11346790" y="6537960"/>
            <a:ext cx="343814" cy="182880"/>
          </a:xfrm>
          <a:prstGeom prst="rect">
            <a:avLst/>
          </a:prstGeom>
          <a:noFill/>
          <a:ln/>
        </p:spPr>
        <p:txBody>
          <a:bodyPr wrap="square" rtlCol="0" anchor="ctr"/>
          <a:lstStyle/>
          <a:p>
            <a:pPr algn="r" indent="0" marL="0">
              <a:buNone/>
            </a:pPr>
            <a:r>
              <a:rPr lang="en-US" sz="900" dirty="0">
                <a:solidFill>
                  <a:srgbClr val="53565A"/>
                </a:solidFill>
                <a:latin typeface="Calibri" pitchFamily="34" charset="0"/>
                <a:ea typeface="Calibri" pitchFamily="34" charset="-122"/>
                <a:cs typeface="Calibri" pitchFamily="34" charset="-120"/>
              </a:rPr>
              <a:t>106</a:t>
            </a:r>
            <a:endParaRPr lang="en-US" sz="900" dirty="0"/>
          </a:p>
        </p:txBody>
      </p:sp>
      <p:sp>
        <p:nvSpPr>
          <p:cNvPr id="6" name="Text 4"/>
          <p:cNvSpPr txBox="1"/>
          <p:nvPr/>
        </p:nvSpPr>
        <p:spPr>
          <a:xfrm>
            <a:off x="502006" y="1627632"/>
            <a:ext cx="5457139" cy="310896"/>
          </a:xfrm>
          <a:prstGeom prst="rect">
            <a:avLst/>
          </a:prstGeom>
          <a:noFill/>
          <a:ln/>
        </p:spPr>
        <p:txBody>
          <a:bodyPr wrap="square" lIns="0" tIns="0" rIns="0" bIns="0" rtlCol="0" anchor="b"/>
          <a:lstStyle/>
          <a:p>
            <a:pPr algn="l" indent="0" marL="0">
              <a:lnSpc>
                <a:spcPct val="95000"/>
              </a:lnSpc>
              <a:buNone/>
            </a:pPr>
            <a:r>
              <a:rPr lang="en-US" sz="850" b="1" dirty="0">
                <a:solidFill>
                  <a:srgbClr val="046A38"/>
                </a:solidFill>
                <a:latin typeface="IBM Plex Mono" pitchFamily="34" charset="0"/>
                <a:ea typeface="IBM Plex Mono" pitchFamily="34" charset="-122"/>
                <a:cs typeface="IBM Plex Mono" pitchFamily="34" charset="-120"/>
              </a:rPr>
              <a:t>Q10  </a:t>
            </a:r>
            <a:pPr algn="l" indent="0" marL="0">
              <a:lnSpc>
                <a:spcPct val="95000"/>
              </a:lnSpc>
              <a:buNone/>
            </a:pPr>
            <a:r>
              <a:rPr lang="en-US" sz="1150" b="1" dirty="0">
                <a:solidFill>
                  <a:srgbClr val="000000"/>
                </a:solidFill>
                <a:latin typeface="Calibri" pitchFamily="34" charset="0"/>
                <a:ea typeface="Calibri" pitchFamily="34" charset="-122"/>
                <a:cs typeface="Calibri" pitchFamily="34" charset="-120"/>
              </a:rPr>
              <a:t>Investment vs. Regulatory Requirements</a:t>
            </a:r>
            <a:endParaRPr lang="en-US" sz="850" dirty="0"/>
          </a:p>
        </p:txBody>
      </p:sp>
      <p:graphicFrame>
        <p:nvGraphicFramePr>
          <p:cNvPr id="7" name="Chart 0" descr=""/>
          <p:cNvGraphicFramePr/>
          <p:nvPr/>
        </p:nvGraphicFramePr>
        <p:xfrm>
          <a:off x="502006" y="2048256"/>
          <a:ext cx="5457139" cy="3154680"/>
        </p:xfrm>
        <a:graphic xmlns:a="http://schemas.openxmlformats.org/drawingml/2006/main">
          <a:graphicData uri="http://schemas.openxmlformats.org/drawingml/2006/chart">
            <c:chart xmlns:c="http://schemas.openxmlformats.org/drawingml/2006/chart" r:id="rId1"/>
          </a:graphicData>
        </a:graphic>
      </p:graphicFrame>
      <p:sp>
        <p:nvSpPr>
          <p:cNvPr id="8" name="Text 5"/>
          <p:cNvSpPr txBox="1"/>
          <p:nvPr/>
        </p:nvSpPr>
        <p:spPr>
          <a:xfrm>
            <a:off x="6233465" y="1627632"/>
            <a:ext cx="5457139" cy="310896"/>
          </a:xfrm>
          <a:prstGeom prst="rect">
            <a:avLst/>
          </a:prstGeom>
          <a:noFill/>
          <a:ln/>
        </p:spPr>
        <p:txBody>
          <a:bodyPr wrap="square" lIns="0" tIns="0" rIns="0" bIns="0" rtlCol="0" anchor="b"/>
          <a:lstStyle/>
          <a:p>
            <a:pPr algn="l" indent="0" marL="0">
              <a:lnSpc>
                <a:spcPct val="95000"/>
              </a:lnSpc>
              <a:buNone/>
            </a:pPr>
            <a:r>
              <a:rPr lang="en-US" sz="850" b="1" dirty="0">
                <a:solidFill>
                  <a:srgbClr val="046A38"/>
                </a:solidFill>
                <a:latin typeface="IBM Plex Mono" pitchFamily="34" charset="0"/>
                <a:ea typeface="IBM Plex Mono" pitchFamily="34" charset="-122"/>
                <a:cs typeface="IBM Plex Mono" pitchFamily="34" charset="-120"/>
              </a:rPr>
              <a:t>Q11  </a:t>
            </a:r>
            <a:pPr algn="l" indent="0" marL="0">
              <a:lnSpc>
                <a:spcPct val="95000"/>
              </a:lnSpc>
              <a:buNone/>
            </a:pPr>
            <a:r>
              <a:rPr lang="en-US" sz="1150" b="1" dirty="0">
                <a:solidFill>
                  <a:srgbClr val="000000"/>
                </a:solidFill>
                <a:latin typeface="Calibri" pitchFamily="34" charset="0"/>
                <a:ea typeface="Calibri" pitchFamily="34" charset="-122"/>
                <a:cs typeface="Calibri" pitchFamily="34" charset="-120"/>
              </a:rPr>
              <a:t>Upcoming Regulatory / Market Change</a:t>
            </a:r>
            <a:endParaRPr lang="en-US" sz="850" dirty="0"/>
          </a:p>
        </p:txBody>
      </p:sp>
      <p:graphicFrame>
        <p:nvGraphicFramePr>
          <p:cNvPr id="9" name="Chart 1" descr=""/>
          <p:cNvGraphicFramePr/>
          <p:nvPr/>
        </p:nvGraphicFramePr>
        <p:xfrm>
          <a:off x="6233465" y="2048256"/>
          <a:ext cx="5457139" cy="3154680"/>
        </p:xfrm>
        <a:graphic xmlns:a="http://schemas.openxmlformats.org/drawingml/2006/main">
          <a:graphicData uri="http://schemas.openxmlformats.org/drawingml/2006/chart">
            <c:chart xmlns:c="http://schemas.openxmlformats.org/drawingml/2006/chart" r:id="rId2"/>
          </a:graphicData>
        </a:graphic>
      </p:graphicFrame>
      <p:sp>
        <p:nvSpPr>
          <p:cNvPr id="10" name="Shape 6"/>
          <p:cNvSpPr/>
          <p:nvPr/>
        </p:nvSpPr>
        <p:spPr>
          <a:xfrm>
            <a:off x="502006" y="5276088"/>
            <a:ext cx="11188598" cy="0"/>
          </a:xfrm>
          <a:prstGeom prst="line">
            <a:avLst/>
          </a:prstGeom>
          <a:noFill/>
          <a:ln w="9525">
            <a:solidFill>
              <a:srgbClr val="D0D0CE"/>
            </a:solidFill>
            <a:prstDash val="solid"/>
          </a:ln>
        </p:spPr>
      </p:sp>
      <p:sp>
        <p:nvSpPr>
          <p:cNvPr id="11" name="Text 7"/>
          <p:cNvSpPr txBox="1"/>
          <p:nvPr/>
        </p:nvSpPr>
        <p:spPr>
          <a:xfrm>
            <a:off x="502006" y="5330952"/>
            <a:ext cx="11188598" cy="274320"/>
          </a:xfrm>
          <a:prstGeom prst="rect">
            <a:avLst/>
          </a:prstGeom>
          <a:noFill/>
          <a:ln/>
        </p:spPr>
        <p:txBody>
          <a:bodyPr wrap="square" lIns="0" tIns="0" rIns="0" bIns="0" rtlCol="0" anchor="t"/>
          <a:lstStyle/>
          <a:p>
            <a:pPr algn="l" indent="0" marL="0">
              <a:lnSpc>
                <a:spcPct val="110000"/>
              </a:lnSpc>
              <a:buNone/>
            </a:pPr>
            <a:r>
              <a:rPr lang="en-US" sz="800" dirty="0">
                <a:solidFill>
                  <a:srgbClr val="53565A"/>
                </a:solidFill>
                <a:latin typeface="Calibri" pitchFamily="34" charset="0"/>
                <a:ea typeface="Calibri" pitchFamily="34" charset="-122"/>
                <a:cs typeface="Calibri" pitchFamily="34" charset="-120"/>
              </a:rPr>
              <a:t>Q10: Single select. Q11: Ranked top 3, % placed anywhere in top 3 (not mutually exclusive). n=100 for both. See the Full Results deck for sector, region, and institution-tier breakdowns.</a:t>
            </a:r>
            <a:endParaRPr lang="en-US" sz="8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006" y="292608"/>
            <a:ext cx="11188598" cy="182880"/>
          </a:xfrm>
          <a:prstGeom prst="rect">
            <a:avLst/>
          </a:prstGeom>
          <a:noFill/>
          <a:ln/>
        </p:spPr>
        <p:txBody>
          <a:bodyPr wrap="square" lIns="0" tIns="0" rIns="0" bIns="0" rtlCol="0" anchor="t"/>
          <a:lstStyle/>
          <a:p>
            <a:pPr algn="l" indent="0" marL="0">
              <a:buNone/>
            </a:pPr>
            <a:r>
              <a:rPr lang="en-US" sz="1050" b="1" spc="150" kern="0" dirty="0">
                <a:solidFill>
                  <a:srgbClr val="046A38"/>
                </a:solidFill>
                <a:latin typeface="Calibri" pitchFamily="34" charset="0"/>
                <a:ea typeface="Calibri" pitchFamily="34" charset="-122"/>
                <a:cs typeface="Calibri" pitchFamily="34" charset="-120"/>
              </a:rPr>
              <a:t>APPENDIX</a:t>
            </a:r>
            <a:endParaRPr lang="en-US" sz="1050" dirty="0"/>
          </a:p>
        </p:txBody>
      </p:sp>
      <p:sp>
        <p:nvSpPr>
          <p:cNvPr id="3" name="Text 1"/>
          <p:cNvSpPr txBox="1"/>
          <p:nvPr/>
        </p:nvSpPr>
        <p:spPr>
          <a:xfrm>
            <a:off x="502006" y="475488"/>
            <a:ext cx="11188598" cy="310896"/>
          </a:xfrm>
          <a:prstGeom prst="rect">
            <a:avLst/>
          </a:prstGeom>
          <a:noFill/>
          <a:ln/>
        </p:spPr>
        <p:txBody>
          <a:bodyPr wrap="square" lIns="0" tIns="0" rIns="0" bIns="0" rtlCol="0" anchor="t"/>
          <a:lstStyle/>
          <a:p>
            <a:pPr algn="l" indent="0" marL="0">
              <a:buNone/>
            </a:pPr>
            <a:r>
              <a:rPr lang="en-US" sz="1900" b="1" dirty="0">
                <a:solidFill>
                  <a:srgbClr val="000000"/>
                </a:solidFill>
                <a:latin typeface="Calibri" pitchFamily="34" charset="0"/>
                <a:ea typeface="Calibri" pitchFamily="34" charset="-122"/>
                <a:cs typeface="Calibri" pitchFamily="34" charset="-120"/>
              </a:rPr>
              <a:t>What Leaders Say, Unprompted</a:t>
            </a:r>
            <a:endParaRPr lang="en-US" sz="1900" dirty="0"/>
          </a:p>
        </p:txBody>
      </p:sp>
      <p:sp>
        <p:nvSpPr>
          <p:cNvPr id="4" name="Text 2"/>
          <p:cNvSpPr txBox="1"/>
          <p:nvPr/>
        </p:nvSpPr>
        <p:spPr>
          <a:xfrm>
            <a:off x="502006" y="804672"/>
            <a:ext cx="11188598" cy="713232"/>
          </a:xfrm>
          <a:prstGeom prst="rect">
            <a:avLst/>
          </a:prstGeom>
          <a:noFill/>
          <a:ln/>
        </p:spPr>
        <p:txBody>
          <a:bodyPr wrap="square" lIns="0" tIns="0" rIns="0" bIns="0" rtlCol="0" anchor="t"/>
          <a:lstStyle/>
          <a:p>
            <a:pPr algn="l" indent="0" marL="0">
              <a:lnSpc>
                <a:spcPct val="105000"/>
              </a:lnSpc>
              <a:buNone/>
            </a:pPr>
            <a:r>
              <a:rPr lang="en-US" sz="1300" b="1" dirty="0">
                <a:solidFill>
                  <a:srgbClr val="046A38"/>
                </a:solidFill>
                <a:latin typeface="Calibri" pitchFamily="34" charset="0"/>
                <a:ea typeface="Calibri" pitchFamily="34" charset="-122"/>
                <a:cs typeface="Calibri" pitchFamily="34" charset="-120"/>
              </a:rPr>
              <a:t>Left to answer in their own words, leaders converge on the same themes: AI-driven payment, identity, and detection innovation.</a:t>
            </a:r>
            <a:endParaRPr lang="en-US" sz="1300" dirty="0"/>
          </a:p>
        </p:txBody>
      </p:sp>
      <p:sp>
        <p:nvSpPr>
          <p:cNvPr id="5" name="Shape 3"/>
          <p:cNvSpPr/>
          <p:nvPr/>
        </p:nvSpPr>
        <p:spPr>
          <a:xfrm>
            <a:off x="502006" y="1426464"/>
            <a:ext cx="0" cy="457200"/>
          </a:xfrm>
          <a:prstGeom prst="line">
            <a:avLst/>
          </a:prstGeom>
          <a:noFill/>
          <a:ln w="25400">
            <a:solidFill>
              <a:srgbClr val="D0D0CE"/>
            </a:solidFill>
            <a:prstDash val="solid"/>
          </a:ln>
        </p:spPr>
      </p:sp>
      <p:sp>
        <p:nvSpPr>
          <p:cNvPr id="6" name="Text 4"/>
          <p:cNvSpPr txBox="1"/>
          <p:nvPr/>
        </p:nvSpPr>
        <p:spPr>
          <a:xfrm>
            <a:off x="648310" y="1426464"/>
            <a:ext cx="11042294" cy="457200"/>
          </a:xfrm>
          <a:prstGeom prst="rect">
            <a:avLst/>
          </a:prstGeom>
          <a:noFill/>
          <a:ln/>
        </p:spPr>
        <p:txBody>
          <a:bodyPr wrap="square" lIns="0" tIns="0" rIns="0" bIns="0" rtlCol="0" anchor="t"/>
          <a:lstStyle/>
          <a:p>
            <a:pPr algn="l" indent="0" marL="0">
              <a:lnSpc>
                <a:spcPct val="106000"/>
              </a:lnSpc>
              <a:buNone/>
            </a:pPr>
            <a:r>
              <a:rPr lang="en-US" sz="900" b="1" dirty="0">
                <a:solidFill>
                  <a:srgbClr val="046A38"/>
                </a:solidFill>
                <a:latin typeface="IBM Plex Mono" pitchFamily="34" charset="0"/>
                <a:ea typeface="IBM Plex Mono" pitchFamily="34" charset="-122"/>
                <a:cs typeface="IBM Plex Mono" pitchFamily="34" charset="-120"/>
              </a:rPr>
              <a:t>Q12  </a:t>
            </a:r>
            <a:pPr algn="l" indent="0" marL="0">
              <a:lnSpc>
                <a:spcPct val="106000"/>
              </a:lnSpc>
              <a:buNone/>
            </a:pPr>
            <a:r>
              <a:rPr lang="en-US" sz="1000" i="1" dirty="0">
                <a:solidFill>
                  <a:srgbClr val="575757"/>
                </a:solidFill>
                <a:latin typeface="Calibri" pitchFamily="34" charset="0"/>
                <a:ea typeface="Calibri" pitchFamily="34" charset="-122"/>
                <a:cs typeface="Calibri" pitchFamily="34" charset="-120"/>
              </a:rPr>
              <a:t>“Looking ahead three years, what development do you believe will have the greatest impact on fraud risk management, and why? (open-ended)”</a:t>
            </a:r>
            <a:endParaRPr lang="en-US" sz="1000" dirty="0"/>
          </a:p>
        </p:txBody>
      </p:sp>
      <p:sp>
        <p:nvSpPr>
          <p:cNvPr id="7" name="Text 5"/>
          <p:cNvSpPr txBox="1"/>
          <p:nvPr/>
        </p:nvSpPr>
        <p:spPr>
          <a:xfrm>
            <a:off x="11346790" y="6537960"/>
            <a:ext cx="343814" cy="182880"/>
          </a:xfrm>
          <a:prstGeom prst="rect">
            <a:avLst/>
          </a:prstGeom>
          <a:noFill/>
          <a:ln/>
        </p:spPr>
        <p:txBody>
          <a:bodyPr wrap="square" rtlCol="0" anchor="ctr"/>
          <a:lstStyle/>
          <a:p>
            <a:pPr algn="r" indent="0" marL="0">
              <a:buNone/>
            </a:pPr>
            <a:r>
              <a:rPr lang="en-US" sz="900" dirty="0">
                <a:solidFill>
                  <a:srgbClr val="53565A"/>
                </a:solidFill>
                <a:latin typeface="Calibri" pitchFamily="34" charset="0"/>
                <a:ea typeface="Calibri" pitchFamily="34" charset="-122"/>
                <a:cs typeface="Calibri" pitchFamily="34" charset="-120"/>
              </a:rPr>
              <a:t>107</a:t>
            </a:r>
            <a:endParaRPr lang="en-US" sz="900" dirty="0"/>
          </a:p>
        </p:txBody>
      </p:sp>
      <p:sp>
        <p:nvSpPr>
          <p:cNvPr id="8" name="Shape 6"/>
          <p:cNvSpPr/>
          <p:nvPr/>
        </p:nvSpPr>
        <p:spPr>
          <a:xfrm>
            <a:off x="502006" y="2084832"/>
            <a:ext cx="2011680" cy="777240"/>
          </a:xfrm>
          <a:prstGeom prst="roundRect">
            <a:avLst>
              <a:gd name="adj" fmla="val 7059"/>
            </a:avLst>
          </a:prstGeom>
          <a:solidFill>
            <a:srgbClr val="F2F2F2"/>
          </a:solidFill>
          <a:ln/>
        </p:spPr>
      </p:sp>
      <p:sp>
        <p:nvSpPr>
          <p:cNvPr id="9" name="Text 7"/>
          <p:cNvSpPr txBox="1"/>
          <p:nvPr/>
        </p:nvSpPr>
        <p:spPr>
          <a:xfrm>
            <a:off x="666598" y="2176272"/>
            <a:ext cx="1682496" cy="373075"/>
          </a:xfrm>
          <a:prstGeom prst="rect">
            <a:avLst/>
          </a:prstGeom>
          <a:noFill/>
          <a:ln/>
        </p:spPr>
        <p:txBody>
          <a:bodyPr wrap="square" lIns="0" tIns="0" rIns="0" bIns="0" rtlCol="0" anchor="b"/>
          <a:lstStyle/>
          <a:p>
            <a:pPr algn="l" indent="0" marL="0">
              <a:buNone/>
            </a:pPr>
            <a:r>
              <a:rPr lang="en-US" sz="2600" b="1" dirty="0">
                <a:solidFill>
                  <a:srgbClr val="046A38"/>
                </a:solidFill>
                <a:latin typeface="Calibri" pitchFamily="34" charset="0"/>
                <a:ea typeface="Calibri" pitchFamily="34" charset="-122"/>
                <a:cs typeface="Calibri" pitchFamily="34" charset="-120"/>
              </a:rPr>
              <a:t>100/100</a:t>
            </a:r>
            <a:endParaRPr lang="en-US" sz="2600" dirty="0"/>
          </a:p>
        </p:txBody>
      </p:sp>
      <p:sp>
        <p:nvSpPr>
          <p:cNvPr id="10" name="Text 8"/>
          <p:cNvSpPr txBox="1"/>
          <p:nvPr/>
        </p:nvSpPr>
        <p:spPr>
          <a:xfrm>
            <a:off x="666598" y="2520086"/>
            <a:ext cx="1682496" cy="310896"/>
          </a:xfrm>
          <a:prstGeom prst="rect">
            <a:avLst/>
          </a:prstGeom>
          <a:noFill/>
          <a:ln/>
        </p:spPr>
        <p:txBody>
          <a:bodyPr wrap="square" lIns="0" tIns="0" rIns="0" bIns="0" rtlCol="0" anchor="t"/>
          <a:lstStyle/>
          <a:p>
            <a:pPr algn="l" indent="0" marL="0">
              <a:lnSpc>
                <a:spcPct val="108000"/>
              </a:lnSpc>
              <a:buNone/>
            </a:pPr>
            <a:r>
              <a:rPr lang="en-US" sz="1000" dirty="0">
                <a:solidFill>
                  <a:srgbClr val="53565A"/>
                </a:solidFill>
                <a:latin typeface="Calibri" pitchFamily="34" charset="0"/>
                <a:ea typeface="Calibri" pitchFamily="34" charset="-122"/>
                <a:cs typeface="Calibri" pitchFamily="34" charset="-120"/>
              </a:rPr>
              <a:t>respondents answered in their own words</a:t>
            </a:r>
            <a:endParaRPr lang="en-US" sz="1000" dirty="0"/>
          </a:p>
        </p:txBody>
      </p:sp>
      <p:pic>
        <p:nvPicPr>
          <p:cNvPr id="11" name="Image 0" descr="wordcloud.png">    </p:cNvPr>
          <p:cNvPicPr>
            <a:picLocks noChangeAspect="1"/>
          </p:cNvPicPr>
          <p:nvPr/>
        </p:nvPicPr>
        <p:blipFill>
          <a:blip r:embed="rId1"/>
          <a:stretch>
            <a:fillRect/>
          </a:stretch>
        </p:blipFill>
        <p:spPr>
          <a:xfrm>
            <a:off x="2788006" y="2039112"/>
            <a:ext cx="8915400" cy="2231136"/>
          </a:xfrm>
          <a:prstGeom prst="rect">
            <a:avLst/>
          </a:prstGeom>
        </p:spPr>
      </p:pic>
      <p:sp>
        <p:nvSpPr>
          <p:cNvPr id="12" name="Text 9"/>
          <p:cNvSpPr txBox="1"/>
          <p:nvPr/>
        </p:nvSpPr>
        <p:spPr>
          <a:xfrm>
            <a:off x="502006" y="4416552"/>
            <a:ext cx="11188598" cy="237744"/>
          </a:xfrm>
          <a:prstGeom prst="rect">
            <a:avLst/>
          </a:prstGeom>
          <a:noFill/>
          <a:ln/>
        </p:spPr>
        <p:txBody>
          <a:bodyPr wrap="square" lIns="0" tIns="0" rIns="0" bIns="0" rtlCol="0" anchor="t"/>
          <a:lstStyle/>
          <a:p>
            <a:pPr algn="l" indent="0" marL="0">
              <a:buNone/>
            </a:pPr>
            <a:r>
              <a:rPr lang="en-US" sz="1100" b="1" spc="100" kern="0" dirty="0">
                <a:solidFill>
                  <a:srgbClr val="046A38"/>
                </a:solidFill>
                <a:latin typeface="Calibri" pitchFamily="34" charset="0"/>
                <a:ea typeface="Calibri" pitchFamily="34" charset="-122"/>
                <a:cs typeface="Calibri" pitchFamily="34" charset="-120"/>
              </a:rPr>
              <a:t>TOP EMERGING THEMES</a:t>
            </a:r>
            <a:endParaRPr lang="en-US" sz="1100" dirty="0"/>
          </a:p>
        </p:txBody>
      </p:sp>
      <p:sp>
        <p:nvSpPr>
          <p:cNvPr id="13" name="Shape 10"/>
          <p:cNvSpPr/>
          <p:nvPr/>
        </p:nvSpPr>
        <p:spPr>
          <a:xfrm>
            <a:off x="502006" y="4736592"/>
            <a:ext cx="64008" cy="530352"/>
          </a:xfrm>
          <a:prstGeom prst="rect">
            <a:avLst/>
          </a:prstGeom>
          <a:solidFill>
            <a:srgbClr val="86BC25"/>
          </a:solidFill>
          <a:ln/>
        </p:spPr>
      </p:sp>
      <p:sp>
        <p:nvSpPr>
          <p:cNvPr id="14" name="Text 11"/>
          <p:cNvSpPr txBox="1"/>
          <p:nvPr/>
        </p:nvSpPr>
        <p:spPr>
          <a:xfrm>
            <a:off x="703174" y="4709160"/>
            <a:ext cx="5255971" cy="640080"/>
          </a:xfrm>
          <a:prstGeom prst="rect">
            <a:avLst/>
          </a:prstGeom>
          <a:noFill/>
          <a:ln/>
        </p:spPr>
        <p:txBody>
          <a:bodyPr wrap="square" lIns="0" tIns="0" rIns="0" bIns="0" rtlCol="0" anchor="t"/>
          <a:lstStyle/>
          <a:p>
            <a:pPr algn="l" indent="0" marL="0">
              <a:lnSpc>
                <a:spcPct val="112000"/>
              </a:lnSpc>
              <a:buNone/>
            </a:pPr>
            <a:r>
              <a:rPr lang="en-US" sz="1050" dirty="0">
                <a:solidFill>
                  <a:srgbClr val="000000"/>
                </a:solidFill>
                <a:latin typeface="Calibri" pitchFamily="34" charset="0"/>
                <a:ea typeface="Calibri" pitchFamily="34" charset="-122"/>
                <a:cs typeface="Calibri" pitchFamily="34" charset="-120"/>
              </a:rPr>
              <a:t>Convergence of GenAI, synthetic identity, and real-time payments reshaping the fraud landscape</a:t>
            </a:r>
            <a:endParaRPr lang="en-US" sz="1050" dirty="0"/>
          </a:p>
        </p:txBody>
      </p:sp>
      <p:sp>
        <p:nvSpPr>
          <p:cNvPr id="15" name="Shape 12"/>
          <p:cNvSpPr/>
          <p:nvPr/>
        </p:nvSpPr>
        <p:spPr>
          <a:xfrm>
            <a:off x="6233465" y="4736592"/>
            <a:ext cx="64008" cy="530352"/>
          </a:xfrm>
          <a:prstGeom prst="rect">
            <a:avLst/>
          </a:prstGeom>
          <a:solidFill>
            <a:srgbClr val="86BC25"/>
          </a:solidFill>
          <a:ln/>
        </p:spPr>
      </p:sp>
      <p:sp>
        <p:nvSpPr>
          <p:cNvPr id="16" name="Text 13"/>
          <p:cNvSpPr txBox="1"/>
          <p:nvPr/>
        </p:nvSpPr>
        <p:spPr>
          <a:xfrm>
            <a:off x="6434633" y="4709160"/>
            <a:ext cx="5255971" cy="640080"/>
          </a:xfrm>
          <a:prstGeom prst="rect">
            <a:avLst/>
          </a:prstGeom>
          <a:noFill/>
          <a:ln/>
        </p:spPr>
        <p:txBody>
          <a:bodyPr wrap="square" lIns="0" tIns="0" rIns="0" bIns="0" rtlCol="0" anchor="t"/>
          <a:lstStyle/>
          <a:p>
            <a:pPr algn="l" indent="0" marL="0">
              <a:lnSpc>
                <a:spcPct val="112000"/>
              </a:lnSpc>
              <a:buNone/>
            </a:pPr>
            <a:r>
              <a:rPr lang="en-US" sz="1050" dirty="0">
                <a:solidFill>
                  <a:srgbClr val="000000"/>
                </a:solidFill>
                <a:latin typeface="Calibri" pitchFamily="34" charset="0"/>
                <a:ea typeface="Calibri" pitchFamily="34" charset="-122"/>
                <a:cs typeface="Calibri" pitchFamily="34" charset="-120"/>
              </a:rPr>
              <a:t>Shift from reactive investigation toward predictive, AI-assisted prevention</a:t>
            </a:r>
            <a:endParaRPr lang="en-US" sz="1050" dirty="0"/>
          </a:p>
        </p:txBody>
      </p:sp>
      <p:sp>
        <p:nvSpPr>
          <p:cNvPr id="17" name="Shape 14"/>
          <p:cNvSpPr/>
          <p:nvPr/>
        </p:nvSpPr>
        <p:spPr>
          <a:xfrm>
            <a:off x="502006" y="5541264"/>
            <a:ext cx="64008" cy="530352"/>
          </a:xfrm>
          <a:prstGeom prst="rect">
            <a:avLst/>
          </a:prstGeom>
          <a:solidFill>
            <a:srgbClr val="86BC25"/>
          </a:solidFill>
          <a:ln/>
        </p:spPr>
      </p:sp>
      <p:sp>
        <p:nvSpPr>
          <p:cNvPr id="18" name="Text 15"/>
          <p:cNvSpPr txBox="1"/>
          <p:nvPr/>
        </p:nvSpPr>
        <p:spPr>
          <a:xfrm>
            <a:off x="703174" y="5513832"/>
            <a:ext cx="5255971" cy="640080"/>
          </a:xfrm>
          <a:prstGeom prst="rect">
            <a:avLst/>
          </a:prstGeom>
          <a:noFill/>
          <a:ln/>
        </p:spPr>
        <p:txBody>
          <a:bodyPr wrap="square" lIns="0" tIns="0" rIns="0" bIns="0" rtlCol="0" anchor="t"/>
          <a:lstStyle/>
          <a:p>
            <a:pPr algn="l" indent="0" marL="0">
              <a:lnSpc>
                <a:spcPct val="112000"/>
              </a:lnSpc>
              <a:buNone/>
            </a:pPr>
            <a:r>
              <a:rPr lang="en-US" sz="1050" dirty="0">
                <a:solidFill>
                  <a:srgbClr val="000000"/>
                </a:solidFill>
                <a:latin typeface="Calibri" pitchFamily="34" charset="0"/>
                <a:ea typeface="Calibri" pitchFamily="34" charset="-122"/>
                <a:cs typeface="Calibri" pitchFamily="34" charset="-120"/>
              </a:rPr>
              <a:t>Rise of decentralized credentials and biometric passkeys to curb phishing and account takeover</a:t>
            </a:r>
            <a:endParaRPr lang="en-US" sz="1050" dirty="0"/>
          </a:p>
        </p:txBody>
      </p:sp>
      <p:sp>
        <p:nvSpPr>
          <p:cNvPr id="19" name="Shape 16"/>
          <p:cNvSpPr/>
          <p:nvPr/>
        </p:nvSpPr>
        <p:spPr>
          <a:xfrm>
            <a:off x="6233465" y="5541264"/>
            <a:ext cx="64008" cy="530352"/>
          </a:xfrm>
          <a:prstGeom prst="rect">
            <a:avLst/>
          </a:prstGeom>
          <a:solidFill>
            <a:srgbClr val="86BC25"/>
          </a:solidFill>
          <a:ln/>
        </p:spPr>
      </p:sp>
      <p:sp>
        <p:nvSpPr>
          <p:cNvPr id="20" name="Text 17"/>
          <p:cNvSpPr txBox="1"/>
          <p:nvPr/>
        </p:nvSpPr>
        <p:spPr>
          <a:xfrm>
            <a:off x="6434633" y="5513832"/>
            <a:ext cx="5255971" cy="640080"/>
          </a:xfrm>
          <a:prstGeom prst="rect">
            <a:avLst/>
          </a:prstGeom>
          <a:noFill/>
          <a:ln/>
        </p:spPr>
        <p:txBody>
          <a:bodyPr wrap="square" lIns="0" tIns="0" rIns="0" bIns="0" rtlCol="0" anchor="t"/>
          <a:lstStyle/>
          <a:p>
            <a:pPr algn="l" indent="0" marL="0">
              <a:lnSpc>
                <a:spcPct val="112000"/>
              </a:lnSpc>
              <a:buNone/>
            </a:pPr>
            <a:r>
              <a:rPr lang="en-US" sz="1050" dirty="0">
                <a:solidFill>
                  <a:srgbClr val="000000"/>
                </a:solidFill>
                <a:latin typeface="Calibri" pitchFamily="34" charset="0"/>
                <a:ea typeface="Calibri" pitchFamily="34" charset="-122"/>
                <a:cs typeface="Calibri" pitchFamily="34" charset="-120"/>
              </a:rPr>
              <a:t>Growing reliance on behavioral analytics and cross-industry intelligence sharing</a:t>
            </a:r>
            <a:endParaRPr lang="en-US" sz="1050"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NUM" val="3"/>
</p:tagLst>
</file>

<file path=ppt/tags/tag2.xml><?xml version="1.0" encoding="utf-8"?>
<p:tagLst xmlns:a="http://schemas.openxmlformats.org/drawingml/2006/main" xmlns:r="http://schemas.openxmlformats.org/officeDocument/2006/relationships" xmlns:p="http://schemas.openxmlformats.org/presentationml/2006/main">
  <p:tag name="NUM" val="4"/>
</p:tagLst>
</file>

<file path=ppt/tags/tag3.xml><?xml version="1.0" encoding="utf-8"?>
<p:tagLst xmlns:a="http://schemas.openxmlformats.org/drawingml/2006/main" xmlns:r="http://schemas.openxmlformats.org/officeDocument/2006/relationships" xmlns:p="http://schemas.openxmlformats.org/presentationml/2006/main">
  <p:tag name="NUM" val="6"/>
</p:tagLst>
</file>

<file path=ppt/theme/theme1.xml><?xml version="1.0" encoding="utf-8"?>
<a:theme xmlns:a="http://schemas.openxmlformats.org/drawingml/2006/main" name="3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Custom 2">
      <a:dk1>
        <a:srgbClr val="000000"/>
      </a:dk1>
      <a:lt1>
        <a:srgbClr val="FFFFFF"/>
      </a:lt1>
      <a:dk2>
        <a:srgbClr val="000000"/>
      </a:dk2>
      <a:lt2>
        <a:srgbClr val="FFFFFF"/>
      </a:lt2>
      <a:accent1>
        <a:srgbClr val="86BC25"/>
      </a:accent1>
      <a:accent2>
        <a:srgbClr val="046A38"/>
      </a:accent2>
      <a:accent3>
        <a:srgbClr val="134406"/>
      </a:accent3>
      <a:accent4>
        <a:srgbClr val="43B02A"/>
      </a:accent4>
      <a:accent5>
        <a:srgbClr val="0D8390"/>
      </a:accent5>
      <a:accent6>
        <a:srgbClr val="007CB0"/>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4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ea60d57e-af5b-4752-ac57-3e4f28ca11dc}" enabled="1" method="Privileged" siteId="{36da45f1-dd2c-4d1f-af13-5abe46b99921}" removed="0"/>
</clbl:labelList>
</file>

<file path=docProps/app.xml><?xml version="1.0" encoding="utf-8"?>
<Properties xmlns="http://schemas.openxmlformats.org/officeDocument/2006/extended-properties" xmlns:vt="http://schemas.openxmlformats.org/officeDocument/2006/docPropsVTypes">
  <TotalTime>5442</TotalTime>
  <Words>6684</Words>
  <Application>Microsoft Office PowerPoint</Application>
  <PresentationFormat>Widescreen</PresentationFormat>
  <Paragraphs>611</Paragraphs>
  <Slides>50</Slides>
  <Notes>46</Notes>
  <HiddenSlides>5</HiddenSlides>
  <MMClips>0</MMClips>
  <ScaleCrop>false</ScaleCrop>
  <HeadingPairs>
    <vt:vector size="6" baseType="variant">
      <vt:variant>
        <vt:lpstr>Fonts Used</vt:lpstr>
      </vt:variant>
      <vt:variant>
        <vt:i4>8</vt:i4>
      </vt:variant>
      <vt:variant>
        <vt:lpstr>Theme</vt:lpstr>
      </vt:variant>
      <vt:variant>
        <vt:i4>4</vt:i4>
      </vt:variant>
      <vt:variant>
        <vt:lpstr>Slide Titles</vt:lpstr>
      </vt:variant>
      <vt:variant>
        <vt:i4>50</vt:i4>
      </vt:variant>
    </vt:vector>
  </HeadingPairs>
  <TitlesOfParts>
    <vt:vector size="62" baseType="lpstr">
      <vt:lpstr>Aptos</vt:lpstr>
      <vt:lpstr>Arial</vt:lpstr>
      <vt:lpstr>Calibri</vt:lpstr>
      <vt:lpstr>IBM Plex Mono</vt:lpstr>
      <vt:lpstr>Open Sans</vt:lpstr>
      <vt:lpstr>Segoe UI</vt:lpstr>
      <vt:lpstr>Wingdings</vt:lpstr>
      <vt:lpstr>Wingdings 2</vt:lpstr>
      <vt:lpstr>3_Office Theme</vt:lpstr>
      <vt:lpstr>Office Theme</vt:lpstr>
      <vt:lpstr>4_Office Theme</vt:lpstr>
      <vt:lpstr>2_Office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Lin, David</dc:creator>
  <cp:lastModifiedBy>Lin, David</cp:lastModifiedBy>
  <cp:revision>24</cp:revision>
  <dcterms:created xsi:type="dcterms:W3CDTF">2026-10-14T23:00:31Z</dcterms:created>
  <dcterms:modified xsi:type="dcterms:W3CDTF">2026-10-18T02:58:08Z</dcterms:modified>
</cp:coreProperties>
</file>