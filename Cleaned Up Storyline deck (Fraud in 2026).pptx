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3.xml" ContentType="application/vnd.openxmlformats-officedocument.theme+xml"/>
  <Override PartName="/ppt/slideLayouts/slideLayout2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omments/modernComment_14A_99EAD49.xml" ContentType="application/vnd.ms-powerpoint.comment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2.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13.xml" ContentType="application/vnd.openxmlformats-officedocument.presentationml.notesSlide+xml"/>
  <Override PartName="/ppt/charts/chart5.xml" ContentType="application/vnd.openxmlformats-officedocument.drawingml.chart+xml"/>
  <Override PartName="/ppt/notesSlides/notesSlide14.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notesSlides/notesSlide15.xml" ContentType="application/vnd.openxmlformats-officedocument.presentationml.notesSlide+xml"/>
  <Override PartName="/ppt/charts/chart8.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9.xml" ContentType="application/vnd.openxmlformats-officedocument.drawingml.chart+xml"/>
  <Override PartName="/ppt/notesSlides/notesSlide18.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9.xml" ContentType="application/vnd.openxmlformats-officedocument.presentationml.notesSlide+xml"/>
  <Override PartName="/ppt/charts/chart12.xml" ContentType="application/vnd.openxmlformats-officedocument.drawingml.chart+xml"/>
  <Override PartName="/ppt/notesSlides/notesSlide20.xml" ContentType="application/vnd.openxmlformats-officedocument.presentationml.notesSlide+xml"/>
  <Override PartName="/ppt/charts/chart13.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14.xml" ContentType="application/vnd.openxmlformats-officedocument.drawingml.chart+xml"/>
  <Override PartName="/ppt/notesSlides/notesSlide23.xml" ContentType="application/vnd.openxmlformats-officedocument.presentationml.notes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notesSlides/notesSlide24.xml" ContentType="application/vnd.openxmlformats-officedocument.presentationml.notesSlide+xml"/>
  <Override PartName="/ppt/charts/chart20.xml" ContentType="application/vnd.openxmlformats-officedocument.drawingml.chart+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21.xml" ContentType="application/vnd.openxmlformats-officedocument.drawingml.chart+xml"/>
  <Override PartName="/ppt/notesSlides/notesSlide27.xml" ContentType="application/vnd.openxmlformats-officedocument.presentationml.notesSlide+xml"/>
  <Override PartName="/ppt/charts/chart22.xml" ContentType="application/vnd.openxmlformats-officedocument.drawingml.chart+xml"/>
  <Override PartName="/ppt/notesSlides/notesSlide28.xml" ContentType="application/vnd.openxmlformats-officedocument.presentationml.notesSlide+xml"/>
  <Override PartName="/ppt/charts/chart23.xml" ContentType="application/vnd.openxmlformats-officedocument.drawingml.chart+xml"/>
  <Override PartName="/ppt/charts/chart24.xml" ContentType="application/vnd.openxmlformats-officedocument.drawingml.chart+xml"/>
  <Override PartName="/ppt/notesSlides/notesSlide29.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0.xml" ContentType="application/vnd.openxmlformats-officedocument.presentationml.notesSlide+xml"/>
  <Override PartName="/ppt/charts/chart27.xml" ContentType="application/vnd.openxmlformats-officedocument.drawingml.chart+xml"/>
  <Override PartName="/ppt/notesSlides/notesSlide31.xml" ContentType="application/vnd.openxmlformats-officedocument.presentationml.notesSlide+xml"/>
  <Override PartName="/ppt/charts/chart28.xml" ContentType="application/vnd.openxmlformats-officedocument.drawingml.chart+xml"/>
  <Override PartName="/ppt/charts/chart29.xml" ContentType="application/vnd.openxmlformats-officedocument.drawingml.chart+xml"/>
  <Override PartName="/ppt/notesSlides/notesSlide32.xml" ContentType="application/vnd.openxmlformats-officedocument.presentationml.notesSlide+xml"/>
  <Override PartName="/ppt/charts/chart30.xml" ContentType="application/vnd.openxmlformats-officedocument.drawingml.chart+xml"/>
  <Override PartName="/ppt/charts/chart31.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32.xml" ContentType="application/vnd.openxmlformats-officedocument.drawingml.chart+xml"/>
  <Override PartName="/ppt/notesSlides/notesSlide35.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notesSlides/notesSlide36.xml" ContentType="application/vnd.openxmlformats-officedocument.presentationml.notesSlide+xml"/>
  <Override PartName="/ppt/charts/chart38.xml" ContentType="application/vnd.openxmlformats-officedocument.drawingml.chart+xml"/>
  <Override PartName="/ppt/notesSlides/notesSlide37.xml" ContentType="application/vnd.openxmlformats-officedocument.presentationml.notesSlide+xml"/>
  <Override PartName="/ppt/charts/chart39.xml" ContentType="application/vnd.openxmlformats-officedocument.drawingml.chart+xml"/>
  <Override PartName="/ppt/notesSlides/notesSlide38.xml" ContentType="application/vnd.openxmlformats-officedocument.presentationml.notesSlide+xml"/>
  <Override PartName="/ppt/charts/chart40.xml" ContentType="application/vnd.openxmlformats-officedocument.drawingml.chart+xml"/>
  <Override PartName="/ppt/notesSlides/notesSlide39.xml" ContentType="application/vnd.openxmlformats-officedocument.presentationml.notesSlide+xml"/>
  <Override PartName="/ppt/charts/chart41.xml" ContentType="application/vnd.openxmlformats-officedocument.drawingml.chart+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rts/chart42.xml" ContentType="application/vnd.openxmlformats-officedocument.drawingml.chart+xml"/>
  <Override PartName="/ppt/charts/style1.xml" ContentType="application/vnd.ms-office.chartstyle+xml"/>
  <Override PartName="/ppt/charts/colors1.xml" ContentType="application/vnd.ms-office.chartcolorstyle+xml"/>
  <Override PartName="/ppt/tags/tag4.xml" ContentType="application/vnd.openxmlformats-officedocument.presentationml.tags+xml"/>
  <Override PartName="/ppt/notesSlides/notesSlide44.xml" ContentType="application/vnd.openxmlformats-officedocument.presentationml.notesSlide+xml"/>
  <Override PartName="/ppt/charts/chart43.xml" ContentType="application/vnd.openxmlformats-officedocument.drawingml.chart+xml"/>
  <Override PartName="/ppt/charts/style2.xml" ContentType="application/vnd.ms-office.chartstyle+xml"/>
  <Override PartName="/ppt/charts/colors2.xml" ContentType="application/vnd.ms-office.chartcolorstyle+xml"/>
  <Override PartName="/ppt/charts/chart44.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45.xml" ContentType="application/vnd.openxmlformats-officedocument.presentationml.notesSlide+xml"/>
  <Override PartName="/ppt/tags/tag5.xml" ContentType="application/vnd.openxmlformats-officedocument.presentationml.tags+xml"/>
  <Override PartName="/ppt/notesSlides/notesSlide46.xml" ContentType="application/vnd.openxmlformats-officedocument.presentationml.notesSlide+xml"/>
  <Override PartName="/ppt/charts/chart45.xml" ContentType="application/vnd.openxmlformats-officedocument.drawingml.chart+xml"/>
  <Override PartName="/ppt/charts/style4.xml" ContentType="application/vnd.ms-office.chartstyle+xml"/>
  <Override PartName="/ppt/charts/colors4.xml" ContentType="application/vnd.ms-office.chartcolorstyle+xml"/>
  <Override PartName="/ppt/charts/chart46.xml" ContentType="application/vnd.openxmlformats-officedocument.drawingml.chart+xml"/>
  <Override PartName="/ppt/charts/chartEx1.xml" ContentType="application/vnd.ms-office.chartex+xml"/>
  <Override PartName="/ppt/charts/style5.xml" ContentType="application/vnd.ms-office.chartstyle+xml"/>
  <Override PartName="/ppt/charts/colors5.xml" ContentType="application/vnd.ms-office.chartcolorstyle+xml"/>
  <Override PartName="/ppt/charts/chart47.xml" ContentType="application/vnd.openxmlformats-officedocument.drawingml.chart+xml"/>
  <Override PartName="/ppt/charts/style6.xml" ContentType="application/vnd.ms-office.chartstyle+xml"/>
  <Override PartName="/ppt/charts/colors6.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8" r:id="rId1"/>
    <p:sldMasterId id="2147483680" r:id="rId2"/>
    <p:sldMasterId id="2147483686" r:id="rId3"/>
    <p:sldMasterId id="2147483698" r:id="rId4"/>
  </p:sldMasterIdLst>
  <p:notesMasterIdLst>
    <p:notesMasterId r:id="rId55"/>
  </p:notesMasterIdLst>
  <p:sldIdLst>
    <p:sldId id="2147483631" r:id="rId5"/>
    <p:sldId id="326" r:id="rId6"/>
    <p:sldId id="329" r:id="rId7"/>
    <p:sldId id="2147483632" r:id="rId8"/>
    <p:sldId id="323" r:id="rId9"/>
    <p:sldId id="315" r:id="rId10"/>
    <p:sldId id="316" r:id="rId11"/>
    <p:sldId id="317" r:id="rId12"/>
    <p:sldId id="330" r:id="rId13"/>
    <p:sldId id="293" r:id="rId14"/>
    <p:sldId id="327" r:id="rId15"/>
    <p:sldId id="319" r:id="rId16"/>
    <p:sldId id="332" r:id="rId17"/>
    <p:sldId id="301" r:id="rId18"/>
    <p:sldId id="258" r:id="rId19"/>
    <p:sldId id="2147483641" r:id="rId20"/>
    <p:sldId id="2147483642" r:id="rId21"/>
    <p:sldId id="2147483643" r:id="rId22"/>
    <p:sldId id="2147483644" r:id="rId23"/>
    <p:sldId id="259" r:id="rId24"/>
    <p:sldId id="260" r:id="rId25"/>
    <p:sldId id="261" r:id="rId26"/>
    <p:sldId id="262" r:id="rId27"/>
    <p:sldId id="263" r:id="rId28"/>
    <p:sldId id="265" r:id="rId29"/>
    <p:sldId id="2147483645" r:id="rId30"/>
    <p:sldId id="295" r:id="rId31"/>
    <p:sldId id="264" r:id="rId32"/>
    <p:sldId id="275" r:id="rId33"/>
    <p:sldId id="318" r:id="rId34"/>
    <p:sldId id="276" r:id="rId35"/>
    <p:sldId id="277" r:id="rId36"/>
    <p:sldId id="307" r:id="rId37"/>
    <p:sldId id="280" r:id="rId38"/>
    <p:sldId id="313" r:id="rId39"/>
    <p:sldId id="282" r:id="rId40"/>
    <p:sldId id="287" r:id="rId41"/>
    <p:sldId id="281" r:id="rId42"/>
    <p:sldId id="288" r:id="rId43"/>
    <p:sldId id="289" r:id="rId44"/>
    <p:sldId id="290" r:id="rId45"/>
    <p:sldId id="291" r:id="rId46"/>
    <p:sldId id="328" r:id="rId47"/>
    <p:sldId id="294" r:id="rId48"/>
    <p:sldId id="278" r:id="rId49"/>
    <p:sldId id="2147483612" r:id="rId50"/>
    <p:sldId id="270" r:id="rId51"/>
    <p:sldId id="271" r:id="rId52"/>
    <p:sldId id="272" r:id="rId53"/>
    <p:sldId id="2147483616"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EA3D190-9A50-4EAB-B243-E24A11598C44}">
          <p14:sldIdLst>
            <p14:sldId id="2147483631"/>
            <p14:sldId id="326"/>
            <p14:sldId id="329"/>
            <p14:sldId id="2147483632"/>
            <p14:sldId id="323"/>
            <p14:sldId id="315"/>
            <p14:sldId id="316"/>
            <p14:sldId id="317"/>
            <p14:sldId id="330"/>
            <p14:sldId id="293"/>
            <p14:sldId id="327"/>
            <p14:sldId id="319"/>
            <p14:sldId id="332"/>
            <p14:sldId id="301"/>
            <p14:sldId id="258"/>
            <p14:sldId id="2147483641"/>
            <p14:sldId id="2147483642"/>
            <p14:sldId id="2147483643"/>
            <p14:sldId id="2147483644"/>
            <p14:sldId id="259"/>
            <p14:sldId id="260"/>
            <p14:sldId id="261"/>
            <p14:sldId id="262"/>
            <p14:sldId id="263"/>
            <p14:sldId id="265"/>
            <p14:sldId id="2147483645"/>
            <p14:sldId id="295"/>
            <p14:sldId id="264"/>
            <p14:sldId id="275"/>
            <p14:sldId id="318"/>
            <p14:sldId id="276"/>
            <p14:sldId id="277"/>
            <p14:sldId id="307"/>
            <p14:sldId id="280"/>
            <p14:sldId id="313"/>
            <p14:sldId id="282"/>
            <p14:sldId id="287"/>
            <p14:sldId id="281"/>
            <p14:sldId id="288"/>
            <p14:sldId id="289"/>
            <p14:sldId id="290"/>
            <p14:sldId id="291"/>
            <p14:sldId id="328"/>
            <p14:sldId id="294"/>
            <p14:sldId id="278"/>
          </p14:sldIdLst>
        </p14:section>
        <p14:section name="Example Appendicies from another survey" id="{43EF1A97-A2C0-439A-9F69-C944959AF1A2}">
          <p14:sldIdLst>
            <p14:sldId id="2147483612"/>
            <p14:sldId id="270"/>
            <p14:sldId id="271"/>
            <p14:sldId id="272"/>
            <p14:sldId id="214748361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96EFA7-0D1E-03B8-0ACB-0E639503A15F}" name="Bruce, Riley" initials="RB" userId="S::ribruce@deloitte.ca::fd24e7a2-1291-4fd2-836d-943cf2436b48" providerId="AD"/>
  <p188:author id="{41239FBB-7C6A-8AFA-2D62-F020A8490F80}" name="Lin, David" initials="DL" userId="S::davlin@deloitte.ca::ce1f04b3-c96a-433f-995d-d2a58be28702" providerId="AD"/>
  <p188:author id="{4D942AE9-6EA2-E243-FB88-4244E123F471}" name="Luh, Kevin" initials="KL" userId="S::kluh@deloitte.ca::b0cf5418-ad74-4820-a41c-cc0e018a4c6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826" autoAdjust="0"/>
    <p:restoredTop sz="69649" autoAdjust="0"/>
  </p:normalViewPr>
  <p:slideViewPr>
    <p:cSldViewPr snapToGrid="0">
      <p:cViewPr varScale="1">
        <p:scale>
          <a:sx n="77" d="100"/>
          <a:sy n="77" d="100"/>
        </p:scale>
        <p:origin x="129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notesMaster" Target="notesMasters/notesMaster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theme" Target="theme/theme1.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2.xml.rels><?xml version="1.0" encoding="UTF-8" standalone="yes"?>
<Relationships xmlns="http://schemas.openxmlformats.org/package/2006/relationships"><Relationship Id="rId3" Type="http://schemas.openxmlformats.org/officeDocument/2006/relationships/oleObject" Target="https://candeloitte.sharepoint.com/sites/FraudPursuitsResearch/Shared%20Documents/General/Riskified%20x%20Deloitte%20Partnership/Deloitte%20x%20Riskified%20-%20Agentic%20AI%20POV/GLG%20Survey/Crosstab%20export.xlsx" TargetMode="External"/><Relationship Id="rId2" Type="http://schemas.microsoft.com/office/2011/relationships/chartColorStyle" Target="colors1.xml"/><Relationship Id="rId1" Type="http://schemas.microsoft.com/office/2011/relationships/chartStyle" Target="style1.xml"/></Relationships>
</file>

<file path=ppt/charts/_rels/chart43.xml.rels><?xml version="1.0" encoding="UTF-8" standalone="yes"?>
<Relationships xmlns="http://schemas.openxmlformats.org/package/2006/relationships"><Relationship Id="rId3" Type="http://schemas.openxmlformats.org/officeDocument/2006/relationships/oleObject" Target="https://candeloitte.sharepoint.com/sites/FraudPursuitsResearch/Shared%20Documents/General/Riskified%20x%20Deloitte%20Partnership/Deloitte%20x%20Riskified%20-%20Agentic%20AI%20POV/GLG%20Survey/Crosstab%20export.xlsx" TargetMode="External"/><Relationship Id="rId2" Type="http://schemas.microsoft.com/office/2011/relationships/chartColorStyle" Target="colors2.xml"/><Relationship Id="rId1" Type="http://schemas.microsoft.com/office/2011/relationships/chartStyle" Target="style2.xml"/></Relationships>
</file>

<file path=ppt/charts/_rels/chart44.xml.rels><?xml version="1.0" encoding="UTF-8" standalone="yes"?>
<Relationships xmlns="http://schemas.openxmlformats.org/package/2006/relationships"><Relationship Id="rId3" Type="http://schemas.openxmlformats.org/officeDocument/2006/relationships/oleObject" Target="https://candeloitte.sharepoint.com/sites/FraudPursuitsResearch/Shared%20Documents/General/Riskified%20x%20Deloitte%20Partnership/Deloitte%20x%20Riskified%20-%20Agentic%20AI%20POV/GLG%20Survey/Survey%20Raw%20Data%20_%20Use%20for%20long%20form%20text%20answers." TargetMode="External"/><Relationship Id="rId2" Type="http://schemas.microsoft.com/office/2011/relationships/chartColorStyle" Target="colors3.xml"/><Relationship Id="rId1" Type="http://schemas.microsoft.com/office/2011/relationships/chartStyle" Target="style3.xml"/></Relationships>
</file>

<file path=ppt/charts/_rels/chart45.xml.rels><?xml version="1.0" encoding="UTF-8" standalone="yes"?>
<Relationships xmlns="http://schemas.openxmlformats.org/package/2006/relationships"><Relationship Id="rId3" Type="http://schemas.openxmlformats.org/officeDocument/2006/relationships/oleObject" Target="https://candeloitte.sharepoint.com/sites/FraudPursuitsResearch/Shared%20Documents/General/Riskified%20x%20Deloitte%20Partnership/Deloitte%20x%20Riskified%20-%20Agentic%20AI%20POV/GLG%20Survey/Crosstab%20export.xlsx" TargetMode="External"/><Relationship Id="rId2" Type="http://schemas.microsoft.com/office/2011/relationships/chartColorStyle" Target="colors4.xml"/><Relationship Id="rId1" Type="http://schemas.microsoft.com/office/2011/relationships/chartStyle" Target="style4.xml"/></Relationships>
</file>

<file path=ppt/charts/_rels/chart46.xml.rels><?xml version="1.0" encoding="UTF-8" standalone="yes"?>
<Relationships xmlns="http://schemas.openxmlformats.org/package/2006/relationships"><Relationship Id="rId1" Type="http://schemas.openxmlformats.org/officeDocument/2006/relationships/oleObject" Target="https://candeloitte.sharepoint.com/sites/FraudPursuitsResearch/Shared%20Documents/General/Riskified%20x%20Deloitte%20Partnership/Deloitte%20x%20Riskified%20-%20Agentic%20AI%20POV/GLG%20Survey/Crosstab%20export.xlsx" TargetMode="External"/></Relationships>
</file>

<file path=ppt/charts/_rels/chart47.xml.rels><?xml version="1.0" encoding="UTF-8" standalone="yes"?>
<Relationships xmlns="http://schemas.openxmlformats.org/package/2006/relationships"><Relationship Id="rId3" Type="http://schemas.openxmlformats.org/officeDocument/2006/relationships/oleObject" Target="https://candeloitte.sharepoint.com/sites/FraudPursuitsResearch/Shared%20Documents/General/Riskified%20x%20Deloitte%20Partnership/Deloitte%20x%20Riskified%20-%20Agentic%20AI%20POV/GLG%20Survey/Crosstab%20export.xlsx" TargetMode="External"/><Relationship Id="rId2" Type="http://schemas.microsoft.com/office/2011/relationships/chartColorStyle" Target="colors6.xml"/><Relationship Id="rId1" Type="http://schemas.microsoft.com/office/2011/relationships/chartStyle" Target="style6.xml"/></Relationships>
</file>

<file path=ppt/charts/_rels/chartEx1.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https://candeloitte.sharepoint.com/sites/FraudPursuitsResearch/Shared%20Documents/General/Riskified%20x%20Deloitte%20Partnership/Deloitte%20x%20Riskified%20-%20Agentic%20AI%20POV/GLG%20Survey/Crosstab%20expor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spPr>
              <a:noFill/>
              <a:ln>
                <a:noFill/>
              </a:ln>
              <a:effectLst/>
            </c:spPr>
            <c:txPr>
              <a:bodyPr/>
              <a:lstStyle/>
              <a:p>
                <a:pPr>
                  <a:defRPr sz="85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United States</c:v>
                </c:pt>
                <c:pt idx="1">
                  <c:v>Canada</c:v>
                </c:pt>
                <c:pt idx="2">
                  <c:v>United Kingdom</c:v>
                </c:pt>
                <c:pt idx="3">
                  <c:v>Australia</c:v>
                </c:pt>
                <c:pt idx="4">
                  <c:v>Singapore</c:v>
                </c:pt>
                <c:pt idx="5">
                  <c:v>EU</c:v>
                </c:pt>
              </c:strCache>
            </c:strRef>
          </c:cat>
          <c:val>
            <c:numRef>
              <c:f>Sheet1!$B$2:$B$7</c:f>
              <c:numCache>
                <c:formatCode>General</c:formatCode>
                <c:ptCount val="6"/>
                <c:pt idx="0">
                  <c:v>45</c:v>
                </c:pt>
                <c:pt idx="1">
                  <c:v>24</c:v>
                </c:pt>
                <c:pt idx="2">
                  <c:v>12</c:v>
                </c:pt>
                <c:pt idx="3">
                  <c:v>9</c:v>
                </c:pt>
                <c:pt idx="4">
                  <c:v>5</c:v>
                </c:pt>
                <c:pt idx="5">
                  <c:v>4</c:v>
                </c:pt>
              </c:numCache>
            </c:numRef>
          </c:val>
          <c:extLst>
            <c:ext xmlns:c16="http://schemas.microsoft.com/office/drawing/2014/chart" uri="{C3380CC4-5D6E-409C-BE32-E72D297353CC}">
              <c16:uniqueId val="{00000000-C8ED-43A4-BB2F-2FA7003333A2}"/>
            </c:ext>
          </c:extLst>
        </c:ser>
        <c:ser>
          <c:idx val="1"/>
          <c:order val="1"/>
          <c:tx>
            <c:strRef>
              <c:f>Sheet1!$C$1</c:f>
              <c:strCache>
                <c:ptCount val="1"/>
                <c:pt idx="0">
                  <c:v>Insurance (n=25)</c:v>
                </c:pt>
              </c:strCache>
            </c:strRef>
          </c:tx>
          <c:spPr>
            <a:solidFill>
              <a:srgbClr val="046A38"/>
            </a:solidFill>
            <a:effectLst/>
          </c:spPr>
          <c:invertIfNegative val="0"/>
          <c:dLbls>
            <c:numFmt formatCode="0&quot;%&quot;" sourceLinked="0"/>
            <c:spPr>
              <a:noFill/>
              <a:ln>
                <a:noFill/>
              </a:ln>
              <a:effectLst/>
            </c:spPr>
            <c:txPr>
              <a:bodyPr/>
              <a:lstStyle/>
              <a:p>
                <a:pPr>
                  <a:defRPr sz="85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United States</c:v>
                </c:pt>
                <c:pt idx="1">
                  <c:v>Canada</c:v>
                </c:pt>
                <c:pt idx="2">
                  <c:v>United Kingdom</c:v>
                </c:pt>
                <c:pt idx="3">
                  <c:v>Australia</c:v>
                </c:pt>
                <c:pt idx="4">
                  <c:v>Singapore</c:v>
                </c:pt>
                <c:pt idx="5">
                  <c:v>EU</c:v>
                </c:pt>
              </c:strCache>
            </c:strRef>
          </c:cat>
          <c:val>
            <c:numRef>
              <c:f>Sheet1!$C$2:$C$7</c:f>
              <c:numCache>
                <c:formatCode>General</c:formatCode>
                <c:ptCount val="6"/>
                <c:pt idx="0">
                  <c:v>40</c:v>
                </c:pt>
                <c:pt idx="1">
                  <c:v>48</c:v>
                </c:pt>
                <c:pt idx="2">
                  <c:v>8</c:v>
                </c:pt>
                <c:pt idx="3">
                  <c:v>4</c:v>
                </c:pt>
                <c:pt idx="4">
                  <c:v>0</c:v>
                </c:pt>
                <c:pt idx="5">
                  <c:v>0</c:v>
                </c:pt>
              </c:numCache>
            </c:numRef>
          </c:val>
          <c:extLst>
            <c:ext xmlns:c16="http://schemas.microsoft.com/office/drawing/2014/chart" uri="{C3380CC4-5D6E-409C-BE32-E72D297353CC}">
              <c16:uniqueId val="{00000001-C8ED-43A4-BB2F-2FA7003333A2}"/>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900"/>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spPr>
              <a:noFill/>
              <a:ln>
                <a:noFill/>
              </a:ln>
              <a:effectLst/>
            </c:spPr>
            <c:txPr>
              <a:bodyPr/>
              <a:lstStyle/>
              <a:p>
                <a:pPr>
                  <a:defRPr sz="85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Fraud Operations</c:v>
                </c:pt>
                <c:pt idx="1">
                  <c:v>Fraud Analytics/Intelligence</c:v>
                </c:pt>
                <c:pt idx="2">
                  <c:v>Fraud Strategy &amp; Transformation</c:v>
                </c:pt>
                <c:pt idx="3">
                  <c:v>Fraud Risk &amp; Governance</c:v>
                </c:pt>
                <c:pt idx="4">
                  <c:v>Fraud Investigations Unit</c:v>
                </c:pt>
                <c:pt idx="5">
                  <c:v>Special Investigations Unit</c:v>
                </c:pt>
              </c:strCache>
            </c:strRef>
          </c:cat>
          <c:val>
            <c:numRef>
              <c:f>Sheet1!$B$2:$B$7</c:f>
              <c:numCache>
                <c:formatCode>General</c:formatCode>
                <c:ptCount val="6"/>
                <c:pt idx="0">
                  <c:v>27</c:v>
                </c:pt>
                <c:pt idx="1">
                  <c:v>20</c:v>
                </c:pt>
                <c:pt idx="2">
                  <c:v>20</c:v>
                </c:pt>
                <c:pt idx="3">
                  <c:v>19</c:v>
                </c:pt>
                <c:pt idx="4">
                  <c:v>8</c:v>
                </c:pt>
                <c:pt idx="5">
                  <c:v>7</c:v>
                </c:pt>
              </c:numCache>
            </c:numRef>
          </c:val>
          <c:extLst>
            <c:ext xmlns:c16="http://schemas.microsoft.com/office/drawing/2014/chart" uri="{C3380CC4-5D6E-409C-BE32-E72D297353CC}">
              <c16:uniqueId val="{00000000-AF05-47CB-8AA7-6A494EE62713}"/>
            </c:ext>
          </c:extLst>
        </c:ser>
        <c:ser>
          <c:idx val="1"/>
          <c:order val="1"/>
          <c:tx>
            <c:strRef>
              <c:f>Sheet1!$C$1</c:f>
              <c:strCache>
                <c:ptCount val="1"/>
                <c:pt idx="0">
                  <c:v>Insurance (n=25)</c:v>
                </c:pt>
              </c:strCache>
            </c:strRef>
          </c:tx>
          <c:spPr>
            <a:solidFill>
              <a:srgbClr val="046A38"/>
            </a:solidFill>
            <a:effectLst/>
          </c:spPr>
          <c:invertIfNegative val="0"/>
          <c:dLbls>
            <c:numFmt formatCode="0&quot;%&quot;" sourceLinked="0"/>
            <c:spPr>
              <a:noFill/>
              <a:ln>
                <a:noFill/>
              </a:ln>
              <a:effectLst/>
            </c:spPr>
            <c:txPr>
              <a:bodyPr/>
              <a:lstStyle/>
              <a:p>
                <a:pPr>
                  <a:defRPr sz="85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Fraud Operations</c:v>
                </c:pt>
                <c:pt idx="1">
                  <c:v>Fraud Analytics/Intelligence</c:v>
                </c:pt>
                <c:pt idx="2">
                  <c:v>Fraud Strategy &amp; Transformation</c:v>
                </c:pt>
                <c:pt idx="3">
                  <c:v>Fraud Risk &amp; Governance</c:v>
                </c:pt>
                <c:pt idx="4">
                  <c:v>Fraud Investigations Unit</c:v>
                </c:pt>
                <c:pt idx="5">
                  <c:v>Special Investigations Unit</c:v>
                </c:pt>
              </c:strCache>
            </c:strRef>
          </c:cat>
          <c:val>
            <c:numRef>
              <c:f>Sheet1!$C$2:$C$7</c:f>
              <c:numCache>
                <c:formatCode>General</c:formatCode>
                <c:ptCount val="6"/>
                <c:pt idx="0">
                  <c:v>20</c:v>
                </c:pt>
                <c:pt idx="1">
                  <c:v>8</c:v>
                </c:pt>
                <c:pt idx="2">
                  <c:v>12</c:v>
                </c:pt>
                <c:pt idx="3">
                  <c:v>32</c:v>
                </c:pt>
                <c:pt idx="4">
                  <c:v>12</c:v>
                </c:pt>
                <c:pt idx="5">
                  <c:v>16</c:v>
                </c:pt>
              </c:numCache>
            </c:numRef>
          </c:val>
          <c:extLst>
            <c:ext xmlns:c16="http://schemas.microsoft.com/office/drawing/2014/chart" uri="{C3380CC4-5D6E-409C-BE32-E72D297353CC}">
              <c16:uniqueId val="{00000001-AF05-47CB-8AA7-6A494EE62713}"/>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900"/>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Top 100 Financial Institution (n=40)</c:v>
                </c:pt>
                <c:pt idx="1">
                  <c:v>Large Financial Institution — outside Top 100; &gt;20,000 FTE (n=35)</c:v>
                </c:pt>
              </c:strCache>
            </c:strRef>
          </c:cat>
          <c:val>
            <c:numRef>
              <c:f>Sheet1!$B$2:$B$3</c:f>
              <c:numCache>
                <c:formatCode>General</c:formatCode>
                <c:ptCount val="2"/>
                <c:pt idx="0">
                  <c:v>53</c:v>
                </c:pt>
                <c:pt idx="1">
                  <c:v>47</c:v>
                </c:pt>
              </c:numCache>
            </c:numRef>
          </c:val>
          <c:extLst>
            <c:ext xmlns:c16="http://schemas.microsoft.com/office/drawing/2014/chart" uri="{C3380CC4-5D6E-409C-BE32-E72D297353CC}">
              <c16:uniqueId val="{00000000-7FFB-4C98-8D50-138F9990FEFA}"/>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United States (n=34)</c:v>
                </c:pt>
                <c:pt idx="1">
                  <c:v>Canada (n=18)</c:v>
                </c:pt>
                <c:pt idx="2">
                  <c:v>Europe — EU + UK (n=12)</c:v>
                </c:pt>
                <c:pt idx="3">
                  <c:v>Australia (n=7)</c:v>
                </c:pt>
                <c:pt idx="4">
                  <c:v>Singapore (n=4)</c:v>
                </c:pt>
              </c:strCache>
            </c:strRef>
          </c:cat>
          <c:val>
            <c:numRef>
              <c:f>Sheet1!$B$2:$B$6</c:f>
              <c:numCache>
                <c:formatCode>General</c:formatCode>
                <c:ptCount val="5"/>
                <c:pt idx="0">
                  <c:v>45</c:v>
                </c:pt>
                <c:pt idx="1">
                  <c:v>24</c:v>
                </c:pt>
                <c:pt idx="2">
                  <c:v>16</c:v>
                </c:pt>
                <c:pt idx="3">
                  <c:v>9</c:v>
                </c:pt>
                <c:pt idx="4">
                  <c:v>5</c:v>
                </c:pt>
              </c:numCache>
            </c:numRef>
          </c:val>
          <c:extLst>
            <c:ext xmlns:c16="http://schemas.microsoft.com/office/drawing/2014/chart" uri="{C3380CC4-5D6E-409C-BE32-E72D297353CC}">
              <c16:uniqueId val="{00000000-3983-4D66-8268-12BB49208149}"/>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spPr>
              <a:noFill/>
              <a:ln>
                <a:noFill/>
              </a:ln>
              <a:effectLst/>
            </c:spPr>
            <c:txPr>
              <a:bodyPr/>
              <a:lstStyle/>
              <a:p>
                <a:pPr>
                  <a:defRPr sz="9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Top 100 (n=40)</c:v>
                </c:pt>
                <c:pt idx="1">
                  <c:v>Large Financial Institution (n=35)</c:v>
                </c:pt>
              </c:strCache>
            </c:strRef>
          </c:cat>
          <c:val>
            <c:numRef>
              <c:f>Sheet1!$B$2:$B$3</c:f>
              <c:numCache>
                <c:formatCode>General</c:formatCode>
                <c:ptCount val="2"/>
                <c:pt idx="0">
                  <c:v>35</c:v>
                </c:pt>
                <c:pt idx="1">
                  <c:v>57</c:v>
                </c:pt>
              </c:numCache>
            </c:numRef>
          </c:val>
          <c:extLst>
            <c:ext xmlns:c16="http://schemas.microsoft.com/office/drawing/2014/chart" uri="{C3380CC4-5D6E-409C-BE32-E72D297353CC}">
              <c16:uniqueId val="{00000000-F5E9-4C1C-9F0B-311DA85DC097}"/>
            </c:ext>
          </c:extLst>
        </c:ser>
        <c:ser>
          <c:idx val="1"/>
          <c:order val="1"/>
          <c:tx>
            <c:strRef>
              <c:f>Sheet1!$C$1</c:f>
              <c:strCache>
                <c:ptCount val="1"/>
                <c:pt idx="0">
                  <c:v>Canada</c:v>
                </c:pt>
              </c:strCache>
            </c:strRef>
          </c:tx>
          <c:spPr>
            <a:solidFill>
              <a:srgbClr val="43B02A"/>
            </a:solidFill>
            <a:effectLst/>
          </c:spPr>
          <c:invertIfNegative val="0"/>
          <c:dLbls>
            <c:numFmt formatCode="0&quot;%&quot;;\-0&quot;%&quot;;;@" sourceLinked="0"/>
            <c:spPr>
              <a:noFill/>
              <a:ln>
                <a:noFill/>
              </a:ln>
              <a:effectLst/>
            </c:spPr>
            <c:txPr>
              <a:bodyPr/>
              <a:lstStyle/>
              <a:p>
                <a:pPr>
                  <a:defRPr sz="9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Top 100 (n=40)</c:v>
                </c:pt>
                <c:pt idx="1">
                  <c:v>Large Financial Institution (n=35)</c:v>
                </c:pt>
              </c:strCache>
            </c:strRef>
          </c:cat>
          <c:val>
            <c:numRef>
              <c:f>Sheet1!$C$2:$C$3</c:f>
              <c:numCache>
                <c:formatCode>General</c:formatCode>
                <c:ptCount val="2"/>
                <c:pt idx="0">
                  <c:v>32</c:v>
                </c:pt>
                <c:pt idx="1">
                  <c:v>14</c:v>
                </c:pt>
              </c:numCache>
            </c:numRef>
          </c:val>
          <c:extLst>
            <c:ext xmlns:c16="http://schemas.microsoft.com/office/drawing/2014/chart" uri="{C3380CC4-5D6E-409C-BE32-E72D297353CC}">
              <c16:uniqueId val="{00000001-F5E9-4C1C-9F0B-311DA85DC097}"/>
            </c:ext>
          </c:extLst>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spPr>
              <a:noFill/>
              <a:ln>
                <a:noFill/>
              </a:ln>
              <a:effectLst/>
            </c:spPr>
            <c:txPr>
              <a:bodyPr/>
              <a:lstStyle/>
              <a:p>
                <a:pPr>
                  <a:defRPr sz="9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Top 100 (n=40)</c:v>
                </c:pt>
                <c:pt idx="1">
                  <c:v>Large Financial Institution (n=35)</c:v>
                </c:pt>
              </c:strCache>
            </c:strRef>
          </c:cat>
          <c:val>
            <c:numRef>
              <c:f>Sheet1!$D$2:$D$3</c:f>
              <c:numCache>
                <c:formatCode>General</c:formatCode>
                <c:ptCount val="2"/>
                <c:pt idx="0">
                  <c:v>18</c:v>
                </c:pt>
                <c:pt idx="1">
                  <c:v>14</c:v>
                </c:pt>
              </c:numCache>
            </c:numRef>
          </c:val>
          <c:extLst>
            <c:ext xmlns:c16="http://schemas.microsoft.com/office/drawing/2014/chart" uri="{C3380CC4-5D6E-409C-BE32-E72D297353CC}">
              <c16:uniqueId val="{00000002-F5E9-4C1C-9F0B-311DA85DC097}"/>
            </c:ext>
          </c:extLst>
        </c:ser>
        <c:ser>
          <c:idx val="3"/>
          <c:order val="3"/>
          <c:tx>
            <c:strRef>
              <c:f>Sheet1!$E$1</c:f>
              <c:strCache>
                <c:ptCount val="1"/>
                <c:pt idx="0">
                  <c:v>Australia</c:v>
                </c:pt>
              </c:strCache>
            </c:strRef>
          </c:tx>
          <c:spPr>
            <a:solidFill>
              <a:srgbClr val="0D8390"/>
            </a:solidFill>
            <a:effectLst/>
          </c:spPr>
          <c:invertIfNegative val="0"/>
          <c:dLbls>
            <c:numFmt formatCode="0&quot;%&quot;;\-0&quot;%&quot;;;@" sourceLinked="0"/>
            <c:spPr>
              <a:noFill/>
              <a:ln>
                <a:noFill/>
              </a:ln>
              <a:effectLst/>
            </c:spPr>
            <c:txPr>
              <a:bodyPr/>
              <a:lstStyle/>
              <a:p>
                <a:pPr>
                  <a:defRPr sz="9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Top 100 (n=40)</c:v>
                </c:pt>
                <c:pt idx="1">
                  <c:v>Large Financial Institution (n=35)</c:v>
                </c:pt>
              </c:strCache>
            </c:strRef>
          </c:cat>
          <c:val>
            <c:numRef>
              <c:f>Sheet1!$E$2:$E$3</c:f>
              <c:numCache>
                <c:formatCode>General</c:formatCode>
                <c:ptCount val="2"/>
                <c:pt idx="0">
                  <c:v>10</c:v>
                </c:pt>
                <c:pt idx="1">
                  <c:v>9</c:v>
                </c:pt>
              </c:numCache>
            </c:numRef>
          </c:val>
          <c:extLst>
            <c:ext xmlns:c16="http://schemas.microsoft.com/office/drawing/2014/chart" uri="{C3380CC4-5D6E-409C-BE32-E72D297353CC}">
              <c16:uniqueId val="{00000003-F5E9-4C1C-9F0B-311DA85DC097}"/>
            </c:ext>
          </c:extLst>
        </c:ser>
        <c:ser>
          <c:idx val="4"/>
          <c:order val="4"/>
          <c:tx>
            <c:strRef>
              <c:f>Sheet1!$F$1</c:f>
              <c:strCache>
                <c:ptCount val="1"/>
                <c:pt idx="0">
                  <c:v>Singapore</c:v>
                </c:pt>
              </c:strCache>
            </c:strRef>
          </c:tx>
          <c:spPr>
            <a:solidFill>
              <a:srgbClr val="53565A"/>
            </a:solidFill>
            <a:effectLst/>
          </c:spPr>
          <c:invertIfNegative val="0"/>
          <c:dLbls>
            <c:numFmt formatCode="0&quot;%&quot;;\-0&quot;%&quot;;;@" sourceLinked="0"/>
            <c:spPr>
              <a:noFill/>
              <a:ln>
                <a:noFill/>
              </a:ln>
              <a:effectLst/>
            </c:spPr>
            <c:txPr>
              <a:bodyPr/>
              <a:lstStyle/>
              <a:p>
                <a:pPr>
                  <a:defRPr sz="9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Top 100 (n=40)</c:v>
                </c:pt>
                <c:pt idx="1">
                  <c:v>Large Financial Institution (n=35)</c:v>
                </c:pt>
              </c:strCache>
            </c:strRef>
          </c:cat>
          <c:val>
            <c:numRef>
              <c:f>Sheet1!$F$2:$F$3</c:f>
              <c:numCache>
                <c:formatCode>General</c:formatCode>
                <c:ptCount val="2"/>
                <c:pt idx="0">
                  <c:v>5</c:v>
                </c:pt>
                <c:pt idx="1">
                  <c:v>6</c:v>
                </c:pt>
              </c:numCache>
            </c:numRef>
          </c:val>
          <c:extLst>
            <c:ext xmlns:c16="http://schemas.microsoft.com/office/drawing/2014/chart" uri="{C3380CC4-5D6E-409C-BE32-E72D297353CC}">
              <c16:uniqueId val="{00000004-F5E9-4C1C-9F0B-311DA85DC097}"/>
            </c:ext>
          </c:extLst>
        </c:ser>
        <c:dLbls>
          <c:dLblPos val="ctr"/>
          <c:showLegendKey val="0"/>
          <c:showVal val="1"/>
          <c:showCatName val="0"/>
          <c:showSerName val="0"/>
          <c:showPercent val="0"/>
          <c:showBubbleSize val="0"/>
        </c:dLbls>
        <c:gapWidth val="4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1000"/>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Top 50 Global Insurance Carrier (n=15)</c:v>
                </c:pt>
                <c:pt idx="1">
                  <c:v>Large Insurance Carrier — outside Top 100; &gt;15,000 FTE (n=10)</c:v>
                </c:pt>
              </c:strCache>
            </c:strRef>
          </c:cat>
          <c:val>
            <c:numRef>
              <c:f>Sheet1!$B$2:$B$3</c:f>
              <c:numCache>
                <c:formatCode>General</c:formatCode>
                <c:ptCount val="2"/>
                <c:pt idx="0">
                  <c:v>60</c:v>
                </c:pt>
                <c:pt idx="1">
                  <c:v>40</c:v>
                </c:pt>
              </c:numCache>
            </c:numRef>
          </c:val>
          <c:extLst>
            <c:ext xmlns:c16="http://schemas.microsoft.com/office/drawing/2014/chart" uri="{C3380CC4-5D6E-409C-BE32-E72D297353CC}">
              <c16:uniqueId val="{00000000-B757-44E5-B99A-A28C966385D6}"/>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United States (n=10)</c:v>
                </c:pt>
                <c:pt idx="1">
                  <c:v>Canada (n=12)</c:v>
                </c:pt>
                <c:pt idx="2">
                  <c:v>Europe — EU + UK (n=2)</c:v>
                </c:pt>
                <c:pt idx="3">
                  <c:v>Australia (n=1)</c:v>
                </c:pt>
              </c:strCache>
            </c:strRef>
          </c:cat>
          <c:val>
            <c:numRef>
              <c:f>Sheet1!$B$2:$B$5</c:f>
              <c:numCache>
                <c:formatCode>General</c:formatCode>
                <c:ptCount val="4"/>
                <c:pt idx="0">
                  <c:v>40</c:v>
                </c:pt>
                <c:pt idx="1">
                  <c:v>48</c:v>
                </c:pt>
                <c:pt idx="2">
                  <c:v>8</c:v>
                </c:pt>
                <c:pt idx="3">
                  <c:v>4</c:v>
                </c:pt>
              </c:numCache>
            </c:numRef>
          </c:val>
          <c:extLst>
            <c:ext xmlns:c16="http://schemas.microsoft.com/office/drawing/2014/chart" uri="{C3380CC4-5D6E-409C-BE32-E72D297353CC}">
              <c16:uniqueId val="{00000000-34A8-4232-B84D-0155AE77F658}"/>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spPr>
              <a:noFill/>
              <a:ln>
                <a:noFill/>
              </a:ln>
              <a:effectLst/>
            </c:spPr>
            <c:txPr>
              <a:bodyPr/>
              <a:lstStyle/>
              <a:p>
                <a:pPr>
                  <a:defRPr sz="9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Top 50 (n=15)</c:v>
                </c:pt>
                <c:pt idx="1">
                  <c:v>Large Insurance Carrier (n=10)</c:v>
                </c:pt>
              </c:strCache>
            </c:strRef>
          </c:cat>
          <c:val>
            <c:numRef>
              <c:f>Sheet1!$B$2:$B$3</c:f>
              <c:numCache>
                <c:formatCode>General</c:formatCode>
                <c:ptCount val="2"/>
                <c:pt idx="0">
                  <c:v>47</c:v>
                </c:pt>
                <c:pt idx="1">
                  <c:v>30</c:v>
                </c:pt>
              </c:numCache>
            </c:numRef>
          </c:val>
          <c:extLst>
            <c:ext xmlns:c16="http://schemas.microsoft.com/office/drawing/2014/chart" uri="{C3380CC4-5D6E-409C-BE32-E72D297353CC}">
              <c16:uniqueId val="{00000000-DB9F-4A07-AC6A-1AD6B4B461E2}"/>
            </c:ext>
          </c:extLst>
        </c:ser>
        <c:ser>
          <c:idx val="1"/>
          <c:order val="1"/>
          <c:tx>
            <c:strRef>
              <c:f>Sheet1!$C$1</c:f>
              <c:strCache>
                <c:ptCount val="1"/>
                <c:pt idx="0">
                  <c:v>Canada</c:v>
                </c:pt>
              </c:strCache>
            </c:strRef>
          </c:tx>
          <c:spPr>
            <a:solidFill>
              <a:srgbClr val="43B02A"/>
            </a:solidFill>
            <a:effectLst/>
          </c:spPr>
          <c:invertIfNegative val="0"/>
          <c:dLbls>
            <c:numFmt formatCode="0&quot;%&quot;;\-0&quot;%&quot;;;@" sourceLinked="0"/>
            <c:spPr>
              <a:noFill/>
              <a:ln>
                <a:noFill/>
              </a:ln>
              <a:effectLst/>
            </c:spPr>
            <c:txPr>
              <a:bodyPr/>
              <a:lstStyle/>
              <a:p>
                <a:pPr>
                  <a:defRPr sz="9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Top 50 (n=15)</c:v>
                </c:pt>
                <c:pt idx="1">
                  <c:v>Large Insurance Carrier (n=10)</c:v>
                </c:pt>
              </c:strCache>
            </c:strRef>
          </c:cat>
          <c:val>
            <c:numRef>
              <c:f>Sheet1!$C$2:$C$3</c:f>
              <c:numCache>
                <c:formatCode>General</c:formatCode>
                <c:ptCount val="2"/>
                <c:pt idx="0">
                  <c:v>40</c:v>
                </c:pt>
                <c:pt idx="1">
                  <c:v>60</c:v>
                </c:pt>
              </c:numCache>
            </c:numRef>
          </c:val>
          <c:extLst>
            <c:ext xmlns:c16="http://schemas.microsoft.com/office/drawing/2014/chart" uri="{C3380CC4-5D6E-409C-BE32-E72D297353CC}">
              <c16:uniqueId val="{00000001-DB9F-4A07-AC6A-1AD6B4B461E2}"/>
            </c:ext>
          </c:extLst>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spPr>
              <a:noFill/>
              <a:ln>
                <a:noFill/>
              </a:ln>
              <a:effectLst/>
            </c:spPr>
            <c:txPr>
              <a:bodyPr/>
              <a:lstStyle/>
              <a:p>
                <a:pPr>
                  <a:defRPr sz="9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Top 50 (n=15)</c:v>
                </c:pt>
                <c:pt idx="1">
                  <c:v>Large Insurance Carrier (n=10)</c:v>
                </c:pt>
              </c:strCache>
            </c:strRef>
          </c:cat>
          <c:val>
            <c:numRef>
              <c:f>Sheet1!$D$2:$D$3</c:f>
              <c:numCache>
                <c:formatCode>General</c:formatCode>
                <c:ptCount val="2"/>
                <c:pt idx="0">
                  <c:v>7</c:v>
                </c:pt>
                <c:pt idx="1">
                  <c:v>10</c:v>
                </c:pt>
              </c:numCache>
            </c:numRef>
          </c:val>
          <c:extLst>
            <c:ext xmlns:c16="http://schemas.microsoft.com/office/drawing/2014/chart" uri="{C3380CC4-5D6E-409C-BE32-E72D297353CC}">
              <c16:uniqueId val="{00000002-DB9F-4A07-AC6A-1AD6B4B461E2}"/>
            </c:ext>
          </c:extLst>
        </c:ser>
        <c:ser>
          <c:idx val="3"/>
          <c:order val="3"/>
          <c:tx>
            <c:strRef>
              <c:f>Sheet1!$E$1</c:f>
              <c:strCache>
                <c:ptCount val="1"/>
                <c:pt idx="0">
                  <c:v>Australia</c:v>
                </c:pt>
              </c:strCache>
            </c:strRef>
          </c:tx>
          <c:spPr>
            <a:solidFill>
              <a:srgbClr val="53565A"/>
            </a:solidFill>
            <a:effectLst/>
          </c:spPr>
          <c:invertIfNegative val="0"/>
          <c:dLbls>
            <c:numFmt formatCode="0&quot;%&quot;;\-0&quot;%&quot;;;@" sourceLinked="0"/>
            <c:spPr>
              <a:noFill/>
              <a:ln>
                <a:noFill/>
              </a:ln>
              <a:effectLst/>
            </c:spPr>
            <c:txPr>
              <a:bodyPr/>
              <a:lstStyle/>
              <a:p>
                <a:pPr>
                  <a:defRPr sz="9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Top 50 (n=15)</c:v>
                </c:pt>
                <c:pt idx="1">
                  <c:v>Large Insurance Carrier (n=10)</c:v>
                </c:pt>
              </c:strCache>
            </c:strRef>
          </c:cat>
          <c:val>
            <c:numRef>
              <c:f>Sheet1!$E$2:$E$3</c:f>
              <c:numCache>
                <c:formatCode>General</c:formatCode>
                <c:ptCount val="2"/>
                <c:pt idx="0">
                  <c:v>7</c:v>
                </c:pt>
                <c:pt idx="1">
                  <c:v>0</c:v>
                </c:pt>
              </c:numCache>
            </c:numRef>
          </c:val>
          <c:extLst>
            <c:ext xmlns:c16="http://schemas.microsoft.com/office/drawing/2014/chart" uri="{C3380CC4-5D6E-409C-BE32-E72D297353CC}">
              <c16:uniqueId val="{00000003-DB9F-4A07-AC6A-1AD6B4B461E2}"/>
            </c:ext>
          </c:extLst>
        </c:ser>
        <c:dLbls>
          <c:dLblPos val="ctr"/>
          <c:showLegendKey val="0"/>
          <c:showVal val="1"/>
          <c:showCatName val="0"/>
          <c:showSerName val="0"/>
          <c:showPercent val="0"/>
          <c:showBubbleSize val="0"/>
        </c:dLbls>
        <c:gapWidth val="4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1000"/>
          </a:pPr>
          <a:endParaRPr lang="en-US"/>
        </a:p>
      </c:txPr>
    </c:legend>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strCache>
            </c:strRef>
          </c:cat>
          <c:val>
            <c:numRef>
              <c:f>Sheet1!$B$2:$B$7</c:f>
              <c:numCache>
                <c:formatCode>General</c:formatCode>
                <c:ptCount val="6"/>
                <c:pt idx="0">
                  <c:v>70</c:v>
                </c:pt>
                <c:pt idx="1">
                  <c:v>64</c:v>
                </c:pt>
                <c:pt idx="2">
                  <c:v>53</c:v>
                </c:pt>
                <c:pt idx="3">
                  <c:v>52</c:v>
                </c:pt>
                <c:pt idx="4">
                  <c:v>43</c:v>
                </c:pt>
                <c:pt idx="5">
                  <c:v>15</c:v>
                </c:pt>
              </c:numCache>
            </c:numRef>
          </c:val>
          <c:extLst>
            <c:ext xmlns:c16="http://schemas.microsoft.com/office/drawing/2014/chart" uri="{C3380CC4-5D6E-409C-BE32-E72D297353CC}">
              <c16:uniqueId val="{00000000-4F51-49E2-B418-ACB860E67324}"/>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Digital onboarding &amp; KYC</c:v>
                </c:pt>
                <c:pt idx="1">
                  <c:v>Payment / wire approvals</c:v>
                </c:pt>
                <c:pt idx="2">
                  <c:v>Claims &amp; underwriting review</c:v>
                </c:pt>
                <c:pt idx="3">
                  <c:v>Contact center / phone auth</c:v>
                </c:pt>
                <c:pt idx="4">
                  <c:v>Exec / employee impersonation</c:v>
                </c:pt>
                <c:pt idx="5">
                  <c:v>Video meetings &amp; remote advisory</c:v>
                </c:pt>
              </c:strCache>
            </c:strRef>
          </c:cat>
          <c:val>
            <c:numRef>
              <c:f>Sheet1!$B$2:$B$7</c:f>
              <c:numCache>
                <c:formatCode>General</c:formatCode>
                <c:ptCount val="6"/>
                <c:pt idx="0">
                  <c:v>73</c:v>
                </c:pt>
                <c:pt idx="1">
                  <c:v>73</c:v>
                </c:pt>
                <c:pt idx="2">
                  <c:v>48</c:v>
                </c:pt>
                <c:pt idx="3">
                  <c:v>47</c:v>
                </c:pt>
                <c:pt idx="4">
                  <c:v>40</c:v>
                </c:pt>
                <c:pt idx="5">
                  <c:v>15</c:v>
                </c:pt>
              </c:numCache>
            </c:numRef>
          </c:val>
          <c:extLst>
            <c:ext xmlns:c16="http://schemas.microsoft.com/office/drawing/2014/chart" uri="{C3380CC4-5D6E-409C-BE32-E72D297353CC}">
              <c16:uniqueId val="{00000000-A9A0-46D0-9D7D-5260F4F67310}"/>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Contact center / phone auth</c:v>
                </c:pt>
                <c:pt idx="1">
                  <c:v>Claims &amp; underwriting review</c:v>
                </c:pt>
                <c:pt idx="2">
                  <c:v>Exec / employee impersonation</c:v>
                </c:pt>
                <c:pt idx="3">
                  <c:v>Digital onboarding &amp; KYC</c:v>
                </c:pt>
                <c:pt idx="4">
                  <c:v>Payment / wire approvals</c:v>
                </c:pt>
                <c:pt idx="5">
                  <c:v>Video meetings &amp; remote advisory</c:v>
                </c:pt>
              </c:strCache>
            </c:strRef>
          </c:cat>
          <c:val>
            <c:numRef>
              <c:f>Sheet1!$B$2:$B$7</c:f>
              <c:numCache>
                <c:formatCode>General</c:formatCode>
                <c:ptCount val="6"/>
                <c:pt idx="0">
                  <c:v>72</c:v>
                </c:pt>
                <c:pt idx="1">
                  <c:v>64</c:v>
                </c:pt>
                <c:pt idx="2">
                  <c:v>60</c:v>
                </c:pt>
                <c:pt idx="3">
                  <c:v>52</c:v>
                </c:pt>
                <c:pt idx="4">
                  <c:v>36</c:v>
                </c:pt>
                <c:pt idx="5">
                  <c:v>16</c:v>
                </c:pt>
              </c:numCache>
            </c:numRef>
          </c:val>
          <c:extLst>
            <c:ext xmlns:c16="http://schemas.microsoft.com/office/drawing/2014/chart" uri="{C3380CC4-5D6E-409C-BE32-E72D297353CC}">
              <c16:uniqueId val="{00000000-0ECF-44B8-80D4-D8D5B423E7B7}"/>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Limited staff awareness &amp; training</c:v>
                </c:pt>
                <c:pt idx="1">
                  <c:v>Insufficient identity verification / prevention capability</c:v>
                </c:pt>
                <c:pt idx="2">
                  <c:v>Lack of fraud detection technology</c:v>
                </c:pt>
                <c:pt idx="3">
                  <c:v>Limited 3rd-party intel / consortium data</c:v>
                </c:pt>
              </c:strCache>
            </c:strRef>
          </c:cat>
          <c:val>
            <c:numRef>
              <c:f>Sheet1!$B$2:$B$5</c:f>
              <c:numCache>
                <c:formatCode>General</c:formatCode>
                <c:ptCount val="4"/>
                <c:pt idx="0">
                  <c:v>53</c:v>
                </c:pt>
                <c:pt idx="1">
                  <c:v>50</c:v>
                </c:pt>
                <c:pt idx="2">
                  <c:v>46</c:v>
                </c:pt>
                <c:pt idx="3">
                  <c:v>43</c:v>
                </c:pt>
              </c:numCache>
            </c:numRef>
          </c:val>
          <c:extLst>
            <c:ext xmlns:c16="http://schemas.microsoft.com/office/drawing/2014/chart" uri="{C3380CC4-5D6E-409C-BE32-E72D297353CC}">
              <c16:uniqueId val="{00000000-61F8-4D69-A757-408496B91CBE}"/>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Limited staff awareness &amp; training</c:v>
                </c:pt>
                <c:pt idx="1">
                  <c:v>Insufficient ID verification / prevention</c:v>
                </c:pt>
                <c:pt idx="2">
                  <c:v>Lack of fraud detection technology</c:v>
                </c:pt>
                <c:pt idx="3">
                  <c:v>Limited 3rd-party intel / consortium data</c:v>
                </c:pt>
              </c:strCache>
            </c:strRef>
          </c:cat>
          <c:val>
            <c:numRef>
              <c:f>Sheet1!$B$2:$B$5</c:f>
              <c:numCache>
                <c:formatCode>General</c:formatCode>
                <c:ptCount val="4"/>
                <c:pt idx="0">
                  <c:v>49</c:v>
                </c:pt>
                <c:pt idx="1">
                  <c:v>51</c:v>
                </c:pt>
                <c:pt idx="2">
                  <c:v>48</c:v>
                </c:pt>
                <c:pt idx="3">
                  <c:v>43</c:v>
                </c:pt>
              </c:numCache>
            </c:numRef>
          </c:val>
          <c:extLst>
            <c:ext xmlns:c16="http://schemas.microsoft.com/office/drawing/2014/chart" uri="{C3380CC4-5D6E-409C-BE32-E72D297353CC}">
              <c16:uniqueId val="{00000000-D860-455E-A404-57671D3A113D}"/>
            </c:ext>
          </c:extLst>
        </c:ser>
        <c:ser>
          <c:idx val="1"/>
          <c:order val="1"/>
          <c:tx>
            <c:strRef>
              <c:f>Sheet1!$C$1</c:f>
              <c:strCache>
                <c:ptCount val="1"/>
                <c:pt idx="0">
                  <c:v>Insurance (n=25)</c:v>
                </c:pt>
              </c:strCache>
            </c:strRef>
          </c:tx>
          <c:spPr>
            <a:solidFill>
              <a:srgbClr val="046A38"/>
            </a:solidFill>
            <a:effectLst/>
          </c:spPr>
          <c:invertIfNegative val="0"/>
          <c:dLbls>
            <c:numFmt formatCode="0&quot;%&quot;"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Limited staff awareness &amp; training</c:v>
                </c:pt>
                <c:pt idx="1">
                  <c:v>Insufficient ID verification / prevention</c:v>
                </c:pt>
                <c:pt idx="2">
                  <c:v>Lack of fraud detection technology</c:v>
                </c:pt>
                <c:pt idx="3">
                  <c:v>Limited 3rd-party intel / consortium data</c:v>
                </c:pt>
              </c:strCache>
            </c:strRef>
          </c:cat>
          <c:val>
            <c:numRef>
              <c:f>Sheet1!$C$2:$C$5</c:f>
              <c:numCache>
                <c:formatCode>General</c:formatCode>
                <c:ptCount val="4"/>
                <c:pt idx="0">
                  <c:v>64</c:v>
                </c:pt>
                <c:pt idx="1">
                  <c:v>48</c:v>
                </c:pt>
                <c:pt idx="2">
                  <c:v>40</c:v>
                </c:pt>
                <c:pt idx="3">
                  <c:v>44</c:v>
                </c:pt>
              </c:numCache>
            </c:numRef>
          </c:val>
          <c:extLst>
            <c:ext xmlns:c16="http://schemas.microsoft.com/office/drawing/2014/chart" uri="{C3380CC4-5D6E-409C-BE32-E72D297353CC}">
              <c16:uniqueId val="{00000001-D860-455E-A404-57671D3A113D}"/>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950"/>
          </a:pPr>
          <a:endParaRPr lang="en-US"/>
        </a:p>
      </c:txPr>
    </c:legend>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strCache>
            </c:strRef>
          </c:cat>
          <c:val>
            <c:numRef>
              <c:f>Sheet1!$B$2:$B$7</c:f>
              <c:numCache>
                <c:formatCode>General</c:formatCode>
                <c:ptCount val="6"/>
                <c:pt idx="0">
                  <c:v>77</c:v>
                </c:pt>
                <c:pt idx="1">
                  <c:v>73</c:v>
                </c:pt>
                <c:pt idx="2">
                  <c:v>60</c:v>
                </c:pt>
                <c:pt idx="3">
                  <c:v>36</c:v>
                </c:pt>
                <c:pt idx="4">
                  <c:v>27</c:v>
                </c:pt>
                <c:pt idx="5">
                  <c:v>26</c:v>
                </c:pt>
              </c:numCache>
            </c:numRef>
          </c:val>
          <c:extLst>
            <c:ext xmlns:c16="http://schemas.microsoft.com/office/drawing/2014/chart" uri="{C3380CC4-5D6E-409C-BE32-E72D297353CC}">
              <c16:uniqueId val="{00000000-D4D1-4903-9DA0-E39F873695AD}"/>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spPr>
              <a:noFill/>
              <a:ln>
                <a:noFill/>
              </a:ln>
              <a:effectLst/>
            </c:spPr>
            <c:txPr>
              <a:bodyPr/>
              <a:lstStyle/>
              <a:p>
                <a:pPr>
                  <a:defRPr sz="7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Data quality</c:v>
                </c:pt>
                <c:pt idx="1">
                  <c:v>Legal/regulatory</c:v>
                </c:pt>
                <c:pt idx="2">
                  <c:v>External particip.</c:v>
                </c:pt>
                <c:pt idx="3">
                  <c:v>Budget</c:v>
                </c:pt>
                <c:pt idx="4">
                  <c:v>ROI</c:v>
                </c:pt>
                <c:pt idx="5">
                  <c:v>Ownership</c:v>
                </c:pt>
              </c:strCache>
            </c:strRef>
          </c:cat>
          <c:val>
            <c:numRef>
              <c:f>Sheet1!$B$2:$B$7</c:f>
              <c:numCache>
                <c:formatCode>General</c:formatCode>
                <c:ptCount val="6"/>
                <c:pt idx="0">
                  <c:v>77</c:v>
                </c:pt>
                <c:pt idx="1">
                  <c:v>80</c:v>
                </c:pt>
                <c:pt idx="2">
                  <c:v>66</c:v>
                </c:pt>
                <c:pt idx="3">
                  <c:v>36</c:v>
                </c:pt>
                <c:pt idx="4">
                  <c:v>16</c:v>
                </c:pt>
                <c:pt idx="5">
                  <c:v>25</c:v>
                </c:pt>
              </c:numCache>
            </c:numRef>
          </c:val>
          <c:extLst>
            <c:ext xmlns:c16="http://schemas.microsoft.com/office/drawing/2014/chart" uri="{C3380CC4-5D6E-409C-BE32-E72D297353CC}">
              <c16:uniqueId val="{00000000-3D20-4BD3-BA4D-ED3079E874A2}"/>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spPr>
              <a:noFill/>
              <a:ln>
                <a:noFill/>
              </a:ln>
              <a:effectLst/>
            </c:spPr>
            <c:txPr>
              <a:bodyPr/>
              <a:lstStyle/>
              <a:p>
                <a:pPr>
                  <a:defRPr sz="7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Data quality</c:v>
                </c:pt>
                <c:pt idx="1">
                  <c:v>Legal/regulatory</c:v>
                </c:pt>
                <c:pt idx="2">
                  <c:v>External particip.</c:v>
                </c:pt>
                <c:pt idx="3">
                  <c:v>Budget</c:v>
                </c:pt>
                <c:pt idx="4">
                  <c:v>ROI</c:v>
                </c:pt>
                <c:pt idx="5">
                  <c:v>Ownership</c:v>
                </c:pt>
              </c:strCache>
            </c:strRef>
          </c:cat>
          <c:val>
            <c:numRef>
              <c:f>Sheet1!$B$2:$B$7</c:f>
              <c:numCache>
                <c:formatCode>General</c:formatCode>
                <c:ptCount val="6"/>
                <c:pt idx="0">
                  <c:v>77</c:v>
                </c:pt>
                <c:pt idx="1">
                  <c:v>63</c:v>
                </c:pt>
                <c:pt idx="2">
                  <c:v>57</c:v>
                </c:pt>
                <c:pt idx="3">
                  <c:v>30</c:v>
                </c:pt>
                <c:pt idx="4">
                  <c:v>33</c:v>
                </c:pt>
                <c:pt idx="5">
                  <c:v>37</c:v>
                </c:pt>
              </c:numCache>
            </c:numRef>
          </c:val>
          <c:extLst>
            <c:ext xmlns:c16="http://schemas.microsoft.com/office/drawing/2014/chart" uri="{C3380CC4-5D6E-409C-BE32-E72D297353CC}">
              <c16:uniqueId val="{00000000-B790-4379-AFF3-D6951525DEFA}"/>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spPr>
              <a:noFill/>
              <a:ln>
                <a:noFill/>
              </a:ln>
              <a:effectLst/>
            </c:spPr>
            <c:txPr>
              <a:bodyPr/>
              <a:lstStyle/>
              <a:p>
                <a:pPr>
                  <a:defRPr sz="7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Data quality</c:v>
                </c:pt>
                <c:pt idx="1">
                  <c:v>Legal/regulatory</c:v>
                </c:pt>
                <c:pt idx="2">
                  <c:v>External particip.</c:v>
                </c:pt>
                <c:pt idx="3">
                  <c:v>Budget</c:v>
                </c:pt>
                <c:pt idx="4">
                  <c:v>ROI</c:v>
                </c:pt>
                <c:pt idx="5">
                  <c:v>Ownership</c:v>
                </c:pt>
              </c:strCache>
            </c:strRef>
          </c:cat>
          <c:val>
            <c:numRef>
              <c:f>Sheet1!$B$2:$B$7</c:f>
              <c:numCache>
                <c:formatCode>General</c:formatCode>
                <c:ptCount val="6"/>
                <c:pt idx="0">
                  <c:v>71</c:v>
                </c:pt>
                <c:pt idx="1">
                  <c:v>64</c:v>
                </c:pt>
                <c:pt idx="2">
                  <c:v>57</c:v>
                </c:pt>
                <c:pt idx="3">
                  <c:v>43</c:v>
                </c:pt>
                <c:pt idx="4">
                  <c:v>50</c:v>
                </c:pt>
                <c:pt idx="5">
                  <c:v>14</c:v>
                </c:pt>
              </c:numCache>
            </c:numRef>
          </c:val>
          <c:extLst>
            <c:ext xmlns:c16="http://schemas.microsoft.com/office/drawing/2014/chart" uri="{C3380CC4-5D6E-409C-BE32-E72D297353CC}">
              <c16:uniqueId val="{00000000-A457-446B-BD8B-6EDC573045DC}"/>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spPr>
              <a:noFill/>
              <a:ln>
                <a:noFill/>
              </a:ln>
              <a:effectLst/>
            </c:spPr>
            <c:txPr>
              <a:bodyPr/>
              <a:lstStyle/>
              <a:p>
                <a:pPr>
                  <a:defRPr sz="7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Data quality</c:v>
                </c:pt>
                <c:pt idx="1">
                  <c:v>Legal/regulatory</c:v>
                </c:pt>
                <c:pt idx="2">
                  <c:v>External particip.</c:v>
                </c:pt>
                <c:pt idx="3">
                  <c:v>Budget</c:v>
                </c:pt>
                <c:pt idx="4">
                  <c:v>ROI</c:v>
                </c:pt>
                <c:pt idx="5">
                  <c:v>Ownership</c:v>
                </c:pt>
              </c:strCache>
            </c:strRef>
          </c:cat>
          <c:val>
            <c:numRef>
              <c:f>Sheet1!$B$2:$B$7</c:f>
              <c:numCache>
                <c:formatCode>General</c:formatCode>
                <c:ptCount val="6"/>
                <c:pt idx="0">
                  <c:v>75</c:v>
                </c:pt>
                <c:pt idx="1">
                  <c:v>100</c:v>
                </c:pt>
                <c:pt idx="2">
                  <c:v>50</c:v>
                </c:pt>
                <c:pt idx="3">
                  <c:v>50</c:v>
                </c:pt>
                <c:pt idx="4">
                  <c:v>12</c:v>
                </c:pt>
                <c:pt idx="5">
                  <c:v>12</c:v>
                </c:pt>
              </c:numCache>
            </c:numRef>
          </c:val>
          <c:extLst>
            <c:ext xmlns:c16="http://schemas.microsoft.com/office/drawing/2014/chart" uri="{C3380CC4-5D6E-409C-BE32-E72D297353CC}">
              <c16:uniqueId val="{00000000-0B02-4450-9599-A9800A126027}"/>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spPr>
              <a:noFill/>
              <a:ln>
                <a:noFill/>
              </a:ln>
              <a:effectLst/>
            </c:spPr>
            <c:txPr>
              <a:bodyPr/>
              <a:lstStyle/>
              <a:p>
                <a:pPr>
                  <a:defRPr sz="7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Data quality</c:v>
                </c:pt>
                <c:pt idx="1">
                  <c:v>Legal/regulatory</c:v>
                </c:pt>
                <c:pt idx="2">
                  <c:v>External particip.</c:v>
                </c:pt>
                <c:pt idx="3">
                  <c:v>Budget</c:v>
                </c:pt>
                <c:pt idx="4">
                  <c:v>ROI</c:v>
                </c:pt>
                <c:pt idx="5">
                  <c:v>Ownership</c:v>
                </c:pt>
              </c:strCache>
            </c:strRef>
          </c:cat>
          <c:val>
            <c:numRef>
              <c:f>Sheet1!$B$2:$B$7</c:f>
              <c:numCache>
                <c:formatCode>General</c:formatCode>
                <c:ptCount val="6"/>
                <c:pt idx="0">
                  <c:v>100</c:v>
                </c:pt>
                <c:pt idx="1">
                  <c:v>50</c:v>
                </c:pt>
                <c:pt idx="2">
                  <c:v>50</c:v>
                </c:pt>
                <c:pt idx="3">
                  <c:v>25</c:v>
                </c:pt>
                <c:pt idx="4">
                  <c:v>50</c:v>
                </c:pt>
                <c:pt idx="5">
                  <c:v>25</c:v>
                </c:pt>
              </c:numCache>
            </c:numRef>
          </c:val>
          <c:extLst>
            <c:ext xmlns:c16="http://schemas.microsoft.com/office/drawing/2014/chart" uri="{C3380CC4-5D6E-409C-BE32-E72D297353CC}">
              <c16:uniqueId val="{00000000-1186-4DF0-A23D-3002D17A89BE}"/>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strCache>
            </c:strRef>
          </c:cat>
          <c:val>
            <c:numRef>
              <c:f>Sheet1!$B$2:$B$7</c:f>
              <c:numCache>
                <c:formatCode>General</c:formatCode>
                <c:ptCount val="6"/>
                <c:pt idx="0">
                  <c:v>35</c:v>
                </c:pt>
                <c:pt idx="1">
                  <c:v>26</c:v>
                </c:pt>
                <c:pt idx="2">
                  <c:v>14</c:v>
                </c:pt>
                <c:pt idx="3">
                  <c:v>13</c:v>
                </c:pt>
                <c:pt idx="4">
                  <c:v>9</c:v>
                </c:pt>
                <c:pt idx="5">
                  <c:v>3</c:v>
                </c:pt>
              </c:numCache>
            </c:numRef>
          </c:val>
          <c:extLst>
            <c:ext xmlns:c16="http://schemas.microsoft.com/office/drawing/2014/chart" uri="{C3380CC4-5D6E-409C-BE32-E72D297353CC}">
              <c16:uniqueId val="{00000000-D61B-46A5-8C49-041CDDB2B1E1}"/>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Self-Reported Fraud Program Maturity — Combined</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Reactive</c:v>
                </c:pt>
                <c:pt idx="1">
                  <c:v>Foundational</c:v>
                </c:pt>
                <c:pt idx="2">
                  <c:v>Managed</c:v>
                </c:pt>
                <c:pt idx="3">
                  <c:v>Integrated</c:v>
                </c:pt>
                <c:pt idx="4">
                  <c:v>Advanced</c:v>
                </c:pt>
              </c:strCache>
            </c:strRef>
          </c:cat>
          <c:val>
            <c:numRef>
              <c:f>Sheet1!$B$2:$B$6</c:f>
              <c:numCache>
                <c:formatCode>General</c:formatCode>
                <c:ptCount val="5"/>
                <c:pt idx="0">
                  <c:v>1</c:v>
                </c:pt>
                <c:pt idx="1">
                  <c:v>5</c:v>
                </c:pt>
                <c:pt idx="2">
                  <c:v>12</c:v>
                </c:pt>
                <c:pt idx="3">
                  <c:v>44</c:v>
                </c:pt>
                <c:pt idx="4">
                  <c:v>38</c:v>
                </c:pt>
              </c:numCache>
            </c:numRef>
          </c:val>
          <c:extLst>
            <c:ext xmlns:c16="http://schemas.microsoft.com/office/drawing/2014/chart" uri="{C3380CC4-5D6E-409C-BE32-E72D297353CC}">
              <c16:uniqueId val="{00000000-1E50-4B91-A387-54C4606FC462}"/>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Reactive</c:v>
                </c:pt>
                <c:pt idx="1">
                  <c:v>Foundational</c:v>
                </c:pt>
                <c:pt idx="2">
                  <c:v>Managed</c:v>
                </c:pt>
                <c:pt idx="3">
                  <c:v>Integrated</c:v>
                </c:pt>
                <c:pt idx="4">
                  <c:v>Advanced</c:v>
                </c:pt>
              </c:strCache>
            </c:strRef>
          </c:cat>
          <c:val>
            <c:numRef>
              <c:f>Sheet1!$B$2:$B$6</c:f>
              <c:numCache>
                <c:formatCode>General</c:formatCode>
                <c:ptCount val="5"/>
                <c:pt idx="0">
                  <c:v>0</c:v>
                </c:pt>
                <c:pt idx="1">
                  <c:v>5</c:v>
                </c:pt>
                <c:pt idx="2">
                  <c:v>9</c:v>
                </c:pt>
                <c:pt idx="3">
                  <c:v>48</c:v>
                </c:pt>
                <c:pt idx="4">
                  <c:v>37</c:v>
                </c:pt>
              </c:numCache>
            </c:numRef>
          </c:val>
          <c:extLst>
            <c:ext xmlns:c16="http://schemas.microsoft.com/office/drawing/2014/chart" uri="{C3380CC4-5D6E-409C-BE32-E72D297353CC}">
              <c16:uniqueId val="{00000000-3DA4-4792-AA7B-9778CD702818}"/>
            </c:ext>
          </c:extLst>
        </c:ser>
        <c:ser>
          <c:idx val="1"/>
          <c:order val="1"/>
          <c:tx>
            <c:strRef>
              <c:f>Sheet1!$C$1</c:f>
              <c:strCache>
                <c:ptCount val="1"/>
                <c:pt idx="0">
                  <c:v>Insurance (n=25)</c:v>
                </c:pt>
              </c:strCache>
            </c:strRef>
          </c:tx>
          <c:spPr>
            <a:solidFill>
              <a:srgbClr val="046A38"/>
            </a:solidFill>
            <a:effectLst/>
          </c:spPr>
          <c:invertIfNegative val="0"/>
          <c:dLbls>
            <c:numFmt formatCode="0&quot;%&quot;"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Reactive</c:v>
                </c:pt>
                <c:pt idx="1">
                  <c:v>Foundational</c:v>
                </c:pt>
                <c:pt idx="2">
                  <c:v>Managed</c:v>
                </c:pt>
                <c:pt idx="3">
                  <c:v>Integrated</c:v>
                </c:pt>
                <c:pt idx="4">
                  <c:v>Advanced</c:v>
                </c:pt>
              </c:strCache>
            </c:strRef>
          </c:cat>
          <c:val>
            <c:numRef>
              <c:f>Sheet1!$C$2:$C$6</c:f>
              <c:numCache>
                <c:formatCode>General</c:formatCode>
                <c:ptCount val="5"/>
                <c:pt idx="0">
                  <c:v>4</c:v>
                </c:pt>
                <c:pt idx="1">
                  <c:v>4</c:v>
                </c:pt>
                <c:pt idx="2">
                  <c:v>20</c:v>
                </c:pt>
                <c:pt idx="3">
                  <c:v>32</c:v>
                </c:pt>
                <c:pt idx="4">
                  <c:v>40</c:v>
                </c:pt>
              </c:numCache>
            </c:numRef>
          </c:val>
          <c:extLst>
            <c:ext xmlns:c16="http://schemas.microsoft.com/office/drawing/2014/chart" uri="{C3380CC4-5D6E-409C-BE32-E72D297353CC}">
              <c16:uniqueId val="{00000001-3DA4-4792-AA7B-9778CD702818}"/>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950"/>
          </a:pPr>
          <a:endParaRPr lang="en-US"/>
        </a:p>
      </c:txPr>
    </c:legend>
    <c:plotVisOnly val="1"/>
    <c:dispBlanksAs val="span"/>
    <c:showDLblsOverMax val="1"/>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Reactive</c:v>
                </c:pt>
                <c:pt idx="1">
                  <c:v>Foundational</c:v>
                </c:pt>
                <c:pt idx="2">
                  <c:v>Managed</c:v>
                </c:pt>
                <c:pt idx="3">
                  <c:v>Integrated</c:v>
                </c:pt>
                <c:pt idx="4">
                  <c:v>Advanced</c:v>
                </c:pt>
              </c:strCache>
            </c:strRef>
          </c:cat>
          <c:val>
            <c:numRef>
              <c:f>Sheet1!$B$2:$B$6</c:f>
              <c:numCache>
                <c:formatCode>General</c:formatCode>
                <c:ptCount val="5"/>
                <c:pt idx="0">
                  <c:v>0</c:v>
                </c:pt>
                <c:pt idx="1">
                  <c:v>0</c:v>
                </c:pt>
                <c:pt idx="2">
                  <c:v>8</c:v>
                </c:pt>
                <c:pt idx="3">
                  <c:v>45</c:v>
                </c:pt>
                <c:pt idx="4">
                  <c:v>48</c:v>
                </c:pt>
              </c:numCache>
            </c:numRef>
          </c:val>
          <c:extLst>
            <c:ext xmlns:c16="http://schemas.microsoft.com/office/drawing/2014/chart" uri="{C3380CC4-5D6E-409C-BE32-E72D297353CC}">
              <c16:uniqueId val="{00000000-F446-4490-86FF-DEE5AB90EC6A}"/>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Large Financial Institution (n=35)</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Reactive</c:v>
                </c:pt>
                <c:pt idx="1">
                  <c:v>Foundational</c:v>
                </c:pt>
                <c:pt idx="2">
                  <c:v>Managed</c:v>
                </c:pt>
                <c:pt idx="3">
                  <c:v>Integrated</c:v>
                </c:pt>
                <c:pt idx="4">
                  <c:v>Advanced</c:v>
                </c:pt>
              </c:strCache>
            </c:strRef>
          </c:cat>
          <c:val>
            <c:numRef>
              <c:f>Sheet1!$B$2:$B$6</c:f>
              <c:numCache>
                <c:formatCode>General</c:formatCode>
                <c:ptCount val="5"/>
                <c:pt idx="0">
                  <c:v>0</c:v>
                </c:pt>
                <c:pt idx="1">
                  <c:v>11</c:v>
                </c:pt>
                <c:pt idx="2">
                  <c:v>11</c:v>
                </c:pt>
                <c:pt idx="3">
                  <c:v>51</c:v>
                </c:pt>
                <c:pt idx="4">
                  <c:v>26</c:v>
                </c:pt>
              </c:numCache>
            </c:numRef>
          </c:val>
          <c:extLst>
            <c:ext xmlns:c16="http://schemas.microsoft.com/office/drawing/2014/chart" uri="{C3380CC4-5D6E-409C-BE32-E72D297353CC}">
              <c16:uniqueId val="{00000000-2034-445D-82EB-0A261BD25C5A}"/>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046A38"/>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Reactive</c:v>
                </c:pt>
                <c:pt idx="1">
                  <c:v>Foundational</c:v>
                </c:pt>
                <c:pt idx="2">
                  <c:v>Managed</c:v>
                </c:pt>
                <c:pt idx="3">
                  <c:v>Integrated</c:v>
                </c:pt>
                <c:pt idx="4">
                  <c:v>Advanced</c:v>
                </c:pt>
              </c:strCache>
            </c:strRef>
          </c:cat>
          <c:val>
            <c:numRef>
              <c:f>Sheet1!$B$2:$B$6</c:f>
              <c:numCache>
                <c:formatCode>General</c:formatCode>
                <c:ptCount val="5"/>
                <c:pt idx="0">
                  <c:v>0</c:v>
                </c:pt>
                <c:pt idx="1">
                  <c:v>7</c:v>
                </c:pt>
                <c:pt idx="2">
                  <c:v>13</c:v>
                </c:pt>
                <c:pt idx="3">
                  <c:v>33</c:v>
                </c:pt>
                <c:pt idx="4">
                  <c:v>47</c:v>
                </c:pt>
              </c:numCache>
            </c:numRef>
          </c:val>
          <c:extLst>
            <c:ext xmlns:c16="http://schemas.microsoft.com/office/drawing/2014/chart" uri="{C3380CC4-5D6E-409C-BE32-E72D297353CC}">
              <c16:uniqueId val="{00000000-FB53-4258-B194-D2AB241701FD}"/>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Large Insurance Carrier (n=10)</c:v>
                </c:pt>
              </c:strCache>
            </c:strRef>
          </c:tx>
          <c:spPr>
            <a:solidFill>
              <a:srgbClr val="046A38"/>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Reactive</c:v>
                </c:pt>
                <c:pt idx="1">
                  <c:v>Foundational</c:v>
                </c:pt>
                <c:pt idx="2">
                  <c:v>Managed</c:v>
                </c:pt>
                <c:pt idx="3">
                  <c:v>Integrated</c:v>
                </c:pt>
                <c:pt idx="4">
                  <c:v>Advanced</c:v>
                </c:pt>
              </c:strCache>
            </c:strRef>
          </c:cat>
          <c:val>
            <c:numRef>
              <c:f>Sheet1!$B$2:$B$6</c:f>
              <c:numCache>
                <c:formatCode>General</c:formatCode>
                <c:ptCount val="5"/>
                <c:pt idx="0">
                  <c:v>10</c:v>
                </c:pt>
                <c:pt idx="1">
                  <c:v>0</c:v>
                </c:pt>
                <c:pt idx="2">
                  <c:v>30</c:v>
                </c:pt>
                <c:pt idx="3">
                  <c:v>30</c:v>
                </c:pt>
                <c:pt idx="4">
                  <c:v>30</c:v>
                </c:pt>
              </c:numCache>
            </c:numRef>
          </c:val>
          <c:extLst>
            <c:ext xmlns:c16="http://schemas.microsoft.com/office/drawing/2014/chart" uri="{C3380CC4-5D6E-409C-BE32-E72D297353CC}">
              <c16:uniqueId val="{00000000-E196-448A-BAFB-E59434A8F6D9}"/>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AI-enabled tools augmentation</c:v>
                </c:pt>
                <c:pt idx="1">
                  <c:v>Automating workflows</c:v>
                </c:pt>
                <c:pt idx="2">
                  <c:v>Redesigning processes &amp; playbooks</c:v>
                </c:pt>
                <c:pt idx="3">
                  <c:v>Outsourcing</c:v>
                </c:pt>
                <c:pt idx="4">
                  <c:v>Hiring / workforce expansion</c:v>
                </c:pt>
                <c:pt idx="5">
                  <c:v>Combination of approaches</c:v>
                </c:pt>
              </c:strCache>
            </c:strRef>
          </c:cat>
          <c:val>
            <c:numRef>
              <c:f>Sheet1!$B$2:$B$7</c:f>
              <c:numCache>
                <c:formatCode>General</c:formatCode>
                <c:ptCount val="6"/>
                <c:pt idx="0">
                  <c:v>34</c:v>
                </c:pt>
                <c:pt idx="1">
                  <c:v>29</c:v>
                </c:pt>
                <c:pt idx="2">
                  <c:v>10</c:v>
                </c:pt>
                <c:pt idx="3">
                  <c:v>10</c:v>
                </c:pt>
                <c:pt idx="4">
                  <c:v>10</c:v>
                </c:pt>
                <c:pt idx="5">
                  <c:v>7</c:v>
                </c:pt>
              </c:numCache>
            </c:numRef>
          </c:val>
          <c:extLst>
            <c:ext xmlns:c16="http://schemas.microsoft.com/office/drawing/2014/chart" uri="{C3380CC4-5D6E-409C-BE32-E72D297353CC}">
              <c16:uniqueId val="{00000000-48A5-416A-9C1A-C23589C7063F}"/>
            </c:ext>
          </c:extLst>
        </c:ser>
        <c:ser>
          <c:idx val="1"/>
          <c:order val="1"/>
          <c:tx>
            <c:strRef>
              <c:f>Sheet1!$C$1</c:f>
              <c:strCache>
                <c:ptCount val="1"/>
                <c:pt idx="0">
                  <c:v>3-year focus</c:v>
                </c:pt>
              </c:strCache>
            </c:strRef>
          </c:tx>
          <c:spPr>
            <a:solidFill>
              <a:srgbClr val="046A38"/>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AI-enabled tools augmentation</c:v>
                </c:pt>
                <c:pt idx="1">
                  <c:v>Automating workflows</c:v>
                </c:pt>
                <c:pt idx="2">
                  <c:v>Redesigning processes &amp; playbooks</c:v>
                </c:pt>
                <c:pt idx="3">
                  <c:v>Outsourcing</c:v>
                </c:pt>
                <c:pt idx="4">
                  <c:v>Hiring / workforce expansion</c:v>
                </c:pt>
                <c:pt idx="5">
                  <c:v>Combination of approaches</c:v>
                </c:pt>
              </c:strCache>
            </c:strRef>
          </c:cat>
          <c:val>
            <c:numRef>
              <c:f>Sheet1!$C$2:$C$7</c:f>
              <c:numCache>
                <c:formatCode>General</c:formatCode>
                <c:ptCount val="6"/>
                <c:pt idx="0">
                  <c:v>41</c:v>
                </c:pt>
                <c:pt idx="1">
                  <c:v>27</c:v>
                </c:pt>
                <c:pt idx="2">
                  <c:v>18</c:v>
                </c:pt>
                <c:pt idx="3">
                  <c:v>7</c:v>
                </c:pt>
                <c:pt idx="4">
                  <c:v>5</c:v>
                </c:pt>
                <c:pt idx="5">
                  <c:v>2</c:v>
                </c:pt>
              </c:numCache>
            </c:numRef>
          </c:val>
          <c:extLst>
            <c:ext xmlns:c16="http://schemas.microsoft.com/office/drawing/2014/chart" uri="{C3380CC4-5D6E-409C-BE32-E72D297353CC}">
              <c16:uniqueId val="{00000001-48A5-416A-9C1A-C23589C7063F}"/>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1000"/>
          </a:pPr>
          <a:endParaRPr lang="en-US"/>
        </a:p>
      </c:txPr>
    </c:legend>
    <c:plotVisOnly val="1"/>
    <c:dispBlanksAs val="span"/>
    <c:showDLblsOverMax val="1"/>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spPr>
              <a:noFill/>
              <a:ln>
                <a:noFill/>
              </a:ln>
              <a:effectLst/>
            </c:spPr>
            <c:txPr>
              <a:bodyPr/>
              <a:lstStyle/>
              <a:p>
                <a:pPr>
                  <a:defRPr sz="8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AI-enabled tools</c:v>
                </c:pt>
                <c:pt idx="1">
                  <c:v>Automating workflows</c:v>
                </c:pt>
                <c:pt idx="2">
                  <c:v>Redesigning processes</c:v>
                </c:pt>
                <c:pt idx="3">
                  <c:v>Outsourcing</c:v>
                </c:pt>
                <c:pt idx="4">
                  <c:v>Hiring / workforce</c:v>
                </c:pt>
                <c:pt idx="5">
                  <c:v>Combination</c:v>
                </c:pt>
              </c:strCache>
            </c:strRef>
          </c:cat>
          <c:val>
            <c:numRef>
              <c:f>Sheet1!$B$2:$B$7</c:f>
              <c:numCache>
                <c:formatCode>General</c:formatCode>
                <c:ptCount val="6"/>
                <c:pt idx="0">
                  <c:v>35</c:v>
                </c:pt>
                <c:pt idx="1">
                  <c:v>32</c:v>
                </c:pt>
                <c:pt idx="2">
                  <c:v>8</c:v>
                </c:pt>
                <c:pt idx="3">
                  <c:v>5</c:v>
                </c:pt>
                <c:pt idx="4">
                  <c:v>5</c:v>
                </c:pt>
                <c:pt idx="5">
                  <c:v>15</c:v>
                </c:pt>
              </c:numCache>
            </c:numRef>
          </c:val>
          <c:extLst>
            <c:ext xmlns:c16="http://schemas.microsoft.com/office/drawing/2014/chart" uri="{C3380CC4-5D6E-409C-BE32-E72D297353CC}">
              <c16:uniqueId val="{00000000-771B-411A-A1F5-C9C92C85141E}"/>
            </c:ext>
          </c:extLst>
        </c:ser>
        <c:ser>
          <c:idx val="1"/>
          <c:order val="1"/>
          <c:tx>
            <c:strRef>
              <c:f>Sheet1!$C$1</c:f>
              <c:strCache>
                <c:ptCount val="1"/>
                <c:pt idx="0">
                  <c:v>3-Year Focus</c:v>
                </c:pt>
              </c:strCache>
            </c:strRef>
          </c:tx>
          <c:spPr>
            <a:solidFill>
              <a:srgbClr val="046A38"/>
            </a:solidFill>
            <a:effectLst/>
          </c:spPr>
          <c:invertIfNegative val="0"/>
          <c:dLbls>
            <c:numFmt formatCode="0&quot;%&quot;" sourceLinked="0"/>
            <c:spPr>
              <a:noFill/>
              <a:ln>
                <a:noFill/>
              </a:ln>
              <a:effectLst/>
            </c:spPr>
            <c:txPr>
              <a:bodyPr/>
              <a:lstStyle/>
              <a:p>
                <a:pPr>
                  <a:defRPr sz="8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AI-enabled tools</c:v>
                </c:pt>
                <c:pt idx="1">
                  <c:v>Automating workflows</c:v>
                </c:pt>
                <c:pt idx="2">
                  <c:v>Redesigning processes</c:v>
                </c:pt>
                <c:pt idx="3">
                  <c:v>Outsourcing</c:v>
                </c:pt>
                <c:pt idx="4">
                  <c:v>Hiring / workforce</c:v>
                </c:pt>
                <c:pt idx="5">
                  <c:v>Combination</c:v>
                </c:pt>
              </c:strCache>
            </c:strRef>
          </c:cat>
          <c:val>
            <c:numRef>
              <c:f>Sheet1!$C$2:$C$7</c:f>
              <c:numCache>
                <c:formatCode>General</c:formatCode>
                <c:ptCount val="6"/>
                <c:pt idx="0">
                  <c:v>40</c:v>
                </c:pt>
                <c:pt idx="1">
                  <c:v>32</c:v>
                </c:pt>
                <c:pt idx="2">
                  <c:v>15</c:v>
                </c:pt>
                <c:pt idx="3">
                  <c:v>8</c:v>
                </c:pt>
                <c:pt idx="4">
                  <c:v>2</c:v>
                </c:pt>
                <c:pt idx="5">
                  <c:v>2</c:v>
                </c:pt>
              </c:numCache>
            </c:numRef>
          </c:val>
          <c:extLst>
            <c:ext xmlns:c16="http://schemas.microsoft.com/office/drawing/2014/chart" uri="{C3380CC4-5D6E-409C-BE32-E72D297353CC}">
              <c16:uniqueId val="{00000001-771B-411A-A1F5-C9C92C85141E}"/>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900"/>
          </a:pPr>
          <a:endParaRPr lang="en-US"/>
        </a:p>
      </c:txPr>
    </c:legend>
    <c:plotVisOnly val="1"/>
    <c:dispBlanksAs val="span"/>
    <c:showDLblsOverMax val="1"/>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spPr>
              <a:noFill/>
              <a:ln>
                <a:noFill/>
              </a:ln>
              <a:effectLst/>
            </c:spPr>
            <c:txPr>
              <a:bodyPr/>
              <a:lstStyle/>
              <a:p>
                <a:pPr>
                  <a:defRPr sz="8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AI-enabled tools</c:v>
                </c:pt>
                <c:pt idx="1">
                  <c:v>Automating workflows</c:v>
                </c:pt>
                <c:pt idx="2">
                  <c:v>Redesigning processes</c:v>
                </c:pt>
                <c:pt idx="3">
                  <c:v>Outsourcing</c:v>
                </c:pt>
                <c:pt idx="4">
                  <c:v>Hiring / workforce</c:v>
                </c:pt>
                <c:pt idx="5">
                  <c:v>Combination</c:v>
                </c:pt>
              </c:strCache>
            </c:strRef>
          </c:cat>
          <c:val>
            <c:numRef>
              <c:f>Sheet1!$B$2:$B$7</c:f>
              <c:numCache>
                <c:formatCode>General</c:formatCode>
                <c:ptCount val="6"/>
                <c:pt idx="0">
                  <c:v>34</c:v>
                </c:pt>
                <c:pt idx="1">
                  <c:v>26</c:v>
                </c:pt>
                <c:pt idx="2">
                  <c:v>11</c:v>
                </c:pt>
                <c:pt idx="3">
                  <c:v>11</c:v>
                </c:pt>
                <c:pt idx="4">
                  <c:v>14</c:v>
                </c:pt>
                <c:pt idx="5">
                  <c:v>3</c:v>
                </c:pt>
              </c:numCache>
            </c:numRef>
          </c:val>
          <c:extLst>
            <c:ext xmlns:c16="http://schemas.microsoft.com/office/drawing/2014/chart" uri="{C3380CC4-5D6E-409C-BE32-E72D297353CC}">
              <c16:uniqueId val="{00000000-EC83-4BFF-9CE4-DC254BBBE09D}"/>
            </c:ext>
          </c:extLst>
        </c:ser>
        <c:ser>
          <c:idx val="1"/>
          <c:order val="1"/>
          <c:tx>
            <c:strRef>
              <c:f>Sheet1!$C$1</c:f>
              <c:strCache>
                <c:ptCount val="1"/>
                <c:pt idx="0">
                  <c:v>3-Year Focus</c:v>
                </c:pt>
              </c:strCache>
            </c:strRef>
          </c:tx>
          <c:spPr>
            <a:solidFill>
              <a:srgbClr val="046A38"/>
            </a:solidFill>
            <a:effectLst/>
          </c:spPr>
          <c:invertIfNegative val="0"/>
          <c:dLbls>
            <c:numFmt formatCode="0&quot;%&quot;" sourceLinked="0"/>
            <c:spPr>
              <a:noFill/>
              <a:ln>
                <a:noFill/>
              </a:ln>
              <a:effectLst/>
            </c:spPr>
            <c:txPr>
              <a:bodyPr/>
              <a:lstStyle/>
              <a:p>
                <a:pPr>
                  <a:defRPr sz="8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AI-enabled tools</c:v>
                </c:pt>
                <c:pt idx="1">
                  <c:v>Automating workflows</c:v>
                </c:pt>
                <c:pt idx="2">
                  <c:v>Redesigning processes</c:v>
                </c:pt>
                <c:pt idx="3">
                  <c:v>Outsourcing</c:v>
                </c:pt>
                <c:pt idx="4">
                  <c:v>Hiring / workforce</c:v>
                </c:pt>
                <c:pt idx="5">
                  <c:v>Combination</c:v>
                </c:pt>
              </c:strCache>
            </c:strRef>
          </c:cat>
          <c:val>
            <c:numRef>
              <c:f>Sheet1!$C$2:$C$7</c:f>
              <c:numCache>
                <c:formatCode>General</c:formatCode>
                <c:ptCount val="6"/>
                <c:pt idx="0">
                  <c:v>43</c:v>
                </c:pt>
                <c:pt idx="1">
                  <c:v>20</c:v>
                </c:pt>
                <c:pt idx="2">
                  <c:v>17</c:v>
                </c:pt>
                <c:pt idx="3">
                  <c:v>9</c:v>
                </c:pt>
                <c:pt idx="4">
                  <c:v>9</c:v>
                </c:pt>
                <c:pt idx="5">
                  <c:v>3</c:v>
                </c:pt>
              </c:numCache>
            </c:numRef>
          </c:val>
          <c:extLst>
            <c:ext xmlns:c16="http://schemas.microsoft.com/office/drawing/2014/chart" uri="{C3380CC4-5D6E-409C-BE32-E72D297353CC}">
              <c16:uniqueId val="{00000001-EC83-4BFF-9CE4-DC254BBBE09D}"/>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900"/>
          </a:pPr>
          <a:endParaRPr lang="en-US"/>
        </a:p>
      </c:txPr>
    </c:legend>
    <c:plotVisOnly val="1"/>
    <c:dispBlanksAs val="span"/>
    <c:showDLblsOverMax val="1"/>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spPr>
              <a:noFill/>
              <a:ln>
                <a:noFill/>
              </a:ln>
              <a:effectLst/>
            </c:spPr>
            <c:txPr>
              <a:bodyPr/>
              <a:lstStyle/>
              <a:p>
                <a:pPr>
                  <a:defRPr sz="8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AI-enabled tools</c:v>
                </c:pt>
                <c:pt idx="1">
                  <c:v>Automating workflows</c:v>
                </c:pt>
                <c:pt idx="2">
                  <c:v>Redesigning processes</c:v>
                </c:pt>
                <c:pt idx="3">
                  <c:v>Outsourcing</c:v>
                </c:pt>
                <c:pt idx="4">
                  <c:v>Hiring / workforce</c:v>
                </c:pt>
                <c:pt idx="5">
                  <c:v>Combination</c:v>
                </c:pt>
              </c:strCache>
            </c:strRef>
          </c:cat>
          <c:val>
            <c:numRef>
              <c:f>Sheet1!$B$2:$B$7</c:f>
              <c:numCache>
                <c:formatCode>General</c:formatCode>
                <c:ptCount val="6"/>
                <c:pt idx="0">
                  <c:v>47</c:v>
                </c:pt>
                <c:pt idx="1">
                  <c:v>33</c:v>
                </c:pt>
                <c:pt idx="2">
                  <c:v>7</c:v>
                </c:pt>
                <c:pt idx="3">
                  <c:v>7</c:v>
                </c:pt>
                <c:pt idx="4">
                  <c:v>7</c:v>
                </c:pt>
                <c:pt idx="5">
                  <c:v>0</c:v>
                </c:pt>
              </c:numCache>
            </c:numRef>
          </c:val>
          <c:extLst>
            <c:ext xmlns:c16="http://schemas.microsoft.com/office/drawing/2014/chart" uri="{C3380CC4-5D6E-409C-BE32-E72D297353CC}">
              <c16:uniqueId val="{00000000-3012-4EC5-8D3C-0DE7CA3F7CC2}"/>
            </c:ext>
          </c:extLst>
        </c:ser>
        <c:ser>
          <c:idx val="1"/>
          <c:order val="1"/>
          <c:tx>
            <c:strRef>
              <c:f>Sheet1!$C$1</c:f>
              <c:strCache>
                <c:ptCount val="1"/>
                <c:pt idx="0">
                  <c:v>3-Year Focus</c:v>
                </c:pt>
              </c:strCache>
            </c:strRef>
          </c:tx>
          <c:spPr>
            <a:solidFill>
              <a:srgbClr val="046A38"/>
            </a:solidFill>
            <a:effectLst/>
          </c:spPr>
          <c:invertIfNegative val="0"/>
          <c:dLbls>
            <c:numFmt formatCode="0&quot;%&quot;" sourceLinked="0"/>
            <c:spPr>
              <a:noFill/>
              <a:ln>
                <a:noFill/>
              </a:ln>
              <a:effectLst/>
            </c:spPr>
            <c:txPr>
              <a:bodyPr/>
              <a:lstStyle/>
              <a:p>
                <a:pPr>
                  <a:defRPr sz="8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AI-enabled tools</c:v>
                </c:pt>
                <c:pt idx="1">
                  <c:v>Automating workflows</c:v>
                </c:pt>
                <c:pt idx="2">
                  <c:v>Redesigning processes</c:v>
                </c:pt>
                <c:pt idx="3">
                  <c:v>Outsourcing</c:v>
                </c:pt>
                <c:pt idx="4">
                  <c:v>Hiring / workforce</c:v>
                </c:pt>
                <c:pt idx="5">
                  <c:v>Combination</c:v>
                </c:pt>
              </c:strCache>
            </c:strRef>
          </c:cat>
          <c:val>
            <c:numRef>
              <c:f>Sheet1!$C$2:$C$7</c:f>
              <c:numCache>
                <c:formatCode>General</c:formatCode>
                <c:ptCount val="6"/>
                <c:pt idx="0">
                  <c:v>40</c:v>
                </c:pt>
                <c:pt idx="1">
                  <c:v>27</c:v>
                </c:pt>
                <c:pt idx="2">
                  <c:v>27</c:v>
                </c:pt>
                <c:pt idx="3">
                  <c:v>7</c:v>
                </c:pt>
                <c:pt idx="4">
                  <c:v>0</c:v>
                </c:pt>
                <c:pt idx="5">
                  <c:v>0</c:v>
                </c:pt>
              </c:numCache>
            </c:numRef>
          </c:val>
          <c:extLst>
            <c:ext xmlns:c16="http://schemas.microsoft.com/office/drawing/2014/chart" uri="{C3380CC4-5D6E-409C-BE32-E72D297353CC}">
              <c16:uniqueId val="{00000001-3012-4EC5-8D3C-0DE7CA3F7CC2}"/>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900"/>
          </a:pPr>
          <a:endParaRPr lang="en-US"/>
        </a:p>
      </c:txPr>
    </c:legend>
    <c:plotVisOnly val="1"/>
    <c:dispBlanksAs val="span"/>
    <c:showDLblsOverMax val="1"/>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spPr>
              <a:noFill/>
              <a:ln>
                <a:noFill/>
              </a:ln>
              <a:effectLst/>
            </c:spPr>
            <c:txPr>
              <a:bodyPr/>
              <a:lstStyle/>
              <a:p>
                <a:pPr>
                  <a:defRPr sz="8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AI-enabled tools</c:v>
                </c:pt>
                <c:pt idx="1">
                  <c:v>Automating workflows</c:v>
                </c:pt>
                <c:pt idx="2">
                  <c:v>Redesigning processes</c:v>
                </c:pt>
                <c:pt idx="3">
                  <c:v>Outsourcing</c:v>
                </c:pt>
                <c:pt idx="4">
                  <c:v>Hiring / workforce</c:v>
                </c:pt>
                <c:pt idx="5">
                  <c:v>Combination</c:v>
                </c:pt>
              </c:strCache>
            </c:strRef>
          </c:cat>
          <c:val>
            <c:numRef>
              <c:f>Sheet1!$B$2:$B$7</c:f>
              <c:numCache>
                <c:formatCode>General</c:formatCode>
                <c:ptCount val="6"/>
                <c:pt idx="0">
                  <c:v>10</c:v>
                </c:pt>
                <c:pt idx="1">
                  <c:v>20</c:v>
                </c:pt>
                <c:pt idx="2">
                  <c:v>20</c:v>
                </c:pt>
                <c:pt idx="3">
                  <c:v>30</c:v>
                </c:pt>
                <c:pt idx="4">
                  <c:v>20</c:v>
                </c:pt>
                <c:pt idx="5">
                  <c:v>0</c:v>
                </c:pt>
              </c:numCache>
            </c:numRef>
          </c:val>
          <c:extLst>
            <c:ext xmlns:c16="http://schemas.microsoft.com/office/drawing/2014/chart" uri="{C3380CC4-5D6E-409C-BE32-E72D297353CC}">
              <c16:uniqueId val="{00000000-966E-4EA4-86D9-F5DA8E9EF730}"/>
            </c:ext>
          </c:extLst>
        </c:ser>
        <c:ser>
          <c:idx val="1"/>
          <c:order val="1"/>
          <c:tx>
            <c:strRef>
              <c:f>Sheet1!$C$1</c:f>
              <c:strCache>
                <c:ptCount val="1"/>
                <c:pt idx="0">
                  <c:v>3-Year Focus</c:v>
                </c:pt>
              </c:strCache>
            </c:strRef>
          </c:tx>
          <c:spPr>
            <a:solidFill>
              <a:srgbClr val="046A38"/>
            </a:solidFill>
            <a:effectLst/>
          </c:spPr>
          <c:invertIfNegative val="0"/>
          <c:dLbls>
            <c:numFmt formatCode="0&quot;%&quot;" sourceLinked="0"/>
            <c:spPr>
              <a:noFill/>
              <a:ln>
                <a:noFill/>
              </a:ln>
              <a:effectLst/>
            </c:spPr>
            <c:txPr>
              <a:bodyPr/>
              <a:lstStyle/>
              <a:p>
                <a:pPr>
                  <a:defRPr sz="8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AI-enabled tools</c:v>
                </c:pt>
                <c:pt idx="1">
                  <c:v>Automating workflows</c:v>
                </c:pt>
                <c:pt idx="2">
                  <c:v>Redesigning processes</c:v>
                </c:pt>
                <c:pt idx="3">
                  <c:v>Outsourcing</c:v>
                </c:pt>
                <c:pt idx="4">
                  <c:v>Hiring / workforce</c:v>
                </c:pt>
                <c:pt idx="5">
                  <c:v>Combination</c:v>
                </c:pt>
              </c:strCache>
            </c:strRef>
          </c:cat>
          <c:val>
            <c:numRef>
              <c:f>Sheet1!$C$2:$C$7</c:f>
              <c:numCache>
                <c:formatCode>General</c:formatCode>
                <c:ptCount val="6"/>
                <c:pt idx="0">
                  <c:v>40</c:v>
                </c:pt>
                <c:pt idx="1">
                  <c:v>30</c:v>
                </c:pt>
                <c:pt idx="2">
                  <c:v>20</c:v>
                </c:pt>
                <c:pt idx="3">
                  <c:v>0</c:v>
                </c:pt>
                <c:pt idx="4">
                  <c:v>10</c:v>
                </c:pt>
                <c:pt idx="5">
                  <c:v>0</c:v>
                </c:pt>
              </c:numCache>
            </c:numRef>
          </c:val>
          <c:extLst>
            <c:ext xmlns:c16="http://schemas.microsoft.com/office/drawing/2014/chart" uri="{C3380CC4-5D6E-409C-BE32-E72D297353CC}">
              <c16:uniqueId val="{00000001-966E-4EA4-86D9-F5DA8E9EF730}"/>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900"/>
          </a:pPr>
          <a:endParaRPr lang="en-US"/>
        </a:p>
      </c:txPr>
    </c:legend>
    <c:plotVisOnly val="1"/>
    <c:dispBlanksAs val="span"/>
    <c:showDLblsOverMax val="1"/>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Investing to remediate existing compliance gaps</c:v>
                </c:pt>
                <c:pt idx="1">
                  <c:v>Investing to meet upcoming / draft regulations</c:v>
                </c:pt>
                <c:pt idx="2">
                  <c:v>Regulation not a primary driver</c:v>
                </c:pt>
              </c:strCache>
            </c:strRef>
          </c:cat>
          <c:val>
            <c:numRef>
              <c:f>Sheet1!$B$2:$B$4</c:f>
              <c:numCache>
                <c:formatCode>General</c:formatCode>
                <c:ptCount val="3"/>
                <c:pt idx="0">
                  <c:v>48</c:v>
                </c:pt>
                <c:pt idx="1">
                  <c:v>39</c:v>
                </c:pt>
                <c:pt idx="2">
                  <c:v>13</c:v>
                </c:pt>
              </c:numCache>
            </c:numRef>
          </c:val>
          <c:extLst>
            <c:ext xmlns:c16="http://schemas.microsoft.com/office/drawing/2014/chart" uri="{C3380CC4-5D6E-409C-BE32-E72D297353CC}">
              <c16:uniqueId val="{00000000-DDB9-408B-8BF1-DAD08736205B}"/>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spPr>
              <a:noFill/>
              <a:ln>
                <a:noFill/>
              </a:ln>
              <a:effectLst/>
            </c:spPr>
            <c:txPr>
              <a:bodyPr/>
              <a:lstStyle/>
              <a:p>
                <a:pPr>
                  <a:defRPr sz="7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Remediate gaps</c:v>
                </c:pt>
                <c:pt idx="1">
                  <c:v>Meet upcoming regs</c:v>
                </c:pt>
                <c:pt idx="2">
                  <c:v>Not primary driver</c:v>
                </c:pt>
              </c:strCache>
            </c:strRef>
          </c:cat>
          <c:val>
            <c:numRef>
              <c:f>Sheet1!$B$2:$B$4</c:f>
              <c:numCache>
                <c:formatCode>General</c:formatCode>
                <c:ptCount val="3"/>
                <c:pt idx="0">
                  <c:v>41</c:v>
                </c:pt>
                <c:pt idx="1">
                  <c:v>43</c:v>
                </c:pt>
                <c:pt idx="2">
                  <c:v>16</c:v>
                </c:pt>
              </c:numCache>
            </c:numRef>
          </c:val>
          <c:extLst>
            <c:ext xmlns:c16="http://schemas.microsoft.com/office/drawing/2014/chart" uri="{C3380CC4-5D6E-409C-BE32-E72D297353CC}">
              <c16:uniqueId val="{00000000-6E02-4C3F-AA9F-1554A0FCCEAA}"/>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spPr>
              <a:noFill/>
              <a:ln>
                <a:noFill/>
              </a:ln>
              <a:effectLst/>
            </c:spPr>
            <c:txPr>
              <a:bodyPr/>
              <a:lstStyle/>
              <a:p>
                <a:pPr>
                  <a:defRPr sz="7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Remediate gaps</c:v>
                </c:pt>
                <c:pt idx="1">
                  <c:v>Meet upcoming regs</c:v>
                </c:pt>
                <c:pt idx="2">
                  <c:v>Not primary driver</c:v>
                </c:pt>
              </c:strCache>
            </c:strRef>
          </c:cat>
          <c:val>
            <c:numRef>
              <c:f>Sheet1!$B$2:$B$4</c:f>
              <c:numCache>
                <c:formatCode>General</c:formatCode>
                <c:ptCount val="3"/>
                <c:pt idx="0">
                  <c:v>63</c:v>
                </c:pt>
                <c:pt idx="1">
                  <c:v>30</c:v>
                </c:pt>
                <c:pt idx="2">
                  <c:v>7</c:v>
                </c:pt>
              </c:numCache>
            </c:numRef>
          </c:val>
          <c:extLst>
            <c:ext xmlns:c16="http://schemas.microsoft.com/office/drawing/2014/chart" uri="{C3380CC4-5D6E-409C-BE32-E72D297353CC}">
              <c16:uniqueId val="{00000000-6ADD-4DBF-BB89-0DC68E583CAC}"/>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spPr>
              <a:noFill/>
              <a:ln>
                <a:noFill/>
              </a:ln>
              <a:effectLst/>
            </c:spPr>
            <c:txPr>
              <a:bodyPr/>
              <a:lstStyle/>
              <a:p>
                <a:pPr>
                  <a:defRPr sz="7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Remediate gaps</c:v>
                </c:pt>
                <c:pt idx="1">
                  <c:v>Meet upcoming regs</c:v>
                </c:pt>
                <c:pt idx="2">
                  <c:v>Not primary driver</c:v>
                </c:pt>
              </c:strCache>
            </c:strRef>
          </c:cat>
          <c:val>
            <c:numRef>
              <c:f>Sheet1!$B$2:$B$4</c:f>
              <c:numCache>
                <c:formatCode>General</c:formatCode>
                <c:ptCount val="3"/>
                <c:pt idx="0">
                  <c:v>36</c:v>
                </c:pt>
                <c:pt idx="1">
                  <c:v>50</c:v>
                </c:pt>
                <c:pt idx="2">
                  <c:v>14</c:v>
                </c:pt>
              </c:numCache>
            </c:numRef>
          </c:val>
          <c:extLst>
            <c:ext xmlns:c16="http://schemas.microsoft.com/office/drawing/2014/chart" uri="{C3380CC4-5D6E-409C-BE32-E72D297353CC}">
              <c16:uniqueId val="{00000000-343F-4997-90E7-6F56A94D633A}"/>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spPr>
              <a:noFill/>
              <a:ln>
                <a:noFill/>
              </a:ln>
              <a:effectLst/>
            </c:spPr>
            <c:txPr>
              <a:bodyPr/>
              <a:lstStyle/>
              <a:p>
                <a:pPr>
                  <a:defRPr sz="7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Remediate gaps</c:v>
                </c:pt>
                <c:pt idx="1">
                  <c:v>Meet upcoming regs</c:v>
                </c:pt>
                <c:pt idx="2">
                  <c:v>Not primary driver</c:v>
                </c:pt>
              </c:strCache>
            </c:strRef>
          </c:cat>
          <c:val>
            <c:numRef>
              <c:f>Sheet1!$B$2:$B$4</c:f>
              <c:numCache>
                <c:formatCode>General</c:formatCode>
                <c:ptCount val="3"/>
                <c:pt idx="0">
                  <c:v>63</c:v>
                </c:pt>
                <c:pt idx="1">
                  <c:v>25</c:v>
                </c:pt>
                <c:pt idx="2">
                  <c:v>13</c:v>
                </c:pt>
              </c:numCache>
            </c:numRef>
          </c:val>
          <c:extLst>
            <c:ext xmlns:c16="http://schemas.microsoft.com/office/drawing/2014/chart" uri="{C3380CC4-5D6E-409C-BE32-E72D297353CC}">
              <c16:uniqueId val="{00000000-A887-4CD0-B65A-5062BB7E41E8}"/>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spPr>
              <a:noFill/>
              <a:ln>
                <a:noFill/>
              </a:ln>
              <a:effectLst/>
            </c:spPr>
            <c:txPr>
              <a:bodyPr/>
              <a:lstStyle/>
              <a:p>
                <a:pPr>
                  <a:defRPr sz="7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Remediate gaps</c:v>
                </c:pt>
                <c:pt idx="1">
                  <c:v>Meet upcoming regs</c:v>
                </c:pt>
                <c:pt idx="2">
                  <c:v>Not primary driver</c:v>
                </c:pt>
              </c:strCache>
            </c:strRef>
          </c:cat>
          <c:val>
            <c:numRef>
              <c:f>Sheet1!$B$2:$B$4</c:f>
              <c:numCache>
                <c:formatCode>General</c:formatCode>
                <c:ptCount val="3"/>
                <c:pt idx="0">
                  <c:v>25</c:v>
                </c:pt>
                <c:pt idx="1">
                  <c:v>50</c:v>
                </c:pt>
                <c:pt idx="2">
                  <c:v>25</c:v>
                </c:pt>
              </c:numCache>
            </c:numRef>
          </c:val>
          <c:extLst>
            <c:ext xmlns:c16="http://schemas.microsoft.com/office/drawing/2014/chart" uri="{C3380CC4-5D6E-409C-BE32-E72D297353CC}">
              <c16:uniqueId val="{00000000-B330-40AF-A60C-3F3A5F0CB98E}"/>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Investing to remediate existing compliance gaps</c:v>
                </c:pt>
                <c:pt idx="1">
                  <c:v>Investing to meet upcoming / draft regulations</c:v>
                </c:pt>
                <c:pt idx="2">
                  <c:v>Regulation not a primary driver</c:v>
                </c:pt>
              </c:strCache>
            </c:strRef>
          </c:cat>
          <c:val>
            <c:numRef>
              <c:f>Sheet1!$B$2:$B$4</c:f>
              <c:numCache>
                <c:formatCode>General</c:formatCode>
                <c:ptCount val="3"/>
                <c:pt idx="0">
                  <c:v>33</c:v>
                </c:pt>
                <c:pt idx="1">
                  <c:v>47</c:v>
                </c:pt>
                <c:pt idx="2">
                  <c:v>20</c:v>
                </c:pt>
              </c:numCache>
            </c:numRef>
          </c:val>
          <c:extLst>
            <c:ext xmlns:c16="http://schemas.microsoft.com/office/drawing/2014/chart" uri="{C3380CC4-5D6E-409C-BE32-E72D297353CC}">
              <c16:uniqueId val="{00000000-89B2-4002-9383-860443CD2A8E}"/>
            </c:ext>
          </c:extLst>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Investing to remediate existing compliance gaps</c:v>
                </c:pt>
                <c:pt idx="1">
                  <c:v>Investing to meet upcoming / draft regulations</c:v>
                </c:pt>
                <c:pt idx="2">
                  <c:v>Regulation not a primary driver</c:v>
                </c:pt>
              </c:strCache>
            </c:strRef>
          </c:cat>
          <c:val>
            <c:numRef>
              <c:f>Sheet1!$C$2:$C$4</c:f>
              <c:numCache>
                <c:formatCode>General</c:formatCode>
                <c:ptCount val="3"/>
                <c:pt idx="0">
                  <c:v>70</c:v>
                </c:pt>
                <c:pt idx="1">
                  <c:v>30</c:v>
                </c:pt>
                <c:pt idx="2">
                  <c:v>0</c:v>
                </c:pt>
              </c:numCache>
            </c:numRef>
          </c:val>
          <c:extLst>
            <c:ext xmlns:c16="http://schemas.microsoft.com/office/drawing/2014/chart" uri="{C3380CC4-5D6E-409C-BE32-E72D297353CC}">
              <c16:uniqueId val="{00000001-89B2-4002-9383-860443CD2A8E}"/>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950"/>
          </a:pPr>
          <a:endParaRPr lang="en-US"/>
        </a:p>
      </c:txPr>
    </c:legend>
    <c:plotVisOnly val="1"/>
    <c:dispBlanksAs val="span"/>
    <c:showDLblsOverMax val="1"/>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Investing to remediate existing compliance gaps</c:v>
                </c:pt>
                <c:pt idx="1">
                  <c:v>Investing to meet upcoming / draft regulations</c:v>
                </c:pt>
                <c:pt idx="2">
                  <c:v>Regulation not a primary driver</c:v>
                </c:pt>
              </c:strCache>
            </c:strRef>
          </c:cat>
          <c:val>
            <c:numRef>
              <c:f>Sheet1!$B$2:$B$4</c:f>
              <c:numCache>
                <c:formatCode>General</c:formatCode>
                <c:ptCount val="3"/>
                <c:pt idx="0">
                  <c:v>42</c:v>
                </c:pt>
                <c:pt idx="1">
                  <c:v>48</c:v>
                </c:pt>
                <c:pt idx="2">
                  <c:v>10</c:v>
                </c:pt>
              </c:numCache>
            </c:numRef>
          </c:val>
          <c:extLst>
            <c:ext xmlns:c16="http://schemas.microsoft.com/office/drawing/2014/chart" uri="{C3380CC4-5D6E-409C-BE32-E72D297353CC}">
              <c16:uniqueId val="{00000000-BFE1-4225-8AFE-107014BB0735}"/>
            </c:ext>
          </c:extLst>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Investing to remediate existing compliance gaps</c:v>
                </c:pt>
                <c:pt idx="1">
                  <c:v>Investing to meet upcoming / draft regulations</c:v>
                </c:pt>
                <c:pt idx="2">
                  <c:v>Regulation not a primary driver</c:v>
                </c:pt>
              </c:strCache>
            </c:strRef>
          </c:cat>
          <c:val>
            <c:numRef>
              <c:f>Sheet1!$C$2:$C$4</c:f>
              <c:numCache>
                <c:formatCode>General</c:formatCode>
                <c:ptCount val="3"/>
                <c:pt idx="0">
                  <c:v>54</c:v>
                </c:pt>
                <c:pt idx="1">
                  <c:v>29</c:v>
                </c:pt>
                <c:pt idx="2">
                  <c:v>17</c:v>
                </c:pt>
              </c:numCache>
            </c:numRef>
          </c:val>
          <c:extLst>
            <c:ext xmlns:c16="http://schemas.microsoft.com/office/drawing/2014/chart" uri="{C3380CC4-5D6E-409C-BE32-E72D297353CC}">
              <c16:uniqueId val="{00000001-BFE1-4225-8AFE-107014BB0735}"/>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950"/>
          </a:pPr>
          <a:endParaRPr lang="en-US"/>
        </a:p>
      </c:txPr>
    </c:legend>
    <c:plotVisOnly val="1"/>
    <c:dispBlanksAs val="span"/>
    <c:showDLblsOverMax val="1"/>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spPr>
              <a:noFill/>
              <a:ln>
                <a:noFill/>
              </a:ln>
              <a:effectLst/>
            </c:spPr>
            <c:txPr>
              <a:bodyPr/>
              <a:lstStyle/>
              <a:p>
                <a:pPr>
                  <a:defRPr sz="10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strCache>
            </c:strRef>
          </c:cat>
          <c:val>
            <c:numRef>
              <c:f>Sheet1!$B$2:$B$7</c:f>
              <c:numCache>
                <c:formatCode>General</c:formatCode>
                <c:ptCount val="6"/>
                <c:pt idx="0">
                  <c:v>71</c:v>
                </c:pt>
                <c:pt idx="1">
                  <c:v>66</c:v>
                </c:pt>
                <c:pt idx="2">
                  <c:v>65</c:v>
                </c:pt>
                <c:pt idx="3">
                  <c:v>36</c:v>
                </c:pt>
                <c:pt idx="4">
                  <c:v>33</c:v>
                </c:pt>
                <c:pt idx="5">
                  <c:v>29</c:v>
                </c:pt>
              </c:numCache>
            </c:numRef>
          </c:val>
          <c:extLst>
            <c:ext xmlns:c16="http://schemas.microsoft.com/office/drawing/2014/chart" uri="{C3380CC4-5D6E-409C-BE32-E72D297353CC}">
              <c16:uniqueId val="{00000000-BDF4-4AF8-9B2C-196BB7A8B07D}"/>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Identity &amp; auth</c:v>
                </c:pt>
                <c:pt idx="1">
                  <c:v>Privacy &amp; AI gov.</c:v>
                </c:pt>
                <c:pt idx="2">
                  <c:v>Payment innovation</c:v>
                </c:pt>
                <c:pt idx="3">
                  <c:v>Liability changes</c:v>
                </c:pt>
                <c:pt idx="4">
                  <c:v>AML modernization</c:v>
                </c:pt>
                <c:pt idx="5">
                  <c:v>Open Banking</c:v>
                </c:pt>
              </c:strCache>
            </c:strRef>
          </c:cat>
          <c:val>
            <c:numRef>
              <c:f>Sheet1!$B$2:$B$7</c:f>
              <c:numCache>
                <c:formatCode>General</c:formatCode>
                <c:ptCount val="6"/>
                <c:pt idx="0">
                  <c:v>72</c:v>
                </c:pt>
                <c:pt idx="1">
                  <c:v>68</c:v>
                </c:pt>
                <c:pt idx="2">
                  <c:v>61</c:v>
                </c:pt>
                <c:pt idx="3">
                  <c:v>31</c:v>
                </c:pt>
                <c:pt idx="4">
                  <c:v>36</c:v>
                </c:pt>
                <c:pt idx="5">
                  <c:v>32</c:v>
                </c:pt>
              </c:numCache>
            </c:numRef>
          </c:val>
          <c:extLst>
            <c:ext xmlns:c16="http://schemas.microsoft.com/office/drawing/2014/chart" uri="{C3380CC4-5D6E-409C-BE32-E72D297353CC}">
              <c16:uniqueId val="{00000000-88FE-46F2-80C3-FB86A17469E3}"/>
            </c:ext>
          </c:extLst>
        </c:ser>
        <c:ser>
          <c:idx val="1"/>
          <c:order val="1"/>
          <c:tx>
            <c:strRef>
              <c:f>Sheet1!$C$1</c:f>
              <c:strCache>
                <c:ptCount val="1"/>
                <c:pt idx="0">
                  <c:v>Insurance (n=25)</c:v>
                </c:pt>
              </c:strCache>
            </c:strRef>
          </c:tx>
          <c:spPr>
            <a:solidFill>
              <a:srgbClr val="046A38"/>
            </a:solidFill>
            <a:effectLst/>
          </c:spPr>
          <c:invertIfNegative val="0"/>
          <c:dLbls>
            <c:numFmt formatCode="0&quot;%&quot;" sourceLinked="0"/>
            <c:spPr>
              <a:noFill/>
              <a:ln>
                <a:noFill/>
              </a:ln>
              <a:effectLst/>
            </c:spPr>
            <c:txPr>
              <a:bodyPr/>
              <a:lstStyle/>
              <a:p>
                <a:pPr>
                  <a:defRPr sz="9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Identity &amp; auth</c:v>
                </c:pt>
                <c:pt idx="1">
                  <c:v>Privacy &amp; AI gov.</c:v>
                </c:pt>
                <c:pt idx="2">
                  <c:v>Payment innovation</c:v>
                </c:pt>
                <c:pt idx="3">
                  <c:v>Liability changes</c:v>
                </c:pt>
                <c:pt idx="4">
                  <c:v>AML modernization</c:v>
                </c:pt>
                <c:pt idx="5">
                  <c:v>Open Banking</c:v>
                </c:pt>
              </c:strCache>
            </c:strRef>
          </c:cat>
          <c:val>
            <c:numRef>
              <c:f>Sheet1!$C$2:$C$7</c:f>
              <c:numCache>
                <c:formatCode>General</c:formatCode>
                <c:ptCount val="6"/>
                <c:pt idx="0">
                  <c:v>68</c:v>
                </c:pt>
                <c:pt idx="1">
                  <c:v>60</c:v>
                </c:pt>
                <c:pt idx="2">
                  <c:v>76</c:v>
                </c:pt>
                <c:pt idx="3">
                  <c:v>52</c:v>
                </c:pt>
                <c:pt idx="4">
                  <c:v>24</c:v>
                </c:pt>
                <c:pt idx="5">
                  <c:v>20</c:v>
                </c:pt>
              </c:numCache>
            </c:numRef>
          </c:val>
          <c:extLst>
            <c:ext xmlns:c16="http://schemas.microsoft.com/office/drawing/2014/chart" uri="{C3380CC4-5D6E-409C-BE32-E72D297353CC}">
              <c16:uniqueId val="{00000001-88FE-46F2-80C3-FB86A17469E3}"/>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solidFill>
          <a:srgbClr val="FFFFFF"/>
        </a:solidFill>
        <a:ln>
          <a:noFill/>
        </a:ln>
        <a:effectLst/>
      </c:spPr>
    </c:plotArea>
    <c:legend>
      <c:legendPos val="b"/>
      <c:overlay val="0"/>
      <c:txPr>
        <a:bodyPr/>
        <a:lstStyle/>
        <a:p>
          <a:pPr>
            <a:defRPr sz="950"/>
          </a:pPr>
          <a:endParaRPr lang="en-US"/>
        </a:p>
      </c:txPr>
    </c:legend>
    <c:plotVisOnly val="1"/>
    <c:dispBlanksAs val="span"/>
    <c:showDLblsOverMax val="1"/>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75000"/>
                    <a:lumOff val="25000"/>
                  </a:schemeClr>
                </a:solidFill>
                <a:latin typeface="Segoe UI" panose="020B0502040204020203" pitchFamily="34" charset="0"/>
                <a:ea typeface="+mn-ea"/>
                <a:cs typeface="Segoe UI" panose="020B0502040204020203" pitchFamily="34" charset="0"/>
              </a:defRPr>
            </a:pPr>
            <a:r>
              <a:rPr lang="en-US" b="1">
                <a:solidFill>
                  <a:schemeClr val="tx1">
                    <a:lumMod val="75000"/>
                    <a:lumOff val="25000"/>
                  </a:schemeClr>
                </a:solidFill>
              </a:rPr>
              <a:t>Channels Used by Merchants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title>
    <c:autoTitleDeleted val="0"/>
    <c:plotArea>
      <c:layout>
        <c:manualLayout>
          <c:layoutTarget val="inner"/>
          <c:xMode val="edge"/>
          <c:yMode val="edge"/>
          <c:x val="8.1230514347965632E-2"/>
          <c:y val="0.175554237550126"/>
          <c:w val="0.91427658205848394"/>
          <c:h val="0.62098779135050997"/>
        </c:manualLayout>
      </c:layout>
      <c:barChart>
        <c:barDir val="col"/>
        <c:grouping val="clustered"/>
        <c:varyColors val="0"/>
        <c:ser>
          <c:idx val="0"/>
          <c:order val="0"/>
          <c:spPr>
            <a:solidFill>
              <a:srgbClr val="4EA72E"/>
            </a:solidFill>
            <a:ln>
              <a:noFill/>
            </a:ln>
            <a:effectLst/>
          </c:spPr>
          <c:invertIfNegative val="0"/>
          <c:dLbls>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Segoe UI" panose="020B0502040204020203" pitchFamily="34" charset="0"/>
                    <a:ea typeface="+mn-ea"/>
                    <a:cs typeface="Segoe UI" panose="020B0502040204020203" pitchFamily="34" charset="0"/>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Percentages!$A$230:$A$233</c:f>
              <c:strCache>
                <c:ptCount val="4"/>
                <c:pt idx="0">
                  <c:v>Brick and mortar</c:v>
                </c:pt>
                <c:pt idx="1">
                  <c:v>Website</c:v>
                </c:pt>
                <c:pt idx="2">
                  <c:v>Mobile app</c:v>
                </c:pt>
                <c:pt idx="3">
                  <c:v>Marketplace (e.g., third-party platforms)</c:v>
                </c:pt>
              </c:strCache>
            </c:strRef>
          </c:cat>
          <c:val>
            <c:numRef>
              <c:f>Percentages!$B$230:$B$233</c:f>
              <c:numCache>
                <c:formatCode>0%</c:formatCode>
                <c:ptCount val="4"/>
                <c:pt idx="0">
                  <c:v>0.61538462000000005</c:v>
                </c:pt>
                <c:pt idx="1">
                  <c:v>0.97435896999999994</c:v>
                </c:pt>
                <c:pt idx="2">
                  <c:v>0.66666667000000002</c:v>
                </c:pt>
                <c:pt idx="3">
                  <c:v>0.56410255999999992</c:v>
                </c:pt>
              </c:numCache>
            </c:numRef>
          </c:val>
          <c:extLst>
            <c:ext xmlns:c16="http://schemas.microsoft.com/office/drawing/2014/chart" uri="{C3380CC4-5D6E-409C-BE32-E72D297353CC}">
              <c16:uniqueId val="{00000000-E4CB-43D0-9761-D94E8F48269B}"/>
            </c:ext>
          </c:extLst>
        </c:ser>
        <c:dLbls>
          <c:dLblPos val="outEnd"/>
          <c:showLegendKey val="0"/>
          <c:showVal val="1"/>
          <c:showCatName val="0"/>
          <c:showSerName val="0"/>
          <c:showPercent val="0"/>
          <c:showBubbleSize val="0"/>
        </c:dLbls>
        <c:gapWidth val="219"/>
        <c:overlap val="-27"/>
        <c:axId val="1387602383"/>
        <c:axId val="1387617743"/>
      </c:barChart>
      <c:catAx>
        <c:axId val="138760238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200" b="0"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crossAx val="1387617743"/>
        <c:crosses val="autoZero"/>
        <c:auto val="1"/>
        <c:lblAlgn val="ctr"/>
        <c:lblOffset val="100"/>
        <c:noMultiLvlLbl val="0"/>
      </c:catAx>
      <c:valAx>
        <c:axId val="1387617743"/>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crossAx val="1387602383"/>
        <c:crosses val="autoZero"/>
        <c:crossBetween val="between"/>
        <c:majorUnit val="0.2"/>
      </c:valAx>
      <c:spPr>
        <a:solidFill>
          <a:schemeClr val="bg1"/>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tx1">
              <a:lumMod val="75000"/>
              <a:lumOff val="25000"/>
            </a:schemeClr>
          </a:solidFill>
          <a:latin typeface="Segoe UI" panose="020B0502040204020203" pitchFamily="34" charset="0"/>
          <a:cs typeface="Segoe UI" panose="020B0502040204020203" pitchFamily="34" charset="0"/>
        </a:defRPr>
      </a:pPr>
      <a:endParaRPr lang="en-US"/>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4EA72E"/>
            </a:solidFill>
            <a:ln>
              <a:noFill/>
            </a:ln>
            <a:effectLst/>
          </c:spPr>
          <c:invertIfNegative val="0"/>
          <c:dLbls>
            <c:dLbl>
              <c:idx val="1"/>
              <c:tx>
                <c:rich>
                  <a:bodyPr/>
                  <a:lstStyle/>
                  <a:p>
                    <a:fld id="{6CA95950-6B79-4A11-8CC7-AE92E9B7057B}" type="VALUE">
                      <a:rPr lang="en-US">
                        <a:solidFill>
                          <a:schemeClr val="bg1"/>
                        </a:solidFill>
                      </a:rPr>
                      <a:pPr/>
                      <a:t>[VALUE]</a:t>
                    </a:fld>
                    <a:endParaRPr lang="en-CA"/>
                  </a:p>
                </c:rich>
              </c:tx>
              <c:dLblPos val="inBase"/>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07C-4A81-A544-534C25799FBA}"/>
                </c:ext>
              </c:extLst>
            </c:dLbl>
            <c:dLbl>
              <c:idx val="2"/>
              <c:tx>
                <c:rich>
                  <a:bodyPr/>
                  <a:lstStyle/>
                  <a:p>
                    <a:fld id="{91975AF4-EC73-40AA-9722-5B53FC317BDD}" type="VALUE">
                      <a:rPr lang="en-US">
                        <a:solidFill>
                          <a:schemeClr val="bg1"/>
                        </a:solidFill>
                      </a:rPr>
                      <a:pPr/>
                      <a:t>[VALUE]</a:t>
                    </a:fld>
                    <a:endParaRPr lang="en-CA"/>
                  </a:p>
                </c:rich>
              </c:tx>
              <c:dLblPos val="inBase"/>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07C-4A81-A544-534C25799FBA}"/>
                </c:ext>
              </c:extLst>
            </c:dLbl>
            <c:dLbl>
              <c:idx val="3"/>
              <c:tx>
                <c:rich>
                  <a:bodyPr/>
                  <a:lstStyle/>
                  <a:p>
                    <a:fld id="{4DFE4054-5D9E-4705-A414-B960ACA6090F}" type="VALUE">
                      <a:rPr lang="en-US">
                        <a:solidFill>
                          <a:schemeClr val="bg1"/>
                        </a:solidFill>
                      </a:rPr>
                      <a:pPr/>
                      <a:t>[VALUE]</a:t>
                    </a:fld>
                    <a:endParaRPr lang="en-CA"/>
                  </a:p>
                </c:rich>
              </c:tx>
              <c:dLblPos val="inBase"/>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707C-4A81-A544-534C25799FBA}"/>
                </c:ext>
              </c:extLst>
            </c:dLbl>
            <c:spPr>
              <a:noFill/>
              <a:ln>
                <a:noFill/>
              </a:ln>
              <a:effectLst/>
            </c:spPr>
            <c:txPr>
              <a:bodyPr rot="0" spcFirstLastPara="1" vertOverflow="ellipsis" vert="horz" wrap="square" anchor="ctr" anchorCtr="1"/>
              <a:lstStyle/>
              <a:p>
                <a:pPr>
                  <a:defRPr sz="1200" b="1"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Percentages!$A$269:$A$272</c:f>
              <c:strCache>
                <c:ptCount val="4"/>
                <c:pt idx="0">
                  <c:v>Not at all</c:v>
                </c:pt>
                <c:pt idx="1">
                  <c:v>Slightly</c:v>
                </c:pt>
                <c:pt idx="2">
                  <c:v>Moderately</c:v>
                </c:pt>
                <c:pt idx="3">
                  <c:v>A lot</c:v>
                </c:pt>
              </c:strCache>
            </c:strRef>
          </c:cat>
          <c:val>
            <c:numRef>
              <c:f>Percentages!$B$269:$B$272</c:f>
              <c:numCache>
                <c:formatCode>0%</c:formatCode>
                <c:ptCount val="4"/>
                <c:pt idx="0">
                  <c:v>0</c:v>
                </c:pt>
                <c:pt idx="1">
                  <c:v>0.12820513</c:v>
                </c:pt>
                <c:pt idx="2">
                  <c:v>0.53846154000000002</c:v>
                </c:pt>
                <c:pt idx="3">
                  <c:v>0.33333332999999998</c:v>
                </c:pt>
              </c:numCache>
            </c:numRef>
          </c:val>
          <c:extLst>
            <c:ext xmlns:c16="http://schemas.microsoft.com/office/drawing/2014/chart" uri="{C3380CC4-5D6E-409C-BE32-E72D297353CC}">
              <c16:uniqueId val="{00000003-707C-4A81-A544-534C25799FBA}"/>
            </c:ext>
          </c:extLst>
        </c:ser>
        <c:dLbls>
          <c:dLblPos val="outEnd"/>
          <c:showLegendKey val="0"/>
          <c:showVal val="1"/>
          <c:showCatName val="0"/>
          <c:showSerName val="0"/>
          <c:showPercent val="0"/>
          <c:showBubbleSize val="0"/>
        </c:dLbls>
        <c:gapWidth val="60"/>
        <c:axId val="1709241775"/>
        <c:axId val="1709231695"/>
      </c:barChart>
      <c:catAx>
        <c:axId val="1709241775"/>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200" b="0"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crossAx val="1709231695"/>
        <c:crosses val="autoZero"/>
        <c:auto val="1"/>
        <c:lblAlgn val="ctr"/>
        <c:lblOffset val="100"/>
        <c:noMultiLvlLbl val="0"/>
      </c:catAx>
      <c:valAx>
        <c:axId val="1709231695"/>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crossAx val="170924177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Segoe UI" panose="020B0502040204020203" pitchFamily="34" charset="0"/>
          <a:cs typeface="Segoe UI" panose="020B0502040204020203" pitchFamily="34" charset="0"/>
        </a:defRPr>
      </a:pPr>
      <a:endParaRPr lang="en-US"/>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757227343311196"/>
          <c:y val="5.5977647408138757E-2"/>
          <c:w val="0.82046783625730979"/>
          <c:h val="0.54690401937139144"/>
        </c:manualLayout>
      </c:layout>
      <c:barChart>
        <c:barDir val="col"/>
        <c:grouping val="clustered"/>
        <c:varyColors val="0"/>
        <c:ser>
          <c:idx val="0"/>
          <c:order val="0"/>
          <c:spPr>
            <a:solidFill>
              <a:srgbClr val="4EA72E"/>
            </a:solidFill>
            <a:ln>
              <a:noFill/>
            </a:ln>
            <a:effectLst/>
          </c:spPr>
          <c:invertIfNegative val="0"/>
          <c:dLbls>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Segoe UI" panose="020B0502040204020203" pitchFamily="34" charset="0"/>
                    <a:ea typeface="+mn-ea"/>
                    <a:cs typeface="Segoe UI" panose="020B0502040204020203" pitchFamily="34" charset="0"/>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'[Survey Raw Data _ Use for long form text answers.xlsx]A1'!$FK$41:$FM$41</c:f>
              <c:strCache>
                <c:ptCount val="3"/>
                <c:pt idx="0">
                  <c:v>Funding/Budget</c:v>
                </c:pt>
                <c:pt idx="1">
                  <c:v>Resource Skillsets</c:v>
                </c:pt>
                <c:pt idx="2">
                  <c:v>Tech Limitations</c:v>
                </c:pt>
              </c:strCache>
            </c:strRef>
          </c:cat>
          <c:val>
            <c:numRef>
              <c:f>'[Survey Raw Data _ Use for long form text answers.xlsx]A1'!$FK$45:$FM$45</c:f>
              <c:numCache>
                <c:formatCode>0%</c:formatCode>
                <c:ptCount val="3"/>
                <c:pt idx="0">
                  <c:v>0.51515151515151514</c:v>
                </c:pt>
                <c:pt idx="1">
                  <c:v>0.38235294117647056</c:v>
                </c:pt>
                <c:pt idx="2">
                  <c:v>0.34482758620689657</c:v>
                </c:pt>
              </c:numCache>
            </c:numRef>
          </c:val>
          <c:extLst>
            <c:ext xmlns:c16="http://schemas.microsoft.com/office/drawing/2014/chart" uri="{C3380CC4-5D6E-409C-BE32-E72D297353CC}">
              <c16:uniqueId val="{00000000-CC0D-4CA8-AC63-0AD400DBCE89}"/>
            </c:ext>
          </c:extLst>
        </c:ser>
        <c:dLbls>
          <c:showLegendKey val="0"/>
          <c:showVal val="0"/>
          <c:showCatName val="0"/>
          <c:showSerName val="0"/>
          <c:showPercent val="0"/>
          <c:showBubbleSize val="0"/>
        </c:dLbls>
        <c:gapWidth val="130"/>
        <c:overlap val="-27"/>
        <c:axId val="1667179007"/>
        <c:axId val="1667175647"/>
      </c:barChart>
      <c:catAx>
        <c:axId val="166717900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200" b="0"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crossAx val="1667175647"/>
        <c:crosses val="autoZero"/>
        <c:auto val="1"/>
        <c:lblAlgn val="ctr"/>
        <c:lblOffset val="100"/>
        <c:noMultiLvlLbl val="0"/>
      </c:catAx>
      <c:valAx>
        <c:axId val="1667175647"/>
        <c:scaling>
          <c:orientation val="minMax"/>
        </c:scaling>
        <c:delete val="0"/>
        <c:axPos val="l"/>
        <c:majorGridlines>
          <c:spPr>
            <a:ln w="9525" cap="flat" cmpd="sng" algn="ctr">
              <a:solidFill>
                <a:schemeClr val="tx1">
                  <a:lumMod val="15000"/>
                  <a:lumOff val="85000"/>
                </a:schemeClr>
              </a:solidFill>
              <a:prstDash val="solid"/>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crossAx val="1667179007"/>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Segoe UI" panose="020B0502040204020203" pitchFamily="34" charset="0"/>
          <a:cs typeface="Segoe UI" panose="020B0502040204020203" pitchFamily="34" charset="0"/>
        </a:defRPr>
      </a:pPr>
      <a:endParaRPr lang="en-US"/>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384244144861151"/>
          <c:y val="0.22940836015232449"/>
          <c:w val="0.78556377966335289"/>
          <c:h val="0.5977711667274932"/>
        </c:manualLayout>
      </c:layout>
      <c:barChart>
        <c:barDir val="col"/>
        <c:grouping val="clustered"/>
        <c:varyColors val="0"/>
        <c:ser>
          <c:idx val="0"/>
          <c:order val="0"/>
          <c:spPr>
            <a:solidFill>
              <a:srgbClr val="4EA72E"/>
            </a:solidFill>
            <a:ln>
              <a:noFill/>
            </a:ln>
            <a:effectLst/>
          </c:spPr>
          <c:invertIfNegative val="0"/>
          <c:dLbls>
            <c:dLbl>
              <c:idx val="4"/>
              <c:tx>
                <c:rich>
                  <a:bodyPr/>
                  <a:lstStyle/>
                  <a:p>
                    <a:fld id="{74A2815A-11F6-4547-AE07-39CD0A68AB6F}" type="VALUE">
                      <a:rPr lang="en-US">
                        <a:solidFill>
                          <a:schemeClr val="tx1">
                            <a:lumMod val="75000"/>
                            <a:lumOff val="25000"/>
                          </a:schemeClr>
                        </a:solidFill>
                      </a:rPr>
                      <a:pPr/>
                      <a:t>[VALUE]</a:t>
                    </a:fld>
                    <a:endParaRPr lang="en-CA"/>
                  </a:p>
                </c:rich>
              </c:tx>
              <c:dLblPos val="inBase"/>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2859-4009-BC99-FB15D70D61FE}"/>
                </c:ext>
              </c:extLst>
            </c:dLbl>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Segoe UI" panose="020B0502040204020203" pitchFamily="34" charset="0"/>
                    <a:ea typeface="+mn-ea"/>
                    <a:cs typeface="Segoe UI" panose="020B0502040204020203" pitchFamily="34" charset="0"/>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Percentages!$A$304:$A$308</c:f>
              <c:strCache>
                <c:ptCount val="5"/>
                <c:pt idx="0">
                  <c:v>Very Unprepared</c:v>
                </c:pt>
                <c:pt idx="1">
                  <c:v>Somewhat unprepared</c:v>
                </c:pt>
                <c:pt idx="2">
                  <c:v>Neutral</c:v>
                </c:pt>
                <c:pt idx="3">
                  <c:v>Somewhat prepared</c:v>
                </c:pt>
                <c:pt idx="4">
                  <c:v>Very prepared</c:v>
                </c:pt>
              </c:strCache>
            </c:strRef>
          </c:cat>
          <c:val>
            <c:numRef>
              <c:f>Percentages!$B$304:$B$308</c:f>
              <c:numCache>
                <c:formatCode>0%</c:formatCode>
                <c:ptCount val="5"/>
                <c:pt idx="0">
                  <c:v>7.6923079999999991E-2</c:v>
                </c:pt>
                <c:pt idx="1">
                  <c:v>0.30769231000000002</c:v>
                </c:pt>
                <c:pt idx="2">
                  <c:v>0.30769231000000002</c:v>
                </c:pt>
                <c:pt idx="3">
                  <c:v>0.28205128000000002</c:v>
                </c:pt>
                <c:pt idx="4">
                  <c:v>2.5641029999999999E-2</c:v>
                </c:pt>
              </c:numCache>
            </c:numRef>
          </c:val>
          <c:extLst>
            <c:ext xmlns:c16="http://schemas.microsoft.com/office/drawing/2014/chart" uri="{C3380CC4-5D6E-409C-BE32-E72D297353CC}">
              <c16:uniqueId val="{00000000-D8C1-4D71-AD86-C6E54DF2CAC0}"/>
            </c:ext>
          </c:extLst>
        </c:ser>
        <c:dLbls>
          <c:showLegendKey val="0"/>
          <c:showVal val="0"/>
          <c:showCatName val="0"/>
          <c:showSerName val="0"/>
          <c:showPercent val="0"/>
          <c:showBubbleSize val="0"/>
        </c:dLbls>
        <c:gapWidth val="60"/>
        <c:overlap val="-27"/>
        <c:axId val="1881612831"/>
        <c:axId val="1881613311"/>
      </c:barChart>
      <c:catAx>
        <c:axId val="18816128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crossAx val="1881613311"/>
        <c:crosses val="autoZero"/>
        <c:auto val="1"/>
        <c:lblAlgn val="ctr"/>
        <c:lblOffset val="100"/>
        <c:noMultiLvlLbl val="0"/>
      </c:catAx>
      <c:valAx>
        <c:axId val="1881613311"/>
        <c:scaling>
          <c:orientation val="minMax"/>
          <c:max val="0.4"/>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crossAx val="1881612831"/>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accent1">
        <a:lumMod val="20000"/>
        <a:lumOff val="80000"/>
      </a:schemeClr>
    </a:solidFill>
    <a:ln>
      <a:noFill/>
    </a:ln>
    <a:effectLst/>
  </c:spPr>
  <c:txPr>
    <a:bodyPr/>
    <a:lstStyle/>
    <a:p>
      <a:pPr>
        <a:defRPr>
          <a:latin typeface="Segoe UI" panose="020B0502040204020203" pitchFamily="34" charset="0"/>
          <a:cs typeface="Segoe UI" panose="020B0502040204020203" pitchFamily="34" charset="0"/>
        </a:defRPr>
      </a:pPr>
      <a:endParaRPr lang="en-US"/>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4EA72E"/>
            </a:solidFill>
            <a:ln>
              <a:noFill/>
            </a:ln>
            <a:effectLst/>
          </c:spPr>
          <c:invertIfNegative val="0"/>
          <c:dLbls>
            <c:spPr>
              <a:noFill/>
              <a:ln>
                <a:noFill/>
              </a:ln>
              <a:effectLst/>
            </c:spPr>
            <c:txPr>
              <a:bodyPr rot="0" spcFirstLastPara="1" vertOverflow="ellipsis" vert="horz" wrap="square" lIns="0" rIns="0" anchor="ctr" anchorCtr="1"/>
              <a:lstStyle/>
              <a:p>
                <a:pPr>
                  <a:defRPr sz="1200" b="1" i="0" u="none" strike="noStrike" kern="1200" baseline="0">
                    <a:solidFill>
                      <a:schemeClr val="bg1"/>
                    </a:solidFill>
                    <a:latin typeface="Segoe UI" panose="020B0502040204020203" pitchFamily="34" charset="0"/>
                    <a:ea typeface="+mn-ea"/>
                    <a:cs typeface="Segoe UI" panose="020B0502040204020203" pitchFamily="34" charset="0"/>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1"/>
                <c15:leaderLines>
                  <c:spPr>
                    <a:ln w="9525" cap="flat" cmpd="sng" algn="ctr">
                      <a:solidFill>
                        <a:schemeClr val="tx1">
                          <a:lumMod val="35000"/>
                          <a:lumOff val="65000"/>
                        </a:schemeClr>
                      </a:solidFill>
                      <a:round/>
                    </a:ln>
                    <a:effectLst/>
                  </c:spPr>
                </c15:leaderLines>
              </c:ext>
            </c:extLst>
          </c:dLbls>
          <c:cat>
            <c:strRef>
              <c:f>Percentages!$A$321:$A$324</c:f>
              <c:strCache>
                <c:ptCount val="4"/>
                <c:pt idx="0">
                  <c:v>Stronger customer authentication</c:v>
                </c:pt>
                <c:pt idx="1">
                  <c:v>Investment in advanced fraud detection tools</c:v>
                </c:pt>
                <c:pt idx="2">
                  <c:v>External collaborations (law enforcement, data consortiums)</c:v>
                </c:pt>
                <c:pt idx="3">
                  <c:v>Enhanced human review &amp; operational processes</c:v>
                </c:pt>
              </c:strCache>
            </c:strRef>
          </c:cat>
          <c:val>
            <c:numRef>
              <c:f>Percentages!$B$321:$B$324</c:f>
              <c:numCache>
                <c:formatCode>0%</c:formatCode>
                <c:ptCount val="4"/>
                <c:pt idx="0">
                  <c:v>0.71794871999999998</c:v>
                </c:pt>
                <c:pt idx="1">
                  <c:v>0.82051282000000003</c:v>
                </c:pt>
                <c:pt idx="2">
                  <c:v>0.17948718</c:v>
                </c:pt>
                <c:pt idx="3">
                  <c:v>0.51282051000000006</c:v>
                </c:pt>
              </c:numCache>
            </c:numRef>
          </c:val>
          <c:extLst>
            <c:ext xmlns:c16="http://schemas.microsoft.com/office/drawing/2014/chart" uri="{C3380CC4-5D6E-409C-BE32-E72D297353CC}">
              <c16:uniqueId val="{00000001-4EE0-4F3D-93C7-A34811E64F14}"/>
            </c:ext>
          </c:extLst>
        </c:ser>
        <c:dLbls>
          <c:showLegendKey val="0"/>
          <c:showVal val="0"/>
          <c:showCatName val="0"/>
          <c:showSerName val="0"/>
          <c:showPercent val="0"/>
          <c:showBubbleSize val="0"/>
        </c:dLbls>
        <c:gapWidth val="60"/>
        <c:axId val="1770682463"/>
        <c:axId val="1677569471"/>
      </c:barChart>
      <c:catAx>
        <c:axId val="1770682463"/>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crossAx val="1677569471"/>
        <c:crosses val="autoZero"/>
        <c:auto val="1"/>
        <c:lblAlgn val="ctr"/>
        <c:lblOffset val="100"/>
        <c:noMultiLvlLbl val="0"/>
      </c:catAx>
      <c:valAx>
        <c:axId val="1677569471"/>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crossAx val="177068246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Segoe UI" panose="020B0502040204020203" pitchFamily="34" charset="0"/>
          <a:cs typeface="Segoe UI" panose="020B0502040204020203" pitchFamily="34" charset="0"/>
        </a:defRPr>
      </a:pPr>
      <a:endParaRPr lang="en-US"/>
    </a:p>
  </c:tx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dPt>
            <c:idx val="0"/>
            <c:bubble3D val="0"/>
            <c:spPr>
              <a:solidFill>
                <a:schemeClr val="accent2"/>
              </a:solidFill>
              <a:ln w="19050">
                <a:solidFill>
                  <a:schemeClr val="lt1"/>
                </a:solidFill>
              </a:ln>
              <a:effectLst/>
            </c:spPr>
            <c:extLst>
              <c:ext xmlns:c16="http://schemas.microsoft.com/office/drawing/2014/chart" uri="{C3380CC4-5D6E-409C-BE32-E72D297353CC}">
                <c16:uniqueId val="{00000001-F5BF-41C3-AD02-F2BABB214C91}"/>
              </c:ext>
            </c:extLst>
          </c:dPt>
          <c:dPt>
            <c:idx val="1"/>
            <c:bubble3D val="0"/>
            <c:spPr>
              <a:solidFill>
                <a:srgbClr val="4EA72E"/>
              </a:solidFill>
              <a:ln w="19050">
                <a:solidFill>
                  <a:schemeClr val="lt1"/>
                </a:solidFill>
              </a:ln>
              <a:effectLst/>
            </c:spPr>
            <c:extLst>
              <c:ext xmlns:c16="http://schemas.microsoft.com/office/drawing/2014/chart" uri="{C3380CC4-5D6E-409C-BE32-E72D297353CC}">
                <c16:uniqueId val="{00000003-F5BF-41C3-AD02-F2BABB214C91}"/>
              </c:ext>
            </c:extLst>
          </c:dPt>
          <c:dPt>
            <c:idx val="2"/>
            <c:bubble3D val="0"/>
            <c:spPr>
              <a:solidFill>
                <a:srgbClr val="7F7F7F"/>
              </a:solidFill>
              <a:ln w="19050">
                <a:solidFill>
                  <a:schemeClr val="lt1"/>
                </a:solidFill>
              </a:ln>
              <a:effectLst/>
            </c:spPr>
            <c:extLst>
              <c:ext xmlns:c16="http://schemas.microsoft.com/office/drawing/2014/chart" uri="{C3380CC4-5D6E-409C-BE32-E72D297353CC}">
                <c16:uniqueId val="{00000005-F5BF-41C3-AD02-F2BABB214C91}"/>
              </c:ext>
            </c:extLst>
          </c:dPt>
          <c:dPt>
            <c:idx val="3"/>
            <c:bubble3D val="0"/>
            <c:spPr>
              <a:solidFill>
                <a:schemeClr val="tx1">
                  <a:lumMod val="85000"/>
                  <a:lumOff val="15000"/>
                </a:schemeClr>
              </a:solidFill>
              <a:ln w="19050">
                <a:solidFill>
                  <a:schemeClr val="lt1"/>
                </a:solidFill>
              </a:ln>
              <a:effectLst/>
            </c:spPr>
            <c:extLst>
              <c:ext xmlns:c16="http://schemas.microsoft.com/office/drawing/2014/chart" uri="{C3380CC4-5D6E-409C-BE32-E72D297353CC}">
                <c16:uniqueId val="{00000007-F5BF-41C3-AD02-F2BABB214C91}"/>
              </c:ext>
            </c:extLst>
          </c:dPt>
          <c:dLbls>
            <c:dLbl>
              <c:idx val="0"/>
              <c:layout>
                <c:manualLayout>
                  <c:x val="3.0119730554965196E-2"/>
                  <c:y val="2.179784959677392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F5BF-41C3-AD02-F2BABB214C91}"/>
                </c:ext>
              </c:extLst>
            </c:dLbl>
            <c:dLbl>
              <c:idx val="1"/>
              <c:layout>
                <c:manualLayout>
                  <c:x val="0.1238916727754133"/>
                  <c:y val="-4.5167645001952875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F5BF-41C3-AD02-F2BABB214C91}"/>
                </c:ext>
              </c:extLst>
            </c:dLbl>
            <c:dLbl>
              <c:idx val="2"/>
              <c:layout>
                <c:manualLayout>
                  <c:x val="-2.5985794698463523E-2"/>
                  <c:y val="-7.4582049085497783E-3"/>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F5BF-41C3-AD02-F2BABB214C91}"/>
                </c:ext>
              </c:extLst>
            </c:dLbl>
            <c:dLbl>
              <c:idx val="3"/>
              <c:layout>
                <c:manualLayout>
                  <c:x val="-4.1296403680565495E-2"/>
                  <c:y val="0"/>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F5BF-41C3-AD02-F2BABB214C91}"/>
                </c:ext>
              </c:extLst>
            </c:dLbl>
            <c:spPr>
              <a:noFill/>
              <a:ln>
                <a:noFill/>
              </a:ln>
              <a:effectLst/>
            </c:spPr>
            <c:txPr>
              <a:bodyPr rot="0" spcFirstLastPara="1" vertOverflow="ellipsis" vert="horz" wrap="square" anchor="ctr" anchorCtr="1"/>
              <a:lstStyle/>
              <a:p>
                <a:pPr>
                  <a:defRPr sz="1200" b="1"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Percentages!$A$283:$A$286</c:f>
              <c:strCache>
                <c:ptCount val="4"/>
                <c:pt idx="0">
                  <c:v>Yes, fully implemented with controls in place</c:v>
                </c:pt>
                <c:pt idx="1">
                  <c:v>Yes, initial implementation under development</c:v>
                </c:pt>
                <c:pt idx="2">
                  <c:v>No, but planning to implement soon</c:v>
                </c:pt>
                <c:pt idx="3">
                  <c:v>No, and don't plan on implementing soon</c:v>
                </c:pt>
              </c:strCache>
            </c:strRef>
          </c:cat>
          <c:val>
            <c:numRef>
              <c:f>Percentages!$B$283:$B$286</c:f>
              <c:numCache>
                <c:formatCode>0%</c:formatCode>
                <c:ptCount val="4"/>
                <c:pt idx="0">
                  <c:v>0.17948718</c:v>
                </c:pt>
                <c:pt idx="1">
                  <c:v>0.58974358999999998</c:v>
                </c:pt>
                <c:pt idx="2">
                  <c:v>0.17948718</c:v>
                </c:pt>
                <c:pt idx="3">
                  <c:v>5.1282050000000003E-2</c:v>
                </c:pt>
              </c:numCache>
            </c:numRef>
          </c:val>
          <c:extLst>
            <c:ext xmlns:c16="http://schemas.microsoft.com/office/drawing/2014/chart" uri="{C3380CC4-5D6E-409C-BE32-E72D297353CC}">
              <c16:uniqueId val="{00000008-F5BF-41C3-AD02-F2BABB214C9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75000"/>
                  <a:lumOff val="25000"/>
                </a:schemeClr>
              </a:solidFill>
              <a:latin typeface="Segoe UI" panose="020B0502040204020203" pitchFamily="34" charset="0"/>
              <a:ea typeface="+mn-ea"/>
              <a:cs typeface="Segoe UI" panose="020B0502040204020203"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Segoe UI" panose="020B0502040204020203" pitchFamily="34" charset="0"/>
          <a:cs typeface="Segoe UI" panose="020B0502040204020203" pitchFamily="34" charset="0"/>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Percentages!$A$332:$A$335</cx:f>
        <cx:lvl ptCount="4">
          <cx:pt idx="0">Industry standards and best practices</cx:pt>
          <cx:pt idx="1">Information-sharing platforms</cx:pt>
          <cx:pt idx="2">Regulatory guidance</cx:pt>
          <cx:pt idx="3">Joint task forces</cx:pt>
        </cx:lvl>
      </cx:strDim>
      <cx:numDim type="size">
        <cx:f>Percentages!$B$332:$B$335</cx:f>
        <cx:lvl ptCount="4" formatCode="0%">
          <cx:pt idx="0">0.51282051000000006</cx:pt>
          <cx:pt idx="1">0.33333332999999998</cx:pt>
          <cx:pt idx="2">0.10256410000000001</cx:pt>
          <cx:pt idx="3">0.051282050000000003</cx:pt>
        </cx:lvl>
      </cx:numDim>
    </cx:data>
  </cx:chartData>
  <cx:chart>
    <cx:plotArea>
      <cx:plotAreaRegion>
        <cx:series layoutId="treemap" uniqueId="{092CB04B-A647-4FDA-A622-D643DF1F6EF5}">
          <cx:dataPt idx="0">
            <cx:spPr>
              <a:solidFill>
                <a:srgbClr val="4EA72E"/>
              </a:solidFill>
            </cx:spPr>
          </cx:dataPt>
          <cx:dataPt idx="1">
            <cx:spPr>
              <a:solidFill>
                <a:srgbClr val="046A38"/>
              </a:solidFill>
            </cx:spPr>
          </cx:dataPt>
          <cx:dataPt idx="2">
            <cx:spPr>
              <a:solidFill>
                <a:srgbClr val="7F7F7F"/>
              </a:solidFill>
            </cx:spPr>
          </cx:dataPt>
          <cx:dataPt idx="3">
            <cx:spPr>
              <a:solidFill>
                <a:srgbClr val="000000">
                  <a:lumMod val="85000"/>
                  <a:lumOff val="15000"/>
                </a:srgbClr>
              </a:solidFill>
            </cx:spPr>
          </cx:dataPt>
          <cx:dataLabels>
            <cx:txPr>
              <a:bodyPr spcFirstLastPara="1" vertOverflow="ellipsis" horzOverflow="overflow" wrap="square" lIns="0" tIns="0" rIns="0" bIns="0" anchor="ctr" anchorCtr="1"/>
              <a:lstStyle/>
              <a:p>
                <a:pPr algn="ctr" rtl="0">
                  <a:defRPr sz="1200" b="1">
                    <a:latin typeface="Segoe UI" panose="020B0502040204020203" pitchFamily="34" charset="0"/>
                    <a:ea typeface="Segoe UI" panose="020B0502040204020203" pitchFamily="34" charset="0"/>
                    <a:cs typeface="Segoe UI" panose="020B0502040204020203" pitchFamily="34" charset="0"/>
                  </a:defRPr>
                </a:pPr>
                <a:endParaRPr lang="en-US" sz="1200" b="1" i="0" u="none" strike="noStrike" baseline="0">
                  <a:solidFill>
                    <a:prstClr val="white"/>
                  </a:solidFill>
                  <a:latin typeface="Segoe UI" panose="020B0502040204020203" pitchFamily="34" charset="0"/>
                  <a:cs typeface="Segoe UI" panose="020B0502040204020203" pitchFamily="34" charset="0"/>
                </a:endParaRPr>
              </a:p>
            </cx:txPr>
            <cx:visibility seriesName="0" categoryName="0" value="1"/>
            <cx:separator>, </cx:separator>
          </cx:dataLabels>
          <cx:dataId val="0"/>
          <cx:layoutPr>
            <cx:parentLabelLayout val="banner"/>
          </cx:layoutPr>
        </cx:series>
      </cx:plotAreaRegion>
    </cx:plotArea>
    <cx:legend pos="t" align="ctr" overlay="0">
      <cx:txPr>
        <a:bodyPr spcFirstLastPara="1" vertOverflow="ellipsis" horzOverflow="overflow" wrap="square" lIns="0" tIns="0" rIns="0" bIns="0" anchor="ctr" anchorCtr="1"/>
        <a:lstStyle/>
        <a:p>
          <a:pPr algn="ctr" rtl="0">
            <a:defRPr sz="1000">
              <a:solidFill>
                <a:schemeClr val="tx1">
                  <a:lumMod val="75000"/>
                  <a:lumOff val="25000"/>
                </a:schemeClr>
              </a:solidFill>
              <a:latin typeface="Segoe UI" panose="020B0502040204020203" pitchFamily="34" charset="0"/>
              <a:ea typeface="Segoe UI" panose="020B0502040204020203" pitchFamily="34" charset="0"/>
              <a:cs typeface="Segoe UI" panose="020B0502040204020203" pitchFamily="34" charset="0"/>
            </a:defRPr>
          </a:pPr>
          <a:endParaRPr lang="en-US" sz="1000" b="0" i="0" u="none" strike="noStrike" baseline="0">
            <a:solidFill>
              <a:schemeClr val="tx1">
                <a:lumMod val="75000"/>
                <a:lumOff val="25000"/>
              </a:schemeClr>
            </a:solidFill>
            <a:latin typeface="Segoe UI" panose="020B0502040204020203" pitchFamily="34" charset="0"/>
            <a:cs typeface="Segoe UI" panose="020B0502040204020203" pitchFamily="34" charset="0"/>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410">
  <cs:axisTitle>
    <cs:lnRef idx="0"/>
    <cs:fillRef idx="0"/>
    <cs:effectRef idx="0"/>
    <cs:fontRef idx="minor">
      <a:schemeClr val="tx1">
        <a:lumMod val="65000"/>
        <a:lumOff val="35000"/>
      </a:schemeClr>
    </cs:fontRef>
    <cs:spPr>
      <a:solidFill>
        <a:schemeClr val="bg1">
          <a:lumMod val="65000"/>
        </a:schemeClr>
      </a:solidFill>
      <a:ln w="19050">
        <a:solidFill>
          <a:schemeClr val="bg1"/>
        </a:solidFill>
      </a:ln>
    </cs:spPr>
    <cs:defRPr sz="9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cs:chartArea>
  <cs:dataLabel>
    <cs:lnRef idx="0"/>
    <cs:fillRef idx="0"/>
    <cs:effectRef idx="0"/>
    <cs:fontRef idx="minor">
      <a:schemeClr val="lt1"/>
    </cs:fontRef>
    <cs:defRPr sz="9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a:ln w="19050">
        <a:solidFill>
          <a:schemeClr val="lt1"/>
        </a:solidFill>
      </a:ln>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40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cs:valueAxis>
  <cs:wall>
    <cs:lnRef idx="0"/>
    <cs:fillRef idx="0"/>
    <cs:effectRef idx="0"/>
    <cs:fontRef idx="minor">
      <a:schemeClr val="tx1"/>
    </cs:fontRef>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omments/modernComment_14A_99EAD49.xml><?xml version="1.0" encoding="utf-8"?>
<p188:cmLst xmlns:a="http://schemas.openxmlformats.org/drawingml/2006/main" xmlns:r="http://schemas.openxmlformats.org/officeDocument/2006/relationships" xmlns:p188="http://schemas.microsoft.com/office/powerpoint/2018/8/main">
  <p188:cm id="{CA0ADC5D-A1F5-45FA-B115-CD3DCBC88EF3}" authorId="{D296EFA7-0D1E-03B8-0ACB-0E639503A15F}" created="2026-10-15T15:42:59.557">
    <pc:sldMkLst xmlns:pc="http://schemas.microsoft.com/office/powerpoint/2013/main/command">
      <pc:docMk/>
      <pc:sldMk cId="161393993" sldId="330"/>
    </pc:sldMkLst>
    <p188:txBody>
      <a:bodyPr/>
      <a:lstStyle/>
      <a:p>
        <a:r>
          <a:rPr lang="en-CA"/>
          <a:t>Riley to fix</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6407DD-7D4F-4149-BFC1-D4208C42B517}" type="datetimeFigureOut">
              <a:rPr lang="en-CA" smtClean="0"/>
              <a:t>2026-10-17</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940475-704E-42FA-B5AE-EB50A7D18FBD}" type="slidenum">
              <a:rPr lang="en-CA" smtClean="0"/>
              <a:t>‹#›</a:t>
            </a:fld>
            <a:endParaRPr lang="en-CA"/>
          </a:p>
        </p:txBody>
      </p:sp>
    </p:spTree>
    <p:extLst>
      <p:ext uri="{BB962C8B-B14F-4D97-AF65-F5344CB8AC3E}">
        <p14:creationId xmlns:p14="http://schemas.microsoft.com/office/powerpoint/2010/main" val="39016765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sz="1300" b="0" i="0" u="none" strike="noStrike" kern="0" cap="none" spc="0" normalizeH="0" baseline="0" noProof="0" smtClean="0">
                <a:ln>
                  <a:noFill/>
                </a:ln>
                <a:solidFill>
                  <a:prstClr val="black"/>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1</a:t>
            </a:fld>
            <a:endParaRPr kumimoji="0" lang="en-US" sz="1300" b="0" i="0" u="none" strike="noStrike" kern="0" cap="none" spc="0" normalizeH="0" baseline="0" noProof="0" dirty="0">
              <a:ln>
                <a:noFill/>
              </a:ln>
              <a:solidFill>
                <a:prstClr val="black"/>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42451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FA0EC-BB42-8B06-0C4A-C84FE72044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6F23C-384D-2B19-7A82-C2C17DE416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99EDD2-1EF3-D057-6760-80B29A8A06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78F03E-C65C-0AAA-C575-0D1E13C28F8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1383399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4AA23-8896-F3DA-EF4E-4187E0AB1F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60BB72-072F-909A-3EC0-BBAA4EB944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13345-1E92-0915-E607-F6A80C39BE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556EDB-D76E-8EAE-9DA6-4A472B00CB8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397090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A6454-9110-0FD4-92F8-C62588504C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6349F-3731-8C0A-66D2-C7BB78306D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D7FF4-371E-7BD2-45F1-2DBCD0EF8746}"/>
              </a:ext>
            </a:extLst>
          </p:cNvPr>
          <p:cNvSpPr>
            <a:spLocks noGrp="1"/>
          </p:cNvSpPr>
          <p:nvPr>
            <p:ph type="body" idx="1"/>
          </p:nvPr>
        </p:nvSpPr>
        <p:spPr/>
        <p:txBody>
          <a:bodyPr/>
          <a:lstStyle/>
          <a:p>
            <a:pPr fontAlgn="t"/>
            <a:endParaRPr lang="en-US" b="1" dirty="0"/>
          </a:p>
        </p:txBody>
      </p:sp>
      <p:sp>
        <p:nvSpPr>
          <p:cNvPr id="4" name="Slide Number Placeholder 3">
            <a:extLst>
              <a:ext uri="{FF2B5EF4-FFF2-40B4-BE49-F238E27FC236}">
                <a16:creationId xmlns:a16="http://schemas.microsoft.com/office/drawing/2014/main" id="{8CC4CA3B-D6A4-28B0-BEE3-8DC44ECD89C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7686248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0E8A2-8805-0E3A-3C9A-59BF9B3676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3B78FF-10C6-91C8-DCFA-FE2F1AB82B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951B92-A267-6AAB-0F9D-7C818DCCB88A}"/>
              </a:ext>
            </a:extLst>
          </p:cNvPr>
          <p:cNvSpPr>
            <a:spLocks noGrp="1"/>
          </p:cNvSpPr>
          <p:nvPr>
            <p:ph type="body" idx="1"/>
          </p:nvPr>
        </p:nvSpPr>
        <p:spPr/>
        <p:txBody>
          <a:bodyPr/>
          <a:lstStyle/>
          <a:p>
            <a:pPr fontAlgn="t"/>
            <a:endParaRPr lang="en-US" b="1" dirty="0"/>
          </a:p>
        </p:txBody>
      </p:sp>
      <p:sp>
        <p:nvSpPr>
          <p:cNvPr id="4" name="Slide Number Placeholder 3">
            <a:extLst>
              <a:ext uri="{FF2B5EF4-FFF2-40B4-BE49-F238E27FC236}">
                <a16:creationId xmlns:a16="http://schemas.microsoft.com/office/drawing/2014/main" id="{35AFFE38-61E5-55DC-D6D2-6E33AF82315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11678731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22DDF-16E1-CEFE-5D99-6331EE60F6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F54D8-CA83-5496-F9CC-4D7205FE6B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D0D38-73BD-1388-09F7-9B52C03EF24B}"/>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A0358813-98DF-E40E-A4E8-2452E5D439BB}"/>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sz="1300" b="0" i="0" u="none" strike="noStrike" kern="0" cap="none" spc="0" normalizeH="0" baseline="0" noProof="0" smtClean="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8</a:t>
            </a:fld>
            <a:endParaRPr kumimoji="0" lang="en-US" sz="1300" b="0" i="0" u="none" strike="noStrike" kern="0" cap="none" spc="0" normalizeH="0" baseline="0" noProof="0" dirty="0">
              <a:ln>
                <a:noFill/>
              </a:ln>
              <a:solidFill>
                <a:srgbClr val="000000"/>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15733346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404F9-5881-FFF9-7105-80422C659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AAF416-5BB9-5867-7FA6-EF424DEF8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18B15B-09DF-F6DE-5342-C111919AEE12}"/>
              </a:ext>
            </a:extLst>
          </p:cNvPr>
          <p:cNvSpPr>
            <a:spLocks noGrp="1"/>
          </p:cNvSpPr>
          <p:nvPr>
            <p:ph type="body" idx="1"/>
          </p:nvPr>
        </p:nvSpPr>
        <p:spPr/>
        <p:txBody>
          <a:bodyPr/>
          <a:lstStyle/>
          <a:p>
            <a:pPr fontAlgn="t"/>
            <a:endParaRPr lang="en-US" b="1" dirty="0"/>
          </a:p>
        </p:txBody>
      </p:sp>
      <p:sp>
        <p:nvSpPr>
          <p:cNvPr id="4" name="Slide Number Placeholder 3">
            <a:extLst>
              <a:ext uri="{FF2B5EF4-FFF2-40B4-BE49-F238E27FC236}">
                <a16:creationId xmlns:a16="http://schemas.microsoft.com/office/drawing/2014/main" id="{AF5A5554-9E64-37B2-6D0B-A261D01999D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4665791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612E6-CB3E-C769-F412-4FF77E41B6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D260CE-E488-5523-C7B9-972F869649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D03467-C3E3-4D72-A14D-08504903D581}"/>
              </a:ext>
            </a:extLst>
          </p:cNvPr>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CA" sz="1200" b="0" i="0" u="none" strike="noStrike" cap="none">
              <a:solidFill>
                <a:schemeClr val="dk1"/>
              </a:solidFill>
              <a:effectLst/>
              <a:latin typeface="Calibri"/>
              <a:ea typeface="Calibri"/>
              <a:cs typeface="Calibri"/>
              <a:sym typeface="Calibri"/>
            </a:endParaRPr>
          </a:p>
        </p:txBody>
      </p:sp>
      <p:sp>
        <p:nvSpPr>
          <p:cNvPr id="4" name="Slide Number Placeholder 3">
            <a:extLst>
              <a:ext uri="{FF2B5EF4-FFF2-40B4-BE49-F238E27FC236}">
                <a16:creationId xmlns:a16="http://schemas.microsoft.com/office/drawing/2014/main" id="{4035C75D-D272-41AF-58E6-7063D3B1549F}"/>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sz="1300" b="0" i="0" u="none" strike="noStrike" kern="0" cap="none" spc="0" normalizeH="0" baseline="0" noProof="0" smtClean="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11</a:t>
            </a:fld>
            <a:endParaRPr kumimoji="0" lang="en-US" sz="13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33368701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6BA71-B6DD-3194-8FA5-80257E183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F3674E-FC46-2C01-2D4E-C63930590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951925-6F7A-E84C-7418-FD064917C489}"/>
              </a:ext>
            </a:extLst>
          </p:cNvPr>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CA" sz="1200" b="0" i="0" u="none" strike="noStrike" cap="none" dirty="0">
              <a:solidFill>
                <a:schemeClr val="dk1"/>
              </a:solidFill>
              <a:effectLst/>
              <a:latin typeface="Calibri"/>
              <a:ea typeface="Calibri"/>
              <a:cs typeface="Calibri"/>
              <a:sym typeface="Calibri"/>
            </a:endParaRPr>
          </a:p>
        </p:txBody>
      </p:sp>
      <p:sp>
        <p:nvSpPr>
          <p:cNvPr id="4" name="Slide Number Placeholder 3">
            <a:extLst>
              <a:ext uri="{FF2B5EF4-FFF2-40B4-BE49-F238E27FC236}">
                <a16:creationId xmlns:a16="http://schemas.microsoft.com/office/drawing/2014/main" id="{7D020316-D7D0-23F9-626C-E497047215B3}"/>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sz="1300" b="0" i="0" u="none" strike="noStrike" kern="0" cap="none" spc="0" normalizeH="0" baseline="0" noProof="0" smtClean="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12</a:t>
            </a:fld>
            <a:endParaRPr kumimoji="0" lang="en-US" sz="1300" b="0" i="0" u="none" strike="noStrike" kern="0" cap="none" spc="0" normalizeH="0" baseline="0" noProof="0" dirty="0">
              <a:ln>
                <a:noFill/>
              </a:ln>
              <a:solidFill>
                <a:srgbClr val="000000"/>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37095947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564AC-FD27-0BC8-1E13-EDF57C08E3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114884-6817-A8B8-F64D-A1F688F8F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D1A38A-42EE-7D91-6E73-1B3B8979AC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0B753C-1FFB-D0BD-0DB6-F12CDCBD540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2776226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31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35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36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37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38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39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40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41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43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F7021451-1387-4CA6-816F-3879F97B5CBC}" type="slidenum">
              <a:rPr kumimoji="0" lang="en-US" sz="1400" b="0" i="0" u="none" strike="noStrike" kern="0" cap="none" spc="0" normalizeH="0" baseline="0" noProof="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45</a:t>
            </a:fld>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7C2D9-6E41-26CE-BAFB-3B3CDAE2A9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3B75DB-B88F-257D-F60D-A7EFA0CB41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8C2CB3-D075-4DEF-C696-DBD11002C6D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0FA4D13-9358-6E8A-F099-22F3EED0501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2621421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6424B-B37F-D0A2-17D1-9F4D5EC52F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BA38AF-FAB1-DA8A-FD27-9FFC58A9ED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2BA6C-174A-21A0-9091-789EACCC6EB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604A980-3A80-3CF8-046A-2E40AD1D1B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357454858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7886D-56FC-AAB2-EFDF-4CF4BA7260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DA89CF-E352-F3F7-F3D7-2C014192ED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B5AA93-FED6-6049-2021-2CA12FECBD8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477B48A-A605-7611-430A-9D9BE52D9B3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5964830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ADAA9-DF0F-4540-96CE-6FA3B93E82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36FF87-2DBD-3F49-3207-847810EE32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49A558-435F-9291-6E71-87DF0DDA0CC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CA7C36D-DE53-271C-2546-0608DB28001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28046495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EEC13-D9C5-33A3-70BA-0B08F6CF6B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6399D5-32AD-8271-922E-F1A6FFC9DE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3DB2E8-7B0E-4414-C8B8-14CE0968126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42DEDCF-8004-9AE0-FDFE-B396946A287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9138698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875638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9821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66112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359171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86897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658134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99731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53170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2221947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774730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25212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Title Slide - Circle Black">
  <p:cSld name="Title Slide - Circle Black">
    <p:bg>
      <p:bgPr>
        <a:solidFill>
          <a:schemeClr val="lt1"/>
        </a:solidFill>
        <a:effectLst/>
      </p:bgPr>
    </p:bg>
    <p:spTree>
      <p:nvGrpSpPr>
        <p:cNvPr id="1" name="Shape 15"/>
        <p:cNvGrpSpPr/>
        <p:nvPr/>
      </p:nvGrpSpPr>
      <p:grpSpPr>
        <a:xfrm>
          <a:off x="0" y="0"/>
          <a:ext cx="0" cy="0"/>
          <a:chOff x="0" y="0"/>
          <a:chExt cx="0" cy="0"/>
        </a:xfrm>
      </p:grpSpPr>
      <p:sp>
        <p:nvSpPr>
          <p:cNvPr id="16" name="Google Shape;16;p10"/>
          <p:cNvSpPr txBox="1">
            <a:spLocks noGrp="1"/>
          </p:cNvSpPr>
          <p:nvPr>
            <p:ph type="subTitle" idx="1"/>
          </p:nvPr>
        </p:nvSpPr>
        <p:spPr>
          <a:xfrm>
            <a:off x="475201" y="5845182"/>
            <a:ext cx="5592011" cy="505645"/>
          </a:xfrm>
          <a:prstGeom prst="rect">
            <a:avLst/>
          </a:prstGeom>
          <a:noFill/>
          <a:ln>
            <a:noFill/>
          </a:ln>
        </p:spPr>
        <p:txBody>
          <a:bodyPr spcFirstLastPara="1" wrap="square" lIns="0" tIns="0" rIns="0" bIns="0" anchor="t" anchorCtr="0">
            <a:noAutofit/>
          </a:bodyPr>
          <a:lstStyle>
            <a:lvl1pPr lvl="0" algn="l">
              <a:lnSpc>
                <a:spcPct val="100000"/>
              </a:lnSpc>
              <a:spcBef>
                <a:spcPts val="1000"/>
              </a:spcBef>
              <a:spcAft>
                <a:spcPts val="0"/>
              </a:spcAft>
              <a:buClr>
                <a:schemeClr val="dk1"/>
              </a:buClr>
              <a:buSzPts val="1200"/>
              <a:buNone/>
              <a:defRPr sz="1200">
                <a:solidFill>
                  <a:schemeClr val="dk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7" name="Google Shape;17;p10"/>
          <p:cNvSpPr txBox="1">
            <a:spLocks noGrp="1"/>
          </p:cNvSpPr>
          <p:nvPr>
            <p:ph type="body" idx="2"/>
          </p:nvPr>
        </p:nvSpPr>
        <p:spPr>
          <a:xfrm>
            <a:off x="475200" y="6362701"/>
            <a:ext cx="5594349" cy="298451"/>
          </a:xfrm>
          <a:prstGeom prst="rect">
            <a:avLst/>
          </a:prstGeom>
          <a:noFill/>
          <a:ln>
            <a:noFill/>
          </a:ln>
        </p:spPr>
        <p:txBody>
          <a:bodyPr spcFirstLastPara="1" wrap="square" lIns="91425" tIns="45700" rIns="91425" bIns="45700" anchor="t" anchorCtr="0">
            <a:normAutofit/>
          </a:bodyPr>
          <a:lstStyle>
            <a:lvl1pPr marL="457200" lvl="0" indent="-278638" algn="l">
              <a:lnSpc>
                <a:spcPct val="90000"/>
              </a:lnSpc>
              <a:spcBef>
                <a:spcPts val="1000"/>
              </a:spcBef>
              <a:spcAft>
                <a:spcPts val="0"/>
              </a:spcAft>
              <a:buClr>
                <a:schemeClr val="dk1"/>
              </a:buClr>
              <a:buSzPts val="788"/>
              <a:buChar char="•"/>
              <a:defRPr sz="788">
                <a:solidFill>
                  <a:schemeClr val="dk1"/>
                </a:solidFill>
              </a:defRPr>
            </a:lvl1pPr>
            <a:lvl2pPr marL="914400" lvl="1" indent="-381000" algn="l">
              <a:lnSpc>
                <a:spcPct val="90000"/>
              </a:lnSpc>
              <a:spcBef>
                <a:spcPts val="500"/>
              </a:spcBef>
              <a:spcAft>
                <a:spcPts val="0"/>
              </a:spcAft>
              <a:buClr>
                <a:schemeClr val="lt1"/>
              </a:buClr>
              <a:buSzPts val="2400"/>
              <a:buChar char="•"/>
              <a:defRPr>
                <a:solidFill>
                  <a:schemeClr val="lt1"/>
                </a:solidFill>
              </a:defRPr>
            </a:lvl2pPr>
            <a:lvl3pPr marL="1371600" lvl="2" indent="-355600" algn="l">
              <a:lnSpc>
                <a:spcPct val="90000"/>
              </a:lnSpc>
              <a:spcBef>
                <a:spcPts val="500"/>
              </a:spcBef>
              <a:spcAft>
                <a:spcPts val="0"/>
              </a:spcAft>
              <a:buClr>
                <a:schemeClr val="lt1"/>
              </a:buClr>
              <a:buSzPts val="2000"/>
              <a:buChar char="•"/>
              <a:defRPr>
                <a:solidFill>
                  <a:schemeClr val="lt1"/>
                </a:solidFill>
              </a:defRPr>
            </a:lvl3pPr>
            <a:lvl4pPr marL="1828800" lvl="3" indent="-342900" algn="l">
              <a:lnSpc>
                <a:spcPct val="90000"/>
              </a:lnSpc>
              <a:spcBef>
                <a:spcPts val="500"/>
              </a:spcBef>
              <a:spcAft>
                <a:spcPts val="0"/>
              </a:spcAft>
              <a:buClr>
                <a:schemeClr val="lt1"/>
              </a:buClr>
              <a:buSzPts val="1800"/>
              <a:buChar char="•"/>
              <a:defRPr>
                <a:solidFill>
                  <a:schemeClr val="lt1"/>
                </a:solidFill>
              </a:defRPr>
            </a:lvl4pPr>
            <a:lvl5pPr marL="2286000" lvl="4" indent="-342900" algn="l">
              <a:lnSpc>
                <a:spcPct val="90000"/>
              </a:lnSpc>
              <a:spcBef>
                <a:spcPts val="500"/>
              </a:spcBef>
              <a:spcAft>
                <a:spcPts val="0"/>
              </a:spcAft>
              <a:buClr>
                <a:schemeClr val="lt1"/>
              </a:buClr>
              <a:buSzPts val="1800"/>
              <a:buChar char="•"/>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10"/>
          <p:cNvSpPr txBox="1">
            <a:spLocks noGrp="1"/>
          </p:cNvSpPr>
          <p:nvPr>
            <p:ph type="ftr" idx="11"/>
          </p:nvPr>
        </p:nvSpPr>
        <p:spPr>
          <a:xfrm>
            <a:off x="6371303" y="6552087"/>
            <a:ext cx="5149153" cy="177801"/>
          </a:xfrm>
          <a:prstGeom prst="rect">
            <a:avLst/>
          </a:prstGeom>
          <a:noFill/>
          <a:ln>
            <a:noFill/>
          </a:ln>
        </p:spPr>
        <p:txBody>
          <a:bodyPr spcFirstLastPara="1" wrap="square" lIns="0" tIns="0" rIns="0" bIns="0" anchor="ctr" anchorCtr="0">
            <a:noAutofit/>
          </a:bodyPr>
          <a:lstStyle>
            <a:lvl1pPr lvl="0" algn="r">
              <a:lnSpc>
                <a:spcPct val="100000"/>
              </a:lnSpc>
              <a:spcBef>
                <a:spcPts val="0"/>
              </a:spcBef>
              <a:spcAft>
                <a:spcPts val="0"/>
              </a:spcAft>
              <a:buSzPts val="1400"/>
              <a:buNone/>
              <a:defRPr sz="65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3121892025"/>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subtitle &amp; 1 column text">
  <p:cSld name="Title, subtitle &amp; 1 column text">
    <p:spTree>
      <p:nvGrpSpPr>
        <p:cNvPr id="1" name="Shape 19"/>
        <p:cNvGrpSpPr/>
        <p:nvPr/>
      </p:nvGrpSpPr>
      <p:grpSpPr>
        <a:xfrm>
          <a:off x="0" y="0"/>
          <a:ext cx="0" cy="0"/>
          <a:chOff x="0" y="0"/>
          <a:chExt cx="0" cy="0"/>
        </a:xfrm>
      </p:grpSpPr>
      <p:sp>
        <p:nvSpPr>
          <p:cNvPr id="20" name="Google Shape;20;p11"/>
          <p:cNvSpPr txBox="1">
            <a:spLocks noGrp="1"/>
          </p:cNvSpPr>
          <p:nvPr>
            <p:ph type="body" idx="1"/>
          </p:nvPr>
        </p:nvSpPr>
        <p:spPr>
          <a:xfrm>
            <a:off x="469900" y="736688"/>
            <a:ext cx="11252200" cy="757255"/>
          </a:xfrm>
          <a:prstGeom prst="rect">
            <a:avLst/>
          </a:prstGeom>
          <a:noFill/>
          <a:ln>
            <a:noFill/>
          </a:ln>
        </p:spPr>
        <p:txBody>
          <a:bodyPr spcFirstLastPara="1" wrap="square" lIns="0" tIns="0" rIns="0" bIns="0" anchor="t" anchorCtr="0">
            <a:noAutofit/>
          </a:bodyPr>
          <a:lstStyle>
            <a:lvl1pPr marL="457200" lvl="0" indent="-228600" algn="l">
              <a:lnSpc>
                <a:spcPct val="90000"/>
              </a:lnSpc>
              <a:spcBef>
                <a:spcPts val="1000"/>
              </a:spcBef>
              <a:spcAft>
                <a:spcPts val="0"/>
              </a:spcAft>
              <a:buClr>
                <a:srgbClr val="575757"/>
              </a:buClr>
              <a:buSzPts val="1400"/>
              <a:buNone/>
              <a:defRPr sz="1400" b="0">
                <a:solidFill>
                  <a:srgbClr val="575757"/>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 name="Google Shape;21;p11"/>
          <p:cNvSpPr txBox="1">
            <a:spLocks noGrp="1"/>
          </p:cNvSpPr>
          <p:nvPr>
            <p:ph type="title"/>
          </p:nvPr>
        </p:nvSpPr>
        <p:spPr>
          <a:xfrm>
            <a:off x="469900" y="402587"/>
            <a:ext cx="11252200" cy="33410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000"/>
              <a:buFont typeface="Open Sans"/>
              <a:buNone/>
              <a:defRPr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11"/>
          <p:cNvSpPr txBox="1">
            <a:spLocks noGrp="1"/>
          </p:cNvSpPr>
          <p:nvPr>
            <p:ph type="body" idx="2"/>
          </p:nvPr>
        </p:nvSpPr>
        <p:spPr>
          <a:xfrm>
            <a:off x="469900" y="1665818"/>
            <a:ext cx="11252200" cy="4633383"/>
          </a:xfrm>
          <a:prstGeom prst="rect">
            <a:avLst/>
          </a:prstGeom>
          <a:noFill/>
          <a:ln>
            <a:noFill/>
          </a:ln>
        </p:spPr>
        <p:txBody>
          <a:bodyPr spcFirstLastPara="1" wrap="square" lIns="0" tIns="0" rIns="0" bIns="0" anchor="t" anchorCtr="0">
            <a:no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extLst>
      <p:ext uri="{BB962C8B-B14F-4D97-AF65-F5344CB8AC3E}">
        <p14:creationId xmlns:p14="http://schemas.microsoft.com/office/powerpoint/2010/main" val="208554996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29"/>
        <p:cNvGrpSpPr/>
        <p:nvPr/>
      </p:nvGrpSpPr>
      <p:grpSpPr>
        <a:xfrm>
          <a:off x="0" y="0"/>
          <a:ext cx="0" cy="0"/>
          <a:chOff x="0" y="0"/>
          <a:chExt cx="0" cy="0"/>
        </a:xfrm>
      </p:grpSpPr>
      <p:sp>
        <p:nvSpPr>
          <p:cNvPr id="30" name="Google Shape;30;p1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Open Sans"/>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grpSp>
        <p:nvGrpSpPr>
          <p:cNvPr id="35" name="Google Shape;35;p12"/>
          <p:cNvGrpSpPr/>
          <p:nvPr/>
        </p:nvGrpSpPr>
        <p:grpSpPr>
          <a:xfrm>
            <a:off x="475325" y="457200"/>
            <a:ext cx="1998000" cy="374400"/>
            <a:chOff x="398463" y="404813"/>
            <a:chExt cx="1627187" cy="307976"/>
          </a:xfrm>
        </p:grpSpPr>
        <p:sp>
          <p:nvSpPr>
            <p:cNvPr id="36" name="Google Shape;36;p12"/>
            <p:cNvSpPr/>
            <p:nvPr/>
          </p:nvSpPr>
          <p:spPr>
            <a:xfrm>
              <a:off x="1938338" y="625476"/>
              <a:ext cx="87312" cy="87313"/>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7" name="Google Shape;37;p12"/>
            <p:cNvSpPr/>
            <p:nvPr/>
          </p:nvSpPr>
          <p:spPr>
            <a:xfrm>
              <a:off x="398463" y="406401"/>
              <a:ext cx="247650" cy="301625"/>
            </a:xfrm>
            <a:custGeom>
              <a:avLst/>
              <a:gdLst/>
              <a:ahLst/>
              <a:cxnLst/>
              <a:rect l="l" t="t" r="r" b="b"/>
              <a:pathLst>
                <a:path w="287" h="347" extrusionOk="0">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8" name="Google Shape;38;p12"/>
            <p:cNvSpPr/>
            <p:nvPr/>
          </p:nvSpPr>
          <p:spPr>
            <a:xfrm>
              <a:off x="906463" y="404813"/>
              <a:ext cx="74612" cy="303213"/>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9" name="Google Shape;39;p12"/>
            <p:cNvSpPr/>
            <p:nvPr/>
          </p:nvSpPr>
          <p:spPr>
            <a:xfrm>
              <a:off x="1011238" y="479426"/>
              <a:ext cx="215900" cy="231775"/>
            </a:xfrm>
            <a:custGeom>
              <a:avLst/>
              <a:gdLst/>
              <a:ahLst/>
              <a:cxnLst/>
              <a:rect l="l" t="t" r="r" b="b"/>
              <a:pathLst>
                <a:path w="252" h="267" extrusionOk="0">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0" name="Google Shape;40;p12"/>
            <p:cNvSpPr/>
            <p:nvPr/>
          </p:nvSpPr>
          <p:spPr>
            <a:xfrm>
              <a:off x="1257300" y="482601"/>
              <a:ext cx="74612" cy="225425"/>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1" name="Google Shape;41;p12"/>
            <p:cNvSpPr/>
            <p:nvPr/>
          </p:nvSpPr>
          <p:spPr>
            <a:xfrm>
              <a:off x="1257300" y="404813"/>
              <a:ext cx="74612" cy="50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2" name="Google Shape;42;p12"/>
            <p:cNvSpPr/>
            <p:nvPr/>
          </p:nvSpPr>
          <p:spPr>
            <a:xfrm>
              <a:off x="1362075" y="411163"/>
              <a:ext cx="158750" cy="300038"/>
            </a:xfrm>
            <a:custGeom>
              <a:avLst/>
              <a:gdLst/>
              <a:ahLst/>
              <a:cxnLst/>
              <a:rect l="l" t="t" r="r" b="b"/>
              <a:pathLst>
                <a:path w="184" h="344" extrusionOk="0">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3" name="Google Shape;43;p12"/>
            <p:cNvSpPr/>
            <p:nvPr/>
          </p:nvSpPr>
          <p:spPr>
            <a:xfrm>
              <a:off x="1535113" y="411163"/>
              <a:ext cx="158750" cy="300038"/>
            </a:xfrm>
            <a:custGeom>
              <a:avLst/>
              <a:gdLst/>
              <a:ahLst/>
              <a:cxnLst/>
              <a:rect l="l" t="t" r="r" b="b"/>
              <a:pathLst>
                <a:path w="184" h="344" extrusionOk="0">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4" name="Google Shape;44;p12"/>
            <p:cNvSpPr/>
            <p:nvPr/>
          </p:nvSpPr>
          <p:spPr>
            <a:xfrm>
              <a:off x="1709738" y="479426"/>
              <a:ext cx="211137" cy="231775"/>
            </a:xfrm>
            <a:custGeom>
              <a:avLst/>
              <a:gdLst/>
              <a:ahLst/>
              <a:cxnLst/>
              <a:rect l="l" t="t" r="r" b="b"/>
              <a:pathLst>
                <a:path w="244" h="267" extrusionOk="0">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5" name="Google Shape;45;p12"/>
            <p:cNvSpPr/>
            <p:nvPr/>
          </p:nvSpPr>
          <p:spPr>
            <a:xfrm>
              <a:off x="668338" y="479426"/>
              <a:ext cx="209550" cy="231775"/>
            </a:xfrm>
            <a:custGeom>
              <a:avLst/>
              <a:gdLst/>
              <a:ahLst/>
              <a:cxnLst/>
              <a:rect l="l" t="t" r="r" b="b"/>
              <a:pathLst>
                <a:path w="243" h="267" extrusionOk="0">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grpSp>
      <p:sp>
        <p:nvSpPr>
          <p:cNvPr id="2" name="Date Placeholder 1">
            <a:extLst>
              <a:ext uri="{FF2B5EF4-FFF2-40B4-BE49-F238E27FC236}">
                <a16:creationId xmlns:a16="http://schemas.microsoft.com/office/drawing/2014/main" id="{C92E2541-1AC4-5B75-7824-75662CB57431}"/>
              </a:ext>
            </a:extLst>
          </p:cNvPr>
          <p:cNvSpPr>
            <a:spLocks noGrp="1"/>
          </p:cNvSpPr>
          <p:nvPr>
            <p:ph type="dt" idx="10"/>
          </p:nvPr>
        </p:nvSpPr>
        <p:spPr/>
        <p:txBody>
          <a:bodyPr/>
          <a:lstStyle/>
          <a:p>
            <a:endParaRPr lang="en-US"/>
          </a:p>
        </p:txBody>
      </p:sp>
      <p:sp>
        <p:nvSpPr>
          <p:cNvPr id="3" name="Footer Placeholder 2">
            <a:extLst>
              <a:ext uri="{FF2B5EF4-FFF2-40B4-BE49-F238E27FC236}">
                <a16:creationId xmlns:a16="http://schemas.microsoft.com/office/drawing/2014/main" id="{12D88A18-355B-BB41-0B55-B4C132827877}"/>
              </a:ext>
            </a:extLst>
          </p:cNvPr>
          <p:cNvSpPr>
            <a:spLocks noGrp="1"/>
          </p:cNvSpPr>
          <p:nvPr>
            <p:ph type="ftr" idx="11"/>
          </p:nvPr>
        </p:nvSpPr>
        <p:spPr/>
        <p:txBody>
          <a:bodyPr/>
          <a:lstStyle/>
          <a:p>
            <a:endParaRPr lang="en-US"/>
          </a:p>
        </p:txBody>
      </p:sp>
    </p:spTree>
    <p:extLst>
      <p:ext uri="{BB962C8B-B14F-4D97-AF65-F5344CB8AC3E}">
        <p14:creationId xmlns:p14="http://schemas.microsoft.com/office/powerpoint/2010/main" val="30550132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Subtitle, Content">
    <p:spTree>
      <p:nvGrpSpPr>
        <p:cNvPr id="1" name=""/>
        <p:cNvGrpSpPr/>
        <p:nvPr/>
      </p:nvGrpSpPr>
      <p:grpSpPr>
        <a:xfrm>
          <a:off x="0" y="0"/>
          <a:ext cx="0" cy="0"/>
          <a:chOff x="0" y="0"/>
          <a:chExt cx="0" cy="0"/>
        </a:xfrm>
      </p:grpSpPr>
      <p:sp>
        <p:nvSpPr>
          <p:cNvPr id="4" name="Text Placeholder 8"/>
          <p:cNvSpPr>
            <a:spLocks noGrp="1"/>
          </p:cNvSpPr>
          <p:nvPr>
            <p:ph type="body" sz="quarter" idx="13" hasCustomPrompt="1"/>
          </p:nvPr>
        </p:nvSpPr>
        <p:spPr>
          <a:xfrm>
            <a:off x="426782" y="771525"/>
            <a:ext cx="11338436" cy="645817"/>
          </a:xfrm>
          <a:prstGeom prst="rect">
            <a:avLst/>
          </a:prstGeom>
        </p:spPr>
        <p:txBody>
          <a:bodyPr lIns="0" tIns="45720" rIns="0" bIns="0" anchor="t">
            <a:noAutofit/>
          </a:bodyPr>
          <a:lstStyle>
            <a:lvl1pPr marL="0" indent="0">
              <a:spcAft>
                <a:spcPts val="0"/>
              </a:spcAft>
              <a:buNone/>
              <a:defRPr sz="1200" b="0">
                <a:solidFill>
                  <a:schemeClr val="tx1"/>
                </a:solidFill>
                <a:latin typeface="+mn-lt"/>
              </a:defRPr>
            </a:lvl1pPr>
          </a:lstStyle>
          <a:p>
            <a:pPr lvl="0"/>
            <a:r>
              <a:rPr lang="en-US" noProof="0"/>
              <a:t>Click to add subtitle</a:t>
            </a:r>
          </a:p>
        </p:txBody>
      </p:sp>
      <p:sp>
        <p:nvSpPr>
          <p:cNvPr id="5" name="Title Placeholder 1"/>
          <p:cNvSpPr>
            <a:spLocks noGrp="1"/>
          </p:cNvSpPr>
          <p:nvPr>
            <p:ph type="title"/>
          </p:nvPr>
        </p:nvSpPr>
        <p:spPr>
          <a:xfrm>
            <a:off x="426782" y="137197"/>
            <a:ext cx="11338436" cy="548634"/>
          </a:xfrm>
          <a:prstGeom prst="rect">
            <a:avLst/>
          </a:prstGeom>
        </p:spPr>
        <p:txBody>
          <a:bodyPr vert="horz" lIns="0" tIns="0" rIns="0" bIns="0" rtlCol="0" anchor="ctr" anchorCtr="0">
            <a:noAutofit/>
          </a:bodyPr>
          <a:lstStyle>
            <a:lvl1pPr>
              <a:defRPr sz="2000" b="1">
                <a:solidFill>
                  <a:schemeClr val="tx1"/>
                </a:solidFill>
                <a:latin typeface="+mn-lt"/>
              </a:defRPr>
            </a:lvl1pPr>
          </a:lstStyle>
          <a:p>
            <a:r>
              <a:rPr lang="en-US" noProof="0"/>
              <a:t>Click to edit Master title style</a:t>
            </a:r>
          </a:p>
        </p:txBody>
      </p:sp>
    </p:spTree>
    <p:extLst>
      <p:ext uri="{BB962C8B-B14F-4D97-AF65-F5344CB8AC3E}">
        <p14:creationId xmlns:p14="http://schemas.microsoft.com/office/powerpoint/2010/main" val="286568350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656575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9068844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09101473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67135010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55282783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10/17/2026</a:t>
            </a:fld>
            <a:endParaRPr lang="en-US"/>
          </a:p>
        </p:txBody>
      </p:sp>
      <p:sp>
        <p:nvSpPr>
          <p:cNvPr id="8" name="Footer Placeholder 7"/>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5443028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10/17/2026</a:t>
            </a:fld>
            <a:endParaRPr lang="en-US"/>
          </a:p>
        </p:txBody>
      </p:sp>
      <p:sp>
        <p:nvSpPr>
          <p:cNvPr id="4" name="Footer Placeholder 3"/>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75186076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10/17/2026</a:t>
            </a:fld>
            <a:endParaRPr lang="en-US"/>
          </a:p>
        </p:txBody>
      </p:sp>
      <p:sp>
        <p:nvSpPr>
          <p:cNvPr id="3" name="Footer Placeholder 2"/>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731214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80745572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5270107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10402454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68699029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43656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theme" Target="../theme/theme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621151077"/>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Open Sans"/>
              <a:buNone/>
              <a:defRPr sz="4400" b="0" i="0" u="none" strike="noStrike" cap="none">
                <a:solidFill>
                  <a:schemeClr val="dk1"/>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Open Sans"/>
                <a:ea typeface="Open Sans"/>
                <a:cs typeface="Open Sans"/>
                <a:sym typeface="Open San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Open Sans"/>
                <a:ea typeface="Open Sans"/>
                <a:cs typeface="Open Sans"/>
                <a:sym typeface="Open San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2855297097"/>
      </p:ext>
    </p:extLst>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Tree>
    <p:extLst>
      <p:ext uri="{BB962C8B-B14F-4D97-AF65-F5344CB8AC3E}">
        <p14:creationId xmlns:p14="http://schemas.microsoft.com/office/powerpoint/2010/main" val="2546718528"/>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4571485"/>
      </p:ext>
    </p:extLst>
  </p:cSld>
  <p:clrMap bg1="lt1" tx1="dk1" bg2="lt2" tx2="dk2" accent1="accent1" accent2="accent2" accent3="accent3" accent4="accent4" accent5="accent5" accent6="accent6" hlink="hlink" folHlink="folHlink"/>
  <p:sldLayoutIdLst>
    <p:sldLayoutId id="214748369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hyperlink" Target="https://www.businesswire.com/news/home/20250916314726/en/Deepfakes-Already-Hitting-Businesses-as-Often-as-Traditional-Fraud-Regula-Survey-Finds" TargetMode="External"/><Relationship Id="rId2" Type="http://schemas.openxmlformats.org/officeDocument/2006/relationships/notesSlide" Target="../notesSlides/notesSlide2.xml"/><Relationship Id="rId1" Type="http://schemas.openxmlformats.org/officeDocument/2006/relationships/slideLayout" Target="../slideLayouts/slideLayout15.xml"/><Relationship Id="rId4" Type="http://schemas.openxmlformats.org/officeDocument/2006/relationships/slide" Target="slide50.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slide" Target="slide50.xml"/><Relationship Id="rId2" Type="http://schemas.openxmlformats.org/officeDocument/2006/relationships/notesSlide" Target="../notesSlides/notesSlide3.xml"/><Relationship Id="rId1" Type="http://schemas.openxmlformats.org/officeDocument/2006/relationships/slideLayout" Target="../slideLayouts/slideLayout15.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6.png"/><Relationship Id="rId7"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5.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tags" Target="../tags/tag3.xml"/><Relationship Id="rId7" Type="http://schemas.openxmlformats.org/officeDocument/2006/relationships/image" Target="../media/image6.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11.png"/><Relationship Id="rId5" Type="http://schemas.openxmlformats.org/officeDocument/2006/relationships/notesSlide" Target="../notesSlides/notesSlide5.xml"/><Relationship Id="rId4" Type="http://schemas.openxmlformats.org/officeDocument/2006/relationships/slideLayout" Target="../slideLayouts/slideLayout15.xml"/><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5.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microsoft.com/office/2018/10/relationships/comments" Target="../comments/modernComment_14A_99EAD49.xml"/><Relationship Id="rId2" Type="http://schemas.openxmlformats.org/officeDocument/2006/relationships/notesSlide" Target="../notesSlides/notesSlide7.xml"/><Relationship Id="rId1" Type="http://schemas.openxmlformats.org/officeDocument/2006/relationships/slideLayout" Target="../slideLayouts/slideLayout1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6.png"/><Relationship Id="rId7" Type="http://schemas.openxmlformats.org/officeDocument/2006/relationships/image" Target="../media/image3.png"/><Relationship Id="rId12"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3.xml"/><Relationship Id="rId6" Type="http://schemas.openxmlformats.org/officeDocument/2006/relationships/image" Target="../media/image19.png"/><Relationship Id="rId11" Type="http://schemas.openxmlformats.org/officeDocument/2006/relationships/image" Target="../media/image23.png"/><Relationship Id="rId5" Type="http://schemas.openxmlformats.org/officeDocument/2006/relationships/image" Target="../media/image18.png"/><Relationship Id="rId10" Type="http://schemas.openxmlformats.org/officeDocument/2006/relationships/image" Target="../media/image22.png"/><Relationship Id="rId4" Type="http://schemas.openxmlformats.org/officeDocument/2006/relationships/image" Target="../media/image17.png"/><Relationship Id="rId9" Type="http://schemas.openxmlformats.org/officeDocument/2006/relationships/image" Target="../media/image21.png"/><Relationship Id="rId14" Type="http://schemas.openxmlformats.org/officeDocument/2006/relationships/image" Target="../media/image26.png"/></Relationships>
</file>

<file path=ppt/slides/_rels/slide12.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3.xml"/><Relationship Id="rId6" Type="http://schemas.openxmlformats.org/officeDocument/2006/relationships/image" Target="../media/image7.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32.png"/></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28.xml"/><Relationship Id="rId4" Type="http://schemas.openxmlformats.org/officeDocument/2006/relationships/chart" Target="../charts/chart2.xml"/></Relationships>
</file>

<file path=ppt/slides/_rels/slide1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28.xml"/><Relationship Id="rId4" Type="http://schemas.openxmlformats.org/officeDocument/2006/relationships/chart" Target="../charts/chart4.xml"/></Relationships>
</file>

<file path=ppt/slides/_rels/slide1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4.xml"/><Relationship Id="rId1" Type="http://schemas.openxmlformats.org/officeDocument/2006/relationships/slideLayout" Target="../slideLayouts/slideLayout28.xml"/><Relationship Id="rId4" Type="http://schemas.openxmlformats.org/officeDocument/2006/relationships/chart" Target="../charts/chart7.xml"/></Relationships>
</file>

<file path=ppt/slides/_rels/slide19.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17.xml"/><Relationship Id="rId1" Type="http://schemas.openxmlformats.org/officeDocument/2006/relationships/slideLayout" Target="../slideLayouts/slideLayout28.xml"/></Relationships>
</file>

<file path=ppt/slides/_rels/slide22.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8.xml"/><Relationship Id="rId1" Type="http://schemas.openxmlformats.org/officeDocument/2006/relationships/slideLayout" Target="../slideLayouts/slideLayout28.xml"/><Relationship Id="rId4" Type="http://schemas.openxmlformats.org/officeDocument/2006/relationships/chart" Target="../charts/chart11.xml"/></Relationships>
</file>

<file path=ppt/slides/_rels/slide23.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19.xml"/><Relationship Id="rId1" Type="http://schemas.openxmlformats.org/officeDocument/2006/relationships/slideLayout" Target="../slideLayouts/slideLayout28.xml"/></Relationships>
</file>

<file path=ppt/slides/_rels/slide24.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20.xml"/><Relationship Id="rId1" Type="http://schemas.openxmlformats.org/officeDocument/2006/relationships/slideLayout" Target="../slideLayouts/slideLayout2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8.xml"/></Relationships>
</file>

<file path=ppt/slides/_rels/slide26.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notesSlide" Target="../notesSlides/notesSlide22.xml"/><Relationship Id="rId1" Type="http://schemas.openxmlformats.org/officeDocument/2006/relationships/slideLayout" Target="../slideLayouts/slideLayout28.xml"/></Relationships>
</file>

<file path=ppt/slides/_rels/slide27.xml.rels><?xml version="1.0" encoding="UTF-8" standalone="yes"?>
<Relationships xmlns="http://schemas.openxmlformats.org/package/2006/relationships"><Relationship Id="rId3" Type="http://schemas.openxmlformats.org/officeDocument/2006/relationships/chart" Target="../charts/chart15.xml"/><Relationship Id="rId7" Type="http://schemas.openxmlformats.org/officeDocument/2006/relationships/chart" Target="../charts/chart19.xml"/><Relationship Id="rId2" Type="http://schemas.openxmlformats.org/officeDocument/2006/relationships/notesSlide" Target="../notesSlides/notesSlide23.xml"/><Relationship Id="rId1" Type="http://schemas.openxmlformats.org/officeDocument/2006/relationships/slideLayout" Target="../slideLayouts/slideLayout28.xml"/><Relationship Id="rId6" Type="http://schemas.openxmlformats.org/officeDocument/2006/relationships/chart" Target="../charts/chart18.xml"/><Relationship Id="rId5" Type="http://schemas.openxmlformats.org/officeDocument/2006/relationships/chart" Target="../charts/chart17.xml"/><Relationship Id="rId4" Type="http://schemas.openxmlformats.org/officeDocument/2006/relationships/chart" Target="../charts/chart16.xml"/></Relationships>
</file>

<file path=ppt/slides/_rels/slide28.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notesSlide" Target="../notesSlides/notesSlide24.xml"/><Relationship Id="rId1" Type="http://schemas.openxmlformats.org/officeDocument/2006/relationships/slideLayout" Target="../slideLayouts/slideLayout2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8.xml"/></Relationships>
</file>

<file path=ppt/slides/_rels/slide30.xml.rels><?xml version="1.0" encoding="UTF-8" standalone="yes"?>
<Relationships xmlns="http://schemas.openxmlformats.org/package/2006/relationships"><Relationship Id="rId3" Type="http://schemas.openxmlformats.org/officeDocument/2006/relationships/chart" Target="../charts/chart21.xml"/><Relationship Id="rId2" Type="http://schemas.openxmlformats.org/officeDocument/2006/relationships/notesSlide" Target="../notesSlides/notesSlide26.xml"/><Relationship Id="rId1" Type="http://schemas.openxmlformats.org/officeDocument/2006/relationships/slideLayout" Target="../slideLayouts/slideLayout28.xml"/></Relationships>
</file>

<file path=ppt/slides/_rels/slide31.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notesSlide" Target="../notesSlides/notesSlide27.xml"/><Relationship Id="rId1" Type="http://schemas.openxmlformats.org/officeDocument/2006/relationships/slideLayout" Target="../slideLayouts/slideLayout28.xml"/></Relationships>
</file>

<file path=ppt/slides/_rels/slide32.xml.rels><?xml version="1.0" encoding="UTF-8" standalone="yes"?>
<Relationships xmlns="http://schemas.openxmlformats.org/package/2006/relationships"><Relationship Id="rId3" Type="http://schemas.openxmlformats.org/officeDocument/2006/relationships/chart" Target="../charts/chart23.xml"/><Relationship Id="rId2" Type="http://schemas.openxmlformats.org/officeDocument/2006/relationships/notesSlide" Target="../notesSlides/notesSlide28.xml"/><Relationship Id="rId1" Type="http://schemas.openxmlformats.org/officeDocument/2006/relationships/slideLayout" Target="../slideLayouts/slideLayout28.xml"/><Relationship Id="rId4" Type="http://schemas.openxmlformats.org/officeDocument/2006/relationships/chart" Target="../charts/chart24.xml"/></Relationships>
</file>

<file path=ppt/slides/_rels/slide33.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notesSlide" Target="../notesSlides/notesSlide29.xml"/><Relationship Id="rId1" Type="http://schemas.openxmlformats.org/officeDocument/2006/relationships/slideLayout" Target="../slideLayouts/slideLayout28.xml"/><Relationship Id="rId4" Type="http://schemas.openxmlformats.org/officeDocument/2006/relationships/chart" Target="../charts/chart26.xml"/></Relationships>
</file>

<file path=ppt/slides/_rels/slide34.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notesSlide" Target="../notesSlides/notesSlide30.xml"/><Relationship Id="rId1" Type="http://schemas.openxmlformats.org/officeDocument/2006/relationships/slideLayout" Target="../slideLayouts/slideLayout28.xml"/></Relationships>
</file>

<file path=ppt/slides/_rels/slide35.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notesSlide" Target="../notesSlides/notesSlide31.xml"/><Relationship Id="rId1" Type="http://schemas.openxmlformats.org/officeDocument/2006/relationships/slideLayout" Target="../slideLayouts/slideLayout28.xml"/><Relationship Id="rId4" Type="http://schemas.openxmlformats.org/officeDocument/2006/relationships/chart" Target="../charts/chart29.xml"/></Relationships>
</file>

<file path=ppt/slides/_rels/slide36.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notesSlide" Target="../notesSlides/notesSlide32.xml"/><Relationship Id="rId1" Type="http://schemas.openxmlformats.org/officeDocument/2006/relationships/slideLayout" Target="../slideLayouts/slideLayout28.xml"/><Relationship Id="rId4" Type="http://schemas.openxmlformats.org/officeDocument/2006/relationships/chart" Target="../charts/chart3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8.xml"/></Relationships>
</file>

<file path=ppt/slides/_rels/slide38.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notesSlide" Target="../notesSlides/notesSlide34.xml"/><Relationship Id="rId1" Type="http://schemas.openxmlformats.org/officeDocument/2006/relationships/slideLayout" Target="../slideLayouts/slideLayout28.xml"/></Relationships>
</file>

<file path=ppt/slides/_rels/slide39.xml.rels><?xml version="1.0" encoding="UTF-8" standalone="yes"?>
<Relationships xmlns="http://schemas.openxmlformats.org/package/2006/relationships"><Relationship Id="rId3" Type="http://schemas.openxmlformats.org/officeDocument/2006/relationships/chart" Target="../charts/chart33.xml"/><Relationship Id="rId7" Type="http://schemas.openxmlformats.org/officeDocument/2006/relationships/chart" Target="../charts/chart37.xml"/><Relationship Id="rId2" Type="http://schemas.openxmlformats.org/officeDocument/2006/relationships/notesSlide" Target="../notesSlides/notesSlide35.xml"/><Relationship Id="rId1" Type="http://schemas.openxmlformats.org/officeDocument/2006/relationships/slideLayout" Target="../slideLayouts/slideLayout28.xml"/><Relationship Id="rId6" Type="http://schemas.openxmlformats.org/officeDocument/2006/relationships/chart" Target="../charts/chart36.xml"/><Relationship Id="rId5" Type="http://schemas.openxmlformats.org/officeDocument/2006/relationships/chart" Target="../charts/chart35.xml"/><Relationship Id="rId4" Type="http://schemas.openxmlformats.org/officeDocument/2006/relationships/chart" Target="../charts/chart34.xml"/></Relationships>
</file>

<file path=ppt/slides/_rels/slide40.xml.rels><?xml version="1.0" encoding="UTF-8" standalone="yes"?>
<Relationships xmlns="http://schemas.openxmlformats.org/package/2006/relationships"><Relationship Id="rId3" Type="http://schemas.openxmlformats.org/officeDocument/2006/relationships/chart" Target="../charts/chart38.xml"/><Relationship Id="rId2" Type="http://schemas.openxmlformats.org/officeDocument/2006/relationships/notesSlide" Target="../notesSlides/notesSlide36.xml"/><Relationship Id="rId1" Type="http://schemas.openxmlformats.org/officeDocument/2006/relationships/slideLayout" Target="../slideLayouts/slideLayout28.xml"/></Relationships>
</file>

<file path=ppt/slides/_rels/slide41.xml.rels><?xml version="1.0" encoding="UTF-8" standalone="yes"?>
<Relationships xmlns="http://schemas.openxmlformats.org/package/2006/relationships"><Relationship Id="rId3" Type="http://schemas.openxmlformats.org/officeDocument/2006/relationships/chart" Target="../charts/chart39.xml"/><Relationship Id="rId2" Type="http://schemas.openxmlformats.org/officeDocument/2006/relationships/notesSlide" Target="../notesSlides/notesSlide37.xml"/><Relationship Id="rId1" Type="http://schemas.openxmlformats.org/officeDocument/2006/relationships/slideLayout" Target="../slideLayouts/slideLayout28.xml"/></Relationships>
</file>

<file path=ppt/slides/_rels/slide42.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notesSlide" Target="../notesSlides/notesSlide38.xml"/><Relationship Id="rId1" Type="http://schemas.openxmlformats.org/officeDocument/2006/relationships/slideLayout" Target="../slideLayouts/slideLayout28.xml"/></Relationships>
</file>

<file path=ppt/slides/_rels/slide43.xml.rels><?xml version="1.0" encoding="UTF-8" standalone="yes"?>
<Relationships xmlns="http://schemas.openxmlformats.org/package/2006/relationships"><Relationship Id="rId3" Type="http://schemas.openxmlformats.org/officeDocument/2006/relationships/chart" Target="../charts/chart41.xml"/><Relationship Id="rId2" Type="http://schemas.openxmlformats.org/officeDocument/2006/relationships/notesSlide" Target="../notesSlides/notesSlide39.xml"/><Relationship Id="rId1" Type="http://schemas.openxmlformats.org/officeDocument/2006/relationships/slideLayout" Target="../slideLayouts/slideLayout28.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8.xml"/></Relationships>
</file>

<file path=ppt/slides/_rels/slide4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1.xml"/><Relationship Id="rId1" Type="http://schemas.openxmlformats.org/officeDocument/2006/relationships/slideLayout" Target="../slideLayouts/slideLayout1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notesSlide" Target="../notesSlides/notesSlide43.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15.xml"/><Relationship Id="rId1" Type="http://schemas.openxmlformats.org/officeDocument/2006/relationships/tags" Target="../tags/tag4.xml"/><Relationship Id="rId5" Type="http://schemas.openxmlformats.org/officeDocument/2006/relationships/chart" Target="../charts/chart44.xml"/><Relationship Id="rId4" Type="http://schemas.openxmlformats.org/officeDocument/2006/relationships/chart" Target="../charts/chart43.xml"/></Relationships>
</file>

<file path=ppt/slides/_rels/slide4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5.xml"/><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8" Type="http://schemas.openxmlformats.org/officeDocument/2006/relationships/chart" Target="../charts/chart47.xml"/><Relationship Id="rId3" Type="http://schemas.openxmlformats.org/officeDocument/2006/relationships/notesSlide" Target="../notesSlides/notesSlide46.xml"/><Relationship Id="rId7" Type="http://schemas.openxmlformats.org/officeDocument/2006/relationships/image" Target="../media/image42.png"/><Relationship Id="rId2" Type="http://schemas.openxmlformats.org/officeDocument/2006/relationships/slideLayout" Target="../slideLayouts/slideLayout15.xml"/><Relationship Id="rId1" Type="http://schemas.openxmlformats.org/officeDocument/2006/relationships/tags" Target="../tags/tag5.xml"/><Relationship Id="rId6" Type="http://schemas.microsoft.com/office/2014/relationships/chartEx" Target="../charts/chartEx1.xml"/><Relationship Id="rId5" Type="http://schemas.openxmlformats.org/officeDocument/2006/relationships/chart" Target="../charts/chart46.xml"/><Relationship Id="rId4" Type="http://schemas.openxmlformats.org/officeDocument/2006/relationships/chart" Target="../charts/chart4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80000"/>
            <a:lum/>
          </a:blip>
          <a:srcRect/>
          <a:stretch>
            <a:fillRect/>
          </a:stretch>
        </a:blipFill>
        <a:effectLst/>
      </p:bgPr>
    </p:bg>
    <p:spTree>
      <p:nvGrpSpPr>
        <p:cNvPr id="1" name="">
          <a:extLst>
            <a:ext uri="{FF2B5EF4-FFF2-40B4-BE49-F238E27FC236}">
              <a16:creationId xmlns:a16="http://schemas.microsoft.com/office/drawing/2014/main" id="{F9E280C0-E3F4-BB87-45BF-69E64033F97F}"/>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1AF24DB7-602A-17A2-3448-D3532DE97F85}"/>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1. Deepfake &amp; Emerging AI Risk</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124000"/>
              </a:lnSpc>
              <a:spcBef>
                <a:spcPts val="1000"/>
              </a:spcBef>
              <a:spcAft>
                <a:spcPts val="0"/>
              </a:spcAft>
              <a:buClr>
                <a:srgbClr val="000000"/>
              </a:buClr>
              <a:buSzPts val="1800"/>
              <a:buFont typeface="Arial"/>
              <a:buNone/>
              <a:tabLst/>
              <a:defRPr/>
            </a:pPr>
            <a:r>
              <a:rPr kumimoji="0" lang="en-US" sz="2000" b="0"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 </a:t>
            </a:r>
            <a:r>
              <a:rPr kumimoji="0" lang="en-US" sz="2000" b="1"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rPr>
              <a:t>– Director of Top 50 Global Insurance Firm</a:t>
            </a:r>
            <a:endParaRPr kumimoji="0" lang="en-US" sz="2000" b="1" i="0" u="none" strike="noStrike" kern="0" cap="none" spc="0" normalizeH="0" baseline="0" noProof="0" dirty="0">
              <a:ln>
                <a:noFill/>
              </a:ln>
              <a:solidFill>
                <a:srgbClr val="000000"/>
              </a:solidFill>
              <a:effectLst/>
              <a:uLnTx/>
              <a:uFillTx/>
              <a:latin typeface="Open Sans"/>
              <a:ea typeface="Open Sans"/>
              <a:cs typeface="Open Sans"/>
              <a:sym typeface="Open Sans"/>
            </a:endParaRPr>
          </a:p>
        </p:txBody>
      </p:sp>
    </p:spTree>
    <p:extLst>
      <p:ext uri="{BB962C8B-B14F-4D97-AF65-F5344CB8AC3E}">
        <p14:creationId xmlns:p14="http://schemas.microsoft.com/office/powerpoint/2010/main" val="2659750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B145B-E559-1F96-17D0-51263EEF204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768E99F-ACA1-62DC-129D-48B20E5DFB92}"/>
              </a:ext>
            </a:extLst>
          </p:cNvPr>
          <p:cNvSpPr/>
          <p:nvPr/>
        </p:nvSpPr>
        <p:spPr>
          <a:xfrm>
            <a:off x="269139" y="1428203"/>
            <a:ext cx="11651914" cy="4303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14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One-third of organizations globally</a:t>
            </a:r>
            <a:r>
              <a:rPr kumimoji="0" lang="en-US" sz="1400" b="0" i="0" u="none" strike="noStrike" kern="1200" cap="none" spc="0" normalizeH="0" baseline="3000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1</a:t>
            </a:r>
            <a:r>
              <a:rPr kumimoji="0" lang="en-US" sz="14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 now report experiencing deepfake fraud incidents, on par with document fraud and social engineering. As organizations grapple with these risks, the emergence of agentic AI solutions (e.g., Meta Muse) introduces a new dimension of exposure, extending fraud concerns beyond impersonation to autonomous systems capable of performing / initiating activities on behalf of customers. Against this backdrop, the critical question is where AI-enabled fraud is exerting the greatest pressure today.</a:t>
            </a:r>
          </a:p>
        </p:txBody>
      </p:sp>
      <p:sp>
        <p:nvSpPr>
          <p:cNvPr id="153" name="Rectangle 152">
            <a:extLst>
              <a:ext uri="{FF2B5EF4-FFF2-40B4-BE49-F238E27FC236}">
                <a16:creationId xmlns:a16="http://schemas.microsoft.com/office/drawing/2014/main" id="{0FFE2E6F-E30C-CD35-D1C9-28480935BE48}"/>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dirty="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DEEPFAKE &amp; EMERGING AI RISK</a:t>
            </a:r>
          </a:p>
        </p:txBody>
      </p:sp>
      <p:grpSp>
        <p:nvGrpSpPr>
          <p:cNvPr id="15" name="Group 14">
            <a:extLst>
              <a:ext uri="{FF2B5EF4-FFF2-40B4-BE49-F238E27FC236}">
                <a16:creationId xmlns:a16="http://schemas.microsoft.com/office/drawing/2014/main" id="{83C24FB5-7AE9-6886-4979-6664A8EA17E6}"/>
              </a:ext>
            </a:extLst>
          </p:cNvPr>
          <p:cNvGrpSpPr/>
          <p:nvPr/>
        </p:nvGrpSpPr>
        <p:grpSpPr>
          <a:xfrm>
            <a:off x="249638" y="464705"/>
            <a:ext cx="11521440" cy="924347"/>
            <a:chOff x="249638" y="464705"/>
            <a:chExt cx="11521440" cy="924347"/>
          </a:xfrm>
        </p:grpSpPr>
        <p:sp>
          <p:nvSpPr>
            <p:cNvPr id="19" name="Text 22">
              <a:extLst>
                <a:ext uri="{FF2B5EF4-FFF2-40B4-BE49-F238E27FC236}">
                  <a16:creationId xmlns:a16="http://schemas.microsoft.com/office/drawing/2014/main" id="{FFF2157E-F0CB-F08F-93A7-91A3A7A0DB83}"/>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WHERE DEEPFAKE RISK CONCENTRATES </a:t>
              </a:r>
            </a:p>
          </p:txBody>
        </p:sp>
        <p:sp>
          <p:nvSpPr>
            <p:cNvPr id="5" name="TextBox 4">
              <a:extLst>
                <a:ext uri="{FF2B5EF4-FFF2-40B4-BE49-F238E27FC236}">
                  <a16:creationId xmlns:a16="http://schemas.microsoft.com/office/drawing/2014/main" id="{13A38D4F-D29E-FA15-7D76-8E14E17191C6}"/>
                </a:ext>
              </a:extLst>
            </p:cNvPr>
            <p:cNvSpPr txBox="1"/>
            <p:nvPr/>
          </p:nvSpPr>
          <p:spPr>
            <a:xfrm>
              <a:off x="249638" y="711944"/>
              <a:ext cx="11521440" cy="6771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2200" b="1" i="0" u="none" strike="noStrike" kern="1200" cap="none" spc="0" normalizeH="0" baseline="0" noProof="0" dirty="0">
                  <a:ln>
                    <a:noFill/>
                  </a:ln>
                  <a:solidFill>
                    <a:srgbClr val="111111"/>
                  </a:solidFill>
                  <a:effectLst/>
                  <a:uLnTx/>
                  <a:uFillTx/>
                  <a:latin typeface="Segoe UI" panose="020B0502040204020203" pitchFamily="34" charset="0"/>
                  <a:ea typeface="+mn-ea"/>
                  <a:cs typeface="Segoe UI" panose="020B0502040204020203" pitchFamily="34" charset="0"/>
                  <a:sym typeface="Arial"/>
                </a:rPr>
                <a:t>Banking and insurance converge on onboarding and payments, but diverge at the contact center </a:t>
              </a:r>
              <a:endParaRPr kumimoji="0" sz="2200" b="1" i="0" u="none" strike="noStrike" kern="1200" cap="none" spc="0" normalizeH="0" baseline="0" noProof="0" dirty="0">
                <a:ln>
                  <a:noFill/>
                </a:ln>
                <a:solidFill>
                  <a:srgbClr val="111111"/>
                </a:solidFill>
                <a:effectLst/>
                <a:uLnTx/>
                <a:uFillTx/>
                <a:latin typeface="Segoe UI" panose="020B0502040204020203" pitchFamily="34" charset="0"/>
                <a:ea typeface="+mn-ea"/>
                <a:cs typeface="Segoe UI" panose="020B0502040204020203" pitchFamily="34" charset="0"/>
                <a:sym typeface="Arial"/>
              </a:endParaRPr>
            </a:p>
          </p:txBody>
        </p:sp>
      </p:grpSp>
      <p:sp>
        <p:nvSpPr>
          <p:cNvPr id="13" name="Rounded Rectangle 47">
            <a:extLst>
              <a:ext uri="{FF2B5EF4-FFF2-40B4-BE49-F238E27FC236}">
                <a16:creationId xmlns:a16="http://schemas.microsoft.com/office/drawing/2014/main" id="{8942D059-49E6-6AFD-6963-0380C8F61610}"/>
              </a:ext>
            </a:extLst>
          </p:cNvPr>
          <p:cNvSpPr/>
          <p:nvPr/>
        </p:nvSpPr>
        <p:spPr>
          <a:xfrm>
            <a:off x="3146629" y="2414134"/>
            <a:ext cx="4219528" cy="2367373"/>
          </a:xfrm>
          <a:prstGeom prst="roundRect">
            <a:avLst>
              <a:gd name="adj" fmla="val 6000"/>
            </a:avLst>
          </a:prstGeom>
          <a:solidFill>
            <a:srgbClr val="FFFFFF"/>
          </a:solidFill>
          <a:ln w="285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rPr>
              <a:t>v</a:t>
            </a: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4" name="Rectangle: Rounded Corners 13">
            <a:extLst>
              <a:ext uri="{FF2B5EF4-FFF2-40B4-BE49-F238E27FC236}">
                <a16:creationId xmlns:a16="http://schemas.microsoft.com/office/drawing/2014/main" id="{4D31C47A-861A-BFBD-DDA0-60EF9533C659}"/>
              </a:ext>
            </a:extLst>
          </p:cNvPr>
          <p:cNvSpPr/>
          <p:nvPr/>
        </p:nvSpPr>
        <p:spPr>
          <a:xfrm>
            <a:off x="249638" y="2431282"/>
            <a:ext cx="2647532" cy="2350226"/>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FFFFFF"/>
              </a:solidFill>
              <a:effectLst/>
              <a:uLnTx/>
              <a:uFillTx/>
              <a:latin typeface="Arial"/>
              <a:ea typeface="+mn-ea"/>
              <a:cs typeface="+mn-cs"/>
              <a:sym typeface="Arial"/>
            </a:endParaRPr>
          </a:p>
        </p:txBody>
      </p:sp>
      <p:sp>
        <p:nvSpPr>
          <p:cNvPr id="18" name="TextBox 17">
            <a:extLst>
              <a:ext uri="{FF2B5EF4-FFF2-40B4-BE49-F238E27FC236}">
                <a16:creationId xmlns:a16="http://schemas.microsoft.com/office/drawing/2014/main" id="{251CAC15-B0B6-5A6B-9A85-21F4CDAE68C8}"/>
              </a:ext>
            </a:extLst>
          </p:cNvPr>
          <p:cNvSpPr txBox="1"/>
          <p:nvPr/>
        </p:nvSpPr>
        <p:spPr>
          <a:xfrm>
            <a:off x="584015" y="3269674"/>
            <a:ext cx="1801368" cy="123110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Both sectors feel pressure where identity is established and money moves</a:t>
            </a:r>
            <a:endParaRPr kumimoji="0" sz="16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22" name="Title 2">
            <a:extLst>
              <a:ext uri="{FF2B5EF4-FFF2-40B4-BE49-F238E27FC236}">
                <a16:creationId xmlns:a16="http://schemas.microsoft.com/office/drawing/2014/main" id="{F8C0FCF4-7CF4-74E9-22AB-D65F03E92177}"/>
              </a:ext>
            </a:extLst>
          </p:cNvPr>
          <p:cNvSpPr txBox="1">
            <a:spLocks/>
          </p:cNvSpPr>
          <p:nvPr/>
        </p:nvSpPr>
        <p:spPr>
          <a:xfrm>
            <a:off x="3768775" y="2495287"/>
            <a:ext cx="3679607" cy="627864"/>
          </a:xfrm>
          <a:prstGeom prst="rect">
            <a:avLst/>
          </a:prstGeom>
        </p:spPr>
        <p:txBody>
          <a:bodyPr vert="horz" wrap="square" lIns="91440" tIns="91440" rIns="91440" bIns="91440" rtlCol="0" anchor="ctr">
            <a:spAutoFit/>
          </a:bodyPr>
          <a:lstStyle>
            <a:lvl1pPr algn="l" defTabSz="914400" rtl="0" eaLnBrk="1" latinLnBrk="0" hangingPunct="1">
              <a:lnSpc>
                <a:spcPct val="90000"/>
              </a:lnSpc>
              <a:spcBef>
                <a:spcPct val="0"/>
              </a:spcBef>
              <a:buNone/>
              <a:defRPr lang="en-CA" sz="3600" b="1" kern="1200" cap="all" baseline="0">
                <a:solidFill>
                  <a:schemeClr val="tx1"/>
                </a:solidFill>
                <a:latin typeface="+mn-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1600" b="1" i="0" u="none" strike="noStrike" kern="1200" cap="none" spc="0" normalizeH="0" baseline="0" noProof="0" dirty="0">
                <a:ln>
                  <a:noFill/>
                </a:ln>
                <a:solidFill>
                  <a:srgbClr val="046A38"/>
                </a:solidFill>
                <a:effectLst/>
                <a:uLnTx/>
                <a:uFillTx/>
                <a:latin typeface="Segoe UI" panose="020B0502040204020203" pitchFamily="34" charset="0"/>
                <a:ea typeface="+mj-ea"/>
                <a:cs typeface="Segoe UI" panose="020B0502040204020203" pitchFamily="34" charset="0"/>
                <a:sym typeface="Arial"/>
              </a:rPr>
              <a:t>Digital onboarding, KYC &amp; identity verification</a:t>
            </a:r>
          </a:p>
        </p:txBody>
      </p:sp>
      <p:grpSp>
        <p:nvGrpSpPr>
          <p:cNvPr id="23" name="Graphic 4">
            <a:extLst>
              <a:ext uri="{FF2B5EF4-FFF2-40B4-BE49-F238E27FC236}">
                <a16:creationId xmlns:a16="http://schemas.microsoft.com/office/drawing/2014/main" id="{07FADAA1-47D5-588A-E162-032C28F3F898}"/>
              </a:ext>
            </a:extLst>
          </p:cNvPr>
          <p:cNvGrpSpPr/>
          <p:nvPr/>
        </p:nvGrpSpPr>
        <p:grpSpPr>
          <a:xfrm>
            <a:off x="3272249" y="2578306"/>
            <a:ext cx="461826" cy="461826"/>
            <a:chOff x="905454" y="918179"/>
            <a:chExt cx="362309" cy="361971"/>
          </a:xfrm>
          <a:solidFill>
            <a:schemeClr val="accent2"/>
          </a:solidFill>
        </p:grpSpPr>
        <p:sp>
          <p:nvSpPr>
            <p:cNvPr id="24" name="Graphic 4">
              <a:extLst>
                <a:ext uri="{FF2B5EF4-FFF2-40B4-BE49-F238E27FC236}">
                  <a16:creationId xmlns:a16="http://schemas.microsoft.com/office/drawing/2014/main" id="{F7942F26-6452-6A92-9A7D-7D897709347B}"/>
                </a:ext>
              </a:extLst>
            </p:cNvPr>
            <p:cNvSpPr/>
            <p:nvPr/>
          </p:nvSpPr>
          <p:spPr>
            <a:xfrm>
              <a:off x="1003105" y="1019046"/>
              <a:ext cx="113855" cy="110442"/>
            </a:xfrm>
            <a:custGeom>
              <a:avLst/>
              <a:gdLst>
                <a:gd name="connsiteX0" fmla="*/ 83184 w 113855"/>
                <a:gd name="connsiteY0" fmla="*/ 0 h 110442"/>
                <a:gd name="connsiteX1" fmla="*/ 754 w 113855"/>
                <a:gd name="connsiteY1" fmla="*/ 15322 h 110442"/>
                <a:gd name="connsiteX2" fmla="*/ 20563 w 113855"/>
                <a:gd name="connsiteY2" fmla="*/ 110443 h 110442"/>
                <a:gd name="connsiteX3" fmla="*/ 113856 w 113855"/>
                <a:gd name="connsiteY3" fmla="*/ 17237 h 110442"/>
                <a:gd name="connsiteX4" fmla="*/ 83184 w 113855"/>
                <a:gd name="connsiteY4" fmla="*/ 0 h 1104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855" h="110442">
                  <a:moveTo>
                    <a:pt x="83184" y="0"/>
                  </a:moveTo>
                  <a:cubicBezTo>
                    <a:pt x="60819" y="20429"/>
                    <a:pt x="28869" y="26174"/>
                    <a:pt x="754" y="15322"/>
                  </a:cubicBezTo>
                  <a:cubicBezTo>
                    <a:pt x="-2441" y="48518"/>
                    <a:pt x="4588" y="81715"/>
                    <a:pt x="20563" y="110443"/>
                  </a:cubicBezTo>
                  <a:lnTo>
                    <a:pt x="113856" y="17237"/>
                  </a:lnTo>
                  <a:cubicBezTo>
                    <a:pt x="102354" y="14045"/>
                    <a:pt x="92130" y="8299"/>
                    <a:pt x="83184" y="0"/>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25" name="Graphic 4">
              <a:extLst>
                <a:ext uri="{FF2B5EF4-FFF2-40B4-BE49-F238E27FC236}">
                  <a16:creationId xmlns:a16="http://schemas.microsoft.com/office/drawing/2014/main" id="{F625A9D4-1FFE-73DB-FDF7-C9687B68743C}"/>
                </a:ext>
              </a:extLst>
            </p:cNvPr>
            <p:cNvSpPr/>
            <p:nvPr/>
          </p:nvSpPr>
          <p:spPr>
            <a:xfrm>
              <a:off x="1047310" y="1038836"/>
              <a:ext cx="121669" cy="153853"/>
            </a:xfrm>
            <a:custGeom>
              <a:avLst/>
              <a:gdLst>
                <a:gd name="connsiteX0" fmla="*/ 0 w 121669"/>
                <a:gd name="connsiteY0" fmla="*/ 121934 h 153853"/>
                <a:gd name="connsiteX1" fmla="*/ 38979 w 121669"/>
                <a:gd name="connsiteY1" fmla="*/ 153854 h 153853"/>
                <a:gd name="connsiteX2" fmla="*/ 121409 w 121669"/>
                <a:gd name="connsiteY2" fmla="*/ 0 h 153853"/>
                <a:gd name="connsiteX3" fmla="*/ 0 w 121669"/>
                <a:gd name="connsiteY3" fmla="*/ 121934 h 153853"/>
              </a:gdLst>
              <a:ahLst/>
              <a:cxnLst>
                <a:cxn ang="0">
                  <a:pos x="connsiteX0" y="connsiteY0"/>
                </a:cxn>
                <a:cxn ang="0">
                  <a:pos x="connsiteX1" y="connsiteY1"/>
                </a:cxn>
                <a:cxn ang="0">
                  <a:pos x="connsiteX2" y="connsiteY2"/>
                </a:cxn>
                <a:cxn ang="0">
                  <a:pos x="connsiteX3" y="connsiteY3"/>
                </a:cxn>
              </a:cxnLst>
              <a:rect l="l" t="t" r="r" b="b"/>
              <a:pathLst>
                <a:path w="121669" h="153853">
                  <a:moveTo>
                    <a:pt x="0" y="121934"/>
                  </a:moveTo>
                  <a:cubicBezTo>
                    <a:pt x="11502" y="134702"/>
                    <a:pt x="24921" y="144916"/>
                    <a:pt x="38979" y="153854"/>
                  </a:cubicBezTo>
                  <a:cubicBezTo>
                    <a:pt x="54954" y="144916"/>
                    <a:pt x="126521" y="97037"/>
                    <a:pt x="121409" y="0"/>
                  </a:cubicBezTo>
                  <a:lnTo>
                    <a:pt x="0" y="121934"/>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31" name="Graphic 4">
              <a:extLst>
                <a:ext uri="{FF2B5EF4-FFF2-40B4-BE49-F238E27FC236}">
                  <a16:creationId xmlns:a16="http://schemas.microsoft.com/office/drawing/2014/main" id="{F6997BFE-6FF6-EFEE-A7D7-25D69A40EB07}"/>
                </a:ext>
              </a:extLst>
            </p:cNvPr>
            <p:cNvSpPr/>
            <p:nvPr/>
          </p:nvSpPr>
          <p:spPr>
            <a:xfrm>
              <a:off x="1031335" y="1038836"/>
              <a:ext cx="120130" cy="112358"/>
            </a:xfrm>
            <a:custGeom>
              <a:avLst/>
              <a:gdLst>
                <a:gd name="connsiteX0" fmla="*/ 100961 w 120130"/>
                <a:gd name="connsiteY0" fmla="*/ 638 h 112358"/>
                <a:gd name="connsiteX1" fmla="*/ 0 w 120130"/>
                <a:gd name="connsiteY1" fmla="*/ 101505 h 112358"/>
                <a:gd name="connsiteX2" fmla="*/ 7668 w 120130"/>
                <a:gd name="connsiteY2" fmla="*/ 112358 h 112358"/>
                <a:gd name="connsiteX3" fmla="*/ 120131 w 120130"/>
                <a:gd name="connsiteY3" fmla="*/ 0 h 112358"/>
                <a:gd name="connsiteX4" fmla="*/ 100961 w 120130"/>
                <a:gd name="connsiteY4" fmla="*/ 638 h 1123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130" h="112358">
                  <a:moveTo>
                    <a:pt x="100961" y="638"/>
                  </a:moveTo>
                  <a:lnTo>
                    <a:pt x="0" y="101505"/>
                  </a:lnTo>
                  <a:cubicBezTo>
                    <a:pt x="2556" y="105336"/>
                    <a:pt x="5112" y="109166"/>
                    <a:pt x="7668" y="112358"/>
                  </a:cubicBezTo>
                  <a:lnTo>
                    <a:pt x="120131" y="0"/>
                  </a:lnTo>
                  <a:cubicBezTo>
                    <a:pt x="113741" y="638"/>
                    <a:pt x="107351" y="638"/>
                    <a:pt x="100961" y="638"/>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35" name="Graphic 4">
              <a:extLst>
                <a:ext uri="{FF2B5EF4-FFF2-40B4-BE49-F238E27FC236}">
                  <a16:creationId xmlns:a16="http://schemas.microsoft.com/office/drawing/2014/main" id="{09D61E77-7B09-3D4E-746F-8256A8BEA680}"/>
                </a:ext>
              </a:extLst>
            </p:cNvPr>
            <p:cNvSpPr/>
            <p:nvPr/>
          </p:nvSpPr>
          <p:spPr>
            <a:xfrm>
              <a:off x="905454" y="918179"/>
              <a:ext cx="362309" cy="361971"/>
            </a:xfrm>
            <a:custGeom>
              <a:avLst/>
              <a:gdLst>
                <a:gd name="connsiteX0" fmla="*/ 180835 w 362309"/>
                <a:gd name="connsiteY0" fmla="*/ 0 h 361971"/>
                <a:gd name="connsiteX1" fmla="*/ 0 w 362309"/>
                <a:gd name="connsiteY1" fmla="*/ 181305 h 361971"/>
                <a:gd name="connsiteX2" fmla="*/ 180835 w 362309"/>
                <a:gd name="connsiteY2" fmla="*/ 361972 h 361971"/>
                <a:gd name="connsiteX3" fmla="*/ 362309 w 362309"/>
                <a:gd name="connsiteY3" fmla="*/ 181305 h 361971"/>
                <a:gd name="connsiteX4" fmla="*/ 180835 w 362309"/>
                <a:gd name="connsiteY4" fmla="*/ 0 h 361971"/>
                <a:gd name="connsiteX5" fmla="*/ 180835 w 362309"/>
                <a:gd name="connsiteY5" fmla="*/ 0 h 361971"/>
                <a:gd name="connsiteX6" fmla="*/ 184030 w 362309"/>
                <a:gd name="connsiteY6" fmla="*/ 287918 h 361971"/>
                <a:gd name="connsiteX7" fmla="*/ 183391 w 362309"/>
                <a:gd name="connsiteY7" fmla="*/ 288556 h 361971"/>
                <a:gd name="connsiteX8" fmla="*/ 182752 w 362309"/>
                <a:gd name="connsiteY8" fmla="*/ 288556 h 361971"/>
                <a:gd name="connsiteX9" fmla="*/ 181474 w 362309"/>
                <a:gd name="connsiteY9" fmla="*/ 288556 h 361971"/>
                <a:gd name="connsiteX10" fmla="*/ 181474 w 362309"/>
                <a:gd name="connsiteY10" fmla="*/ 288556 h 361971"/>
                <a:gd name="connsiteX11" fmla="*/ 180196 w 362309"/>
                <a:gd name="connsiteY11" fmla="*/ 288556 h 361971"/>
                <a:gd name="connsiteX12" fmla="*/ 179557 w 362309"/>
                <a:gd name="connsiteY12" fmla="*/ 288556 h 361971"/>
                <a:gd name="connsiteX13" fmla="*/ 178918 w 362309"/>
                <a:gd name="connsiteY13" fmla="*/ 287918 h 361971"/>
                <a:gd name="connsiteX14" fmla="*/ 87542 w 362309"/>
                <a:gd name="connsiteY14" fmla="*/ 105974 h 361971"/>
                <a:gd name="connsiteX15" fmla="*/ 94571 w 362309"/>
                <a:gd name="connsiteY15" fmla="*/ 100229 h 361971"/>
                <a:gd name="connsiteX16" fmla="*/ 97127 w 362309"/>
                <a:gd name="connsiteY16" fmla="*/ 100867 h 361971"/>
                <a:gd name="connsiteX17" fmla="*/ 177640 w 362309"/>
                <a:gd name="connsiteY17" fmla="*/ 87461 h 361971"/>
                <a:gd name="connsiteX18" fmla="*/ 186586 w 362309"/>
                <a:gd name="connsiteY18" fmla="*/ 87461 h 361971"/>
                <a:gd name="connsiteX19" fmla="*/ 186586 w 362309"/>
                <a:gd name="connsiteY19" fmla="*/ 87461 h 361971"/>
                <a:gd name="connsiteX20" fmla="*/ 267099 w 362309"/>
                <a:gd name="connsiteY20" fmla="*/ 100867 h 361971"/>
                <a:gd name="connsiteX21" fmla="*/ 272850 w 362309"/>
                <a:gd name="connsiteY21" fmla="*/ 100867 h 361971"/>
                <a:gd name="connsiteX22" fmla="*/ 276684 w 362309"/>
                <a:gd name="connsiteY22" fmla="*/ 105974 h 361971"/>
                <a:gd name="connsiteX23" fmla="*/ 184030 w 362309"/>
                <a:gd name="connsiteY23" fmla="*/ 287918 h 361971"/>
                <a:gd name="connsiteX24" fmla="*/ 184030 w 362309"/>
                <a:gd name="connsiteY24" fmla="*/ 287918 h 361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62309" h="361971">
                  <a:moveTo>
                    <a:pt x="180835" y="0"/>
                  </a:moveTo>
                  <a:cubicBezTo>
                    <a:pt x="80513" y="0"/>
                    <a:pt x="0" y="81077"/>
                    <a:pt x="0" y="181305"/>
                  </a:cubicBezTo>
                  <a:cubicBezTo>
                    <a:pt x="0" y="281534"/>
                    <a:pt x="81152" y="361972"/>
                    <a:pt x="180835" y="361972"/>
                  </a:cubicBezTo>
                  <a:cubicBezTo>
                    <a:pt x="280518" y="361972"/>
                    <a:pt x="362309" y="280895"/>
                    <a:pt x="362309" y="181305"/>
                  </a:cubicBezTo>
                  <a:cubicBezTo>
                    <a:pt x="362309" y="81715"/>
                    <a:pt x="281157" y="0"/>
                    <a:pt x="180835" y="0"/>
                  </a:cubicBezTo>
                  <a:cubicBezTo>
                    <a:pt x="180835" y="0"/>
                    <a:pt x="180835" y="0"/>
                    <a:pt x="180835" y="0"/>
                  </a:cubicBezTo>
                  <a:close/>
                  <a:moveTo>
                    <a:pt x="184030" y="287918"/>
                  </a:moveTo>
                  <a:lnTo>
                    <a:pt x="183391" y="288556"/>
                  </a:lnTo>
                  <a:lnTo>
                    <a:pt x="182752" y="288556"/>
                  </a:lnTo>
                  <a:cubicBezTo>
                    <a:pt x="182113" y="288556"/>
                    <a:pt x="181474" y="288556"/>
                    <a:pt x="181474" y="288556"/>
                  </a:cubicBezTo>
                  <a:lnTo>
                    <a:pt x="181474" y="288556"/>
                  </a:lnTo>
                  <a:cubicBezTo>
                    <a:pt x="180835" y="288556"/>
                    <a:pt x="180196" y="288556"/>
                    <a:pt x="180196" y="288556"/>
                  </a:cubicBezTo>
                  <a:lnTo>
                    <a:pt x="179557" y="288556"/>
                  </a:lnTo>
                  <a:lnTo>
                    <a:pt x="178918" y="287918"/>
                  </a:lnTo>
                  <a:cubicBezTo>
                    <a:pt x="177640" y="287279"/>
                    <a:pt x="72845" y="231739"/>
                    <a:pt x="87542" y="105974"/>
                  </a:cubicBezTo>
                  <a:cubicBezTo>
                    <a:pt x="88181" y="102782"/>
                    <a:pt x="91376" y="100229"/>
                    <a:pt x="94571" y="100229"/>
                  </a:cubicBezTo>
                  <a:cubicBezTo>
                    <a:pt x="95210" y="100229"/>
                    <a:pt x="96488" y="100867"/>
                    <a:pt x="97127" y="100867"/>
                  </a:cubicBezTo>
                  <a:cubicBezTo>
                    <a:pt x="123965" y="114912"/>
                    <a:pt x="156553" y="109166"/>
                    <a:pt x="177640" y="87461"/>
                  </a:cubicBezTo>
                  <a:cubicBezTo>
                    <a:pt x="180196" y="84907"/>
                    <a:pt x="184030" y="84907"/>
                    <a:pt x="186586" y="87461"/>
                  </a:cubicBezTo>
                  <a:cubicBezTo>
                    <a:pt x="186586" y="87461"/>
                    <a:pt x="186586" y="87461"/>
                    <a:pt x="186586" y="87461"/>
                  </a:cubicBezTo>
                  <a:cubicBezTo>
                    <a:pt x="207034" y="109804"/>
                    <a:pt x="240262" y="114912"/>
                    <a:pt x="267099" y="100867"/>
                  </a:cubicBezTo>
                  <a:cubicBezTo>
                    <a:pt x="269016" y="99590"/>
                    <a:pt x="270933" y="99590"/>
                    <a:pt x="272850" y="100867"/>
                  </a:cubicBezTo>
                  <a:cubicBezTo>
                    <a:pt x="274767" y="102144"/>
                    <a:pt x="276045" y="103420"/>
                    <a:pt x="276684" y="105974"/>
                  </a:cubicBezTo>
                  <a:cubicBezTo>
                    <a:pt x="290103" y="231739"/>
                    <a:pt x="185308" y="287279"/>
                    <a:pt x="184030" y="287918"/>
                  </a:cubicBezTo>
                  <a:lnTo>
                    <a:pt x="184030" y="287918"/>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grpSp>
      <p:sp>
        <p:nvSpPr>
          <p:cNvPr id="37" name="Text 11">
            <a:extLst>
              <a:ext uri="{FF2B5EF4-FFF2-40B4-BE49-F238E27FC236}">
                <a16:creationId xmlns:a16="http://schemas.microsoft.com/office/drawing/2014/main" id="{76456386-309A-CAA2-3B9A-973773DF6F9F}"/>
              </a:ext>
            </a:extLst>
          </p:cNvPr>
          <p:cNvSpPr/>
          <p:nvPr/>
        </p:nvSpPr>
        <p:spPr>
          <a:xfrm>
            <a:off x="3396722" y="3614020"/>
            <a:ext cx="1317171" cy="538609"/>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dirty="0">
                <a:ln>
                  <a:noFill/>
                </a:ln>
                <a:solidFill>
                  <a:srgbClr val="046A38"/>
                </a:solidFill>
                <a:effectLst/>
                <a:uLnTx/>
                <a:uFillTx/>
                <a:latin typeface="Segoe UI" panose="020B0502040204020203" pitchFamily="34" charset="0"/>
                <a:ea typeface="Calibri" pitchFamily="34" charset="-122"/>
                <a:cs typeface="Segoe UI" panose="020B0502040204020203" pitchFamily="34" charset="0"/>
                <a:sym typeface="Arial"/>
              </a:rPr>
              <a:t>70%</a:t>
            </a:r>
            <a:endParaRPr kumimoji="0" lang="en-US" sz="3500" b="0"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endParaRPr>
          </a:p>
        </p:txBody>
      </p:sp>
      <p:sp>
        <p:nvSpPr>
          <p:cNvPr id="40" name="Text 12">
            <a:extLst>
              <a:ext uri="{FF2B5EF4-FFF2-40B4-BE49-F238E27FC236}">
                <a16:creationId xmlns:a16="http://schemas.microsoft.com/office/drawing/2014/main" id="{6FD44199-DFB4-7220-3C08-F3A810CD9091}"/>
              </a:ext>
            </a:extLst>
          </p:cNvPr>
          <p:cNvSpPr/>
          <p:nvPr/>
        </p:nvSpPr>
        <p:spPr>
          <a:xfrm>
            <a:off x="3396723" y="4195191"/>
            <a:ext cx="4051660" cy="338554"/>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000000"/>
                </a:solidFill>
                <a:effectLst/>
                <a:uLnTx/>
                <a:uFillTx/>
                <a:latin typeface="Segoe UI" panose="020B0502040204020203" pitchFamily="34" charset="0"/>
                <a:ea typeface="Calibri" pitchFamily="34" charset="-122"/>
                <a:cs typeface="Segoe UI" panose="020B0502040204020203" pitchFamily="34" charset="0"/>
                <a:sym typeface="Arial"/>
              </a:rPr>
              <a:t>of all respondents cited as experiencing the greatest increase in vulnerability</a:t>
            </a:r>
          </a:p>
        </p:txBody>
      </p:sp>
      <p:sp>
        <p:nvSpPr>
          <p:cNvPr id="43" name="Rectangle: Rounded Corners 42">
            <a:extLst>
              <a:ext uri="{FF2B5EF4-FFF2-40B4-BE49-F238E27FC236}">
                <a16:creationId xmlns:a16="http://schemas.microsoft.com/office/drawing/2014/main" id="{2FC12802-F472-553E-374B-7781A88A4A64}"/>
              </a:ext>
            </a:extLst>
          </p:cNvPr>
          <p:cNvSpPr/>
          <p:nvPr/>
        </p:nvSpPr>
        <p:spPr>
          <a:xfrm>
            <a:off x="3272249" y="3204304"/>
            <a:ext cx="2967510" cy="280826"/>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500" b="1" i="0" u="none" strike="noStrike" kern="0" cap="none" spc="100" normalizeH="0" baseline="0" noProof="0" dirty="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BANKING AND INSURANCE</a:t>
            </a:r>
          </a:p>
        </p:txBody>
      </p:sp>
      <p:sp>
        <p:nvSpPr>
          <p:cNvPr id="131" name="Rounded Rectangle 47">
            <a:extLst>
              <a:ext uri="{FF2B5EF4-FFF2-40B4-BE49-F238E27FC236}">
                <a16:creationId xmlns:a16="http://schemas.microsoft.com/office/drawing/2014/main" id="{B607BA37-DD3A-C175-E01F-DBEB2A4C0E96}"/>
              </a:ext>
            </a:extLst>
          </p:cNvPr>
          <p:cNvSpPr/>
          <p:nvPr/>
        </p:nvSpPr>
        <p:spPr>
          <a:xfrm>
            <a:off x="7640608" y="2383656"/>
            <a:ext cx="4219528" cy="2397851"/>
          </a:xfrm>
          <a:prstGeom prst="roundRect">
            <a:avLst>
              <a:gd name="adj" fmla="val 6000"/>
            </a:avLst>
          </a:prstGeom>
          <a:solidFill>
            <a:srgbClr val="FFFFFF"/>
          </a:solidFill>
          <a:ln w="285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2" name="Title 2">
            <a:extLst>
              <a:ext uri="{FF2B5EF4-FFF2-40B4-BE49-F238E27FC236}">
                <a16:creationId xmlns:a16="http://schemas.microsoft.com/office/drawing/2014/main" id="{99CB2698-5071-2799-317D-2048ACF23626}"/>
              </a:ext>
            </a:extLst>
          </p:cNvPr>
          <p:cNvSpPr txBox="1">
            <a:spLocks/>
          </p:cNvSpPr>
          <p:nvPr/>
        </p:nvSpPr>
        <p:spPr>
          <a:xfrm>
            <a:off x="8262754" y="2575608"/>
            <a:ext cx="3679607" cy="406265"/>
          </a:xfrm>
          <a:prstGeom prst="rect">
            <a:avLst/>
          </a:prstGeom>
        </p:spPr>
        <p:txBody>
          <a:bodyPr vert="horz" wrap="square" lIns="91440" tIns="91440" rIns="91440" bIns="91440" rtlCol="0" anchor="ctr">
            <a:spAutoFit/>
          </a:bodyPr>
          <a:lstStyle>
            <a:lvl1pPr algn="l" defTabSz="914400" rtl="0" eaLnBrk="1" latinLnBrk="0" hangingPunct="1">
              <a:lnSpc>
                <a:spcPct val="90000"/>
              </a:lnSpc>
              <a:spcBef>
                <a:spcPct val="0"/>
              </a:spcBef>
              <a:buNone/>
              <a:defRPr lang="en-CA" sz="3600" b="1" kern="1200" cap="all" baseline="0">
                <a:solidFill>
                  <a:schemeClr val="tx1"/>
                </a:solidFill>
                <a:latin typeface="+mn-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1600" b="1" i="0" u="none" strike="noStrike" kern="1200" cap="none" spc="0" normalizeH="0" baseline="0" noProof="0" dirty="0">
                <a:ln>
                  <a:noFill/>
                </a:ln>
                <a:solidFill>
                  <a:srgbClr val="046A38"/>
                </a:solidFill>
                <a:effectLst/>
                <a:uLnTx/>
                <a:uFillTx/>
                <a:latin typeface="Segoe UI" panose="020B0502040204020203" pitchFamily="34" charset="0"/>
                <a:ea typeface="+mj-ea"/>
                <a:cs typeface="Segoe UI" panose="020B0502040204020203" pitchFamily="34" charset="0"/>
                <a:sym typeface="Arial"/>
              </a:rPr>
              <a:t>Payments &amp; claim flows</a:t>
            </a:r>
          </a:p>
        </p:txBody>
      </p:sp>
      <p:sp>
        <p:nvSpPr>
          <p:cNvPr id="147" name="Rectangle: Rounded Corners 146">
            <a:extLst>
              <a:ext uri="{FF2B5EF4-FFF2-40B4-BE49-F238E27FC236}">
                <a16:creationId xmlns:a16="http://schemas.microsoft.com/office/drawing/2014/main" id="{9056CC55-5B27-3BE5-1414-7A1389BF8464}"/>
              </a:ext>
            </a:extLst>
          </p:cNvPr>
          <p:cNvSpPr/>
          <p:nvPr/>
        </p:nvSpPr>
        <p:spPr>
          <a:xfrm>
            <a:off x="7766228" y="3173825"/>
            <a:ext cx="1240612" cy="309161"/>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500" b="1" i="0" u="none" strike="noStrike" kern="0" cap="none" spc="100" normalizeH="0" baseline="0" noProof="0" dirty="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BANKING </a:t>
            </a:r>
          </a:p>
        </p:txBody>
      </p:sp>
      <p:sp>
        <p:nvSpPr>
          <p:cNvPr id="163" name="Rectangle: Rounded Corners 162">
            <a:extLst>
              <a:ext uri="{FF2B5EF4-FFF2-40B4-BE49-F238E27FC236}">
                <a16:creationId xmlns:a16="http://schemas.microsoft.com/office/drawing/2014/main" id="{C8804A66-5E8F-5267-3A77-569A29E205D4}"/>
              </a:ext>
            </a:extLst>
          </p:cNvPr>
          <p:cNvSpPr/>
          <p:nvPr/>
        </p:nvSpPr>
        <p:spPr>
          <a:xfrm>
            <a:off x="9816556" y="3141992"/>
            <a:ext cx="1684988" cy="354308"/>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500" b="1" i="0" u="none" strike="noStrike" kern="0" cap="none" spc="100" normalizeH="0" baseline="0" noProof="0" dirty="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INSURANCE</a:t>
            </a:r>
          </a:p>
        </p:txBody>
      </p:sp>
      <p:sp>
        <p:nvSpPr>
          <p:cNvPr id="166" name="Text 11">
            <a:extLst>
              <a:ext uri="{FF2B5EF4-FFF2-40B4-BE49-F238E27FC236}">
                <a16:creationId xmlns:a16="http://schemas.microsoft.com/office/drawing/2014/main" id="{38166BC0-841A-C7AF-AD6C-0500ECA92CAF}"/>
              </a:ext>
            </a:extLst>
          </p:cNvPr>
          <p:cNvSpPr/>
          <p:nvPr/>
        </p:nvSpPr>
        <p:spPr>
          <a:xfrm>
            <a:off x="7890701" y="3593637"/>
            <a:ext cx="1317171" cy="538609"/>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dirty="0">
                <a:ln>
                  <a:noFill/>
                </a:ln>
                <a:solidFill>
                  <a:srgbClr val="046A38"/>
                </a:solidFill>
                <a:effectLst/>
                <a:uLnTx/>
                <a:uFillTx/>
                <a:latin typeface="Segoe UI" panose="020B0502040204020203" pitchFamily="34" charset="0"/>
                <a:ea typeface="Calibri" pitchFamily="34" charset="-122"/>
                <a:cs typeface="Segoe UI" panose="020B0502040204020203" pitchFamily="34" charset="0"/>
                <a:sym typeface="Arial"/>
              </a:rPr>
              <a:t>73%</a:t>
            </a:r>
            <a:endParaRPr kumimoji="0" lang="en-US" sz="3500" b="0"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endParaRPr>
          </a:p>
        </p:txBody>
      </p:sp>
      <p:sp>
        <p:nvSpPr>
          <p:cNvPr id="168" name="Text 12">
            <a:extLst>
              <a:ext uri="{FF2B5EF4-FFF2-40B4-BE49-F238E27FC236}">
                <a16:creationId xmlns:a16="http://schemas.microsoft.com/office/drawing/2014/main" id="{C5D9C31B-0E44-9063-F9D1-5CBE06DBFBC4}"/>
              </a:ext>
            </a:extLst>
          </p:cNvPr>
          <p:cNvSpPr/>
          <p:nvPr/>
        </p:nvSpPr>
        <p:spPr>
          <a:xfrm>
            <a:off x="7890701" y="4146594"/>
            <a:ext cx="1862776" cy="338554"/>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000000"/>
                </a:solidFill>
                <a:effectLst/>
                <a:uLnTx/>
                <a:uFillTx/>
                <a:latin typeface="Segoe UI" panose="020B0502040204020203" pitchFamily="34" charset="0"/>
                <a:ea typeface="Calibri" pitchFamily="34" charset="-122"/>
                <a:cs typeface="Segoe UI" panose="020B0502040204020203" pitchFamily="34" charset="0"/>
                <a:sym typeface="Arial"/>
              </a:rPr>
              <a:t>flagged payment and transaction approvals</a:t>
            </a:r>
          </a:p>
        </p:txBody>
      </p:sp>
      <p:sp>
        <p:nvSpPr>
          <p:cNvPr id="170" name="Text 11">
            <a:extLst>
              <a:ext uri="{FF2B5EF4-FFF2-40B4-BE49-F238E27FC236}">
                <a16:creationId xmlns:a16="http://schemas.microsoft.com/office/drawing/2014/main" id="{FD132938-7EA7-22A7-01A8-252A82C5C1BD}"/>
              </a:ext>
            </a:extLst>
          </p:cNvPr>
          <p:cNvSpPr/>
          <p:nvPr/>
        </p:nvSpPr>
        <p:spPr>
          <a:xfrm>
            <a:off x="10000465" y="3578511"/>
            <a:ext cx="1317171" cy="538609"/>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dirty="0">
                <a:ln>
                  <a:noFill/>
                </a:ln>
                <a:solidFill>
                  <a:srgbClr val="046A38"/>
                </a:solidFill>
                <a:effectLst/>
                <a:uLnTx/>
                <a:uFillTx/>
                <a:latin typeface="Segoe UI" panose="020B0502040204020203" pitchFamily="34" charset="0"/>
                <a:ea typeface="Calibri" pitchFamily="34" charset="-122"/>
                <a:cs typeface="Segoe UI" panose="020B0502040204020203" pitchFamily="34" charset="0"/>
                <a:sym typeface="Arial"/>
              </a:rPr>
              <a:t>64%</a:t>
            </a:r>
            <a:endParaRPr kumimoji="0" lang="en-US" sz="3500" b="0"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endParaRPr>
          </a:p>
        </p:txBody>
      </p:sp>
      <p:sp>
        <p:nvSpPr>
          <p:cNvPr id="177" name="Text 12">
            <a:extLst>
              <a:ext uri="{FF2B5EF4-FFF2-40B4-BE49-F238E27FC236}">
                <a16:creationId xmlns:a16="http://schemas.microsoft.com/office/drawing/2014/main" id="{7D77D4DC-E1F8-EFD6-41D4-6AE011B89977}"/>
              </a:ext>
            </a:extLst>
          </p:cNvPr>
          <p:cNvSpPr/>
          <p:nvPr/>
        </p:nvSpPr>
        <p:spPr>
          <a:xfrm>
            <a:off x="10000465" y="4156958"/>
            <a:ext cx="1862776" cy="338554"/>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000000"/>
                </a:solidFill>
                <a:effectLst/>
                <a:uLnTx/>
                <a:uFillTx/>
                <a:latin typeface="Segoe UI" panose="020B0502040204020203" pitchFamily="34" charset="0"/>
                <a:ea typeface="Calibri" pitchFamily="34" charset="-122"/>
                <a:cs typeface="Segoe UI" panose="020B0502040204020203" pitchFamily="34" charset="0"/>
                <a:sym typeface="Arial"/>
              </a:rPr>
              <a:t>flagged claims and underwriting review</a:t>
            </a:r>
          </a:p>
        </p:txBody>
      </p:sp>
      <p:grpSp>
        <p:nvGrpSpPr>
          <p:cNvPr id="178" name="Graphic 4">
            <a:extLst>
              <a:ext uri="{FF2B5EF4-FFF2-40B4-BE49-F238E27FC236}">
                <a16:creationId xmlns:a16="http://schemas.microsoft.com/office/drawing/2014/main" id="{D11BED4C-082D-E784-80A7-E428F93389B6}"/>
              </a:ext>
            </a:extLst>
          </p:cNvPr>
          <p:cNvGrpSpPr/>
          <p:nvPr/>
        </p:nvGrpSpPr>
        <p:grpSpPr>
          <a:xfrm>
            <a:off x="7789307" y="2587908"/>
            <a:ext cx="475266" cy="475266"/>
            <a:chOff x="9279466" y="1402244"/>
            <a:chExt cx="362309" cy="362450"/>
          </a:xfrm>
          <a:solidFill>
            <a:schemeClr val="accent2"/>
          </a:solidFill>
        </p:grpSpPr>
        <p:sp>
          <p:nvSpPr>
            <p:cNvPr id="179" name="Graphic 4">
              <a:extLst>
                <a:ext uri="{FF2B5EF4-FFF2-40B4-BE49-F238E27FC236}">
                  <a16:creationId xmlns:a16="http://schemas.microsoft.com/office/drawing/2014/main" id="{DCA1A48B-C713-4713-D0D2-5529FBA2BD59}"/>
                </a:ext>
              </a:extLst>
            </p:cNvPr>
            <p:cNvSpPr/>
            <p:nvPr/>
          </p:nvSpPr>
          <p:spPr>
            <a:xfrm rot="-2700000">
              <a:off x="9402917" y="1531993"/>
              <a:ext cx="105432" cy="54901"/>
            </a:xfrm>
            <a:custGeom>
              <a:avLst/>
              <a:gdLst>
                <a:gd name="connsiteX0" fmla="*/ 0 w 105432"/>
                <a:gd name="connsiteY0" fmla="*/ 0 h 54901"/>
                <a:gd name="connsiteX1" fmla="*/ 105433 w 105432"/>
                <a:gd name="connsiteY1" fmla="*/ 0 h 54901"/>
                <a:gd name="connsiteX2" fmla="*/ 105433 w 105432"/>
                <a:gd name="connsiteY2" fmla="*/ 54902 h 54901"/>
                <a:gd name="connsiteX3" fmla="*/ 0 w 105432"/>
                <a:gd name="connsiteY3" fmla="*/ 54902 h 54901"/>
              </a:gdLst>
              <a:ahLst/>
              <a:cxnLst>
                <a:cxn ang="0">
                  <a:pos x="connsiteX0" y="connsiteY0"/>
                </a:cxn>
                <a:cxn ang="0">
                  <a:pos x="connsiteX1" y="connsiteY1"/>
                </a:cxn>
                <a:cxn ang="0">
                  <a:pos x="connsiteX2" y="connsiteY2"/>
                </a:cxn>
                <a:cxn ang="0">
                  <a:pos x="connsiteX3" y="connsiteY3"/>
                </a:cxn>
              </a:cxnLst>
              <a:rect l="l" t="t" r="r" b="b"/>
              <a:pathLst>
                <a:path w="105432" h="54901">
                  <a:moveTo>
                    <a:pt x="0" y="0"/>
                  </a:moveTo>
                  <a:lnTo>
                    <a:pt x="105433" y="0"/>
                  </a:lnTo>
                  <a:lnTo>
                    <a:pt x="105433" y="54902"/>
                  </a:lnTo>
                  <a:lnTo>
                    <a:pt x="0" y="54902"/>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180" name="Graphic 4">
              <a:extLst>
                <a:ext uri="{FF2B5EF4-FFF2-40B4-BE49-F238E27FC236}">
                  <a16:creationId xmlns:a16="http://schemas.microsoft.com/office/drawing/2014/main" id="{C4E3DB13-A263-389B-CD27-733769DC23E4}"/>
                </a:ext>
              </a:extLst>
            </p:cNvPr>
            <p:cNvSpPr/>
            <p:nvPr/>
          </p:nvSpPr>
          <p:spPr>
            <a:xfrm>
              <a:off x="9279466" y="1402244"/>
              <a:ext cx="362309" cy="362450"/>
            </a:xfrm>
            <a:custGeom>
              <a:avLst/>
              <a:gdLst>
                <a:gd name="connsiteX0" fmla="*/ 286270 w 362309"/>
                <a:gd name="connsiteY0" fmla="*/ 268606 h 362450"/>
                <a:gd name="connsiteX1" fmla="*/ 281797 w 362309"/>
                <a:gd name="connsiteY1" fmla="*/ 270521 h 362450"/>
                <a:gd name="connsiteX2" fmla="*/ 277323 w 362309"/>
                <a:gd name="connsiteY2" fmla="*/ 268606 h 362450"/>
                <a:gd name="connsiteX3" fmla="*/ 199367 w 362309"/>
                <a:gd name="connsiteY3" fmla="*/ 190083 h 362450"/>
                <a:gd name="connsiteX4" fmla="*/ 166778 w 362309"/>
                <a:gd name="connsiteY4" fmla="*/ 222641 h 362450"/>
                <a:gd name="connsiteX5" fmla="*/ 168056 w 362309"/>
                <a:gd name="connsiteY5" fmla="*/ 223918 h 362450"/>
                <a:gd name="connsiteX6" fmla="*/ 168056 w 362309"/>
                <a:gd name="connsiteY6" fmla="*/ 232856 h 362450"/>
                <a:gd name="connsiteX7" fmla="*/ 159110 w 362309"/>
                <a:gd name="connsiteY7" fmla="*/ 232856 h 362450"/>
                <a:gd name="connsiteX8" fmla="*/ 159110 w 362309"/>
                <a:gd name="connsiteY8" fmla="*/ 232856 h 362450"/>
                <a:gd name="connsiteX9" fmla="*/ 153358 w 362309"/>
                <a:gd name="connsiteY9" fmla="*/ 227110 h 362450"/>
                <a:gd name="connsiteX10" fmla="*/ 105434 w 362309"/>
                <a:gd name="connsiteY10" fmla="*/ 179230 h 362450"/>
                <a:gd name="connsiteX11" fmla="*/ 105434 w 362309"/>
                <a:gd name="connsiteY11" fmla="*/ 179230 h 362450"/>
                <a:gd name="connsiteX12" fmla="*/ 99684 w 362309"/>
                <a:gd name="connsiteY12" fmla="*/ 173485 h 362450"/>
                <a:gd name="connsiteX13" fmla="*/ 99684 w 362309"/>
                <a:gd name="connsiteY13" fmla="*/ 164547 h 362450"/>
                <a:gd name="connsiteX14" fmla="*/ 99684 w 362309"/>
                <a:gd name="connsiteY14" fmla="*/ 164547 h 362450"/>
                <a:gd name="connsiteX15" fmla="*/ 108629 w 362309"/>
                <a:gd name="connsiteY15" fmla="*/ 164547 h 362450"/>
                <a:gd name="connsiteX16" fmla="*/ 109907 w 362309"/>
                <a:gd name="connsiteY16" fmla="*/ 165824 h 362450"/>
                <a:gd name="connsiteX17" fmla="*/ 184669 w 362309"/>
                <a:gd name="connsiteY17" fmla="*/ 91770 h 362450"/>
                <a:gd name="connsiteX18" fmla="*/ 183392 w 362309"/>
                <a:gd name="connsiteY18" fmla="*/ 90493 h 362450"/>
                <a:gd name="connsiteX19" fmla="*/ 183392 w 362309"/>
                <a:gd name="connsiteY19" fmla="*/ 81555 h 362450"/>
                <a:gd name="connsiteX20" fmla="*/ 183392 w 362309"/>
                <a:gd name="connsiteY20" fmla="*/ 81555 h 362450"/>
                <a:gd name="connsiteX21" fmla="*/ 192338 w 362309"/>
                <a:gd name="connsiteY21" fmla="*/ 81555 h 362450"/>
                <a:gd name="connsiteX22" fmla="*/ 198088 w 362309"/>
                <a:gd name="connsiteY22" fmla="*/ 87301 h 362450"/>
                <a:gd name="connsiteX23" fmla="*/ 198088 w 362309"/>
                <a:gd name="connsiteY23" fmla="*/ 87301 h 362450"/>
                <a:gd name="connsiteX24" fmla="*/ 246013 w 362309"/>
                <a:gd name="connsiteY24" fmla="*/ 135181 h 362450"/>
                <a:gd name="connsiteX25" fmla="*/ 246013 w 362309"/>
                <a:gd name="connsiteY25" fmla="*/ 135181 h 362450"/>
                <a:gd name="connsiteX26" fmla="*/ 251764 w 362309"/>
                <a:gd name="connsiteY26" fmla="*/ 140926 h 362450"/>
                <a:gd name="connsiteX27" fmla="*/ 251764 w 362309"/>
                <a:gd name="connsiteY27" fmla="*/ 149864 h 362450"/>
                <a:gd name="connsiteX28" fmla="*/ 242818 w 362309"/>
                <a:gd name="connsiteY28" fmla="*/ 149864 h 362450"/>
                <a:gd name="connsiteX29" fmla="*/ 241540 w 362309"/>
                <a:gd name="connsiteY29" fmla="*/ 148587 h 362450"/>
                <a:gd name="connsiteX30" fmla="*/ 208951 w 362309"/>
                <a:gd name="connsiteY30" fmla="*/ 181145 h 362450"/>
                <a:gd name="connsiteX31" fmla="*/ 286908 w 362309"/>
                <a:gd name="connsiteY31" fmla="*/ 259669 h 362450"/>
                <a:gd name="connsiteX32" fmla="*/ 286270 w 362309"/>
                <a:gd name="connsiteY32" fmla="*/ 268606 h 362450"/>
                <a:gd name="connsiteX33" fmla="*/ 286270 w 362309"/>
                <a:gd name="connsiteY33" fmla="*/ 268606 h 362450"/>
                <a:gd name="connsiteX34" fmla="*/ 180836 w 362309"/>
                <a:gd name="connsiteY34" fmla="*/ 270521 h 362450"/>
                <a:gd name="connsiteX35" fmla="*/ 79874 w 362309"/>
                <a:gd name="connsiteY35" fmla="*/ 270521 h 362450"/>
                <a:gd name="connsiteX36" fmla="*/ 73484 w 362309"/>
                <a:gd name="connsiteY36" fmla="*/ 264137 h 362450"/>
                <a:gd name="connsiteX37" fmla="*/ 79874 w 362309"/>
                <a:gd name="connsiteY37" fmla="*/ 257753 h 362450"/>
                <a:gd name="connsiteX38" fmla="*/ 180836 w 362309"/>
                <a:gd name="connsiteY38" fmla="*/ 257753 h 362450"/>
                <a:gd name="connsiteX39" fmla="*/ 187225 w 362309"/>
                <a:gd name="connsiteY39" fmla="*/ 264137 h 362450"/>
                <a:gd name="connsiteX40" fmla="*/ 180836 w 362309"/>
                <a:gd name="connsiteY40" fmla="*/ 270521 h 362450"/>
                <a:gd name="connsiteX41" fmla="*/ 180836 w 362309"/>
                <a:gd name="connsiteY41" fmla="*/ 479 h 362450"/>
                <a:gd name="connsiteX42" fmla="*/ 0 w 362309"/>
                <a:gd name="connsiteY42" fmla="*/ 181784 h 362450"/>
                <a:gd name="connsiteX43" fmla="*/ 181474 w 362309"/>
                <a:gd name="connsiteY43" fmla="*/ 362451 h 362450"/>
                <a:gd name="connsiteX44" fmla="*/ 362310 w 362309"/>
                <a:gd name="connsiteY44" fmla="*/ 181145 h 362450"/>
                <a:gd name="connsiteX45" fmla="*/ 362310 w 362309"/>
                <a:gd name="connsiteY45" fmla="*/ 181145 h 362450"/>
                <a:gd name="connsiteX46" fmla="*/ 180836 w 362309"/>
                <a:gd name="connsiteY46" fmla="*/ 479 h 362450"/>
                <a:gd name="connsiteX47" fmla="*/ 180836 w 362309"/>
                <a:gd name="connsiteY47" fmla="*/ 479 h 362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362309" h="362450">
                  <a:moveTo>
                    <a:pt x="286270" y="268606"/>
                  </a:moveTo>
                  <a:cubicBezTo>
                    <a:pt x="284992" y="269883"/>
                    <a:pt x="283713" y="270521"/>
                    <a:pt x="281797" y="270521"/>
                  </a:cubicBezTo>
                  <a:cubicBezTo>
                    <a:pt x="279880" y="270521"/>
                    <a:pt x="278602" y="269883"/>
                    <a:pt x="277323" y="268606"/>
                  </a:cubicBezTo>
                  <a:lnTo>
                    <a:pt x="199367" y="190083"/>
                  </a:lnTo>
                  <a:lnTo>
                    <a:pt x="166778" y="222641"/>
                  </a:lnTo>
                  <a:lnTo>
                    <a:pt x="168056" y="223918"/>
                  </a:lnTo>
                  <a:cubicBezTo>
                    <a:pt x="170612" y="226472"/>
                    <a:pt x="170612" y="230302"/>
                    <a:pt x="168056" y="232856"/>
                  </a:cubicBezTo>
                  <a:cubicBezTo>
                    <a:pt x="165500" y="235409"/>
                    <a:pt x="161666" y="235409"/>
                    <a:pt x="159110" y="232856"/>
                  </a:cubicBezTo>
                  <a:lnTo>
                    <a:pt x="159110" y="232856"/>
                  </a:lnTo>
                  <a:lnTo>
                    <a:pt x="153358" y="227110"/>
                  </a:lnTo>
                  <a:lnTo>
                    <a:pt x="105434" y="179230"/>
                  </a:lnTo>
                  <a:lnTo>
                    <a:pt x="105434" y="179230"/>
                  </a:lnTo>
                  <a:lnTo>
                    <a:pt x="99684" y="173485"/>
                  </a:lnTo>
                  <a:cubicBezTo>
                    <a:pt x="97128" y="170931"/>
                    <a:pt x="97128" y="167101"/>
                    <a:pt x="99684" y="164547"/>
                  </a:cubicBezTo>
                  <a:cubicBezTo>
                    <a:pt x="99684" y="164547"/>
                    <a:pt x="99684" y="164547"/>
                    <a:pt x="99684" y="164547"/>
                  </a:cubicBezTo>
                  <a:cubicBezTo>
                    <a:pt x="102239" y="161994"/>
                    <a:pt x="106074" y="161994"/>
                    <a:pt x="108629" y="164547"/>
                  </a:cubicBezTo>
                  <a:lnTo>
                    <a:pt x="109907" y="165824"/>
                  </a:lnTo>
                  <a:lnTo>
                    <a:pt x="184669" y="91770"/>
                  </a:lnTo>
                  <a:lnTo>
                    <a:pt x="183392" y="90493"/>
                  </a:lnTo>
                  <a:cubicBezTo>
                    <a:pt x="180836" y="87939"/>
                    <a:pt x="180836" y="84109"/>
                    <a:pt x="183392" y="81555"/>
                  </a:cubicBezTo>
                  <a:cubicBezTo>
                    <a:pt x="183392" y="81555"/>
                    <a:pt x="183392" y="81555"/>
                    <a:pt x="183392" y="81555"/>
                  </a:cubicBezTo>
                  <a:cubicBezTo>
                    <a:pt x="185948" y="79002"/>
                    <a:pt x="189782" y="79002"/>
                    <a:pt x="192338" y="81555"/>
                  </a:cubicBezTo>
                  <a:lnTo>
                    <a:pt x="198088" y="87301"/>
                  </a:lnTo>
                  <a:lnTo>
                    <a:pt x="198088" y="87301"/>
                  </a:lnTo>
                  <a:lnTo>
                    <a:pt x="246013" y="135181"/>
                  </a:lnTo>
                  <a:lnTo>
                    <a:pt x="246013" y="135181"/>
                  </a:lnTo>
                  <a:lnTo>
                    <a:pt x="251764" y="140926"/>
                  </a:lnTo>
                  <a:cubicBezTo>
                    <a:pt x="254320" y="143480"/>
                    <a:pt x="254320" y="147310"/>
                    <a:pt x="251764" y="149864"/>
                  </a:cubicBezTo>
                  <a:cubicBezTo>
                    <a:pt x="249208" y="152418"/>
                    <a:pt x="245374" y="152418"/>
                    <a:pt x="242818" y="149864"/>
                  </a:cubicBezTo>
                  <a:lnTo>
                    <a:pt x="241540" y="148587"/>
                  </a:lnTo>
                  <a:lnTo>
                    <a:pt x="208951" y="181145"/>
                  </a:lnTo>
                  <a:lnTo>
                    <a:pt x="286908" y="259669"/>
                  </a:lnTo>
                  <a:cubicBezTo>
                    <a:pt x="288826" y="262222"/>
                    <a:pt x="288826" y="266053"/>
                    <a:pt x="286270" y="268606"/>
                  </a:cubicBezTo>
                  <a:cubicBezTo>
                    <a:pt x="286270" y="268606"/>
                    <a:pt x="286270" y="268606"/>
                    <a:pt x="286270" y="268606"/>
                  </a:cubicBezTo>
                  <a:moveTo>
                    <a:pt x="180836" y="270521"/>
                  </a:moveTo>
                  <a:lnTo>
                    <a:pt x="79874" y="270521"/>
                  </a:lnTo>
                  <a:cubicBezTo>
                    <a:pt x="76040" y="270521"/>
                    <a:pt x="73484" y="267968"/>
                    <a:pt x="73484" y="264137"/>
                  </a:cubicBezTo>
                  <a:cubicBezTo>
                    <a:pt x="73484" y="260307"/>
                    <a:pt x="76040" y="257753"/>
                    <a:pt x="79874" y="257753"/>
                  </a:cubicBezTo>
                  <a:lnTo>
                    <a:pt x="180836" y="257753"/>
                  </a:lnTo>
                  <a:cubicBezTo>
                    <a:pt x="184669" y="257753"/>
                    <a:pt x="187225" y="260307"/>
                    <a:pt x="187225" y="264137"/>
                  </a:cubicBezTo>
                  <a:cubicBezTo>
                    <a:pt x="187225" y="267968"/>
                    <a:pt x="184031" y="270521"/>
                    <a:pt x="180836" y="270521"/>
                  </a:cubicBezTo>
                  <a:moveTo>
                    <a:pt x="180836" y="479"/>
                  </a:moveTo>
                  <a:cubicBezTo>
                    <a:pt x="80514" y="479"/>
                    <a:pt x="0" y="81555"/>
                    <a:pt x="0" y="181784"/>
                  </a:cubicBezTo>
                  <a:cubicBezTo>
                    <a:pt x="0" y="282013"/>
                    <a:pt x="81153" y="362451"/>
                    <a:pt x="181474" y="362451"/>
                  </a:cubicBezTo>
                  <a:cubicBezTo>
                    <a:pt x="281797" y="362451"/>
                    <a:pt x="362310" y="281374"/>
                    <a:pt x="362310" y="181145"/>
                  </a:cubicBezTo>
                  <a:cubicBezTo>
                    <a:pt x="362310" y="181145"/>
                    <a:pt x="362310" y="181145"/>
                    <a:pt x="362310" y="181145"/>
                  </a:cubicBezTo>
                  <a:cubicBezTo>
                    <a:pt x="361671" y="80917"/>
                    <a:pt x="280518" y="-160"/>
                    <a:pt x="180836" y="479"/>
                  </a:cubicBezTo>
                  <a:cubicBezTo>
                    <a:pt x="180836" y="-160"/>
                    <a:pt x="180836" y="-160"/>
                    <a:pt x="180836" y="479"/>
                  </a:cubicBezTo>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grpSp>
      <p:sp>
        <p:nvSpPr>
          <p:cNvPr id="182" name="Rectangle: Rounded Corners 181">
            <a:extLst>
              <a:ext uri="{FF2B5EF4-FFF2-40B4-BE49-F238E27FC236}">
                <a16:creationId xmlns:a16="http://schemas.microsoft.com/office/drawing/2014/main" id="{8DEBE3EF-508E-BE19-4E0D-B364E1EFA8F5}"/>
              </a:ext>
            </a:extLst>
          </p:cNvPr>
          <p:cNvSpPr/>
          <p:nvPr/>
        </p:nvSpPr>
        <p:spPr>
          <a:xfrm>
            <a:off x="269140" y="4950683"/>
            <a:ext cx="2628030" cy="1467749"/>
          </a:xfrm>
          <a:prstGeom prst="roundRect">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FFFFFF"/>
              </a:solidFill>
              <a:effectLst/>
              <a:uLnTx/>
              <a:uFillTx/>
              <a:latin typeface="Arial"/>
              <a:ea typeface="+mn-ea"/>
              <a:cs typeface="+mn-cs"/>
              <a:sym typeface="Arial"/>
            </a:endParaRPr>
          </a:p>
        </p:txBody>
      </p:sp>
      <p:sp>
        <p:nvSpPr>
          <p:cNvPr id="184" name="Text 22">
            <a:extLst>
              <a:ext uri="{FF2B5EF4-FFF2-40B4-BE49-F238E27FC236}">
                <a16:creationId xmlns:a16="http://schemas.microsoft.com/office/drawing/2014/main" id="{13D26B61-C130-E836-ED6F-5F21D7980EFA}"/>
              </a:ext>
            </a:extLst>
          </p:cNvPr>
          <p:cNvSpPr/>
          <p:nvPr/>
        </p:nvSpPr>
        <p:spPr>
          <a:xfrm>
            <a:off x="667524" y="5119859"/>
            <a:ext cx="2029090" cy="47577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8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WHERE THEY DIVERGE</a:t>
            </a:r>
          </a:p>
        </p:txBody>
      </p:sp>
      <p:sp>
        <p:nvSpPr>
          <p:cNvPr id="186" name="TextBox 185">
            <a:extLst>
              <a:ext uri="{FF2B5EF4-FFF2-40B4-BE49-F238E27FC236}">
                <a16:creationId xmlns:a16="http://schemas.microsoft.com/office/drawing/2014/main" id="{32084A87-DE21-9D46-B602-948741D7024E}"/>
              </a:ext>
            </a:extLst>
          </p:cNvPr>
          <p:cNvSpPr txBox="1"/>
          <p:nvPr/>
        </p:nvSpPr>
        <p:spPr>
          <a:xfrm>
            <a:off x="1029016" y="5746522"/>
            <a:ext cx="1744549" cy="492443"/>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Contact center exposure </a:t>
            </a:r>
            <a:endParaRPr kumimoji="0" sz="160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grpSp>
        <p:nvGrpSpPr>
          <p:cNvPr id="191" name="Group 190">
            <a:extLst>
              <a:ext uri="{FF2B5EF4-FFF2-40B4-BE49-F238E27FC236}">
                <a16:creationId xmlns:a16="http://schemas.microsoft.com/office/drawing/2014/main" id="{BA1B6254-46A5-5E98-1169-DFEC0509F644}"/>
              </a:ext>
            </a:extLst>
          </p:cNvPr>
          <p:cNvGrpSpPr/>
          <p:nvPr/>
        </p:nvGrpSpPr>
        <p:grpSpPr>
          <a:xfrm>
            <a:off x="584015" y="5785538"/>
            <a:ext cx="411613" cy="411613"/>
            <a:chOff x="584015" y="5732591"/>
            <a:chExt cx="630000" cy="630000"/>
          </a:xfrm>
        </p:grpSpPr>
        <p:sp>
          <p:nvSpPr>
            <p:cNvPr id="188" name="Graphic 1100">
              <a:extLst>
                <a:ext uri="{FF2B5EF4-FFF2-40B4-BE49-F238E27FC236}">
                  <a16:creationId xmlns:a16="http://schemas.microsoft.com/office/drawing/2014/main" id="{6808CE67-F779-337C-3468-C7C5AE5182F8}"/>
                </a:ext>
              </a:extLst>
            </p:cNvPr>
            <p:cNvSpPr/>
            <p:nvPr/>
          </p:nvSpPr>
          <p:spPr>
            <a:xfrm>
              <a:off x="584015" y="5732591"/>
              <a:ext cx="630000" cy="630000"/>
            </a:xfrm>
            <a:custGeom>
              <a:avLst/>
              <a:gdLst>
                <a:gd name="connsiteX0" fmla="*/ 181474 w 362309"/>
                <a:gd name="connsiteY0" fmla="*/ 0 h 362610"/>
                <a:gd name="connsiteX1" fmla="*/ 0 w 362309"/>
                <a:gd name="connsiteY1" fmla="*/ 181305 h 362610"/>
                <a:gd name="connsiteX2" fmla="*/ 181474 w 362309"/>
                <a:gd name="connsiteY2" fmla="*/ 362610 h 362610"/>
                <a:gd name="connsiteX3" fmla="*/ 362309 w 362309"/>
                <a:gd name="connsiteY3" fmla="*/ 181305 h 362610"/>
                <a:gd name="connsiteX4" fmla="*/ 181474 w 362309"/>
                <a:gd name="connsiteY4" fmla="*/ 0 h 362610"/>
                <a:gd name="connsiteX5" fmla="*/ 181474 w 362309"/>
                <a:gd name="connsiteY5" fmla="*/ 0 h 362610"/>
                <a:gd name="connsiteX6" fmla="*/ 181474 w 362309"/>
                <a:gd name="connsiteY6" fmla="*/ 349204 h 362610"/>
                <a:gd name="connsiteX7" fmla="*/ 13419 w 362309"/>
                <a:gd name="connsiteY7" fmla="*/ 180667 h 362610"/>
                <a:gd name="connsiteX8" fmla="*/ 181474 w 362309"/>
                <a:gd name="connsiteY8" fmla="*/ 12130 h 362610"/>
                <a:gd name="connsiteX9" fmla="*/ 349530 w 362309"/>
                <a:gd name="connsiteY9" fmla="*/ 180667 h 362610"/>
                <a:gd name="connsiteX10" fmla="*/ 349530 w 362309"/>
                <a:gd name="connsiteY10" fmla="*/ 180667 h 362610"/>
                <a:gd name="connsiteX11" fmla="*/ 181474 w 362309"/>
                <a:gd name="connsiteY11" fmla="*/ 349204 h 362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2309" h="362610">
                  <a:moveTo>
                    <a:pt x="181474" y="0"/>
                  </a:moveTo>
                  <a:cubicBezTo>
                    <a:pt x="81152" y="0"/>
                    <a:pt x="0" y="81077"/>
                    <a:pt x="0" y="181305"/>
                  </a:cubicBezTo>
                  <a:cubicBezTo>
                    <a:pt x="0" y="281534"/>
                    <a:pt x="81152" y="362610"/>
                    <a:pt x="181474" y="362610"/>
                  </a:cubicBezTo>
                  <a:cubicBezTo>
                    <a:pt x="281796" y="362610"/>
                    <a:pt x="362309" y="281534"/>
                    <a:pt x="362309" y="181305"/>
                  </a:cubicBezTo>
                  <a:cubicBezTo>
                    <a:pt x="362309" y="81077"/>
                    <a:pt x="281796" y="0"/>
                    <a:pt x="181474" y="0"/>
                  </a:cubicBezTo>
                  <a:cubicBezTo>
                    <a:pt x="181474" y="0"/>
                    <a:pt x="181474" y="0"/>
                    <a:pt x="181474" y="0"/>
                  </a:cubicBezTo>
                  <a:close/>
                  <a:moveTo>
                    <a:pt x="181474" y="349204"/>
                  </a:moveTo>
                  <a:cubicBezTo>
                    <a:pt x="88181" y="349204"/>
                    <a:pt x="13419" y="273873"/>
                    <a:pt x="13419" y="180667"/>
                  </a:cubicBezTo>
                  <a:cubicBezTo>
                    <a:pt x="13419" y="87461"/>
                    <a:pt x="88820" y="12130"/>
                    <a:pt x="181474" y="12130"/>
                  </a:cubicBezTo>
                  <a:cubicBezTo>
                    <a:pt x="274128" y="12130"/>
                    <a:pt x="349530" y="87461"/>
                    <a:pt x="349530" y="180667"/>
                  </a:cubicBezTo>
                  <a:cubicBezTo>
                    <a:pt x="349530" y="180667"/>
                    <a:pt x="349530" y="180667"/>
                    <a:pt x="349530" y="180667"/>
                  </a:cubicBezTo>
                  <a:cubicBezTo>
                    <a:pt x="349530" y="273873"/>
                    <a:pt x="274128" y="349204"/>
                    <a:pt x="181474" y="349204"/>
                  </a:cubicBezTo>
                  <a:close/>
                </a:path>
              </a:pathLst>
            </a:custGeom>
            <a:solidFill>
              <a:schemeClr val="bg1"/>
            </a:solid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190" name="Graphic 1100">
              <a:extLst>
                <a:ext uri="{FF2B5EF4-FFF2-40B4-BE49-F238E27FC236}">
                  <a16:creationId xmlns:a16="http://schemas.microsoft.com/office/drawing/2014/main" id="{7753A8B7-0007-5CAC-AB11-2F420712E100}"/>
                </a:ext>
              </a:extLst>
            </p:cNvPr>
            <p:cNvSpPr/>
            <p:nvPr/>
          </p:nvSpPr>
          <p:spPr>
            <a:xfrm>
              <a:off x="726237" y="5830197"/>
              <a:ext cx="345556" cy="434787"/>
            </a:xfrm>
            <a:custGeom>
              <a:avLst/>
              <a:gdLst>
                <a:gd name="connsiteX0" fmla="*/ 99683 w 198727"/>
                <a:gd name="connsiteY0" fmla="*/ 0 h 250251"/>
                <a:gd name="connsiteX1" fmla="*/ 0 w 198727"/>
                <a:gd name="connsiteY1" fmla="*/ 99590 h 250251"/>
                <a:gd name="connsiteX2" fmla="*/ 0 w 198727"/>
                <a:gd name="connsiteY2" fmla="*/ 171729 h 250251"/>
                <a:gd name="connsiteX3" fmla="*/ 19170 w 198727"/>
                <a:gd name="connsiteY3" fmla="*/ 190881 h 250251"/>
                <a:gd name="connsiteX4" fmla="*/ 27477 w 198727"/>
                <a:gd name="connsiteY4" fmla="*/ 190881 h 250251"/>
                <a:gd name="connsiteX5" fmla="*/ 46647 w 198727"/>
                <a:gd name="connsiteY5" fmla="*/ 171729 h 250251"/>
                <a:gd name="connsiteX6" fmla="*/ 46647 w 198727"/>
                <a:gd name="connsiteY6" fmla="*/ 112358 h 250251"/>
                <a:gd name="connsiteX7" fmla="*/ 27477 w 198727"/>
                <a:gd name="connsiteY7" fmla="*/ 93206 h 250251"/>
                <a:gd name="connsiteX8" fmla="*/ 19170 w 198727"/>
                <a:gd name="connsiteY8" fmla="*/ 93206 h 250251"/>
                <a:gd name="connsiteX9" fmla="*/ 12780 w 198727"/>
                <a:gd name="connsiteY9" fmla="*/ 94483 h 250251"/>
                <a:gd name="connsiteX10" fmla="*/ 104795 w 198727"/>
                <a:gd name="connsiteY10" fmla="*/ 13406 h 250251"/>
                <a:gd name="connsiteX11" fmla="*/ 185947 w 198727"/>
                <a:gd name="connsiteY11" fmla="*/ 94483 h 250251"/>
                <a:gd name="connsiteX12" fmla="*/ 179557 w 198727"/>
                <a:gd name="connsiteY12" fmla="*/ 93206 h 250251"/>
                <a:gd name="connsiteX13" fmla="*/ 171250 w 198727"/>
                <a:gd name="connsiteY13" fmla="*/ 93206 h 250251"/>
                <a:gd name="connsiteX14" fmla="*/ 152080 w 198727"/>
                <a:gd name="connsiteY14" fmla="*/ 112358 h 250251"/>
                <a:gd name="connsiteX15" fmla="*/ 152080 w 198727"/>
                <a:gd name="connsiteY15" fmla="*/ 171729 h 250251"/>
                <a:gd name="connsiteX16" fmla="*/ 171250 w 198727"/>
                <a:gd name="connsiteY16" fmla="*/ 190881 h 250251"/>
                <a:gd name="connsiteX17" fmla="*/ 179557 w 198727"/>
                <a:gd name="connsiteY17" fmla="*/ 190881 h 250251"/>
                <a:gd name="connsiteX18" fmla="*/ 184669 w 198727"/>
                <a:gd name="connsiteY18" fmla="*/ 190243 h 250251"/>
                <a:gd name="connsiteX19" fmla="*/ 123326 w 198727"/>
                <a:gd name="connsiteY19" fmla="*/ 236207 h 250251"/>
                <a:gd name="connsiteX20" fmla="*/ 99044 w 198727"/>
                <a:gd name="connsiteY20" fmla="*/ 227270 h 250251"/>
                <a:gd name="connsiteX21" fmla="*/ 74123 w 198727"/>
                <a:gd name="connsiteY21" fmla="*/ 238761 h 250251"/>
                <a:gd name="connsiteX22" fmla="*/ 99044 w 198727"/>
                <a:gd name="connsiteY22" fmla="*/ 250252 h 250251"/>
                <a:gd name="connsiteX23" fmla="*/ 102878 w 198727"/>
                <a:gd name="connsiteY23" fmla="*/ 250252 h 250251"/>
                <a:gd name="connsiteX24" fmla="*/ 198727 w 198727"/>
                <a:gd name="connsiteY24" fmla="*/ 176198 h 250251"/>
                <a:gd name="connsiteX25" fmla="*/ 198727 w 198727"/>
                <a:gd name="connsiteY25" fmla="*/ 99590 h 250251"/>
                <a:gd name="connsiteX26" fmla="*/ 99683 w 198727"/>
                <a:gd name="connsiteY26" fmla="*/ 0 h 250251"/>
                <a:gd name="connsiteX27" fmla="*/ 19170 w 198727"/>
                <a:gd name="connsiteY27" fmla="*/ 105336 h 250251"/>
                <a:gd name="connsiteX28" fmla="*/ 27477 w 198727"/>
                <a:gd name="connsiteY28" fmla="*/ 105336 h 250251"/>
                <a:gd name="connsiteX29" fmla="*/ 33867 w 198727"/>
                <a:gd name="connsiteY29" fmla="*/ 111720 h 250251"/>
                <a:gd name="connsiteX30" fmla="*/ 33867 w 198727"/>
                <a:gd name="connsiteY30" fmla="*/ 171091 h 250251"/>
                <a:gd name="connsiteX31" fmla="*/ 27477 w 198727"/>
                <a:gd name="connsiteY31" fmla="*/ 177475 h 250251"/>
                <a:gd name="connsiteX32" fmla="*/ 19170 w 198727"/>
                <a:gd name="connsiteY32" fmla="*/ 177475 h 250251"/>
                <a:gd name="connsiteX33" fmla="*/ 12780 w 198727"/>
                <a:gd name="connsiteY33" fmla="*/ 171091 h 250251"/>
                <a:gd name="connsiteX34" fmla="*/ 12780 w 198727"/>
                <a:gd name="connsiteY34" fmla="*/ 111720 h 250251"/>
                <a:gd name="connsiteX35" fmla="*/ 19170 w 198727"/>
                <a:gd name="connsiteY35" fmla="*/ 105336 h 250251"/>
                <a:gd name="connsiteX36" fmla="*/ 186586 w 198727"/>
                <a:gd name="connsiteY36" fmla="*/ 124488 h 250251"/>
                <a:gd name="connsiteX37" fmla="*/ 186586 w 198727"/>
                <a:gd name="connsiteY37" fmla="*/ 171091 h 250251"/>
                <a:gd name="connsiteX38" fmla="*/ 180196 w 198727"/>
                <a:gd name="connsiteY38" fmla="*/ 177475 h 250251"/>
                <a:gd name="connsiteX39" fmla="*/ 171889 w 198727"/>
                <a:gd name="connsiteY39" fmla="*/ 177475 h 250251"/>
                <a:gd name="connsiteX40" fmla="*/ 165499 w 198727"/>
                <a:gd name="connsiteY40" fmla="*/ 171091 h 250251"/>
                <a:gd name="connsiteX41" fmla="*/ 165499 w 198727"/>
                <a:gd name="connsiteY41" fmla="*/ 111720 h 250251"/>
                <a:gd name="connsiteX42" fmla="*/ 171889 w 198727"/>
                <a:gd name="connsiteY42" fmla="*/ 105336 h 250251"/>
                <a:gd name="connsiteX43" fmla="*/ 180196 w 198727"/>
                <a:gd name="connsiteY43" fmla="*/ 105336 h 250251"/>
                <a:gd name="connsiteX44" fmla="*/ 186586 w 198727"/>
                <a:gd name="connsiteY44" fmla="*/ 111720 h 250251"/>
                <a:gd name="connsiteX45" fmla="*/ 186586 w 198727"/>
                <a:gd name="connsiteY45" fmla="*/ 124488 h 250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8727" h="250251">
                  <a:moveTo>
                    <a:pt x="99683" y="0"/>
                  </a:moveTo>
                  <a:cubicBezTo>
                    <a:pt x="44730" y="0"/>
                    <a:pt x="0" y="44688"/>
                    <a:pt x="0" y="99590"/>
                  </a:cubicBezTo>
                  <a:lnTo>
                    <a:pt x="0" y="171729"/>
                  </a:lnTo>
                  <a:cubicBezTo>
                    <a:pt x="0" y="182582"/>
                    <a:pt x="8307" y="190881"/>
                    <a:pt x="19170" y="190881"/>
                  </a:cubicBezTo>
                  <a:lnTo>
                    <a:pt x="27477" y="190881"/>
                  </a:lnTo>
                  <a:cubicBezTo>
                    <a:pt x="38340" y="190881"/>
                    <a:pt x="46647" y="182582"/>
                    <a:pt x="46647" y="171729"/>
                  </a:cubicBezTo>
                  <a:lnTo>
                    <a:pt x="46647" y="112358"/>
                  </a:lnTo>
                  <a:cubicBezTo>
                    <a:pt x="46647" y="101505"/>
                    <a:pt x="38340" y="93206"/>
                    <a:pt x="27477" y="93206"/>
                  </a:cubicBezTo>
                  <a:lnTo>
                    <a:pt x="19170" y="93206"/>
                  </a:lnTo>
                  <a:cubicBezTo>
                    <a:pt x="17253" y="93206"/>
                    <a:pt x="14697" y="93844"/>
                    <a:pt x="12780" y="94483"/>
                  </a:cubicBezTo>
                  <a:cubicBezTo>
                    <a:pt x="15975" y="46603"/>
                    <a:pt x="56870" y="10214"/>
                    <a:pt x="104795" y="13406"/>
                  </a:cubicBezTo>
                  <a:cubicBezTo>
                    <a:pt x="148886" y="15960"/>
                    <a:pt x="183391" y="51072"/>
                    <a:pt x="185947" y="94483"/>
                  </a:cubicBezTo>
                  <a:cubicBezTo>
                    <a:pt x="184030" y="93844"/>
                    <a:pt x="181474" y="93206"/>
                    <a:pt x="179557" y="93206"/>
                  </a:cubicBezTo>
                  <a:lnTo>
                    <a:pt x="171250" y="93206"/>
                  </a:lnTo>
                  <a:cubicBezTo>
                    <a:pt x="160387" y="93206"/>
                    <a:pt x="152080" y="101505"/>
                    <a:pt x="152080" y="112358"/>
                  </a:cubicBezTo>
                  <a:lnTo>
                    <a:pt x="152080" y="171729"/>
                  </a:lnTo>
                  <a:cubicBezTo>
                    <a:pt x="152080" y="182582"/>
                    <a:pt x="160387" y="190881"/>
                    <a:pt x="171250" y="190881"/>
                  </a:cubicBezTo>
                  <a:lnTo>
                    <a:pt x="179557" y="190881"/>
                  </a:lnTo>
                  <a:cubicBezTo>
                    <a:pt x="181474" y="190881"/>
                    <a:pt x="182752" y="190881"/>
                    <a:pt x="184669" y="190243"/>
                  </a:cubicBezTo>
                  <a:cubicBezTo>
                    <a:pt x="178279" y="220247"/>
                    <a:pt x="152080" y="232377"/>
                    <a:pt x="123326" y="236207"/>
                  </a:cubicBezTo>
                  <a:cubicBezTo>
                    <a:pt x="120770" y="228546"/>
                    <a:pt x="106073" y="227270"/>
                    <a:pt x="99044" y="227270"/>
                  </a:cubicBezTo>
                  <a:cubicBezTo>
                    <a:pt x="92015" y="227270"/>
                    <a:pt x="74123" y="228546"/>
                    <a:pt x="74123" y="238761"/>
                  </a:cubicBezTo>
                  <a:cubicBezTo>
                    <a:pt x="74123" y="248975"/>
                    <a:pt x="91376" y="250252"/>
                    <a:pt x="99044" y="250252"/>
                  </a:cubicBezTo>
                  <a:lnTo>
                    <a:pt x="102878" y="250252"/>
                  </a:lnTo>
                  <a:cubicBezTo>
                    <a:pt x="164860" y="248975"/>
                    <a:pt x="198727" y="222801"/>
                    <a:pt x="198727" y="176198"/>
                  </a:cubicBezTo>
                  <a:lnTo>
                    <a:pt x="198727" y="99590"/>
                  </a:lnTo>
                  <a:cubicBezTo>
                    <a:pt x="198727" y="44688"/>
                    <a:pt x="153997" y="0"/>
                    <a:pt x="99683" y="0"/>
                  </a:cubicBezTo>
                  <a:close/>
                  <a:moveTo>
                    <a:pt x="19170" y="105336"/>
                  </a:moveTo>
                  <a:lnTo>
                    <a:pt x="27477" y="105336"/>
                  </a:lnTo>
                  <a:cubicBezTo>
                    <a:pt x="31311" y="105336"/>
                    <a:pt x="33867" y="107889"/>
                    <a:pt x="33867" y="111720"/>
                  </a:cubicBezTo>
                  <a:lnTo>
                    <a:pt x="33867" y="171091"/>
                  </a:lnTo>
                  <a:cubicBezTo>
                    <a:pt x="33867" y="174921"/>
                    <a:pt x="31311" y="177475"/>
                    <a:pt x="27477" y="177475"/>
                  </a:cubicBezTo>
                  <a:lnTo>
                    <a:pt x="19170" y="177475"/>
                  </a:lnTo>
                  <a:cubicBezTo>
                    <a:pt x="15336" y="177475"/>
                    <a:pt x="12780" y="174921"/>
                    <a:pt x="12780" y="171091"/>
                  </a:cubicBezTo>
                  <a:lnTo>
                    <a:pt x="12780" y="111720"/>
                  </a:lnTo>
                  <a:cubicBezTo>
                    <a:pt x="12780" y="108528"/>
                    <a:pt x="15336" y="105336"/>
                    <a:pt x="19170" y="105336"/>
                  </a:cubicBezTo>
                  <a:close/>
                  <a:moveTo>
                    <a:pt x="186586" y="124488"/>
                  </a:moveTo>
                  <a:lnTo>
                    <a:pt x="186586" y="171091"/>
                  </a:lnTo>
                  <a:cubicBezTo>
                    <a:pt x="186586" y="174921"/>
                    <a:pt x="184030" y="177475"/>
                    <a:pt x="180196" y="177475"/>
                  </a:cubicBezTo>
                  <a:lnTo>
                    <a:pt x="171889" y="177475"/>
                  </a:lnTo>
                  <a:cubicBezTo>
                    <a:pt x="168055" y="177475"/>
                    <a:pt x="165499" y="174921"/>
                    <a:pt x="165499" y="171091"/>
                  </a:cubicBezTo>
                  <a:lnTo>
                    <a:pt x="165499" y="111720"/>
                  </a:lnTo>
                  <a:cubicBezTo>
                    <a:pt x="165499" y="107889"/>
                    <a:pt x="168055" y="105336"/>
                    <a:pt x="171889" y="105336"/>
                  </a:cubicBezTo>
                  <a:lnTo>
                    <a:pt x="180196" y="105336"/>
                  </a:lnTo>
                  <a:cubicBezTo>
                    <a:pt x="184030" y="105336"/>
                    <a:pt x="186586" y="107889"/>
                    <a:pt x="186586" y="111720"/>
                  </a:cubicBezTo>
                  <a:lnTo>
                    <a:pt x="186586" y="124488"/>
                  </a:lnTo>
                  <a:close/>
                </a:path>
              </a:pathLst>
            </a:custGeom>
            <a:solidFill>
              <a:schemeClr val="bg1"/>
            </a:solid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grpSp>
      <p:sp>
        <p:nvSpPr>
          <p:cNvPr id="196" name="Rounded Rectangle 47">
            <a:extLst>
              <a:ext uri="{FF2B5EF4-FFF2-40B4-BE49-F238E27FC236}">
                <a16:creationId xmlns:a16="http://schemas.microsoft.com/office/drawing/2014/main" id="{E8F478DF-BF4E-D540-E699-2D7E89B0AF5A}"/>
              </a:ext>
            </a:extLst>
          </p:cNvPr>
          <p:cNvSpPr/>
          <p:nvPr/>
        </p:nvSpPr>
        <p:spPr>
          <a:xfrm>
            <a:off x="3146628" y="4945678"/>
            <a:ext cx="8713507" cy="1467749"/>
          </a:xfrm>
          <a:prstGeom prst="roundRect">
            <a:avLst>
              <a:gd name="adj" fmla="val 6000"/>
            </a:avLst>
          </a:prstGeom>
          <a:ln w="28575">
            <a:solidFill>
              <a:srgbClr val="4EA72E"/>
            </a:solidFill>
          </a:ln>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rPr>
              <a:t>v</a:t>
            </a: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201" name="Text 11">
            <a:extLst>
              <a:ext uri="{FF2B5EF4-FFF2-40B4-BE49-F238E27FC236}">
                <a16:creationId xmlns:a16="http://schemas.microsoft.com/office/drawing/2014/main" id="{602CAD77-3278-75AF-5E83-09032C4ED711}"/>
              </a:ext>
            </a:extLst>
          </p:cNvPr>
          <p:cNvSpPr/>
          <p:nvPr/>
        </p:nvSpPr>
        <p:spPr>
          <a:xfrm>
            <a:off x="3581547" y="5289298"/>
            <a:ext cx="2031313" cy="769441"/>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4EA72E"/>
                </a:solidFill>
                <a:effectLst/>
                <a:uLnTx/>
                <a:uFillTx/>
                <a:latin typeface="Segoe UI" panose="020B0502040204020203" pitchFamily="34" charset="0"/>
                <a:ea typeface="Calibri" pitchFamily="34" charset="-122"/>
                <a:cs typeface="Segoe UI" panose="020B0502040204020203" pitchFamily="34" charset="0"/>
                <a:sym typeface="Arial"/>
              </a:rPr>
              <a:t>+</a:t>
            </a:r>
            <a:r>
              <a:rPr kumimoji="0" lang="en-US" sz="5000" b="1" i="0" u="none" strike="noStrike" kern="1200" cap="none" spc="0" normalizeH="0" baseline="0" noProof="0" dirty="0">
                <a:ln>
                  <a:noFill/>
                </a:ln>
                <a:solidFill>
                  <a:srgbClr val="43B02A"/>
                </a:solidFill>
                <a:effectLst/>
                <a:uLnTx/>
                <a:uFillTx/>
                <a:latin typeface="Segoe UI" panose="020B0502040204020203" pitchFamily="34" charset="0"/>
                <a:ea typeface="Calibri" pitchFamily="34" charset="-122"/>
                <a:cs typeface="Segoe UI" panose="020B0502040204020203" pitchFamily="34" charset="0"/>
                <a:sym typeface="Arial"/>
              </a:rPr>
              <a:t>25%</a:t>
            </a:r>
            <a:endParaRPr kumimoji="0" lang="en-US" sz="5000" b="0" i="0" u="none" strike="noStrike" kern="1200" cap="none" spc="0" normalizeH="0" baseline="0" noProof="0" dirty="0">
              <a:ln>
                <a:noFill/>
              </a:ln>
              <a:solidFill>
                <a:srgbClr val="43B02A"/>
              </a:solidFill>
              <a:effectLst/>
              <a:uLnTx/>
              <a:uFillTx/>
              <a:latin typeface="Segoe UI" panose="020B0502040204020203" pitchFamily="34" charset="0"/>
              <a:ea typeface="+mn-ea"/>
              <a:cs typeface="Segoe UI" panose="020B0502040204020203" pitchFamily="34" charset="0"/>
              <a:sym typeface="Arial"/>
            </a:endParaRPr>
          </a:p>
        </p:txBody>
      </p:sp>
      <p:sp>
        <p:nvSpPr>
          <p:cNvPr id="203" name="Rectangle: Rounded Corners 202">
            <a:extLst>
              <a:ext uri="{FF2B5EF4-FFF2-40B4-BE49-F238E27FC236}">
                <a16:creationId xmlns:a16="http://schemas.microsoft.com/office/drawing/2014/main" id="{8A6C90C8-C275-82A9-03E1-6060FBB39BB7}"/>
              </a:ext>
            </a:extLst>
          </p:cNvPr>
          <p:cNvSpPr/>
          <p:nvPr/>
        </p:nvSpPr>
        <p:spPr>
          <a:xfrm>
            <a:off x="3469286" y="5785538"/>
            <a:ext cx="2967510" cy="280826"/>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500" b="1" i="0" u="none" strike="noStrike" kern="0" cap="none" spc="10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endParaRPr>
          </a:p>
        </p:txBody>
      </p:sp>
      <p:cxnSp>
        <p:nvCxnSpPr>
          <p:cNvPr id="204" name="Straight Connector 203">
            <a:extLst>
              <a:ext uri="{FF2B5EF4-FFF2-40B4-BE49-F238E27FC236}">
                <a16:creationId xmlns:a16="http://schemas.microsoft.com/office/drawing/2014/main" id="{6BF22471-6DAA-924D-EDDF-3F01F6672D14}"/>
              </a:ext>
            </a:extLst>
          </p:cNvPr>
          <p:cNvCxnSpPr>
            <a:cxnSpLocks/>
          </p:cNvCxnSpPr>
          <p:nvPr/>
        </p:nvCxnSpPr>
        <p:spPr>
          <a:xfrm>
            <a:off x="5858786" y="5153885"/>
            <a:ext cx="0" cy="1072241"/>
          </a:xfrm>
          <a:prstGeom prst="line">
            <a:avLst/>
          </a:prstGeom>
          <a:ln w="1905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4FDE52F2-2950-29B7-08A4-D470A885BA2F}"/>
              </a:ext>
            </a:extLst>
          </p:cNvPr>
          <p:cNvCxnSpPr>
            <a:cxnSpLocks/>
          </p:cNvCxnSpPr>
          <p:nvPr/>
        </p:nvCxnSpPr>
        <p:spPr>
          <a:xfrm>
            <a:off x="9750372" y="3141992"/>
            <a:ext cx="0" cy="1343156"/>
          </a:xfrm>
          <a:prstGeom prst="line">
            <a:avLst/>
          </a:prstGeom>
          <a:ln w="1905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210" name="Title 2">
            <a:extLst>
              <a:ext uri="{FF2B5EF4-FFF2-40B4-BE49-F238E27FC236}">
                <a16:creationId xmlns:a16="http://schemas.microsoft.com/office/drawing/2014/main" id="{EBED0333-1503-9B10-6835-FD54FA91ED44}"/>
              </a:ext>
            </a:extLst>
          </p:cNvPr>
          <p:cNvSpPr txBox="1">
            <a:spLocks/>
          </p:cNvSpPr>
          <p:nvPr/>
        </p:nvSpPr>
        <p:spPr>
          <a:xfrm>
            <a:off x="6104713" y="5187401"/>
            <a:ext cx="5794209" cy="572464"/>
          </a:xfrm>
          <a:prstGeom prst="rect">
            <a:avLst/>
          </a:prstGeom>
        </p:spPr>
        <p:txBody>
          <a:bodyPr vert="horz" wrap="square" lIns="91440" tIns="91440" rIns="91440" bIns="91440" rtlCol="0" anchor="ctr">
            <a:spAutoFit/>
          </a:bodyPr>
          <a:lstStyle>
            <a:lvl1pPr algn="l" defTabSz="914400" rtl="0" eaLnBrk="1" latinLnBrk="0" hangingPunct="1">
              <a:lnSpc>
                <a:spcPct val="90000"/>
              </a:lnSpc>
              <a:spcBef>
                <a:spcPct val="0"/>
              </a:spcBef>
              <a:buNone/>
              <a:defRPr lang="en-CA" sz="3600" b="1" kern="1200" cap="all" baseline="0">
                <a:solidFill>
                  <a:schemeClr val="tx1"/>
                </a:solidFill>
                <a:latin typeface="+mn-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 typeface="Arial"/>
              <a:buNone/>
              <a:tabLst/>
              <a:defRPr/>
            </a:pPr>
            <a:r>
              <a:rPr kumimoji="0" lang="en-US" sz="1400" b="1" i="0" u="none" strike="noStrike" kern="1200" cap="none" spc="0" normalizeH="0" baseline="0" noProof="0" dirty="0">
                <a:ln>
                  <a:noFill/>
                </a:ln>
                <a:solidFill>
                  <a:srgbClr val="43B02A"/>
                </a:solidFill>
                <a:effectLst/>
                <a:uLnTx/>
                <a:uFillTx/>
                <a:latin typeface="Segoe UI" panose="020B0502040204020203" pitchFamily="34" charset="0"/>
                <a:ea typeface="+mj-ea"/>
                <a:cs typeface="Segoe UI" panose="020B0502040204020203" pitchFamily="34" charset="0"/>
                <a:sym typeface="Arial"/>
              </a:rPr>
              <a:t>gap between insurance (72%) and banking (47%) respondents selecting the contact center as their most vulnerable channel</a:t>
            </a:r>
          </a:p>
        </p:txBody>
      </p:sp>
      <p:sp>
        <p:nvSpPr>
          <p:cNvPr id="212" name="Rectangle 211">
            <a:extLst>
              <a:ext uri="{FF2B5EF4-FFF2-40B4-BE49-F238E27FC236}">
                <a16:creationId xmlns:a16="http://schemas.microsoft.com/office/drawing/2014/main" id="{738E9963-8707-67AA-AFC7-526219677E37}"/>
              </a:ext>
            </a:extLst>
          </p:cNvPr>
          <p:cNvSpPr/>
          <p:nvPr/>
        </p:nvSpPr>
        <p:spPr>
          <a:xfrm>
            <a:off x="6202972" y="5751006"/>
            <a:ext cx="5509417" cy="43036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Insurance routes authentication, servicing and claims through the contact center whereas banking spreads that risk across digital channels</a:t>
            </a:r>
          </a:p>
        </p:txBody>
      </p:sp>
      <p:sp>
        <p:nvSpPr>
          <p:cNvPr id="16" name="Text 22">
            <a:extLst>
              <a:ext uri="{FF2B5EF4-FFF2-40B4-BE49-F238E27FC236}">
                <a16:creationId xmlns:a16="http://schemas.microsoft.com/office/drawing/2014/main" id="{6652A3BC-EE00-243A-E65B-A44048D76CE6}"/>
              </a:ext>
            </a:extLst>
          </p:cNvPr>
          <p:cNvSpPr/>
          <p:nvPr/>
        </p:nvSpPr>
        <p:spPr>
          <a:xfrm>
            <a:off x="584015" y="2600457"/>
            <a:ext cx="2095177" cy="61203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8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WHERE THEY CONVERGE</a:t>
            </a:r>
          </a:p>
        </p:txBody>
      </p:sp>
      <p:sp>
        <p:nvSpPr>
          <p:cNvPr id="12" name="Rectangle 11">
            <a:extLst>
              <a:ext uri="{FF2B5EF4-FFF2-40B4-BE49-F238E27FC236}">
                <a16:creationId xmlns:a16="http://schemas.microsoft.com/office/drawing/2014/main" id="{EBC9837D-C3FD-4F9E-66F8-595B7E8F9392}"/>
              </a:ext>
            </a:extLst>
          </p:cNvPr>
          <p:cNvSpPr/>
          <p:nvPr/>
        </p:nvSpPr>
        <p:spPr>
          <a:xfrm>
            <a:off x="208221" y="6522342"/>
            <a:ext cx="3906579" cy="17164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1 </a:t>
            </a: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hlinkClick r:id="rId3"/>
              </a:rPr>
              <a:t>Deepfakes Already Hitting Businesses as Often as Traditional Fraud</a:t>
            </a:r>
            <a:endPar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
        <p:nvSpPr>
          <p:cNvPr id="4" name="Rectangle 3">
            <a:extLst>
              <a:ext uri="{FF2B5EF4-FFF2-40B4-BE49-F238E27FC236}">
                <a16:creationId xmlns:a16="http://schemas.microsoft.com/office/drawing/2014/main" id="{DA55C648-3C23-7141-C5BE-09F28C1DCB58}"/>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For detailed data please refer to </a:t>
            </a: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hlinkClick r:id="" action="ppaction://noaction"/>
              </a:rPr>
              <a:t>Appendix – B</a:t>
            </a: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hlinkClick r:id="rId4" action="ppaction://hlinksldjump"/>
              </a:rPr>
              <a:t> </a:t>
            </a:r>
            <a:endPar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Tree>
    <p:extLst>
      <p:ext uri="{BB962C8B-B14F-4D97-AF65-F5344CB8AC3E}">
        <p14:creationId xmlns:p14="http://schemas.microsoft.com/office/powerpoint/2010/main" val="37031821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BEA0D-344E-5B69-C0F0-BE68BE5ABE85}"/>
            </a:ext>
          </a:extLst>
        </p:cNvPr>
        <p:cNvGrpSpPr/>
        <p:nvPr/>
      </p:nvGrpSpPr>
      <p:grpSpPr>
        <a:xfrm>
          <a:off x="0" y="0"/>
          <a:ext cx="0" cy="0"/>
          <a:chOff x="0" y="0"/>
          <a:chExt cx="0" cy="0"/>
        </a:xfrm>
      </p:grpSpPr>
      <p:sp>
        <p:nvSpPr>
          <p:cNvPr id="153" name="Rectangle 152">
            <a:extLst>
              <a:ext uri="{FF2B5EF4-FFF2-40B4-BE49-F238E27FC236}">
                <a16:creationId xmlns:a16="http://schemas.microsoft.com/office/drawing/2014/main" id="{325FBBF7-60F4-3D5C-EC3D-F825BAAA0088}"/>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dirty="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DEEPFAKE &amp; EMERGING AI RISK</a:t>
            </a:r>
          </a:p>
        </p:txBody>
      </p:sp>
      <p:sp>
        <p:nvSpPr>
          <p:cNvPr id="11" name="TextBox 10">
            <a:extLst>
              <a:ext uri="{FF2B5EF4-FFF2-40B4-BE49-F238E27FC236}">
                <a16:creationId xmlns:a16="http://schemas.microsoft.com/office/drawing/2014/main" id="{F6A7302D-DED1-3A66-5136-8C0E43EC29E3}"/>
              </a:ext>
            </a:extLst>
          </p:cNvPr>
          <p:cNvSpPr txBox="1"/>
          <p:nvPr/>
        </p:nvSpPr>
        <p:spPr>
          <a:xfrm>
            <a:off x="320040" y="1143000"/>
            <a:ext cx="11521440" cy="6463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Asked which mitigation levers matter most, respondents spread their answers almost evenly: </a:t>
            </a:r>
            <a:r>
              <a:rPr kumimoji="0" sz="14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each of the four levers was selected by 43–53% of respondents</a:t>
            </a:r>
            <a:r>
              <a:rPr kumimoji="0" sz="14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 No single control stands out, which signals that leaders see deepfake defense as a combination of people, process, technology and intelligence.</a:t>
            </a:r>
          </a:p>
        </p:txBody>
      </p:sp>
      <p:sp>
        <p:nvSpPr>
          <p:cNvPr id="15" name="TextBox 14">
            <a:extLst>
              <a:ext uri="{FF2B5EF4-FFF2-40B4-BE49-F238E27FC236}">
                <a16:creationId xmlns:a16="http://schemas.microsoft.com/office/drawing/2014/main" id="{9361E7E7-5647-A1E6-A8D1-FFE0CD92B160}"/>
              </a:ext>
            </a:extLst>
          </p:cNvPr>
          <p:cNvSpPr txBox="1"/>
          <p:nvPr/>
        </p:nvSpPr>
        <p:spPr>
          <a:xfrm>
            <a:off x="320040" y="1948864"/>
            <a:ext cx="8229600" cy="20005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FOUR LEVERS, EQUALLY WEIGHTED</a:t>
            </a:r>
            <a:endParaRPr kumimoji="0" sz="1300" b="0" i="0" u="none" strike="noStrike" kern="1200" cap="none" spc="0" normalizeH="0" baseline="0" noProof="0" dirty="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grpSp>
        <p:nvGrpSpPr>
          <p:cNvPr id="2" name="Group 1">
            <a:extLst>
              <a:ext uri="{FF2B5EF4-FFF2-40B4-BE49-F238E27FC236}">
                <a16:creationId xmlns:a16="http://schemas.microsoft.com/office/drawing/2014/main" id="{38AC62DA-C722-7317-A72D-70A717EC103D}"/>
              </a:ext>
            </a:extLst>
          </p:cNvPr>
          <p:cNvGrpSpPr/>
          <p:nvPr/>
        </p:nvGrpSpPr>
        <p:grpSpPr>
          <a:xfrm>
            <a:off x="886404" y="2306235"/>
            <a:ext cx="2635806" cy="1933960"/>
            <a:chOff x="512328" y="2307402"/>
            <a:chExt cx="2635806" cy="1933960"/>
          </a:xfrm>
        </p:grpSpPr>
        <p:sp>
          <p:nvSpPr>
            <p:cNvPr id="17" name="Rounded Rectangle 7">
              <a:extLst>
                <a:ext uri="{FF2B5EF4-FFF2-40B4-BE49-F238E27FC236}">
                  <a16:creationId xmlns:a16="http://schemas.microsoft.com/office/drawing/2014/main" id="{F15C5CB5-B3AD-E45B-8143-8C29DFD9DEB5}"/>
                </a:ext>
              </a:extLst>
            </p:cNvPr>
            <p:cNvSpPr/>
            <p:nvPr/>
          </p:nvSpPr>
          <p:spPr>
            <a:xfrm>
              <a:off x="512328" y="2307402"/>
              <a:ext cx="2635806" cy="1933960"/>
            </a:xfrm>
            <a:prstGeom prst="roundRect">
              <a:avLst>
                <a:gd name="adj" fmla="val 6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grpSp>
          <p:nvGrpSpPr>
            <p:cNvPr id="184" name="Group 183">
              <a:extLst>
                <a:ext uri="{FF2B5EF4-FFF2-40B4-BE49-F238E27FC236}">
                  <a16:creationId xmlns:a16="http://schemas.microsoft.com/office/drawing/2014/main" id="{E3A0F095-E6C7-FABF-5F03-697E8C447E9C}"/>
                </a:ext>
              </a:extLst>
            </p:cNvPr>
            <p:cNvGrpSpPr/>
            <p:nvPr/>
          </p:nvGrpSpPr>
          <p:grpSpPr>
            <a:xfrm>
              <a:off x="1447371" y="2471994"/>
              <a:ext cx="720000" cy="720000"/>
              <a:chOff x="1348740" y="2267712"/>
              <a:chExt cx="640080" cy="640080"/>
            </a:xfrm>
          </p:grpSpPr>
          <p:sp>
            <p:nvSpPr>
              <p:cNvPr id="22" name="Oval 21">
                <a:extLst>
                  <a:ext uri="{FF2B5EF4-FFF2-40B4-BE49-F238E27FC236}">
                    <a16:creationId xmlns:a16="http://schemas.microsoft.com/office/drawing/2014/main" id="{00B036A9-5780-6F4F-8D12-77414A97783E}"/>
                  </a:ext>
                </a:extLst>
              </p:cNvPr>
              <p:cNvSpPr/>
              <p:nvPr/>
            </p:nvSpPr>
            <p:spPr>
              <a:xfrm>
                <a:off x="1348740" y="2267712"/>
                <a:ext cx="640080" cy="640080"/>
              </a:xfrm>
              <a:prstGeom prst="ellipse">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pic>
            <p:nvPicPr>
              <p:cNvPr id="25" name="Picture 24" descr="image.png">
                <a:extLst>
                  <a:ext uri="{FF2B5EF4-FFF2-40B4-BE49-F238E27FC236}">
                    <a16:creationId xmlns:a16="http://schemas.microsoft.com/office/drawing/2014/main" id="{2AB99E46-FDFE-CBCB-C4CE-1A15872D652F}"/>
                  </a:ext>
                </a:extLst>
              </p:cNvPr>
              <p:cNvPicPr>
                <a:picLocks noChangeAspect="1"/>
              </p:cNvPicPr>
              <p:nvPr/>
            </p:nvPicPr>
            <p:blipFill>
              <a:blip r:embed="rId3"/>
              <a:stretch>
                <a:fillRect/>
              </a:stretch>
            </p:blipFill>
            <p:spPr>
              <a:xfrm>
                <a:off x="1502359" y="2421331"/>
                <a:ext cx="332841" cy="332841"/>
              </a:xfrm>
              <a:prstGeom prst="rect">
                <a:avLst/>
              </a:prstGeom>
            </p:spPr>
          </p:pic>
        </p:grpSp>
        <p:sp>
          <p:nvSpPr>
            <p:cNvPr id="27" name="TextBox 26">
              <a:extLst>
                <a:ext uri="{FF2B5EF4-FFF2-40B4-BE49-F238E27FC236}">
                  <a16:creationId xmlns:a16="http://schemas.microsoft.com/office/drawing/2014/main" id="{7719512D-C6FE-DC4F-9E8A-1052F433EF76}"/>
                </a:ext>
              </a:extLst>
            </p:cNvPr>
            <p:cNvSpPr txBox="1"/>
            <p:nvPr/>
          </p:nvSpPr>
          <p:spPr>
            <a:xfrm>
              <a:off x="595791" y="3349429"/>
              <a:ext cx="2423160"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023D20"/>
                  </a:solidFill>
                  <a:effectLst/>
                  <a:uLnTx/>
                  <a:uFillTx/>
                  <a:latin typeface="Segoe UI" panose="020B0502040204020203" pitchFamily="34" charset="0"/>
                  <a:ea typeface="+mn-ea"/>
                  <a:cs typeface="Segoe UI" panose="020B0502040204020203" pitchFamily="34" charset="0"/>
                  <a:sym typeface="Arial"/>
                </a:rPr>
                <a:t>Third-party intelligence</a:t>
              </a:r>
            </a:p>
          </p:txBody>
        </p:sp>
        <p:sp>
          <p:nvSpPr>
            <p:cNvPr id="29" name="TextBox 28">
              <a:extLst>
                <a:ext uri="{FF2B5EF4-FFF2-40B4-BE49-F238E27FC236}">
                  <a16:creationId xmlns:a16="http://schemas.microsoft.com/office/drawing/2014/main" id="{509CF935-7666-732B-C0D8-64B9BCA5A9F6}"/>
                </a:ext>
              </a:extLst>
            </p:cNvPr>
            <p:cNvSpPr txBox="1"/>
            <p:nvPr/>
          </p:nvSpPr>
          <p:spPr>
            <a:xfrm>
              <a:off x="641511" y="3671219"/>
              <a:ext cx="2331720" cy="507831"/>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External data and consortium signals that reveal threats beyond one institution</a:t>
              </a:r>
            </a:p>
          </p:txBody>
        </p:sp>
      </p:grpSp>
      <p:grpSp>
        <p:nvGrpSpPr>
          <p:cNvPr id="3" name="Group 2">
            <a:extLst>
              <a:ext uri="{FF2B5EF4-FFF2-40B4-BE49-F238E27FC236}">
                <a16:creationId xmlns:a16="http://schemas.microsoft.com/office/drawing/2014/main" id="{319FC290-7183-C7AD-4745-F6DCCA012485}"/>
              </a:ext>
            </a:extLst>
          </p:cNvPr>
          <p:cNvGrpSpPr/>
          <p:nvPr/>
        </p:nvGrpSpPr>
        <p:grpSpPr>
          <a:xfrm>
            <a:off x="3659494" y="2306235"/>
            <a:ext cx="2635806" cy="1933960"/>
            <a:chOff x="3462792" y="2307402"/>
            <a:chExt cx="2635806" cy="1933960"/>
          </a:xfrm>
        </p:grpSpPr>
        <p:sp>
          <p:nvSpPr>
            <p:cNvPr id="31" name="Rounded Rectangle 12">
              <a:extLst>
                <a:ext uri="{FF2B5EF4-FFF2-40B4-BE49-F238E27FC236}">
                  <a16:creationId xmlns:a16="http://schemas.microsoft.com/office/drawing/2014/main" id="{E7C0C06C-18C3-68FB-4A23-481D81856C51}"/>
                </a:ext>
              </a:extLst>
            </p:cNvPr>
            <p:cNvSpPr/>
            <p:nvPr/>
          </p:nvSpPr>
          <p:spPr>
            <a:xfrm>
              <a:off x="3462792" y="2307402"/>
              <a:ext cx="2635806" cy="1933960"/>
            </a:xfrm>
            <a:prstGeom prst="roundRect">
              <a:avLst>
                <a:gd name="adj" fmla="val 6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grpSp>
          <p:nvGrpSpPr>
            <p:cNvPr id="183" name="Group 182">
              <a:extLst>
                <a:ext uri="{FF2B5EF4-FFF2-40B4-BE49-F238E27FC236}">
                  <a16:creationId xmlns:a16="http://schemas.microsoft.com/office/drawing/2014/main" id="{AE26DACD-7243-7C54-6A2A-D5DCAE910BA1}"/>
                </a:ext>
              </a:extLst>
            </p:cNvPr>
            <p:cNvGrpSpPr/>
            <p:nvPr/>
          </p:nvGrpSpPr>
          <p:grpSpPr>
            <a:xfrm>
              <a:off x="4397835" y="2471994"/>
              <a:ext cx="720000" cy="720000"/>
              <a:chOff x="4299204" y="2267712"/>
              <a:chExt cx="640080" cy="640080"/>
            </a:xfrm>
          </p:grpSpPr>
          <p:sp>
            <p:nvSpPr>
              <p:cNvPr id="33" name="Oval 32">
                <a:extLst>
                  <a:ext uri="{FF2B5EF4-FFF2-40B4-BE49-F238E27FC236}">
                    <a16:creationId xmlns:a16="http://schemas.microsoft.com/office/drawing/2014/main" id="{92DDD023-B840-C94B-15DD-7FECB4EB5F33}"/>
                  </a:ext>
                </a:extLst>
              </p:cNvPr>
              <p:cNvSpPr/>
              <p:nvPr/>
            </p:nvSpPr>
            <p:spPr>
              <a:xfrm>
                <a:off x="4299204" y="2267712"/>
                <a:ext cx="640080" cy="640080"/>
              </a:xfrm>
              <a:prstGeom prst="ellipse">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pic>
            <p:nvPicPr>
              <p:cNvPr id="36" name="Picture 35" descr="image.png">
                <a:extLst>
                  <a:ext uri="{FF2B5EF4-FFF2-40B4-BE49-F238E27FC236}">
                    <a16:creationId xmlns:a16="http://schemas.microsoft.com/office/drawing/2014/main" id="{C170A569-E8E4-2B1C-AAAF-BEB4FF3669F6}"/>
                  </a:ext>
                </a:extLst>
              </p:cNvPr>
              <p:cNvPicPr>
                <a:picLocks noChangeAspect="1"/>
              </p:cNvPicPr>
              <p:nvPr/>
            </p:nvPicPr>
            <p:blipFill>
              <a:blip r:embed="rId4"/>
              <a:stretch>
                <a:fillRect/>
              </a:stretch>
            </p:blipFill>
            <p:spPr>
              <a:xfrm>
                <a:off x="4452823" y="2421331"/>
                <a:ext cx="332841" cy="332841"/>
              </a:xfrm>
              <a:prstGeom prst="rect">
                <a:avLst/>
              </a:prstGeom>
            </p:spPr>
          </p:pic>
        </p:grpSp>
        <p:sp>
          <p:nvSpPr>
            <p:cNvPr id="42" name="TextBox 41">
              <a:extLst>
                <a:ext uri="{FF2B5EF4-FFF2-40B4-BE49-F238E27FC236}">
                  <a16:creationId xmlns:a16="http://schemas.microsoft.com/office/drawing/2014/main" id="{CCFF3FC2-B5EA-35E7-B530-E4F0B6B6BBC9}"/>
                </a:ext>
              </a:extLst>
            </p:cNvPr>
            <p:cNvSpPr txBox="1"/>
            <p:nvPr/>
          </p:nvSpPr>
          <p:spPr>
            <a:xfrm>
              <a:off x="3546255" y="3349429"/>
              <a:ext cx="2423160"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023D20"/>
                  </a:solidFill>
                  <a:effectLst/>
                  <a:uLnTx/>
                  <a:uFillTx/>
                  <a:latin typeface="Segoe UI" panose="020B0502040204020203" pitchFamily="34" charset="0"/>
                  <a:ea typeface="+mn-ea"/>
                  <a:cs typeface="Segoe UI" panose="020B0502040204020203" pitchFamily="34" charset="0"/>
                  <a:sym typeface="Arial"/>
                </a:rPr>
                <a:t>Prevention controls</a:t>
              </a:r>
            </a:p>
          </p:txBody>
        </p:sp>
        <p:sp>
          <p:nvSpPr>
            <p:cNvPr id="44" name="TextBox 43">
              <a:extLst>
                <a:ext uri="{FF2B5EF4-FFF2-40B4-BE49-F238E27FC236}">
                  <a16:creationId xmlns:a16="http://schemas.microsoft.com/office/drawing/2014/main" id="{BEAB6868-605F-B475-741A-3FB0E5097DAF}"/>
                </a:ext>
              </a:extLst>
            </p:cNvPr>
            <p:cNvSpPr txBox="1"/>
            <p:nvPr/>
          </p:nvSpPr>
          <p:spPr>
            <a:xfrm>
              <a:off x="3591975" y="3671219"/>
              <a:ext cx="2331720" cy="33855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Stopping synthetic identities and impersonation at the point of entry</a:t>
              </a:r>
            </a:p>
          </p:txBody>
        </p:sp>
      </p:grpSp>
      <p:grpSp>
        <p:nvGrpSpPr>
          <p:cNvPr id="5" name="Group 4">
            <a:extLst>
              <a:ext uri="{FF2B5EF4-FFF2-40B4-BE49-F238E27FC236}">
                <a16:creationId xmlns:a16="http://schemas.microsoft.com/office/drawing/2014/main" id="{619C62FD-4856-BD6E-0B7B-7FAC17597CA3}"/>
              </a:ext>
            </a:extLst>
          </p:cNvPr>
          <p:cNvGrpSpPr/>
          <p:nvPr/>
        </p:nvGrpSpPr>
        <p:grpSpPr>
          <a:xfrm>
            <a:off x="6432584" y="2306235"/>
            <a:ext cx="2635806" cy="1933960"/>
            <a:chOff x="6413256" y="2307402"/>
            <a:chExt cx="2635806" cy="1933960"/>
          </a:xfrm>
        </p:grpSpPr>
        <p:sp>
          <p:nvSpPr>
            <p:cNvPr id="46" name="Rounded Rectangle 17">
              <a:extLst>
                <a:ext uri="{FF2B5EF4-FFF2-40B4-BE49-F238E27FC236}">
                  <a16:creationId xmlns:a16="http://schemas.microsoft.com/office/drawing/2014/main" id="{B3DE934B-9EAE-1FCD-1838-47DFFD7B1789}"/>
                </a:ext>
              </a:extLst>
            </p:cNvPr>
            <p:cNvSpPr/>
            <p:nvPr/>
          </p:nvSpPr>
          <p:spPr>
            <a:xfrm>
              <a:off x="6413256" y="2307402"/>
              <a:ext cx="2635806" cy="1933960"/>
            </a:xfrm>
            <a:prstGeom prst="roundRect">
              <a:avLst>
                <a:gd name="adj" fmla="val 6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grpSp>
          <p:nvGrpSpPr>
            <p:cNvPr id="182" name="Group 181">
              <a:extLst>
                <a:ext uri="{FF2B5EF4-FFF2-40B4-BE49-F238E27FC236}">
                  <a16:creationId xmlns:a16="http://schemas.microsoft.com/office/drawing/2014/main" id="{4947D1B3-E602-51FB-9168-40EED0BF205F}"/>
                </a:ext>
              </a:extLst>
            </p:cNvPr>
            <p:cNvGrpSpPr/>
            <p:nvPr/>
          </p:nvGrpSpPr>
          <p:grpSpPr>
            <a:xfrm>
              <a:off x="7348299" y="2471994"/>
              <a:ext cx="720000" cy="720000"/>
              <a:chOff x="7249668" y="2267712"/>
              <a:chExt cx="640080" cy="640080"/>
            </a:xfrm>
          </p:grpSpPr>
          <p:sp>
            <p:nvSpPr>
              <p:cNvPr id="48" name="Oval 47">
                <a:extLst>
                  <a:ext uri="{FF2B5EF4-FFF2-40B4-BE49-F238E27FC236}">
                    <a16:creationId xmlns:a16="http://schemas.microsoft.com/office/drawing/2014/main" id="{7A5AAC7D-799F-5399-4068-E56ABD5AC5EB}"/>
                  </a:ext>
                </a:extLst>
              </p:cNvPr>
              <p:cNvSpPr/>
              <p:nvPr/>
            </p:nvSpPr>
            <p:spPr>
              <a:xfrm>
                <a:off x="7249668" y="2267712"/>
                <a:ext cx="640080" cy="640080"/>
              </a:xfrm>
              <a:prstGeom prst="ellipse">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pic>
            <p:nvPicPr>
              <p:cNvPr id="50" name="Picture 49" descr="ic_mon_w.png">
                <a:extLst>
                  <a:ext uri="{FF2B5EF4-FFF2-40B4-BE49-F238E27FC236}">
                    <a16:creationId xmlns:a16="http://schemas.microsoft.com/office/drawing/2014/main" id="{9B275625-E2F1-2828-315D-CA751ABC9758}"/>
                  </a:ext>
                </a:extLst>
              </p:cNvPr>
              <p:cNvPicPr>
                <a:picLocks noChangeAspect="1"/>
              </p:cNvPicPr>
              <p:nvPr/>
            </p:nvPicPr>
            <p:blipFill>
              <a:blip r:embed="rId5"/>
              <a:stretch>
                <a:fillRect/>
              </a:stretch>
            </p:blipFill>
            <p:spPr>
              <a:xfrm>
                <a:off x="7403287" y="2421331"/>
                <a:ext cx="332841" cy="332841"/>
              </a:xfrm>
              <a:prstGeom prst="rect">
                <a:avLst/>
              </a:prstGeom>
            </p:spPr>
          </p:pic>
        </p:grpSp>
        <p:sp>
          <p:nvSpPr>
            <p:cNvPr id="53" name="TextBox 52">
              <a:extLst>
                <a:ext uri="{FF2B5EF4-FFF2-40B4-BE49-F238E27FC236}">
                  <a16:creationId xmlns:a16="http://schemas.microsoft.com/office/drawing/2014/main" id="{5C5A3E75-A1FC-299B-A16A-2025D806CBF3}"/>
                </a:ext>
              </a:extLst>
            </p:cNvPr>
            <p:cNvSpPr txBox="1"/>
            <p:nvPr/>
          </p:nvSpPr>
          <p:spPr>
            <a:xfrm>
              <a:off x="6496719" y="3349429"/>
              <a:ext cx="2423160"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023D20"/>
                  </a:solidFill>
                  <a:effectLst/>
                  <a:uLnTx/>
                  <a:uFillTx/>
                  <a:latin typeface="Segoe UI" panose="020B0502040204020203" pitchFamily="34" charset="0"/>
                  <a:ea typeface="+mn-ea"/>
                  <a:cs typeface="Segoe UI" panose="020B0502040204020203" pitchFamily="34" charset="0"/>
                  <a:sym typeface="Arial"/>
                </a:rPr>
                <a:t>Monitoring capabilities</a:t>
              </a:r>
            </a:p>
          </p:txBody>
        </p:sp>
        <p:sp>
          <p:nvSpPr>
            <p:cNvPr id="55" name="TextBox 54">
              <a:extLst>
                <a:ext uri="{FF2B5EF4-FFF2-40B4-BE49-F238E27FC236}">
                  <a16:creationId xmlns:a16="http://schemas.microsoft.com/office/drawing/2014/main" id="{3A1B5CEC-D815-4D63-2CBB-F0D8296991F8}"/>
                </a:ext>
              </a:extLst>
            </p:cNvPr>
            <p:cNvSpPr txBox="1"/>
            <p:nvPr/>
          </p:nvSpPr>
          <p:spPr>
            <a:xfrm>
              <a:off x="6542439" y="3671219"/>
              <a:ext cx="2331720" cy="33855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Detecting anomalous behaviour and transactions in real time</a:t>
              </a:r>
            </a:p>
          </p:txBody>
        </p:sp>
      </p:grpSp>
      <p:grpSp>
        <p:nvGrpSpPr>
          <p:cNvPr id="6" name="Group 5">
            <a:extLst>
              <a:ext uri="{FF2B5EF4-FFF2-40B4-BE49-F238E27FC236}">
                <a16:creationId xmlns:a16="http://schemas.microsoft.com/office/drawing/2014/main" id="{6C109589-6109-A601-B1C3-9077E6B225C9}"/>
              </a:ext>
            </a:extLst>
          </p:cNvPr>
          <p:cNvGrpSpPr/>
          <p:nvPr/>
        </p:nvGrpSpPr>
        <p:grpSpPr>
          <a:xfrm>
            <a:off x="9205674" y="2306235"/>
            <a:ext cx="2635806" cy="1933960"/>
            <a:chOff x="9205674" y="2307402"/>
            <a:chExt cx="2635806" cy="1933960"/>
          </a:xfrm>
        </p:grpSpPr>
        <p:sp>
          <p:nvSpPr>
            <p:cNvPr id="57" name="Rounded Rectangle 22">
              <a:extLst>
                <a:ext uri="{FF2B5EF4-FFF2-40B4-BE49-F238E27FC236}">
                  <a16:creationId xmlns:a16="http://schemas.microsoft.com/office/drawing/2014/main" id="{49C35B96-16C4-5EC6-8958-AF4D6624247C}"/>
                </a:ext>
              </a:extLst>
            </p:cNvPr>
            <p:cNvSpPr/>
            <p:nvPr/>
          </p:nvSpPr>
          <p:spPr>
            <a:xfrm>
              <a:off x="9205674" y="2307402"/>
              <a:ext cx="2635806" cy="1933960"/>
            </a:xfrm>
            <a:prstGeom prst="roundRect">
              <a:avLst>
                <a:gd name="adj" fmla="val 6000"/>
              </a:avLst>
            </a:prstGeom>
            <a:solidFill>
              <a:srgbClr val="FFFFFF"/>
            </a:solidFill>
            <a:ln w="25400">
              <a:solidFill>
                <a:schemeClr val="accent1">
                  <a:lumMod val="20000"/>
                  <a:lumOff val="8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grpSp>
          <p:nvGrpSpPr>
            <p:cNvPr id="181" name="Group 180">
              <a:extLst>
                <a:ext uri="{FF2B5EF4-FFF2-40B4-BE49-F238E27FC236}">
                  <a16:creationId xmlns:a16="http://schemas.microsoft.com/office/drawing/2014/main" id="{8A84B2DD-66E7-A9EA-B363-C8F7421BE427}"/>
                </a:ext>
              </a:extLst>
            </p:cNvPr>
            <p:cNvGrpSpPr/>
            <p:nvPr/>
          </p:nvGrpSpPr>
          <p:grpSpPr>
            <a:xfrm>
              <a:off x="10140717" y="2471994"/>
              <a:ext cx="720000" cy="720000"/>
              <a:chOff x="10200132" y="2267712"/>
              <a:chExt cx="640080" cy="640080"/>
            </a:xfrm>
          </p:grpSpPr>
          <p:sp>
            <p:nvSpPr>
              <p:cNvPr id="60" name="Oval 59">
                <a:extLst>
                  <a:ext uri="{FF2B5EF4-FFF2-40B4-BE49-F238E27FC236}">
                    <a16:creationId xmlns:a16="http://schemas.microsoft.com/office/drawing/2014/main" id="{2611F38E-A88F-354E-CB0F-3911950EA43C}"/>
                  </a:ext>
                </a:extLst>
              </p:cNvPr>
              <p:cNvSpPr/>
              <p:nvPr/>
            </p:nvSpPr>
            <p:spPr>
              <a:xfrm>
                <a:off x="10200132" y="2267712"/>
                <a:ext cx="640080" cy="640080"/>
              </a:xfrm>
              <a:prstGeom prst="ellipse">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pic>
            <p:nvPicPr>
              <p:cNvPr id="62" name="Picture 61" descr="ic_train_w.png">
                <a:extLst>
                  <a:ext uri="{FF2B5EF4-FFF2-40B4-BE49-F238E27FC236}">
                    <a16:creationId xmlns:a16="http://schemas.microsoft.com/office/drawing/2014/main" id="{DB9190AC-7902-B8F0-6B8F-658A0558EA99}"/>
                  </a:ext>
                </a:extLst>
              </p:cNvPr>
              <p:cNvPicPr>
                <a:picLocks noChangeAspect="1"/>
              </p:cNvPicPr>
              <p:nvPr/>
            </p:nvPicPr>
            <p:blipFill>
              <a:blip r:embed="rId6"/>
              <a:stretch>
                <a:fillRect/>
              </a:stretch>
            </p:blipFill>
            <p:spPr>
              <a:xfrm>
                <a:off x="10353751" y="2421331"/>
                <a:ext cx="332841" cy="332841"/>
              </a:xfrm>
              <a:prstGeom prst="rect">
                <a:avLst/>
              </a:prstGeom>
            </p:spPr>
          </p:pic>
        </p:grpSp>
        <p:sp>
          <p:nvSpPr>
            <p:cNvPr id="128" name="TextBox 127">
              <a:extLst>
                <a:ext uri="{FF2B5EF4-FFF2-40B4-BE49-F238E27FC236}">
                  <a16:creationId xmlns:a16="http://schemas.microsoft.com/office/drawing/2014/main" id="{F6E5EB8B-5813-9390-589B-7C0B423CB216}"/>
                </a:ext>
              </a:extLst>
            </p:cNvPr>
            <p:cNvSpPr txBox="1"/>
            <p:nvPr/>
          </p:nvSpPr>
          <p:spPr>
            <a:xfrm>
              <a:off x="9289137" y="3349429"/>
              <a:ext cx="2423160"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023D20"/>
                  </a:solidFill>
                  <a:effectLst/>
                  <a:uLnTx/>
                  <a:uFillTx/>
                  <a:latin typeface="Segoe UI" panose="020B0502040204020203" pitchFamily="34" charset="0"/>
                  <a:ea typeface="+mn-ea"/>
                  <a:cs typeface="Segoe UI" panose="020B0502040204020203" pitchFamily="34" charset="0"/>
                  <a:sym typeface="Arial"/>
                </a:rPr>
                <a:t>Staff awareness &amp; training</a:t>
              </a:r>
            </a:p>
          </p:txBody>
        </p:sp>
        <p:sp>
          <p:nvSpPr>
            <p:cNvPr id="130" name="TextBox 129">
              <a:extLst>
                <a:ext uri="{FF2B5EF4-FFF2-40B4-BE49-F238E27FC236}">
                  <a16:creationId xmlns:a16="http://schemas.microsoft.com/office/drawing/2014/main" id="{2136D919-6962-D076-C2E1-044E1F409643}"/>
                </a:ext>
              </a:extLst>
            </p:cNvPr>
            <p:cNvSpPr txBox="1"/>
            <p:nvPr/>
          </p:nvSpPr>
          <p:spPr>
            <a:xfrm>
              <a:off x="9334857" y="3671219"/>
              <a:ext cx="2331720" cy="33855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Equipping frontline teams to recognize and challenge deepfakes</a:t>
              </a:r>
            </a:p>
          </p:txBody>
        </p:sp>
      </p:grpSp>
      <p:grpSp>
        <p:nvGrpSpPr>
          <p:cNvPr id="180" name="Group 179">
            <a:extLst>
              <a:ext uri="{FF2B5EF4-FFF2-40B4-BE49-F238E27FC236}">
                <a16:creationId xmlns:a16="http://schemas.microsoft.com/office/drawing/2014/main" id="{16B711F3-F1F4-C254-E70B-945870A67B31}"/>
              </a:ext>
            </a:extLst>
          </p:cNvPr>
          <p:cNvGrpSpPr/>
          <p:nvPr/>
        </p:nvGrpSpPr>
        <p:grpSpPr>
          <a:xfrm>
            <a:off x="6313527" y="4565970"/>
            <a:ext cx="5669280" cy="1783080"/>
            <a:chOff x="6332982" y="6007608"/>
            <a:chExt cx="5669280" cy="1783080"/>
          </a:xfrm>
        </p:grpSpPr>
        <p:sp>
          <p:nvSpPr>
            <p:cNvPr id="156" name="Rounded Rectangle 29">
              <a:extLst>
                <a:ext uri="{FF2B5EF4-FFF2-40B4-BE49-F238E27FC236}">
                  <a16:creationId xmlns:a16="http://schemas.microsoft.com/office/drawing/2014/main" id="{2C1A5676-904B-5E5A-2CEA-1A8FE984FCED}"/>
                </a:ext>
              </a:extLst>
            </p:cNvPr>
            <p:cNvSpPr/>
            <p:nvPr/>
          </p:nvSpPr>
          <p:spPr>
            <a:xfrm>
              <a:off x="6332982" y="6007608"/>
              <a:ext cx="5669280" cy="1783080"/>
            </a:xfrm>
            <a:prstGeom prst="roundRect">
              <a:avLst>
                <a:gd name="adj" fmla="val 5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159" name="Rounded Rectangle 30">
              <a:extLst>
                <a:ext uri="{FF2B5EF4-FFF2-40B4-BE49-F238E27FC236}">
                  <a16:creationId xmlns:a16="http://schemas.microsoft.com/office/drawing/2014/main" id="{BD76AD1E-736F-C37F-617F-A9139302EC2F}"/>
                </a:ext>
              </a:extLst>
            </p:cNvPr>
            <p:cNvSpPr/>
            <p:nvPr/>
          </p:nvSpPr>
          <p:spPr>
            <a:xfrm>
              <a:off x="6332982" y="6062472"/>
              <a:ext cx="73152" cy="1673352"/>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161" name="TextBox 160">
              <a:extLst>
                <a:ext uri="{FF2B5EF4-FFF2-40B4-BE49-F238E27FC236}">
                  <a16:creationId xmlns:a16="http://schemas.microsoft.com/office/drawing/2014/main" id="{B967F89B-8232-BFFE-D871-E73EC17CF29B}"/>
                </a:ext>
              </a:extLst>
            </p:cNvPr>
            <p:cNvSpPr txBox="1"/>
            <p:nvPr/>
          </p:nvSpPr>
          <p:spPr>
            <a:xfrm>
              <a:off x="6561582" y="6099048"/>
              <a:ext cx="5303520" cy="161583"/>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23D20"/>
                  </a:solidFill>
                  <a:effectLst/>
                  <a:uLnTx/>
                  <a:uFillTx/>
                  <a:latin typeface="Segoe UI" panose="020B0502040204020203" pitchFamily="34" charset="0"/>
                  <a:ea typeface="+mn-ea"/>
                  <a:cs typeface="Segoe UI" panose="020B0502040204020203" pitchFamily="34" charset="0"/>
                  <a:sym typeface="Arial"/>
                </a:rPr>
                <a:t>THE OUTLIER: INSURERS LEAN ON THEIR </a:t>
              </a:r>
              <a:r>
                <a:rPr kumimoji="0" lang="en-US" sz="1050" b="1" i="0" u="none" strike="noStrike" kern="1200" cap="none" spc="0" normalizeH="0" baseline="0" noProof="0" dirty="0">
                  <a:ln>
                    <a:noFill/>
                  </a:ln>
                  <a:solidFill>
                    <a:srgbClr val="023D20"/>
                  </a:solidFill>
                  <a:effectLst/>
                  <a:uLnTx/>
                  <a:uFillTx/>
                  <a:latin typeface="Segoe UI" panose="020B0502040204020203" pitchFamily="34" charset="0"/>
                  <a:ea typeface="+mn-ea"/>
                  <a:cs typeface="Segoe UI" panose="020B0502040204020203" pitchFamily="34" charset="0"/>
                  <a:sym typeface="Arial"/>
                </a:rPr>
                <a:t>STAFF</a:t>
              </a:r>
              <a:endParaRPr kumimoji="0" sz="1050" b="1" i="0" u="none" strike="noStrike" kern="1200" cap="none" spc="0" normalizeH="0" baseline="0" noProof="0" dirty="0">
                <a:ln>
                  <a:noFill/>
                </a:ln>
                <a:solidFill>
                  <a:srgbClr val="023D20"/>
                </a:solidFill>
                <a:effectLst/>
                <a:uLnTx/>
                <a:uFillTx/>
                <a:latin typeface="Segoe UI" panose="020B0502040204020203" pitchFamily="34" charset="0"/>
                <a:ea typeface="+mn-ea"/>
                <a:cs typeface="Segoe UI" panose="020B0502040204020203" pitchFamily="34" charset="0"/>
                <a:sym typeface="Arial"/>
              </a:endParaRPr>
            </a:p>
          </p:txBody>
        </p:sp>
        <p:sp>
          <p:nvSpPr>
            <p:cNvPr id="163" name="TextBox 162">
              <a:extLst>
                <a:ext uri="{FF2B5EF4-FFF2-40B4-BE49-F238E27FC236}">
                  <a16:creationId xmlns:a16="http://schemas.microsoft.com/office/drawing/2014/main" id="{E3C2B010-3725-66B9-FDEC-3E5ED6D059E6}"/>
                </a:ext>
              </a:extLst>
            </p:cNvPr>
            <p:cNvSpPr txBox="1"/>
            <p:nvPr/>
          </p:nvSpPr>
          <p:spPr>
            <a:xfrm>
              <a:off x="6561582" y="6465475"/>
              <a:ext cx="1280160" cy="492443"/>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64%</a:t>
              </a:r>
            </a:p>
          </p:txBody>
        </p:sp>
        <p:sp>
          <p:nvSpPr>
            <p:cNvPr id="165" name="TextBox 164">
              <a:extLst>
                <a:ext uri="{FF2B5EF4-FFF2-40B4-BE49-F238E27FC236}">
                  <a16:creationId xmlns:a16="http://schemas.microsoft.com/office/drawing/2014/main" id="{E61E969C-2973-A66F-AEA6-E0F6C95490F8}"/>
                </a:ext>
              </a:extLst>
            </p:cNvPr>
            <p:cNvSpPr txBox="1"/>
            <p:nvPr/>
          </p:nvSpPr>
          <p:spPr>
            <a:xfrm>
              <a:off x="7543995" y="6554462"/>
              <a:ext cx="4321105" cy="3693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of insurance respondents chose </a:t>
              </a:r>
              <a:r>
                <a:rPr kumimoji="0" sz="12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staff awareness &amp; training</a:t>
              </a:r>
              <a:r>
                <a:rPr kumimoji="0" sz="1200" b="0"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 </a:t>
              </a:r>
              <a:r>
                <a:rPr kumimoji="0" sz="12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well above the 43–53% range seen for every other lever.</a:t>
              </a:r>
            </a:p>
          </p:txBody>
        </p:sp>
        <p:sp>
          <p:nvSpPr>
            <p:cNvPr id="167" name="TextBox 166">
              <a:extLst>
                <a:ext uri="{FF2B5EF4-FFF2-40B4-BE49-F238E27FC236}">
                  <a16:creationId xmlns:a16="http://schemas.microsoft.com/office/drawing/2014/main" id="{240D1820-60E6-4CED-B8E4-40B5549928F6}"/>
                </a:ext>
              </a:extLst>
            </p:cNvPr>
            <p:cNvSpPr txBox="1"/>
            <p:nvPr/>
          </p:nvSpPr>
          <p:spPr>
            <a:xfrm>
              <a:off x="6561582" y="7086600"/>
              <a:ext cx="5303520" cy="5078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Why: </a:t>
              </a:r>
              <a:r>
                <a:rPr kumimoji="0" lang="en-US"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With the contact centre as Insurers most exposed channel (72%), insurers rely heavily on frontline agents to authenticate callers and handle claims. Against voice-based deepfakes, staff awareness becomes a critical control.</a:t>
              </a:r>
              <a:endParaRPr kumimoji="0"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endParaRPr>
            </a:p>
          </p:txBody>
        </p:sp>
      </p:grpSp>
      <p:sp>
        <p:nvSpPr>
          <p:cNvPr id="169" name="Rounded Rectangle 35">
            <a:extLst>
              <a:ext uri="{FF2B5EF4-FFF2-40B4-BE49-F238E27FC236}">
                <a16:creationId xmlns:a16="http://schemas.microsoft.com/office/drawing/2014/main" id="{043182BD-55AB-9B9C-428D-AA016501F34C}"/>
              </a:ext>
            </a:extLst>
          </p:cNvPr>
          <p:cNvSpPr/>
          <p:nvPr/>
        </p:nvSpPr>
        <p:spPr>
          <a:xfrm>
            <a:off x="313494" y="4556273"/>
            <a:ext cx="5669280" cy="1783080"/>
          </a:xfrm>
          <a:prstGeom prst="roundRect">
            <a:avLst>
              <a:gd name="adj" fmla="val 5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171" name="TextBox 170">
            <a:extLst>
              <a:ext uri="{FF2B5EF4-FFF2-40B4-BE49-F238E27FC236}">
                <a16:creationId xmlns:a16="http://schemas.microsoft.com/office/drawing/2014/main" id="{764F63EC-F572-0577-5186-790D428DDFE0}"/>
              </a:ext>
            </a:extLst>
          </p:cNvPr>
          <p:cNvSpPr txBox="1"/>
          <p:nvPr/>
        </p:nvSpPr>
        <p:spPr>
          <a:xfrm>
            <a:off x="471654" y="4767138"/>
            <a:ext cx="5303520" cy="1008546"/>
          </a:xfrm>
          <a:prstGeom prst="rect">
            <a:avLst/>
          </a:prstGeom>
          <a:noFill/>
        </p:spPr>
        <p:txBody>
          <a:bodyPr wrap="square" lIns="0" tIns="0" rIns="0" bIns="0" anchor="t">
            <a:spAutoFit/>
          </a:bodyPr>
          <a:lstStyle/>
          <a:p>
            <a:pPr marL="0" marR="0" lvl="0" indent="0" algn="l" defTabSz="914400" rtl="0" eaLnBrk="1" fontAlgn="auto" latinLnBrk="0" hangingPunct="1">
              <a:lnSpc>
                <a:spcPct val="111000"/>
              </a:lnSpc>
              <a:spcBef>
                <a:spcPts val="0"/>
              </a:spcBef>
              <a:spcAft>
                <a:spcPts val="0"/>
              </a:spcAft>
              <a:buClrTx/>
              <a:buSzTx/>
              <a:buFontTx/>
              <a:buNone/>
              <a:tabLst/>
              <a:defRPr/>
            </a:pPr>
            <a:r>
              <a:rPr kumimoji="0" sz="1200" b="0" i="1" u="none" strike="noStrike" kern="1200" cap="none" spc="10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“The biggest impact on risk management will be a shift toward continuous identity verification, real-time behavioural analytics, stronger cross-industry intelligence sharing, and AI-assisted investigations </a:t>
            </a:r>
            <a:r>
              <a:rPr kumimoji="0" sz="1200" b="1" i="1" u="none" strike="noStrike" kern="1200" cap="none" spc="10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rather than relying primarily on point-in-time controls.</a:t>
            </a:r>
            <a:r>
              <a:rPr kumimoji="0" sz="1200" b="0" i="1" u="none" strike="noStrike" kern="1200" cap="none" spc="10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a:t>
            </a:r>
          </a:p>
        </p:txBody>
      </p:sp>
      <p:sp>
        <p:nvSpPr>
          <p:cNvPr id="173" name="TextBox 172">
            <a:extLst>
              <a:ext uri="{FF2B5EF4-FFF2-40B4-BE49-F238E27FC236}">
                <a16:creationId xmlns:a16="http://schemas.microsoft.com/office/drawing/2014/main" id="{6892E723-F84C-CDA7-6F7C-205B474678DB}"/>
              </a:ext>
            </a:extLst>
          </p:cNvPr>
          <p:cNvSpPr txBox="1"/>
          <p:nvPr/>
        </p:nvSpPr>
        <p:spPr>
          <a:xfrm>
            <a:off x="471654" y="5940489"/>
            <a:ext cx="530352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dirty="0">
                <a:ln>
                  <a:noFill/>
                </a:ln>
                <a:solidFill>
                  <a:srgbClr val="86BC25"/>
                </a:solidFill>
                <a:effectLst/>
                <a:uLnTx/>
                <a:uFillTx/>
                <a:latin typeface="Segoe UI" panose="020B0502040204020203" pitchFamily="34" charset="0"/>
                <a:ea typeface="+mn-ea"/>
                <a:cs typeface="Segoe UI" panose="020B0502040204020203" pitchFamily="34" charset="0"/>
                <a:sym typeface="Arial"/>
              </a:rPr>
              <a:t>– Fraud Strategy Executive, Top 100 Global Financial Institution</a:t>
            </a:r>
          </a:p>
        </p:txBody>
      </p:sp>
      <p:sp>
        <p:nvSpPr>
          <p:cNvPr id="187" name="Flowchart: Manual Operation 186">
            <a:extLst>
              <a:ext uri="{FF2B5EF4-FFF2-40B4-BE49-F238E27FC236}">
                <a16:creationId xmlns:a16="http://schemas.microsoft.com/office/drawing/2014/main" id="{BB03C69C-77D8-6FBC-BAA0-762F100B6AB9}"/>
              </a:ext>
            </a:extLst>
          </p:cNvPr>
          <p:cNvSpPr/>
          <p:nvPr/>
        </p:nvSpPr>
        <p:spPr>
          <a:xfrm rot="10800000">
            <a:off x="9334857" y="4234019"/>
            <a:ext cx="2331720" cy="386813"/>
          </a:xfrm>
          <a:prstGeom prst="flowChartManualOperation">
            <a:avLst/>
          </a:prstGeom>
          <a:solidFill>
            <a:schemeClr val="accent1">
              <a:lumMod val="20000"/>
              <a:lumOff val="80000"/>
            </a:schemeClr>
          </a:solidFill>
          <a:ln>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FFFFFF"/>
              </a:solidFill>
              <a:effectLst/>
              <a:uLnTx/>
              <a:uFillTx/>
              <a:latin typeface="Arial"/>
              <a:ea typeface="+mn-ea"/>
              <a:cs typeface="+mn-cs"/>
              <a:sym typeface="Arial"/>
            </a:endParaRPr>
          </a:p>
        </p:txBody>
      </p:sp>
      <p:grpSp>
        <p:nvGrpSpPr>
          <p:cNvPr id="188" name="Group 187">
            <a:extLst>
              <a:ext uri="{FF2B5EF4-FFF2-40B4-BE49-F238E27FC236}">
                <a16:creationId xmlns:a16="http://schemas.microsoft.com/office/drawing/2014/main" id="{23BFC8F5-FB26-6D32-FC37-96779309F9DA}"/>
              </a:ext>
            </a:extLst>
          </p:cNvPr>
          <p:cNvGrpSpPr/>
          <p:nvPr/>
        </p:nvGrpSpPr>
        <p:grpSpPr>
          <a:xfrm>
            <a:off x="9816822" y="4107266"/>
            <a:ext cx="1367790" cy="274320"/>
            <a:chOff x="10634472" y="1965960"/>
            <a:chExt cx="1143000" cy="274320"/>
          </a:xfrm>
        </p:grpSpPr>
        <p:sp>
          <p:nvSpPr>
            <p:cNvPr id="135" name="Rounded Rectangle 27">
              <a:extLst>
                <a:ext uri="{FF2B5EF4-FFF2-40B4-BE49-F238E27FC236}">
                  <a16:creationId xmlns:a16="http://schemas.microsoft.com/office/drawing/2014/main" id="{624BBE76-F585-F7DA-3332-5491AB6748F6}"/>
                </a:ext>
              </a:extLst>
            </p:cNvPr>
            <p:cNvSpPr/>
            <p:nvPr/>
          </p:nvSpPr>
          <p:spPr>
            <a:xfrm>
              <a:off x="10634472" y="1965960"/>
              <a:ext cx="1143000" cy="274320"/>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150" name="TextBox 149">
              <a:extLst>
                <a:ext uri="{FF2B5EF4-FFF2-40B4-BE49-F238E27FC236}">
                  <a16:creationId xmlns:a16="http://schemas.microsoft.com/office/drawing/2014/main" id="{A199DDA7-1C28-D28C-8812-8E595D60E37D}"/>
                </a:ext>
              </a:extLst>
            </p:cNvPr>
            <p:cNvSpPr txBox="1"/>
            <p:nvPr/>
          </p:nvSpPr>
          <p:spPr>
            <a:xfrm>
              <a:off x="10634472" y="2037717"/>
              <a:ext cx="1143000" cy="130805"/>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INSURANCE</a:t>
              </a:r>
              <a:r>
                <a:rPr kumimoji="0" lang="en-US" sz="85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 PRIORITY</a:t>
              </a:r>
              <a:endParaRPr kumimoji="0" sz="85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grpSp>
      <p:sp>
        <p:nvSpPr>
          <p:cNvPr id="189" name="Rounded Rectangle 188"/>
          <p:cNvSpPr/>
          <p:nvPr/>
        </p:nvSpPr>
        <p:spPr>
          <a:xfrm rot="16200000">
            <a:off x="-632238" y="3136055"/>
            <a:ext cx="2331720" cy="274320"/>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sz="1700" b="1" i="0" u="none" strike="noStrike" kern="0" cap="none" spc="100" normalizeH="0" baseline="0" noProof="0" dirty="0">
                <a:ln>
                  <a:noFill/>
                </a:ln>
                <a:solidFill>
                  <a:srgbClr val="000000">
                    <a:lumMod val="75000"/>
                    <a:lumOff val="25000"/>
                  </a:srgbClr>
                </a:solidFill>
                <a:effectLst/>
                <a:uLnTx/>
                <a:uFillTx/>
                <a:latin typeface="Segoe UI"/>
                <a:ea typeface="+mn-ea"/>
                <a:cs typeface="+mn-cs"/>
                <a:sym typeface="Arial"/>
              </a:rPr>
              <a:t>BANKING </a:t>
            </a:r>
            <a:r>
              <a:rPr kumimoji="0" lang="en-US" sz="1700" b="1" i="0" u="none" strike="noStrike" kern="0" cap="none" spc="100" normalizeH="0" baseline="0" noProof="0" dirty="0">
                <a:ln>
                  <a:noFill/>
                </a:ln>
                <a:solidFill>
                  <a:srgbClr val="000000">
                    <a:lumMod val="75000"/>
                    <a:lumOff val="25000"/>
                  </a:srgbClr>
                </a:solidFill>
                <a:effectLst/>
                <a:uLnTx/>
                <a:uFillTx/>
                <a:latin typeface="Segoe UI"/>
                <a:ea typeface="+mn-ea"/>
                <a:cs typeface="+mn-cs"/>
                <a:sym typeface="Arial"/>
              </a:rPr>
              <a:t>&amp;</a:t>
            </a:r>
            <a:r>
              <a:rPr kumimoji="0" sz="1700" b="1" i="0" u="none" strike="noStrike" kern="0" cap="none" spc="100" normalizeH="0" baseline="0" noProof="0" dirty="0">
                <a:ln>
                  <a:noFill/>
                </a:ln>
                <a:solidFill>
                  <a:srgbClr val="000000">
                    <a:lumMod val="75000"/>
                    <a:lumOff val="25000"/>
                  </a:srgbClr>
                </a:solidFill>
                <a:effectLst/>
                <a:uLnTx/>
                <a:uFillTx/>
                <a:latin typeface="Segoe UI"/>
                <a:ea typeface="+mn-ea"/>
                <a:cs typeface="+mn-cs"/>
                <a:sym typeface="Arial"/>
              </a:rPr>
              <a:t> INSURANCE</a:t>
            </a:r>
          </a:p>
        </p:txBody>
      </p:sp>
      <p:grpSp>
        <p:nvGrpSpPr>
          <p:cNvPr id="8" name="Group 7">
            <a:extLst>
              <a:ext uri="{FF2B5EF4-FFF2-40B4-BE49-F238E27FC236}">
                <a16:creationId xmlns:a16="http://schemas.microsoft.com/office/drawing/2014/main" id="{D698DDFB-6BB5-3515-919C-D0055B27A18F}"/>
              </a:ext>
            </a:extLst>
          </p:cNvPr>
          <p:cNvGrpSpPr/>
          <p:nvPr/>
        </p:nvGrpSpPr>
        <p:grpSpPr>
          <a:xfrm>
            <a:off x="249638" y="464705"/>
            <a:ext cx="11521440" cy="585793"/>
            <a:chOff x="249638" y="464705"/>
            <a:chExt cx="11521440" cy="585793"/>
          </a:xfrm>
        </p:grpSpPr>
        <p:sp>
          <p:nvSpPr>
            <p:cNvPr id="9" name="Text 22">
              <a:extLst>
                <a:ext uri="{FF2B5EF4-FFF2-40B4-BE49-F238E27FC236}">
                  <a16:creationId xmlns:a16="http://schemas.microsoft.com/office/drawing/2014/main" id="{6015CD2B-0CAE-7C9D-910A-7E7E345E37A5}"/>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1" i="0" u="none" strike="noStrike" kern="0" cap="none" spc="8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endParaRPr>
            </a:p>
          </p:txBody>
        </p:sp>
        <p:sp>
          <p:nvSpPr>
            <p:cNvPr id="10" name="TextBox 9">
              <a:extLst>
                <a:ext uri="{FF2B5EF4-FFF2-40B4-BE49-F238E27FC236}">
                  <a16:creationId xmlns:a16="http://schemas.microsoft.com/office/drawing/2014/main" id="{2F973805-7927-7902-5EFA-2287A21A26B4}"/>
                </a:ext>
              </a:extLst>
            </p:cNvPr>
            <p:cNvSpPr txBox="1"/>
            <p:nvPr/>
          </p:nvSpPr>
          <p:spPr>
            <a:xfrm>
              <a:off x="249638" y="711944"/>
              <a:ext cx="11521440" cy="33855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2200" b="1" i="0" u="none" strike="noStrike" kern="1200" cap="none" spc="0" normalizeH="0" baseline="0" noProof="0" dirty="0">
                  <a:ln>
                    <a:noFill/>
                  </a:ln>
                  <a:solidFill>
                    <a:srgbClr val="111111"/>
                  </a:solidFill>
                  <a:effectLst/>
                  <a:uLnTx/>
                  <a:uFillTx/>
                  <a:latin typeface="Segoe UI" panose="020B0502040204020203" pitchFamily="34" charset="0"/>
                  <a:cs typeface="Segoe UI" panose="020B0502040204020203" pitchFamily="34" charset="0"/>
                  <a:sym typeface="Arial"/>
                </a:rPr>
                <a:t>Deepfake defense demands a coordinated response, not a single control</a:t>
              </a:r>
            </a:p>
          </p:txBody>
        </p:sp>
      </p:grpSp>
      <p:sp>
        <p:nvSpPr>
          <p:cNvPr id="13" name="Rectangle 12">
            <a:extLst>
              <a:ext uri="{FF2B5EF4-FFF2-40B4-BE49-F238E27FC236}">
                <a16:creationId xmlns:a16="http://schemas.microsoft.com/office/drawing/2014/main" id="{33FE000A-47C6-284A-B9AF-F60E9DF08121}"/>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For detailed data please refer to </a:t>
            </a: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hlinkClick r:id="" action="ppaction://noaction"/>
              </a:rPr>
              <a:t>Appendix – B</a:t>
            </a: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hlinkClick r:id="rId7" action="ppaction://hlinksldjump"/>
              </a:rPr>
              <a:t> </a:t>
            </a:r>
            <a:endPar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Tree>
    <p:extLst>
      <p:ext uri="{BB962C8B-B14F-4D97-AF65-F5344CB8AC3E}">
        <p14:creationId xmlns:p14="http://schemas.microsoft.com/office/powerpoint/2010/main" val="3791221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80000"/>
            <a:lum/>
          </a:blip>
          <a:srcRect/>
          <a:stretch>
            <a:fillRect/>
          </a:stretch>
        </a:blipFill>
        <a:effectLst/>
      </p:bgPr>
    </p:bg>
    <p:spTree>
      <p:nvGrpSpPr>
        <p:cNvPr id="1" name="">
          <a:extLst>
            <a:ext uri="{FF2B5EF4-FFF2-40B4-BE49-F238E27FC236}">
              <a16:creationId xmlns:a16="http://schemas.microsoft.com/office/drawing/2014/main" id="{4CBCB297-6310-0C8E-446A-0476DFB4D98F}"/>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62F829C1-476D-F41E-F617-C89EA8B3D01E}"/>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2. Information Sharing</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124000"/>
              </a:lnSpc>
              <a:spcBef>
                <a:spcPts val="1000"/>
              </a:spcBef>
              <a:spcAft>
                <a:spcPts val="0"/>
              </a:spcAft>
              <a:buClr>
                <a:srgbClr val="000000"/>
              </a:buClr>
              <a:buSzPts val="1800"/>
              <a:buFont typeface="Arial"/>
              <a:buNone/>
              <a:tabLst/>
              <a:defRPr/>
            </a:pPr>
            <a:r>
              <a:rPr kumimoji="0" lang="en-US" sz="2000" b="0"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rPr>
              <a:t>“I really feel that fraud intelligence sharing can make a difference, but there are still practical barriers to doing it well” – </a:t>
            </a:r>
            <a:r>
              <a:rPr kumimoji="0" lang="en-US" sz="2000" b="1"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rPr>
              <a:t>SVP of Top 50 Global Insurance Firm</a:t>
            </a:r>
            <a:endParaRPr kumimoji="0" lang="en-US" sz="2000" b="0" i="0" u="none" strike="noStrike" kern="0" cap="none" spc="0" normalizeH="0" baseline="0" noProof="0" dirty="0">
              <a:ln>
                <a:noFill/>
              </a:ln>
              <a:solidFill>
                <a:srgbClr val="000000"/>
              </a:solidFill>
              <a:effectLst/>
              <a:uLnTx/>
              <a:uFillTx/>
              <a:latin typeface="Open Sans"/>
              <a:ea typeface="Open Sans"/>
              <a:cs typeface="Open Sans"/>
              <a:sym typeface="Open Sans"/>
            </a:endParaRPr>
          </a:p>
        </p:txBody>
      </p:sp>
    </p:spTree>
    <p:extLst>
      <p:ext uri="{BB962C8B-B14F-4D97-AF65-F5344CB8AC3E}">
        <p14:creationId xmlns:p14="http://schemas.microsoft.com/office/powerpoint/2010/main" val="30205230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D30BA-DD99-FFE6-B9B8-0F0E89C801D1}"/>
            </a:ext>
          </a:extLst>
        </p:cNvPr>
        <p:cNvGrpSpPr/>
        <p:nvPr/>
      </p:nvGrpSpPr>
      <p:grpSpPr>
        <a:xfrm>
          <a:off x="0" y="0"/>
          <a:ext cx="0" cy="0"/>
          <a:chOff x="0" y="0"/>
          <a:chExt cx="0" cy="0"/>
        </a:xfrm>
      </p:grpSpPr>
      <p:sp>
        <p:nvSpPr>
          <p:cNvPr id="142" name="Trapezoid 141">
            <a:extLst>
              <a:ext uri="{FF2B5EF4-FFF2-40B4-BE49-F238E27FC236}">
                <a16:creationId xmlns:a16="http://schemas.microsoft.com/office/drawing/2014/main" id="{C8A8008D-6626-C6FF-ECC7-9E1EF23E6CB5}"/>
              </a:ext>
            </a:extLst>
          </p:cNvPr>
          <p:cNvSpPr/>
          <p:nvPr/>
        </p:nvSpPr>
        <p:spPr>
          <a:xfrm>
            <a:off x="8929161" y="4069864"/>
            <a:ext cx="2267621" cy="529337"/>
          </a:xfrm>
          <a:prstGeom prst="trapezoid">
            <a:avLst/>
          </a:prstGeom>
          <a:solidFill>
            <a:schemeClr val="accent1">
              <a:lumMod val="20000"/>
              <a:lumOff val="80000"/>
            </a:schemeClr>
          </a:solidFill>
          <a:ln>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FFFFFF"/>
              </a:solidFill>
              <a:effectLst/>
              <a:uLnTx/>
              <a:uFillTx/>
              <a:latin typeface="Arial"/>
              <a:ea typeface="+mn-ea"/>
              <a:cs typeface="+mn-cs"/>
              <a:sym typeface="Arial"/>
            </a:endParaRPr>
          </a:p>
        </p:txBody>
      </p:sp>
      <p:sp>
        <p:nvSpPr>
          <p:cNvPr id="153" name="Rectangle 152">
            <a:extLst>
              <a:ext uri="{FF2B5EF4-FFF2-40B4-BE49-F238E27FC236}">
                <a16:creationId xmlns:a16="http://schemas.microsoft.com/office/drawing/2014/main" id="{EBF0C9E9-EB7F-7B48-E985-C3845746CEFD}"/>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dirty="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INFORMATION SHARING</a:t>
            </a:r>
          </a:p>
        </p:txBody>
      </p:sp>
      <p:sp>
        <p:nvSpPr>
          <p:cNvPr id="3" name="Rounded Rectangle 17">
            <a:extLst>
              <a:ext uri="{FF2B5EF4-FFF2-40B4-BE49-F238E27FC236}">
                <a16:creationId xmlns:a16="http://schemas.microsoft.com/office/drawing/2014/main" id="{AE0EB5E4-D0D5-3D44-5766-815869382169}"/>
              </a:ext>
            </a:extLst>
          </p:cNvPr>
          <p:cNvSpPr/>
          <p:nvPr/>
        </p:nvSpPr>
        <p:spPr>
          <a:xfrm>
            <a:off x="4288536" y="2189503"/>
            <a:ext cx="3611880" cy="2127000"/>
          </a:xfrm>
          <a:prstGeom prst="roundRect">
            <a:avLst>
              <a:gd name="adj" fmla="val 5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4" name="Rectangle 3">
            <a:extLst>
              <a:ext uri="{FF2B5EF4-FFF2-40B4-BE49-F238E27FC236}">
                <a16:creationId xmlns:a16="http://schemas.microsoft.com/office/drawing/2014/main" id="{8DAEBBF9-B3C8-6500-340E-85AF1AB9A527}"/>
              </a:ext>
            </a:extLst>
          </p:cNvPr>
          <p:cNvSpPr/>
          <p:nvPr/>
        </p:nvSpPr>
        <p:spPr>
          <a:xfrm>
            <a:off x="4288536" y="2544565"/>
            <a:ext cx="3611880" cy="155448"/>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5" name="Rounded Rectangle 18">
            <a:extLst>
              <a:ext uri="{FF2B5EF4-FFF2-40B4-BE49-F238E27FC236}">
                <a16:creationId xmlns:a16="http://schemas.microsoft.com/office/drawing/2014/main" id="{8DF9E8A4-2A1D-FA2F-D512-1D102614618C}"/>
              </a:ext>
            </a:extLst>
          </p:cNvPr>
          <p:cNvSpPr/>
          <p:nvPr/>
        </p:nvSpPr>
        <p:spPr>
          <a:xfrm>
            <a:off x="4288536" y="2164136"/>
            <a:ext cx="3611880" cy="467786"/>
          </a:xfrm>
          <a:prstGeom prst="roundRect">
            <a:avLst>
              <a:gd name="adj" fmla="val 2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lIns="36000" rIns="3600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 2  ·  LEGAL, PRIVACY &amp; REGULATORY CONSTRAINTS</a:t>
            </a:r>
          </a:p>
        </p:txBody>
      </p:sp>
      <p:sp>
        <p:nvSpPr>
          <p:cNvPr id="10" name="TextBox 9">
            <a:extLst>
              <a:ext uri="{FF2B5EF4-FFF2-40B4-BE49-F238E27FC236}">
                <a16:creationId xmlns:a16="http://schemas.microsoft.com/office/drawing/2014/main" id="{A5754FF8-A236-73DD-5395-2188D31F8549}"/>
              </a:ext>
            </a:extLst>
          </p:cNvPr>
          <p:cNvSpPr txBox="1"/>
          <p:nvPr/>
        </p:nvSpPr>
        <p:spPr>
          <a:xfrm>
            <a:off x="356235" y="1814346"/>
            <a:ext cx="8229600" cy="20005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THE TOP THREE BARRIERS FORM A DEPENDENCY CHAIN  </a:t>
            </a:r>
            <a:r>
              <a:rPr kumimoji="0" sz="1300" b="0" i="0" u="none" strike="noStrike" kern="1200" cap="none" spc="0" normalizeH="0" baseline="0" noProof="0" dirty="0">
                <a:ln>
                  <a:noFill/>
                </a:ln>
                <a:solidFill>
                  <a:srgbClr val="FFFFFF">
                    <a:lumMod val="50000"/>
                  </a:srgbClr>
                </a:solidFill>
                <a:effectLst/>
                <a:uLnTx/>
                <a:uFillTx/>
                <a:latin typeface="Segoe UI" panose="020B0502040204020203" pitchFamily="34" charset="0"/>
                <a:ea typeface="+mn-ea"/>
                <a:cs typeface="Segoe UI" panose="020B0502040204020203" pitchFamily="34" charset="0"/>
                <a:sym typeface="Arial"/>
              </a:rPr>
              <a:t>% of respondents citing each barrier </a:t>
            </a:r>
          </a:p>
        </p:txBody>
      </p:sp>
      <p:sp>
        <p:nvSpPr>
          <p:cNvPr id="13" name="Rounded Rectangle 7">
            <a:extLst>
              <a:ext uri="{FF2B5EF4-FFF2-40B4-BE49-F238E27FC236}">
                <a16:creationId xmlns:a16="http://schemas.microsoft.com/office/drawing/2014/main" id="{9C0FE4C5-9B5C-F456-CA32-190B261307F3}"/>
              </a:ext>
            </a:extLst>
          </p:cNvPr>
          <p:cNvSpPr/>
          <p:nvPr/>
        </p:nvSpPr>
        <p:spPr>
          <a:xfrm>
            <a:off x="320040" y="2189503"/>
            <a:ext cx="3611880" cy="2127000"/>
          </a:xfrm>
          <a:prstGeom prst="roundRect">
            <a:avLst>
              <a:gd name="adj" fmla="val 5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5" name="Rectangle 14">
            <a:extLst>
              <a:ext uri="{FF2B5EF4-FFF2-40B4-BE49-F238E27FC236}">
                <a16:creationId xmlns:a16="http://schemas.microsoft.com/office/drawing/2014/main" id="{9DD3DA33-884B-2733-109C-FA02320FD5D0}"/>
              </a:ext>
            </a:extLst>
          </p:cNvPr>
          <p:cNvSpPr/>
          <p:nvPr/>
        </p:nvSpPr>
        <p:spPr>
          <a:xfrm>
            <a:off x="320040" y="2544565"/>
            <a:ext cx="3611880" cy="155448"/>
          </a:xfrm>
          <a:prstGeom prst="rect">
            <a:avLst/>
          </a:prstGeom>
          <a:solidFill>
            <a:srgbClr val="023D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147" name="Group 146">
            <a:extLst>
              <a:ext uri="{FF2B5EF4-FFF2-40B4-BE49-F238E27FC236}">
                <a16:creationId xmlns:a16="http://schemas.microsoft.com/office/drawing/2014/main" id="{AFFFB9D7-6D29-0180-2F6C-21C33986FBF1}"/>
              </a:ext>
            </a:extLst>
          </p:cNvPr>
          <p:cNvGrpSpPr/>
          <p:nvPr/>
        </p:nvGrpSpPr>
        <p:grpSpPr>
          <a:xfrm>
            <a:off x="954380" y="2802104"/>
            <a:ext cx="683808" cy="683808"/>
            <a:chOff x="954380" y="2802104"/>
            <a:chExt cx="683808" cy="683808"/>
          </a:xfrm>
        </p:grpSpPr>
        <p:sp>
          <p:nvSpPr>
            <p:cNvPr id="16" name="Rounded Rectangle 11">
              <a:extLst>
                <a:ext uri="{FF2B5EF4-FFF2-40B4-BE49-F238E27FC236}">
                  <a16:creationId xmlns:a16="http://schemas.microsoft.com/office/drawing/2014/main" id="{1335091F-D9D7-5214-9881-CD21A22F8668}"/>
                </a:ext>
              </a:extLst>
            </p:cNvPr>
            <p:cNvSpPr/>
            <p:nvPr/>
          </p:nvSpPr>
          <p:spPr>
            <a:xfrm>
              <a:off x="954380" y="2802104"/>
              <a:ext cx="683808" cy="683808"/>
            </a:xfrm>
            <a:prstGeom prst="roundRect">
              <a:avLst>
                <a:gd name="adj" fmla="val 50000"/>
              </a:avLst>
            </a:prstGeom>
            <a:solidFill>
              <a:srgbClr val="023D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7" name="Picture 16" descr="ic_data_w.png">
              <a:extLst>
                <a:ext uri="{FF2B5EF4-FFF2-40B4-BE49-F238E27FC236}">
                  <a16:creationId xmlns:a16="http://schemas.microsoft.com/office/drawing/2014/main" id="{C652E400-F84A-07E7-BFE3-70DB98EE6CE6}"/>
                </a:ext>
              </a:extLst>
            </p:cNvPr>
            <p:cNvPicPr>
              <a:picLocks noChangeAspect="1"/>
            </p:cNvPicPr>
            <p:nvPr/>
          </p:nvPicPr>
          <p:blipFill>
            <a:blip r:embed="rId3"/>
            <a:stretch>
              <a:fillRect/>
            </a:stretch>
          </p:blipFill>
          <p:spPr>
            <a:xfrm>
              <a:off x="1104818" y="2952541"/>
              <a:ext cx="382932" cy="382932"/>
            </a:xfrm>
            <a:prstGeom prst="rect">
              <a:avLst/>
            </a:prstGeom>
          </p:spPr>
        </p:pic>
      </p:grpSp>
      <p:sp>
        <p:nvSpPr>
          <p:cNvPr id="19" name="TextBox 18">
            <a:extLst>
              <a:ext uri="{FF2B5EF4-FFF2-40B4-BE49-F238E27FC236}">
                <a16:creationId xmlns:a16="http://schemas.microsoft.com/office/drawing/2014/main" id="{3D6702E4-1B4B-5DA7-BB0F-1D8C5091A821}"/>
              </a:ext>
            </a:extLst>
          </p:cNvPr>
          <p:cNvSpPr txBox="1"/>
          <p:nvPr/>
        </p:nvSpPr>
        <p:spPr>
          <a:xfrm>
            <a:off x="1843230" y="2786729"/>
            <a:ext cx="1654375" cy="69249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500" b="1" i="0" u="none" strike="noStrike" kern="1200" cap="none" spc="0" normalizeH="0" baseline="0" noProof="0" dirty="0">
                <a:ln>
                  <a:noFill/>
                </a:ln>
                <a:solidFill>
                  <a:srgbClr val="023D20"/>
                </a:solidFill>
                <a:effectLst/>
                <a:uLnTx/>
                <a:uFillTx/>
                <a:latin typeface="Segoe UI" panose="020B0502040204020203" pitchFamily="34" charset="0"/>
                <a:ea typeface="+mn-ea"/>
                <a:cs typeface="Segoe UI" panose="020B0502040204020203" pitchFamily="34" charset="0"/>
                <a:sym typeface="Arial"/>
              </a:rPr>
              <a:t>77%</a:t>
            </a:r>
          </a:p>
        </p:txBody>
      </p:sp>
      <p:sp>
        <p:nvSpPr>
          <p:cNvPr id="20" name="TextBox 19">
            <a:extLst>
              <a:ext uri="{FF2B5EF4-FFF2-40B4-BE49-F238E27FC236}">
                <a16:creationId xmlns:a16="http://schemas.microsoft.com/office/drawing/2014/main" id="{6A151342-2C08-D12E-7244-E4B9E6491C16}"/>
              </a:ext>
            </a:extLst>
          </p:cNvPr>
          <p:cNvSpPr txBox="1"/>
          <p:nvPr/>
        </p:nvSpPr>
        <p:spPr>
          <a:xfrm>
            <a:off x="502920" y="3538673"/>
            <a:ext cx="3246120" cy="6771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Shared intelligence is only as valuable as the data behind it. Without common definitions and consistent data quality, organizations lack a reliable basis for exchange.</a:t>
            </a:r>
            <a:endParaRPr kumimoji="0"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endParaRPr>
          </a:p>
        </p:txBody>
      </p:sp>
      <p:grpSp>
        <p:nvGrpSpPr>
          <p:cNvPr id="146" name="Group 145">
            <a:extLst>
              <a:ext uri="{FF2B5EF4-FFF2-40B4-BE49-F238E27FC236}">
                <a16:creationId xmlns:a16="http://schemas.microsoft.com/office/drawing/2014/main" id="{2F635BDF-24B6-608E-FEAB-55965E5B8BE3}"/>
              </a:ext>
            </a:extLst>
          </p:cNvPr>
          <p:cNvGrpSpPr/>
          <p:nvPr/>
        </p:nvGrpSpPr>
        <p:grpSpPr>
          <a:xfrm>
            <a:off x="4922876" y="2802104"/>
            <a:ext cx="683808" cy="683808"/>
            <a:chOff x="4922876" y="2802104"/>
            <a:chExt cx="683808" cy="683808"/>
          </a:xfrm>
        </p:grpSpPr>
        <p:sp>
          <p:nvSpPr>
            <p:cNvPr id="24" name="Rounded Rectangle 21">
              <a:extLst>
                <a:ext uri="{FF2B5EF4-FFF2-40B4-BE49-F238E27FC236}">
                  <a16:creationId xmlns:a16="http://schemas.microsoft.com/office/drawing/2014/main" id="{DB815B44-9149-3F07-632A-813BA45C37D7}"/>
                </a:ext>
              </a:extLst>
            </p:cNvPr>
            <p:cNvSpPr/>
            <p:nvPr/>
          </p:nvSpPr>
          <p:spPr>
            <a:xfrm>
              <a:off x="4922876" y="2802104"/>
              <a:ext cx="683808" cy="683808"/>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5" name="Picture 24" descr="image.png">
              <a:extLst>
                <a:ext uri="{FF2B5EF4-FFF2-40B4-BE49-F238E27FC236}">
                  <a16:creationId xmlns:a16="http://schemas.microsoft.com/office/drawing/2014/main" id="{790CEB74-1AEF-610E-DBA8-0E38477075E5}"/>
                </a:ext>
              </a:extLst>
            </p:cNvPr>
            <p:cNvPicPr>
              <a:picLocks noChangeAspect="1"/>
            </p:cNvPicPr>
            <p:nvPr/>
          </p:nvPicPr>
          <p:blipFill>
            <a:blip r:embed="rId4"/>
            <a:stretch>
              <a:fillRect/>
            </a:stretch>
          </p:blipFill>
          <p:spPr>
            <a:xfrm>
              <a:off x="5073314" y="2952541"/>
              <a:ext cx="382932" cy="382932"/>
            </a:xfrm>
            <a:prstGeom prst="rect">
              <a:avLst/>
            </a:prstGeom>
          </p:spPr>
        </p:pic>
      </p:grpSp>
      <p:sp>
        <p:nvSpPr>
          <p:cNvPr id="38" name="TextBox 37">
            <a:extLst>
              <a:ext uri="{FF2B5EF4-FFF2-40B4-BE49-F238E27FC236}">
                <a16:creationId xmlns:a16="http://schemas.microsoft.com/office/drawing/2014/main" id="{DED80922-B766-4364-7FEE-57A9AA7D83AD}"/>
              </a:ext>
            </a:extLst>
          </p:cNvPr>
          <p:cNvSpPr txBox="1"/>
          <p:nvPr/>
        </p:nvSpPr>
        <p:spPr>
          <a:xfrm>
            <a:off x="5811726" y="2786729"/>
            <a:ext cx="1654375" cy="69249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5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73%</a:t>
            </a:r>
          </a:p>
        </p:txBody>
      </p:sp>
      <p:sp>
        <p:nvSpPr>
          <p:cNvPr id="40" name="TextBox 39">
            <a:extLst>
              <a:ext uri="{FF2B5EF4-FFF2-40B4-BE49-F238E27FC236}">
                <a16:creationId xmlns:a16="http://schemas.microsoft.com/office/drawing/2014/main" id="{A25D3FE0-D1A1-4DB2-7B65-A6974C762BDF}"/>
              </a:ext>
            </a:extLst>
          </p:cNvPr>
          <p:cNvSpPr txBox="1"/>
          <p:nvPr/>
        </p:nvSpPr>
        <p:spPr>
          <a:xfrm>
            <a:off x="4471416" y="3623312"/>
            <a:ext cx="3246120" cy="5078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Even with usable data, organizations need certainty about what they are allowed to share, with whom, and under what safeguards.</a:t>
            </a:r>
          </a:p>
        </p:txBody>
      </p:sp>
      <p:sp>
        <p:nvSpPr>
          <p:cNvPr id="47" name="Chevron 26">
            <a:extLst>
              <a:ext uri="{FF2B5EF4-FFF2-40B4-BE49-F238E27FC236}">
                <a16:creationId xmlns:a16="http://schemas.microsoft.com/office/drawing/2014/main" id="{09C5309E-529E-88AB-7D62-F7D844012F6C}"/>
              </a:ext>
            </a:extLst>
          </p:cNvPr>
          <p:cNvSpPr/>
          <p:nvPr/>
        </p:nvSpPr>
        <p:spPr>
          <a:xfrm>
            <a:off x="7973568" y="3051835"/>
            <a:ext cx="219456" cy="402336"/>
          </a:xfrm>
          <a:prstGeom prst="chevron">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48" name="Rounded Rectangle 27">
            <a:extLst>
              <a:ext uri="{FF2B5EF4-FFF2-40B4-BE49-F238E27FC236}">
                <a16:creationId xmlns:a16="http://schemas.microsoft.com/office/drawing/2014/main" id="{685A014F-30D1-99E8-42C3-A033BBE27F76}"/>
              </a:ext>
            </a:extLst>
          </p:cNvPr>
          <p:cNvSpPr/>
          <p:nvPr/>
        </p:nvSpPr>
        <p:spPr>
          <a:xfrm>
            <a:off x="8257031" y="2189503"/>
            <a:ext cx="3611880" cy="2127000"/>
          </a:xfrm>
          <a:prstGeom prst="roundRect">
            <a:avLst>
              <a:gd name="adj" fmla="val 5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49" name="Rectangle 48">
            <a:extLst>
              <a:ext uri="{FF2B5EF4-FFF2-40B4-BE49-F238E27FC236}">
                <a16:creationId xmlns:a16="http://schemas.microsoft.com/office/drawing/2014/main" id="{A8F7ABBD-6E4B-956B-0683-3AE5C8CEF9D6}"/>
              </a:ext>
            </a:extLst>
          </p:cNvPr>
          <p:cNvSpPr/>
          <p:nvPr/>
        </p:nvSpPr>
        <p:spPr>
          <a:xfrm>
            <a:off x="8257031" y="2544565"/>
            <a:ext cx="3611880" cy="155448"/>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145" name="Group 144">
            <a:extLst>
              <a:ext uri="{FF2B5EF4-FFF2-40B4-BE49-F238E27FC236}">
                <a16:creationId xmlns:a16="http://schemas.microsoft.com/office/drawing/2014/main" id="{50A6A593-B42D-279F-C248-0291E5C0622E}"/>
              </a:ext>
            </a:extLst>
          </p:cNvPr>
          <p:cNvGrpSpPr/>
          <p:nvPr/>
        </p:nvGrpSpPr>
        <p:grpSpPr>
          <a:xfrm>
            <a:off x="8891371" y="2802104"/>
            <a:ext cx="683808" cy="683808"/>
            <a:chOff x="8891371" y="2802104"/>
            <a:chExt cx="683808" cy="683808"/>
          </a:xfrm>
        </p:grpSpPr>
        <p:sp>
          <p:nvSpPr>
            <p:cNvPr id="50" name="Rounded Rectangle 31">
              <a:extLst>
                <a:ext uri="{FF2B5EF4-FFF2-40B4-BE49-F238E27FC236}">
                  <a16:creationId xmlns:a16="http://schemas.microsoft.com/office/drawing/2014/main" id="{A69AEB51-C380-382D-4827-90E9D90C31F1}"/>
                </a:ext>
              </a:extLst>
            </p:cNvPr>
            <p:cNvSpPr/>
            <p:nvPr/>
          </p:nvSpPr>
          <p:spPr>
            <a:xfrm>
              <a:off x="8891371" y="2802104"/>
              <a:ext cx="683808" cy="683808"/>
            </a:xfrm>
            <a:prstGeom prst="roundRect">
              <a:avLst>
                <a:gd name="adj" fmla="val 50000"/>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51" name="Picture 50" descr="ic_people_w.png">
              <a:extLst>
                <a:ext uri="{FF2B5EF4-FFF2-40B4-BE49-F238E27FC236}">
                  <a16:creationId xmlns:a16="http://schemas.microsoft.com/office/drawing/2014/main" id="{D9BDFFC8-E03B-3D7B-45F1-FE7418FB990B}"/>
                </a:ext>
              </a:extLst>
            </p:cNvPr>
            <p:cNvPicPr>
              <a:picLocks noChangeAspect="1"/>
            </p:cNvPicPr>
            <p:nvPr/>
          </p:nvPicPr>
          <p:blipFill>
            <a:blip r:embed="rId5"/>
            <a:stretch>
              <a:fillRect/>
            </a:stretch>
          </p:blipFill>
          <p:spPr>
            <a:xfrm>
              <a:off x="9041810" y="2952541"/>
              <a:ext cx="382932" cy="382932"/>
            </a:xfrm>
            <a:prstGeom prst="rect">
              <a:avLst/>
            </a:prstGeom>
          </p:spPr>
        </p:pic>
      </p:grpSp>
      <p:sp>
        <p:nvSpPr>
          <p:cNvPr id="52" name="TextBox 51">
            <a:extLst>
              <a:ext uri="{FF2B5EF4-FFF2-40B4-BE49-F238E27FC236}">
                <a16:creationId xmlns:a16="http://schemas.microsoft.com/office/drawing/2014/main" id="{67272B9E-D3F8-9979-FBE2-4044B6F539C8}"/>
              </a:ext>
            </a:extLst>
          </p:cNvPr>
          <p:cNvSpPr txBox="1"/>
          <p:nvPr/>
        </p:nvSpPr>
        <p:spPr>
          <a:xfrm>
            <a:off x="9780222" y="2786729"/>
            <a:ext cx="1654375" cy="69249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4500" b="1" i="0" u="none" strike="noStrike" kern="1200" cap="none" spc="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rPr>
              <a:t>60%</a:t>
            </a:r>
          </a:p>
        </p:txBody>
      </p:sp>
      <p:sp>
        <p:nvSpPr>
          <p:cNvPr id="53" name="TextBox 52">
            <a:extLst>
              <a:ext uri="{FF2B5EF4-FFF2-40B4-BE49-F238E27FC236}">
                <a16:creationId xmlns:a16="http://schemas.microsoft.com/office/drawing/2014/main" id="{D3757E09-7842-B0FB-2C43-21C7C7A2C97E}"/>
              </a:ext>
            </a:extLst>
          </p:cNvPr>
          <p:cNvSpPr txBox="1"/>
          <p:nvPr/>
        </p:nvSpPr>
        <p:spPr>
          <a:xfrm>
            <a:off x="8439911" y="3538673"/>
            <a:ext cx="3246120" cy="6771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Once trusted data and clear guardrails in place can organizations have the confidence to participate, turning isolated efforts into industry-wide collaboration</a:t>
            </a:r>
          </a:p>
        </p:txBody>
      </p:sp>
      <p:sp>
        <p:nvSpPr>
          <p:cNvPr id="55" name="Rounded Rectangle 37">
            <a:extLst>
              <a:ext uri="{FF2B5EF4-FFF2-40B4-BE49-F238E27FC236}">
                <a16:creationId xmlns:a16="http://schemas.microsoft.com/office/drawing/2014/main" id="{8073924C-776B-F7D1-E627-756690375CAD}"/>
              </a:ext>
            </a:extLst>
          </p:cNvPr>
          <p:cNvSpPr/>
          <p:nvPr/>
        </p:nvSpPr>
        <p:spPr>
          <a:xfrm>
            <a:off x="320040" y="4518832"/>
            <a:ext cx="11548872" cy="1297621"/>
          </a:xfrm>
          <a:prstGeom prst="roundRect">
            <a:avLst>
              <a:gd name="adj" fmla="val 60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56" name="Picture 55" descr="au.png">
            <a:extLst>
              <a:ext uri="{FF2B5EF4-FFF2-40B4-BE49-F238E27FC236}">
                <a16:creationId xmlns:a16="http://schemas.microsoft.com/office/drawing/2014/main" id="{2D5F3CC1-6B13-FF1F-8AEA-84405ACE3557}"/>
              </a:ext>
            </a:extLst>
          </p:cNvPr>
          <p:cNvPicPr>
            <a:picLocks noChangeAspect="1"/>
          </p:cNvPicPr>
          <p:nvPr/>
        </p:nvPicPr>
        <p:blipFill>
          <a:blip r:embed="rId6"/>
          <a:stretch>
            <a:fillRect/>
          </a:stretch>
        </p:blipFill>
        <p:spPr>
          <a:xfrm>
            <a:off x="548640" y="4632281"/>
            <a:ext cx="384048" cy="256032"/>
          </a:xfrm>
          <a:prstGeom prst="roundRect">
            <a:avLst/>
          </a:prstGeom>
        </p:spPr>
      </p:pic>
      <p:sp>
        <p:nvSpPr>
          <p:cNvPr id="57" name="TextBox 56">
            <a:extLst>
              <a:ext uri="{FF2B5EF4-FFF2-40B4-BE49-F238E27FC236}">
                <a16:creationId xmlns:a16="http://schemas.microsoft.com/office/drawing/2014/main" id="{601BE121-A72A-E6EE-EC03-9D35337D8C34}"/>
              </a:ext>
            </a:extLst>
          </p:cNvPr>
          <p:cNvSpPr txBox="1"/>
          <p:nvPr/>
        </p:nvSpPr>
        <p:spPr>
          <a:xfrm>
            <a:off x="1024128" y="4641981"/>
            <a:ext cx="10515600" cy="20005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dirty="0">
                <a:ln>
                  <a:noFill/>
                </a:ln>
                <a:solidFill>
                  <a:srgbClr val="046A38">
                    <a:lumMod val="50000"/>
                  </a:srgbClr>
                </a:solidFill>
                <a:effectLst/>
                <a:uLnTx/>
                <a:uFillTx/>
                <a:latin typeface="Segoe UI" panose="020B0502040204020203" pitchFamily="34" charset="0"/>
                <a:ea typeface="+mn-ea"/>
                <a:cs typeface="Segoe UI" panose="020B0502040204020203" pitchFamily="34" charset="0"/>
                <a:sym typeface="Arial"/>
              </a:rPr>
              <a:t>AUSTRALIA: WITH PARTICIPATION IN PLACE, THE BARRIER TURNS INTERNAL</a:t>
            </a:r>
          </a:p>
        </p:txBody>
      </p:sp>
      <p:sp>
        <p:nvSpPr>
          <p:cNvPr id="58" name="TextBox 57">
            <a:extLst>
              <a:ext uri="{FF2B5EF4-FFF2-40B4-BE49-F238E27FC236}">
                <a16:creationId xmlns:a16="http://schemas.microsoft.com/office/drawing/2014/main" id="{67765B39-1F91-A8AD-A282-039537DE42FA}"/>
              </a:ext>
            </a:extLst>
          </p:cNvPr>
          <p:cNvSpPr txBox="1"/>
          <p:nvPr/>
        </p:nvSpPr>
        <p:spPr>
          <a:xfrm>
            <a:off x="1024128" y="4934457"/>
            <a:ext cx="5170910" cy="755720"/>
          </a:xfrm>
          <a:prstGeom prst="rect">
            <a:avLst/>
          </a:prstGeom>
          <a:noFill/>
        </p:spPr>
        <p:txBody>
          <a:bodyPr wrap="square" lIns="0" tIns="0" rIns="0" bIns="0" anchor="t">
            <a:spAutoFit/>
          </a:bodyPr>
          <a:lstStyle/>
          <a:p>
            <a:pPr marL="0" marR="0" lvl="0" indent="0" algn="l" defTabSz="914400" rtl="0" eaLnBrk="1" fontAlgn="auto" latinLnBrk="0" hangingPunct="1">
              <a:lnSpc>
                <a:spcPct val="114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Supported by established initiatives </a:t>
            </a:r>
            <a:r>
              <a:rPr kumimoji="0" lang="en-US" sz="11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such as AFCX, Australian banking respondents </a:t>
            </a:r>
            <a:r>
              <a:rPr kumimoji="0" lang="en-US"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were less concerned with external participation and more focused on scale, with 57% citing insufficient </a:t>
            </a:r>
            <a:r>
              <a:rPr kumimoji="0" lang="en-US" sz="11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budget or resource investment </a:t>
            </a:r>
            <a:r>
              <a:rPr kumimoji="0" lang="en-US" sz="11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as the third most significant barrier.</a:t>
            </a:r>
          </a:p>
        </p:txBody>
      </p:sp>
      <p:sp>
        <p:nvSpPr>
          <p:cNvPr id="62" name="Rounded Rectangle 28">
            <a:extLst>
              <a:ext uri="{FF2B5EF4-FFF2-40B4-BE49-F238E27FC236}">
                <a16:creationId xmlns:a16="http://schemas.microsoft.com/office/drawing/2014/main" id="{DA0C1BC0-E21D-40F6-F072-5C20E48E001B}"/>
              </a:ext>
            </a:extLst>
          </p:cNvPr>
          <p:cNvSpPr/>
          <p:nvPr/>
        </p:nvSpPr>
        <p:spPr>
          <a:xfrm>
            <a:off x="8257031" y="2164136"/>
            <a:ext cx="3611880" cy="467786"/>
          </a:xfrm>
          <a:prstGeom prst="roundRect">
            <a:avLst>
              <a:gd name="adj" fmla="val 20000"/>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lIns="36000" rIns="3600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 3  ·  LACK OF EXTERNAL INDUSTRY PARTICIPATION</a:t>
            </a:r>
          </a:p>
        </p:txBody>
      </p:sp>
      <p:sp>
        <p:nvSpPr>
          <p:cNvPr id="63" name="Rounded Rectangle 8">
            <a:extLst>
              <a:ext uri="{FF2B5EF4-FFF2-40B4-BE49-F238E27FC236}">
                <a16:creationId xmlns:a16="http://schemas.microsoft.com/office/drawing/2014/main" id="{5AB76CCE-9656-EF19-365A-EC9A2DE4AB50}"/>
              </a:ext>
            </a:extLst>
          </p:cNvPr>
          <p:cNvSpPr/>
          <p:nvPr/>
        </p:nvSpPr>
        <p:spPr>
          <a:xfrm>
            <a:off x="320040" y="2164136"/>
            <a:ext cx="3611880" cy="467786"/>
          </a:xfrm>
          <a:prstGeom prst="roundRect">
            <a:avLst>
              <a:gd name="adj" fmla="val 20000"/>
            </a:avLst>
          </a:prstGeom>
          <a:solidFill>
            <a:srgbClr val="023D20"/>
          </a:solidFill>
          <a:ln>
            <a:noFill/>
          </a:ln>
          <a:effectLst/>
        </p:spPr>
        <p:style>
          <a:lnRef idx="1">
            <a:schemeClr val="accent1"/>
          </a:lnRef>
          <a:fillRef idx="3">
            <a:schemeClr val="accent1"/>
          </a:fillRef>
          <a:effectRef idx="2">
            <a:schemeClr val="accent1"/>
          </a:effectRef>
          <a:fontRef idx="minor">
            <a:schemeClr val="lt1"/>
          </a:fontRef>
        </p:style>
        <p:txBody>
          <a:bodyPr lIns="36000" rIns="3600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 1  ·  DATA STANDARDIZATION &amp; POOR QUALITY</a:t>
            </a:r>
          </a:p>
        </p:txBody>
      </p:sp>
      <p:grpSp>
        <p:nvGrpSpPr>
          <p:cNvPr id="128" name="Group 127">
            <a:extLst>
              <a:ext uri="{FF2B5EF4-FFF2-40B4-BE49-F238E27FC236}">
                <a16:creationId xmlns:a16="http://schemas.microsoft.com/office/drawing/2014/main" id="{818781EB-D84B-B097-2F8E-67450C198113}"/>
              </a:ext>
            </a:extLst>
          </p:cNvPr>
          <p:cNvGrpSpPr/>
          <p:nvPr/>
        </p:nvGrpSpPr>
        <p:grpSpPr>
          <a:xfrm>
            <a:off x="6612255" y="4762533"/>
            <a:ext cx="5109440" cy="913254"/>
            <a:chOff x="6612255" y="4721796"/>
            <a:chExt cx="5109440" cy="913254"/>
          </a:xfrm>
        </p:grpSpPr>
        <p:grpSp>
          <p:nvGrpSpPr>
            <p:cNvPr id="129" name="Group 128">
              <a:extLst>
                <a:ext uri="{FF2B5EF4-FFF2-40B4-BE49-F238E27FC236}">
                  <a16:creationId xmlns:a16="http://schemas.microsoft.com/office/drawing/2014/main" id="{3D61D0D7-8858-FDD2-EED0-7ACCF20960F5}"/>
                </a:ext>
              </a:extLst>
            </p:cNvPr>
            <p:cNvGrpSpPr/>
            <p:nvPr/>
          </p:nvGrpSpPr>
          <p:grpSpPr>
            <a:xfrm>
              <a:off x="6612255" y="4721796"/>
              <a:ext cx="2238605" cy="913254"/>
              <a:chOff x="6612255" y="4721796"/>
              <a:chExt cx="2238605" cy="913254"/>
            </a:xfrm>
          </p:grpSpPr>
          <p:grpSp>
            <p:nvGrpSpPr>
              <p:cNvPr id="137" name="Group 136">
                <a:extLst>
                  <a:ext uri="{FF2B5EF4-FFF2-40B4-BE49-F238E27FC236}">
                    <a16:creationId xmlns:a16="http://schemas.microsoft.com/office/drawing/2014/main" id="{4D147D8D-9838-D141-0E4C-91A3010D85E1}"/>
                  </a:ext>
                </a:extLst>
              </p:cNvPr>
              <p:cNvGrpSpPr/>
              <p:nvPr/>
            </p:nvGrpSpPr>
            <p:grpSpPr>
              <a:xfrm>
                <a:off x="6612255" y="4863423"/>
                <a:ext cx="630000" cy="630000"/>
                <a:chOff x="6355080" y="5065776"/>
                <a:chExt cx="457200" cy="457200"/>
              </a:xfrm>
            </p:grpSpPr>
            <p:sp>
              <p:nvSpPr>
                <p:cNvPr id="140" name="Rounded Rectangle 41">
                  <a:extLst>
                    <a:ext uri="{FF2B5EF4-FFF2-40B4-BE49-F238E27FC236}">
                      <a16:creationId xmlns:a16="http://schemas.microsoft.com/office/drawing/2014/main" id="{C7CF1F58-5DD0-3A0A-FC2E-9086CCEDDA39}"/>
                    </a:ext>
                  </a:extLst>
                </p:cNvPr>
                <p:cNvSpPr/>
                <p:nvPr/>
              </p:nvSpPr>
              <p:spPr>
                <a:xfrm>
                  <a:off x="6355080" y="5065776"/>
                  <a:ext cx="457200" cy="457200"/>
                </a:xfrm>
                <a:prstGeom prst="roundRect">
                  <a:avLst>
                    <a:gd name="adj" fmla="val 50000"/>
                  </a:avLst>
                </a:prstGeom>
                <a:solidFill>
                  <a:srgbClr val="7578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41" name="Picture 140" descr="ic_users_w.png">
                  <a:extLst>
                    <a:ext uri="{FF2B5EF4-FFF2-40B4-BE49-F238E27FC236}">
                      <a16:creationId xmlns:a16="http://schemas.microsoft.com/office/drawing/2014/main" id="{8D4F5604-8250-197C-8D70-D2C2BA588339}"/>
                    </a:ext>
                  </a:extLst>
                </p:cNvPr>
                <p:cNvPicPr>
                  <a:picLocks noChangeAspect="1"/>
                </p:cNvPicPr>
                <p:nvPr/>
              </p:nvPicPr>
              <p:blipFill>
                <a:blip r:embed="rId7"/>
                <a:stretch>
                  <a:fillRect/>
                </a:stretch>
              </p:blipFill>
              <p:spPr>
                <a:xfrm>
                  <a:off x="6455664" y="5166360"/>
                  <a:ext cx="256032" cy="256032"/>
                </a:xfrm>
                <a:prstGeom prst="rect">
                  <a:avLst/>
                </a:prstGeom>
              </p:spPr>
            </p:pic>
          </p:grpSp>
          <p:sp>
            <p:nvSpPr>
              <p:cNvPr id="138" name="TextBox 137">
                <a:extLst>
                  <a:ext uri="{FF2B5EF4-FFF2-40B4-BE49-F238E27FC236}">
                    <a16:creationId xmlns:a16="http://schemas.microsoft.com/office/drawing/2014/main" id="{0FDF04D5-D3BA-F8C6-ABCD-42385FCED2F8}"/>
                  </a:ext>
                </a:extLst>
              </p:cNvPr>
              <p:cNvSpPr txBox="1"/>
              <p:nvPr/>
            </p:nvSpPr>
            <p:spPr>
              <a:xfrm>
                <a:off x="7351395" y="4721796"/>
                <a:ext cx="900281" cy="53860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3500" b="1" i="0" u="none" strike="noStrike" kern="1200" cap="none" spc="0" normalizeH="0" baseline="0" noProof="0" dirty="0">
                    <a:ln>
                      <a:noFill/>
                    </a:ln>
                    <a:solidFill>
                      <a:srgbClr val="75787B"/>
                    </a:solidFill>
                    <a:effectLst/>
                    <a:uLnTx/>
                    <a:uFillTx/>
                    <a:latin typeface="Segoe UI" panose="020B0502040204020203" pitchFamily="34" charset="0"/>
                    <a:ea typeface="+mn-ea"/>
                    <a:cs typeface="Segoe UI" panose="020B0502040204020203" pitchFamily="34" charset="0"/>
                    <a:sym typeface="Arial"/>
                  </a:rPr>
                  <a:t>43%</a:t>
                </a:r>
              </a:p>
            </p:txBody>
          </p:sp>
          <p:sp>
            <p:nvSpPr>
              <p:cNvPr id="139" name="TextBox 138">
                <a:extLst>
                  <a:ext uri="{FF2B5EF4-FFF2-40B4-BE49-F238E27FC236}">
                    <a16:creationId xmlns:a16="http://schemas.microsoft.com/office/drawing/2014/main" id="{1CC1BAD3-680D-58CC-B308-320EB1631115}"/>
                  </a:ext>
                </a:extLst>
              </p:cNvPr>
              <p:cNvSpPr txBox="1"/>
              <p:nvPr/>
            </p:nvSpPr>
            <p:spPr>
              <a:xfrm>
                <a:off x="7351396" y="5234940"/>
                <a:ext cx="1499464" cy="4001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dirty="0">
                    <a:ln>
                      <a:noFill/>
                    </a:ln>
                    <a:solidFill>
                      <a:srgbClr val="75787B"/>
                    </a:solidFill>
                    <a:effectLst/>
                    <a:uLnTx/>
                    <a:uFillTx/>
                    <a:latin typeface="Segoe UI" panose="020B0502040204020203" pitchFamily="34" charset="0"/>
                    <a:ea typeface="+mn-ea"/>
                    <a:cs typeface="Segoe UI" panose="020B0502040204020203" pitchFamily="34" charset="0"/>
                    <a:sym typeface="Arial"/>
                  </a:rPr>
                  <a:t>Lack of external participation</a:t>
                </a:r>
              </a:p>
            </p:txBody>
          </p:sp>
        </p:grpSp>
        <p:grpSp>
          <p:nvGrpSpPr>
            <p:cNvPr id="130" name="Group 129">
              <a:extLst>
                <a:ext uri="{FF2B5EF4-FFF2-40B4-BE49-F238E27FC236}">
                  <a16:creationId xmlns:a16="http://schemas.microsoft.com/office/drawing/2014/main" id="{30D3A9A4-8258-798B-F4E9-B106D8A3C794}"/>
                </a:ext>
              </a:extLst>
            </p:cNvPr>
            <p:cNvGrpSpPr/>
            <p:nvPr/>
          </p:nvGrpSpPr>
          <p:grpSpPr>
            <a:xfrm>
              <a:off x="9483090" y="4721796"/>
              <a:ext cx="2238605" cy="913254"/>
              <a:chOff x="9483090" y="4721796"/>
              <a:chExt cx="2238605" cy="913254"/>
            </a:xfrm>
          </p:grpSpPr>
          <p:grpSp>
            <p:nvGrpSpPr>
              <p:cNvPr id="132" name="Group 131">
                <a:extLst>
                  <a:ext uri="{FF2B5EF4-FFF2-40B4-BE49-F238E27FC236}">
                    <a16:creationId xmlns:a16="http://schemas.microsoft.com/office/drawing/2014/main" id="{304525A8-A3BF-BFE8-661B-81265445A344}"/>
                  </a:ext>
                </a:extLst>
              </p:cNvPr>
              <p:cNvGrpSpPr/>
              <p:nvPr/>
            </p:nvGrpSpPr>
            <p:grpSpPr>
              <a:xfrm>
                <a:off x="9483090" y="4863423"/>
                <a:ext cx="630000" cy="630000"/>
                <a:chOff x="9235440" y="5065776"/>
                <a:chExt cx="457200" cy="457200"/>
              </a:xfrm>
            </p:grpSpPr>
            <p:sp>
              <p:nvSpPr>
                <p:cNvPr id="135" name="Rounded Rectangle 46">
                  <a:extLst>
                    <a:ext uri="{FF2B5EF4-FFF2-40B4-BE49-F238E27FC236}">
                      <a16:creationId xmlns:a16="http://schemas.microsoft.com/office/drawing/2014/main" id="{9D00A379-C5B8-1454-407D-936ADF656D7F}"/>
                    </a:ext>
                  </a:extLst>
                </p:cNvPr>
                <p:cNvSpPr/>
                <p:nvPr/>
              </p:nvSpPr>
              <p:spPr>
                <a:xfrm>
                  <a:off x="9235440" y="5065776"/>
                  <a:ext cx="457200" cy="457200"/>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36" name="Picture 135" descr="ic_coins_w.png">
                  <a:extLst>
                    <a:ext uri="{FF2B5EF4-FFF2-40B4-BE49-F238E27FC236}">
                      <a16:creationId xmlns:a16="http://schemas.microsoft.com/office/drawing/2014/main" id="{18B7D034-8461-220B-31C3-1FE073C870A3}"/>
                    </a:ext>
                  </a:extLst>
                </p:cNvPr>
                <p:cNvPicPr>
                  <a:picLocks noChangeAspect="1"/>
                </p:cNvPicPr>
                <p:nvPr/>
              </p:nvPicPr>
              <p:blipFill>
                <a:blip r:embed="rId8"/>
                <a:stretch>
                  <a:fillRect/>
                </a:stretch>
              </p:blipFill>
              <p:spPr>
                <a:xfrm>
                  <a:off x="9336024" y="5166360"/>
                  <a:ext cx="256032" cy="256032"/>
                </a:xfrm>
                <a:prstGeom prst="rect">
                  <a:avLst/>
                </a:prstGeom>
              </p:spPr>
            </p:pic>
          </p:grpSp>
          <p:sp>
            <p:nvSpPr>
              <p:cNvPr id="133" name="TextBox 132">
                <a:extLst>
                  <a:ext uri="{FF2B5EF4-FFF2-40B4-BE49-F238E27FC236}">
                    <a16:creationId xmlns:a16="http://schemas.microsoft.com/office/drawing/2014/main" id="{53FD61E4-9076-3B25-4CD9-A8CD03C99122}"/>
                  </a:ext>
                </a:extLst>
              </p:cNvPr>
              <p:cNvSpPr txBox="1"/>
              <p:nvPr/>
            </p:nvSpPr>
            <p:spPr>
              <a:xfrm>
                <a:off x="10222230" y="4721796"/>
                <a:ext cx="900281" cy="53860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35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57%</a:t>
                </a:r>
              </a:p>
            </p:txBody>
          </p:sp>
          <p:sp>
            <p:nvSpPr>
              <p:cNvPr id="134" name="TextBox 133">
                <a:extLst>
                  <a:ext uri="{FF2B5EF4-FFF2-40B4-BE49-F238E27FC236}">
                    <a16:creationId xmlns:a16="http://schemas.microsoft.com/office/drawing/2014/main" id="{709375E3-AE12-4979-1DA3-F16EF5DE584C}"/>
                  </a:ext>
                </a:extLst>
              </p:cNvPr>
              <p:cNvSpPr txBox="1"/>
              <p:nvPr/>
            </p:nvSpPr>
            <p:spPr>
              <a:xfrm>
                <a:off x="10222231" y="5234940"/>
                <a:ext cx="1499464" cy="4001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Insufficient budget / resources</a:t>
                </a:r>
              </a:p>
            </p:txBody>
          </p:sp>
        </p:grpSp>
        <p:sp>
          <p:nvSpPr>
            <p:cNvPr id="131" name="Shape 21">
              <a:extLst>
                <a:ext uri="{FF2B5EF4-FFF2-40B4-BE49-F238E27FC236}">
                  <a16:creationId xmlns:a16="http://schemas.microsoft.com/office/drawing/2014/main" id="{E9E35D9A-0085-6F93-9EDD-0D46B077E44B}"/>
                </a:ext>
              </a:extLst>
            </p:cNvPr>
            <p:cNvSpPr/>
            <p:nvPr/>
          </p:nvSpPr>
          <p:spPr>
            <a:xfrm>
              <a:off x="8870373" y="4965296"/>
              <a:ext cx="296602" cy="426254"/>
            </a:xfrm>
            <a:prstGeom prst="chevron">
              <a:avLst/>
            </a:prstGeom>
            <a:solidFill>
              <a:srgbClr val="046A38"/>
            </a:solidFill>
            <a:ln w="12700">
              <a:no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0" cap="none" spc="0" normalizeH="0" baseline="0" noProof="0" dirty="0">
                <a:ln>
                  <a:noFill/>
                </a:ln>
                <a:solidFill>
                  <a:sysClr val="windowText" lastClr="000000"/>
                </a:solidFill>
                <a:effectLst/>
                <a:uLnTx/>
                <a:uFillTx/>
                <a:latin typeface="Segoe UI" panose="020B0502040204020203" pitchFamily="34" charset="0"/>
                <a:cs typeface="Segoe UI" panose="020B0502040204020203" pitchFamily="34" charset="0"/>
                <a:sym typeface="Arial"/>
              </a:endParaRPr>
            </a:p>
          </p:txBody>
        </p:sp>
      </p:grpSp>
      <p:sp>
        <p:nvSpPr>
          <p:cNvPr id="144" name="Rectangle 143">
            <a:extLst>
              <a:ext uri="{FF2B5EF4-FFF2-40B4-BE49-F238E27FC236}">
                <a16:creationId xmlns:a16="http://schemas.microsoft.com/office/drawing/2014/main" id="{1F62CF01-E422-E1D3-F3D3-905AD2C578F9}"/>
              </a:ext>
            </a:extLst>
          </p:cNvPr>
          <p:cNvSpPr/>
          <p:nvPr/>
        </p:nvSpPr>
        <p:spPr>
          <a:xfrm>
            <a:off x="320040" y="6033051"/>
            <a:ext cx="11548872" cy="457200"/>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lIns="36000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6BC25"/>
                </a:solidFill>
                <a:effectLst/>
                <a:uLnTx/>
                <a:uFillTx/>
                <a:latin typeface="Segoe UI" panose="020B0502040204020203" pitchFamily="34" charset="0"/>
                <a:ea typeface="+mn-ea"/>
                <a:cs typeface="Segoe UI" panose="020B0502040204020203" pitchFamily="34" charset="0"/>
                <a:sym typeface="Arial"/>
              </a:rPr>
              <a:t>WHAT IT MEANS  </a:t>
            </a:r>
            <a:r>
              <a:rPr kumimoji="0" lang="en-US" sz="13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Scaling information sharing starts with trusted data and clear legal guardrails - unlocking industry-wide participation.</a:t>
            </a:r>
          </a:p>
        </p:txBody>
      </p:sp>
      <p:sp>
        <p:nvSpPr>
          <p:cNvPr id="9" name="Plus 153">
            <a:extLst>
              <a:ext uri="{FF2B5EF4-FFF2-40B4-BE49-F238E27FC236}">
                <a16:creationId xmlns:a16="http://schemas.microsoft.com/office/drawing/2014/main" id="{9394D0B8-BA49-1592-17A0-4EFEFB307BE4}"/>
              </a:ext>
            </a:extLst>
          </p:cNvPr>
          <p:cNvSpPr/>
          <p:nvPr/>
        </p:nvSpPr>
        <p:spPr>
          <a:xfrm>
            <a:off x="3922776" y="3060979"/>
            <a:ext cx="384048" cy="384048"/>
          </a:xfrm>
          <a:prstGeom prst="mathPlus">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dirty="0">
              <a:ln>
                <a:noFill/>
              </a:ln>
              <a:solidFill>
                <a:srgbClr val="FFFFFF"/>
              </a:solidFill>
              <a:effectLst/>
              <a:uLnTx/>
              <a:uFillTx/>
              <a:latin typeface="Arial"/>
              <a:ea typeface="+mn-ea"/>
              <a:cs typeface="+mn-cs"/>
              <a:sym typeface="Arial"/>
            </a:endParaRPr>
          </a:p>
        </p:txBody>
      </p:sp>
      <p:grpSp>
        <p:nvGrpSpPr>
          <p:cNvPr id="11" name="Group 10">
            <a:extLst>
              <a:ext uri="{FF2B5EF4-FFF2-40B4-BE49-F238E27FC236}">
                <a16:creationId xmlns:a16="http://schemas.microsoft.com/office/drawing/2014/main" id="{115C250D-E89E-E8AE-F723-1275AAFAF2A3}"/>
              </a:ext>
            </a:extLst>
          </p:cNvPr>
          <p:cNvGrpSpPr/>
          <p:nvPr/>
        </p:nvGrpSpPr>
        <p:grpSpPr>
          <a:xfrm>
            <a:off x="249638" y="464705"/>
            <a:ext cx="11521440" cy="585793"/>
            <a:chOff x="249638" y="464705"/>
            <a:chExt cx="11521440" cy="585793"/>
          </a:xfrm>
        </p:grpSpPr>
        <p:sp>
          <p:nvSpPr>
            <p:cNvPr id="12" name="Text 22">
              <a:extLst>
                <a:ext uri="{FF2B5EF4-FFF2-40B4-BE49-F238E27FC236}">
                  <a16:creationId xmlns:a16="http://schemas.microsoft.com/office/drawing/2014/main" id="{1EBBAADF-A791-62FE-9B96-7123B8BF7C3D}"/>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ALIGNMENT ON THE PROBLEM</a:t>
              </a:r>
            </a:p>
          </p:txBody>
        </p:sp>
        <p:sp>
          <p:nvSpPr>
            <p:cNvPr id="14" name="TextBox 13">
              <a:extLst>
                <a:ext uri="{FF2B5EF4-FFF2-40B4-BE49-F238E27FC236}">
                  <a16:creationId xmlns:a16="http://schemas.microsoft.com/office/drawing/2014/main" id="{2EED224C-78B2-38CA-127C-07BD9081FF71}"/>
                </a:ext>
              </a:extLst>
            </p:cNvPr>
            <p:cNvSpPr txBox="1"/>
            <p:nvPr/>
          </p:nvSpPr>
          <p:spPr>
            <a:xfrm>
              <a:off x="249638" y="711944"/>
              <a:ext cx="11521440" cy="33855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2200" b="1" i="0" u="none" strike="noStrike" kern="1200" cap="none" spc="0" normalizeH="0" baseline="0" noProof="0" dirty="0">
                  <a:ln>
                    <a:noFill/>
                  </a:ln>
                  <a:solidFill>
                    <a:srgbClr val="111111"/>
                  </a:solidFill>
                  <a:effectLst/>
                  <a:uLnTx/>
                  <a:uFillTx/>
                  <a:latin typeface="Segoe UI" panose="020B0502040204020203" pitchFamily="34" charset="0"/>
                  <a:cs typeface="Segoe UI" panose="020B0502040204020203" pitchFamily="34" charset="0"/>
                  <a:sym typeface="Arial"/>
                </a:rPr>
                <a:t>The top barriers to information sharing are structural and external</a:t>
              </a:r>
            </a:p>
          </p:txBody>
        </p:sp>
      </p:grpSp>
      <p:sp>
        <p:nvSpPr>
          <p:cNvPr id="26" name="TextBox 25">
            <a:extLst>
              <a:ext uri="{FF2B5EF4-FFF2-40B4-BE49-F238E27FC236}">
                <a16:creationId xmlns:a16="http://schemas.microsoft.com/office/drawing/2014/main" id="{299783E2-408A-3611-1CCF-8418025AA067}"/>
              </a:ext>
            </a:extLst>
          </p:cNvPr>
          <p:cNvSpPr txBox="1"/>
          <p:nvPr/>
        </p:nvSpPr>
        <p:spPr>
          <a:xfrm>
            <a:off x="320040" y="1143000"/>
            <a:ext cx="1152144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1400" b="0" i="0" u="none" strike="noStrike" kern="1200" cap="none" spc="0" normalizeH="0" baseline="0" noProof="0" dirty="0">
                <a:ln>
                  <a:noFill/>
                </a:ln>
                <a:solidFill>
                  <a:srgbClr val="404040"/>
                </a:solidFill>
                <a:effectLst/>
                <a:uLnTx/>
                <a:uFillTx/>
                <a:latin typeface="Segoe UI" panose="020B0502040204020203" pitchFamily="34" charset="0"/>
                <a:cs typeface="Segoe UI" panose="020B0502040204020203" pitchFamily="34" charset="0"/>
                <a:sym typeface="Arial"/>
              </a:rPr>
              <a:t>Respondents overwhelmingly point to </a:t>
            </a:r>
            <a:r>
              <a:rPr kumimoji="0" lang="en-US" sz="1400" b="1" i="0" u="none" strike="noStrike" kern="1200" cap="none" spc="0" normalizeH="0" baseline="0" noProof="0" dirty="0">
                <a:ln>
                  <a:noFill/>
                </a:ln>
                <a:solidFill>
                  <a:srgbClr val="404040"/>
                </a:solidFill>
                <a:effectLst/>
                <a:uLnTx/>
                <a:uFillTx/>
                <a:latin typeface="Segoe UI" panose="020B0502040204020203" pitchFamily="34" charset="0"/>
                <a:cs typeface="Segoe UI" panose="020B0502040204020203" pitchFamily="34" charset="0"/>
                <a:sym typeface="Arial"/>
              </a:rPr>
              <a:t>ecosystem barriers rather than internal resistance</a:t>
            </a:r>
            <a:r>
              <a:rPr kumimoji="0" lang="en-US" sz="1400" b="0" i="0" u="none" strike="noStrike" kern="1200" cap="none" spc="0" normalizeH="0" baseline="0" noProof="0" dirty="0">
                <a:ln>
                  <a:noFill/>
                </a:ln>
                <a:solidFill>
                  <a:srgbClr val="404040"/>
                </a:solidFill>
                <a:effectLst/>
                <a:uLnTx/>
                <a:uFillTx/>
                <a:latin typeface="Segoe UI" panose="020B0502040204020203" pitchFamily="34" charset="0"/>
                <a:cs typeface="Segoe UI" panose="020B0502040204020203" pitchFamily="34" charset="0"/>
                <a:sym typeface="Arial"/>
              </a:rPr>
              <a:t>. Data quality, legal constraints and participation gaps are the primary obstacles to scaling information sharing.</a:t>
            </a:r>
          </a:p>
        </p:txBody>
      </p:sp>
      <p:sp>
        <p:nvSpPr>
          <p:cNvPr id="6" name="Rectangle 5">
            <a:extLst>
              <a:ext uri="{FF2B5EF4-FFF2-40B4-BE49-F238E27FC236}">
                <a16:creationId xmlns:a16="http://schemas.microsoft.com/office/drawing/2014/main" id="{31CD8574-40F9-921F-8B34-955D9E3DA0C5}"/>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For detailed data please refer to </a:t>
            </a: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hlinkClick r:id="" action="ppaction://noaction"/>
              </a:rPr>
              <a:t>Appendix – C </a:t>
            </a:r>
            <a:endPar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Tree>
    <p:extLst>
      <p:ext uri="{BB962C8B-B14F-4D97-AF65-F5344CB8AC3E}">
        <p14:creationId xmlns:p14="http://schemas.microsoft.com/office/powerpoint/2010/main" val="27536239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54D6657-F529-81CC-BAD4-BDBAC82B9DE0}"/>
            </a:ext>
          </a:extLst>
        </p:cNvPr>
        <p:cNvGrpSpPr/>
        <p:nvPr/>
      </p:nvGrpSpPr>
      <p:grpSpPr>
        <a:xfrm>
          <a:off x="0" y="0"/>
          <a:ext cx="0" cy="0"/>
          <a:chOff x="0" y="0"/>
          <a:chExt cx="0" cy="0"/>
        </a:xfrm>
      </p:grpSpPr>
      <p:sp>
        <p:nvSpPr>
          <p:cNvPr id="58" name="Shape 3">
            <a:extLst>
              <a:ext uri="{FF2B5EF4-FFF2-40B4-BE49-F238E27FC236}">
                <a16:creationId xmlns:a16="http://schemas.microsoft.com/office/drawing/2014/main" id="{D1932E1D-2BA4-C4BC-6EE0-CF9D49DD1DC9}"/>
              </a:ext>
            </a:extLst>
          </p:cNvPr>
          <p:cNvSpPr/>
          <p:nvPr/>
        </p:nvSpPr>
        <p:spPr>
          <a:xfrm>
            <a:off x="-904" y="346551"/>
            <a:ext cx="12189183" cy="6511449"/>
          </a:xfrm>
          <a:prstGeom prst="rect">
            <a:avLst/>
          </a:prstGeom>
          <a:solidFill>
            <a:schemeClr val="accent2"/>
          </a:solidFill>
          <a:ln w="10160">
            <a:solidFill>
              <a:schemeClr val="accent2"/>
            </a:solidFill>
            <a:prstDash val="solid"/>
          </a:ln>
          <a:effectLst>
            <a:outerShdw blurRad="15240" dist="6350" dir="27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153" name="Rectangle 152">
            <a:extLst>
              <a:ext uri="{FF2B5EF4-FFF2-40B4-BE49-F238E27FC236}">
                <a16:creationId xmlns:a16="http://schemas.microsoft.com/office/drawing/2014/main" id="{E3064FC7-5780-574B-B773-6D07C437BBF5}"/>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dirty="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INFORMATION SHARING</a:t>
            </a:r>
          </a:p>
        </p:txBody>
      </p:sp>
      <p:sp>
        <p:nvSpPr>
          <p:cNvPr id="189" name="TextBox 188">
            <a:extLst>
              <a:ext uri="{FF2B5EF4-FFF2-40B4-BE49-F238E27FC236}">
                <a16:creationId xmlns:a16="http://schemas.microsoft.com/office/drawing/2014/main" id="{50FA3F95-19EC-0C3E-260B-D1807605DF8C}"/>
              </a:ext>
            </a:extLst>
          </p:cNvPr>
          <p:cNvSpPr txBox="1"/>
          <p:nvPr/>
        </p:nvSpPr>
        <p:spPr>
          <a:xfrm>
            <a:off x="272041" y="1106115"/>
            <a:ext cx="11706597" cy="73866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The findings are consistent with the barriers identified elsewhere in the survey. Across both banking and insurance respondents, </a:t>
            </a:r>
            <a:r>
              <a:rPr kumimoji="0" lang="en-US" sz="14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a centralized fraud information-sharing utility</a:t>
            </a:r>
            <a:r>
              <a:rPr kumimoji="0" lang="en-US" sz="1400" b="0"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 emerged as the most impactful government intervention, </a:t>
            </a:r>
            <a:r>
              <a:rPr kumimoji="0" lang="en-US" sz="14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selected by 35% of respondents</a:t>
            </a:r>
            <a:r>
              <a:rPr kumimoji="0" lang="en-US" sz="1400" b="0"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 while clearer legal and regulatory frameworks ranked second. </a:t>
            </a:r>
            <a:endParaRPr kumimoji="0" lang="en-CA" sz="1400" b="0"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endParaRPr>
          </a:p>
        </p:txBody>
      </p:sp>
      <p:grpSp>
        <p:nvGrpSpPr>
          <p:cNvPr id="56" name="Group 55">
            <a:extLst>
              <a:ext uri="{FF2B5EF4-FFF2-40B4-BE49-F238E27FC236}">
                <a16:creationId xmlns:a16="http://schemas.microsoft.com/office/drawing/2014/main" id="{99F859D1-3BC3-FA24-1FB1-A9A0F781E932}"/>
              </a:ext>
            </a:extLst>
          </p:cNvPr>
          <p:cNvGrpSpPr/>
          <p:nvPr/>
        </p:nvGrpSpPr>
        <p:grpSpPr>
          <a:xfrm>
            <a:off x="6126433" y="2110961"/>
            <a:ext cx="6061846" cy="3798761"/>
            <a:chOff x="6071239" y="2361336"/>
            <a:chExt cx="5668102" cy="3552014"/>
          </a:xfrm>
        </p:grpSpPr>
        <p:sp>
          <p:nvSpPr>
            <p:cNvPr id="11" name="Arc 10">
              <a:extLst>
                <a:ext uri="{FF2B5EF4-FFF2-40B4-BE49-F238E27FC236}">
                  <a16:creationId xmlns:a16="http://schemas.microsoft.com/office/drawing/2014/main" id="{F8CBA258-FE82-7DB5-6974-F8B9CCB20851}"/>
                </a:ext>
              </a:extLst>
            </p:cNvPr>
            <p:cNvSpPr/>
            <p:nvPr>
              <p:custDataLst>
                <p:tags r:id="rId1"/>
              </p:custDataLst>
            </p:nvPr>
          </p:nvSpPr>
          <p:spPr>
            <a:xfrm>
              <a:off x="7181095" y="2361336"/>
              <a:ext cx="3079127" cy="3082363"/>
            </a:xfrm>
            <a:prstGeom prst="arc">
              <a:avLst>
                <a:gd name="adj1" fmla="val 16473733"/>
                <a:gd name="adj2" fmla="val 15947684"/>
              </a:avLst>
            </a:prstGeom>
            <a:noFill/>
            <a:ln w="12700" cap="flat" cmpd="sng" algn="ctr">
              <a:solidFill>
                <a:srgbClr val="B4B4B4"/>
              </a:solidFill>
              <a:prstDash val="sysDash"/>
              <a:miter lim="800000"/>
              <a:headEnd type="arrow"/>
              <a:tailEnd type="arrow"/>
            </a:ln>
            <a:effectLst/>
          </p:spPr>
          <p:txBody>
            <a:bodyPr lIns="121917" tIns="60958" rIns="121917" bIns="60958"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5C5C5C"/>
                </a:solidFill>
                <a:effectLst/>
                <a:uLnTx/>
                <a:uFillTx/>
                <a:latin typeface="Segoe UI" panose="020B0502040204020203" pitchFamily="34" charset="0"/>
                <a:ea typeface="+mn-ea"/>
                <a:cs typeface="Segoe UI" panose="020B0502040204020203" pitchFamily="34" charset="0"/>
                <a:sym typeface="Arial"/>
              </a:endParaRPr>
            </a:p>
          </p:txBody>
        </p:sp>
        <p:sp>
          <p:nvSpPr>
            <p:cNvPr id="17" name="TextBox 16">
              <a:extLst>
                <a:ext uri="{FF2B5EF4-FFF2-40B4-BE49-F238E27FC236}">
                  <a16:creationId xmlns:a16="http://schemas.microsoft.com/office/drawing/2014/main" id="{72C8299C-9AD0-68D7-CC6F-4F427775386F}"/>
                </a:ext>
              </a:extLst>
            </p:cNvPr>
            <p:cNvSpPr txBox="1"/>
            <p:nvPr/>
          </p:nvSpPr>
          <p:spPr>
            <a:xfrm>
              <a:off x="6144747" y="4741773"/>
              <a:ext cx="1800000" cy="474845"/>
            </a:xfrm>
            <a:prstGeom prst="rect">
              <a:avLst/>
            </a:prstGeom>
            <a:solidFill>
              <a:schemeClr val="accent2"/>
            </a:solid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1"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Can share intelligence on known bad actors to identify and apprehend fraudsters.</a:t>
              </a:r>
            </a:p>
          </p:txBody>
        </p:sp>
        <p:sp>
          <p:nvSpPr>
            <p:cNvPr id="18" name="TextBox 17">
              <a:extLst>
                <a:ext uri="{FF2B5EF4-FFF2-40B4-BE49-F238E27FC236}">
                  <a16:creationId xmlns:a16="http://schemas.microsoft.com/office/drawing/2014/main" id="{0A4EC688-843D-82D6-8414-549356919849}"/>
                </a:ext>
              </a:extLst>
            </p:cNvPr>
            <p:cNvSpPr txBox="1"/>
            <p:nvPr/>
          </p:nvSpPr>
          <p:spPr>
            <a:xfrm>
              <a:off x="6071239" y="2896780"/>
              <a:ext cx="1800000" cy="474845"/>
            </a:xfrm>
            <a:prstGeom prst="rect">
              <a:avLst/>
            </a:prstGeom>
            <a:solidFill>
              <a:schemeClr val="accent2"/>
            </a:solid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1"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Can share real-time transaction data &amp; fraud alerts to help identify potentially fraudulent transactions.</a:t>
              </a:r>
            </a:p>
          </p:txBody>
        </p:sp>
        <p:sp>
          <p:nvSpPr>
            <p:cNvPr id="12" name="Arc 11">
              <a:extLst>
                <a:ext uri="{FF2B5EF4-FFF2-40B4-BE49-F238E27FC236}">
                  <a16:creationId xmlns:a16="http://schemas.microsoft.com/office/drawing/2014/main" id="{011014BD-518F-C0E2-5A17-72F92974DEBB}"/>
                </a:ext>
              </a:extLst>
            </p:cNvPr>
            <p:cNvSpPr/>
            <p:nvPr>
              <p:custDataLst>
                <p:tags r:id="rId2"/>
              </p:custDataLst>
            </p:nvPr>
          </p:nvSpPr>
          <p:spPr>
            <a:xfrm>
              <a:off x="7445286" y="2627721"/>
              <a:ext cx="2550745" cy="2553426"/>
            </a:xfrm>
            <a:prstGeom prst="arc">
              <a:avLst>
                <a:gd name="adj1" fmla="val 18638933"/>
                <a:gd name="adj2" fmla="val 18630248"/>
              </a:avLst>
            </a:prstGeom>
            <a:noFill/>
            <a:ln w="12700" cap="flat" cmpd="sng" algn="ctr">
              <a:solidFill>
                <a:schemeClr val="accent1"/>
              </a:solidFill>
              <a:prstDash val="sysDash"/>
              <a:miter lim="800000"/>
              <a:headEnd type="none"/>
              <a:tailEnd type="none"/>
            </a:ln>
            <a:effectLst/>
          </p:spPr>
          <p:txBody>
            <a:bodyPr lIns="121917" tIns="60958" rIns="121917" bIns="60958"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5C5C5C"/>
                </a:solidFill>
                <a:effectLst/>
                <a:uLnTx/>
                <a:uFillTx/>
                <a:latin typeface="Segoe UI" panose="020B0502040204020203" pitchFamily="34" charset="0"/>
                <a:ea typeface="+mn-ea"/>
                <a:cs typeface="Segoe UI" panose="020B0502040204020203" pitchFamily="34" charset="0"/>
                <a:sym typeface="Arial"/>
              </a:endParaRPr>
            </a:p>
          </p:txBody>
        </p:sp>
        <p:sp>
          <p:nvSpPr>
            <p:cNvPr id="24" name="Rectangle: Rounded Corners 23">
              <a:extLst>
                <a:ext uri="{FF2B5EF4-FFF2-40B4-BE49-F238E27FC236}">
                  <a16:creationId xmlns:a16="http://schemas.microsoft.com/office/drawing/2014/main" id="{FE538A2B-B535-8C7C-F39A-014C9656D20B}"/>
                </a:ext>
              </a:extLst>
            </p:cNvPr>
            <p:cNvSpPr/>
            <p:nvPr/>
          </p:nvSpPr>
          <p:spPr bwMode="gray">
            <a:xfrm>
              <a:off x="9474167" y="2464770"/>
              <a:ext cx="1362272" cy="286794"/>
            </a:xfrm>
            <a:prstGeom prst="roundRect">
              <a:avLst>
                <a:gd name="adj" fmla="val 50000"/>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Telecom</a:t>
              </a:r>
            </a:p>
          </p:txBody>
        </p:sp>
        <p:sp>
          <p:nvSpPr>
            <p:cNvPr id="25" name="Rectangle: Rounded Corners 24">
              <a:extLst>
                <a:ext uri="{FF2B5EF4-FFF2-40B4-BE49-F238E27FC236}">
                  <a16:creationId xmlns:a16="http://schemas.microsoft.com/office/drawing/2014/main" id="{68D3E7F4-D186-1877-655C-65CFA6467DDA}"/>
                </a:ext>
              </a:extLst>
            </p:cNvPr>
            <p:cNvSpPr/>
            <p:nvPr/>
          </p:nvSpPr>
          <p:spPr bwMode="gray">
            <a:xfrm>
              <a:off x="6943134" y="2564160"/>
              <a:ext cx="1362272" cy="286794"/>
            </a:xfrm>
            <a:prstGeom prst="roundRect">
              <a:avLst>
                <a:gd name="adj" fmla="val 50000"/>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Financial Institution</a:t>
              </a:r>
            </a:p>
          </p:txBody>
        </p:sp>
        <p:sp>
          <p:nvSpPr>
            <p:cNvPr id="22" name="Rectangle: Rounded Corners 21">
              <a:extLst>
                <a:ext uri="{FF2B5EF4-FFF2-40B4-BE49-F238E27FC236}">
                  <a16:creationId xmlns:a16="http://schemas.microsoft.com/office/drawing/2014/main" id="{1337CDE0-D60C-AB86-D4B8-2649CBABC853}"/>
                </a:ext>
              </a:extLst>
            </p:cNvPr>
            <p:cNvSpPr/>
            <p:nvPr/>
          </p:nvSpPr>
          <p:spPr bwMode="gray">
            <a:xfrm>
              <a:off x="6382357" y="4445591"/>
              <a:ext cx="1362272" cy="286794"/>
            </a:xfrm>
            <a:prstGeom prst="roundRect">
              <a:avLst>
                <a:gd name="adj" fmla="val 50000"/>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Public Sector</a:t>
              </a:r>
            </a:p>
          </p:txBody>
        </p:sp>
        <p:sp>
          <p:nvSpPr>
            <p:cNvPr id="23" name="Rectangle: Rounded Corners 22">
              <a:extLst>
                <a:ext uri="{FF2B5EF4-FFF2-40B4-BE49-F238E27FC236}">
                  <a16:creationId xmlns:a16="http://schemas.microsoft.com/office/drawing/2014/main" id="{11F1CE87-8475-8B6B-1862-6E944D978634}"/>
                </a:ext>
              </a:extLst>
            </p:cNvPr>
            <p:cNvSpPr/>
            <p:nvPr/>
          </p:nvSpPr>
          <p:spPr bwMode="gray">
            <a:xfrm>
              <a:off x="8311914" y="5142323"/>
              <a:ext cx="1362272" cy="286795"/>
            </a:xfrm>
            <a:prstGeom prst="roundRect">
              <a:avLst>
                <a:gd name="adj" fmla="val 50000"/>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Digital Platform</a:t>
              </a:r>
            </a:p>
          </p:txBody>
        </p:sp>
        <p:sp>
          <p:nvSpPr>
            <p:cNvPr id="15" name="TextBox 14">
              <a:extLst>
                <a:ext uri="{FF2B5EF4-FFF2-40B4-BE49-F238E27FC236}">
                  <a16:creationId xmlns:a16="http://schemas.microsoft.com/office/drawing/2014/main" id="{59F0601B-C4E4-F532-5026-43AE54FA9A92}"/>
                </a:ext>
              </a:extLst>
            </p:cNvPr>
            <p:cNvSpPr txBox="1"/>
            <p:nvPr/>
          </p:nvSpPr>
          <p:spPr>
            <a:xfrm>
              <a:off x="9633203" y="2797390"/>
              <a:ext cx="1800000" cy="604349"/>
            </a:xfrm>
            <a:prstGeom prst="rect">
              <a:avLst/>
            </a:prstGeom>
            <a:solidFill>
              <a:schemeClr val="accent2"/>
            </a:solid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1"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Can provide the origin of a call and information on the device, to identify if call was made from a legitimate source</a:t>
              </a:r>
            </a:p>
          </p:txBody>
        </p:sp>
        <p:sp>
          <p:nvSpPr>
            <p:cNvPr id="16" name="TextBox 15">
              <a:extLst>
                <a:ext uri="{FF2B5EF4-FFF2-40B4-BE49-F238E27FC236}">
                  <a16:creationId xmlns:a16="http://schemas.microsoft.com/office/drawing/2014/main" id="{C15307F6-C897-A82D-47DD-97CB8AB46618}"/>
                </a:ext>
              </a:extLst>
            </p:cNvPr>
            <p:cNvSpPr txBox="1"/>
            <p:nvPr/>
          </p:nvSpPr>
          <p:spPr>
            <a:xfrm>
              <a:off x="8299819" y="5438505"/>
              <a:ext cx="1800000" cy="474845"/>
            </a:xfrm>
            <a:prstGeom prst="rect">
              <a:avLst/>
            </a:prstGeom>
            <a:solidFill>
              <a:schemeClr val="accent2"/>
            </a:solid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1"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Can provide data on user activity, such as login attempts from unusual locations or devices. </a:t>
              </a:r>
            </a:p>
          </p:txBody>
        </p:sp>
        <p:pic>
          <p:nvPicPr>
            <p:cNvPr id="19" name="Picture 18">
              <a:extLst>
                <a:ext uri="{FF2B5EF4-FFF2-40B4-BE49-F238E27FC236}">
                  <a16:creationId xmlns:a16="http://schemas.microsoft.com/office/drawing/2014/main" id="{A306F0C2-DD05-6DDC-1899-FA07186EBE0E}"/>
                </a:ext>
              </a:extLst>
            </p:cNvPr>
            <p:cNvPicPr>
              <a:picLocks noChangeAspect="1"/>
            </p:cNvPicPr>
            <p:nvPr>
              <p:custDataLst>
                <p:tags r:id="rId3"/>
              </p:custDataLst>
            </p:nvPr>
          </p:nvPicPr>
          <p:blipFill>
            <a:blip r:embed="rId6">
              <a:grayscl/>
              <a:extLst>
                <a:ext uri="{28A0092B-C50C-407E-A947-70E740481C1C}">
                  <a14:useLocalDpi xmlns:a14="http://schemas.microsoft.com/office/drawing/2010/main"/>
                </a:ext>
              </a:extLst>
            </a:blip>
            <a:stretch>
              <a:fillRect/>
            </a:stretch>
          </p:blipFill>
          <p:spPr>
            <a:xfrm>
              <a:off x="7814272" y="3017970"/>
              <a:ext cx="1825355" cy="1834251"/>
            </a:xfrm>
            <a:prstGeom prst="rect">
              <a:avLst/>
            </a:prstGeom>
            <a:ln>
              <a:noFill/>
            </a:ln>
          </p:spPr>
        </p:pic>
        <p:sp>
          <p:nvSpPr>
            <p:cNvPr id="20" name="Oval 19">
              <a:extLst>
                <a:ext uri="{FF2B5EF4-FFF2-40B4-BE49-F238E27FC236}">
                  <a16:creationId xmlns:a16="http://schemas.microsoft.com/office/drawing/2014/main" id="{A17D1768-2D32-E2B7-B8D5-80F9580389EB}"/>
                </a:ext>
              </a:extLst>
            </p:cNvPr>
            <p:cNvSpPr/>
            <p:nvPr/>
          </p:nvSpPr>
          <p:spPr bwMode="gray">
            <a:xfrm>
              <a:off x="8299957" y="3514463"/>
              <a:ext cx="798109" cy="798109"/>
            </a:xfrm>
            <a:prstGeom prst="ellipse">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21" name="Rectangle 20">
              <a:extLst>
                <a:ext uri="{FF2B5EF4-FFF2-40B4-BE49-F238E27FC236}">
                  <a16:creationId xmlns:a16="http://schemas.microsoft.com/office/drawing/2014/main" id="{2B3B18D7-2B57-268E-38D0-CA5452D57570}"/>
                </a:ext>
              </a:extLst>
            </p:cNvPr>
            <p:cNvSpPr/>
            <p:nvPr/>
          </p:nvSpPr>
          <p:spPr bwMode="gray">
            <a:xfrm>
              <a:off x="8311624" y="3712277"/>
              <a:ext cx="786442" cy="440610"/>
            </a:xfrm>
            <a:prstGeom prst="rect">
              <a:avLst/>
            </a:prstGeom>
            <a:no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3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CENTRAL UTILITY</a:t>
              </a:r>
            </a:p>
          </p:txBody>
        </p:sp>
        <p:sp>
          <p:nvSpPr>
            <p:cNvPr id="45" name="Rectangle: Rounded Corners 44">
              <a:extLst>
                <a:ext uri="{FF2B5EF4-FFF2-40B4-BE49-F238E27FC236}">
                  <a16:creationId xmlns:a16="http://schemas.microsoft.com/office/drawing/2014/main" id="{EF090E4F-C2DE-3ADC-DF7F-C39D4C1A02C9}"/>
                </a:ext>
              </a:extLst>
            </p:cNvPr>
            <p:cNvSpPr/>
            <p:nvPr/>
          </p:nvSpPr>
          <p:spPr bwMode="gray">
            <a:xfrm>
              <a:off x="9951436" y="4022357"/>
              <a:ext cx="1362272" cy="286795"/>
            </a:xfrm>
            <a:prstGeom prst="roundRect">
              <a:avLst>
                <a:gd name="adj" fmla="val 50000"/>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Insurance</a:t>
              </a:r>
            </a:p>
          </p:txBody>
        </p:sp>
        <p:sp>
          <p:nvSpPr>
            <p:cNvPr id="47" name="TextBox 46">
              <a:extLst>
                <a:ext uri="{FF2B5EF4-FFF2-40B4-BE49-F238E27FC236}">
                  <a16:creationId xmlns:a16="http://schemas.microsoft.com/office/drawing/2014/main" id="{D4D842E6-271C-BC58-E815-33C846EAD07B}"/>
                </a:ext>
              </a:extLst>
            </p:cNvPr>
            <p:cNvSpPr txBox="1"/>
            <p:nvPr/>
          </p:nvSpPr>
          <p:spPr>
            <a:xfrm>
              <a:off x="9939341" y="4318540"/>
              <a:ext cx="1800000" cy="474845"/>
            </a:xfrm>
            <a:prstGeom prst="rect">
              <a:avLst/>
            </a:prstGeom>
            <a:solidFill>
              <a:schemeClr val="accent2"/>
            </a:solid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1"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Can share claims, underwriting, and policy servicing intelligence to help identify synthetic identities.</a:t>
              </a:r>
            </a:p>
          </p:txBody>
        </p:sp>
      </p:grpSp>
      <p:grpSp>
        <p:nvGrpSpPr>
          <p:cNvPr id="60" name="Group 59">
            <a:extLst>
              <a:ext uri="{FF2B5EF4-FFF2-40B4-BE49-F238E27FC236}">
                <a16:creationId xmlns:a16="http://schemas.microsoft.com/office/drawing/2014/main" id="{316D3907-7331-9B79-1801-5088F4A484CC}"/>
              </a:ext>
            </a:extLst>
          </p:cNvPr>
          <p:cNvGrpSpPr/>
          <p:nvPr/>
        </p:nvGrpSpPr>
        <p:grpSpPr>
          <a:xfrm>
            <a:off x="187298" y="5894463"/>
            <a:ext cx="5892039" cy="738376"/>
            <a:chOff x="260465" y="6067223"/>
            <a:chExt cx="5546166" cy="738376"/>
          </a:xfrm>
        </p:grpSpPr>
        <p:sp>
          <p:nvSpPr>
            <p:cNvPr id="39" name="Text 53">
              <a:extLst>
                <a:ext uri="{FF2B5EF4-FFF2-40B4-BE49-F238E27FC236}">
                  <a16:creationId xmlns:a16="http://schemas.microsoft.com/office/drawing/2014/main" id="{10CD8704-7935-0287-77A8-5DE04562388A}"/>
                </a:ext>
              </a:extLst>
            </p:cNvPr>
            <p:cNvSpPr/>
            <p:nvPr/>
          </p:nvSpPr>
          <p:spPr>
            <a:xfrm>
              <a:off x="260465" y="6075525"/>
              <a:ext cx="1059842" cy="730074"/>
            </a:xfrm>
            <a:prstGeom prst="roundRect">
              <a:avLst/>
            </a:prstGeom>
            <a:solidFill>
              <a:schemeClr val="accent1"/>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45"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THE SHIFT</a:t>
              </a:r>
              <a:endParaRPr kumimoji="0" lang="en-US" sz="14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41" name="Text 54">
              <a:extLst>
                <a:ext uri="{FF2B5EF4-FFF2-40B4-BE49-F238E27FC236}">
                  <a16:creationId xmlns:a16="http://schemas.microsoft.com/office/drawing/2014/main" id="{5FBFB928-F13E-8290-6223-D5A8AE067566}"/>
                </a:ext>
              </a:extLst>
            </p:cNvPr>
            <p:cNvSpPr/>
            <p:nvPr/>
          </p:nvSpPr>
          <p:spPr>
            <a:xfrm>
              <a:off x="1401393" y="6236395"/>
              <a:ext cx="4405238" cy="391729"/>
            </a:xfrm>
            <a:prstGeom prst="roundRect">
              <a:avLst/>
            </a:prstGeom>
            <a:noFill/>
            <a:ln/>
          </p:spPr>
          <p:txBody>
            <a:bodyPr wrap="square" lIns="0" tIns="0" rIns="0" bIns="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From private, institution-by-institution effort to public-sector leadership in building the shared infrastructure the industry needs.</a:t>
              </a:r>
              <a:endParaRPr kumimoji="0" lang="en-US" sz="14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59" name="Rectangle 58">
              <a:extLst>
                <a:ext uri="{FF2B5EF4-FFF2-40B4-BE49-F238E27FC236}">
                  <a16:creationId xmlns:a16="http://schemas.microsoft.com/office/drawing/2014/main" id="{0A2938C0-60DE-47E4-89B4-B9E0EE234757}"/>
                </a:ext>
              </a:extLst>
            </p:cNvPr>
            <p:cNvSpPr/>
            <p:nvPr/>
          </p:nvSpPr>
          <p:spPr>
            <a:xfrm>
              <a:off x="260466" y="6067223"/>
              <a:ext cx="5546165" cy="730074"/>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FFFFFF"/>
                </a:solidFill>
                <a:effectLst/>
                <a:uLnTx/>
                <a:uFillTx/>
                <a:latin typeface="Arial"/>
                <a:ea typeface="+mn-ea"/>
                <a:cs typeface="+mn-cs"/>
                <a:sym typeface="Arial"/>
              </a:endParaRPr>
            </a:p>
          </p:txBody>
        </p:sp>
      </p:grpSp>
      <p:sp>
        <p:nvSpPr>
          <p:cNvPr id="28" name="TextBox 27">
            <a:extLst>
              <a:ext uri="{FF2B5EF4-FFF2-40B4-BE49-F238E27FC236}">
                <a16:creationId xmlns:a16="http://schemas.microsoft.com/office/drawing/2014/main" id="{EC4D6ED7-2807-FFD2-CB56-4C2CCCD1E440}"/>
              </a:ext>
            </a:extLst>
          </p:cNvPr>
          <p:cNvSpPr txBox="1"/>
          <p:nvPr/>
        </p:nvSpPr>
        <p:spPr>
          <a:xfrm>
            <a:off x="320040" y="2002732"/>
            <a:ext cx="5989320" cy="20005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6BC25"/>
                </a:solidFill>
                <a:effectLst/>
                <a:uLnTx/>
                <a:uFillTx/>
                <a:latin typeface="Segoe UI"/>
                <a:ea typeface="+mn-ea"/>
                <a:cs typeface="Arial"/>
                <a:sym typeface="Arial"/>
              </a:rPr>
              <a:t>WHAT A CENTRALIZED UTILITY ENABLES </a:t>
            </a:r>
            <a:endParaRPr kumimoji="0" lang="en-US" sz="1300" b="0" i="0" u="none" strike="noStrike" kern="1200" cap="none" spc="0" normalizeH="0" baseline="0" noProof="0" dirty="0">
              <a:ln>
                <a:noFill/>
              </a:ln>
              <a:solidFill>
                <a:srgbClr val="86BC25"/>
              </a:solidFill>
              <a:effectLst/>
              <a:uLnTx/>
              <a:uFillTx/>
              <a:latin typeface="Segoe UI"/>
              <a:ea typeface="+mn-ea"/>
              <a:cs typeface="Arial"/>
              <a:sym typeface="Arial"/>
            </a:endParaRPr>
          </a:p>
        </p:txBody>
      </p:sp>
      <p:sp>
        <p:nvSpPr>
          <p:cNvPr id="150" name="Rounded Rectangle 7">
            <a:extLst>
              <a:ext uri="{FF2B5EF4-FFF2-40B4-BE49-F238E27FC236}">
                <a16:creationId xmlns:a16="http://schemas.microsoft.com/office/drawing/2014/main" id="{1FED7905-2951-CAED-9721-3B61E82929D8}"/>
              </a:ext>
            </a:extLst>
          </p:cNvPr>
          <p:cNvSpPr/>
          <p:nvPr/>
        </p:nvSpPr>
        <p:spPr>
          <a:xfrm>
            <a:off x="187298" y="2450831"/>
            <a:ext cx="1666662" cy="915209"/>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sp>
        <p:nvSpPr>
          <p:cNvPr id="152" name="TextBox 151">
            <a:extLst>
              <a:ext uri="{FF2B5EF4-FFF2-40B4-BE49-F238E27FC236}">
                <a16:creationId xmlns:a16="http://schemas.microsoft.com/office/drawing/2014/main" id="{2FCB0A1F-C2DA-A496-73ED-4E5B85B11A25}"/>
              </a:ext>
            </a:extLst>
          </p:cNvPr>
          <p:cNvSpPr txBox="1"/>
          <p:nvPr/>
        </p:nvSpPr>
        <p:spPr>
          <a:xfrm>
            <a:off x="282090" y="2919511"/>
            <a:ext cx="1554608" cy="33855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dirty="0">
                <a:ln>
                  <a:noFill/>
                </a:ln>
                <a:solidFill>
                  <a:srgbClr val="000000">
                    <a:lumMod val="65000"/>
                    <a:lumOff val="35000"/>
                  </a:srgbClr>
                </a:solidFill>
                <a:effectLst/>
                <a:uLnTx/>
                <a:uFillTx/>
                <a:latin typeface="Segoe UI"/>
                <a:ea typeface="+mn-ea"/>
                <a:cs typeface="Arial"/>
                <a:sym typeface="Arial"/>
              </a:rPr>
              <a:t>Data standardization &amp; poor quality</a:t>
            </a:r>
          </a:p>
        </p:txBody>
      </p:sp>
      <p:sp>
        <p:nvSpPr>
          <p:cNvPr id="154" name="Chevron 10">
            <a:extLst>
              <a:ext uri="{FF2B5EF4-FFF2-40B4-BE49-F238E27FC236}">
                <a16:creationId xmlns:a16="http://schemas.microsoft.com/office/drawing/2014/main" id="{F136E8A9-6618-F927-4F54-AD7471F92F00}"/>
              </a:ext>
            </a:extLst>
          </p:cNvPr>
          <p:cNvSpPr/>
          <p:nvPr/>
        </p:nvSpPr>
        <p:spPr>
          <a:xfrm>
            <a:off x="2001307" y="2720580"/>
            <a:ext cx="219456" cy="310896"/>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sp>
        <p:nvSpPr>
          <p:cNvPr id="155" name="Rounded Rectangle 11">
            <a:extLst>
              <a:ext uri="{FF2B5EF4-FFF2-40B4-BE49-F238E27FC236}">
                <a16:creationId xmlns:a16="http://schemas.microsoft.com/office/drawing/2014/main" id="{95C3B6B9-52FE-189D-A6C3-3795DA7FFA8A}"/>
              </a:ext>
            </a:extLst>
          </p:cNvPr>
          <p:cNvSpPr/>
          <p:nvPr/>
        </p:nvSpPr>
        <p:spPr>
          <a:xfrm>
            <a:off x="2353636" y="2450831"/>
            <a:ext cx="3725701" cy="915209"/>
          </a:xfrm>
          <a:prstGeom prst="roundRect">
            <a:avLst>
              <a:gd name="adj" fmla="val 8000"/>
            </a:avLst>
          </a:prstGeom>
          <a:solidFill>
            <a:schemeClr val="accent1"/>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grpSp>
        <p:nvGrpSpPr>
          <p:cNvPr id="193" name="Group 192">
            <a:extLst>
              <a:ext uri="{FF2B5EF4-FFF2-40B4-BE49-F238E27FC236}">
                <a16:creationId xmlns:a16="http://schemas.microsoft.com/office/drawing/2014/main" id="{2BDBD392-4F20-96B3-311B-C2E298637602}"/>
              </a:ext>
            </a:extLst>
          </p:cNvPr>
          <p:cNvGrpSpPr/>
          <p:nvPr/>
        </p:nvGrpSpPr>
        <p:grpSpPr>
          <a:xfrm>
            <a:off x="2477962" y="2586824"/>
            <a:ext cx="576000" cy="576000"/>
            <a:chOff x="2857345" y="2907838"/>
            <a:chExt cx="530352" cy="530352"/>
          </a:xfrm>
          <a:solidFill>
            <a:schemeClr val="accent2"/>
          </a:solidFill>
        </p:grpSpPr>
        <p:sp>
          <p:nvSpPr>
            <p:cNvPr id="156" name="Oval 155">
              <a:extLst>
                <a:ext uri="{FF2B5EF4-FFF2-40B4-BE49-F238E27FC236}">
                  <a16:creationId xmlns:a16="http://schemas.microsoft.com/office/drawing/2014/main" id="{045A4BDA-2A65-DD62-3F3F-544F0E3CA698}"/>
                </a:ext>
              </a:extLst>
            </p:cNvPr>
            <p:cNvSpPr/>
            <p:nvPr/>
          </p:nvSpPr>
          <p:spPr>
            <a:xfrm>
              <a:off x="2857345" y="2907838"/>
              <a:ext cx="530352" cy="530352"/>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pic>
          <p:nvPicPr>
            <p:cNvPr id="157" name="Picture 156" descr="image.png">
              <a:extLst>
                <a:ext uri="{FF2B5EF4-FFF2-40B4-BE49-F238E27FC236}">
                  <a16:creationId xmlns:a16="http://schemas.microsoft.com/office/drawing/2014/main" id="{15127256-0AEE-36DB-4FE0-87B05E17C050}"/>
                </a:ext>
              </a:extLst>
            </p:cNvPr>
            <p:cNvPicPr>
              <a:picLocks noChangeAspect="1"/>
            </p:cNvPicPr>
            <p:nvPr/>
          </p:nvPicPr>
          <p:blipFill>
            <a:blip r:embed="rId7"/>
            <a:stretch>
              <a:fillRect/>
            </a:stretch>
          </p:blipFill>
          <p:spPr>
            <a:xfrm>
              <a:off x="2974022" y="3024515"/>
              <a:ext cx="296997" cy="296997"/>
            </a:xfrm>
            <a:prstGeom prst="rect">
              <a:avLst/>
            </a:prstGeom>
            <a:grpFill/>
          </p:spPr>
        </p:pic>
      </p:grpSp>
      <p:sp>
        <p:nvSpPr>
          <p:cNvPr id="158" name="TextBox 157">
            <a:extLst>
              <a:ext uri="{FF2B5EF4-FFF2-40B4-BE49-F238E27FC236}">
                <a16:creationId xmlns:a16="http://schemas.microsoft.com/office/drawing/2014/main" id="{0A289AD0-9A2F-3DAE-1677-1F1D0591F53D}"/>
              </a:ext>
            </a:extLst>
          </p:cNvPr>
          <p:cNvSpPr txBox="1"/>
          <p:nvPr/>
        </p:nvSpPr>
        <p:spPr>
          <a:xfrm>
            <a:off x="3146640" y="2544278"/>
            <a:ext cx="2578607"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FFFFFF"/>
                </a:solidFill>
                <a:effectLst/>
                <a:uLnTx/>
                <a:uFillTx/>
                <a:latin typeface="Segoe UI"/>
                <a:ea typeface="+mn-ea"/>
                <a:cs typeface="Arial"/>
                <a:sym typeface="Arial"/>
              </a:rPr>
              <a:t>COMMON STANDARDS</a:t>
            </a:r>
          </a:p>
        </p:txBody>
      </p:sp>
      <p:sp>
        <p:nvSpPr>
          <p:cNvPr id="159" name="TextBox 158">
            <a:extLst>
              <a:ext uri="{FF2B5EF4-FFF2-40B4-BE49-F238E27FC236}">
                <a16:creationId xmlns:a16="http://schemas.microsoft.com/office/drawing/2014/main" id="{5A1DB5C4-8E00-BD94-3E3F-EF753AECFE76}"/>
              </a:ext>
            </a:extLst>
          </p:cNvPr>
          <p:cNvSpPr txBox="1"/>
          <p:nvPr/>
        </p:nvSpPr>
        <p:spPr>
          <a:xfrm>
            <a:off x="3146640" y="2789160"/>
            <a:ext cx="2841257" cy="5078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dirty="0">
                <a:ln>
                  <a:noFill/>
                </a:ln>
                <a:solidFill>
                  <a:srgbClr val="FFFFFF"/>
                </a:solidFill>
                <a:effectLst/>
                <a:uLnTx/>
                <a:uFillTx/>
                <a:latin typeface="Segoe UI"/>
                <a:ea typeface="+mn-ea"/>
                <a:cs typeface="Arial"/>
                <a:sym typeface="Arial"/>
              </a:rPr>
              <a:t>Shared data models, definitions and validation rules raise quality across every contributor.</a:t>
            </a:r>
          </a:p>
        </p:txBody>
      </p:sp>
      <p:sp>
        <p:nvSpPr>
          <p:cNvPr id="151" name="TextBox 150">
            <a:extLst>
              <a:ext uri="{FF2B5EF4-FFF2-40B4-BE49-F238E27FC236}">
                <a16:creationId xmlns:a16="http://schemas.microsoft.com/office/drawing/2014/main" id="{89C6F756-2F87-F464-0B31-79B63D27A077}"/>
              </a:ext>
            </a:extLst>
          </p:cNvPr>
          <p:cNvSpPr txBox="1"/>
          <p:nvPr/>
        </p:nvSpPr>
        <p:spPr>
          <a:xfrm>
            <a:off x="842411" y="2563286"/>
            <a:ext cx="548461" cy="30777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000000">
                    <a:lumMod val="65000"/>
                    <a:lumOff val="35000"/>
                  </a:srgbClr>
                </a:solidFill>
                <a:effectLst/>
                <a:uLnTx/>
                <a:uFillTx/>
                <a:latin typeface="Segoe UI"/>
                <a:ea typeface="+mn-ea"/>
                <a:cs typeface="Arial"/>
                <a:sym typeface="Arial"/>
              </a:rPr>
              <a:t>77%</a:t>
            </a:r>
          </a:p>
        </p:txBody>
      </p:sp>
      <p:grpSp>
        <p:nvGrpSpPr>
          <p:cNvPr id="178" name="Group 177">
            <a:extLst>
              <a:ext uri="{FF2B5EF4-FFF2-40B4-BE49-F238E27FC236}">
                <a16:creationId xmlns:a16="http://schemas.microsoft.com/office/drawing/2014/main" id="{FDA93166-B844-CF11-6E04-7E8747FC9364}"/>
              </a:ext>
            </a:extLst>
          </p:cNvPr>
          <p:cNvGrpSpPr/>
          <p:nvPr/>
        </p:nvGrpSpPr>
        <p:grpSpPr>
          <a:xfrm>
            <a:off x="367990" y="2538384"/>
            <a:ext cx="342000" cy="342000"/>
            <a:chOff x="954380" y="2802104"/>
            <a:chExt cx="683808" cy="683808"/>
          </a:xfrm>
          <a:solidFill>
            <a:schemeClr val="tx1">
              <a:lumMod val="50000"/>
              <a:lumOff val="50000"/>
            </a:schemeClr>
          </a:solidFill>
        </p:grpSpPr>
        <p:sp>
          <p:nvSpPr>
            <p:cNvPr id="179" name="Rounded Rectangle 11">
              <a:extLst>
                <a:ext uri="{FF2B5EF4-FFF2-40B4-BE49-F238E27FC236}">
                  <a16:creationId xmlns:a16="http://schemas.microsoft.com/office/drawing/2014/main" id="{A5E4321E-5BE3-E2BB-E1C5-5F31686A99DF}"/>
                </a:ext>
              </a:extLst>
            </p:cNvPr>
            <p:cNvSpPr/>
            <p:nvPr/>
          </p:nvSpPr>
          <p:spPr>
            <a:xfrm>
              <a:off x="954380" y="2802104"/>
              <a:ext cx="683808" cy="683808"/>
            </a:xfrm>
            <a:prstGeom prst="roundRect">
              <a:avLst>
                <a:gd name="adj" fmla="val 50000"/>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80" name="Picture 179" descr="ic_data_w.png">
              <a:extLst>
                <a:ext uri="{FF2B5EF4-FFF2-40B4-BE49-F238E27FC236}">
                  <a16:creationId xmlns:a16="http://schemas.microsoft.com/office/drawing/2014/main" id="{08E7852D-64D0-B8FD-94C1-7C6F0F8F14E2}"/>
                </a:ext>
              </a:extLst>
            </p:cNvPr>
            <p:cNvPicPr>
              <a:picLocks noChangeAspect="1"/>
            </p:cNvPicPr>
            <p:nvPr/>
          </p:nvPicPr>
          <p:blipFill>
            <a:blip r:embed="rId7"/>
            <a:stretch>
              <a:fillRect/>
            </a:stretch>
          </p:blipFill>
          <p:spPr>
            <a:xfrm>
              <a:off x="1104818" y="2952541"/>
              <a:ext cx="382932" cy="382932"/>
            </a:xfrm>
            <a:prstGeom prst="rect">
              <a:avLst/>
            </a:prstGeom>
            <a:grpFill/>
          </p:spPr>
        </p:pic>
      </p:grpSp>
      <p:sp>
        <p:nvSpPr>
          <p:cNvPr id="160" name="Rounded Rectangle 16">
            <a:extLst>
              <a:ext uri="{FF2B5EF4-FFF2-40B4-BE49-F238E27FC236}">
                <a16:creationId xmlns:a16="http://schemas.microsoft.com/office/drawing/2014/main" id="{4075A56C-DA09-D32A-E0C3-930384804B58}"/>
              </a:ext>
            </a:extLst>
          </p:cNvPr>
          <p:cNvSpPr/>
          <p:nvPr/>
        </p:nvSpPr>
        <p:spPr>
          <a:xfrm>
            <a:off x="187298" y="3592081"/>
            <a:ext cx="1666662" cy="915209"/>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sp>
        <p:nvSpPr>
          <p:cNvPr id="162" name="TextBox 161">
            <a:extLst>
              <a:ext uri="{FF2B5EF4-FFF2-40B4-BE49-F238E27FC236}">
                <a16:creationId xmlns:a16="http://schemas.microsoft.com/office/drawing/2014/main" id="{715CE459-62C7-3BDA-CE98-F17EC8DB9F11}"/>
              </a:ext>
            </a:extLst>
          </p:cNvPr>
          <p:cNvSpPr txBox="1"/>
          <p:nvPr/>
        </p:nvSpPr>
        <p:spPr>
          <a:xfrm>
            <a:off x="282090" y="4060762"/>
            <a:ext cx="1554608" cy="33855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dirty="0">
                <a:ln>
                  <a:noFill/>
                </a:ln>
                <a:solidFill>
                  <a:srgbClr val="000000">
                    <a:lumMod val="65000"/>
                    <a:lumOff val="35000"/>
                  </a:srgbClr>
                </a:solidFill>
                <a:effectLst/>
                <a:uLnTx/>
                <a:uFillTx/>
                <a:latin typeface="Segoe UI"/>
                <a:ea typeface="+mn-ea"/>
                <a:cs typeface="Arial"/>
                <a:sym typeface="Arial"/>
              </a:rPr>
              <a:t>Legal, privacy &amp; regulatory constraints</a:t>
            </a:r>
          </a:p>
        </p:txBody>
      </p:sp>
      <p:sp>
        <p:nvSpPr>
          <p:cNvPr id="163" name="Chevron 19">
            <a:extLst>
              <a:ext uri="{FF2B5EF4-FFF2-40B4-BE49-F238E27FC236}">
                <a16:creationId xmlns:a16="http://schemas.microsoft.com/office/drawing/2014/main" id="{B8FF7D98-9377-C575-0528-63394B60F899}"/>
              </a:ext>
            </a:extLst>
          </p:cNvPr>
          <p:cNvSpPr/>
          <p:nvPr/>
        </p:nvSpPr>
        <p:spPr>
          <a:xfrm>
            <a:off x="2001307" y="3861830"/>
            <a:ext cx="219456" cy="310896"/>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sp>
        <p:nvSpPr>
          <p:cNvPr id="164" name="Rounded Rectangle 20">
            <a:extLst>
              <a:ext uri="{FF2B5EF4-FFF2-40B4-BE49-F238E27FC236}">
                <a16:creationId xmlns:a16="http://schemas.microsoft.com/office/drawing/2014/main" id="{DAB717F4-3066-A447-7EA8-0CD4962CF44E}"/>
              </a:ext>
            </a:extLst>
          </p:cNvPr>
          <p:cNvSpPr/>
          <p:nvPr/>
        </p:nvSpPr>
        <p:spPr>
          <a:xfrm>
            <a:off x="2353636" y="3592081"/>
            <a:ext cx="3725701" cy="915209"/>
          </a:xfrm>
          <a:prstGeom prst="roundRect">
            <a:avLst>
              <a:gd name="adj" fmla="val 8000"/>
            </a:avLst>
          </a:prstGeom>
          <a:solidFill>
            <a:schemeClr val="accent1"/>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grpSp>
        <p:nvGrpSpPr>
          <p:cNvPr id="192" name="Group 191">
            <a:extLst>
              <a:ext uri="{FF2B5EF4-FFF2-40B4-BE49-F238E27FC236}">
                <a16:creationId xmlns:a16="http://schemas.microsoft.com/office/drawing/2014/main" id="{FD0E4E57-CD09-A5B0-5B3C-A57F60874A60}"/>
              </a:ext>
            </a:extLst>
          </p:cNvPr>
          <p:cNvGrpSpPr/>
          <p:nvPr/>
        </p:nvGrpSpPr>
        <p:grpSpPr>
          <a:xfrm>
            <a:off x="2477962" y="3728074"/>
            <a:ext cx="576000" cy="576000"/>
            <a:chOff x="2857345" y="3849670"/>
            <a:chExt cx="530352" cy="530352"/>
          </a:xfrm>
          <a:solidFill>
            <a:schemeClr val="accent2"/>
          </a:solidFill>
        </p:grpSpPr>
        <p:sp>
          <p:nvSpPr>
            <p:cNvPr id="165" name="Oval 164">
              <a:extLst>
                <a:ext uri="{FF2B5EF4-FFF2-40B4-BE49-F238E27FC236}">
                  <a16:creationId xmlns:a16="http://schemas.microsoft.com/office/drawing/2014/main" id="{20902835-0622-67C3-AEC6-0735343D43AA}"/>
                </a:ext>
              </a:extLst>
            </p:cNvPr>
            <p:cNvSpPr/>
            <p:nvPr/>
          </p:nvSpPr>
          <p:spPr>
            <a:xfrm>
              <a:off x="2857345" y="3849670"/>
              <a:ext cx="530352" cy="530352"/>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pic>
          <p:nvPicPr>
            <p:cNvPr id="166" name="Picture 165" descr="image.png">
              <a:extLst>
                <a:ext uri="{FF2B5EF4-FFF2-40B4-BE49-F238E27FC236}">
                  <a16:creationId xmlns:a16="http://schemas.microsoft.com/office/drawing/2014/main" id="{FA27F0A2-C714-2F79-6FBB-BACBB1ACC994}"/>
                </a:ext>
              </a:extLst>
            </p:cNvPr>
            <p:cNvPicPr>
              <a:picLocks noChangeAspect="1"/>
            </p:cNvPicPr>
            <p:nvPr/>
          </p:nvPicPr>
          <p:blipFill>
            <a:blip r:embed="rId8"/>
            <a:stretch>
              <a:fillRect/>
            </a:stretch>
          </p:blipFill>
          <p:spPr>
            <a:xfrm>
              <a:off x="2974022" y="3966347"/>
              <a:ext cx="296997" cy="296997"/>
            </a:xfrm>
            <a:prstGeom prst="rect">
              <a:avLst/>
            </a:prstGeom>
            <a:grpFill/>
          </p:spPr>
        </p:pic>
      </p:grpSp>
      <p:sp>
        <p:nvSpPr>
          <p:cNvPr id="167" name="TextBox 166">
            <a:extLst>
              <a:ext uri="{FF2B5EF4-FFF2-40B4-BE49-F238E27FC236}">
                <a16:creationId xmlns:a16="http://schemas.microsoft.com/office/drawing/2014/main" id="{9564F5CB-E0A3-C53E-D6B9-6AD55E8D53A3}"/>
              </a:ext>
            </a:extLst>
          </p:cNvPr>
          <p:cNvSpPr txBox="1"/>
          <p:nvPr/>
        </p:nvSpPr>
        <p:spPr>
          <a:xfrm>
            <a:off x="3146640" y="3685528"/>
            <a:ext cx="2578607"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FFFFFF"/>
                </a:solidFill>
                <a:effectLst/>
                <a:uLnTx/>
                <a:uFillTx/>
                <a:latin typeface="Segoe UI"/>
                <a:ea typeface="+mn-ea"/>
                <a:cs typeface="Arial"/>
                <a:sym typeface="Arial"/>
              </a:rPr>
              <a:t>CLEARER GUARDRAILS</a:t>
            </a:r>
          </a:p>
        </p:txBody>
      </p:sp>
      <p:sp>
        <p:nvSpPr>
          <p:cNvPr id="168" name="TextBox 167">
            <a:extLst>
              <a:ext uri="{FF2B5EF4-FFF2-40B4-BE49-F238E27FC236}">
                <a16:creationId xmlns:a16="http://schemas.microsoft.com/office/drawing/2014/main" id="{4E4E249B-5044-CEC6-D030-B0603D5046E0}"/>
              </a:ext>
            </a:extLst>
          </p:cNvPr>
          <p:cNvSpPr txBox="1"/>
          <p:nvPr/>
        </p:nvSpPr>
        <p:spPr>
          <a:xfrm>
            <a:off x="3146640" y="3930410"/>
            <a:ext cx="2841257" cy="5078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dirty="0">
                <a:ln>
                  <a:noFill/>
                </a:ln>
                <a:solidFill>
                  <a:srgbClr val="FFFFFF"/>
                </a:solidFill>
                <a:effectLst/>
                <a:uLnTx/>
                <a:uFillTx/>
                <a:latin typeface="Segoe UI"/>
                <a:ea typeface="+mn-ea"/>
                <a:cs typeface="Arial"/>
                <a:sym typeface="Arial"/>
              </a:rPr>
              <a:t>One governed framework sets what can be shared, with whom and under what safeguards.</a:t>
            </a:r>
          </a:p>
        </p:txBody>
      </p:sp>
      <p:sp>
        <p:nvSpPr>
          <p:cNvPr id="161" name="TextBox 160">
            <a:extLst>
              <a:ext uri="{FF2B5EF4-FFF2-40B4-BE49-F238E27FC236}">
                <a16:creationId xmlns:a16="http://schemas.microsoft.com/office/drawing/2014/main" id="{B86DAD3E-D208-BEF1-1842-67A0C67CDCA7}"/>
              </a:ext>
            </a:extLst>
          </p:cNvPr>
          <p:cNvSpPr txBox="1"/>
          <p:nvPr/>
        </p:nvSpPr>
        <p:spPr>
          <a:xfrm>
            <a:off x="842411" y="3704537"/>
            <a:ext cx="548461" cy="30777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000000">
                    <a:lumMod val="65000"/>
                    <a:lumOff val="35000"/>
                  </a:srgbClr>
                </a:solidFill>
                <a:effectLst/>
                <a:uLnTx/>
                <a:uFillTx/>
                <a:latin typeface="Segoe UI"/>
                <a:ea typeface="+mn-ea"/>
                <a:cs typeface="Arial"/>
                <a:sym typeface="Arial"/>
              </a:rPr>
              <a:t>73%</a:t>
            </a:r>
          </a:p>
        </p:txBody>
      </p:sp>
      <p:grpSp>
        <p:nvGrpSpPr>
          <p:cNvPr id="181" name="Group 180">
            <a:extLst>
              <a:ext uri="{FF2B5EF4-FFF2-40B4-BE49-F238E27FC236}">
                <a16:creationId xmlns:a16="http://schemas.microsoft.com/office/drawing/2014/main" id="{1FE75C59-F2FD-24E5-29EC-07345705C9D6}"/>
              </a:ext>
            </a:extLst>
          </p:cNvPr>
          <p:cNvGrpSpPr/>
          <p:nvPr/>
        </p:nvGrpSpPr>
        <p:grpSpPr>
          <a:xfrm>
            <a:off x="367990" y="3679634"/>
            <a:ext cx="342000" cy="342000"/>
            <a:chOff x="4922876" y="2802104"/>
            <a:chExt cx="683808" cy="683808"/>
          </a:xfrm>
          <a:solidFill>
            <a:schemeClr val="tx1">
              <a:lumMod val="50000"/>
              <a:lumOff val="50000"/>
            </a:schemeClr>
          </a:solidFill>
        </p:grpSpPr>
        <p:sp>
          <p:nvSpPr>
            <p:cNvPr id="182" name="Rounded Rectangle 21">
              <a:extLst>
                <a:ext uri="{FF2B5EF4-FFF2-40B4-BE49-F238E27FC236}">
                  <a16:creationId xmlns:a16="http://schemas.microsoft.com/office/drawing/2014/main" id="{033EB593-F2AB-8800-6AE5-80F2710C842A}"/>
                </a:ext>
              </a:extLst>
            </p:cNvPr>
            <p:cNvSpPr/>
            <p:nvPr/>
          </p:nvSpPr>
          <p:spPr>
            <a:xfrm>
              <a:off x="4922876" y="2802104"/>
              <a:ext cx="683808" cy="683808"/>
            </a:xfrm>
            <a:prstGeom prst="roundRect">
              <a:avLst>
                <a:gd name="adj" fmla="val 50000"/>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83" name="Picture 182" descr="image.png">
              <a:extLst>
                <a:ext uri="{FF2B5EF4-FFF2-40B4-BE49-F238E27FC236}">
                  <a16:creationId xmlns:a16="http://schemas.microsoft.com/office/drawing/2014/main" id="{343209F2-5776-8D50-87C2-562876F2F9A0}"/>
                </a:ext>
              </a:extLst>
            </p:cNvPr>
            <p:cNvPicPr>
              <a:picLocks noChangeAspect="1"/>
            </p:cNvPicPr>
            <p:nvPr/>
          </p:nvPicPr>
          <p:blipFill>
            <a:blip r:embed="rId8"/>
            <a:stretch>
              <a:fillRect/>
            </a:stretch>
          </p:blipFill>
          <p:spPr>
            <a:xfrm>
              <a:off x="5073314" y="2952541"/>
              <a:ext cx="382932" cy="382932"/>
            </a:xfrm>
            <a:prstGeom prst="rect">
              <a:avLst/>
            </a:prstGeom>
            <a:grpFill/>
          </p:spPr>
        </p:pic>
      </p:grpSp>
      <p:sp>
        <p:nvSpPr>
          <p:cNvPr id="169" name="Rounded Rectangle 25">
            <a:extLst>
              <a:ext uri="{FF2B5EF4-FFF2-40B4-BE49-F238E27FC236}">
                <a16:creationId xmlns:a16="http://schemas.microsoft.com/office/drawing/2014/main" id="{8CE9AEC9-45EC-3F30-21F8-53CE5135CC06}"/>
              </a:ext>
            </a:extLst>
          </p:cNvPr>
          <p:cNvSpPr/>
          <p:nvPr/>
        </p:nvSpPr>
        <p:spPr>
          <a:xfrm>
            <a:off x="187298" y="4733331"/>
            <a:ext cx="1666662" cy="915209"/>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sp>
        <p:nvSpPr>
          <p:cNvPr id="171" name="TextBox 170">
            <a:extLst>
              <a:ext uri="{FF2B5EF4-FFF2-40B4-BE49-F238E27FC236}">
                <a16:creationId xmlns:a16="http://schemas.microsoft.com/office/drawing/2014/main" id="{4D85E624-749E-6C2E-E29E-9EBAB4E939D0}"/>
              </a:ext>
            </a:extLst>
          </p:cNvPr>
          <p:cNvSpPr txBox="1"/>
          <p:nvPr/>
        </p:nvSpPr>
        <p:spPr>
          <a:xfrm>
            <a:off x="282090" y="5202012"/>
            <a:ext cx="1554608" cy="33855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dirty="0">
                <a:ln>
                  <a:noFill/>
                </a:ln>
                <a:solidFill>
                  <a:srgbClr val="000000">
                    <a:lumMod val="65000"/>
                    <a:lumOff val="35000"/>
                  </a:srgbClr>
                </a:solidFill>
                <a:effectLst/>
                <a:uLnTx/>
                <a:uFillTx/>
                <a:latin typeface="Segoe UI"/>
                <a:ea typeface="+mn-ea"/>
                <a:cs typeface="Arial"/>
                <a:sym typeface="Arial"/>
              </a:rPr>
              <a:t>Lack of external industry participation</a:t>
            </a:r>
          </a:p>
        </p:txBody>
      </p:sp>
      <p:sp>
        <p:nvSpPr>
          <p:cNvPr id="172" name="Chevron 28">
            <a:extLst>
              <a:ext uri="{FF2B5EF4-FFF2-40B4-BE49-F238E27FC236}">
                <a16:creationId xmlns:a16="http://schemas.microsoft.com/office/drawing/2014/main" id="{76E1CD78-0378-337B-6B5C-BAA53AADF7B9}"/>
              </a:ext>
            </a:extLst>
          </p:cNvPr>
          <p:cNvSpPr/>
          <p:nvPr/>
        </p:nvSpPr>
        <p:spPr>
          <a:xfrm>
            <a:off x="2001307" y="5003080"/>
            <a:ext cx="219456" cy="310896"/>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sp>
        <p:nvSpPr>
          <p:cNvPr id="173" name="Rounded Rectangle 29">
            <a:extLst>
              <a:ext uri="{FF2B5EF4-FFF2-40B4-BE49-F238E27FC236}">
                <a16:creationId xmlns:a16="http://schemas.microsoft.com/office/drawing/2014/main" id="{FC47FD2D-4A63-596E-63B2-A42E0CDB3CE2}"/>
              </a:ext>
            </a:extLst>
          </p:cNvPr>
          <p:cNvSpPr/>
          <p:nvPr/>
        </p:nvSpPr>
        <p:spPr>
          <a:xfrm>
            <a:off x="2353636" y="4733331"/>
            <a:ext cx="3725701" cy="915209"/>
          </a:xfrm>
          <a:prstGeom prst="roundRect">
            <a:avLst>
              <a:gd name="adj" fmla="val 8000"/>
            </a:avLst>
          </a:prstGeom>
          <a:solidFill>
            <a:schemeClr val="accent1"/>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grpSp>
        <p:nvGrpSpPr>
          <p:cNvPr id="191" name="Group 190">
            <a:extLst>
              <a:ext uri="{FF2B5EF4-FFF2-40B4-BE49-F238E27FC236}">
                <a16:creationId xmlns:a16="http://schemas.microsoft.com/office/drawing/2014/main" id="{3880D3BE-93D9-07EA-DCBD-BC720D4A6BDC}"/>
              </a:ext>
            </a:extLst>
          </p:cNvPr>
          <p:cNvGrpSpPr/>
          <p:nvPr/>
        </p:nvGrpSpPr>
        <p:grpSpPr>
          <a:xfrm>
            <a:off x="2477962" y="4869324"/>
            <a:ext cx="576000" cy="576000"/>
            <a:chOff x="2857345" y="4791502"/>
            <a:chExt cx="530352" cy="530352"/>
          </a:xfrm>
          <a:solidFill>
            <a:schemeClr val="accent2"/>
          </a:solidFill>
        </p:grpSpPr>
        <p:sp>
          <p:nvSpPr>
            <p:cNvPr id="174" name="Oval 173">
              <a:extLst>
                <a:ext uri="{FF2B5EF4-FFF2-40B4-BE49-F238E27FC236}">
                  <a16:creationId xmlns:a16="http://schemas.microsoft.com/office/drawing/2014/main" id="{DDCDE625-2F6C-3BCE-F865-7866EAA47BE1}"/>
                </a:ext>
              </a:extLst>
            </p:cNvPr>
            <p:cNvSpPr/>
            <p:nvPr/>
          </p:nvSpPr>
          <p:spPr>
            <a:xfrm>
              <a:off x="2857345" y="4791502"/>
              <a:ext cx="530352" cy="530352"/>
            </a:xfrm>
            <a:prstGeom prst="ellipse">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pic>
          <p:nvPicPr>
            <p:cNvPr id="175" name="Picture 174" descr="image.png">
              <a:extLst>
                <a:ext uri="{FF2B5EF4-FFF2-40B4-BE49-F238E27FC236}">
                  <a16:creationId xmlns:a16="http://schemas.microsoft.com/office/drawing/2014/main" id="{03AD65A0-19E8-C669-D8CA-15D797F7790D}"/>
                </a:ext>
              </a:extLst>
            </p:cNvPr>
            <p:cNvPicPr>
              <a:picLocks noChangeAspect="1"/>
            </p:cNvPicPr>
            <p:nvPr/>
          </p:nvPicPr>
          <p:blipFill>
            <a:blip r:embed="rId9"/>
            <a:stretch>
              <a:fillRect/>
            </a:stretch>
          </p:blipFill>
          <p:spPr>
            <a:xfrm>
              <a:off x="2974022" y="4908179"/>
              <a:ext cx="296997" cy="296997"/>
            </a:xfrm>
            <a:prstGeom prst="rect">
              <a:avLst/>
            </a:prstGeom>
            <a:grpFill/>
          </p:spPr>
        </p:pic>
      </p:grpSp>
      <p:sp>
        <p:nvSpPr>
          <p:cNvPr id="176" name="TextBox 175">
            <a:extLst>
              <a:ext uri="{FF2B5EF4-FFF2-40B4-BE49-F238E27FC236}">
                <a16:creationId xmlns:a16="http://schemas.microsoft.com/office/drawing/2014/main" id="{32807EA9-E4DA-0C42-D293-5751A25C1376}"/>
              </a:ext>
            </a:extLst>
          </p:cNvPr>
          <p:cNvSpPr txBox="1"/>
          <p:nvPr/>
        </p:nvSpPr>
        <p:spPr>
          <a:xfrm>
            <a:off x="3146640" y="4826778"/>
            <a:ext cx="2578607"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FFFFFF"/>
                </a:solidFill>
                <a:effectLst/>
                <a:uLnTx/>
                <a:uFillTx/>
                <a:latin typeface="Segoe UI"/>
                <a:ea typeface="+mn-ea"/>
                <a:cs typeface="Arial"/>
                <a:sym typeface="Arial"/>
              </a:rPr>
              <a:t>A TRUSTED NETWORK</a:t>
            </a:r>
          </a:p>
        </p:txBody>
      </p:sp>
      <p:sp>
        <p:nvSpPr>
          <p:cNvPr id="177" name="TextBox 176">
            <a:extLst>
              <a:ext uri="{FF2B5EF4-FFF2-40B4-BE49-F238E27FC236}">
                <a16:creationId xmlns:a16="http://schemas.microsoft.com/office/drawing/2014/main" id="{9FE629B8-B58A-663D-E783-8944FA7B9547}"/>
              </a:ext>
            </a:extLst>
          </p:cNvPr>
          <p:cNvSpPr txBox="1"/>
          <p:nvPr/>
        </p:nvSpPr>
        <p:spPr>
          <a:xfrm>
            <a:off x="3146640" y="5071660"/>
            <a:ext cx="2841257" cy="5078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Segoe UI"/>
                <a:ea typeface="+mn-ea"/>
                <a:cs typeface="Arial"/>
                <a:sym typeface="Arial"/>
              </a:rPr>
              <a:t>Shared rules and oversight build trust, giving organizations the confidence to contribute and act on shared intelligence.</a:t>
            </a:r>
            <a:endParaRPr kumimoji="0" sz="1100" b="0" i="0" u="none" strike="noStrike" kern="1200" cap="none" spc="0" normalizeH="0" baseline="0" noProof="0" dirty="0">
              <a:ln>
                <a:noFill/>
              </a:ln>
              <a:solidFill>
                <a:srgbClr val="FFFFFF"/>
              </a:solidFill>
              <a:effectLst/>
              <a:uLnTx/>
              <a:uFillTx/>
              <a:latin typeface="Segoe UI"/>
              <a:ea typeface="+mn-ea"/>
              <a:cs typeface="Arial"/>
              <a:sym typeface="Arial"/>
            </a:endParaRPr>
          </a:p>
        </p:txBody>
      </p:sp>
      <p:sp>
        <p:nvSpPr>
          <p:cNvPr id="170" name="TextBox 169">
            <a:extLst>
              <a:ext uri="{FF2B5EF4-FFF2-40B4-BE49-F238E27FC236}">
                <a16:creationId xmlns:a16="http://schemas.microsoft.com/office/drawing/2014/main" id="{806F1455-1429-9294-5263-C0F32531165F}"/>
              </a:ext>
            </a:extLst>
          </p:cNvPr>
          <p:cNvSpPr txBox="1"/>
          <p:nvPr/>
        </p:nvSpPr>
        <p:spPr>
          <a:xfrm>
            <a:off x="842411" y="4845787"/>
            <a:ext cx="548461" cy="30777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000000">
                    <a:lumMod val="65000"/>
                    <a:lumOff val="35000"/>
                  </a:srgbClr>
                </a:solidFill>
                <a:effectLst/>
                <a:uLnTx/>
                <a:uFillTx/>
                <a:latin typeface="Segoe UI"/>
                <a:ea typeface="+mn-ea"/>
                <a:cs typeface="Arial"/>
                <a:sym typeface="Arial"/>
              </a:rPr>
              <a:t>60%</a:t>
            </a:r>
          </a:p>
        </p:txBody>
      </p:sp>
      <p:grpSp>
        <p:nvGrpSpPr>
          <p:cNvPr id="184" name="Group 183">
            <a:extLst>
              <a:ext uri="{FF2B5EF4-FFF2-40B4-BE49-F238E27FC236}">
                <a16:creationId xmlns:a16="http://schemas.microsoft.com/office/drawing/2014/main" id="{291D2843-B380-D391-6CB2-167478A3605D}"/>
              </a:ext>
            </a:extLst>
          </p:cNvPr>
          <p:cNvGrpSpPr/>
          <p:nvPr/>
        </p:nvGrpSpPr>
        <p:grpSpPr>
          <a:xfrm>
            <a:off x="367990" y="4820884"/>
            <a:ext cx="342000" cy="342000"/>
            <a:chOff x="8891371" y="2802104"/>
            <a:chExt cx="683808" cy="683808"/>
          </a:xfrm>
          <a:solidFill>
            <a:schemeClr val="tx1">
              <a:lumMod val="50000"/>
              <a:lumOff val="50000"/>
            </a:schemeClr>
          </a:solidFill>
        </p:grpSpPr>
        <p:sp>
          <p:nvSpPr>
            <p:cNvPr id="185" name="Rounded Rectangle 31">
              <a:extLst>
                <a:ext uri="{FF2B5EF4-FFF2-40B4-BE49-F238E27FC236}">
                  <a16:creationId xmlns:a16="http://schemas.microsoft.com/office/drawing/2014/main" id="{0ED4CA89-A390-64B7-5DEB-019AC130C77B}"/>
                </a:ext>
              </a:extLst>
            </p:cNvPr>
            <p:cNvSpPr/>
            <p:nvPr/>
          </p:nvSpPr>
          <p:spPr>
            <a:xfrm>
              <a:off x="8891371" y="2802104"/>
              <a:ext cx="683808" cy="683808"/>
            </a:xfrm>
            <a:prstGeom prst="roundRect">
              <a:avLst>
                <a:gd name="adj" fmla="val 50000"/>
              </a:avLst>
            </a:prstGeom>
            <a:gr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86" name="Picture 185" descr="ic_people_w.png">
              <a:extLst>
                <a:ext uri="{FF2B5EF4-FFF2-40B4-BE49-F238E27FC236}">
                  <a16:creationId xmlns:a16="http://schemas.microsoft.com/office/drawing/2014/main" id="{E775A239-D9D1-C8B0-F626-E8BA574A9456}"/>
                </a:ext>
              </a:extLst>
            </p:cNvPr>
            <p:cNvPicPr>
              <a:picLocks noChangeAspect="1"/>
            </p:cNvPicPr>
            <p:nvPr/>
          </p:nvPicPr>
          <p:blipFill>
            <a:blip r:embed="rId9"/>
            <a:stretch>
              <a:fillRect/>
            </a:stretch>
          </p:blipFill>
          <p:spPr>
            <a:xfrm>
              <a:off x="9041810" y="2952541"/>
              <a:ext cx="382932" cy="382932"/>
            </a:xfrm>
            <a:prstGeom prst="rect">
              <a:avLst/>
            </a:prstGeom>
            <a:grpFill/>
          </p:spPr>
        </p:pic>
      </p:grpSp>
      <p:sp>
        <p:nvSpPr>
          <p:cNvPr id="4" name="Rounded Rectangle 193">
            <a:extLst>
              <a:ext uri="{FF2B5EF4-FFF2-40B4-BE49-F238E27FC236}">
                <a16:creationId xmlns:a16="http://schemas.microsoft.com/office/drawing/2014/main" id="{B348BE0A-A454-0708-A1D2-3A62082FC176}"/>
              </a:ext>
            </a:extLst>
          </p:cNvPr>
          <p:cNvSpPr/>
          <p:nvPr/>
        </p:nvSpPr>
        <p:spPr>
          <a:xfrm>
            <a:off x="6368436" y="6051291"/>
            <a:ext cx="5577840" cy="438116"/>
          </a:xfrm>
          <a:prstGeom prst="roundRect">
            <a:avLst>
              <a:gd name="adj" fmla="val 20000"/>
            </a:avLst>
          </a:prstGeom>
          <a:solidFill>
            <a:srgbClr val="023D20"/>
          </a:solidFill>
          <a:ln w="15875">
            <a:solidFill>
              <a:srgbClr val="86BC25"/>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sz="1000" b="1" i="0" u="none" strike="noStrike" kern="1200" cap="none" spc="0" normalizeH="0" baseline="0" noProof="0" dirty="0">
                <a:ln>
                  <a:noFill/>
                </a:ln>
                <a:solidFill>
                  <a:srgbClr val="86BC25"/>
                </a:solidFill>
                <a:effectLst/>
                <a:uLnTx/>
                <a:uFillTx/>
                <a:latin typeface="Segoe UI"/>
                <a:ea typeface="+mn-ea"/>
                <a:cs typeface="+mn-cs"/>
                <a:sym typeface="Arial"/>
              </a:rPr>
              <a:t>Beyond the barriers: </a:t>
            </a:r>
            <a:r>
              <a:rPr kumimoji="0" lang="en-US" sz="1000" b="0" i="0" u="none" strike="noStrike" kern="1200" cap="none" spc="0" normalizeH="0" baseline="0" noProof="0" dirty="0">
                <a:ln>
                  <a:noFill/>
                </a:ln>
                <a:solidFill>
                  <a:srgbClr val="FFFFFF"/>
                </a:solidFill>
                <a:effectLst/>
                <a:uLnTx/>
                <a:uFillTx/>
                <a:latin typeface="Segoe UI"/>
                <a:ea typeface="+mn-ea"/>
                <a:cs typeface="+mn-cs"/>
                <a:sym typeface="Arial"/>
              </a:rPr>
              <a:t>A central utility also connects each sector's partial view of the fraud lifecycle, so fraud can be spotted and stopped earlier. </a:t>
            </a:r>
            <a:endParaRPr kumimoji="0" lang="en-CA" sz="1000" b="0" i="0" u="none" strike="noStrike" kern="1200" cap="none" spc="0" normalizeH="0" baseline="0" noProof="0" dirty="0">
              <a:ln>
                <a:noFill/>
              </a:ln>
              <a:solidFill>
                <a:srgbClr val="FFFFFF"/>
              </a:solidFill>
              <a:effectLst/>
              <a:uLnTx/>
              <a:uFillTx/>
              <a:latin typeface="Segoe UI"/>
              <a:ea typeface="+mn-ea"/>
              <a:cs typeface="+mn-cs"/>
              <a:sym typeface="Arial"/>
            </a:endParaRPr>
          </a:p>
        </p:txBody>
      </p:sp>
      <p:grpSp>
        <p:nvGrpSpPr>
          <p:cNvPr id="7" name="Group 6">
            <a:extLst>
              <a:ext uri="{FF2B5EF4-FFF2-40B4-BE49-F238E27FC236}">
                <a16:creationId xmlns:a16="http://schemas.microsoft.com/office/drawing/2014/main" id="{C69452AB-A9AB-99DB-35BE-DB21F0CD73CB}"/>
              </a:ext>
            </a:extLst>
          </p:cNvPr>
          <p:cNvGrpSpPr/>
          <p:nvPr/>
        </p:nvGrpSpPr>
        <p:grpSpPr>
          <a:xfrm>
            <a:off x="249638" y="464705"/>
            <a:ext cx="11521440" cy="585793"/>
            <a:chOff x="249638" y="464705"/>
            <a:chExt cx="11521440" cy="585793"/>
          </a:xfrm>
        </p:grpSpPr>
        <p:sp>
          <p:nvSpPr>
            <p:cNvPr id="8" name="Text 22">
              <a:extLst>
                <a:ext uri="{FF2B5EF4-FFF2-40B4-BE49-F238E27FC236}">
                  <a16:creationId xmlns:a16="http://schemas.microsoft.com/office/drawing/2014/main" id="{FC301557-2BFE-D0F2-64CF-02F262D1C6E5}"/>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dirty="0">
                  <a:ln>
                    <a:noFill/>
                  </a:ln>
                  <a:solidFill>
                    <a:srgbClr val="86BC25"/>
                  </a:solidFill>
                  <a:effectLst/>
                  <a:uLnTx/>
                  <a:uFillTx/>
                  <a:latin typeface="Segoe UI" panose="020B0502040204020203" pitchFamily="34" charset="0"/>
                  <a:ea typeface="Arial" pitchFamily="34" charset="-122"/>
                  <a:cs typeface="Segoe UI" panose="020B0502040204020203" pitchFamily="34" charset="0"/>
                  <a:sym typeface="Arial"/>
                </a:rPr>
                <a:t>THE SOLUTION</a:t>
              </a:r>
            </a:p>
          </p:txBody>
        </p:sp>
        <p:sp>
          <p:nvSpPr>
            <p:cNvPr id="9" name="TextBox 8">
              <a:extLst>
                <a:ext uri="{FF2B5EF4-FFF2-40B4-BE49-F238E27FC236}">
                  <a16:creationId xmlns:a16="http://schemas.microsoft.com/office/drawing/2014/main" id="{DEAC3A66-00C7-D887-E769-A663F3FF0193}"/>
                </a:ext>
              </a:extLst>
            </p:cNvPr>
            <p:cNvSpPr txBox="1"/>
            <p:nvPr/>
          </p:nvSpPr>
          <p:spPr>
            <a:xfrm>
              <a:off x="249638" y="711944"/>
              <a:ext cx="11521440" cy="33855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2200" b="1" i="0" u="none" strike="noStrike" kern="1200" cap="none" spc="0" normalizeH="0" baseline="0" noProof="0" dirty="0">
                  <a:ln>
                    <a:noFill/>
                  </a:ln>
                  <a:solidFill>
                    <a:srgbClr val="FFFFFF"/>
                  </a:solidFill>
                  <a:effectLst/>
                  <a:uLnTx/>
                  <a:uFillTx/>
                  <a:latin typeface="Segoe UI"/>
                  <a:cs typeface="Arial"/>
                  <a:sym typeface="Arial"/>
                </a:rPr>
                <a:t>A centralized utility addresses all three barriers at the source</a:t>
              </a:r>
            </a:p>
          </p:txBody>
        </p:sp>
      </p:grpSp>
      <p:sp>
        <p:nvSpPr>
          <p:cNvPr id="13" name="Rectangle 12">
            <a:extLst>
              <a:ext uri="{FF2B5EF4-FFF2-40B4-BE49-F238E27FC236}">
                <a16:creationId xmlns:a16="http://schemas.microsoft.com/office/drawing/2014/main" id="{B593C267-6BF3-292A-A711-6037C4F1409F}"/>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800" b="0" i="0" u="none" strike="noStrike" kern="1200" cap="none" spc="0" normalizeH="0" baseline="0" noProof="0" dirty="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For detailed data please refer to </a:t>
            </a:r>
            <a:r>
              <a:rPr kumimoji="0" lang="en-US" sz="800" b="0" i="0" u="none" strike="noStrike" kern="1200" cap="none" spc="0" normalizeH="0" baseline="0" noProof="0" dirty="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hlinkClick r:id="" action="ppaction://noaction">
                  <a:extLst>
                    <a:ext uri="{A12FA001-AC4F-418D-AE19-62706E023703}">
                      <ahyp:hlinkClr xmlns:ahyp="http://schemas.microsoft.com/office/drawing/2018/hyperlinkcolor" val="tx"/>
                    </a:ext>
                  </a:extLst>
                </a:hlinkClick>
              </a:rPr>
              <a:t>Appendix – C </a:t>
            </a:r>
            <a:endParaRPr kumimoji="0" lang="en-US" sz="800" b="0" i="0" u="none" strike="noStrike" kern="1200" cap="none" spc="0" normalizeH="0" baseline="0" noProof="0" dirty="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Tree>
    <p:extLst>
      <p:ext uri="{BB962C8B-B14F-4D97-AF65-F5344CB8AC3E}">
        <p14:creationId xmlns:p14="http://schemas.microsoft.com/office/powerpoint/2010/main" val="15144592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80000"/>
            <a:lum/>
          </a:blip>
          <a:srcRect/>
          <a:stretch>
            <a:fillRect/>
          </a:stretch>
        </a:blipFill>
        <a:effectLst/>
      </p:bgPr>
    </p:bg>
    <p:spTree>
      <p:nvGrpSpPr>
        <p:cNvPr id="1" name="">
          <a:extLst>
            <a:ext uri="{FF2B5EF4-FFF2-40B4-BE49-F238E27FC236}">
              <a16:creationId xmlns:a16="http://schemas.microsoft.com/office/drawing/2014/main" id="{B5E8CA1D-7E59-1B51-6C68-80A59E433675}"/>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08C2B63A-5DF8-1E37-A627-70A4C1927B18}"/>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3. Operating Model Transformation</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000" b="0"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rPr>
              <a:t>"Currently we are automating most of our operational tasks and enabling AI tools with human oversight to verify the complex cases to minimize the related risks." — </a:t>
            </a:r>
            <a:r>
              <a:rPr kumimoji="0" lang="en-US" sz="2000" b="1"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rPr>
              <a:t>Senior Manager of Top 100 Global Financial Institution</a:t>
            </a:r>
          </a:p>
        </p:txBody>
      </p:sp>
    </p:spTree>
    <p:extLst>
      <p:ext uri="{BB962C8B-B14F-4D97-AF65-F5344CB8AC3E}">
        <p14:creationId xmlns:p14="http://schemas.microsoft.com/office/powerpoint/2010/main" val="20732694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87DE6-1A32-D3C4-9330-FB1ECC0D858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00D8B53-4806-7938-A6D7-CEAF39330B16}"/>
              </a:ext>
            </a:extLst>
          </p:cNvPr>
          <p:cNvSpPr/>
          <p:nvPr/>
        </p:nvSpPr>
        <p:spPr>
          <a:xfrm>
            <a:off x="0" y="0"/>
            <a:ext cx="12191695" cy="33832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dirty="0">
              <a:ln>
                <a:noFill/>
              </a:ln>
              <a:solidFill>
                <a:srgbClr val="FFFFFF"/>
              </a:solidFill>
              <a:effectLst/>
              <a:uLnTx/>
              <a:uFillTx/>
              <a:latin typeface="Arial"/>
              <a:ea typeface="+mn-ea"/>
              <a:cs typeface="+mn-cs"/>
              <a:sym typeface="Arial"/>
            </a:endParaRPr>
          </a:p>
        </p:txBody>
      </p:sp>
      <p:sp>
        <p:nvSpPr>
          <p:cNvPr id="32" name="Rectangle: Rounded Corners 31">
            <a:extLst>
              <a:ext uri="{FF2B5EF4-FFF2-40B4-BE49-F238E27FC236}">
                <a16:creationId xmlns:a16="http://schemas.microsoft.com/office/drawing/2014/main" id="{CCAF0DAB-1DE5-7E56-9C90-F8DDBFE0A8EC}"/>
              </a:ext>
            </a:extLst>
          </p:cNvPr>
          <p:cNvSpPr/>
          <p:nvPr/>
        </p:nvSpPr>
        <p:spPr>
          <a:xfrm>
            <a:off x="245871" y="1795716"/>
            <a:ext cx="5916632" cy="2497601"/>
          </a:xfrm>
          <a:prstGeom prst="roundRect">
            <a:avLst>
              <a:gd name="adj" fmla="val 6627"/>
            </a:avLst>
          </a:prstGeom>
          <a:noFill/>
          <a:ln w="285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FFFFFF"/>
              </a:solidFill>
              <a:effectLst/>
              <a:uLnTx/>
              <a:uFillTx/>
              <a:latin typeface="Arial"/>
              <a:ea typeface="+mn-ea"/>
              <a:cs typeface="+mn-cs"/>
              <a:sym typeface="Arial"/>
            </a:endParaRPr>
          </a:p>
        </p:txBody>
      </p:sp>
      <p:sp>
        <p:nvSpPr>
          <p:cNvPr id="42" name="TextBox 41">
            <a:extLst>
              <a:ext uri="{FF2B5EF4-FFF2-40B4-BE49-F238E27FC236}">
                <a16:creationId xmlns:a16="http://schemas.microsoft.com/office/drawing/2014/main" id="{6DA7A109-5812-469F-EA71-C62CBD8BAC98}"/>
              </a:ext>
            </a:extLst>
          </p:cNvPr>
          <p:cNvSpPr txBox="1"/>
          <p:nvPr/>
        </p:nvSpPr>
        <p:spPr>
          <a:xfrm>
            <a:off x="320040" y="1155192"/>
            <a:ext cx="11521440" cy="43088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Most fraud leaders describe their programs as integrated or advanced. Banking respondents report higher maturity than insurers (85% vs. 72%), and within both sectors the largest institutions lead.</a:t>
            </a:r>
          </a:p>
        </p:txBody>
      </p:sp>
      <p:grpSp>
        <p:nvGrpSpPr>
          <p:cNvPr id="3" name="Group 2">
            <a:extLst>
              <a:ext uri="{FF2B5EF4-FFF2-40B4-BE49-F238E27FC236}">
                <a16:creationId xmlns:a16="http://schemas.microsoft.com/office/drawing/2014/main" id="{0B950AC0-4F85-528D-CA70-517E18F778F0}"/>
              </a:ext>
            </a:extLst>
          </p:cNvPr>
          <p:cNvGrpSpPr/>
          <p:nvPr/>
        </p:nvGrpSpPr>
        <p:grpSpPr>
          <a:xfrm>
            <a:off x="245871" y="4582097"/>
            <a:ext cx="5886444" cy="1403624"/>
            <a:chOff x="6053691" y="4646300"/>
            <a:chExt cx="5886444" cy="1403624"/>
          </a:xfrm>
        </p:grpSpPr>
        <p:sp>
          <p:nvSpPr>
            <p:cNvPr id="68" name="TextBox 67">
              <a:extLst>
                <a:ext uri="{FF2B5EF4-FFF2-40B4-BE49-F238E27FC236}">
                  <a16:creationId xmlns:a16="http://schemas.microsoft.com/office/drawing/2014/main" id="{F9042F63-40AB-814D-FDBD-D552CFF8524C}"/>
                </a:ext>
              </a:extLst>
            </p:cNvPr>
            <p:cNvSpPr txBox="1"/>
            <p:nvPr/>
          </p:nvSpPr>
          <p:spPr>
            <a:xfrm>
              <a:off x="6265566" y="4646300"/>
              <a:ext cx="5486400"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MATURITY RISES WITH </a:t>
              </a:r>
              <a:r>
                <a:rPr kumimoji="0" lang="en-US" sz="13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INSTITUTION SIZE</a:t>
              </a:r>
              <a:endParaRPr kumimoji="0" sz="13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endParaRPr>
            </a:p>
          </p:txBody>
        </p:sp>
        <p:sp>
          <p:nvSpPr>
            <p:cNvPr id="70" name="TextBox 69">
              <a:extLst>
                <a:ext uri="{FF2B5EF4-FFF2-40B4-BE49-F238E27FC236}">
                  <a16:creationId xmlns:a16="http://schemas.microsoft.com/office/drawing/2014/main" id="{688A0E3B-1430-FA44-16AC-EE15186EEB29}"/>
                </a:ext>
              </a:extLst>
            </p:cNvPr>
            <p:cNvSpPr txBox="1"/>
            <p:nvPr/>
          </p:nvSpPr>
          <p:spPr>
            <a:xfrm>
              <a:off x="6265566" y="4859857"/>
              <a:ext cx="5486400" cy="18466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dirty="0">
                  <a:ln>
                    <a:noFill/>
                  </a:ln>
                  <a:solidFill>
                    <a:srgbClr val="FFFFFF">
                      <a:lumMod val="50000"/>
                    </a:srgbClr>
                  </a:solidFill>
                  <a:effectLst/>
                  <a:uLnTx/>
                  <a:uFillTx/>
                  <a:latin typeface="Segoe UI" panose="020B0502040204020203" pitchFamily="34" charset="0"/>
                  <a:ea typeface="+mn-ea"/>
                  <a:cs typeface="Segoe UI" panose="020B0502040204020203" pitchFamily="34" charset="0"/>
                  <a:sym typeface="Arial"/>
                </a:rPr>
                <a:t>% rating their program </a:t>
              </a:r>
              <a:r>
                <a:rPr kumimoji="0" sz="1200" b="1" i="0" u="none" strike="noStrike" kern="1200" cap="none" spc="0" normalizeH="0" baseline="0" noProof="0" dirty="0">
                  <a:ln>
                    <a:noFill/>
                  </a:ln>
                  <a:solidFill>
                    <a:srgbClr val="FFFFFF">
                      <a:lumMod val="50000"/>
                    </a:srgbClr>
                  </a:solidFill>
                  <a:effectLst/>
                  <a:uLnTx/>
                  <a:uFillTx/>
                  <a:latin typeface="Segoe UI" panose="020B0502040204020203" pitchFamily="34" charset="0"/>
                  <a:ea typeface="+mn-ea"/>
                  <a:cs typeface="Segoe UI" panose="020B0502040204020203" pitchFamily="34" charset="0"/>
                  <a:sym typeface="Arial"/>
                </a:rPr>
                <a:t>integrated</a:t>
              </a:r>
              <a:r>
                <a:rPr kumimoji="0" sz="1200" b="0" i="0" u="none" strike="noStrike" kern="1200" cap="none" spc="0" normalizeH="0" baseline="0" noProof="0" dirty="0">
                  <a:ln>
                    <a:noFill/>
                  </a:ln>
                  <a:solidFill>
                    <a:srgbClr val="FFFFFF">
                      <a:lumMod val="50000"/>
                    </a:srgbClr>
                  </a:solidFill>
                  <a:effectLst/>
                  <a:uLnTx/>
                  <a:uFillTx/>
                  <a:latin typeface="Segoe UI" panose="020B0502040204020203" pitchFamily="34" charset="0"/>
                  <a:ea typeface="+mn-ea"/>
                  <a:cs typeface="Segoe UI" panose="020B0502040204020203" pitchFamily="34" charset="0"/>
                  <a:sym typeface="Arial"/>
                </a:rPr>
                <a:t> or </a:t>
              </a:r>
              <a:r>
                <a:rPr kumimoji="0" sz="1200" b="1" i="0" u="none" strike="noStrike" kern="1200" cap="none" spc="0" normalizeH="0" baseline="0" noProof="0" dirty="0">
                  <a:ln>
                    <a:noFill/>
                  </a:ln>
                  <a:solidFill>
                    <a:srgbClr val="FFFFFF">
                      <a:lumMod val="50000"/>
                    </a:srgbClr>
                  </a:solidFill>
                  <a:effectLst/>
                  <a:uLnTx/>
                  <a:uFillTx/>
                  <a:latin typeface="Segoe UI" panose="020B0502040204020203" pitchFamily="34" charset="0"/>
                  <a:ea typeface="+mn-ea"/>
                  <a:cs typeface="Segoe UI" panose="020B0502040204020203" pitchFamily="34" charset="0"/>
                  <a:sym typeface="Arial"/>
                </a:rPr>
                <a:t>advanced</a:t>
              </a:r>
            </a:p>
          </p:txBody>
        </p:sp>
        <p:sp>
          <p:nvSpPr>
            <p:cNvPr id="72" name="TextBox 71">
              <a:extLst>
                <a:ext uri="{FF2B5EF4-FFF2-40B4-BE49-F238E27FC236}">
                  <a16:creationId xmlns:a16="http://schemas.microsoft.com/office/drawing/2014/main" id="{67E4D846-A343-D8F4-A264-E05ACE34214D}"/>
                </a:ext>
              </a:extLst>
            </p:cNvPr>
            <p:cNvSpPr txBox="1"/>
            <p:nvPr/>
          </p:nvSpPr>
          <p:spPr>
            <a:xfrm>
              <a:off x="6053691" y="5129822"/>
              <a:ext cx="2466136" cy="1692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rPr>
                <a:t>Top 100 Global </a:t>
              </a:r>
              <a:r>
                <a:rPr kumimoji="0" lang="en-US" sz="1100" b="1" i="0" u="none" strike="noStrike" kern="1200" cap="none" spc="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rPr>
                <a:t>Financial Institutions</a:t>
              </a:r>
              <a:endParaRPr kumimoji="0" sz="1100" b="1" i="0" u="none" strike="noStrike" kern="1200" cap="none" spc="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endParaRPr>
            </a:p>
          </p:txBody>
        </p:sp>
        <p:sp>
          <p:nvSpPr>
            <p:cNvPr id="74" name="Rectangle 73">
              <a:extLst>
                <a:ext uri="{FF2B5EF4-FFF2-40B4-BE49-F238E27FC236}">
                  <a16:creationId xmlns:a16="http://schemas.microsoft.com/office/drawing/2014/main" id="{A158BFC6-F81C-370D-8C61-D36A70E25C22}"/>
                </a:ext>
              </a:extLst>
            </p:cNvPr>
            <p:cNvSpPr/>
            <p:nvPr/>
          </p:nvSpPr>
          <p:spPr>
            <a:xfrm>
              <a:off x="8648295" y="5125541"/>
              <a:ext cx="2651760" cy="164592"/>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76" name="Rectangle 75">
              <a:extLst>
                <a:ext uri="{FF2B5EF4-FFF2-40B4-BE49-F238E27FC236}">
                  <a16:creationId xmlns:a16="http://schemas.microsoft.com/office/drawing/2014/main" id="{2EC8FEE3-4945-B1DA-DC24-3BC18AACC1D8}"/>
                </a:ext>
              </a:extLst>
            </p:cNvPr>
            <p:cNvSpPr/>
            <p:nvPr/>
          </p:nvSpPr>
          <p:spPr>
            <a:xfrm>
              <a:off x="8648295" y="5125541"/>
              <a:ext cx="2466136" cy="164592"/>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78" name="TextBox 77">
              <a:extLst>
                <a:ext uri="{FF2B5EF4-FFF2-40B4-BE49-F238E27FC236}">
                  <a16:creationId xmlns:a16="http://schemas.microsoft.com/office/drawing/2014/main" id="{A7FEB9FB-6CAF-65AF-01D7-15425554D1B3}"/>
                </a:ext>
              </a:extLst>
            </p:cNvPr>
            <p:cNvSpPr txBox="1"/>
            <p:nvPr/>
          </p:nvSpPr>
          <p:spPr>
            <a:xfrm>
              <a:off x="11391495" y="5127045"/>
              <a:ext cx="548640" cy="16158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rPr>
                <a:t>93%</a:t>
              </a:r>
            </a:p>
          </p:txBody>
        </p:sp>
        <p:sp>
          <p:nvSpPr>
            <p:cNvPr id="80" name="TextBox 79">
              <a:extLst>
                <a:ext uri="{FF2B5EF4-FFF2-40B4-BE49-F238E27FC236}">
                  <a16:creationId xmlns:a16="http://schemas.microsoft.com/office/drawing/2014/main" id="{2C12C54A-288D-B617-B1DD-E3759BB17216}"/>
                </a:ext>
              </a:extLst>
            </p:cNvPr>
            <p:cNvSpPr txBox="1"/>
            <p:nvPr/>
          </p:nvSpPr>
          <p:spPr>
            <a:xfrm>
              <a:off x="6053691" y="5376711"/>
              <a:ext cx="2466136" cy="1692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rPr>
                <a:t>Large </a:t>
              </a:r>
              <a:r>
                <a:rPr kumimoji="0" lang="en-US" sz="1100" b="1" i="0" u="none" strike="noStrike" kern="1200" cap="none" spc="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rPr>
                <a:t>Financial Institutions</a:t>
              </a:r>
              <a:endParaRPr kumimoji="0" sz="1100" b="1" i="0" u="none" strike="noStrike" kern="1200" cap="none" spc="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endParaRPr>
            </a:p>
          </p:txBody>
        </p:sp>
        <p:sp>
          <p:nvSpPr>
            <p:cNvPr id="82" name="Rectangle 81">
              <a:extLst>
                <a:ext uri="{FF2B5EF4-FFF2-40B4-BE49-F238E27FC236}">
                  <a16:creationId xmlns:a16="http://schemas.microsoft.com/office/drawing/2014/main" id="{1E1E670A-19A9-7D27-C55D-D29795BCEDAF}"/>
                </a:ext>
              </a:extLst>
            </p:cNvPr>
            <p:cNvSpPr/>
            <p:nvPr/>
          </p:nvSpPr>
          <p:spPr>
            <a:xfrm>
              <a:off x="8648295" y="5372429"/>
              <a:ext cx="2651760" cy="164592"/>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84" name="Rectangle 83">
              <a:extLst>
                <a:ext uri="{FF2B5EF4-FFF2-40B4-BE49-F238E27FC236}">
                  <a16:creationId xmlns:a16="http://schemas.microsoft.com/office/drawing/2014/main" id="{E5144965-1B3B-EB31-43AD-09826B0AF21C}"/>
                </a:ext>
              </a:extLst>
            </p:cNvPr>
            <p:cNvSpPr/>
            <p:nvPr/>
          </p:nvSpPr>
          <p:spPr>
            <a:xfrm>
              <a:off x="8648295" y="5372429"/>
              <a:ext cx="2041855" cy="164592"/>
            </a:xfrm>
            <a:prstGeom prst="rect">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86" name="TextBox 85">
              <a:extLst>
                <a:ext uri="{FF2B5EF4-FFF2-40B4-BE49-F238E27FC236}">
                  <a16:creationId xmlns:a16="http://schemas.microsoft.com/office/drawing/2014/main" id="{1ED4A16D-37A1-1FC5-C2EB-A4472F639AC8}"/>
                </a:ext>
              </a:extLst>
            </p:cNvPr>
            <p:cNvSpPr txBox="1"/>
            <p:nvPr/>
          </p:nvSpPr>
          <p:spPr>
            <a:xfrm>
              <a:off x="11391495" y="5373933"/>
              <a:ext cx="548640" cy="16158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75787B"/>
                  </a:solidFill>
                  <a:effectLst/>
                  <a:uLnTx/>
                  <a:uFillTx/>
                  <a:latin typeface="Segoe UI" panose="020B0502040204020203" pitchFamily="34" charset="0"/>
                  <a:ea typeface="+mn-ea"/>
                  <a:cs typeface="Segoe UI" panose="020B0502040204020203" pitchFamily="34" charset="0"/>
                  <a:sym typeface="Arial"/>
                </a:rPr>
                <a:t>77%</a:t>
              </a:r>
            </a:p>
          </p:txBody>
        </p:sp>
        <p:sp>
          <p:nvSpPr>
            <p:cNvPr id="88" name="TextBox 87">
              <a:extLst>
                <a:ext uri="{FF2B5EF4-FFF2-40B4-BE49-F238E27FC236}">
                  <a16:creationId xmlns:a16="http://schemas.microsoft.com/office/drawing/2014/main" id="{F4814E24-3792-0F94-FD70-2A715521C141}"/>
                </a:ext>
              </a:extLst>
            </p:cNvPr>
            <p:cNvSpPr txBox="1"/>
            <p:nvPr/>
          </p:nvSpPr>
          <p:spPr>
            <a:xfrm>
              <a:off x="6053691" y="5633759"/>
              <a:ext cx="2466136" cy="1692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Top 50 Global Insurer</a:t>
              </a:r>
              <a:r>
                <a:rPr kumimoji="0" lang="en-US" sz="11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s</a:t>
              </a:r>
              <a:endParaRPr kumimoji="0" sz="11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endParaRPr>
            </a:p>
          </p:txBody>
        </p:sp>
        <p:sp>
          <p:nvSpPr>
            <p:cNvPr id="90" name="Rectangle 89">
              <a:extLst>
                <a:ext uri="{FF2B5EF4-FFF2-40B4-BE49-F238E27FC236}">
                  <a16:creationId xmlns:a16="http://schemas.microsoft.com/office/drawing/2014/main" id="{FDDDAFCC-6948-BB07-AB19-5C50E436EE29}"/>
                </a:ext>
              </a:extLst>
            </p:cNvPr>
            <p:cNvSpPr/>
            <p:nvPr/>
          </p:nvSpPr>
          <p:spPr>
            <a:xfrm>
              <a:off x="8648295" y="5629477"/>
              <a:ext cx="2651760" cy="164592"/>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92" name="Rectangle 91">
              <a:extLst>
                <a:ext uri="{FF2B5EF4-FFF2-40B4-BE49-F238E27FC236}">
                  <a16:creationId xmlns:a16="http://schemas.microsoft.com/office/drawing/2014/main" id="{47059C6C-D5F0-5B5B-F3B3-D3068BDDF4BC}"/>
                </a:ext>
              </a:extLst>
            </p:cNvPr>
            <p:cNvSpPr/>
            <p:nvPr/>
          </p:nvSpPr>
          <p:spPr>
            <a:xfrm>
              <a:off x="8648295" y="5629477"/>
              <a:ext cx="2121408" cy="164592"/>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94" name="TextBox 93">
              <a:extLst>
                <a:ext uri="{FF2B5EF4-FFF2-40B4-BE49-F238E27FC236}">
                  <a16:creationId xmlns:a16="http://schemas.microsoft.com/office/drawing/2014/main" id="{D9ECAB83-10A3-00AD-7605-169F98A4C47B}"/>
                </a:ext>
              </a:extLst>
            </p:cNvPr>
            <p:cNvSpPr txBox="1"/>
            <p:nvPr/>
          </p:nvSpPr>
          <p:spPr>
            <a:xfrm>
              <a:off x="11391495" y="5630981"/>
              <a:ext cx="548640" cy="16158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80%</a:t>
              </a:r>
            </a:p>
          </p:txBody>
        </p:sp>
        <p:sp>
          <p:nvSpPr>
            <p:cNvPr id="96" name="TextBox 95">
              <a:extLst>
                <a:ext uri="{FF2B5EF4-FFF2-40B4-BE49-F238E27FC236}">
                  <a16:creationId xmlns:a16="http://schemas.microsoft.com/office/drawing/2014/main" id="{3DC405F5-92B3-604B-AFD9-3706677678FA}"/>
                </a:ext>
              </a:extLst>
            </p:cNvPr>
            <p:cNvSpPr txBox="1"/>
            <p:nvPr/>
          </p:nvSpPr>
          <p:spPr>
            <a:xfrm>
              <a:off x="6053691" y="5880647"/>
              <a:ext cx="2466136" cy="1692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Large Insurers</a:t>
              </a:r>
            </a:p>
          </p:txBody>
        </p:sp>
        <p:sp>
          <p:nvSpPr>
            <p:cNvPr id="98" name="Rectangle 97">
              <a:extLst>
                <a:ext uri="{FF2B5EF4-FFF2-40B4-BE49-F238E27FC236}">
                  <a16:creationId xmlns:a16="http://schemas.microsoft.com/office/drawing/2014/main" id="{489E1120-7B2D-8421-0768-B494A1A712A5}"/>
                </a:ext>
              </a:extLst>
            </p:cNvPr>
            <p:cNvSpPr/>
            <p:nvPr/>
          </p:nvSpPr>
          <p:spPr>
            <a:xfrm>
              <a:off x="8648295" y="5876365"/>
              <a:ext cx="2651760" cy="164592"/>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0" name="Rectangle 99">
              <a:extLst>
                <a:ext uri="{FF2B5EF4-FFF2-40B4-BE49-F238E27FC236}">
                  <a16:creationId xmlns:a16="http://schemas.microsoft.com/office/drawing/2014/main" id="{BC3D7E50-370F-4974-5727-96FF945BFA6B}"/>
                </a:ext>
              </a:extLst>
            </p:cNvPr>
            <p:cNvSpPr/>
            <p:nvPr/>
          </p:nvSpPr>
          <p:spPr>
            <a:xfrm>
              <a:off x="8648295" y="5876365"/>
              <a:ext cx="1591056" cy="164592"/>
            </a:xfrm>
            <a:prstGeom prst="rect">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2" name="TextBox 101">
              <a:extLst>
                <a:ext uri="{FF2B5EF4-FFF2-40B4-BE49-F238E27FC236}">
                  <a16:creationId xmlns:a16="http://schemas.microsoft.com/office/drawing/2014/main" id="{ADD3445D-4B61-F748-F621-A60D177ECB35}"/>
                </a:ext>
              </a:extLst>
            </p:cNvPr>
            <p:cNvSpPr txBox="1"/>
            <p:nvPr/>
          </p:nvSpPr>
          <p:spPr>
            <a:xfrm>
              <a:off x="11391495" y="5877869"/>
              <a:ext cx="548640" cy="16158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75787B"/>
                  </a:solidFill>
                  <a:effectLst/>
                  <a:uLnTx/>
                  <a:uFillTx/>
                  <a:latin typeface="Segoe UI" panose="020B0502040204020203" pitchFamily="34" charset="0"/>
                  <a:ea typeface="+mn-ea"/>
                  <a:cs typeface="Segoe UI" panose="020B0502040204020203" pitchFamily="34" charset="0"/>
                  <a:sym typeface="Arial"/>
                </a:rPr>
                <a:t>60%</a:t>
              </a:r>
            </a:p>
          </p:txBody>
        </p:sp>
      </p:grpSp>
      <p:grpSp>
        <p:nvGrpSpPr>
          <p:cNvPr id="177" name="Group 176">
            <a:extLst>
              <a:ext uri="{FF2B5EF4-FFF2-40B4-BE49-F238E27FC236}">
                <a16:creationId xmlns:a16="http://schemas.microsoft.com/office/drawing/2014/main" id="{40BA0A46-5DF3-F06F-5BD5-A837AFB16144}"/>
              </a:ext>
            </a:extLst>
          </p:cNvPr>
          <p:cNvGrpSpPr/>
          <p:nvPr/>
        </p:nvGrpSpPr>
        <p:grpSpPr>
          <a:xfrm>
            <a:off x="410694" y="1874685"/>
            <a:ext cx="5586984" cy="2386584"/>
            <a:chOff x="406846" y="2029968"/>
            <a:chExt cx="5586984" cy="2386584"/>
          </a:xfrm>
        </p:grpSpPr>
        <p:sp>
          <p:nvSpPr>
            <p:cNvPr id="104" name="TextBox 103">
              <a:extLst>
                <a:ext uri="{FF2B5EF4-FFF2-40B4-BE49-F238E27FC236}">
                  <a16:creationId xmlns:a16="http://schemas.microsoft.com/office/drawing/2014/main" id="{EE40552A-3E32-5424-426D-685DC070EB81}"/>
                </a:ext>
              </a:extLst>
            </p:cNvPr>
            <p:cNvSpPr txBox="1"/>
            <p:nvPr/>
          </p:nvSpPr>
          <p:spPr>
            <a:xfrm>
              <a:off x="406846" y="2029968"/>
              <a:ext cx="3657600" cy="18466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WHERE PROGRAMS SIT TODAY</a:t>
              </a:r>
            </a:p>
          </p:txBody>
        </p:sp>
        <p:sp>
          <p:nvSpPr>
            <p:cNvPr id="106" name="Rectangle 105">
              <a:extLst>
                <a:ext uri="{FF2B5EF4-FFF2-40B4-BE49-F238E27FC236}">
                  <a16:creationId xmlns:a16="http://schemas.microsoft.com/office/drawing/2014/main" id="{9DAFF09F-7F60-9195-81F8-514BF9B7B9C0}"/>
                </a:ext>
              </a:extLst>
            </p:cNvPr>
            <p:cNvSpPr/>
            <p:nvPr/>
          </p:nvSpPr>
          <p:spPr>
            <a:xfrm>
              <a:off x="516574" y="3322320"/>
              <a:ext cx="850392" cy="27432"/>
            </a:xfrm>
            <a:prstGeom prst="rect">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8" name="TextBox 107">
              <a:extLst>
                <a:ext uri="{FF2B5EF4-FFF2-40B4-BE49-F238E27FC236}">
                  <a16:creationId xmlns:a16="http://schemas.microsoft.com/office/drawing/2014/main" id="{D2425724-8CA3-D117-25EA-87B834AC2FB9}"/>
                </a:ext>
              </a:extLst>
            </p:cNvPr>
            <p:cNvSpPr txBox="1"/>
            <p:nvPr/>
          </p:nvSpPr>
          <p:spPr>
            <a:xfrm>
              <a:off x="406846" y="3073200"/>
              <a:ext cx="1069848" cy="230832"/>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1%</a:t>
              </a:r>
            </a:p>
          </p:txBody>
        </p:sp>
        <p:sp>
          <p:nvSpPr>
            <p:cNvPr id="110" name="Rectangle 109">
              <a:extLst>
                <a:ext uri="{FF2B5EF4-FFF2-40B4-BE49-F238E27FC236}">
                  <a16:creationId xmlns:a16="http://schemas.microsoft.com/office/drawing/2014/main" id="{509742F4-09E2-DEFF-0CAC-5F350C213650}"/>
                </a:ext>
              </a:extLst>
            </p:cNvPr>
            <p:cNvSpPr/>
            <p:nvPr/>
          </p:nvSpPr>
          <p:spPr>
            <a:xfrm>
              <a:off x="406846" y="3349751"/>
              <a:ext cx="1069848" cy="1066801"/>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12" name="TextBox 111">
              <a:extLst>
                <a:ext uri="{FF2B5EF4-FFF2-40B4-BE49-F238E27FC236}">
                  <a16:creationId xmlns:a16="http://schemas.microsoft.com/office/drawing/2014/main" id="{596AAE80-71FD-D891-F4DF-B9B94EF287E2}"/>
                </a:ext>
              </a:extLst>
            </p:cNvPr>
            <p:cNvSpPr txBox="1"/>
            <p:nvPr/>
          </p:nvSpPr>
          <p:spPr>
            <a:xfrm>
              <a:off x="479998" y="3413759"/>
              <a:ext cx="923544" cy="184666"/>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Reactive</a:t>
              </a:r>
            </a:p>
          </p:txBody>
        </p:sp>
        <p:sp>
          <p:nvSpPr>
            <p:cNvPr id="114" name="TextBox 113">
              <a:extLst>
                <a:ext uri="{FF2B5EF4-FFF2-40B4-BE49-F238E27FC236}">
                  <a16:creationId xmlns:a16="http://schemas.microsoft.com/office/drawing/2014/main" id="{D264D6F8-CB6A-D2D8-B835-170E931F0D7D}"/>
                </a:ext>
              </a:extLst>
            </p:cNvPr>
            <p:cNvSpPr txBox="1"/>
            <p:nvPr/>
          </p:nvSpPr>
          <p:spPr>
            <a:xfrm>
              <a:off x="479998" y="3614928"/>
              <a:ext cx="941831" cy="3077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Primarily incident-driven</a:t>
              </a:r>
            </a:p>
          </p:txBody>
        </p:sp>
        <p:sp>
          <p:nvSpPr>
            <p:cNvPr id="116" name="Rectangle 115">
              <a:extLst>
                <a:ext uri="{FF2B5EF4-FFF2-40B4-BE49-F238E27FC236}">
                  <a16:creationId xmlns:a16="http://schemas.microsoft.com/office/drawing/2014/main" id="{BEA507AB-B9A9-9B4C-3AF5-337CBACA6630}"/>
                </a:ext>
              </a:extLst>
            </p:cNvPr>
            <p:cNvSpPr/>
            <p:nvPr/>
          </p:nvSpPr>
          <p:spPr>
            <a:xfrm>
              <a:off x="1645857" y="3279093"/>
              <a:ext cx="850392" cy="70658"/>
            </a:xfrm>
            <a:prstGeom prst="rect">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18" name="TextBox 117">
              <a:extLst>
                <a:ext uri="{FF2B5EF4-FFF2-40B4-BE49-F238E27FC236}">
                  <a16:creationId xmlns:a16="http://schemas.microsoft.com/office/drawing/2014/main" id="{9792B575-351D-8122-EC80-02A519EE9D80}"/>
                </a:ext>
              </a:extLst>
            </p:cNvPr>
            <p:cNvSpPr txBox="1"/>
            <p:nvPr/>
          </p:nvSpPr>
          <p:spPr>
            <a:xfrm>
              <a:off x="1536129" y="3029973"/>
              <a:ext cx="1069848" cy="230832"/>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5%</a:t>
              </a:r>
            </a:p>
          </p:txBody>
        </p:sp>
        <p:sp>
          <p:nvSpPr>
            <p:cNvPr id="120" name="Rectangle 119">
              <a:extLst>
                <a:ext uri="{FF2B5EF4-FFF2-40B4-BE49-F238E27FC236}">
                  <a16:creationId xmlns:a16="http://schemas.microsoft.com/office/drawing/2014/main" id="{4D816BD5-5DBB-D987-142A-B3B646416ABF}"/>
                </a:ext>
              </a:extLst>
            </p:cNvPr>
            <p:cNvSpPr/>
            <p:nvPr/>
          </p:nvSpPr>
          <p:spPr>
            <a:xfrm>
              <a:off x="1536129" y="3349751"/>
              <a:ext cx="1069848" cy="1066801"/>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22" name="TextBox 121">
              <a:extLst>
                <a:ext uri="{FF2B5EF4-FFF2-40B4-BE49-F238E27FC236}">
                  <a16:creationId xmlns:a16="http://schemas.microsoft.com/office/drawing/2014/main" id="{73C0F0CE-887B-E489-C23B-2D5D4D89A9F0}"/>
                </a:ext>
              </a:extLst>
            </p:cNvPr>
            <p:cNvSpPr txBox="1"/>
            <p:nvPr/>
          </p:nvSpPr>
          <p:spPr>
            <a:xfrm>
              <a:off x="1568132" y="3413759"/>
              <a:ext cx="1005842" cy="184666"/>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Foundational</a:t>
              </a:r>
            </a:p>
          </p:txBody>
        </p:sp>
        <p:sp>
          <p:nvSpPr>
            <p:cNvPr id="124" name="TextBox 123">
              <a:extLst>
                <a:ext uri="{FF2B5EF4-FFF2-40B4-BE49-F238E27FC236}">
                  <a16:creationId xmlns:a16="http://schemas.microsoft.com/office/drawing/2014/main" id="{E090423B-D209-D84F-314F-E9AB7F3127DC}"/>
                </a:ext>
              </a:extLst>
            </p:cNvPr>
            <p:cNvSpPr txBox="1"/>
            <p:nvPr/>
          </p:nvSpPr>
          <p:spPr>
            <a:xfrm>
              <a:off x="1609281" y="3614928"/>
              <a:ext cx="941831" cy="61555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Controls established within individual business units</a:t>
              </a:r>
            </a:p>
          </p:txBody>
        </p:sp>
        <p:sp>
          <p:nvSpPr>
            <p:cNvPr id="126" name="Rectangle 125">
              <a:extLst>
                <a:ext uri="{FF2B5EF4-FFF2-40B4-BE49-F238E27FC236}">
                  <a16:creationId xmlns:a16="http://schemas.microsoft.com/office/drawing/2014/main" id="{85C943E1-5013-DE12-6134-66A69EF021DD}"/>
                </a:ext>
              </a:extLst>
            </p:cNvPr>
            <p:cNvSpPr/>
            <p:nvPr/>
          </p:nvSpPr>
          <p:spPr>
            <a:xfrm>
              <a:off x="2775142" y="3180172"/>
              <a:ext cx="850392" cy="169579"/>
            </a:xfrm>
            <a:prstGeom prst="rect">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28" name="TextBox 127">
              <a:extLst>
                <a:ext uri="{FF2B5EF4-FFF2-40B4-BE49-F238E27FC236}">
                  <a16:creationId xmlns:a16="http://schemas.microsoft.com/office/drawing/2014/main" id="{1DAD6A12-0DE5-4C03-D05C-C93C84A2B008}"/>
                </a:ext>
              </a:extLst>
            </p:cNvPr>
            <p:cNvSpPr txBox="1"/>
            <p:nvPr/>
          </p:nvSpPr>
          <p:spPr>
            <a:xfrm>
              <a:off x="2665414" y="2931052"/>
              <a:ext cx="1069848" cy="230832"/>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12%</a:t>
              </a:r>
            </a:p>
          </p:txBody>
        </p:sp>
        <p:sp>
          <p:nvSpPr>
            <p:cNvPr id="130" name="Rectangle 129">
              <a:extLst>
                <a:ext uri="{FF2B5EF4-FFF2-40B4-BE49-F238E27FC236}">
                  <a16:creationId xmlns:a16="http://schemas.microsoft.com/office/drawing/2014/main" id="{D6F66167-3FA9-EC58-B104-7EEC0FB50745}"/>
                </a:ext>
              </a:extLst>
            </p:cNvPr>
            <p:cNvSpPr/>
            <p:nvPr/>
          </p:nvSpPr>
          <p:spPr>
            <a:xfrm>
              <a:off x="2665414" y="3349751"/>
              <a:ext cx="1069848" cy="1066801"/>
            </a:xfrm>
            <a:prstGeom prst="rect">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2" name="TextBox 131">
              <a:extLst>
                <a:ext uri="{FF2B5EF4-FFF2-40B4-BE49-F238E27FC236}">
                  <a16:creationId xmlns:a16="http://schemas.microsoft.com/office/drawing/2014/main" id="{F156A2EE-6495-D1B9-DE26-C1CBF388CC91}"/>
                </a:ext>
              </a:extLst>
            </p:cNvPr>
            <p:cNvSpPr txBox="1"/>
            <p:nvPr/>
          </p:nvSpPr>
          <p:spPr>
            <a:xfrm>
              <a:off x="2738566" y="3413759"/>
              <a:ext cx="923544" cy="184666"/>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Managed</a:t>
              </a:r>
            </a:p>
          </p:txBody>
        </p:sp>
        <p:sp>
          <p:nvSpPr>
            <p:cNvPr id="134" name="TextBox 133">
              <a:extLst>
                <a:ext uri="{FF2B5EF4-FFF2-40B4-BE49-F238E27FC236}">
                  <a16:creationId xmlns:a16="http://schemas.microsoft.com/office/drawing/2014/main" id="{E2245F6C-EE4F-F9D6-AB7E-D6CE5617FA6B}"/>
                </a:ext>
              </a:extLst>
            </p:cNvPr>
            <p:cNvSpPr txBox="1"/>
            <p:nvPr/>
          </p:nvSpPr>
          <p:spPr>
            <a:xfrm>
              <a:off x="2738566" y="3614928"/>
              <a:ext cx="941831" cy="61555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Enterprise standards and governance in place</a:t>
              </a:r>
            </a:p>
          </p:txBody>
        </p:sp>
        <p:sp>
          <p:nvSpPr>
            <p:cNvPr id="136" name="Rectangle 135">
              <a:extLst>
                <a:ext uri="{FF2B5EF4-FFF2-40B4-BE49-F238E27FC236}">
                  <a16:creationId xmlns:a16="http://schemas.microsoft.com/office/drawing/2014/main" id="{F3205766-8A2B-1521-1964-C6BD2C077279}"/>
                </a:ext>
              </a:extLst>
            </p:cNvPr>
            <p:cNvSpPr/>
            <p:nvPr/>
          </p:nvSpPr>
          <p:spPr>
            <a:xfrm>
              <a:off x="3904425" y="2727959"/>
              <a:ext cx="850392" cy="621792"/>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8" name="TextBox 137">
              <a:extLst>
                <a:ext uri="{FF2B5EF4-FFF2-40B4-BE49-F238E27FC236}">
                  <a16:creationId xmlns:a16="http://schemas.microsoft.com/office/drawing/2014/main" id="{A7B8675C-CF47-20BA-365E-7A0646EB4749}"/>
                </a:ext>
              </a:extLst>
            </p:cNvPr>
            <p:cNvSpPr txBox="1"/>
            <p:nvPr/>
          </p:nvSpPr>
          <p:spPr>
            <a:xfrm>
              <a:off x="3794698" y="2478839"/>
              <a:ext cx="1069848" cy="230832"/>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rPr>
                <a:t>44%</a:t>
              </a:r>
            </a:p>
          </p:txBody>
        </p:sp>
        <p:sp>
          <p:nvSpPr>
            <p:cNvPr id="140" name="Rectangle 139">
              <a:extLst>
                <a:ext uri="{FF2B5EF4-FFF2-40B4-BE49-F238E27FC236}">
                  <a16:creationId xmlns:a16="http://schemas.microsoft.com/office/drawing/2014/main" id="{E400F3D4-4D81-CCBF-48CF-BBDFB472EB8E}"/>
                </a:ext>
              </a:extLst>
            </p:cNvPr>
            <p:cNvSpPr/>
            <p:nvPr/>
          </p:nvSpPr>
          <p:spPr>
            <a:xfrm>
              <a:off x="3794698" y="3349751"/>
              <a:ext cx="1069848" cy="1066801"/>
            </a:xfrm>
            <a:prstGeom prst="rect">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42" name="TextBox 141">
              <a:extLst>
                <a:ext uri="{FF2B5EF4-FFF2-40B4-BE49-F238E27FC236}">
                  <a16:creationId xmlns:a16="http://schemas.microsoft.com/office/drawing/2014/main" id="{5DE7D402-DB2A-EFF7-6279-D6705C787C19}"/>
                </a:ext>
              </a:extLst>
            </p:cNvPr>
            <p:cNvSpPr txBox="1"/>
            <p:nvPr/>
          </p:nvSpPr>
          <p:spPr>
            <a:xfrm>
              <a:off x="3867850" y="3413759"/>
              <a:ext cx="923544" cy="184666"/>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Integrated</a:t>
              </a:r>
            </a:p>
          </p:txBody>
        </p:sp>
        <p:sp>
          <p:nvSpPr>
            <p:cNvPr id="144" name="TextBox 143">
              <a:extLst>
                <a:ext uri="{FF2B5EF4-FFF2-40B4-BE49-F238E27FC236}">
                  <a16:creationId xmlns:a16="http://schemas.microsoft.com/office/drawing/2014/main" id="{83B305B7-A9EA-8E8D-99B1-979A11B66A23}"/>
                </a:ext>
              </a:extLst>
            </p:cNvPr>
            <p:cNvSpPr txBox="1"/>
            <p:nvPr/>
          </p:nvSpPr>
          <p:spPr>
            <a:xfrm>
              <a:off x="3867850" y="3614928"/>
              <a:ext cx="941831" cy="769441"/>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Data, analytics and operations integrated across major fraud types</a:t>
              </a:r>
            </a:p>
          </p:txBody>
        </p:sp>
        <p:sp>
          <p:nvSpPr>
            <p:cNvPr id="146" name="Rectangle 145">
              <a:extLst>
                <a:ext uri="{FF2B5EF4-FFF2-40B4-BE49-F238E27FC236}">
                  <a16:creationId xmlns:a16="http://schemas.microsoft.com/office/drawing/2014/main" id="{FB365C75-94B0-071A-081A-880B892D1091}"/>
                </a:ext>
              </a:extLst>
            </p:cNvPr>
            <p:cNvSpPr/>
            <p:nvPr/>
          </p:nvSpPr>
          <p:spPr>
            <a:xfrm>
              <a:off x="5033709" y="2812749"/>
              <a:ext cx="850392" cy="537002"/>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48" name="TextBox 147">
              <a:extLst>
                <a:ext uri="{FF2B5EF4-FFF2-40B4-BE49-F238E27FC236}">
                  <a16:creationId xmlns:a16="http://schemas.microsoft.com/office/drawing/2014/main" id="{A312C1A6-794C-A043-0B49-438A66EF6553}"/>
                </a:ext>
              </a:extLst>
            </p:cNvPr>
            <p:cNvSpPr txBox="1"/>
            <p:nvPr/>
          </p:nvSpPr>
          <p:spPr>
            <a:xfrm>
              <a:off x="4923982" y="2563629"/>
              <a:ext cx="1069848" cy="230832"/>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38%</a:t>
              </a:r>
            </a:p>
          </p:txBody>
        </p:sp>
        <p:sp>
          <p:nvSpPr>
            <p:cNvPr id="150" name="Rectangle 149">
              <a:extLst>
                <a:ext uri="{FF2B5EF4-FFF2-40B4-BE49-F238E27FC236}">
                  <a16:creationId xmlns:a16="http://schemas.microsoft.com/office/drawing/2014/main" id="{9BDAF2AE-3CE8-2BBE-2AED-B346F5B601B1}"/>
                </a:ext>
              </a:extLst>
            </p:cNvPr>
            <p:cNvSpPr/>
            <p:nvPr/>
          </p:nvSpPr>
          <p:spPr>
            <a:xfrm>
              <a:off x="4923982" y="3349751"/>
              <a:ext cx="1069848" cy="1066801"/>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52" name="TextBox 151">
              <a:extLst>
                <a:ext uri="{FF2B5EF4-FFF2-40B4-BE49-F238E27FC236}">
                  <a16:creationId xmlns:a16="http://schemas.microsoft.com/office/drawing/2014/main" id="{7C8641FB-D28B-1D83-AC27-56082F657534}"/>
                </a:ext>
              </a:extLst>
            </p:cNvPr>
            <p:cNvSpPr txBox="1"/>
            <p:nvPr/>
          </p:nvSpPr>
          <p:spPr>
            <a:xfrm>
              <a:off x="4997134" y="3413759"/>
              <a:ext cx="923544" cy="184666"/>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Advanced</a:t>
              </a:r>
            </a:p>
          </p:txBody>
        </p:sp>
        <p:sp>
          <p:nvSpPr>
            <p:cNvPr id="154" name="TextBox 153">
              <a:extLst>
                <a:ext uri="{FF2B5EF4-FFF2-40B4-BE49-F238E27FC236}">
                  <a16:creationId xmlns:a16="http://schemas.microsoft.com/office/drawing/2014/main" id="{12904219-6BF4-5A7E-02E4-C975D28E9841}"/>
                </a:ext>
              </a:extLst>
            </p:cNvPr>
            <p:cNvSpPr txBox="1"/>
            <p:nvPr/>
          </p:nvSpPr>
          <p:spPr>
            <a:xfrm>
              <a:off x="4997134" y="3614928"/>
              <a:ext cx="941831" cy="769441"/>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Predictive intelligence and ecosystem collaboration embedded</a:t>
              </a:r>
            </a:p>
          </p:txBody>
        </p:sp>
        <p:sp>
          <p:nvSpPr>
            <p:cNvPr id="156" name="Rectangle 155">
              <a:extLst>
                <a:ext uri="{FF2B5EF4-FFF2-40B4-BE49-F238E27FC236}">
                  <a16:creationId xmlns:a16="http://schemas.microsoft.com/office/drawing/2014/main" id="{3A9C8F15-8C97-0B77-8F8E-73EF83A21166}"/>
                </a:ext>
              </a:extLst>
            </p:cNvPr>
            <p:cNvSpPr/>
            <p:nvPr/>
          </p:nvSpPr>
          <p:spPr>
            <a:xfrm>
              <a:off x="3794698" y="2414016"/>
              <a:ext cx="2199132" cy="22860"/>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58" name="Rectangle 157">
              <a:extLst>
                <a:ext uri="{FF2B5EF4-FFF2-40B4-BE49-F238E27FC236}">
                  <a16:creationId xmlns:a16="http://schemas.microsoft.com/office/drawing/2014/main" id="{B9C3089A-D953-7451-9F87-18EE6DE50163}"/>
                </a:ext>
              </a:extLst>
            </p:cNvPr>
            <p:cNvSpPr/>
            <p:nvPr/>
          </p:nvSpPr>
          <p:spPr>
            <a:xfrm>
              <a:off x="3794698" y="2414016"/>
              <a:ext cx="22860" cy="109728"/>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60" name="Rectangle 159">
              <a:extLst>
                <a:ext uri="{FF2B5EF4-FFF2-40B4-BE49-F238E27FC236}">
                  <a16:creationId xmlns:a16="http://schemas.microsoft.com/office/drawing/2014/main" id="{DAA033E1-FED6-5137-C14C-A125990981CB}"/>
                </a:ext>
              </a:extLst>
            </p:cNvPr>
            <p:cNvSpPr/>
            <p:nvPr/>
          </p:nvSpPr>
          <p:spPr>
            <a:xfrm>
              <a:off x="5970969" y="2414016"/>
              <a:ext cx="22860" cy="109728"/>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62" name="TextBox 161">
              <a:extLst>
                <a:ext uri="{FF2B5EF4-FFF2-40B4-BE49-F238E27FC236}">
                  <a16:creationId xmlns:a16="http://schemas.microsoft.com/office/drawing/2014/main" id="{ADA623CE-C178-E232-440F-43FE2D2758D1}"/>
                </a:ext>
              </a:extLst>
            </p:cNvPr>
            <p:cNvSpPr txBox="1"/>
            <p:nvPr/>
          </p:nvSpPr>
          <p:spPr>
            <a:xfrm>
              <a:off x="3794698" y="2179151"/>
              <a:ext cx="2199132" cy="192360"/>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5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82% integrated or advanced</a:t>
              </a:r>
            </a:p>
          </p:txBody>
        </p:sp>
        <p:sp>
          <p:nvSpPr>
            <p:cNvPr id="164" name="TextBox 163">
              <a:extLst>
                <a:ext uri="{FF2B5EF4-FFF2-40B4-BE49-F238E27FC236}">
                  <a16:creationId xmlns:a16="http://schemas.microsoft.com/office/drawing/2014/main" id="{DDA7C91D-E45D-F790-FC84-3A9CD6E60A57}"/>
                </a:ext>
              </a:extLst>
            </p:cNvPr>
            <p:cNvSpPr txBox="1"/>
            <p:nvPr/>
          </p:nvSpPr>
          <p:spPr>
            <a:xfrm>
              <a:off x="406846" y="2286000"/>
              <a:ext cx="2377440" cy="138499"/>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0" i="1" u="none" strike="noStrike" kern="1200" cap="none" spc="0" normalizeH="0" baseline="0" noProof="0" dirty="0">
                  <a:ln>
                    <a:noFill/>
                  </a:ln>
                  <a:solidFill>
                    <a:srgbClr val="75787B"/>
                  </a:solidFill>
                  <a:effectLst/>
                  <a:uLnTx/>
                  <a:uFillTx/>
                  <a:latin typeface="Segoe UI" panose="020B0502040204020203" pitchFamily="34" charset="0"/>
                  <a:ea typeface="+mn-ea"/>
                  <a:cs typeface="Segoe UI" panose="020B0502040204020203" pitchFamily="34" charset="0"/>
                  <a:sym typeface="Arial"/>
                </a:rPr>
                <a:t>Low maturity → high maturity</a:t>
              </a:r>
            </a:p>
          </p:txBody>
        </p:sp>
      </p:grpSp>
      <p:grpSp>
        <p:nvGrpSpPr>
          <p:cNvPr id="4" name="Group 3">
            <a:extLst>
              <a:ext uri="{FF2B5EF4-FFF2-40B4-BE49-F238E27FC236}">
                <a16:creationId xmlns:a16="http://schemas.microsoft.com/office/drawing/2014/main" id="{A19B4BDC-749E-454E-A5D0-E2C377C63A8D}"/>
              </a:ext>
            </a:extLst>
          </p:cNvPr>
          <p:cNvGrpSpPr/>
          <p:nvPr/>
        </p:nvGrpSpPr>
        <p:grpSpPr>
          <a:xfrm>
            <a:off x="6644405" y="4714846"/>
            <a:ext cx="5301723" cy="1138126"/>
            <a:chOff x="635446" y="4765040"/>
            <a:chExt cx="5257800" cy="1138126"/>
          </a:xfrm>
        </p:grpSpPr>
        <p:sp>
          <p:nvSpPr>
            <p:cNvPr id="170" name="TextBox 169">
              <a:extLst>
                <a:ext uri="{FF2B5EF4-FFF2-40B4-BE49-F238E27FC236}">
                  <a16:creationId xmlns:a16="http://schemas.microsoft.com/office/drawing/2014/main" id="{A76EC001-FF6C-E29F-0642-D09154E1AD8F}"/>
                </a:ext>
              </a:extLst>
            </p:cNvPr>
            <p:cNvSpPr txBox="1"/>
            <p:nvPr/>
          </p:nvSpPr>
          <p:spPr>
            <a:xfrm>
              <a:off x="635446" y="4765040"/>
              <a:ext cx="5257800" cy="23083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READING THE RESULTS</a:t>
              </a:r>
            </a:p>
          </p:txBody>
        </p:sp>
        <p:sp>
          <p:nvSpPr>
            <p:cNvPr id="172" name="TextBox 171">
              <a:extLst>
                <a:ext uri="{FF2B5EF4-FFF2-40B4-BE49-F238E27FC236}">
                  <a16:creationId xmlns:a16="http://schemas.microsoft.com/office/drawing/2014/main" id="{D74B9B09-318D-9356-BC73-FB49BACD44F2}"/>
                </a:ext>
              </a:extLst>
            </p:cNvPr>
            <p:cNvSpPr txBox="1"/>
            <p:nvPr/>
          </p:nvSpPr>
          <p:spPr>
            <a:xfrm>
              <a:off x="635446" y="5041392"/>
              <a:ext cx="5257800" cy="86177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400"/>
                </a:spcAft>
                <a:buClrTx/>
                <a:buSzTx/>
                <a:buFontTx/>
                <a:buNone/>
                <a:tabLst/>
                <a:defRPr/>
              </a:pPr>
              <a:r>
                <a:rPr kumimoji="0" sz="14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Scale matters. </a:t>
              </a:r>
              <a:r>
                <a:rPr kumimoji="0" lang="en-US" sz="14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With more data, budget and specialist talent to integrate fraud operations, larger institutions are better placed to reach the upper tiers, suggesting that maturity still depends heavily on the resources an organization can commit.</a:t>
              </a:r>
              <a:endParaRPr kumimoji="0" sz="14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endParaRPr>
            </a:p>
          </p:txBody>
        </p:sp>
      </p:grpSp>
      <p:sp>
        <p:nvSpPr>
          <p:cNvPr id="174" name="Rectangle 173">
            <a:extLst>
              <a:ext uri="{FF2B5EF4-FFF2-40B4-BE49-F238E27FC236}">
                <a16:creationId xmlns:a16="http://schemas.microsoft.com/office/drawing/2014/main" id="{10627AD5-ADF2-C3C9-5B6B-CBE1258311C3}"/>
              </a:ext>
            </a:extLst>
          </p:cNvPr>
          <p:cNvSpPr/>
          <p:nvPr/>
        </p:nvSpPr>
        <p:spPr>
          <a:xfrm>
            <a:off x="320040" y="6175067"/>
            <a:ext cx="11548872" cy="502920"/>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lIns="36000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6BC25"/>
                </a:solidFill>
                <a:effectLst/>
                <a:uLnTx/>
                <a:uFillTx/>
                <a:latin typeface="Segoe UI" panose="020B0502040204020203" pitchFamily="34" charset="0"/>
                <a:ea typeface="+mn-ea"/>
                <a:cs typeface="Segoe UI" panose="020B0502040204020203" pitchFamily="34" charset="0"/>
                <a:sym typeface="Arial"/>
              </a:rPr>
              <a:t>WHAT IT MEANS  </a:t>
            </a:r>
            <a:r>
              <a:rPr kumimoji="0" lang="en-US" sz="13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Confidence is high, but priorities are shifting. What leaders rely on today is not what they plan to rely on next.</a:t>
            </a:r>
          </a:p>
        </p:txBody>
      </p:sp>
      <p:sp>
        <p:nvSpPr>
          <p:cNvPr id="44" name="Rectangle 43">
            <a:extLst>
              <a:ext uri="{FF2B5EF4-FFF2-40B4-BE49-F238E27FC236}">
                <a16:creationId xmlns:a16="http://schemas.microsoft.com/office/drawing/2014/main" id="{1ABF5886-849C-6275-EA75-BC2606059543}"/>
              </a:ext>
            </a:extLst>
          </p:cNvPr>
          <p:cNvSpPr/>
          <p:nvPr/>
        </p:nvSpPr>
        <p:spPr>
          <a:xfrm>
            <a:off x="6285886" y="2082080"/>
            <a:ext cx="2743200" cy="2205902"/>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48" name="TextBox 47">
            <a:extLst>
              <a:ext uri="{FF2B5EF4-FFF2-40B4-BE49-F238E27FC236}">
                <a16:creationId xmlns:a16="http://schemas.microsoft.com/office/drawing/2014/main" id="{9D4DEC1F-A23C-1CAC-11CE-75149F5E21E4}"/>
              </a:ext>
            </a:extLst>
          </p:cNvPr>
          <p:cNvSpPr txBox="1"/>
          <p:nvPr/>
        </p:nvSpPr>
        <p:spPr>
          <a:xfrm>
            <a:off x="7253573" y="2396318"/>
            <a:ext cx="1285240" cy="26161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700" b="1" i="0" u="none" strike="noStrike" kern="1200" cap="none" spc="0" normalizeH="0" baseline="0" noProof="0" dirty="0">
                <a:ln>
                  <a:noFill/>
                </a:ln>
                <a:solidFill>
                  <a:srgbClr val="43B02A"/>
                </a:solidFill>
                <a:effectLst/>
                <a:uLnTx/>
                <a:uFillTx/>
                <a:latin typeface="Segoe UI" panose="020B0502040204020203" pitchFamily="34" charset="0"/>
                <a:ea typeface="+mn-ea"/>
                <a:cs typeface="Segoe UI" panose="020B0502040204020203" pitchFamily="34" charset="0"/>
                <a:sym typeface="Arial"/>
              </a:rPr>
              <a:t>BANKING </a:t>
            </a:r>
            <a:endParaRPr kumimoji="0" lang="en-CA" sz="1700" b="0" i="0" u="none" strike="noStrike" kern="1200" cap="none" spc="0" normalizeH="0" baseline="0" noProof="0" dirty="0">
              <a:ln>
                <a:noFill/>
              </a:ln>
              <a:solidFill>
                <a:srgbClr val="43B02A"/>
              </a:solidFill>
              <a:effectLst/>
              <a:uLnTx/>
              <a:uFillTx/>
              <a:latin typeface="Segoe UI" panose="020B0502040204020203" pitchFamily="34" charset="0"/>
              <a:ea typeface="+mn-ea"/>
              <a:cs typeface="Segoe UI" panose="020B0502040204020203" pitchFamily="34" charset="0"/>
              <a:sym typeface="Arial"/>
            </a:endParaRPr>
          </a:p>
        </p:txBody>
      </p:sp>
      <p:sp>
        <p:nvSpPr>
          <p:cNvPr id="50" name="TextBox 49">
            <a:extLst>
              <a:ext uri="{FF2B5EF4-FFF2-40B4-BE49-F238E27FC236}">
                <a16:creationId xmlns:a16="http://schemas.microsoft.com/office/drawing/2014/main" id="{7E4A6F62-DF14-AE9C-32C0-0ED9E4DD4EF4}"/>
              </a:ext>
            </a:extLst>
          </p:cNvPr>
          <p:cNvSpPr txBox="1"/>
          <p:nvPr/>
        </p:nvSpPr>
        <p:spPr>
          <a:xfrm>
            <a:off x="6426934" y="2901698"/>
            <a:ext cx="1371600" cy="692497"/>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4500" b="1" i="0" u="none" strike="noStrike" kern="1200" cap="none" spc="0" normalizeH="0" baseline="0" noProof="0" dirty="0">
                <a:ln>
                  <a:noFill/>
                </a:ln>
                <a:solidFill>
                  <a:srgbClr val="43B02A"/>
                </a:solidFill>
                <a:effectLst/>
                <a:uLnTx/>
                <a:uFillTx/>
                <a:latin typeface="Segoe UI" panose="020B0502040204020203" pitchFamily="34" charset="0"/>
                <a:ea typeface="+mn-ea"/>
                <a:cs typeface="Segoe UI" panose="020B0502040204020203" pitchFamily="34" charset="0"/>
                <a:sym typeface="Arial"/>
              </a:rPr>
              <a:t>85%</a:t>
            </a:r>
          </a:p>
        </p:txBody>
      </p:sp>
      <p:sp>
        <p:nvSpPr>
          <p:cNvPr id="52" name="TextBox 51">
            <a:extLst>
              <a:ext uri="{FF2B5EF4-FFF2-40B4-BE49-F238E27FC236}">
                <a16:creationId xmlns:a16="http://schemas.microsoft.com/office/drawing/2014/main" id="{64F0F000-03AE-7C91-C075-76E7FCED7477}"/>
              </a:ext>
            </a:extLst>
          </p:cNvPr>
          <p:cNvSpPr txBox="1"/>
          <p:nvPr/>
        </p:nvSpPr>
        <p:spPr>
          <a:xfrm>
            <a:off x="7634141" y="3015944"/>
            <a:ext cx="1371600" cy="461665"/>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US" sz="1500" b="1" i="0" u="none" strike="noStrike" kern="1200" cap="none" spc="0" normalizeH="0" baseline="0" noProof="0" dirty="0">
                <a:ln>
                  <a:noFill/>
                </a:ln>
                <a:solidFill>
                  <a:srgbClr val="404040"/>
                </a:solidFill>
                <a:effectLst/>
                <a:uLnTx/>
                <a:uFillTx/>
                <a:latin typeface="Segoe UI" panose="020B0502040204020203" pitchFamily="34" charset="0"/>
                <a:cs typeface="Segoe UI" panose="020B0502040204020203" pitchFamily="34" charset="0"/>
                <a:sym typeface="Arial"/>
              </a:rPr>
              <a:t>Integrated </a:t>
            </a:r>
            <a:r>
              <a:rPr kumimoji="0" lang="en-US" sz="1500" b="0" i="0" u="none" strike="noStrike" kern="1200" cap="none" spc="0" normalizeH="0" baseline="0" noProof="0" dirty="0">
                <a:ln>
                  <a:noFill/>
                </a:ln>
                <a:solidFill>
                  <a:srgbClr val="404040"/>
                </a:solidFill>
                <a:effectLst/>
                <a:uLnTx/>
                <a:uFillTx/>
                <a:latin typeface="Segoe UI" panose="020B0502040204020203" pitchFamily="34" charset="0"/>
                <a:cs typeface="Segoe UI" panose="020B0502040204020203" pitchFamily="34" charset="0"/>
                <a:sym typeface="Arial"/>
              </a:rPr>
              <a:t>or</a:t>
            </a:r>
            <a:r>
              <a:rPr kumimoji="0" lang="en-US" sz="1500" b="1" i="0" u="none" strike="noStrike" kern="1200" cap="none" spc="0" normalizeH="0" baseline="0" noProof="0" dirty="0">
                <a:ln>
                  <a:noFill/>
                </a:ln>
                <a:solidFill>
                  <a:srgbClr val="404040"/>
                </a:solidFill>
                <a:effectLst/>
                <a:uLnTx/>
                <a:uFillTx/>
                <a:latin typeface="Segoe UI" panose="020B0502040204020203" pitchFamily="34" charset="0"/>
                <a:cs typeface="Segoe UI" panose="020B0502040204020203" pitchFamily="34" charset="0"/>
                <a:sym typeface="Arial"/>
              </a:rPr>
              <a:t> Advanced</a:t>
            </a:r>
          </a:p>
        </p:txBody>
      </p:sp>
      <p:sp>
        <p:nvSpPr>
          <p:cNvPr id="54" name="TextBox 53">
            <a:extLst>
              <a:ext uri="{FF2B5EF4-FFF2-40B4-BE49-F238E27FC236}">
                <a16:creationId xmlns:a16="http://schemas.microsoft.com/office/drawing/2014/main" id="{6CCFA096-A12A-FF04-B255-5D14F3303DE0}"/>
              </a:ext>
            </a:extLst>
          </p:cNvPr>
          <p:cNvSpPr txBox="1"/>
          <p:nvPr/>
        </p:nvSpPr>
        <p:spPr>
          <a:xfrm>
            <a:off x="6446390" y="3674991"/>
            <a:ext cx="2464146" cy="46166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Nearly half (48%) of banking respondents describe their program as </a:t>
            </a:r>
            <a:r>
              <a:rPr kumimoji="0" lang="en-US" sz="10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integrated</a:t>
            </a:r>
            <a:r>
              <a:rPr kumimoji="0" lang="en-US"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 and 37% selected </a:t>
            </a:r>
            <a:r>
              <a:rPr kumimoji="0" lang="en-US" sz="10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advanced</a:t>
            </a:r>
            <a:r>
              <a:rPr kumimoji="0" lang="en-US"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a:t>
            </a:r>
          </a:p>
        </p:txBody>
      </p:sp>
      <p:sp>
        <p:nvSpPr>
          <p:cNvPr id="56" name="Rectangle 55">
            <a:extLst>
              <a:ext uri="{FF2B5EF4-FFF2-40B4-BE49-F238E27FC236}">
                <a16:creationId xmlns:a16="http://schemas.microsoft.com/office/drawing/2014/main" id="{8A755762-75D6-2298-171B-AD0291A4D5B7}"/>
              </a:ext>
            </a:extLst>
          </p:cNvPr>
          <p:cNvSpPr/>
          <p:nvPr/>
        </p:nvSpPr>
        <p:spPr>
          <a:xfrm>
            <a:off x="9166246" y="2082080"/>
            <a:ext cx="2743200" cy="2205902"/>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60" name="TextBox 59">
            <a:extLst>
              <a:ext uri="{FF2B5EF4-FFF2-40B4-BE49-F238E27FC236}">
                <a16:creationId xmlns:a16="http://schemas.microsoft.com/office/drawing/2014/main" id="{AABA58D4-7927-47CA-5B7A-F894B32AF6C6}"/>
              </a:ext>
            </a:extLst>
          </p:cNvPr>
          <p:cNvSpPr txBox="1"/>
          <p:nvPr/>
        </p:nvSpPr>
        <p:spPr>
          <a:xfrm>
            <a:off x="10133933" y="2396318"/>
            <a:ext cx="1285240" cy="26161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7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INSURANCE </a:t>
            </a:r>
            <a:endParaRPr kumimoji="0" lang="en-CA" sz="1700" b="0"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endParaRPr>
          </a:p>
        </p:txBody>
      </p:sp>
      <p:sp>
        <p:nvSpPr>
          <p:cNvPr id="62" name="TextBox 61">
            <a:extLst>
              <a:ext uri="{FF2B5EF4-FFF2-40B4-BE49-F238E27FC236}">
                <a16:creationId xmlns:a16="http://schemas.microsoft.com/office/drawing/2014/main" id="{D3A4BD59-CFA7-ABB8-95F5-1DC130F027E1}"/>
              </a:ext>
            </a:extLst>
          </p:cNvPr>
          <p:cNvSpPr txBox="1"/>
          <p:nvPr/>
        </p:nvSpPr>
        <p:spPr>
          <a:xfrm>
            <a:off x="9307294" y="2901698"/>
            <a:ext cx="1371600" cy="692497"/>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45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72%</a:t>
            </a:r>
          </a:p>
        </p:txBody>
      </p:sp>
      <p:sp>
        <p:nvSpPr>
          <p:cNvPr id="64" name="TextBox 63">
            <a:extLst>
              <a:ext uri="{FF2B5EF4-FFF2-40B4-BE49-F238E27FC236}">
                <a16:creationId xmlns:a16="http://schemas.microsoft.com/office/drawing/2014/main" id="{8F66A6F0-1F04-B7D5-2057-01994907E346}"/>
              </a:ext>
            </a:extLst>
          </p:cNvPr>
          <p:cNvSpPr txBox="1"/>
          <p:nvPr/>
        </p:nvSpPr>
        <p:spPr>
          <a:xfrm>
            <a:off x="10514501" y="3015944"/>
            <a:ext cx="1371600" cy="461665"/>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Integrated</a:t>
            </a:r>
            <a:r>
              <a:rPr kumimoji="0" sz="15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 </a:t>
            </a:r>
            <a:r>
              <a:rPr kumimoji="0" sz="15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or</a:t>
            </a:r>
            <a:r>
              <a:rPr kumimoji="0" sz="15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 </a:t>
            </a:r>
            <a:r>
              <a:rPr kumimoji="0" lang="en-US" sz="15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A</a:t>
            </a:r>
            <a:r>
              <a:rPr kumimoji="0" sz="15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dvanced</a:t>
            </a:r>
          </a:p>
        </p:txBody>
      </p:sp>
      <p:sp>
        <p:nvSpPr>
          <p:cNvPr id="66" name="TextBox 65">
            <a:extLst>
              <a:ext uri="{FF2B5EF4-FFF2-40B4-BE49-F238E27FC236}">
                <a16:creationId xmlns:a16="http://schemas.microsoft.com/office/drawing/2014/main" id="{9207EF7A-340B-DE12-AAA3-72945B411EB9}"/>
              </a:ext>
            </a:extLst>
          </p:cNvPr>
          <p:cNvSpPr txBox="1"/>
          <p:nvPr/>
        </p:nvSpPr>
        <p:spPr>
          <a:xfrm>
            <a:off x="9326750" y="3674991"/>
            <a:ext cx="2464146" cy="46166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40% of insurance respondents describe their program as </a:t>
            </a:r>
            <a:r>
              <a:rPr kumimoji="0" lang="en-US" sz="10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advanced</a:t>
            </a:r>
            <a:r>
              <a:rPr kumimoji="0" lang="en-US"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 ahead of the 32% who selected </a:t>
            </a:r>
            <a:r>
              <a:rPr kumimoji="0" lang="en-US" sz="10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integrated</a:t>
            </a:r>
            <a:r>
              <a:rPr kumimoji="0" lang="en-US"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a:t>
            </a:r>
          </a:p>
        </p:txBody>
      </p:sp>
      <p:pic>
        <p:nvPicPr>
          <p:cNvPr id="187" name="Picture 186">
            <a:extLst>
              <a:ext uri="{FF2B5EF4-FFF2-40B4-BE49-F238E27FC236}">
                <a16:creationId xmlns:a16="http://schemas.microsoft.com/office/drawing/2014/main" id="{83A41D65-DE08-C696-70B4-21DEBA0524E1}"/>
              </a:ext>
            </a:extLst>
          </p:cNvPr>
          <p:cNvPicPr>
            <a:picLocks noChangeAspect="1"/>
          </p:cNvPicPr>
          <p:nvPr/>
        </p:nvPicPr>
        <p:blipFill>
          <a:blip r:embed="rId3"/>
          <a:stretch>
            <a:fillRect/>
          </a:stretch>
        </p:blipFill>
        <p:spPr>
          <a:xfrm>
            <a:off x="6440014" y="2178335"/>
            <a:ext cx="720000" cy="720000"/>
          </a:xfrm>
          <a:prstGeom prst="rect">
            <a:avLst/>
          </a:prstGeom>
        </p:spPr>
      </p:pic>
      <p:sp>
        <p:nvSpPr>
          <p:cNvPr id="191" name="Rectangle 190">
            <a:extLst>
              <a:ext uri="{FF2B5EF4-FFF2-40B4-BE49-F238E27FC236}">
                <a16:creationId xmlns:a16="http://schemas.microsoft.com/office/drawing/2014/main" id="{6C715FA2-3CA1-8AFE-2EA1-975F8065BE9D}"/>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dirty="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OPERATING MODEL TRANSFORMATION</a:t>
            </a:r>
          </a:p>
        </p:txBody>
      </p:sp>
      <p:grpSp>
        <p:nvGrpSpPr>
          <p:cNvPr id="193" name="Group 192">
            <a:extLst>
              <a:ext uri="{FF2B5EF4-FFF2-40B4-BE49-F238E27FC236}">
                <a16:creationId xmlns:a16="http://schemas.microsoft.com/office/drawing/2014/main" id="{BD5927B5-A3C9-91F3-7570-0208CA27E2EA}"/>
              </a:ext>
            </a:extLst>
          </p:cNvPr>
          <p:cNvGrpSpPr/>
          <p:nvPr/>
        </p:nvGrpSpPr>
        <p:grpSpPr>
          <a:xfrm>
            <a:off x="9320374" y="2178335"/>
            <a:ext cx="720000" cy="720000"/>
            <a:chOff x="3319272" y="3429000"/>
            <a:chExt cx="329184" cy="329184"/>
          </a:xfrm>
        </p:grpSpPr>
        <p:sp>
          <p:nvSpPr>
            <p:cNvPr id="194" name="Rounded Rectangle 42">
              <a:extLst>
                <a:ext uri="{FF2B5EF4-FFF2-40B4-BE49-F238E27FC236}">
                  <a16:creationId xmlns:a16="http://schemas.microsoft.com/office/drawing/2014/main" id="{2D4AF295-ADD9-0085-05EF-A795E2EE42BB}"/>
                </a:ext>
              </a:extLst>
            </p:cNvPr>
            <p:cNvSpPr/>
            <p:nvPr/>
          </p:nvSpPr>
          <p:spPr>
            <a:xfrm>
              <a:off x="3319272" y="3429000"/>
              <a:ext cx="329184" cy="329184"/>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95" name="Picture 194" descr="ic_shield_w.png">
              <a:extLst>
                <a:ext uri="{FF2B5EF4-FFF2-40B4-BE49-F238E27FC236}">
                  <a16:creationId xmlns:a16="http://schemas.microsoft.com/office/drawing/2014/main" id="{1BF3CE91-F5EB-12CC-DD22-D72ACEDB470F}"/>
                </a:ext>
              </a:extLst>
            </p:cNvPr>
            <p:cNvPicPr>
              <a:picLocks noChangeAspect="1"/>
            </p:cNvPicPr>
            <p:nvPr/>
          </p:nvPicPr>
          <p:blipFill>
            <a:blip r:embed="rId4"/>
            <a:stretch>
              <a:fillRect/>
            </a:stretch>
          </p:blipFill>
          <p:spPr>
            <a:xfrm>
              <a:off x="3391692" y="3501420"/>
              <a:ext cx="184343" cy="184343"/>
            </a:xfrm>
            <a:prstGeom prst="rect">
              <a:avLst/>
            </a:prstGeom>
          </p:spPr>
        </p:pic>
      </p:grpSp>
      <p:sp>
        <p:nvSpPr>
          <p:cNvPr id="6" name="Chevron 19">
            <a:extLst>
              <a:ext uri="{FF2B5EF4-FFF2-40B4-BE49-F238E27FC236}">
                <a16:creationId xmlns:a16="http://schemas.microsoft.com/office/drawing/2014/main" id="{00BE6EE0-B4F4-2331-3AC8-F49B42356DCF}"/>
              </a:ext>
            </a:extLst>
          </p:cNvPr>
          <p:cNvSpPr/>
          <p:nvPr/>
        </p:nvSpPr>
        <p:spPr>
          <a:xfrm>
            <a:off x="6203206" y="4933187"/>
            <a:ext cx="243184" cy="701444"/>
          </a:xfrm>
          <a:prstGeom prst="chevron">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sp>
        <p:nvSpPr>
          <p:cNvPr id="8" name="TextBox 7">
            <a:extLst>
              <a:ext uri="{FF2B5EF4-FFF2-40B4-BE49-F238E27FC236}">
                <a16:creationId xmlns:a16="http://schemas.microsoft.com/office/drawing/2014/main" id="{2039AEB9-1ED7-17DF-5E81-FDC92B6CE4D4}"/>
              </a:ext>
            </a:extLst>
          </p:cNvPr>
          <p:cNvSpPr txBox="1"/>
          <p:nvPr/>
        </p:nvSpPr>
        <p:spPr>
          <a:xfrm>
            <a:off x="6285886" y="1803134"/>
            <a:ext cx="5257800" cy="23083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SECTOR BREAKDOWN</a:t>
            </a:r>
            <a:endParaRPr kumimoji="0" sz="15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endParaRPr>
          </a:p>
        </p:txBody>
      </p:sp>
      <p:grpSp>
        <p:nvGrpSpPr>
          <p:cNvPr id="9" name="Group 8">
            <a:extLst>
              <a:ext uri="{FF2B5EF4-FFF2-40B4-BE49-F238E27FC236}">
                <a16:creationId xmlns:a16="http://schemas.microsoft.com/office/drawing/2014/main" id="{D6D8964B-B4D2-E22A-B12B-457A07C38160}"/>
              </a:ext>
            </a:extLst>
          </p:cNvPr>
          <p:cNvGrpSpPr/>
          <p:nvPr/>
        </p:nvGrpSpPr>
        <p:grpSpPr>
          <a:xfrm>
            <a:off x="249638" y="464705"/>
            <a:ext cx="11521440" cy="585793"/>
            <a:chOff x="249638" y="464705"/>
            <a:chExt cx="11521440" cy="585793"/>
          </a:xfrm>
        </p:grpSpPr>
        <p:sp>
          <p:nvSpPr>
            <p:cNvPr id="10" name="Text 22">
              <a:extLst>
                <a:ext uri="{FF2B5EF4-FFF2-40B4-BE49-F238E27FC236}">
                  <a16:creationId xmlns:a16="http://schemas.microsoft.com/office/drawing/2014/main" id="{E4171AD6-9372-123A-A331-3718D6F1E587}"/>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1500" b="1" i="0" u="none" strike="noStrike" kern="0" cap="none" spc="8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THE STARTING POINT</a:t>
              </a:r>
            </a:p>
          </p:txBody>
        </p:sp>
        <p:sp>
          <p:nvSpPr>
            <p:cNvPr id="11" name="TextBox 10">
              <a:extLst>
                <a:ext uri="{FF2B5EF4-FFF2-40B4-BE49-F238E27FC236}">
                  <a16:creationId xmlns:a16="http://schemas.microsoft.com/office/drawing/2014/main" id="{DA1862B9-764F-B34C-D5CF-2639782DB83B}"/>
                </a:ext>
              </a:extLst>
            </p:cNvPr>
            <p:cNvSpPr txBox="1"/>
            <p:nvPr/>
          </p:nvSpPr>
          <p:spPr>
            <a:xfrm>
              <a:off x="249638" y="711944"/>
              <a:ext cx="11521440" cy="33855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11111"/>
                  </a:solidFill>
                  <a:effectLst/>
                  <a:uLnTx/>
                  <a:uFillTx/>
                  <a:latin typeface="Segoe UI" panose="020B0502040204020203" pitchFamily="34" charset="0"/>
                  <a:ea typeface="+mn-ea"/>
                  <a:cs typeface="Segoe UI" panose="020B0502040204020203" pitchFamily="34" charset="0"/>
                  <a:sym typeface="Arial"/>
                </a:rPr>
                <a:t>82% of fraud programs report strong maturity, but scale remains a key differentiator</a:t>
              </a:r>
            </a:p>
          </p:txBody>
        </p:sp>
      </p:grpSp>
      <p:sp>
        <p:nvSpPr>
          <p:cNvPr id="7" name="Rectangle 6">
            <a:extLst>
              <a:ext uri="{FF2B5EF4-FFF2-40B4-BE49-F238E27FC236}">
                <a16:creationId xmlns:a16="http://schemas.microsoft.com/office/drawing/2014/main" id="{BADD6BF1-6189-D48A-A1C3-B519C0382917}"/>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For detailed data please refer to </a:t>
            </a: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hlinkClick r:id="" action="ppaction://noaction"/>
              </a:rPr>
              <a:t>Appendix – D </a:t>
            </a:r>
            <a:endPar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Tree>
    <p:extLst>
      <p:ext uri="{BB962C8B-B14F-4D97-AF65-F5344CB8AC3E}">
        <p14:creationId xmlns:p14="http://schemas.microsoft.com/office/powerpoint/2010/main" val="1464127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9F5F9-61EC-529C-A855-DD31A7C82010}"/>
            </a:ext>
          </a:extLst>
        </p:cNvPr>
        <p:cNvGrpSpPr/>
        <p:nvPr/>
      </p:nvGrpSpPr>
      <p:grpSpPr>
        <a:xfrm>
          <a:off x="0" y="0"/>
          <a:ext cx="0" cy="0"/>
          <a:chOff x="0" y="0"/>
          <a:chExt cx="0" cy="0"/>
        </a:xfrm>
      </p:grpSpPr>
      <p:sp>
        <p:nvSpPr>
          <p:cNvPr id="153" name="Rectangle 152">
            <a:extLst>
              <a:ext uri="{FF2B5EF4-FFF2-40B4-BE49-F238E27FC236}">
                <a16:creationId xmlns:a16="http://schemas.microsoft.com/office/drawing/2014/main" id="{6FEC4548-FA50-598E-CBA4-7BEE6FB67DBA}"/>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OPERATING MODEL TRANSFORMATION</a:t>
            </a:r>
          </a:p>
        </p:txBody>
      </p:sp>
      <p:sp>
        <p:nvSpPr>
          <p:cNvPr id="7" name="Rounded Rectangle 6">
            <a:extLst>
              <a:ext uri="{FF2B5EF4-FFF2-40B4-BE49-F238E27FC236}">
                <a16:creationId xmlns:a16="http://schemas.microsoft.com/office/drawing/2014/main" id="{4C7F93B9-389B-9B7F-54DE-B3483249392E}"/>
              </a:ext>
            </a:extLst>
          </p:cNvPr>
          <p:cNvSpPr/>
          <p:nvPr/>
        </p:nvSpPr>
        <p:spPr>
          <a:xfrm>
            <a:off x="320040" y="1853694"/>
            <a:ext cx="5440680" cy="4789529"/>
          </a:xfrm>
          <a:prstGeom prst="roundRect">
            <a:avLst>
              <a:gd name="adj" fmla="val 3000"/>
            </a:avLst>
          </a:prstGeom>
          <a:solidFill>
            <a:srgbClr val="FFFFFF"/>
          </a:solidFill>
          <a:ln w="28575">
            <a:solidFill>
              <a:schemeClr val="bg1">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8" name="TextBox 7">
            <a:extLst>
              <a:ext uri="{FF2B5EF4-FFF2-40B4-BE49-F238E27FC236}">
                <a16:creationId xmlns:a16="http://schemas.microsoft.com/office/drawing/2014/main" id="{6AE030A3-0941-2778-52F7-A64C9173DAD4}"/>
              </a:ext>
            </a:extLst>
          </p:cNvPr>
          <p:cNvSpPr txBox="1"/>
          <p:nvPr/>
        </p:nvSpPr>
        <p:spPr>
          <a:xfrm>
            <a:off x="502920" y="1933012"/>
            <a:ext cx="5074920"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FOCUS TODAY VS IN THREE YEARS</a:t>
            </a:r>
            <a:endParaRPr kumimoji="0" sz="13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grpSp>
        <p:nvGrpSpPr>
          <p:cNvPr id="9" name="Group 8">
            <a:extLst>
              <a:ext uri="{FF2B5EF4-FFF2-40B4-BE49-F238E27FC236}">
                <a16:creationId xmlns:a16="http://schemas.microsoft.com/office/drawing/2014/main" id="{C84B57A7-654D-319F-1842-AFB4ED7A6988}"/>
              </a:ext>
            </a:extLst>
          </p:cNvPr>
          <p:cNvGrpSpPr/>
          <p:nvPr/>
        </p:nvGrpSpPr>
        <p:grpSpPr>
          <a:xfrm>
            <a:off x="3815714" y="5542987"/>
            <a:ext cx="1819900" cy="214997"/>
            <a:chOff x="3749039" y="5326380"/>
            <a:chExt cx="1819900" cy="214997"/>
          </a:xfrm>
        </p:grpSpPr>
        <p:sp>
          <p:nvSpPr>
            <p:cNvPr id="10" name="TextBox 9">
              <a:extLst>
                <a:ext uri="{FF2B5EF4-FFF2-40B4-BE49-F238E27FC236}">
                  <a16:creationId xmlns:a16="http://schemas.microsoft.com/office/drawing/2014/main" id="{0DC383D8-BC4A-580F-12DB-69474EE9CCD7}"/>
                </a:ext>
              </a:extLst>
            </p:cNvPr>
            <p:cNvSpPr txBox="1"/>
            <p:nvPr/>
          </p:nvSpPr>
          <p:spPr>
            <a:xfrm>
              <a:off x="3749039" y="5372100"/>
              <a:ext cx="731520" cy="169277"/>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1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sp>
          <p:nvSpPr>
            <p:cNvPr id="13" name="TextBox 12">
              <a:extLst>
                <a:ext uri="{FF2B5EF4-FFF2-40B4-BE49-F238E27FC236}">
                  <a16:creationId xmlns:a16="http://schemas.microsoft.com/office/drawing/2014/main" id="{0FE46E98-FA47-7087-C6AD-12A318724BFB}"/>
                </a:ext>
              </a:extLst>
            </p:cNvPr>
            <p:cNvSpPr txBox="1"/>
            <p:nvPr/>
          </p:nvSpPr>
          <p:spPr>
            <a:xfrm>
              <a:off x="4306581" y="5326380"/>
              <a:ext cx="1262358" cy="15388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r>
                <a:rPr kumimoji="0" lang="en-US" sz="10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Change in 3 Years</a:t>
              </a:r>
              <a:endParaRPr kumimoji="0" sz="10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grpSp>
      <p:grpSp>
        <p:nvGrpSpPr>
          <p:cNvPr id="44" name="Group 43">
            <a:extLst>
              <a:ext uri="{FF2B5EF4-FFF2-40B4-BE49-F238E27FC236}">
                <a16:creationId xmlns:a16="http://schemas.microsoft.com/office/drawing/2014/main" id="{DA367EC8-BCD9-9F07-12C9-D03C66747FDE}"/>
              </a:ext>
            </a:extLst>
          </p:cNvPr>
          <p:cNvGrpSpPr/>
          <p:nvPr/>
        </p:nvGrpSpPr>
        <p:grpSpPr>
          <a:xfrm>
            <a:off x="661034" y="6363679"/>
            <a:ext cx="4709161" cy="153888"/>
            <a:chOff x="594359" y="6086112"/>
            <a:chExt cx="4709161" cy="153888"/>
          </a:xfrm>
        </p:grpSpPr>
        <p:sp>
          <p:nvSpPr>
            <p:cNvPr id="46" name="Rounded Rectangle 38">
              <a:extLst>
                <a:ext uri="{FF2B5EF4-FFF2-40B4-BE49-F238E27FC236}">
                  <a16:creationId xmlns:a16="http://schemas.microsoft.com/office/drawing/2014/main" id="{481466AC-D827-9624-25F3-034BD08AE971}"/>
                </a:ext>
              </a:extLst>
            </p:cNvPr>
            <p:cNvSpPr/>
            <p:nvPr/>
          </p:nvSpPr>
          <p:spPr>
            <a:xfrm>
              <a:off x="594359" y="6103620"/>
              <a:ext cx="128016" cy="118872"/>
            </a:xfrm>
            <a:prstGeom prst="roundRect">
              <a:avLst>
                <a:gd name="adj" fmla="val 30000"/>
              </a:avLst>
            </a:prstGeom>
            <a:solidFill>
              <a:srgbClr val="C8CB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0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48" name="TextBox 47">
              <a:extLst>
                <a:ext uri="{FF2B5EF4-FFF2-40B4-BE49-F238E27FC236}">
                  <a16:creationId xmlns:a16="http://schemas.microsoft.com/office/drawing/2014/main" id="{DE8638C9-D387-0619-AA9A-4BF42FBE8A9B}"/>
                </a:ext>
              </a:extLst>
            </p:cNvPr>
            <p:cNvSpPr txBox="1"/>
            <p:nvPr/>
          </p:nvSpPr>
          <p:spPr>
            <a:xfrm>
              <a:off x="795528" y="6086112"/>
              <a:ext cx="2926080" cy="15388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Other</a:t>
              </a:r>
              <a:endParaRPr kumimoji="0" sz="1000" b="0"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p:txBody>
        </p:sp>
        <p:sp>
          <p:nvSpPr>
            <p:cNvPr id="49" name="TextBox 48">
              <a:extLst>
                <a:ext uri="{FF2B5EF4-FFF2-40B4-BE49-F238E27FC236}">
                  <a16:creationId xmlns:a16="http://schemas.microsoft.com/office/drawing/2014/main" id="{961233FC-9E78-97A8-AD0F-CE5D720A7588}"/>
                </a:ext>
              </a:extLst>
            </p:cNvPr>
            <p:cNvSpPr txBox="1"/>
            <p:nvPr/>
          </p:nvSpPr>
          <p:spPr>
            <a:xfrm>
              <a:off x="3749039" y="6086112"/>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50" name="TextBox 49">
              <a:extLst>
                <a:ext uri="{FF2B5EF4-FFF2-40B4-BE49-F238E27FC236}">
                  <a16:creationId xmlns:a16="http://schemas.microsoft.com/office/drawing/2014/main" id="{C21B3227-8C03-4DF6-8C6D-61FAC4A698F3}"/>
                </a:ext>
              </a:extLst>
            </p:cNvPr>
            <p:cNvSpPr txBox="1"/>
            <p:nvPr/>
          </p:nvSpPr>
          <p:spPr>
            <a:xfrm>
              <a:off x="4572000" y="6086112"/>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−19% </a:t>
              </a:r>
              <a:r>
                <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a:t>
              </a:r>
            </a:p>
          </p:txBody>
        </p:sp>
      </p:grpSp>
      <p:grpSp>
        <p:nvGrpSpPr>
          <p:cNvPr id="52" name="Group 51">
            <a:extLst>
              <a:ext uri="{FF2B5EF4-FFF2-40B4-BE49-F238E27FC236}">
                <a16:creationId xmlns:a16="http://schemas.microsoft.com/office/drawing/2014/main" id="{AD75951C-4161-47D2-72A6-1DB23F6DEFED}"/>
              </a:ext>
            </a:extLst>
          </p:cNvPr>
          <p:cNvGrpSpPr/>
          <p:nvPr/>
        </p:nvGrpSpPr>
        <p:grpSpPr>
          <a:xfrm rot="20166160">
            <a:off x="1477186" y="2447796"/>
            <a:ext cx="2933725" cy="2933725"/>
            <a:chOff x="619505" y="2055114"/>
            <a:chExt cx="2464308" cy="2464308"/>
          </a:xfrm>
        </p:grpSpPr>
        <p:sp>
          <p:nvSpPr>
            <p:cNvPr id="132" name="Arc 41%">
              <a:extLst>
                <a:ext uri="{FF2B5EF4-FFF2-40B4-BE49-F238E27FC236}">
                  <a16:creationId xmlns:a16="http://schemas.microsoft.com/office/drawing/2014/main" id="{4ED500DC-D60E-91A1-2596-0903AF70166E}"/>
                </a:ext>
              </a:extLst>
            </p:cNvPr>
            <p:cNvSpPr/>
            <p:nvPr/>
          </p:nvSpPr>
          <p:spPr>
            <a:xfrm>
              <a:off x="619505" y="2055114"/>
              <a:ext cx="2464308" cy="2464308"/>
            </a:xfrm>
            <a:prstGeom prst="blockArc">
              <a:avLst>
                <a:gd name="adj1" fmla="val 16236000"/>
                <a:gd name="adj2" fmla="val 3419999"/>
                <a:gd name="adj3" fmla="val 15306"/>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3" name="Arc 18%">
              <a:extLst>
                <a:ext uri="{FF2B5EF4-FFF2-40B4-BE49-F238E27FC236}">
                  <a16:creationId xmlns:a16="http://schemas.microsoft.com/office/drawing/2014/main" id="{8E2850BB-69FE-06F4-5D8F-A8E541BEAE87}"/>
                </a:ext>
              </a:extLst>
            </p:cNvPr>
            <p:cNvSpPr/>
            <p:nvPr/>
          </p:nvSpPr>
          <p:spPr>
            <a:xfrm>
              <a:off x="619505" y="2055114"/>
              <a:ext cx="2464308" cy="2464308"/>
            </a:xfrm>
            <a:prstGeom prst="blockArc">
              <a:avLst>
                <a:gd name="adj1" fmla="val 3492000"/>
                <a:gd name="adj2" fmla="val 7308000"/>
                <a:gd name="adj3" fmla="val 15306"/>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4" name="Arc 12%">
              <a:extLst>
                <a:ext uri="{FF2B5EF4-FFF2-40B4-BE49-F238E27FC236}">
                  <a16:creationId xmlns:a16="http://schemas.microsoft.com/office/drawing/2014/main" id="{6D6F45F6-41D2-86FB-6846-FCF8A283ED9F}"/>
                </a:ext>
              </a:extLst>
            </p:cNvPr>
            <p:cNvSpPr/>
            <p:nvPr/>
          </p:nvSpPr>
          <p:spPr>
            <a:xfrm>
              <a:off x="619505" y="2055114"/>
              <a:ext cx="2464308" cy="2464308"/>
            </a:xfrm>
            <a:prstGeom prst="blockArc">
              <a:avLst>
                <a:gd name="adj1" fmla="val 7380000"/>
                <a:gd name="adj2" fmla="val 9900000"/>
                <a:gd name="adj3" fmla="val 15306"/>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5" name="Arc 29%">
              <a:extLst>
                <a:ext uri="{FF2B5EF4-FFF2-40B4-BE49-F238E27FC236}">
                  <a16:creationId xmlns:a16="http://schemas.microsoft.com/office/drawing/2014/main" id="{C4975829-DC2C-5C8F-8E5A-9C5957E8EA45}"/>
                </a:ext>
              </a:extLst>
            </p:cNvPr>
            <p:cNvSpPr/>
            <p:nvPr/>
          </p:nvSpPr>
          <p:spPr>
            <a:xfrm>
              <a:off x="619505" y="2055114"/>
              <a:ext cx="2464308" cy="2464308"/>
            </a:xfrm>
            <a:prstGeom prst="blockArc">
              <a:avLst>
                <a:gd name="adj1" fmla="val 9971999"/>
                <a:gd name="adj2" fmla="val 16163999"/>
                <a:gd name="adj3" fmla="val 15306"/>
              </a:avLst>
            </a:prstGeom>
            <a:solidFill>
              <a:srgbClr val="C8CB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grpSp>
        <p:nvGrpSpPr>
          <p:cNvPr id="53" name="Group 52">
            <a:extLst>
              <a:ext uri="{FF2B5EF4-FFF2-40B4-BE49-F238E27FC236}">
                <a16:creationId xmlns:a16="http://schemas.microsoft.com/office/drawing/2014/main" id="{12F0CAFF-54B0-BA65-CCEB-EC05BBA5CF97}"/>
              </a:ext>
            </a:extLst>
          </p:cNvPr>
          <p:cNvGrpSpPr/>
          <p:nvPr/>
        </p:nvGrpSpPr>
        <p:grpSpPr>
          <a:xfrm rot="90755">
            <a:off x="2152037" y="3122647"/>
            <a:ext cx="1584022" cy="1584022"/>
            <a:chOff x="1021840" y="2457450"/>
            <a:chExt cx="1659636" cy="1659636"/>
          </a:xfrm>
        </p:grpSpPr>
        <p:sp>
          <p:nvSpPr>
            <p:cNvPr id="128" name="Arc 34%">
              <a:extLst>
                <a:ext uri="{FF2B5EF4-FFF2-40B4-BE49-F238E27FC236}">
                  <a16:creationId xmlns:a16="http://schemas.microsoft.com/office/drawing/2014/main" id="{3BB6A91D-9C45-98DB-2C87-378E3E434901}"/>
                </a:ext>
              </a:extLst>
            </p:cNvPr>
            <p:cNvSpPr/>
            <p:nvPr/>
          </p:nvSpPr>
          <p:spPr>
            <a:xfrm>
              <a:off x="1021840" y="2457450"/>
              <a:ext cx="1659636" cy="1659636"/>
            </a:xfrm>
            <a:prstGeom prst="blockArc">
              <a:avLst>
                <a:gd name="adj1" fmla="val 16236000"/>
                <a:gd name="adj2" fmla="val 1907999"/>
                <a:gd name="adj3" fmla="val 21212"/>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29" name="Arc 10%">
              <a:extLst>
                <a:ext uri="{FF2B5EF4-FFF2-40B4-BE49-F238E27FC236}">
                  <a16:creationId xmlns:a16="http://schemas.microsoft.com/office/drawing/2014/main" id="{66D12488-C401-1566-217F-06EE70985891}"/>
                </a:ext>
              </a:extLst>
            </p:cNvPr>
            <p:cNvSpPr/>
            <p:nvPr/>
          </p:nvSpPr>
          <p:spPr>
            <a:xfrm>
              <a:off x="1021840" y="2457450"/>
              <a:ext cx="1659636" cy="1659636"/>
            </a:xfrm>
            <a:prstGeom prst="blockArc">
              <a:avLst>
                <a:gd name="adj1" fmla="val 1980000"/>
                <a:gd name="adj2" fmla="val 4067999"/>
                <a:gd name="adj3" fmla="val 21212"/>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0" name="Arc 20%">
              <a:extLst>
                <a:ext uri="{FF2B5EF4-FFF2-40B4-BE49-F238E27FC236}">
                  <a16:creationId xmlns:a16="http://schemas.microsoft.com/office/drawing/2014/main" id="{2E9EDB04-7897-5CCC-91B1-9E1F66004318}"/>
                </a:ext>
              </a:extLst>
            </p:cNvPr>
            <p:cNvSpPr/>
            <p:nvPr/>
          </p:nvSpPr>
          <p:spPr>
            <a:xfrm>
              <a:off x="1021840" y="2457450"/>
              <a:ext cx="1659636" cy="1659636"/>
            </a:xfrm>
            <a:prstGeom prst="blockArc">
              <a:avLst>
                <a:gd name="adj1" fmla="val 4140000"/>
                <a:gd name="adj2" fmla="val 8387999"/>
                <a:gd name="adj3" fmla="val 21212"/>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1" name="Arc 36%">
              <a:extLst>
                <a:ext uri="{FF2B5EF4-FFF2-40B4-BE49-F238E27FC236}">
                  <a16:creationId xmlns:a16="http://schemas.microsoft.com/office/drawing/2014/main" id="{6016305E-470D-FC2B-82DD-516FFCF743AA}"/>
                </a:ext>
              </a:extLst>
            </p:cNvPr>
            <p:cNvSpPr/>
            <p:nvPr/>
          </p:nvSpPr>
          <p:spPr>
            <a:xfrm>
              <a:off x="1021840" y="2457450"/>
              <a:ext cx="1659636" cy="1659636"/>
            </a:xfrm>
            <a:prstGeom prst="blockArc">
              <a:avLst>
                <a:gd name="adj1" fmla="val 8460000"/>
                <a:gd name="adj2" fmla="val 16163999"/>
                <a:gd name="adj3" fmla="val 21212"/>
              </a:avLst>
            </a:prstGeom>
            <a:solidFill>
              <a:srgbClr val="C8CB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sp>
        <p:nvSpPr>
          <p:cNvPr id="54" name="TextBox 53">
            <a:extLst>
              <a:ext uri="{FF2B5EF4-FFF2-40B4-BE49-F238E27FC236}">
                <a16:creationId xmlns:a16="http://schemas.microsoft.com/office/drawing/2014/main" id="{2F3B4152-9095-489B-A1A7-F555D9713EFF}"/>
              </a:ext>
            </a:extLst>
          </p:cNvPr>
          <p:cNvSpPr txBox="1"/>
          <p:nvPr/>
        </p:nvSpPr>
        <p:spPr>
          <a:xfrm>
            <a:off x="3903198" y="3209452"/>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41%</a:t>
            </a:r>
          </a:p>
        </p:txBody>
      </p:sp>
      <p:sp>
        <p:nvSpPr>
          <p:cNvPr id="55" name="TextBox 54">
            <a:extLst>
              <a:ext uri="{FF2B5EF4-FFF2-40B4-BE49-F238E27FC236}">
                <a16:creationId xmlns:a16="http://schemas.microsoft.com/office/drawing/2014/main" id="{2A7EA6A2-2AEA-6EA8-BBA6-5CF0902E48EC}"/>
              </a:ext>
            </a:extLst>
          </p:cNvPr>
          <p:cNvSpPr txBox="1"/>
          <p:nvPr/>
        </p:nvSpPr>
        <p:spPr>
          <a:xfrm>
            <a:off x="3350063" y="4927668"/>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18%</a:t>
            </a:r>
          </a:p>
        </p:txBody>
      </p:sp>
      <p:sp>
        <p:nvSpPr>
          <p:cNvPr id="57" name="TextBox 56">
            <a:extLst>
              <a:ext uri="{FF2B5EF4-FFF2-40B4-BE49-F238E27FC236}">
                <a16:creationId xmlns:a16="http://schemas.microsoft.com/office/drawing/2014/main" id="{592A399B-D020-3F9B-ECEC-35EFE2E11ED4}"/>
              </a:ext>
            </a:extLst>
          </p:cNvPr>
          <p:cNvSpPr txBox="1"/>
          <p:nvPr/>
        </p:nvSpPr>
        <p:spPr>
          <a:xfrm>
            <a:off x="2124707" y="4891492"/>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12%</a:t>
            </a:r>
          </a:p>
        </p:txBody>
      </p:sp>
      <p:sp>
        <p:nvSpPr>
          <p:cNvPr id="61" name="TextBox 60">
            <a:extLst>
              <a:ext uri="{FF2B5EF4-FFF2-40B4-BE49-F238E27FC236}">
                <a16:creationId xmlns:a16="http://schemas.microsoft.com/office/drawing/2014/main" id="{A525FC36-585D-34C1-6D16-2F20D50C6593}"/>
              </a:ext>
            </a:extLst>
          </p:cNvPr>
          <p:cNvSpPr txBox="1"/>
          <p:nvPr/>
        </p:nvSpPr>
        <p:spPr>
          <a:xfrm>
            <a:off x="3373568" y="3586805"/>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34%</a:t>
            </a:r>
          </a:p>
        </p:txBody>
      </p:sp>
      <p:sp>
        <p:nvSpPr>
          <p:cNvPr id="62" name="TextBox 61">
            <a:extLst>
              <a:ext uri="{FF2B5EF4-FFF2-40B4-BE49-F238E27FC236}">
                <a16:creationId xmlns:a16="http://schemas.microsoft.com/office/drawing/2014/main" id="{A46CA9A5-9005-29CC-3082-BF570B328A5D}"/>
              </a:ext>
            </a:extLst>
          </p:cNvPr>
          <p:cNvSpPr txBox="1"/>
          <p:nvPr/>
        </p:nvSpPr>
        <p:spPr>
          <a:xfrm>
            <a:off x="3157802" y="4314540"/>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10%</a:t>
            </a:r>
          </a:p>
        </p:txBody>
      </p:sp>
      <p:sp>
        <p:nvSpPr>
          <p:cNvPr id="63" name="TextBox 62">
            <a:extLst>
              <a:ext uri="{FF2B5EF4-FFF2-40B4-BE49-F238E27FC236}">
                <a16:creationId xmlns:a16="http://schemas.microsoft.com/office/drawing/2014/main" id="{11CA4733-EFE0-D44A-B433-56DEAD61A57E}"/>
              </a:ext>
            </a:extLst>
          </p:cNvPr>
          <p:cNvSpPr txBox="1"/>
          <p:nvPr/>
        </p:nvSpPr>
        <p:spPr>
          <a:xfrm>
            <a:off x="2634668" y="4406872"/>
            <a:ext cx="309380" cy="184665"/>
          </a:xfrm>
          <a:prstGeom prst="rect">
            <a:avLst/>
          </a:prstGeom>
          <a:noFill/>
        </p:spPr>
        <p:txBody>
          <a:bodyPr wrap="non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20%</a:t>
            </a:r>
          </a:p>
        </p:txBody>
      </p:sp>
      <p:sp>
        <p:nvSpPr>
          <p:cNvPr id="209" name="Rounded Rectangle 42">
            <a:extLst>
              <a:ext uri="{FF2B5EF4-FFF2-40B4-BE49-F238E27FC236}">
                <a16:creationId xmlns:a16="http://schemas.microsoft.com/office/drawing/2014/main" id="{D975212E-94B3-AB5D-7D29-2F4C231F611D}"/>
              </a:ext>
            </a:extLst>
          </p:cNvPr>
          <p:cNvSpPr/>
          <p:nvPr/>
        </p:nvSpPr>
        <p:spPr>
          <a:xfrm>
            <a:off x="5935979" y="1899055"/>
            <a:ext cx="5925312" cy="1477590"/>
          </a:xfrm>
          <a:prstGeom prst="roundRect">
            <a:avLst>
              <a:gd name="adj" fmla="val 5000"/>
            </a:avLst>
          </a:prstGeom>
          <a:solidFill>
            <a:srgbClr val="046A38"/>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231" name="Group 230">
            <a:extLst>
              <a:ext uri="{FF2B5EF4-FFF2-40B4-BE49-F238E27FC236}">
                <a16:creationId xmlns:a16="http://schemas.microsoft.com/office/drawing/2014/main" id="{60815CD6-3162-065A-85A4-CDB76DD0EB86}"/>
              </a:ext>
            </a:extLst>
          </p:cNvPr>
          <p:cNvGrpSpPr/>
          <p:nvPr/>
        </p:nvGrpSpPr>
        <p:grpSpPr>
          <a:xfrm>
            <a:off x="6022720" y="2470552"/>
            <a:ext cx="677825" cy="677825"/>
            <a:chOff x="6035039" y="2027288"/>
            <a:chExt cx="457200" cy="457200"/>
          </a:xfrm>
        </p:grpSpPr>
        <p:sp>
          <p:nvSpPr>
            <p:cNvPr id="210" name="Rounded Rectangle 43">
              <a:extLst>
                <a:ext uri="{FF2B5EF4-FFF2-40B4-BE49-F238E27FC236}">
                  <a16:creationId xmlns:a16="http://schemas.microsoft.com/office/drawing/2014/main" id="{CC8A44C2-3A1E-D693-7E9D-578BEF83D18A}"/>
                </a:ext>
              </a:extLst>
            </p:cNvPr>
            <p:cNvSpPr/>
            <p:nvPr/>
          </p:nvSpPr>
          <p:spPr>
            <a:xfrm>
              <a:off x="6035039" y="2027288"/>
              <a:ext cx="457200" cy="45720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11" name="Picture 210" descr="ic_robot_w.png">
              <a:extLst>
                <a:ext uri="{FF2B5EF4-FFF2-40B4-BE49-F238E27FC236}">
                  <a16:creationId xmlns:a16="http://schemas.microsoft.com/office/drawing/2014/main" id="{79C19088-EC0F-7C22-3E4C-5E040C5D8CBC}"/>
                </a:ext>
              </a:extLst>
            </p:cNvPr>
            <p:cNvPicPr>
              <a:picLocks noChangeAspect="1"/>
            </p:cNvPicPr>
            <p:nvPr/>
          </p:nvPicPr>
          <p:blipFill>
            <a:blip r:embed="rId4"/>
            <a:stretch>
              <a:fillRect/>
            </a:stretch>
          </p:blipFill>
          <p:spPr>
            <a:xfrm>
              <a:off x="6135623" y="2127872"/>
              <a:ext cx="256032" cy="256032"/>
            </a:xfrm>
            <a:prstGeom prst="rect">
              <a:avLst/>
            </a:prstGeom>
          </p:spPr>
        </p:pic>
      </p:grpSp>
      <p:sp>
        <p:nvSpPr>
          <p:cNvPr id="212" name="TextBox 211">
            <a:extLst>
              <a:ext uri="{FF2B5EF4-FFF2-40B4-BE49-F238E27FC236}">
                <a16:creationId xmlns:a16="http://schemas.microsoft.com/office/drawing/2014/main" id="{9F94F080-F1D6-9D39-4E9E-4388B5DDB532}"/>
              </a:ext>
            </a:extLst>
          </p:cNvPr>
          <p:cNvSpPr txBox="1"/>
          <p:nvPr/>
        </p:nvSpPr>
        <p:spPr>
          <a:xfrm>
            <a:off x="6211060" y="2080706"/>
            <a:ext cx="4559047" cy="230832"/>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43B02A">
                    <a:lumMod val="20000"/>
                    <a:lumOff val="80000"/>
                  </a:srgbClr>
                </a:solidFill>
                <a:effectLst/>
                <a:uLnTx/>
                <a:uFillTx/>
                <a:latin typeface="Segoe UI" panose="020B0502040204020203" pitchFamily="34" charset="0"/>
                <a:ea typeface="+mn-ea"/>
                <a:cs typeface="Segoe UI" panose="020B0502040204020203" pitchFamily="34" charset="0"/>
                <a:sym typeface="Arial"/>
              </a:rPr>
              <a:t>1. AI-enabled tools remain #1, and keep growing</a:t>
            </a:r>
          </a:p>
        </p:txBody>
      </p:sp>
      <p:sp>
        <p:nvSpPr>
          <p:cNvPr id="213" name="Rounded Rectangle 46">
            <a:extLst>
              <a:ext uri="{FF2B5EF4-FFF2-40B4-BE49-F238E27FC236}">
                <a16:creationId xmlns:a16="http://schemas.microsoft.com/office/drawing/2014/main" id="{D1BA2DCA-BAA3-52F0-AFD0-32F3A4762EBC}"/>
              </a:ext>
            </a:extLst>
          </p:cNvPr>
          <p:cNvSpPr/>
          <p:nvPr/>
        </p:nvSpPr>
        <p:spPr>
          <a:xfrm>
            <a:off x="10656950" y="2093782"/>
            <a:ext cx="1152905" cy="310896"/>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34% → 41%</a:t>
            </a:r>
          </a:p>
        </p:txBody>
      </p:sp>
      <p:sp>
        <p:nvSpPr>
          <p:cNvPr id="215" name="TextBox 214">
            <a:extLst>
              <a:ext uri="{FF2B5EF4-FFF2-40B4-BE49-F238E27FC236}">
                <a16:creationId xmlns:a16="http://schemas.microsoft.com/office/drawing/2014/main" id="{0BD8D9F5-9B3C-2FAC-29E4-5210E8F255CB}"/>
              </a:ext>
            </a:extLst>
          </p:cNvPr>
          <p:cNvSpPr txBox="1"/>
          <p:nvPr/>
        </p:nvSpPr>
        <p:spPr>
          <a:xfrm>
            <a:off x="6766969" y="2517454"/>
            <a:ext cx="4938873" cy="686919"/>
          </a:xfrm>
          <a:prstGeom prst="rect">
            <a:avLst/>
          </a:prstGeom>
          <a:noFill/>
        </p:spPr>
        <p:txBody>
          <a:bodyPr wrap="square" lIns="0" tIns="0" rIns="0" bIns="0" anchor="t">
            <a:spAutoFit/>
          </a:bodyPr>
          <a:lstStyle/>
          <a:p>
            <a:pPr marL="0" marR="0" lvl="0" indent="0" algn="l" defTabSz="457200" rtl="0" eaLnBrk="1" fontAlgn="auto" latinLnBrk="0" hangingPunct="1">
              <a:lnSpc>
                <a:spcPct val="114000"/>
              </a:lnSpc>
              <a:spcBef>
                <a:spcPts val="0"/>
              </a:spcBef>
              <a:spcAft>
                <a:spcPts val="300"/>
              </a:spcAft>
              <a:buClrTx/>
              <a:buSzTx/>
              <a:buFontTx/>
              <a:buNone/>
              <a:tabLst/>
              <a:defRPr/>
            </a:pPr>
            <a:r>
              <a:rPr kumimoji="0" sz="1000" b="0" i="0" u="none" strike="noStrike" kern="1200" cap="none" spc="0" normalizeH="0" baseline="0" noProof="0">
                <a:ln>
                  <a:noFill/>
                </a:ln>
                <a:solidFill>
                  <a:srgbClr val="43B02A">
                    <a:lumMod val="20000"/>
                    <a:lumOff val="80000"/>
                  </a:srgbClr>
                </a:solidFill>
                <a:effectLst/>
                <a:uLnTx/>
                <a:uFillTx/>
                <a:latin typeface="Segoe UI" panose="020B0502040204020203" pitchFamily="34" charset="0"/>
                <a:ea typeface="+mn-ea"/>
                <a:cs typeface="Segoe UI" panose="020B0502040204020203" pitchFamily="34" charset="0"/>
                <a:sym typeface="Arial"/>
              </a:rPr>
              <a:t>As expected, AI-enabled tools are already the most common way organizations scale fraud and investigations operations, and their lead widens over the next three years. Focus on AI rises at Top 100 banks (35% to 40%), large banks (34% to 43%) and, most sharply, large insurance carriers (10% to 40%).</a:t>
            </a:r>
          </a:p>
        </p:txBody>
      </p:sp>
      <p:sp>
        <p:nvSpPr>
          <p:cNvPr id="216" name="Rounded Rectangle 49">
            <a:extLst>
              <a:ext uri="{FF2B5EF4-FFF2-40B4-BE49-F238E27FC236}">
                <a16:creationId xmlns:a16="http://schemas.microsoft.com/office/drawing/2014/main" id="{D745B02D-C78B-47D9-8380-235DBB16830D}"/>
              </a:ext>
            </a:extLst>
          </p:cNvPr>
          <p:cNvSpPr/>
          <p:nvPr/>
        </p:nvSpPr>
        <p:spPr>
          <a:xfrm>
            <a:off x="5935979" y="3559078"/>
            <a:ext cx="5925312" cy="1477590"/>
          </a:xfrm>
          <a:prstGeom prst="roundRect">
            <a:avLst>
              <a:gd name="adj" fmla="val 5000"/>
            </a:avLst>
          </a:prstGeom>
          <a:solidFill>
            <a:schemeClr val="bg1">
              <a:lumMod val="75000"/>
            </a:schemeClr>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230" name="Group 229">
            <a:extLst>
              <a:ext uri="{FF2B5EF4-FFF2-40B4-BE49-F238E27FC236}">
                <a16:creationId xmlns:a16="http://schemas.microsoft.com/office/drawing/2014/main" id="{CEB1DBD4-CE47-3627-A50D-B16B9E766484}"/>
              </a:ext>
            </a:extLst>
          </p:cNvPr>
          <p:cNvGrpSpPr/>
          <p:nvPr/>
        </p:nvGrpSpPr>
        <p:grpSpPr>
          <a:xfrm>
            <a:off x="6022720" y="4130576"/>
            <a:ext cx="677825" cy="677825"/>
            <a:chOff x="6062472" y="3873371"/>
            <a:chExt cx="457200" cy="457200"/>
          </a:xfrm>
        </p:grpSpPr>
        <p:sp>
          <p:nvSpPr>
            <p:cNvPr id="217" name="Rounded Rectangle 50">
              <a:extLst>
                <a:ext uri="{FF2B5EF4-FFF2-40B4-BE49-F238E27FC236}">
                  <a16:creationId xmlns:a16="http://schemas.microsoft.com/office/drawing/2014/main" id="{8627049E-0CAA-2AF5-8C6B-EDBE536B6E90}"/>
                </a:ext>
              </a:extLst>
            </p:cNvPr>
            <p:cNvSpPr/>
            <p:nvPr/>
          </p:nvSpPr>
          <p:spPr>
            <a:xfrm>
              <a:off x="6062472" y="3873371"/>
              <a:ext cx="457200" cy="457200"/>
            </a:xfrm>
            <a:prstGeom prst="roundRect">
              <a:avLst>
                <a:gd name="adj" fmla="val 50000"/>
              </a:avLst>
            </a:prstGeom>
            <a:solidFill>
              <a:schemeClr val="tx1">
                <a:lumMod val="85000"/>
                <a:lumOff val="1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18" name="Picture 217" descr="ic_userminus_w.png">
              <a:extLst>
                <a:ext uri="{FF2B5EF4-FFF2-40B4-BE49-F238E27FC236}">
                  <a16:creationId xmlns:a16="http://schemas.microsoft.com/office/drawing/2014/main" id="{358C549E-05C8-A156-D175-B96144E4C1B5}"/>
                </a:ext>
              </a:extLst>
            </p:cNvPr>
            <p:cNvPicPr>
              <a:picLocks noChangeAspect="1"/>
            </p:cNvPicPr>
            <p:nvPr/>
          </p:nvPicPr>
          <p:blipFill>
            <a:blip r:embed="rId5"/>
            <a:stretch>
              <a:fillRect/>
            </a:stretch>
          </p:blipFill>
          <p:spPr>
            <a:xfrm>
              <a:off x="6163056" y="3973954"/>
              <a:ext cx="256032" cy="256032"/>
            </a:xfrm>
            <a:prstGeom prst="rect">
              <a:avLst/>
            </a:prstGeom>
          </p:spPr>
        </p:pic>
      </p:grpSp>
      <p:sp>
        <p:nvSpPr>
          <p:cNvPr id="219" name="TextBox 218">
            <a:extLst>
              <a:ext uri="{FF2B5EF4-FFF2-40B4-BE49-F238E27FC236}">
                <a16:creationId xmlns:a16="http://schemas.microsoft.com/office/drawing/2014/main" id="{80CD7924-2C45-4D93-09ED-C810A9A11860}"/>
              </a:ext>
            </a:extLst>
          </p:cNvPr>
          <p:cNvSpPr txBox="1"/>
          <p:nvPr/>
        </p:nvSpPr>
        <p:spPr>
          <a:xfrm>
            <a:off x="6211060" y="3748424"/>
            <a:ext cx="4559047" cy="230832"/>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262626"/>
                </a:solidFill>
                <a:effectLst/>
                <a:uLnTx/>
                <a:uFillTx/>
                <a:latin typeface="Segoe UI" panose="020B0502040204020203" pitchFamily="34" charset="0"/>
                <a:ea typeface="+mn-ea"/>
                <a:cs typeface="Segoe UI" panose="020B0502040204020203" pitchFamily="34" charset="0"/>
                <a:sym typeface="Arial"/>
              </a:rPr>
              <a:t>2. A clear shift away from adding headcount</a:t>
            </a:r>
          </a:p>
        </p:txBody>
      </p:sp>
      <p:sp>
        <p:nvSpPr>
          <p:cNvPr id="220" name="Rounded Rectangle 53">
            <a:extLst>
              <a:ext uri="{FF2B5EF4-FFF2-40B4-BE49-F238E27FC236}">
                <a16:creationId xmlns:a16="http://schemas.microsoft.com/office/drawing/2014/main" id="{129EFB10-6CD1-B5EF-3038-C5DDED269C62}"/>
              </a:ext>
            </a:extLst>
          </p:cNvPr>
          <p:cNvSpPr/>
          <p:nvPr/>
        </p:nvSpPr>
        <p:spPr>
          <a:xfrm>
            <a:off x="10656950" y="3753805"/>
            <a:ext cx="1152905" cy="310896"/>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20% → 12%</a:t>
            </a:r>
          </a:p>
        </p:txBody>
      </p:sp>
      <p:sp>
        <p:nvSpPr>
          <p:cNvPr id="222" name="TextBox 221">
            <a:extLst>
              <a:ext uri="{FF2B5EF4-FFF2-40B4-BE49-F238E27FC236}">
                <a16:creationId xmlns:a16="http://schemas.microsoft.com/office/drawing/2014/main" id="{E2542DBF-CF67-D7AE-DF0A-E1AFB92B0982}"/>
              </a:ext>
            </a:extLst>
          </p:cNvPr>
          <p:cNvSpPr txBox="1"/>
          <p:nvPr/>
        </p:nvSpPr>
        <p:spPr>
          <a:xfrm>
            <a:off x="6766969" y="4177477"/>
            <a:ext cx="4938873" cy="686919"/>
          </a:xfrm>
          <a:prstGeom prst="rect">
            <a:avLst/>
          </a:prstGeom>
          <a:noFill/>
        </p:spPr>
        <p:txBody>
          <a:bodyPr wrap="square" lIns="0" tIns="0" rIns="0" bIns="0" anchor="t">
            <a:spAutoFit/>
          </a:bodyPr>
          <a:lstStyle/>
          <a:p>
            <a:pPr marL="0" marR="0" lvl="0" indent="0" algn="l" defTabSz="457200" rtl="0" eaLnBrk="1" fontAlgn="auto" latinLnBrk="0" hangingPunct="1">
              <a:lnSpc>
                <a:spcPct val="114000"/>
              </a:lnSpc>
              <a:spcBef>
                <a:spcPts val="0"/>
              </a:spcBef>
              <a:spcAft>
                <a:spcPts val="300"/>
              </a:spcAft>
              <a:buClrTx/>
              <a:buSzTx/>
              <a:buFontTx/>
              <a:buNone/>
              <a:tabLst/>
              <a:defRPr/>
            </a:pPr>
            <a:r>
              <a:rPr kumimoji="0"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Unsurprisingly,</a:t>
            </a:r>
            <a:r>
              <a:rPr kumimoji="0" lang="en-US"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 adding headcount </a:t>
            </a:r>
            <a:r>
              <a:rPr kumimoji="0"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is losing ground. Combined focus on hiring full-time staff and outsourcing to contractors falls from 20% to 12%, with hiring alone halving </a:t>
            </a:r>
            <a:r>
              <a:rPr kumimoji="0" lang="en-CA"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a:t>
            </a:r>
            <a:r>
              <a:rPr kumimoji="0"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10% to 5%)</a:t>
            </a:r>
            <a:r>
              <a:rPr kumimoji="0" lang="en-US"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 across all respondents</a:t>
            </a:r>
            <a:r>
              <a:rPr kumimoji="0" sz="1000" b="0" i="0" u="none" strike="noStrike" kern="1200" cap="none" spc="0" normalizeH="0" baseline="0" noProof="0">
                <a:ln>
                  <a:noFill/>
                </a:ln>
                <a:solidFill>
                  <a:srgbClr val="000000">
                    <a:lumMod val="85000"/>
                    <a:lumOff val="15000"/>
                  </a:srgbClr>
                </a:solidFill>
                <a:effectLst/>
                <a:uLnTx/>
                <a:uFillTx/>
                <a:latin typeface="Segoe UI" panose="020B0502040204020203" pitchFamily="34" charset="0"/>
                <a:ea typeface="+mn-ea"/>
                <a:cs typeface="Segoe UI" panose="020B0502040204020203" pitchFamily="34" charset="0"/>
                <a:sym typeface="Arial"/>
              </a:rPr>
              <a:t>. The shift is sharpest at large insurance carriers, where outsourcing drops from 30% to 0%.</a:t>
            </a:r>
          </a:p>
        </p:txBody>
      </p:sp>
      <p:sp>
        <p:nvSpPr>
          <p:cNvPr id="223" name="Rounded Rectangle 56">
            <a:extLst>
              <a:ext uri="{FF2B5EF4-FFF2-40B4-BE49-F238E27FC236}">
                <a16:creationId xmlns:a16="http://schemas.microsoft.com/office/drawing/2014/main" id="{3D06BAB4-A0FF-90CC-79BD-9C9526766D28}"/>
              </a:ext>
            </a:extLst>
          </p:cNvPr>
          <p:cNvSpPr/>
          <p:nvPr/>
        </p:nvSpPr>
        <p:spPr>
          <a:xfrm>
            <a:off x="5935979" y="5219101"/>
            <a:ext cx="5925312" cy="1477590"/>
          </a:xfrm>
          <a:prstGeom prst="roundRect">
            <a:avLst>
              <a:gd name="adj" fmla="val 5000"/>
            </a:avLst>
          </a:prstGeom>
          <a:solidFill>
            <a:schemeClr val="accent1"/>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232" name="Group 231">
            <a:extLst>
              <a:ext uri="{FF2B5EF4-FFF2-40B4-BE49-F238E27FC236}">
                <a16:creationId xmlns:a16="http://schemas.microsoft.com/office/drawing/2014/main" id="{6320F574-67B5-2C86-2864-827B38793CB8}"/>
              </a:ext>
            </a:extLst>
          </p:cNvPr>
          <p:cNvGrpSpPr/>
          <p:nvPr/>
        </p:nvGrpSpPr>
        <p:grpSpPr>
          <a:xfrm>
            <a:off x="6022720" y="5790599"/>
            <a:ext cx="677825" cy="677825"/>
            <a:chOff x="6099048" y="5347335"/>
            <a:chExt cx="457200" cy="457200"/>
          </a:xfrm>
        </p:grpSpPr>
        <p:sp>
          <p:nvSpPr>
            <p:cNvPr id="224" name="Rounded Rectangle 57">
              <a:extLst>
                <a:ext uri="{FF2B5EF4-FFF2-40B4-BE49-F238E27FC236}">
                  <a16:creationId xmlns:a16="http://schemas.microsoft.com/office/drawing/2014/main" id="{8B3180C2-9D90-5681-6F2B-F3B56E2E538C}"/>
                </a:ext>
              </a:extLst>
            </p:cNvPr>
            <p:cNvSpPr/>
            <p:nvPr/>
          </p:nvSpPr>
          <p:spPr>
            <a:xfrm>
              <a:off x="6099048" y="5347335"/>
              <a:ext cx="457200" cy="457200"/>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25" name="Picture 224" descr="ic_flow_w.png">
              <a:extLst>
                <a:ext uri="{FF2B5EF4-FFF2-40B4-BE49-F238E27FC236}">
                  <a16:creationId xmlns:a16="http://schemas.microsoft.com/office/drawing/2014/main" id="{B097B4FC-159C-84F4-9DA4-071AFEEFF0DF}"/>
                </a:ext>
              </a:extLst>
            </p:cNvPr>
            <p:cNvPicPr>
              <a:picLocks noChangeAspect="1"/>
            </p:cNvPicPr>
            <p:nvPr/>
          </p:nvPicPr>
          <p:blipFill>
            <a:blip r:embed="rId6"/>
            <a:stretch>
              <a:fillRect/>
            </a:stretch>
          </p:blipFill>
          <p:spPr>
            <a:xfrm>
              <a:off x="6199632" y="5447919"/>
              <a:ext cx="256032" cy="256032"/>
            </a:xfrm>
            <a:prstGeom prst="rect">
              <a:avLst/>
            </a:prstGeom>
          </p:spPr>
        </p:pic>
      </p:grpSp>
      <p:sp>
        <p:nvSpPr>
          <p:cNvPr id="226" name="TextBox 225">
            <a:extLst>
              <a:ext uri="{FF2B5EF4-FFF2-40B4-BE49-F238E27FC236}">
                <a16:creationId xmlns:a16="http://schemas.microsoft.com/office/drawing/2014/main" id="{AF196AE9-36AE-1B4E-10E1-ABD8841652E1}"/>
              </a:ext>
            </a:extLst>
          </p:cNvPr>
          <p:cNvSpPr txBox="1"/>
          <p:nvPr/>
        </p:nvSpPr>
        <p:spPr>
          <a:xfrm>
            <a:off x="6211060" y="5408448"/>
            <a:ext cx="4559047" cy="230832"/>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3. The future need for </a:t>
            </a:r>
            <a:r>
              <a:rPr kumimoji="0" sz="15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process redesign</a:t>
            </a:r>
          </a:p>
        </p:txBody>
      </p:sp>
      <p:sp>
        <p:nvSpPr>
          <p:cNvPr id="227" name="Rounded Rectangle 60">
            <a:extLst>
              <a:ext uri="{FF2B5EF4-FFF2-40B4-BE49-F238E27FC236}">
                <a16:creationId xmlns:a16="http://schemas.microsoft.com/office/drawing/2014/main" id="{EFB45EEB-F67C-C257-1CB1-D58307517CB7}"/>
              </a:ext>
            </a:extLst>
          </p:cNvPr>
          <p:cNvSpPr/>
          <p:nvPr/>
        </p:nvSpPr>
        <p:spPr>
          <a:xfrm>
            <a:off x="11166738" y="5413828"/>
            <a:ext cx="643117" cy="310896"/>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1.8x</a:t>
            </a:r>
          </a:p>
        </p:txBody>
      </p:sp>
      <p:sp>
        <p:nvSpPr>
          <p:cNvPr id="229" name="TextBox 228">
            <a:extLst>
              <a:ext uri="{FF2B5EF4-FFF2-40B4-BE49-F238E27FC236}">
                <a16:creationId xmlns:a16="http://schemas.microsoft.com/office/drawing/2014/main" id="{5E7EE1ED-CC71-6429-545C-663EB4D7D572}"/>
              </a:ext>
            </a:extLst>
          </p:cNvPr>
          <p:cNvSpPr txBox="1"/>
          <p:nvPr/>
        </p:nvSpPr>
        <p:spPr>
          <a:xfrm>
            <a:off x="6766969" y="5837500"/>
            <a:ext cx="4938873" cy="686919"/>
          </a:xfrm>
          <a:prstGeom prst="rect">
            <a:avLst/>
          </a:prstGeom>
          <a:noFill/>
        </p:spPr>
        <p:txBody>
          <a:bodyPr wrap="square" lIns="0" tIns="0" rIns="0" bIns="0" anchor="t">
            <a:spAutoFit/>
          </a:bodyPr>
          <a:lstStyle/>
          <a:p>
            <a:pPr marL="0" marR="0" lvl="0" indent="0" algn="l" defTabSz="457200" rtl="0" eaLnBrk="1" fontAlgn="auto" latinLnBrk="0" hangingPunct="1">
              <a:lnSpc>
                <a:spcPct val="114000"/>
              </a:lnSpc>
              <a:spcBef>
                <a:spcPts val="0"/>
              </a:spcBef>
              <a:spcAft>
                <a:spcPts val="300"/>
              </a:spcAft>
              <a:buClrTx/>
              <a:buSzTx/>
              <a:buFont typeface="Arial"/>
              <a:buNone/>
              <a:tabLst/>
              <a:defRPr/>
            </a:pPr>
            <a:r>
              <a:rPr kumimoji="0" lang="en-US" sz="1000" b="0" i="0" u="none" strike="noStrike" kern="1200" cap="none" spc="0" normalizeH="0" baseline="0" noProof="0">
                <a:ln>
                  <a:noFill/>
                </a:ln>
                <a:solidFill>
                  <a:srgbClr val="FFFFFF"/>
                </a:solidFill>
                <a:effectLst/>
                <a:uLnTx/>
                <a:uFillTx/>
                <a:latin typeface="Segoe UI" panose="020B0502040204020203" pitchFamily="34" charset="0"/>
                <a:cs typeface="Segoe UI" panose="020B0502040204020203" pitchFamily="34" charset="0"/>
                <a:sym typeface="Arial"/>
              </a:rPr>
              <a:t>To capture AI’s value, organizations must redesign the processes around it; adding AI to existing workflows only goes so far. </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Focus on redesigning processes and playbooks,</a:t>
            </a:r>
            <a:r>
              <a:rPr kumimoji="0" lang="en-US"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nearly doubles from 10% to 18%. </a:t>
            </a:r>
            <a:r>
              <a:rPr kumimoji="0" lang="en-US"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For the </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Top 100 banks</a:t>
            </a:r>
            <a:r>
              <a:rPr kumimoji="0" lang="en-US"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this rises nearly 2x</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(8% to 15%) and </a:t>
            </a:r>
            <a:r>
              <a:rPr kumimoji="0" lang="en-US"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for the </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Top 50 carriers</a:t>
            </a:r>
            <a:r>
              <a:rPr kumimoji="0" lang="en-US"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it increases nearly 4x</a:t>
            </a:r>
            <a:r>
              <a:rPr kumimoji="0" sz="1000" b="0"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(7% to 27%).</a:t>
            </a:r>
          </a:p>
        </p:txBody>
      </p:sp>
      <p:sp>
        <p:nvSpPr>
          <p:cNvPr id="239" name="TextBox 238"/>
          <p:cNvSpPr txBox="1"/>
          <p:nvPr/>
        </p:nvSpPr>
        <p:spPr>
          <a:xfrm>
            <a:off x="550534" y="6474244"/>
            <a:ext cx="5074920" cy="138499"/>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sz="900" b="1" i="0" u="none" strike="noStrike" kern="0" cap="none" spc="0" normalizeH="0" baseline="0" noProof="0">
                <a:ln>
                  <a:noFill/>
                </a:ln>
                <a:solidFill>
                  <a:srgbClr val="046A38"/>
                </a:solidFill>
                <a:effectLst/>
                <a:uLnTx/>
                <a:uFillTx/>
                <a:latin typeface="Segoe UI"/>
                <a:cs typeface="Arial"/>
                <a:sym typeface="Arial"/>
              </a:rPr>
              <a:t>▲ Gaining importance</a:t>
            </a:r>
            <a:r>
              <a:rPr kumimoji="0" sz="900" b="0" i="0" u="none" strike="noStrike" kern="0" cap="none" spc="0" normalizeH="0" baseline="0" noProof="0">
                <a:ln>
                  <a:noFill/>
                </a:ln>
                <a:solidFill>
                  <a:srgbClr val="404040"/>
                </a:solidFill>
                <a:effectLst/>
                <a:uLnTx/>
                <a:uFillTx/>
                <a:latin typeface="Segoe UI"/>
                <a:cs typeface="Arial"/>
                <a:sym typeface="Arial"/>
              </a:rPr>
              <a:t> </a:t>
            </a:r>
            <a:r>
              <a:rPr kumimoji="0" lang="en-CA" sz="9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 </a:t>
            </a:r>
            <a:r>
              <a:rPr kumimoji="0" sz="900" b="1" i="0" u="none" strike="noStrike" kern="0" cap="none" spc="0" normalizeH="0" baseline="0" noProof="0">
                <a:ln>
                  <a:noFill/>
                </a:ln>
                <a:solidFill>
                  <a:srgbClr val="DA291C"/>
                </a:solidFill>
                <a:effectLst/>
                <a:uLnTx/>
                <a:uFillTx/>
                <a:latin typeface="Segoe UI"/>
                <a:cs typeface="Arial"/>
                <a:sym typeface="Arial"/>
              </a:rPr>
              <a:t>▼ Losing importance</a:t>
            </a:r>
            <a:endParaRPr kumimoji="0" sz="900" b="0" i="0" u="none" strike="noStrike" kern="0" cap="none" spc="0" normalizeH="0" baseline="0" noProof="0">
              <a:ln>
                <a:noFill/>
              </a:ln>
              <a:solidFill>
                <a:srgbClr val="404040"/>
              </a:solidFill>
              <a:effectLst/>
              <a:uLnTx/>
              <a:uFillTx/>
              <a:latin typeface="Segoe UI"/>
              <a:cs typeface="Arial"/>
              <a:sym typeface="Arial"/>
            </a:endParaRPr>
          </a:p>
        </p:txBody>
      </p:sp>
      <p:sp>
        <p:nvSpPr>
          <p:cNvPr id="240" name="Oval 239"/>
          <p:cNvSpPr/>
          <p:nvPr/>
        </p:nvSpPr>
        <p:spPr>
          <a:xfrm>
            <a:off x="4221275" y="2766729"/>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sz="1600" b="1" i="0" u="none" strike="noStrike" kern="0" cap="none" spc="0" normalizeH="0" baseline="0" noProof="0">
                <a:ln>
                  <a:noFill/>
                </a:ln>
                <a:solidFill>
                  <a:srgbClr val="FFFFFF"/>
                </a:solidFill>
                <a:effectLst/>
                <a:uLnTx/>
                <a:uFillTx/>
                <a:latin typeface="Segoe UI"/>
                <a:ea typeface="+mn-ea"/>
                <a:cs typeface="+mn-cs"/>
                <a:sym typeface="Arial"/>
              </a:rPr>
              <a:t>1</a:t>
            </a:r>
          </a:p>
        </p:txBody>
      </p:sp>
      <p:sp>
        <p:nvSpPr>
          <p:cNvPr id="241" name="Oval 240"/>
          <p:cNvSpPr/>
          <p:nvPr/>
        </p:nvSpPr>
        <p:spPr>
          <a:xfrm>
            <a:off x="1848646" y="5219341"/>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sz="1600" b="1" i="0" u="none" strike="noStrike" kern="0" cap="none" spc="0" normalizeH="0" baseline="0" noProof="0">
                <a:ln>
                  <a:noFill/>
                </a:ln>
                <a:solidFill>
                  <a:srgbClr val="FFFFFF"/>
                </a:solidFill>
                <a:effectLst/>
                <a:uLnTx/>
                <a:uFillTx/>
                <a:latin typeface="Segoe UI"/>
                <a:ea typeface="+mn-ea"/>
                <a:cs typeface="+mn-cs"/>
                <a:sym typeface="Arial"/>
              </a:rPr>
              <a:t>2</a:t>
            </a:r>
          </a:p>
        </p:txBody>
      </p:sp>
      <p:sp>
        <p:nvSpPr>
          <p:cNvPr id="242" name="Oval 241"/>
          <p:cNvSpPr/>
          <p:nvPr/>
        </p:nvSpPr>
        <p:spPr>
          <a:xfrm>
            <a:off x="3573487" y="5234594"/>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sz="1600" b="1" i="0" u="none" strike="noStrike" kern="0" cap="none" spc="0" normalizeH="0" baseline="0" noProof="0">
                <a:ln>
                  <a:noFill/>
                </a:ln>
                <a:solidFill>
                  <a:srgbClr val="FFFFFF"/>
                </a:solidFill>
                <a:effectLst/>
                <a:uLnTx/>
                <a:uFillTx/>
                <a:latin typeface="Segoe UI"/>
                <a:ea typeface="+mn-ea"/>
                <a:cs typeface="+mn-cs"/>
                <a:sym typeface="Arial"/>
              </a:rPr>
              <a:t>3</a:t>
            </a:r>
          </a:p>
        </p:txBody>
      </p:sp>
      <p:sp>
        <p:nvSpPr>
          <p:cNvPr id="24" name="Rectangle 23">
            <a:extLst>
              <a:ext uri="{FF2B5EF4-FFF2-40B4-BE49-F238E27FC236}">
                <a16:creationId xmlns:a16="http://schemas.microsoft.com/office/drawing/2014/main" id="{230274F0-3DCF-78E8-AE20-37364CC2B427}"/>
              </a:ext>
            </a:extLst>
          </p:cNvPr>
          <p:cNvSpPr/>
          <p:nvPr/>
        </p:nvSpPr>
        <p:spPr>
          <a:xfrm>
            <a:off x="2272886" y="2373029"/>
            <a:ext cx="1342324" cy="261610"/>
          </a:xfrm>
          <a:prstGeom prst="rect">
            <a:avLst/>
          </a:prstGeom>
          <a:noFill/>
        </p:spPr>
        <p:txBody>
          <a:bodyPr wrap="none" lIns="91440" tIns="45720" rIns="91440" bIns="45720">
            <a:prstTxWarp prst="textArchUp">
              <a:avLst>
                <a:gd name="adj" fmla="val 10991590"/>
              </a:avLst>
            </a:prstTxWarp>
            <a:spAutoFit/>
            <a:scene3d>
              <a:camera prst="orthographicFront">
                <a:rot lat="420000" lon="0" rev="0"/>
              </a:camera>
              <a:lightRig rig="threePt" dir="t"/>
            </a:scene3d>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a:ln w="0"/>
                <a:solidFill>
                  <a:srgbClr val="000000"/>
                </a:solidFill>
                <a:effectLst/>
                <a:uLnTx/>
                <a:uFillTx/>
                <a:latin typeface="Segoe UI" panose="020B0502040204020203" pitchFamily="34" charset="0"/>
                <a:cs typeface="Segoe UI" panose="020B0502040204020203" pitchFamily="34" charset="0"/>
                <a:sym typeface="Arial"/>
              </a:rPr>
              <a:t>FOCUS IN 3 YEARS</a:t>
            </a:r>
          </a:p>
        </p:txBody>
      </p:sp>
      <p:grpSp>
        <p:nvGrpSpPr>
          <p:cNvPr id="32" name="Group 31">
            <a:extLst>
              <a:ext uri="{FF2B5EF4-FFF2-40B4-BE49-F238E27FC236}">
                <a16:creationId xmlns:a16="http://schemas.microsoft.com/office/drawing/2014/main" id="{E8FF2BA6-FDA1-FDBC-59AC-5BA676B6B7BB}"/>
              </a:ext>
            </a:extLst>
          </p:cNvPr>
          <p:cNvGrpSpPr/>
          <p:nvPr/>
        </p:nvGrpSpPr>
        <p:grpSpPr>
          <a:xfrm>
            <a:off x="661034" y="6161490"/>
            <a:ext cx="4709161" cy="153888"/>
            <a:chOff x="594359" y="5738640"/>
            <a:chExt cx="4709161" cy="153888"/>
          </a:xfrm>
        </p:grpSpPr>
        <p:sp>
          <p:nvSpPr>
            <p:cNvPr id="33" name="Rounded Rectangle 26">
              <a:extLst>
                <a:ext uri="{FF2B5EF4-FFF2-40B4-BE49-F238E27FC236}">
                  <a16:creationId xmlns:a16="http://schemas.microsoft.com/office/drawing/2014/main" id="{5708A951-7CDF-E1E9-1C80-83103E15A457}"/>
                </a:ext>
              </a:extLst>
            </p:cNvPr>
            <p:cNvSpPr/>
            <p:nvPr/>
          </p:nvSpPr>
          <p:spPr>
            <a:xfrm>
              <a:off x="594359" y="5756148"/>
              <a:ext cx="128016" cy="118872"/>
            </a:xfrm>
            <a:prstGeom prst="roundRect">
              <a:avLst>
                <a:gd name="adj" fmla="val 30000"/>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0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34" name="TextBox 33">
              <a:extLst>
                <a:ext uri="{FF2B5EF4-FFF2-40B4-BE49-F238E27FC236}">
                  <a16:creationId xmlns:a16="http://schemas.microsoft.com/office/drawing/2014/main" id="{96580202-1782-42DB-4079-9881691EC18E}"/>
                </a:ext>
              </a:extLst>
            </p:cNvPr>
            <p:cNvSpPr txBox="1"/>
            <p:nvPr/>
          </p:nvSpPr>
          <p:spPr>
            <a:xfrm>
              <a:off x="795528" y="5738640"/>
              <a:ext cx="2926080" cy="15388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1  Process redesign</a:t>
              </a:r>
            </a:p>
          </p:txBody>
        </p:sp>
        <p:sp>
          <p:nvSpPr>
            <p:cNvPr id="35" name="TextBox 34">
              <a:extLst>
                <a:ext uri="{FF2B5EF4-FFF2-40B4-BE49-F238E27FC236}">
                  <a16:creationId xmlns:a16="http://schemas.microsoft.com/office/drawing/2014/main" id="{DE2D16CA-853E-4140-A04C-02750CB294C6}"/>
                </a:ext>
              </a:extLst>
            </p:cNvPr>
            <p:cNvSpPr txBox="1"/>
            <p:nvPr/>
          </p:nvSpPr>
          <p:spPr>
            <a:xfrm>
              <a:off x="3749039" y="5738640"/>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36" name="TextBox 35">
              <a:extLst>
                <a:ext uri="{FF2B5EF4-FFF2-40B4-BE49-F238E27FC236}">
                  <a16:creationId xmlns:a16="http://schemas.microsoft.com/office/drawing/2014/main" id="{7E809FEF-DEB9-0B5E-0A7F-36805FEBCEB2}"/>
                </a:ext>
              </a:extLst>
            </p:cNvPr>
            <p:cNvSpPr txBox="1"/>
            <p:nvPr/>
          </p:nvSpPr>
          <p:spPr>
            <a:xfrm>
              <a:off x="4572000" y="5738640"/>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+80% </a:t>
              </a:r>
              <a:r>
                <a:rPr kumimoji="0" sz="1000" b="0"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a:t>
              </a:r>
            </a:p>
          </p:txBody>
        </p:sp>
      </p:grpSp>
      <p:sp>
        <p:nvSpPr>
          <p:cNvPr id="41" name="Oval 40">
            <a:extLst>
              <a:ext uri="{FF2B5EF4-FFF2-40B4-BE49-F238E27FC236}">
                <a16:creationId xmlns:a16="http://schemas.microsoft.com/office/drawing/2014/main" id="{4D0DE9C1-3F3E-995D-62D6-0F581115C08D}"/>
              </a:ext>
            </a:extLst>
          </p:cNvPr>
          <p:cNvSpPr/>
          <p:nvPr/>
        </p:nvSpPr>
        <p:spPr>
          <a:xfrm>
            <a:off x="827464" y="6158814"/>
            <a:ext cx="169200" cy="169200"/>
          </a:xfrm>
          <a:prstGeom prst="ellipse">
            <a:avLst/>
          </a:prstGeom>
          <a:solidFill>
            <a:srgbClr val="86BC25"/>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sz="950" b="1" i="0" u="none" strike="noStrike" kern="0" cap="none" spc="0" normalizeH="0" baseline="0" noProof="0">
                <a:ln>
                  <a:noFill/>
                </a:ln>
                <a:solidFill>
                  <a:srgbClr val="023D20"/>
                </a:solidFill>
                <a:effectLst/>
                <a:uLnTx/>
                <a:uFillTx/>
                <a:latin typeface="Segoe UI"/>
                <a:ea typeface="+mn-ea"/>
                <a:cs typeface="+mn-cs"/>
                <a:sym typeface="Arial"/>
              </a:rPr>
              <a:t>3</a:t>
            </a:r>
          </a:p>
        </p:txBody>
      </p:sp>
      <p:sp>
        <p:nvSpPr>
          <p:cNvPr id="38" name="Rounded Rectangle 30">
            <a:extLst>
              <a:ext uri="{FF2B5EF4-FFF2-40B4-BE49-F238E27FC236}">
                <a16:creationId xmlns:a16="http://schemas.microsoft.com/office/drawing/2014/main" id="{E044F2CA-B2C8-F5EE-E55C-BBADC4C082E5}"/>
              </a:ext>
            </a:extLst>
          </p:cNvPr>
          <p:cNvSpPr/>
          <p:nvPr/>
        </p:nvSpPr>
        <p:spPr>
          <a:xfrm>
            <a:off x="661034" y="5976810"/>
            <a:ext cx="128016" cy="118872"/>
          </a:xfrm>
          <a:prstGeom prst="roundRect">
            <a:avLst>
              <a:gd name="adj" fmla="val 30000"/>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0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40" name="TextBox 39">
            <a:extLst>
              <a:ext uri="{FF2B5EF4-FFF2-40B4-BE49-F238E27FC236}">
                <a16:creationId xmlns:a16="http://schemas.microsoft.com/office/drawing/2014/main" id="{F18D89E8-B3C6-8CD9-BAB8-7D7251D8066D}"/>
              </a:ext>
            </a:extLst>
          </p:cNvPr>
          <p:cNvSpPr txBox="1"/>
          <p:nvPr/>
        </p:nvSpPr>
        <p:spPr>
          <a:xfrm>
            <a:off x="862203" y="5959302"/>
            <a:ext cx="2926080" cy="15388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2. Adding headcount (hiring + outsourcing)</a:t>
            </a:r>
          </a:p>
        </p:txBody>
      </p:sp>
      <p:sp>
        <p:nvSpPr>
          <p:cNvPr id="42" name="TextBox 41">
            <a:extLst>
              <a:ext uri="{FF2B5EF4-FFF2-40B4-BE49-F238E27FC236}">
                <a16:creationId xmlns:a16="http://schemas.microsoft.com/office/drawing/2014/main" id="{70C21C21-DC55-9418-063C-0A2089AFEC14}"/>
              </a:ext>
            </a:extLst>
          </p:cNvPr>
          <p:cNvSpPr txBox="1"/>
          <p:nvPr/>
        </p:nvSpPr>
        <p:spPr>
          <a:xfrm>
            <a:off x="3815714" y="5959302"/>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43" name="TextBox 42">
            <a:extLst>
              <a:ext uri="{FF2B5EF4-FFF2-40B4-BE49-F238E27FC236}">
                <a16:creationId xmlns:a16="http://schemas.microsoft.com/office/drawing/2014/main" id="{D4671481-A49F-CD0D-2787-F0E0CCDC06A2}"/>
              </a:ext>
            </a:extLst>
          </p:cNvPr>
          <p:cNvSpPr txBox="1"/>
          <p:nvPr/>
        </p:nvSpPr>
        <p:spPr>
          <a:xfrm>
            <a:off x="4638675" y="5959302"/>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DA291C"/>
                </a:solidFill>
                <a:effectLst/>
                <a:uLnTx/>
                <a:uFillTx/>
                <a:latin typeface="Segoe UI" panose="020B0502040204020203" pitchFamily="34" charset="0"/>
                <a:ea typeface="+mn-ea"/>
                <a:cs typeface="Segoe UI" panose="020B0502040204020203" pitchFamily="34" charset="0"/>
                <a:sym typeface="Arial"/>
              </a:rPr>
              <a:t>−40% </a:t>
            </a:r>
            <a:r>
              <a:rPr kumimoji="0" sz="1000" b="0" i="0" u="none" strike="noStrike" kern="1200" cap="none" spc="0" normalizeH="0" baseline="0" noProof="0">
                <a:ln>
                  <a:noFill/>
                </a:ln>
                <a:solidFill>
                  <a:srgbClr val="DA291C"/>
                </a:solidFill>
                <a:effectLst/>
                <a:uLnTx/>
                <a:uFillTx/>
                <a:latin typeface="Segoe UI" panose="020B0502040204020203" pitchFamily="34" charset="0"/>
                <a:ea typeface="+mn-ea"/>
                <a:cs typeface="Segoe UI" panose="020B0502040204020203" pitchFamily="34" charset="0"/>
                <a:sym typeface="Arial"/>
              </a:rPr>
              <a:t>▼</a:t>
            </a:r>
          </a:p>
        </p:txBody>
      </p:sp>
      <p:sp>
        <p:nvSpPr>
          <p:cNvPr id="56" name="Oval 55">
            <a:extLst>
              <a:ext uri="{FF2B5EF4-FFF2-40B4-BE49-F238E27FC236}">
                <a16:creationId xmlns:a16="http://schemas.microsoft.com/office/drawing/2014/main" id="{4CB8F956-D157-F5F5-5315-CF07E7100ED1}"/>
              </a:ext>
            </a:extLst>
          </p:cNvPr>
          <p:cNvSpPr/>
          <p:nvPr/>
        </p:nvSpPr>
        <p:spPr>
          <a:xfrm>
            <a:off x="827464" y="5951857"/>
            <a:ext cx="169200" cy="169200"/>
          </a:xfrm>
          <a:prstGeom prst="ellipse">
            <a:avLst/>
          </a:prstGeom>
          <a:solidFill>
            <a:srgbClr val="8A8D90"/>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sz="950" b="1" i="0" u="none" strike="noStrike" kern="0" cap="none" spc="0" normalizeH="0" baseline="0" noProof="0" dirty="0">
                <a:ln>
                  <a:noFill/>
                </a:ln>
                <a:solidFill>
                  <a:srgbClr val="FFFFFF"/>
                </a:solidFill>
                <a:effectLst/>
                <a:uLnTx/>
                <a:uFillTx/>
                <a:latin typeface="Segoe UI"/>
                <a:ea typeface="+mn-ea"/>
                <a:cs typeface="+mn-cs"/>
                <a:sym typeface="Arial"/>
              </a:rPr>
              <a:t>2</a:t>
            </a:r>
          </a:p>
        </p:txBody>
      </p:sp>
      <p:grpSp>
        <p:nvGrpSpPr>
          <p:cNvPr id="14" name="Group 13">
            <a:extLst>
              <a:ext uri="{FF2B5EF4-FFF2-40B4-BE49-F238E27FC236}">
                <a16:creationId xmlns:a16="http://schemas.microsoft.com/office/drawing/2014/main" id="{818272F8-2A67-0E60-9B75-1C281E6B61A2}"/>
              </a:ext>
            </a:extLst>
          </p:cNvPr>
          <p:cNvGrpSpPr/>
          <p:nvPr/>
        </p:nvGrpSpPr>
        <p:grpSpPr>
          <a:xfrm>
            <a:off x="661034" y="5757114"/>
            <a:ext cx="4709161" cy="153888"/>
            <a:chOff x="594359" y="5564904"/>
            <a:chExt cx="4709161" cy="153888"/>
          </a:xfrm>
        </p:grpSpPr>
        <p:grpSp>
          <p:nvGrpSpPr>
            <p:cNvPr id="26" name="Group 25">
              <a:extLst>
                <a:ext uri="{FF2B5EF4-FFF2-40B4-BE49-F238E27FC236}">
                  <a16:creationId xmlns:a16="http://schemas.microsoft.com/office/drawing/2014/main" id="{38568044-C97E-B23C-1B52-4EAC9407AD2D}"/>
                </a:ext>
              </a:extLst>
            </p:cNvPr>
            <p:cNvGrpSpPr/>
            <p:nvPr/>
          </p:nvGrpSpPr>
          <p:grpSpPr>
            <a:xfrm>
              <a:off x="795528" y="5564904"/>
              <a:ext cx="4507992" cy="153888"/>
              <a:chOff x="795528" y="5564904"/>
              <a:chExt cx="4507992" cy="153888"/>
            </a:xfrm>
          </p:grpSpPr>
          <p:sp>
            <p:nvSpPr>
              <p:cNvPr id="29" name="TextBox 28">
                <a:extLst>
                  <a:ext uri="{FF2B5EF4-FFF2-40B4-BE49-F238E27FC236}">
                    <a16:creationId xmlns:a16="http://schemas.microsoft.com/office/drawing/2014/main" id="{2F729F82-3206-619C-F190-E05E0A3574B6}"/>
                  </a:ext>
                </a:extLst>
              </p:cNvPr>
              <p:cNvSpPr txBox="1"/>
              <p:nvPr/>
            </p:nvSpPr>
            <p:spPr>
              <a:xfrm>
                <a:off x="795528" y="5564904"/>
                <a:ext cx="2926080" cy="15388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1. </a:t>
                </a: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AI-enabled tools</a:t>
                </a:r>
              </a:p>
            </p:txBody>
          </p:sp>
          <p:sp>
            <p:nvSpPr>
              <p:cNvPr id="30" name="TextBox 29">
                <a:extLst>
                  <a:ext uri="{FF2B5EF4-FFF2-40B4-BE49-F238E27FC236}">
                    <a16:creationId xmlns:a16="http://schemas.microsoft.com/office/drawing/2014/main" id="{95075D1D-B603-8947-2C58-31656DC79113}"/>
                  </a:ext>
                </a:extLst>
              </p:cNvPr>
              <p:cNvSpPr txBox="1"/>
              <p:nvPr/>
            </p:nvSpPr>
            <p:spPr>
              <a:xfrm>
                <a:off x="3749039" y="5564904"/>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31" name="TextBox 30">
                <a:extLst>
                  <a:ext uri="{FF2B5EF4-FFF2-40B4-BE49-F238E27FC236}">
                    <a16:creationId xmlns:a16="http://schemas.microsoft.com/office/drawing/2014/main" id="{59AAAEA7-13E4-DF13-4788-EF58B5E2A911}"/>
                  </a:ext>
                </a:extLst>
              </p:cNvPr>
              <p:cNvSpPr txBox="1"/>
              <p:nvPr/>
            </p:nvSpPr>
            <p:spPr>
              <a:xfrm>
                <a:off x="4572000" y="5564904"/>
                <a:ext cx="731520" cy="15388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+21% </a:t>
                </a:r>
                <a:r>
                  <a:rPr kumimoji="0" sz="1000" b="0" i="0" u="none" strike="noStrike" kern="1200" cap="none" spc="0" normalizeH="0" baseline="0" noProof="0">
                    <a:ln>
                      <a:noFill/>
                    </a:ln>
                    <a:solidFill>
                      <a:srgbClr val="046A38"/>
                    </a:solidFill>
                    <a:effectLst/>
                    <a:uLnTx/>
                    <a:uFillTx/>
                    <a:latin typeface="Segoe UI" panose="020B0502040204020203" pitchFamily="34" charset="0"/>
                    <a:ea typeface="+mn-ea"/>
                    <a:cs typeface="Segoe UI" panose="020B0502040204020203" pitchFamily="34" charset="0"/>
                    <a:sym typeface="Arial"/>
                  </a:rPr>
                  <a:t>▲</a:t>
                </a:r>
              </a:p>
            </p:txBody>
          </p:sp>
        </p:grpSp>
        <p:sp>
          <p:nvSpPr>
            <p:cNvPr id="27" name="Rounded Rectangle 18">
              <a:extLst>
                <a:ext uri="{FF2B5EF4-FFF2-40B4-BE49-F238E27FC236}">
                  <a16:creationId xmlns:a16="http://schemas.microsoft.com/office/drawing/2014/main" id="{D367344A-A86E-286C-2A89-9EFC4C9E2E3B}"/>
                </a:ext>
              </a:extLst>
            </p:cNvPr>
            <p:cNvSpPr/>
            <p:nvPr/>
          </p:nvSpPr>
          <p:spPr>
            <a:xfrm>
              <a:off x="594359" y="5582412"/>
              <a:ext cx="128016" cy="118872"/>
            </a:xfrm>
            <a:prstGeom prst="roundRect">
              <a:avLst>
                <a:gd name="adj" fmla="val 3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0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sp>
        <p:nvSpPr>
          <p:cNvPr id="59" name="Oval 58">
            <a:extLst>
              <a:ext uri="{FF2B5EF4-FFF2-40B4-BE49-F238E27FC236}">
                <a16:creationId xmlns:a16="http://schemas.microsoft.com/office/drawing/2014/main" id="{0ED31F04-07E7-6CB2-2CB0-F2A2D0E78D20}"/>
              </a:ext>
            </a:extLst>
          </p:cNvPr>
          <p:cNvSpPr/>
          <p:nvPr/>
        </p:nvSpPr>
        <p:spPr>
          <a:xfrm>
            <a:off x="827464" y="5754438"/>
            <a:ext cx="169200" cy="169200"/>
          </a:xfrm>
          <a:prstGeom prst="ellipse">
            <a:avLst/>
          </a:prstGeom>
          <a:solidFill>
            <a:srgbClr val="046A38"/>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sz="950" b="1" i="0" u="none" strike="noStrike" kern="0" cap="none" spc="0" normalizeH="0" baseline="0" noProof="0" dirty="0">
                <a:ln>
                  <a:noFill/>
                </a:ln>
                <a:solidFill>
                  <a:srgbClr val="FFFFFF"/>
                </a:solidFill>
                <a:effectLst/>
                <a:uLnTx/>
                <a:uFillTx/>
                <a:latin typeface="Segoe UI"/>
                <a:ea typeface="+mn-ea"/>
                <a:cs typeface="+mn-cs"/>
                <a:sym typeface="Arial"/>
              </a:rPr>
              <a:t>1</a:t>
            </a:r>
          </a:p>
        </p:txBody>
      </p:sp>
      <p:grpSp>
        <p:nvGrpSpPr>
          <p:cNvPr id="146" name="Group 145">
            <a:extLst>
              <a:ext uri="{FF2B5EF4-FFF2-40B4-BE49-F238E27FC236}">
                <a16:creationId xmlns:a16="http://schemas.microsoft.com/office/drawing/2014/main" id="{654676CB-216A-6328-C393-0596A9BAC590}"/>
              </a:ext>
            </a:extLst>
          </p:cNvPr>
          <p:cNvGrpSpPr/>
          <p:nvPr/>
        </p:nvGrpSpPr>
        <p:grpSpPr>
          <a:xfrm>
            <a:off x="249638" y="464705"/>
            <a:ext cx="11521440" cy="585793"/>
            <a:chOff x="249638" y="464705"/>
            <a:chExt cx="11521440" cy="585793"/>
          </a:xfrm>
        </p:grpSpPr>
        <p:sp>
          <p:nvSpPr>
            <p:cNvPr id="147" name="Text 22">
              <a:extLst>
                <a:ext uri="{FF2B5EF4-FFF2-40B4-BE49-F238E27FC236}">
                  <a16:creationId xmlns:a16="http://schemas.microsoft.com/office/drawing/2014/main" id="{75223A1A-4B36-DC63-83C4-1B21A2467724}"/>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SCALING THE OPERATION</a:t>
              </a:r>
            </a:p>
          </p:txBody>
        </p:sp>
        <p:sp>
          <p:nvSpPr>
            <p:cNvPr id="148" name="TextBox 147">
              <a:extLst>
                <a:ext uri="{FF2B5EF4-FFF2-40B4-BE49-F238E27FC236}">
                  <a16:creationId xmlns:a16="http://schemas.microsoft.com/office/drawing/2014/main" id="{341310A2-84E4-61BF-3F07-8846123B7246}"/>
                </a:ext>
              </a:extLst>
            </p:cNvPr>
            <p:cNvSpPr txBox="1"/>
            <p:nvPr/>
          </p:nvSpPr>
          <p:spPr>
            <a:xfrm>
              <a:off x="249638" y="711944"/>
              <a:ext cx="11521440" cy="33855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US" sz="2200" b="1" i="0" u="none" strike="noStrike" kern="1200" cap="none" spc="0" normalizeH="0" baseline="0" noProof="0">
                  <a:ln>
                    <a:noFill/>
                  </a:ln>
                  <a:solidFill>
                    <a:srgbClr val="111111"/>
                  </a:solidFill>
                  <a:effectLst/>
                  <a:uLnTx/>
                  <a:uFillTx/>
                  <a:latin typeface="Segoe UI" panose="020B0502040204020203" pitchFamily="34" charset="0"/>
                  <a:cs typeface="Segoe UI" panose="020B0502040204020203" pitchFamily="34" charset="0"/>
                  <a:sym typeface="Arial"/>
                </a:rPr>
                <a:t>AI keeps growing, headcount steps back, and process redesign is the surprise</a:t>
              </a:r>
            </a:p>
          </p:txBody>
        </p:sp>
      </p:grpSp>
      <p:sp>
        <p:nvSpPr>
          <p:cNvPr id="155" name="TextBox 154">
            <a:extLst>
              <a:ext uri="{FF2B5EF4-FFF2-40B4-BE49-F238E27FC236}">
                <a16:creationId xmlns:a16="http://schemas.microsoft.com/office/drawing/2014/main" id="{438A6427-0FF3-31ED-4320-B9B5EFECD14B}"/>
              </a:ext>
            </a:extLst>
          </p:cNvPr>
          <p:cNvSpPr txBox="1"/>
          <p:nvPr/>
        </p:nvSpPr>
        <p:spPr>
          <a:xfrm>
            <a:off x="320040" y="1155192"/>
            <a:ext cx="11521440" cy="646331"/>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US"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rPr>
              <a:t>With most programs already self-rated as mature, the focus turns to how leaders plan to scale from here. Organizations were asked how they scale fraud and investigations operations today, and where their focus will be over the next three years. Across both banking and insurance, the answers point in the same direction.</a:t>
            </a:r>
            <a:endParaRPr kumimoji="0" lang="en-US" sz="1400" b="0" i="0" u="none" strike="noStrike" kern="1200" cap="none" spc="0" normalizeH="0" baseline="0" noProof="0">
              <a:ln>
                <a:noFill/>
              </a:ln>
              <a:solidFill>
                <a:srgbClr val="404040"/>
              </a:solidFill>
              <a:effectLst/>
              <a:uLnTx/>
              <a:uFillTx/>
              <a:latin typeface="Segoe UI" panose="020B0502040204020203" pitchFamily="34" charset="0"/>
              <a:cs typeface="Segoe UI" panose="020B0502040204020203" pitchFamily="34" charset="0"/>
              <a:sym typeface="Arial"/>
            </a:endParaRPr>
          </a:p>
        </p:txBody>
      </p:sp>
      <p:sp>
        <p:nvSpPr>
          <p:cNvPr id="3" name="Rectangle 2">
            <a:extLst>
              <a:ext uri="{FF2B5EF4-FFF2-40B4-BE49-F238E27FC236}">
                <a16:creationId xmlns:a16="http://schemas.microsoft.com/office/drawing/2014/main" id="{EB5DBE57-AD00-69E4-D4A7-716D9010A3E7}"/>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8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For detailed data please refer to </a:t>
            </a:r>
            <a:r>
              <a:rPr kumimoji="0" lang="en-US" sz="8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hlinkClick r:id="" action="ppaction://noaction"/>
              </a:rPr>
              <a:t>Appendix – D </a:t>
            </a:r>
            <a:endParaRPr kumimoji="0" lang="en-US" sz="8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
        <p:nvSpPr>
          <p:cNvPr id="6" name="Oval 5">
            <a:extLst>
              <a:ext uri="{FF2B5EF4-FFF2-40B4-BE49-F238E27FC236}">
                <a16:creationId xmlns:a16="http://schemas.microsoft.com/office/drawing/2014/main" id="{FB785E7B-D61A-05F7-4F82-2ACECE4AD0BB}"/>
              </a:ext>
            </a:extLst>
          </p:cNvPr>
          <p:cNvSpPr/>
          <p:nvPr/>
        </p:nvSpPr>
        <p:spPr>
          <a:xfrm>
            <a:off x="6027342" y="2005578"/>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sz="1600" b="1" i="0" u="none" strike="noStrike" kern="0" cap="none" spc="0" normalizeH="0" baseline="0" noProof="0">
                <a:ln>
                  <a:noFill/>
                </a:ln>
                <a:solidFill>
                  <a:srgbClr val="FFFFFF"/>
                </a:solidFill>
                <a:effectLst/>
                <a:uLnTx/>
                <a:uFillTx/>
                <a:latin typeface="Segoe UI"/>
                <a:ea typeface="+mn-ea"/>
                <a:cs typeface="+mn-cs"/>
                <a:sym typeface="Arial"/>
              </a:rPr>
              <a:t>1</a:t>
            </a:r>
          </a:p>
        </p:txBody>
      </p:sp>
      <p:sp>
        <p:nvSpPr>
          <p:cNvPr id="12" name="Oval 11">
            <a:extLst>
              <a:ext uri="{FF2B5EF4-FFF2-40B4-BE49-F238E27FC236}">
                <a16:creationId xmlns:a16="http://schemas.microsoft.com/office/drawing/2014/main" id="{493526E0-022A-38EF-223D-3708A8EBBD8E}"/>
              </a:ext>
            </a:extLst>
          </p:cNvPr>
          <p:cNvSpPr/>
          <p:nvPr/>
        </p:nvSpPr>
        <p:spPr>
          <a:xfrm>
            <a:off x="6027342" y="3694231"/>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sz="1600" b="1" i="0" u="none" strike="noStrike" kern="0" cap="none" spc="0" normalizeH="0" baseline="0" noProof="0">
                <a:ln>
                  <a:noFill/>
                </a:ln>
                <a:solidFill>
                  <a:srgbClr val="FFFFFF"/>
                </a:solidFill>
                <a:effectLst/>
                <a:uLnTx/>
                <a:uFillTx/>
                <a:latin typeface="Segoe UI"/>
                <a:ea typeface="+mn-ea"/>
                <a:cs typeface="+mn-cs"/>
                <a:sym typeface="Arial"/>
              </a:rPr>
              <a:t>2</a:t>
            </a:r>
          </a:p>
        </p:txBody>
      </p:sp>
      <p:sp>
        <p:nvSpPr>
          <p:cNvPr id="16" name="Oval 15">
            <a:extLst>
              <a:ext uri="{FF2B5EF4-FFF2-40B4-BE49-F238E27FC236}">
                <a16:creationId xmlns:a16="http://schemas.microsoft.com/office/drawing/2014/main" id="{FD5E5165-8571-9CDF-F110-9C7DD0508AB3}"/>
              </a:ext>
            </a:extLst>
          </p:cNvPr>
          <p:cNvSpPr/>
          <p:nvPr/>
        </p:nvSpPr>
        <p:spPr>
          <a:xfrm>
            <a:off x="6027342" y="5348534"/>
            <a:ext cx="366405" cy="366405"/>
          </a:xfrm>
          <a:prstGeom prst="ellipse">
            <a:avLst/>
          </a:prstGeom>
          <a:solidFill>
            <a:schemeClr val="tx1"/>
          </a:solidFill>
          <a:ln w="19050">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sz="1600" b="1" i="0" u="none" strike="noStrike" kern="0" cap="none" spc="0" normalizeH="0" baseline="0" noProof="0">
                <a:ln>
                  <a:noFill/>
                </a:ln>
                <a:solidFill>
                  <a:srgbClr val="FFFFFF"/>
                </a:solidFill>
                <a:effectLst/>
                <a:uLnTx/>
                <a:uFillTx/>
                <a:latin typeface="Segoe UI"/>
                <a:ea typeface="+mn-ea"/>
                <a:cs typeface="+mn-cs"/>
                <a:sym typeface="Arial"/>
              </a:rPr>
              <a:t>3</a:t>
            </a:r>
          </a:p>
        </p:txBody>
      </p:sp>
      <p:sp>
        <p:nvSpPr>
          <p:cNvPr id="18" name="Rectangle 17">
            <a:extLst>
              <a:ext uri="{FF2B5EF4-FFF2-40B4-BE49-F238E27FC236}">
                <a16:creationId xmlns:a16="http://schemas.microsoft.com/office/drawing/2014/main" id="{284ACE73-DD08-FF1B-EA0B-06B3BEF9D734}"/>
              </a:ext>
            </a:extLst>
          </p:cNvPr>
          <p:cNvSpPr/>
          <p:nvPr/>
        </p:nvSpPr>
        <p:spPr>
          <a:xfrm>
            <a:off x="2399991" y="3067076"/>
            <a:ext cx="1088114" cy="261610"/>
          </a:xfrm>
          <a:prstGeom prst="rect">
            <a:avLst/>
          </a:prstGeom>
          <a:noFill/>
        </p:spPr>
        <p:txBody>
          <a:bodyPr wrap="none" lIns="91440" tIns="45720" rIns="91440" bIns="45720">
            <a:prstTxWarp prst="textArchUp">
              <a:avLst>
                <a:gd name="adj" fmla="val 10468689"/>
              </a:avLst>
            </a:prstTxWarp>
            <a:spAutoFit/>
            <a:scene3d>
              <a:camera prst="orthographicFront">
                <a:rot lat="420000" lon="0" rev="0"/>
              </a:camera>
              <a:lightRig rig="threePt" dir="t"/>
            </a:scene3d>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a:ln w="0"/>
                <a:solidFill>
                  <a:srgbClr val="000000"/>
                </a:solidFill>
                <a:effectLst/>
                <a:uLnTx/>
                <a:uFillTx/>
                <a:latin typeface="Segoe UI" panose="020B0502040204020203" pitchFamily="34" charset="0"/>
                <a:cs typeface="Segoe UI" panose="020B0502040204020203" pitchFamily="34" charset="0"/>
                <a:sym typeface="Arial"/>
              </a:rPr>
              <a:t>FOCUS TODAY</a:t>
            </a:r>
          </a:p>
        </p:txBody>
      </p:sp>
    </p:spTree>
    <p:extLst>
      <p:ext uri="{BB962C8B-B14F-4D97-AF65-F5344CB8AC3E}">
        <p14:creationId xmlns:p14="http://schemas.microsoft.com/office/powerpoint/2010/main" val="161393993"/>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80000"/>
            <a:lum/>
          </a:blip>
          <a:srcRect/>
          <a:stretch>
            <a:fillRect/>
          </a:stretch>
        </a:blipFill>
        <a:effectLst/>
      </p:bgPr>
    </p:bg>
    <p:spTree>
      <p:nvGrpSpPr>
        <p:cNvPr id="1" name="">
          <a:extLst>
            <a:ext uri="{FF2B5EF4-FFF2-40B4-BE49-F238E27FC236}">
              <a16:creationId xmlns:a16="http://schemas.microsoft.com/office/drawing/2014/main" id="{6D52B074-7025-5481-0B38-5D5BF5A48524}"/>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80281C64-5DE0-08AB-F211-6229FF02E066}"/>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4. Regulatory &amp; Market Change</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000" b="0"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rPr>
              <a:t>"Deepfakes, AI, and synthetic ids. AI is getting more advance, but regulations are slow[ing] down AI detection and fraudsters have a green field with AI with no oversight." </a:t>
            </a:r>
            <a:r>
              <a:rPr kumimoji="0" lang="en-US" sz="2000" b="1"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rPr>
              <a:t>— Senior Manager of Large Global Financial Institution</a:t>
            </a:r>
            <a:endParaRPr kumimoji="0" lang="en-US" sz="2000" b="1" i="0" u="none" strike="noStrike" kern="0" cap="none" spc="0" normalizeH="0" baseline="0" noProof="0" dirty="0">
              <a:ln>
                <a:noFill/>
              </a:ln>
              <a:solidFill>
                <a:srgbClr val="000000"/>
              </a:solidFill>
              <a:effectLst/>
              <a:uLnTx/>
              <a:uFillTx/>
              <a:latin typeface="Open Sans"/>
              <a:ea typeface="Open Sans"/>
              <a:cs typeface="Open Sans"/>
              <a:sym typeface="Open Sans"/>
            </a:endParaRPr>
          </a:p>
        </p:txBody>
      </p:sp>
    </p:spTree>
    <p:extLst>
      <p:ext uri="{BB962C8B-B14F-4D97-AF65-F5344CB8AC3E}">
        <p14:creationId xmlns:p14="http://schemas.microsoft.com/office/powerpoint/2010/main" val="376911559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50D7C-60E8-61B9-4FFF-17120D67BC4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4A40D31-958F-BDE6-84D4-32882E3D3471}"/>
              </a:ext>
            </a:extLst>
          </p:cNvPr>
          <p:cNvSpPr/>
          <p:nvPr/>
        </p:nvSpPr>
        <p:spPr>
          <a:xfrm>
            <a:off x="0" y="0"/>
            <a:ext cx="12191695" cy="33832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sym typeface="Arial"/>
            </a:endParaRPr>
          </a:p>
        </p:txBody>
      </p:sp>
      <p:sp>
        <p:nvSpPr>
          <p:cNvPr id="65" name="Rectangle 64">
            <a:extLst>
              <a:ext uri="{FF2B5EF4-FFF2-40B4-BE49-F238E27FC236}">
                <a16:creationId xmlns:a16="http://schemas.microsoft.com/office/drawing/2014/main" id="{0B52354D-4EB1-A450-A9C3-2F7EBAC5B1D7}"/>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prstClr val="white"/>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REGULATORY &amp; MARKET CHANGE</a:t>
            </a:r>
          </a:p>
        </p:txBody>
      </p:sp>
      <p:sp>
        <p:nvSpPr>
          <p:cNvPr id="15" name="Rounded Rectangle 7">
            <a:extLst>
              <a:ext uri="{FF2B5EF4-FFF2-40B4-BE49-F238E27FC236}">
                <a16:creationId xmlns:a16="http://schemas.microsoft.com/office/drawing/2014/main" id="{9EA536E0-F277-15DA-FEDA-1635656DD100}"/>
              </a:ext>
            </a:extLst>
          </p:cNvPr>
          <p:cNvSpPr/>
          <p:nvPr/>
        </p:nvSpPr>
        <p:spPr>
          <a:xfrm>
            <a:off x="320040" y="1868776"/>
            <a:ext cx="5235934" cy="333550"/>
          </a:xfrm>
          <a:prstGeom prst="roundRect">
            <a:avLst>
              <a:gd name="adj" fmla="val 15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48%</a:t>
            </a:r>
          </a:p>
        </p:txBody>
      </p:sp>
      <p:sp>
        <p:nvSpPr>
          <p:cNvPr id="19" name="Rounded Rectangle 9">
            <a:extLst>
              <a:ext uri="{FF2B5EF4-FFF2-40B4-BE49-F238E27FC236}">
                <a16:creationId xmlns:a16="http://schemas.microsoft.com/office/drawing/2014/main" id="{BA5BDED5-10D6-62A0-D11D-90543DD3386B}"/>
              </a:ext>
            </a:extLst>
          </p:cNvPr>
          <p:cNvSpPr/>
          <p:nvPr/>
        </p:nvSpPr>
        <p:spPr>
          <a:xfrm>
            <a:off x="320040" y="2257189"/>
            <a:ext cx="365760" cy="365760"/>
          </a:xfrm>
          <a:prstGeom prst="roundRect">
            <a:avLst>
              <a:gd name="adj" fmla="val 5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1" name="Picture 20" descr="ic_tools_w.png">
            <a:extLst>
              <a:ext uri="{FF2B5EF4-FFF2-40B4-BE49-F238E27FC236}">
                <a16:creationId xmlns:a16="http://schemas.microsoft.com/office/drawing/2014/main" id="{A561603B-8668-DFC1-EEC2-037E4A88480C}"/>
              </a:ext>
            </a:extLst>
          </p:cNvPr>
          <p:cNvPicPr>
            <a:picLocks noChangeAspect="1"/>
          </p:cNvPicPr>
          <p:nvPr/>
        </p:nvPicPr>
        <p:blipFill>
          <a:blip r:embed="rId3"/>
          <a:stretch>
            <a:fillRect/>
          </a:stretch>
        </p:blipFill>
        <p:spPr>
          <a:xfrm>
            <a:off x="400508" y="2337657"/>
            <a:ext cx="204825" cy="204825"/>
          </a:xfrm>
          <a:prstGeom prst="rect">
            <a:avLst/>
          </a:prstGeom>
        </p:spPr>
      </p:pic>
      <p:sp>
        <p:nvSpPr>
          <p:cNvPr id="23" name="TextBox 22">
            <a:extLst>
              <a:ext uri="{FF2B5EF4-FFF2-40B4-BE49-F238E27FC236}">
                <a16:creationId xmlns:a16="http://schemas.microsoft.com/office/drawing/2014/main" id="{6A9DC6BC-5F4E-08EB-3950-B52F64E4A0B9}"/>
              </a:ext>
            </a:extLst>
          </p:cNvPr>
          <p:cNvSpPr txBox="1"/>
          <p:nvPr/>
        </p:nvSpPr>
        <p:spPr>
          <a:xfrm>
            <a:off x="777240" y="2257190"/>
            <a:ext cx="4994818"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3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Remediating existing gaps</a:t>
            </a:r>
          </a:p>
        </p:txBody>
      </p:sp>
      <p:sp>
        <p:nvSpPr>
          <p:cNvPr id="25" name="TextBox 24">
            <a:extLst>
              <a:ext uri="{FF2B5EF4-FFF2-40B4-BE49-F238E27FC236}">
                <a16:creationId xmlns:a16="http://schemas.microsoft.com/office/drawing/2014/main" id="{87CE4E8F-3398-5EFD-810F-187A9F12683A}"/>
              </a:ext>
            </a:extLst>
          </p:cNvPr>
          <p:cNvSpPr txBox="1"/>
          <p:nvPr/>
        </p:nvSpPr>
        <p:spPr>
          <a:xfrm>
            <a:off x="777240" y="2478236"/>
            <a:ext cx="4994818"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Fixing known compliance and control weaknesses</a:t>
            </a:r>
          </a:p>
        </p:txBody>
      </p:sp>
      <p:sp>
        <p:nvSpPr>
          <p:cNvPr id="27" name="Rounded Rectangle 13">
            <a:extLst>
              <a:ext uri="{FF2B5EF4-FFF2-40B4-BE49-F238E27FC236}">
                <a16:creationId xmlns:a16="http://schemas.microsoft.com/office/drawing/2014/main" id="{3DB750E4-63E9-C76A-6D81-D11FC90D8982}"/>
              </a:ext>
            </a:extLst>
          </p:cNvPr>
          <p:cNvSpPr/>
          <p:nvPr/>
        </p:nvSpPr>
        <p:spPr>
          <a:xfrm>
            <a:off x="5641452" y="1868776"/>
            <a:ext cx="4194311" cy="333550"/>
          </a:xfrm>
          <a:prstGeom prst="roundRect">
            <a:avLst>
              <a:gd name="adj" fmla="val 15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CA" sz="1800" b="1" i="0" u="none" strike="noStrike" kern="120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39%</a:t>
            </a:r>
          </a:p>
        </p:txBody>
      </p:sp>
      <p:grpSp>
        <p:nvGrpSpPr>
          <p:cNvPr id="207" name="Group 206">
            <a:extLst>
              <a:ext uri="{FF2B5EF4-FFF2-40B4-BE49-F238E27FC236}">
                <a16:creationId xmlns:a16="http://schemas.microsoft.com/office/drawing/2014/main" id="{081F1FC8-DF04-5ADF-F468-32B1B8B91CD7}"/>
              </a:ext>
            </a:extLst>
          </p:cNvPr>
          <p:cNvGrpSpPr/>
          <p:nvPr/>
        </p:nvGrpSpPr>
        <p:grpSpPr>
          <a:xfrm>
            <a:off x="5641452" y="2275478"/>
            <a:ext cx="365760" cy="365760"/>
            <a:chOff x="5881786" y="2434293"/>
            <a:chExt cx="365760" cy="365760"/>
          </a:xfrm>
        </p:grpSpPr>
        <p:sp>
          <p:nvSpPr>
            <p:cNvPr id="31" name="Rounded Rectangle 15">
              <a:extLst>
                <a:ext uri="{FF2B5EF4-FFF2-40B4-BE49-F238E27FC236}">
                  <a16:creationId xmlns:a16="http://schemas.microsoft.com/office/drawing/2014/main" id="{7CFA363B-E6DD-A701-8BDD-111C00239FA8}"/>
                </a:ext>
              </a:extLst>
            </p:cNvPr>
            <p:cNvSpPr/>
            <p:nvPr/>
          </p:nvSpPr>
          <p:spPr>
            <a:xfrm>
              <a:off x="5881786" y="2434293"/>
              <a:ext cx="365760" cy="365760"/>
            </a:xfrm>
            <a:prstGeom prst="roundRect">
              <a:avLst>
                <a:gd name="adj" fmla="val 5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33" name="Picture 32" descr="ic_binoc_w.png">
              <a:extLst>
                <a:ext uri="{FF2B5EF4-FFF2-40B4-BE49-F238E27FC236}">
                  <a16:creationId xmlns:a16="http://schemas.microsoft.com/office/drawing/2014/main" id="{3FFF9AED-09FA-08A0-DB9E-88F242AA0398}"/>
                </a:ext>
              </a:extLst>
            </p:cNvPr>
            <p:cNvPicPr>
              <a:picLocks noChangeAspect="1"/>
            </p:cNvPicPr>
            <p:nvPr/>
          </p:nvPicPr>
          <p:blipFill>
            <a:blip r:embed="rId4"/>
            <a:stretch>
              <a:fillRect/>
            </a:stretch>
          </p:blipFill>
          <p:spPr>
            <a:xfrm>
              <a:off x="5962253" y="2514760"/>
              <a:ext cx="204825" cy="204825"/>
            </a:xfrm>
            <a:prstGeom prst="rect">
              <a:avLst/>
            </a:prstGeom>
          </p:spPr>
        </p:pic>
      </p:grpSp>
      <p:sp>
        <p:nvSpPr>
          <p:cNvPr id="35" name="TextBox 34">
            <a:extLst>
              <a:ext uri="{FF2B5EF4-FFF2-40B4-BE49-F238E27FC236}">
                <a16:creationId xmlns:a16="http://schemas.microsoft.com/office/drawing/2014/main" id="{3C7D6C3D-248F-6D2A-60EB-256A11449FF7}"/>
              </a:ext>
            </a:extLst>
          </p:cNvPr>
          <p:cNvSpPr txBox="1"/>
          <p:nvPr/>
        </p:nvSpPr>
        <p:spPr>
          <a:xfrm>
            <a:off x="6080364" y="2257190"/>
            <a:ext cx="3955420"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023D20"/>
                </a:solidFill>
                <a:effectLst/>
                <a:uLnTx/>
                <a:uFillTx/>
                <a:latin typeface="Segoe UI" panose="020B0502040204020203" pitchFamily="34" charset="0"/>
                <a:ea typeface="+mn-ea"/>
                <a:cs typeface="Segoe UI" panose="020B0502040204020203" pitchFamily="34" charset="0"/>
                <a:sym typeface="Arial"/>
              </a:rPr>
              <a:t>Meeting upcoming regulation</a:t>
            </a:r>
          </a:p>
        </p:txBody>
      </p:sp>
      <p:sp>
        <p:nvSpPr>
          <p:cNvPr id="37" name="TextBox 36">
            <a:extLst>
              <a:ext uri="{FF2B5EF4-FFF2-40B4-BE49-F238E27FC236}">
                <a16:creationId xmlns:a16="http://schemas.microsoft.com/office/drawing/2014/main" id="{9E8C6F67-BB66-6F37-C8AD-5F6E07C4B569}"/>
              </a:ext>
            </a:extLst>
          </p:cNvPr>
          <p:cNvSpPr txBox="1"/>
          <p:nvPr/>
        </p:nvSpPr>
        <p:spPr>
          <a:xfrm>
            <a:off x="6080364" y="2478236"/>
            <a:ext cx="3955420"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Building ahead of new and draft requirements</a:t>
            </a:r>
          </a:p>
        </p:txBody>
      </p:sp>
      <p:sp>
        <p:nvSpPr>
          <p:cNvPr id="39" name="Rounded Rectangle 19">
            <a:extLst>
              <a:ext uri="{FF2B5EF4-FFF2-40B4-BE49-F238E27FC236}">
                <a16:creationId xmlns:a16="http://schemas.microsoft.com/office/drawing/2014/main" id="{4DDDF606-9EA5-2624-1B00-D8338977D8D0}"/>
              </a:ext>
            </a:extLst>
          </p:cNvPr>
          <p:cNvSpPr/>
          <p:nvPr/>
        </p:nvSpPr>
        <p:spPr>
          <a:xfrm>
            <a:off x="9921240" y="1868776"/>
            <a:ext cx="1911095" cy="333550"/>
          </a:xfrm>
          <a:prstGeom prst="roundRect">
            <a:avLst>
              <a:gd name="adj" fmla="val 15000"/>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13%</a:t>
            </a:r>
          </a:p>
        </p:txBody>
      </p:sp>
      <p:grpSp>
        <p:nvGrpSpPr>
          <p:cNvPr id="209" name="Group 208">
            <a:extLst>
              <a:ext uri="{FF2B5EF4-FFF2-40B4-BE49-F238E27FC236}">
                <a16:creationId xmlns:a16="http://schemas.microsoft.com/office/drawing/2014/main" id="{EE1E171E-99FC-9B31-D415-3115894F9143}"/>
              </a:ext>
            </a:extLst>
          </p:cNvPr>
          <p:cNvGrpSpPr/>
          <p:nvPr/>
        </p:nvGrpSpPr>
        <p:grpSpPr>
          <a:xfrm>
            <a:off x="9921240" y="2275478"/>
            <a:ext cx="365760" cy="365760"/>
            <a:chOff x="10385846" y="2434293"/>
            <a:chExt cx="365760" cy="365760"/>
          </a:xfrm>
        </p:grpSpPr>
        <p:sp>
          <p:nvSpPr>
            <p:cNvPr id="43" name="Rounded Rectangle 21">
              <a:extLst>
                <a:ext uri="{FF2B5EF4-FFF2-40B4-BE49-F238E27FC236}">
                  <a16:creationId xmlns:a16="http://schemas.microsoft.com/office/drawing/2014/main" id="{56B65900-34BE-9E1E-A03C-532FC6F02EA8}"/>
                </a:ext>
              </a:extLst>
            </p:cNvPr>
            <p:cNvSpPr/>
            <p:nvPr/>
          </p:nvSpPr>
          <p:spPr>
            <a:xfrm>
              <a:off x="10385846" y="2434293"/>
              <a:ext cx="365760" cy="365760"/>
            </a:xfrm>
            <a:prstGeom prst="roundRect">
              <a:avLst>
                <a:gd name="adj" fmla="val 50000"/>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45" name="Picture 44" descr="ic_minus_w.png">
              <a:extLst>
                <a:ext uri="{FF2B5EF4-FFF2-40B4-BE49-F238E27FC236}">
                  <a16:creationId xmlns:a16="http://schemas.microsoft.com/office/drawing/2014/main" id="{70654E4B-2430-C2B5-11C9-C26EEC30DDDA}"/>
                </a:ext>
              </a:extLst>
            </p:cNvPr>
            <p:cNvPicPr>
              <a:picLocks noChangeAspect="1"/>
            </p:cNvPicPr>
            <p:nvPr/>
          </p:nvPicPr>
          <p:blipFill>
            <a:blip r:embed="rId5"/>
            <a:stretch>
              <a:fillRect/>
            </a:stretch>
          </p:blipFill>
          <p:spPr>
            <a:xfrm>
              <a:off x="10466313" y="2514760"/>
              <a:ext cx="204825" cy="204825"/>
            </a:xfrm>
            <a:prstGeom prst="rect">
              <a:avLst/>
            </a:prstGeom>
          </p:spPr>
        </p:pic>
      </p:grpSp>
      <p:sp>
        <p:nvSpPr>
          <p:cNvPr id="47" name="TextBox 46">
            <a:extLst>
              <a:ext uri="{FF2B5EF4-FFF2-40B4-BE49-F238E27FC236}">
                <a16:creationId xmlns:a16="http://schemas.microsoft.com/office/drawing/2014/main" id="{920FB115-E40A-213A-FF89-34C34F8E1548}"/>
              </a:ext>
            </a:extLst>
          </p:cNvPr>
          <p:cNvSpPr txBox="1"/>
          <p:nvPr/>
        </p:nvSpPr>
        <p:spPr>
          <a:xfrm>
            <a:off x="10360152" y="2257189"/>
            <a:ext cx="1389888"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Not a driver</a:t>
            </a:r>
          </a:p>
        </p:txBody>
      </p:sp>
      <p:sp>
        <p:nvSpPr>
          <p:cNvPr id="49" name="TextBox 48">
            <a:extLst>
              <a:ext uri="{FF2B5EF4-FFF2-40B4-BE49-F238E27FC236}">
                <a16:creationId xmlns:a16="http://schemas.microsoft.com/office/drawing/2014/main" id="{EC5E0D81-7872-F885-D7E1-316824DD583E}"/>
              </a:ext>
            </a:extLst>
          </p:cNvPr>
          <p:cNvSpPr txBox="1"/>
          <p:nvPr/>
        </p:nvSpPr>
        <p:spPr>
          <a:xfrm>
            <a:off x="10360152" y="2478235"/>
            <a:ext cx="1389888"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Other priorities lead</a:t>
            </a:r>
          </a:p>
        </p:txBody>
      </p:sp>
      <p:sp>
        <p:nvSpPr>
          <p:cNvPr id="51" name="TextBox 50">
            <a:extLst>
              <a:ext uri="{FF2B5EF4-FFF2-40B4-BE49-F238E27FC236}">
                <a16:creationId xmlns:a16="http://schemas.microsoft.com/office/drawing/2014/main" id="{5050E19F-621A-8389-1700-5B987C34A70B}"/>
              </a:ext>
            </a:extLst>
          </p:cNvPr>
          <p:cNvSpPr txBox="1"/>
          <p:nvPr/>
        </p:nvSpPr>
        <p:spPr>
          <a:xfrm>
            <a:off x="320040" y="2956648"/>
            <a:ext cx="5669280" cy="23083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sym typeface="Arial"/>
              </a:rPr>
              <a:t>SMALLER INSTITUTIONS ARE </a:t>
            </a:r>
            <a:r>
              <a:rPr kumimoji="0" lang="en-US" sz="1500" b="1" i="0" u="none" strike="noStrike" kern="1200" cap="none" spc="0" normalizeH="0" baseline="0" noProof="0" dirty="0">
                <a:ln>
                  <a:noFill/>
                </a:ln>
                <a:solidFill>
                  <a:prstClr val="black"/>
                </a:solidFill>
                <a:effectLst/>
                <a:highlight>
                  <a:srgbClr val="FFFF00"/>
                </a:highlight>
                <a:uLnTx/>
                <a:uFillTx/>
                <a:latin typeface="Segoe UI" panose="020B0502040204020203" pitchFamily="34" charset="0"/>
                <a:ea typeface="+mn-ea"/>
                <a:cs typeface="Segoe UI" panose="020B0502040204020203" pitchFamily="34" charset="0"/>
                <a:sym typeface="Arial"/>
              </a:rPr>
              <a:t>STUCK</a:t>
            </a:r>
            <a:r>
              <a:rPr kumimoji="0" lang="en-US" sz="15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sym typeface="Arial"/>
              </a:rPr>
              <a:t> ON REMEDIATION</a:t>
            </a:r>
            <a:endParaRPr kumimoji="0" lang="en-US" sz="1500" b="0"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sym typeface="Arial"/>
            </a:endParaRPr>
          </a:p>
        </p:txBody>
      </p:sp>
      <p:sp>
        <p:nvSpPr>
          <p:cNvPr id="53" name="Rounded Rectangle 26">
            <a:extLst>
              <a:ext uri="{FF2B5EF4-FFF2-40B4-BE49-F238E27FC236}">
                <a16:creationId xmlns:a16="http://schemas.microsoft.com/office/drawing/2014/main" id="{3CB21993-8133-11CF-7891-D38E08F3B9F2}"/>
              </a:ext>
            </a:extLst>
          </p:cNvPr>
          <p:cNvSpPr/>
          <p:nvPr/>
        </p:nvSpPr>
        <p:spPr>
          <a:xfrm>
            <a:off x="338328" y="3405456"/>
            <a:ext cx="2798064" cy="2898065"/>
          </a:xfrm>
          <a:prstGeom prst="roundRect">
            <a:avLst>
              <a:gd name="adj" fmla="val 5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55" name="Rounded Rectangle 27">
            <a:extLst>
              <a:ext uri="{FF2B5EF4-FFF2-40B4-BE49-F238E27FC236}">
                <a16:creationId xmlns:a16="http://schemas.microsoft.com/office/drawing/2014/main" id="{247E382D-7518-61E6-3A5A-0E0975811561}"/>
              </a:ext>
            </a:extLst>
          </p:cNvPr>
          <p:cNvSpPr/>
          <p:nvPr/>
        </p:nvSpPr>
        <p:spPr>
          <a:xfrm>
            <a:off x="429768" y="3450409"/>
            <a:ext cx="540000" cy="540000"/>
          </a:xfrm>
          <a:prstGeom prst="roundRect">
            <a:avLst>
              <a:gd name="adj" fmla="val 50000"/>
            </a:avLst>
          </a:prstGeom>
          <a:solidFill>
            <a:schemeClr val="tx1">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57" name="Picture 56" descr="ic_bank_w.png">
            <a:extLst>
              <a:ext uri="{FF2B5EF4-FFF2-40B4-BE49-F238E27FC236}">
                <a16:creationId xmlns:a16="http://schemas.microsoft.com/office/drawing/2014/main" id="{93CC5BF3-F2B0-3189-AA7E-63AB7C0F3430}"/>
              </a:ext>
            </a:extLst>
          </p:cNvPr>
          <p:cNvPicPr>
            <a:picLocks noChangeAspect="1"/>
          </p:cNvPicPr>
          <p:nvPr/>
        </p:nvPicPr>
        <p:blipFill>
          <a:blip r:embed="rId6"/>
          <a:stretch>
            <a:fillRect/>
          </a:stretch>
        </p:blipFill>
        <p:spPr>
          <a:xfrm>
            <a:off x="548567" y="3569208"/>
            <a:ext cx="302400" cy="302400"/>
          </a:xfrm>
          <a:prstGeom prst="rect">
            <a:avLst/>
          </a:prstGeom>
        </p:spPr>
      </p:pic>
      <p:sp>
        <p:nvSpPr>
          <p:cNvPr id="59" name="TextBox 58">
            <a:extLst>
              <a:ext uri="{FF2B5EF4-FFF2-40B4-BE49-F238E27FC236}">
                <a16:creationId xmlns:a16="http://schemas.microsoft.com/office/drawing/2014/main" id="{7F2F4E9F-60EC-3386-6987-724B6B80F083}"/>
              </a:ext>
            </a:extLst>
          </p:cNvPr>
          <p:cNvSpPr txBox="1"/>
          <p:nvPr/>
        </p:nvSpPr>
        <p:spPr>
          <a:xfrm>
            <a:off x="1051558" y="3608914"/>
            <a:ext cx="2103120" cy="230832"/>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500" b="1" i="0" u="none" strike="noStrike" kern="1200" cap="none" spc="0" normalizeH="0" baseline="0" noProof="0">
                <a:ln>
                  <a:noFill/>
                </a:ln>
                <a:solidFill>
                  <a:prstClr val="black">
                    <a:lumMod val="75000"/>
                    <a:lumOff val="25000"/>
                  </a:prstClr>
                </a:solidFill>
                <a:effectLst/>
                <a:uLnTx/>
                <a:uFillTx/>
                <a:latin typeface="Segoe UI" panose="020B0502040204020203" pitchFamily="34" charset="0"/>
                <a:ea typeface="+mn-ea"/>
                <a:cs typeface="Segoe UI" panose="020B0502040204020203" pitchFamily="34" charset="0"/>
                <a:sym typeface="Arial"/>
              </a:rPr>
              <a:t>BANKING</a:t>
            </a:r>
          </a:p>
        </p:txBody>
      </p:sp>
      <p:sp>
        <p:nvSpPr>
          <p:cNvPr id="61" name="TextBox 60">
            <a:extLst>
              <a:ext uri="{FF2B5EF4-FFF2-40B4-BE49-F238E27FC236}">
                <a16:creationId xmlns:a16="http://schemas.microsoft.com/office/drawing/2014/main" id="{B59BD90A-0F10-4605-04E8-68877CB47B57}"/>
              </a:ext>
            </a:extLst>
          </p:cNvPr>
          <p:cNvSpPr txBox="1"/>
          <p:nvPr/>
        </p:nvSpPr>
        <p:spPr>
          <a:xfrm>
            <a:off x="457200" y="4099630"/>
            <a:ext cx="2560320"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Top 100 Global FIs </a:t>
            </a:r>
          </a:p>
        </p:txBody>
      </p:sp>
      <p:sp>
        <p:nvSpPr>
          <p:cNvPr id="63" name="Rounded Rectangle 31">
            <a:extLst>
              <a:ext uri="{FF2B5EF4-FFF2-40B4-BE49-F238E27FC236}">
                <a16:creationId xmlns:a16="http://schemas.microsoft.com/office/drawing/2014/main" id="{1AA4D6FA-6B38-9A17-BCB9-3DFEB5EEADA3}"/>
              </a:ext>
            </a:extLst>
          </p:cNvPr>
          <p:cNvSpPr/>
          <p:nvPr/>
        </p:nvSpPr>
        <p:spPr>
          <a:xfrm>
            <a:off x="457200" y="4309942"/>
            <a:ext cx="1059972" cy="164592"/>
          </a:xfrm>
          <a:prstGeom prst="roundRect">
            <a:avLst>
              <a:gd name="adj" fmla="val 3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66" name="Rounded Rectangle 32">
            <a:extLst>
              <a:ext uri="{FF2B5EF4-FFF2-40B4-BE49-F238E27FC236}">
                <a16:creationId xmlns:a16="http://schemas.microsoft.com/office/drawing/2014/main" id="{B116E1BF-8DE0-CCD6-E1D0-5081091C4C5D}"/>
              </a:ext>
            </a:extLst>
          </p:cNvPr>
          <p:cNvSpPr/>
          <p:nvPr/>
        </p:nvSpPr>
        <p:spPr>
          <a:xfrm>
            <a:off x="1517172" y="4309942"/>
            <a:ext cx="1211397" cy="164592"/>
          </a:xfrm>
          <a:prstGeom prst="roundRect">
            <a:avLst>
              <a:gd name="adj" fmla="val 3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68" name="Rounded Rectangle 33">
            <a:extLst>
              <a:ext uri="{FF2B5EF4-FFF2-40B4-BE49-F238E27FC236}">
                <a16:creationId xmlns:a16="http://schemas.microsoft.com/office/drawing/2014/main" id="{68D2A7AC-1D39-329B-744A-F133312D5B81}"/>
              </a:ext>
            </a:extLst>
          </p:cNvPr>
          <p:cNvSpPr/>
          <p:nvPr/>
        </p:nvSpPr>
        <p:spPr>
          <a:xfrm>
            <a:off x="2728569" y="4309942"/>
            <a:ext cx="252374" cy="164592"/>
          </a:xfrm>
          <a:prstGeom prst="roundRect">
            <a:avLst>
              <a:gd name="adj" fmla="val 30000"/>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70" name="TextBox 69">
            <a:extLst>
              <a:ext uri="{FF2B5EF4-FFF2-40B4-BE49-F238E27FC236}">
                <a16:creationId xmlns:a16="http://schemas.microsoft.com/office/drawing/2014/main" id="{E299BC18-0676-C1B4-A661-9D9C3BB8D746}"/>
              </a:ext>
            </a:extLst>
          </p:cNvPr>
          <p:cNvSpPr txBox="1"/>
          <p:nvPr/>
        </p:nvSpPr>
        <p:spPr>
          <a:xfrm>
            <a:off x="457200" y="4492822"/>
            <a:ext cx="2560320" cy="138499"/>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CA" sz="9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42% remediating</a:t>
            </a:r>
            <a:r>
              <a:rPr kumimoji="0" lang="en-CA" sz="900" b="0"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 </a:t>
            </a:r>
            <a:r>
              <a:rPr kumimoji="0" lang="en-CA" sz="900" b="1" i="0" u="none" strike="noStrike" kern="1200" cap="none" spc="0" normalizeH="0" baseline="0" noProof="0">
                <a:ln>
                  <a:noFill/>
                </a:ln>
                <a:solidFill>
                  <a:prstClr val="black">
                    <a:lumMod val="75000"/>
                    <a:lumOff val="25000"/>
                  </a:prstClr>
                </a:solidFill>
                <a:effectLst/>
                <a:uLnTx/>
                <a:uFillTx/>
                <a:latin typeface="Segoe UI" panose="020B0502040204020203" pitchFamily="34" charset="0"/>
                <a:cs typeface="Segoe UI" panose="020B0502040204020203" pitchFamily="34" charset="0"/>
                <a:sym typeface="Arial"/>
              </a:rPr>
              <a:t>·</a:t>
            </a:r>
            <a:r>
              <a:rPr kumimoji="0" sz="9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r>
              <a:rPr kumimoji="0"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48% upcoming</a:t>
            </a:r>
          </a:p>
        </p:txBody>
      </p:sp>
      <p:sp>
        <p:nvSpPr>
          <p:cNvPr id="72" name="TextBox 71">
            <a:extLst>
              <a:ext uri="{FF2B5EF4-FFF2-40B4-BE49-F238E27FC236}">
                <a16:creationId xmlns:a16="http://schemas.microsoft.com/office/drawing/2014/main" id="{D34B6BFD-52CE-926A-E414-696130E3A0C2}"/>
              </a:ext>
            </a:extLst>
          </p:cNvPr>
          <p:cNvSpPr txBox="1"/>
          <p:nvPr/>
        </p:nvSpPr>
        <p:spPr>
          <a:xfrm>
            <a:off x="457200" y="4739710"/>
            <a:ext cx="2560320"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Large FIs </a:t>
            </a:r>
          </a:p>
        </p:txBody>
      </p:sp>
      <p:sp>
        <p:nvSpPr>
          <p:cNvPr id="74" name="Rounded Rectangle 36">
            <a:extLst>
              <a:ext uri="{FF2B5EF4-FFF2-40B4-BE49-F238E27FC236}">
                <a16:creationId xmlns:a16="http://schemas.microsoft.com/office/drawing/2014/main" id="{536A357D-5A97-C645-E172-51BCE65FA7D3}"/>
              </a:ext>
            </a:extLst>
          </p:cNvPr>
          <p:cNvSpPr/>
          <p:nvPr/>
        </p:nvSpPr>
        <p:spPr>
          <a:xfrm>
            <a:off x="457200" y="4950022"/>
            <a:ext cx="1362821" cy="164592"/>
          </a:xfrm>
          <a:prstGeom prst="roundRect">
            <a:avLst>
              <a:gd name="adj" fmla="val 3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76" name="Rounded Rectangle 37">
            <a:extLst>
              <a:ext uri="{FF2B5EF4-FFF2-40B4-BE49-F238E27FC236}">
                <a16:creationId xmlns:a16="http://schemas.microsoft.com/office/drawing/2014/main" id="{69D7CB97-6733-904F-CF8C-FC7E876E6869}"/>
              </a:ext>
            </a:extLst>
          </p:cNvPr>
          <p:cNvSpPr/>
          <p:nvPr/>
        </p:nvSpPr>
        <p:spPr>
          <a:xfrm>
            <a:off x="1820021" y="4950022"/>
            <a:ext cx="731885" cy="164592"/>
          </a:xfrm>
          <a:prstGeom prst="roundRect">
            <a:avLst>
              <a:gd name="adj" fmla="val 3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78" name="Rounded Rectangle 38">
            <a:extLst>
              <a:ext uri="{FF2B5EF4-FFF2-40B4-BE49-F238E27FC236}">
                <a16:creationId xmlns:a16="http://schemas.microsoft.com/office/drawing/2014/main" id="{532FC1DF-30BC-C3AD-5E82-2EC1917A7E3E}"/>
              </a:ext>
            </a:extLst>
          </p:cNvPr>
          <p:cNvSpPr/>
          <p:nvPr/>
        </p:nvSpPr>
        <p:spPr>
          <a:xfrm>
            <a:off x="2551907" y="4950022"/>
            <a:ext cx="429036" cy="164592"/>
          </a:xfrm>
          <a:prstGeom prst="roundRect">
            <a:avLst>
              <a:gd name="adj" fmla="val 30000"/>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80" name="TextBox 79">
            <a:extLst>
              <a:ext uri="{FF2B5EF4-FFF2-40B4-BE49-F238E27FC236}">
                <a16:creationId xmlns:a16="http://schemas.microsoft.com/office/drawing/2014/main" id="{960B568E-1856-38FA-0D9D-65CD4820DD86}"/>
              </a:ext>
            </a:extLst>
          </p:cNvPr>
          <p:cNvSpPr txBox="1"/>
          <p:nvPr/>
        </p:nvSpPr>
        <p:spPr>
          <a:xfrm>
            <a:off x="457200" y="5132902"/>
            <a:ext cx="2560320" cy="138499"/>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US" sz="9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54% remediating</a:t>
            </a:r>
            <a:r>
              <a:rPr kumimoji="0" lang="en-US" sz="900" b="0"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 </a:t>
            </a:r>
            <a:r>
              <a:rPr kumimoji="0" lang="en-CA" sz="900" b="1" i="0" u="none" strike="noStrike" kern="1200" cap="none" spc="0" normalizeH="0" baseline="0" noProof="0">
                <a:ln>
                  <a:noFill/>
                </a:ln>
                <a:solidFill>
                  <a:prstClr val="black">
                    <a:lumMod val="75000"/>
                    <a:lumOff val="25000"/>
                  </a:prstClr>
                </a:solidFill>
                <a:effectLst/>
                <a:uLnTx/>
                <a:uFillTx/>
                <a:latin typeface="Segoe UI" panose="020B0502040204020203" pitchFamily="34" charset="0"/>
                <a:cs typeface="Segoe UI" panose="020B0502040204020203" pitchFamily="34" charset="0"/>
                <a:sym typeface="Arial"/>
              </a:rPr>
              <a:t>·</a:t>
            </a:r>
            <a:r>
              <a:rPr kumimoji="0" lang="en-CA" sz="9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r>
              <a:rPr kumimoji="0" lang="en-CA"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29% upcoming</a:t>
            </a:r>
          </a:p>
        </p:txBody>
      </p:sp>
      <p:sp>
        <p:nvSpPr>
          <p:cNvPr id="83" name="TextBox 82">
            <a:extLst>
              <a:ext uri="{FF2B5EF4-FFF2-40B4-BE49-F238E27FC236}">
                <a16:creationId xmlns:a16="http://schemas.microsoft.com/office/drawing/2014/main" id="{2B5EA2C3-6B0E-FA84-4C86-D358F5112252}"/>
              </a:ext>
            </a:extLst>
          </p:cNvPr>
          <p:cNvSpPr txBox="1"/>
          <p:nvPr/>
        </p:nvSpPr>
        <p:spPr>
          <a:xfrm>
            <a:off x="457200" y="5465962"/>
            <a:ext cx="2560320" cy="69249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Top 100 Global Financial Institutions are modestly weighted towards investing in upcoming regulatory requirements, whereas Large Financial Institutions are nearly twice as likely to prioritize remediation of existing gaps (54% vs. 29%).</a:t>
            </a:r>
            <a:endParaRPr kumimoji="0" sz="9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endParaRPr>
          </a:p>
        </p:txBody>
      </p:sp>
      <p:sp>
        <p:nvSpPr>
          <p:cNvPr id="87" name="Rounded Rectangle 41">
            <a:extLst>
              <a:ext uri="{FF2B5EF4-FFF2-40B4-BE49-F238E27FC236}">
                <a16:creationId xmlns:a16="http://schemas.microsoft.com/office/drawing/2014/main" id="{019D10F1-32A3-81F0-5150-7EA335CA41A0}"/>
              </a:ext>
            </a:extLst>
          </p:cNvPr>
          <p:cNvSpPr/>
          <p:nvPr/>
        </p:nvSpPr>
        <p:spPr>
          <a:xfrm>
            <a:off x="3209544" y="3376939"/>
            <a:ext cx="2798064" cy="2898065"/>
          </a:xfrm>
          <a:prstGeom prst="roundRect">
            <a:avLst>
              <a:gd name="adj" fmla="val 5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91" name="Rounded Rectangle 42">
            <a:extLst>
              <a:ext uri="{FF2B5EF4-FFF2-40B4-BE49-F238E27FC236}">
                <a16:creationId xmlns:a16="http://schemas.microsoft.com/office/drawing/2014/main" id="{531A1A04-D92B-5956-982C-26012EE6F265}"/>
              </a:ext>
            </a:extLst>
          </p:cNvPr>
          <p:cNvSpPr/>
          <p:nvPr/>
        </p:nvSpPr>
        <p:spPr>
          <a:xfrm>
            <a:off x="3319272" y="3450409"/>
            <a:ext cx="540000" cy="540000"/>
          </a:xfrm>
          <a:prstGeom prst="roundRect">
            <a:avLst>
              <a:gd name="adj" fmla="val 50000"/>
            </a:avLst>
          </a:prstGeom>
          <a:solidFill>
            <a:schemeClr val="tx1">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94" name="Picture 93" descr="ic_shield_w.png">
            <a:extLst>
              <a:ext uri="{FF2B5EF4-FFF2-40B4-BE49-F238E27FC236}">
                <a16:creationId xmlns:a16="http://schemas.microsoft.com/office/drawing/2014/main" id="{C47F472F-82E9-7D84-A782-B82F12B8E78F}"/>
              </a:ext>
            </a:extLst>
          </p:cNvPr>
          <p:cNvPicPr>
            <a:picLocks noChangeAspect="1"/>
          </p:cNvPicPr>
          <p:nvPr/>
        </p:nvPicPr>
        <p:blipFill>
          <a:blip r:embed="rId7"/>
          <a:stretch>
            <a:fillRect/>
          </a:stretch>
        </p:blipFill>
        <p:spPr>
          <a:xfrm>
            <a:off x="3438071" y="3569208"/>
            <a:ext cx="302400" cy="302400"/>
          </a:xfrm>
          <a:prstGeom prst="rect">
            <a:avLst/>
          </a:prstGeom>
        </p:spPr>
      </p:pic>
      <p:sp>
        <p:nvSpPr>
          <p:cNvPr id="97" name="TextBox 96">
            <a:extLst>
              <a:ext uri="{FF2B5EF4-FFF2-40B4-BE49-F238E27FC236}">
                <a16:creationId xmlns:a16="http://schemas.microsoft.com/office/drawing/2014/main" id="{7DFBF664-782B-B417-11D6-6D7AF34BB78A}"/>
              </a:ext>
            </a:extLst>
          </p:cNvPr>
          <p:cNvSpPr txBox="1"/>
          <p:nvPr/>
        </p:nvSpPr>
        <p:spPr>
          <a:xfrm>
            <a:off x="3941062" y="3608914"/>
            <a:ext cx="2103120" cy="230832"/>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500" b="1" i="0" u="none" strike="noStrike" kern="1200" cap="none" spc="0" normalizeH="0" baseline="0" noProof="0">
                <a:ln>
                  <a:noFill/>
                </a:ln>
                <a:solidFill>
                  <a:prstClr val="black">
                    <a:lumMod val="75000"/>
                    <a:lumOff val="25000"/>
                  </a:prstClr>
                </a:solidFill>
                <a:effectLst/>
                <a:uLnTx/>
                <a:uFillTx/>
                <a:latin typeface="Segoe UI" panose="020B0502040204020203" pitchFamily="34" charset="0"/>
                <a:ea typeface="+mn-ea"/>
                <a:cs typeface="Segoe UI" panose="020B0502040204020203" pitchFamily="34" charset="0"/>
                <a:sym typeface="Arial"/>
              </a:rPr>
              <a:t>INSURANCE</a:t>
            </a:r>
          </a:p>
        </p:txBody>
      </p:sp>
      <p:sp>
        <p:nvSpPr>
          <p:cNvPr id="101" name="TextBox 100">
            <a:extLst>
              <a:ext uri="{FF2B5EF4-FFF2-40B4-BE49-F238E27FC236}">
                <a16:creationId xmlns:a16="http://schemas.microsoft.com/office/drawing/2014/main" id="{2B0C3D95-999F-D503-2CD1-3B30D8E03510}"/>
              </a:ext>
            </a:extLst>
          </p:cNvPr>
          <p:cNvSpPr txBox="1"/>
          <p:nvPr/>
        </p:nvSpPr>
        <p:spPr>
          <a:xfrm>
            <a:off x="3346704" y="4099630"/>
            <a:ext cx="2560320"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Top 50 Global Carriers </a:t>
            </a:r>
          </a:p>
        </p:txBody>
      </p:sp>
      <p:sp>
        <p:nvSpPr>
          <p:cNvPr id="105" name="Rounded Rectangle 46">
            <a:extLst>
              <a:ext uri="{FF2B5EF4-FFF2-40B4-BE49-F238E27FC236}">
                <a16:creationId xmlns:a16="http://schemas.microsoft.com/office/drawing/2014/main" id="{909F4EAA-89E2-E666-0D01-A5D404EF8F28}"/>
              </a:ext>
            </a:extLst>
          </p:cNvPr>
          <p:cNvSpPr/>
          <p:nvPr/>
        </p:nvSpPr>
        <p:spPr>
          <a:xfrm>
            <a:off x="3346704" y="4309942"/>
            <a:ext cx="832835" cy="164592"/>
          </a:xfrm>
          <a:prstGeom prst="roundRect">
            <a:avLst>
              <a:gd name="adj" fmla="val 3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9" name="Rounded Rectangle 47">
            <a:extLst>
              <a:ext uri="{FF2B5EF4-FFF2-40B4-BE49-F238E27FC236}">
                <a16:creationId xmlns:a16="http://schemas.microsoft.com/office/drawing/2014/main" id="{288F5202-EE92-6A05-6B43-DFB2AF9687EB}"/>
              </a:ext>
            </a:extLst>
          </p:cNvPr>
          <p:cNvSpPr/>
          <p:nvPr/>
        </p:nvSpPr>
        <p:spPr>
          <a:xfrm>
            <a:off x="4179539" y="4309942"/>
            <a:ext cx="1186159" cy="164592"/>
          </a:xfrm>
          <a:prstGeom prst="roundRect">
            <a:avLst>
              <a:gd name="adj" fmla="val 3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11" name="Rounded Rectangle 48">
            <a:extLst>
              <a:ext uri="{FF2B5EF4-FFF2-40B4-BE49-F238E27FC236}">
                <a16:creationId xmlns:a16="http://schemas.microsoft.com/office/drawing/2014/main" id="{79D68776-17B7-4712-E0E8-4076B392C78D}"/>
              </a:ext>
            </a:extLst>
          </p:cNvPr>
          <p:cNvSpPr/>
          <p:nvPr/>
        </p:nvSpPr>
        <p:spPr>
          <a:xfrm>
            <a:off x="5365699" y="4309942"/>
            <a:ext cx="504748" cy="164592"/>
          </a:xfrm>
          <a:prstGeom prst="roundRect">
            <a:avLst>
              <a:gd name="adj" fmla="val 30000"/>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13" name="TextBox 112">
            <a:extLst>
              <a:ext uri="{FF2B5EF4-FFF2-40B4-BE49-F238E27FC236}">
                <a16:creationId xmlns:a16="http://schemas.microsoft.com/office/drawing/2014/main" id="{E64A5243-F01A-A1CE-7283-DD3C79FAA3D1}"/>
              </a:ext>
            </a:extLst>
          </p:cNvPr>
          <p:cNvSpPr txBox="1"/>
          <p:nvPr/>
        </p:nvSpPr>
        <p:spPr>
          <a:xfrm>
            <a:off x="3346704" y="4492822"/>
            <a:ext cx="2560320" cy="138499"/>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9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33% remediating</a:t>
            </a:r>
            <a:r>
              <a:rPr kumimoji="0" lang="en-CA" sz="900" b="0"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  </a:t>
            </a:r>
            <a:r>
              <a:rPr kumimoji="0" sz="900" b="1" i="0" u="none" strike="noStrike" kern="1200" cap="none" spc="0" normalizeH="0" baseline="0" noProof="0">
                <a:ln>
                  <a:noFill/>
                </a:ln>
                <a:solidFill>
                  <a:prstClr val="black">
                    <a:lumMod val="75000"/>
                    <a:lumOff val="25000"/>
                  </a:prstClr>
                </a:solidFill>
                <a:effectLst/>
                <a:uLnTx/>
                <a:uFillTx/>
                <a:latin typeface="Segoe UI" panose="020B0502040204020203" pitchFamily="34" charset="0"/>
                <a:ea typeface="+mn-ea"/>
                <a:cs typeface="Segoe UI" panose="020B0502040204020203" pitchFamily="34" charset="0"/>
                <a:sym typeface="Arial"/>
              </a:rPr>
              <a:t>·</a:t>
            </a:r>
            <a:r>
              <a:rPr kumimoji="0" sz="9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r>
              <a:rPr kumimoji="0"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47% upcoming</a:t>
            </a:r>
          </a:p>
        </p:txBody>
      </p:sp>
      <p:sp>
        <p:nvSpPr>
          <p:cNvPr id="117" name="TextBox 116">
            <a:extLst>
              <a:ext uri="{FF2B5EF4-FFF2-40B4-BE49-F238E27FC236}">
                <a16:creationId xmlns:a16="http://schemas.microsoft.com/office/drawing/2014/main" id="{323A9F63-B641-F4CE-98BE-1E914F4A6334}"/>
              </a:ext>
            </a:extLst>
          </p:cNvPr>
          <p:cNvSpPr txBox="1"/>
          <p:nvPr/>
        </p:nvSpPr>
        <p:spPr>
          <a:xfrm>
            <a:off x="3346704" y="4739710"/>
            <a:ext cx="2560320" cy="15388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Large Carriers </a:t>
            </a:r>
          </a:p>
        </p:txBody>
      </p:sp>
      <p:sp>
        <p:nvSpPr>
          <p:cNvPr id="121" name="Rounded Rectangle 51">
            <a:extLst>
              <a:ext uri="{FF2B5EF4-FFF2-40B4-BE49-F238E27FC236}">
                <a16:creationId xmlns:a16="http://schemas.microsoft.com/office/drawing/2014/main" id="{04362CDF-C0AD-33B9-343C-8D206875C852}"/>
              </a:ext>
            </a:extLst>
          </p:cNvPr>
          <p:cNvSpPr/>
          <p:nvPr/>
        </p:nvSpPr>
        <p:spPr>
          <a:xfrm>
            <a:off x="3346704" y="4950022"/>
            <a:ext cx="1766620" cy="164592"/>
          </a:xfrm>
          <a:prstGeom prst="roundRect">
            <a:avLst>
              <a:gd name="adj" fmla="val 3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25" name="Rounded Rectangle 52">
            <a:extLst>
              <a:ext uri="{FF2B5EF4-FFF2-40B4-BE49-F238E27FC236}">
                <a16:creationId xmlns:a16="http://schemas.microsoft.com/office/drawing/2014/main" id="{A776D1DA-4845-89B3-F1F1-CD0034CBA9AA}"/>
              </a:ext>
            </a:extLst>
          </p:cNvPr>
          <p:cNvSpPr/>
          <p:nvPr/>
        </p:nvSpPr>
        <p:spPr>
          <a:xfrm>
            <a:off x="5113324" y="4950022"/>
            <a:ext cx="757123" cy="164592"/>
          </a:xfrm>
          <a:prstGeom prst="roundRect">
            <a:avLst>
              <a:gd name="adj" fmla="val 3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31" name="TextBox 130">
            <a:extLst>
              <a:ext uri="{FF2B5EF4-FFF2-40B4-BE49-F238E27FC236}">
                <a16:creationId xmlns:a16="http://schemas.microsoft.com/office/drawing/2014/main" id="{8F286847-A7A6-9A4E-EB6F-CAF24535E962}"/>
              </a:ext>
            </a:extLst>
          </p:cNvPr>
          <p:cNvSpPr txBox="1"/>
          <p:nvPr/>
        </p:nvSpPr>
        <p:spPr>
          <a:xfrm>
            <a:off x="3346704" y="5132902"/>
            <a:ext cx="2560320" cy="138499"/>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US" sz="9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70% remediating</a:t>
            </a:r>
            <a:r>
              <a:rPr kumimoji="0" lang="en-US" sz="900" b="0"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 </a:t>
            </a:r>
            <a:r>
              <a:rPr kumimoji="0" lang="en-CA" sz="900" b="1" i="0" u="none" strike="noStrike" kern="1200" cap="none" spc="0" normalizeH="0" baseline="0" noProof="0">
                <a:ln>
                  <a:noFill/>
                </a:ln>
                <a:solidFill>
                  <a:prstClr val="black">
                    <a:lumMod val="75000"/>
                    <a:lumOff val="25000"/>
                  </a:prstClr>
                </a:solidFill>
                <a:effectLst/>
                <a:uLnTx/>
                <a:uFillTx/>
                <a:latin typeface="Segoe UI" panose="020B0502040204020203" pitchFamily="34" charset="0"/>
                <a:cs typeface="Segoe UI" panose="020B0502040204020203" pitchFamily="34" charset="0"/>
                <a:sym typeface="Arial"/>
              </a:rPr>
              <a:t>·</a:t>
            </a:r>
            <a:r>
              <a:rPr kumimoji="0" sz="9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r>
              <a:rPr kumimoji="0"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30% upcoming</a:t>
            </a:r>
          </a:p>
        </p:txBody>
      </p:sp>
      <p:sp>
        <p:nvSpPr>
          <p:cNvPr id="135" name="TextBox 134">
            <a:extLst>
              <a:ext uri="{FF2B5EF4-FFF2-40B4-BE49-F238E27FC236}">
                <a16:creationId xmlns:a16="http://schemas.microsoft.com/office/drawing/2014/main" id="{4826E89B-63FF-4E0E-9F93-5D66FB6641BF}"/>
              </a:ext>
            </a:extLst>
          </p:cNvPr>
          <p:cNvSpPr txBox="1"/>
          <p:nvPr/>
        </p:nvSpPr>
        <p:spPr>
          <a:xfrm>
            <a:off x="3346704" y="5465962"/>
            <a:ext cx="2560320" cy="69249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The divergence is most pronounced in insurance, where 70% of Large Insurance Carriers prioritize investments to  remediation of existing gaps, compared with 33% of Top 50 Global Insurance Carriers.</a:t>
            </a:r>
            <a:endParaRPr kumimoji="0" sz="9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endParaRPr>
          </a:p>
        </p:txBody>
      </p:sp>
      <p:grpSp>
        <p:nvGrpSpPr>
          <p:cNvPr id="85" name="Group 84">
            <a:extLst>
              <a:ext uri="{FF2B5EF4-FFF2-40B4-BE49-F238E27FC236}">
                <a16:creationId xmlns:a16="http://schemas.microsoft.com/office/drawing/2014/main" id="{A75582F6-C48A-4AA8-1067-6CCC55B28FED}"/>
              </a:ext>
            </a:extLst>
          </p:cNvPr>
          <p:cNvGrpSpPr/>
          <p:nvPr/>
        </p:nvGrpSpPr>
        <p:grpSpPr>
          <a:xfrm>
            <a:off x="249638" y="464705"/>
            <a:ext cx="11521440" cy="585793"/>
            <a:chOff x="249638" y="464705"/>
            <a:chExt cx="11521440" cy="585793"/>
          </a:xfrm>
        </p:grpSpPr>
        <p:sp>
          <p:nvSpPr>
            <p:cNvPr id="86" name="Text 22">
              <a:extLst>
                <a:ext uri="{FF2B5EF4-FFF2-40B4-BE49-F238E27FC236}">
                  <a16:creationId xmlns:a16="http://schemas.microsoft.com/office/drawing/2014/main" id="{177870FA-3ACD-7332-78B6-4C372F72BFF1}"/>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WHERE INVESTMENT IS GOING</a:t>
              </a:r>
            </a:p>
          </p:txBody>
        </p:sp>
        <p:sp>
          <p:nvSpPr>
            <p:cNvPr id="88" name="TextBox 87">
              <a:extLst>
                <a:ext uri="{FF2B5EF4-FFF2-40B4-BE49-F238E27FC236}">
                  <a16:creationId xmlns:a16="http://schemas.microsoft.com/office/drawing/2014/main" id="{DEBB915B-81C9-357E-9A6C-D4461E320A87}"/>
                </a:ext>
              </a:extLst>
            </p:cNvPr>
            <p:cNvSpPr txBox="1"/>
            <p:nvPr/>
          </p:nvSpPr>
          <p:spPr>
            <a:xfrm>
              <a:off x="249638" y="711944"/>
              <a:ext cx="11521440" cy="33855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US" sz="2200" b="1" i="0" u="none" strike="noStrike" kern="1200" cap="none" spc="0" normalizeH="0" baseline="0" noProof="0">
                  <a:ln>
                    <a:noFill/>
                  </a:ln>
                  <a:solidFill>
                    <a:srgbClr val="111111"/>
                  </a:solidFill>
                  <a:effectLst/>
                  <a:uLnTx/>
                  <a:uFillTx/>
                  <a:latin typeface="Segoe UI" panose="020B0502040204020203" pitchFamily="34" charset="0"/>
                  <a:cs typeface="Segoe UI" panose="020B0502040204020203" pitchFamily="34" charset="0"/>
                  <a:sym typeface="Arial"/>
                </a:rPr>
                <a:t>Fraud programs prioritize today's compliance gaps over tomorrow's regulation</a:t>
              </a:r>
            </a:p>
          </p:txBody>
        </p:sp>
      </p:grpSp>
      <p:sp>
        <p:nvSpPr>
          <p:cNvPr id="90" name="TextBox 89">
            <a:extLst>
              <a:ext uri="{FF2B5EF4-FFF2-40B4-BE49-F238E27FC236}">
                <a16:creationId xmlns:a16="http://schemas.microsoft.com/office/drawing/2014/main" id="{70A5B6AA-FFFF-C955-3358-27406A79E032}"/>
              </a:ext>
            </a:extLst>
          </p:cNvPr>
          <p:cNvSpPr txBox="1"/>
          <p:nvPr/>
        </p:nvSpPr>
        <p:spPr>
          <a:xfrm>
            <a:off x="320040" y="1155192"/>
            <a:ext cx="11521440" cy="43088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US" sz="1400" b="0" i="0" u="none" strike="noStrike" kern="1200" cap="none" spc="0" normalizeH="0" baseline="0" noProof="0">
                <a:ln>
                  <a:noFill/>
                </a:ln>
                <a:solidFill>
                  <a:srgbClr val="404040"/>
                </a:solidFill>
                <a:effectLst/>
                <a:uLnTx/>
                <a:uFillTx/>
                <a:latin typeface="Segoe UI" panose="020B0502040204020203" pitchFamily="34" charset="0"/>
                <a:cs typeface="Segoe UI" panose="020B0502040204020203" pitchFamily="34" charset="0"/>
                <a:sym typeface="Arial"/>
              </a:rPr>
              <a:t>Regulation remains a powerful driver of fraud spending: Nearly half (</a:t>
            </a:r>
            <a:r>
              <a:rPr kumimoji="0" lang="en-US" sz="1400" b="1" i="0" u="none" strike="noStrike" kern="1200" cap="none" spc="0" normalizeH="0" baseline="0" noProof="0">
                <a:ln>
                  <a:noFill/>
                </a:ln>
                <a:solidFill>
                  <a:srgbClr val="404040"/>
                </a:solidFill>
                <a:effectLst/>
                <a:uLnTx/>
                <a:uFillTx/>
                <a:latin typeface="Segoe UI" panose="020B0502040204020203" pitchFamily="34" charset="0"/>
                <a:cs typeface="Segoe UI" panose="020B0502040204020203" pitchFamily="34" charset="0"/>
                <a:sym typeface="Arial"/>
              </a:rPr>
              <a:t>48%</a:t>
            </a:r>
            <a:r>
              <a:rPr kumimoji="0" lang="en-US" sz="1400" b="0" i="0" u="none" strike="noStrike" kern="1200" cap="none" spc="0" normalizeH="0" baseline="0" noProof="0">
                <a:ln>
                  <a:noFill/>
                </a:ln>
                <a:solidFill>
                  <a:srgbClr val="404040"/>
                </a:solidFill>
                <a:effectLst/>
                <a:uLnTx/>
                <a:uFillTx/>
                <a:latin typeface="Segoe UI" panose="020B0502040204020203" pitchFamily="34" charset="0"/>
                <a:cs typeface="Segoe UI" panose="020B0502040204020203" pitchFamily="34" charset="0"/>
                <a:sym typeface="Arial"/>
              </a:rPr>
              <a:t>) are investing mainly to remediate existing compliance and control gaps, compared with </a:t>
            </a:r>
            <a:r>
              <a:rPr kumimoji="0" lang="en-US" sz="1400" b="1" i="0" u="none" strike="noStrike" kern="1200" cap="none" spc="0" normalizeH="0" baseline="0" noProof="0">
                <a:ln>
                  <a:noFill/>
                </a:ln>
                <a:solidFill>
                  <a:srgbClr val="404040"/>
                </a:solidFill>
                <a:effectLst/>
                <a:uLnTx/>
                <a:uFillTx/>
                <a:latin typeface="Segoe UI" panose="020B0502040204020203" pitchFamily="34" charset="0"/>
                <a:cs typeface="Segoe UI" panose="020B0502040204020203" pitchFamily="34" charset="0"/>
                <a:sym typeface="Arial"/>
              </a:rPr>
              <a:t>39%</a:t>
            </a:r>
            <a:r>
              <a:rPr kumimoji="0" lang="en-US" sz="1400" b="0" i="0" u="none" strike="noStrike" kern="1200" cap="none" spc="0" normalizeH="0" baseline="0" noProof="0">
                <a:ln>
                  <a:noFill/>
                </a:ln>
                <a:solidFill>
                  <a:srgbClr val="404040"/>
                </a:solidFill>
                <a:effectLst/>
                <a:uLnTx/>
                <a:uFillTx/>
                <a:latin typeface="Segoe UI" panose="020B0502040204020203" pitchFamily="34" charset="0"/>
                <a:cs typeface="Segoe UI" panose="020B0502040204020203" pitchFamily="34" charset="0"/>
                <a:sym typeface="Arial"/>
              </a:rPr>
              <a:t> investing ahead of upcoming and draft regulations. How organizations split depends heavily on their size and jurisdiction.</a:t>
            </a:r>
          </a:p>
        </p:txBody>
      </p:sp>
      <p:sp>
        <p:nvSpPr>
          <p:cNvPr id="7" name="Rectangle 6">
            <a:extLst>
              <a:ext uri="{FF2B5EF4-FFF2-40B4-BE49-F238E27FC236}">
                <a16:creationId xmlns:a16="http://schemas.microsoft.com/office/drawing/2014/main" id="{C9BC499B-EF51-8195-3EF5-13B813501B4D}"/>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8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For detailed data please refer to </a:t>
            </a:r>
            <a:r>
              <a:rPr kumimoji="0" lang="en-US" sz="8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hlinkClick r:id="" action="ppaction://noaction"/>
              </a:rPr>
              <a:t>Appendix – E </a:t>
            </a:r>
            <a:endParaRPr kumimoji="0" lang="en-US" sz="8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
        <p:nvSpPr>
          <p:cNvPr id="84" name="TextBox 83">
            <a:extLst>
              <a:ext uri="{FF2B5EF4-FFF2-40B4-BE49-F238E27FC236}">
                <a16:creationId xmlns:a16="http://schemas.microsoft.com/office/drawing/2014/main" id="{6CD6A1FD-D2B5-936A-55E1-990105715E81}"/>
              </a:ext>
            </a:extLst>
          </p:cNvPr>
          <p:cNvSpPr txBox="1"/>
          <p:nvPr/>
        </p:nvSpPr>
        <p:spPr>
          <a:xfrm>
            <a:off x="6199632" y="2956648"/>
            <a:ext cx="5669280" cy="23083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sym typeface="Arial"/>
              </a:rPr>
              <a:t>REGIONAL DIFFERENCES IN INVESTMENT FOCUS</a:t>
            </a:r>
            <a:endParaRPr kumimoji="0" sz="1500" b="0"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sym typeface="Arial"/>
            </a:endParaRPr>
          </a:p>
        </p:txBody>
      </p:sp>
      <p:sp>
        <p:nvSpPr>
          <p:cNvPr id="89" name="Rounded Rectangle 56">
            <a:extLst>
              <a:ext uri="{FF2B5EF4-FFF2-40B4-BE49-F238E27FC236}">
                <a16:creationId xmlns:a16="http://schemas.microsoft.com/office/drawing/2014/main" id="{AC4A3BE3-4C47-2874-3D26-5142108F623B}"/>
              </a:ext>
            </a:extLst>
          </p:cNvPr>
          <p:cNvSpPr/>
          <p:nvPr/>
        </p:nvSpPr>
        <p:spPr>
          <a:xfrm>
            <a:off x="8732520" y="3418494"/>
            <a:ext cx="118872" cy="118872"/>
          </a:xfrm>
          <a:prstGeom prst="roundRect">
            <a:avLst>
              <a:gd name="adj" fmla="val 5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92" name="TextBox 91">
            <a:extLst>
              <a:ext uri="{FF2B5EF4-FFF2-40B4-BE49-F238E27FC236}">
                <a16:creationId xmlns:a16="http://schemas.microsoft.com/office/drawing/2014/main" id="{43BB945E-BB9B-C29D-06F8-0BC0735D8B66}"/>
              </a:ext>
            </a:extLst>
          </p:cNvPr>
          <p:cNvSpPr txBox="1"/>
          <p:nvPr/>
        </p:nvSpPr>
        <p:spPr>
          <a:xfrm>
            <a:off x="8897112" y="3404108"/>
            <a:ext cx="1024128"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Remediation-led</a:t>
            </a:r>
          </a:p>
        </p:txBody>
      </p:sp>
      <p:sp>
        <p:nvSpPr>
          <p:cNvPr id="93" name="Rounded Rectangle 58">
            <a:extLst>
              <a:ext uri="{FF2B5EF4-FFF2-40B4-BE49-F238E27FC236}">
                <a16:creationId xmlns:a16="http://schemas.microsoft.com/office/drawing/2014/main" id="{85166313-735B-01F3-B204-54E7FFC5F79B}"/>
              </a:ext>
            </a:extLst>
          </p:cNvPr>
          <p:cNvSpPr/>
          <p:nvPr/>
        </p:nvSpPr>
        <p:spPr>
          <a:xfrm>
            <a:off x="9921240" y="3418494"/>
            <a:ext cx="118872" cy="118872"/>
          </a:xfrm>
          <a:prstGeom prst="roundRect">
            <a:avLst>
              <a:gd name="adj" fmla="val 5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95" name="TextBox 94">
            <a:extLst>
              <a:ext uri="{FF2B5EF4-FFF2-40B4-BE49-F238E27FC236}">
                <a16:creationId xmlns:a16="http://schemas.microsoft.com/office/drawing/2014/main" id="{EDB698EB-2EF4-5D7C-F768-52A8B83D5758}"/>
              </a:ext>
            </a:extLst>
          </p:cNvPr>
          <p:cNvSpPr txBox="1"/>
          <p:nvPr/>
        </p:nvSpPr>
        <p:spPr>
          <a:xfrm>
            <a:off x="10085832" y="3404108"/>
            <a:ext cx="1024128"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Forward-looking</a:t>
            </a:r>
          </a:p>
        </p:txBody>
      </p:sp>
      <p:sp>
        <p:nvSpPr>
          <p:cNvPr id="96" name="Rounded Rectangle 60">
            <a:extLst>
              <a:ext uri="{FF2B5EF4-FFF2-40B4-BE49-F238E27FC236}">
                <a16:creationId xmlns:a16="http://schemas.microsoft.com/office/drawing/2014/main" id="{E14C3506-87D4-B5EE-43B6-60396B5FF6F8}"/>
              </a:ext>
            </a:extLst>
          </p:cNvPr>
          <p:cNvSpPr/>
          <p:nvPr/>
        </p:nvSpPr>
        <p:spPr>
          <a:xfrm>
            <a:off x="11109960" y="3418494"/>
            <a:ext cx="118872" cy="118872"/>
          </a:xfrm>
          <a:prstGeom prst="roundRect">
            <a:avLst>
              <a:gd name="adj" fmla="val 50000"/>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98" name="TextBox 97">
            <a:extLst>
              <a:ext uri="{FF2B5EF4-FFF2-40B4-BE49-F238E27FC236}">
                <a16:creationId xmlns:a16="http://schemas.microsoft.com/office/drawing/2014/main" id="{1A2DEFFF-9967-2933-A3F7-4CA44B3497AB}"/>
              </a:ext>
            </a:extLst>
          </p:cNvPr>
          <p:cNvSpPr txBox="1"/>
          <p:nvPr/>
        </p:nvSpPr>
        <p:spPr>
          <a:xfrm>
            <a:off x="11274552" y="3404108"/>
            <a:ext cx="777240"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Evenly split</a:t>
            </a:r>
          </a:p>
        </p:txBody>
      </p:sp>
      <p:pic>
        <p:nvPicPr>
          <p:cNvPr id="99" name="Picture 98" descr="worldmap.png">
            <a:extLst>
              <a:ext uri="{FF2B5EF4-FFF2-40B4-BE49-F238E27FC236}">
                <a16:creationId xmlns:a16="http://schemas.microsoft.com/office/drawing/2014/main" id="{C76FD326-DD6B-FDE9-3B4E-0FCF09CA0F80}"/>
              </a:ext>
            </a:extLst>
          </p:cNvPr>
          <p:cNvPicPr>
            <a:picLocks noChangeAspect="1"/>
          </p:cNvPicPr>
          <p:nvPr/>
        </p:nvPicPr>
        <p:blipFill>
          <a:blip r:embed="rId8"/>
          <a:stretch>
            <a:fillRect/>
          </a:stretch>
        </p:blipFill>
        <p:spPr>
          <a:xfrm>
            <a:off x="6199632" y="3802542"/>
            <a:ext cx="5669280" cy="2258568"/>
          </a:xfrm>
          <a:prstGeom prst="rect">
            <a:avLst/>
          </a:prstGeom>
        </p:spPr>
      </p:pic>
      <p:sp>
        <p:nvSpPr>
          <p:cNvPr id="100" name="Rounded Rectangle 63">
            <a:extLst>
              <a:ext uri="{FF2B5EF4-FFF2-40B4-BE49-F238E27FC236}">
                <a16:creationId xmlns:a16="http://schemas.microsoft.com/office/drawing/2014/main" id="{2FF9C98C-1B69-CEAF-5A97-156E6EF4AEF0}"/>
              </a:ext>
            </a:extLst>
          </p:cNvPr>
          <p:cNvSpPr/>
          <p:nvPr/>
        </p:nvSpPr>
        <p:spPr>
          <a:xfrm>
            <a:off x="7377176" y="4066702"/>
            <a:ext cx="164592" cy="164592"/>
          </a:xfrm>
          <a:prstGeom prst="roundRect">
            <a:avLst>
              <a:gd name="adj" fmla="val 50000"/>
            </a:avLst>
          </a:prstGeom>
          <a:solidFill>
            <a:srgbClr val="FFFFFF"/>
          </a:solidFill>
          <a:ln w="31750">
            <a:solidFill>
              <a:srgbClr val="CC3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2" name="Rounded Rectangle 64">
            <a:extLst>
              <a:ext uri="{FF2B5EF4-FFF2-40B4-BE49-F238E27FC236}">
                <a16:creationId xmlns:a16="http://schemas.microsoft.com/office/drawing/2014/main" id="{F358A262-F7F1-9B26-9172-DFA117583857}"/>
              </a:ext>
            </a:extLst>
          </p:cNvPr>
          <p:cNvSpPr/>
          <p:nvPr/>
        </p:nvSpPr>
        <p:spPr>
          <a:xfrm>
            <a:off x="7427468" y="4116994"/>
            <a:ext cx="64008" cy="64008"/>
          </a:xfrm>
          <a:prstGeom prst="roundRect">
            <a:avLst>
              <a:gd name="adj" fmla="val 5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3" name="Rounded Rectangle 65">
            <a:extLst>
              <a:ext uri="{FF2B5EF4-FFF2-40B4-BE49-F238E27FC236}">
                <a16:creationId xmlns:a16="http://schemas.microsoft.com/office/drawing/2014/main" id="{87207E75-163B-222F-3345-2537483F190B}"/>
              </a:ext>
            </a:extLst>
          </p:cNvPr>
          <p:cNvSpPr/>
          <p:nvPr/>
        </p:nvSpPr>
        <p:spPr>
          <a:xfrm>
            <a:off x="7408672" y="4365914"/>
            <a:ext cx="164592" cy="164592"/>
          </a:xfrm>
          <a:prstGeom prst="roundRect">
            <a:avLst>
              <a:gd name="adj" fmla="val 50000"/>
            </a:avLst>
          </a:prstGeom>
          <a:solidFill>
            <a:srgbClr val="FFFFFF"/>
          </a:solidFill>
          <a:ln w="31750">
            <a:solidFill>
              <a:srgbClr val="8A8D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4" name="Rounded Rectangle 66">
            <a:extLst>
              <a:ext uri="{FF2B5EF4-FFF2-40B4-BE49-F238E27FC236}">
                <a16:creationId xmlns:a16="http://schemas.microsoft.com/office/drawing/2014/main" id="{F8E09CF6-1C54-D3CF-8804-BFFC150B6A04}"/>
              </a:ext>
            </a:extLst>
          </p:cNvPr>
          <p:cNvSpPr/>
          <p:nvPr/>
        </p:nvSpPr>
        <p:spPr>
          <a:xfrm>
            <a:off x="7458964" y="4416206"/>
            <a:ext cx="64008" cy="64008"/>
          </a:xfrm>
          <a:prstGeom prst="roundRect">
            <a:avLst>
              <a:gd name="adj" fmla="val 50000"/>
            </a:avLst>
          </a:prstGeom>
          <a:solidFill>
            <a:srgbClr val="8A8D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6" name="Rounded Rectangle 67">
            <a:extLst>
              <a:ext uri="{FF2B5EF4-FFF2-40B4-BE49-F238E27FC236}">
                <a16:creationId xmlns:a16="http://schemas.microsoft.com/office/drawing/2014/main" id="{9A725818-B7BC-ABC3-8195-C2BD660CC3FE}"/>
              </a:ext>
            </a:extLst>
          </p:cNvPr>
          <p:cNvSpPr/>
          <p:nvPr/>
        </p:nvSpPr>
        <p:spPr>
          <a:xfrm>
            <a:off x="9077960" y="4192686"/>
            <a:ext cx="164592" cy="164592"/>
          </a:xfrm>
          <a:prstGeom prst="roundRect">
            <a:avLst>
              <a:gd name="adj" fmla="val 50000"/>
            </a:avLst>
          </a:prstGeom>
          <a:solidFill>
            <a:srgbClr val="FFFFFF"/>
          </a:solidFill>
          <a:ln w="31750">
            <a:solidFill>
              <a:srgbClr val="6FB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7" name="Rounded Rectangle 68">
            <a:extLst>
              <a:ext uri="{FF2B5EF4-FFF2-40B4-BE49-F238E27FC236}">
                <a16:creationId xmlns:a16="http://schemas.microsoft.com/office/drawing/2014/main" id="{51AC15B9-E86D-FD6F-A419-537322AD1FEA}"/>
              </a:ext>
            </a:extLst>
          </p:cNvPr>
          <p:cNvSpPr/>
          <p:nvPr/>
        </p:nvSpPr>
        <p:spPr>
          <a:xfrm>
            <a:off x="9128252" y="4242978"/>
            <a:ext cx="64008" cy="64008"/>
          </a:xfrm>
          <a:prstGeom prst="roundRect">
            <a:avLst>
              <a:gd name="adj" fmla="val 5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08" name="Rounded Rectangle 69">
            <a:extLst>
              <a:ext uri="{FF2B5EF4-FFF2-40B4-BE49-F238E27FC236}">
                <a16:creationId xmlns:a16="http://schemas.microsoft.com/office/drawing/2014/main" id="{A68ABFFD-632B-89E3-D900-16A9E1811728}"/>
              </a:ext>
            </a:extLst>
          </p:cNvPr>
          <p:cNvSpPr/>
          <p:nvPr/>
        </p:nvSpPr>
        <p:spPr>
          <a:xfrm>
            <a:off x="10586618" y="4958826"/>
            <a:ext cx="164592" cy="164592"/>
          </a:xfrm>
          <a:prstGeom prst="roundRect">
            <a:avLst>
              <a:gd name="adj" fmla="val 50000"/>
            </a:avLst>
          </a:prstGeom>
          <a:solidFill>
            <a:srgbClr val="FFFFFF"/>
          </a:solidFill>
          <a:ln w="31750">
            <a:solidFill>
              <a:srgbClr val="6FB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10" name="Rounded Rectangle 70">
            <a:extLst>
              <a:ext uri="{FF2B5EF4-FFF2-40B4-BE49-F238E27FC236}">
                <a16:creationId xmlns:a16="http://schemas.microsoft.com/office/drawing/2014/main" id="{D03808F7-6698-DB05-3D24-E3CF31A60A92}"/>
              </a:ext>
            </a:extLst>
          </p:cNvPr>
          <p:cNvSpPr/>
          <p:nvPr/>
        </p:nvSpPr>
        <p:spPr>
          <a:xfrm>
            <a:off x="10636910" y="5009118"/>
            <a:ext cx="64008" cy="64008"/>
          </a:xfrm>
          <a:prstGeom prst="roundRect">
            <a:avLst>
              <a:gd name="adj" fmla="val 50000"/>
            </a:avLst>
          </a:prstGeom>
          <a:solidFill>
            <a:srgbClr val="6FB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12" name="Rounded Rectangle 71">
            <a:extLst>
              <a:ext uri="{FF2B5EF4-FFF2-40B4-BE49-F238E27FC236}">
                <a16:creationId xmlns:a16="http://schemas.microsoft.com/office/drawing/2014/main" id="{45867D1C-0B2A-1924-B42C-96A82063C9A6}"/>
              </a:ext>
            </a:extLst>
          </p:cNvPr>
          <p:cNvSpPr/>
          <p:nvPr/>
        </p:nvSpPr>
        <p:spPr>
          <a:xfrm>
            <a:off x="11062208" y="5373786"/>
            <a:ext cx="164592" cy="164592"/>
          </a:xfrm>
          <a:prstGeom prst="roundRect">
            <a:avLst>
              <a:gd name="adj" fmla="val 50000"/>
            </a:avLst>
          </a:prstGeom>
          <a:solidFill>
            <a:srgbClr val="FFFFFF"/>
          </a:solidFill>
          <a:ln w="31750">
            <a:solidFill>
              <a:srgbClr val="CC3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114" name="Rounded Rectangle 72">
            <a:extLst>
              <a:ext uri="{FF2B5EF4-FFF2-40B4-BE49-F238E27FC236}">
                <a16:creationId xmlns:a16="http://schemas.microsoft.com/office/drawing/2014/main" id="{DABC61B4-A8C4-699E-8447-BE315EF52E87}"/>
              </a:ext>
            </a:extLst>
          </p:cNvPr>
          <p:cNvSpPr/>
          <p:nvPr/>
        </p:nvSpPr>
        <p:spPr>
          <a:xfrm>
            <a:off x="11112500" y="5424078"/>
            <a:ext cx="64008" cy="64008"/>
          </a:xfrm>
          <a:prstGeom prst="roundRect">
            <a:avLst>
              <a:gd name="adj" fmla="val 50000"/>
            </a:avLst>
          </a:prstGeom>
          <a:solidFill>
            <a:srgbClr val="CC3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cxnSp>
        <p:nvCxnSpPr>
          <p:cNvPr id="115" name="Connector 73">
            <a:extLst>
              <a:ext uri="{FF2B5EF4-FFF2-40B4-BE49-F238E27FC236}">
                <a16:creationId xmlns:a16="http://schemas.microsoft.com/office/drawing/2014/main" id="{0AE1A628-7318-9AFD-61C1-3170DE07DBB4}"/>
              </a:ext>
            </a:extLst>
          </p:cNvPr>
          <p:cNvCxnSpPr/>
          <p:nvPr/>
        </p:nvCxnSpPr>
        <p:spPr>
          <a:xfrm>
            <a:off x="7459472" y="4049430"/>
            <a:ext cx="0" cy="99568"/>
          </a:xfrm>
          <a:prstGeom prst="line">
            <a:avLst/>
          </a:prstGeom>
          <a:ln w="15875">
            <a:solidFill>
              <a:srgbClr val="CC3300"/>
            </a:solidFill>
          </a:ln>
        </p:spPr>
        <p:style>
          <a:lnRef idx="2">
            <a:schemeClr val="accent1"/>
          </a:lnRef>
          <a:fillRef idx="0">
            <a:schemeClr val="accent1"/>
          </a:fillRef>
          <a:effectRef idx="1">
            <a:schemeClr val="accent1"/>
          </a:effectRef>
          <a:fontRef idx="minor">
            <a:schemeClr val="tx1"/>
          </a:fontRef>
        </p:style>
      </p:cxnSp>
      <p:sp>
        <p:nvSpPr>
          <p:cNvPr id="116" name="Rounded Rectangle 74">
            <a:extLst>
              <a:ext uri="{FF2B5EF4-FFF2-40B4-BE49-F238E27FC236}">
                <a16:creationId xmlns:a16="http://schemas.microsoft.com/office/drawing/2014/main" id="{7DA22549-B935-7069-0E05-D622C48EA5F7}"/>
              </a:ext>
            </a:extLst>
          </p:cNvPr>
          <p:cNvSpPr/>
          <p:nvPr/>
        </p:nvSpPr>
        <p:spPr>
          <a:xfrm>
            <a:off x="6263640" y="3628806"/>
            <a:ext cx="1371600" cy="420624"/>
          </a:xfrm>
          <a:prstGeom prst="roundRect">
            <a:avLst>
              <a:gd name="adj" fmla="val 12000"/>
            </a:avLst>
          </a:prstGeom>
          <a:solidFill>
            <a:srgbClr val="FFFFFF"/>
          </a:solidFill>
          <a:ln w="15875">
            <a:solidFill>
              <a:srgbClr val="CC3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18" name="Picture 117" descr="ca.png">
            <a:extLst>
              <a:ext uri="{FF2B5EF4-FFF2-40B4-BE49-F238E27FC236}">
                <a16:creationId xmlns:a16="http://schemas.microsoft.com/office/drawing/2014/main" id="{256C9CB9-0BEB-A906-F37B-66E6F1AB9242}"/>
              </a:ext>
            </a:extLst>
          </p:cNvPr>
          <p:cNvPicPr>
            <a:picLocks noChangeAspect="1"/>
          </p:cNvPicPr>
          <p:nvPr/>
        </p:nvPicPr>
        <p:blipFill>
          <a:blip r:embed="rId9"/>
          <a:stretch>
            <a:fillRect/>
          </a:stretch>
        </p:blipFill>
        <p:spPr>
          <a:xfrm>
            <a:off x="6336792" y="3692814"/>
            <a:ext cx="233172" cy="155448"/>
          </a:xfrm>
          <a:prstGeom prst="roundRect">
            <a:avLst/>
          </a:prstGeom>
          <a:ln w="6350">
            <a:solidFill>
              <a:srgbClr val="D0D0CE"/>
            </a:solidFill>
          </a:ln>
        </p:spPr>
      </p:pic>
      <p:sp>
        <p:nvSpPr>
          <p:cNvPr id="119" name="TextBox 118">
            <a:extLst>
              <a:ext uri="{FF2B5EF4-FFF2-40B4-BE49-F238E27FC236}">
                <a16:creationId xmlns:a16="http://schemas.microsoft.com/office/drawing/2014/main" id="{F3086939-1BBA-5680-885E-747E6BF85E05}"/>
              </a:ext>
            </a:extLst>
          </p:cNvPr>
          <p:cNvSpPr txBox="1"/>
          <p:nvPr/>
        </p:nvSpPr>
        <p:spPr>
          <a:xfrm>
            <a:off x="6624827" y="3689022"/>
            <a:ext cx="982980" cy="153888"/>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Canad</a:t>
            </a:r>
            <a:r>
              <a:rPr kumimoji="0" lang="en-US"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a</a:t>
            </a:r>
            <a:endPar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sp>
        <p:nvSpPr>
          <p:cNvPr id="120" name="TextBox 119">
            <a:extLst>
              <a:ext uri="{FF2B5EF4-FFF2-40B4-BE49-F238E27FC236}">
                <a16:creationId xmlns:a16="http://schemas.microsoft.com/office/drawing/2014/main" id="{55755B18-91B5-356E-4528-1595265A7519}"/>
              </a:ext>
            </a:extLst>
          </p:cNvPr>
          <p:cNvSpPr txBox="1"/>
          <p:nvPr/>
        </p:nvSpPr>
        <p:spPr>
          <a:xfrm>
            <a:off x="6316914" y="3873145"/>
            <a:ext cx="1340330"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CC3300"/>
                </a:solidFill>
                <a:effectLst/>
                <a:uLnTx/>
                <a:uFillTx/>
                <a:latin typeface="Segoe UI" panose="020B0502040204020203" pitchFamily="34" charset="0"/>
                <a:ea typeface="+mn-ea"/>
                <a:cs typeface="Segoe UI" panose="020B0502040204020203" pitchFamily="34" charset="0"/>
                <a:sym typeface="Arial"/>
              </a:rPr>
              <a:t>63%</a:t>
            </a:r>
            <a:r>
              <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  remediating</a:t>
            </a:r>
          </a:p>
        </p:txBody>
      </p:sp>
      <p:cxnSp>
        <p:nvCxnSpPr>
          <p:cNvPr id="122" name="Connector 78">
            <a:extLst>
              <a:ext uri="{FF2B5EF4-FFF2-40B4-BE49-F238E27FC236}">
                <a16:creationId xmlns:a16="http://schemas.microsoft.com/office/drawing/2014/main" id="{C449ACC9-967B-2CF6-B084-E22C98A0C85F}"/>
              </a:ext>
            </a:extLst>
          </p:cNvPr>
          <p:cNvCxnSpPr/>
          <p:nvPr/>
        </p:nvCxnSpPr>
        <p:spPr>
          <a:xfrm flipV="1">
            <a:off x="7490968" y="4448210"/>
            <a:ext cx="0" cy="424180"/>
          </a:xfrm>
          <a:prstGeom prst="line">
            <a:avLst/>
          </a:prstGeom>
          <a:ln w="15875">
            <a:solidFill>
              <a:srgbClr val="8A8D90"/>
            </a:solidFill>
          </a:ln>
        </p:spPr>
        <p:style>
          <a:lnRef idx="2">
            <a:schemeClr val="accent1"/>
          </a:lnRef>
          <a:fillRef idx="0">
            <a:schemeClr val="accent1"/>
          </a:fillRef>
          <a:effectRef idx="1">
            <a:schemeClr val="accent1"/>
          </a:effectRef>
          <a:fontRef idx="minor">
            <a:schemeClr val="tx1"/>
          </a:fontRef>
        </p:style>
      </p:cxnSp>
      <p:sp>
        <p:nvSpPr>
          <p:cNvPr id="123" name="Rounded Rectangle 79">
            <a:extLst>
              <a:ext uri="{FF2B5EF4-FFF2-40B4-BE49-F238E27FC236}">
                <a16:creationId xmlns:a16="http://schemas.microsoft.com/office/drawing/2014/main" id="{8CBB12DC-9D3D-3ECB-FF34-D25E665183E3}"/>
              </a:ext>
            </a:extLst>
          </p:cNvPr>
          <p:cNvSpPr/>
          <p:nvPr/>
        </p:nvSpPr>
        <p:spPr>
          <a:xfrm>
            <a:off x="6263640" y="4872390"/>
            <a:ext cx="2001992" cy="420624"/>
          </a:xfrm>
          <a:prstGeom prst="roundRect">
            <a:avLst>
              <a:gd name="adj" fmla="val 12000"/>
            </a:avLst>
          </a:prstGeom>
          <a:solidFill>
            <a:srgbClr val="FFFFFF"/>
          </a:solidFill>
          <a:ln w="15875">
            <a:solidFill>
              <a:srgbClr val="8A8D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24" name="Picture 123" descr="us.png">
            <a:extLst>
              <a:ext uri="{FF2B5EF4-FFF2-40B4-BE49-F238E27FC236}">
                <a16:creationId xmlns:a16="http://schemas.microsoft.com/office/drawing/2014/main" id="{42DE2EC9-9524-E4DC-E2D5-DD62BD74DBAE}"/>
              </a:ext>
            </a:extLst>
          </p:cNvPr>
          <p:cNvPicPr>
            <a:picLocks noChangeAspect="1"/>
          </p:cNvPicPr>
          <p:nvPr/>
        </p:nvPicPr>
        <p:blipFill>
          <a:blip r:embed="rId10"/>
          <a:stretch>
            <a:fillRect/>
          </a:stretch>
        </p:blipFill>
        <p:spPr>
          <a:xfrm>
            <a:off x="6336792" y="4936398"/>
            <a:ext cx="233172" cy="155448"/>
          </a:xfrm>
          <a:prstGeom prst="roundRect">
            <a:avLst/>
          </a:prstGeom>
          <a:ln w="6350">
            <a:solidFill>
              <a:srgbClr val="D0D0CE"/>
            </a:solidFill>
          </a:ln>
        </p:spPr>
      </p:pic>
      <p:sp>
        <p:nvSpPr>
          <p:cNvPr id="126" name="TextBox 125">
            <a:extLst>
              <a:ext uri="{FF2B5EF4-FFF2-40B4-BE49-F238E27FC236}">
                <a16:creationId xmlns:a16="http://schemas.microsoft.com/office/drawing/2014/main" id="{6366FF55-3A21-7252-26C2-EF4EE6D89CB6}"/>
              </a:ext>
            </a:extLst>
          </p:cNvPr>
          <p:cNvSpPr txBox="1"/>
          <p:nvPr/>
        </p:nvSpPr>
        <p:spPr>
          <a:xfrm>
            <a:off x="6624827" y="4932605"/>
            <a:ext cx="1485899" cy="153888"/>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United States</a:t>
            </a:r>
            <a:r>
              <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p>
        </p:txBody>
      </p:sp>
      <p:sp>
        <p:nvSpPr>
          <p:cNvPr id="128" name="TextBox 127">
            <a:extLst>
              <a:ext uri="{FF2B5EF4-FFF2-40B4-BE49-F238E27FC236}">
                <a16:creationId xmlns:a16="http://schemas.microsoft.com/office/drawing/2014/main" id="{192768D3-3B5E-5012-2169-AC5C6EB2A5FE}"/>
              </a:ext>
            </a:extLst>
          </p:cNvPr>
          <p:cNvSpPr txBox="1"/>
          <p:nvPr/>
        </p:nvSpPr>
        <p:spPr>
          <a:xfrm>
            <a:off x="6316914" y="5100336"/>
            <a:ext cx="1874519"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8A8D90"/>
                </a:solidFill>
                <a:effectLst/>
                <a:uLnTx/>
                <a:uFillTx/>
                <a:latin typeface="Segoe UI" panose="020B0502040204020203" pitchFamily="34" charset="0"/>
                <a:ea typeface="+mn-ea"/>
                <a:cs typeface="Segoe UI" panose="020B0502040204020203" pitchFamily="34" charset="0"/>
                <a:sym typeface="Arial"/>
              </a:rPr>
              <a:t>41% / 43%</a:t>
            </a:r>
            <a:r>
              <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  remediating / upcoming</a:t>
            </a:r>
          </a:p>
        </p:txBody>
      </p:sp>
      <p:cxnSp>
        <p:nvCxnSpPr>
          <p:cNvPr id="129" name="Connector 83">
            <a:extLst>
              <a:ext uri="{FF2B5EF4-FFF2-40B4-BE49-F238E27FC236}">
                <a16:creationId xmlns:a16="http://schemas.microsoft.com/office/drawing/2014/main" id="{469C3D29-2FF1-36AE-E662-1794CB3E8652}"/>
              </a:ext>
            </a:extLst>
          </p:cNvPr>
          <p:cNvCxnSpPr/>
          <p:nvPr/>
        </p:nvCxnSpPr>
        <p:spPr>
          <a:xfrm>
            <a:off x="9160256" y="4012854"/>
            <a:ext cx="0" cy="262128"/>
          </a:xfrm>
          <a:prstGeom prst="line">
            <a:avLst/>
          </a:prstGeom>
          <a:ln w="15875">
            <a:solidFill>
              <a:srgbClr val="6FBF5A"/>
            </a:solidFill>
          </a:ln>
        </p:spPr>
        <p:style>
          <a:lnRef idx="2">
            <a:schemeClr val="accent1"/>
          </a:lnRef>
          <a:fillRef idx="0">
            <a:schemeClr val="accent1"/>
          </a:fillRef>
          <a:effectRef idx="1">
            <a:schemeClr val="accent1"/>
          </a:effectRef>
          <a:fontRef idx="minor">
            <a:schemeClr val="tx1"/>
          </a:fontRef>
        </p:style>
      </p:cxnSp>
      <p:sp>
        <p:nvSpPr>
          <p:cNvPr id="130" name="Rounded Rectangle 84">
            <a:extLst>
              <a:ext uri="{FF2B5EF4-FFF2-40B4-BE49-F238E27FC236}">
                <a16:creationId xmlns:a16="http://schemas.microsoft.com/office/drawing/2014/main" id="{92AB7DF5-9FD1-E46B-88DE-9A7DED121D82}"/>
              </a:ext>
            </a:extLst>
          </p:cNvPr>
          <p:cNvSpPr/>
          <p:nvPr/>
        </p:nvSpPr>
        <p:spPr>
          <a:xfrm>
            <a:off x="8412480" y="3592230"/>
            <a:ext cx="1417320" cy="420624"/>
          </a:xfrm>
          <a:prstGeom prst="roundRect">
            <a:avLst>
              <a:gd name="adj" fmla="val 12000"/>
            </a:avLst>
          </a:prstGeom>
          <a:solidFill>
            <a:srgbClr val="FFFFFF"/>
          </a:solidFill>
          <a:ln w="15875">
            <a:solidFill>
              <a:srgbClr val="6FB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32" name="Picture 131" descr="eu.png">
            <a:extLst>
              <a:ext uri="{FF2B5EF4-FFF2-40B4-BE49-F238E27FC236}">
                <a16:creationId xmlns:a16="http://schemas.microsoft.com/office/drawing/2014/main" id="{9B50C184-524D-0E18-D2FB-57EB4A35BAEF}"/>
              </a:ext>
            </a:extLst>
          </p:cNvPr>
          <p:cNvPicPr>
            <a:picLocks noChangeAspect="1"/>
          </p:cNvPicPr>
          <p:nvPr/>
        </p:nvPicPr>
        <p:blipFill>
          <a:blip r:embed="rId11"/>
          <a:stretch>
            <a:fillRect/>
          </a:stretch>
        </p:blipFill>
        <p:spPr>
          <a:xfrm>
            <a:off x="8485632" y="3656238"/>
            <a:ext cx="233172" cy="155448"/>
          </a:xfrm>
          <a:prstGeom prst="roundRect">
            <a:avLst/>
          </a:prstGeom>
          <a:ln w="6350">
            <a:solidFill>
              <a:srgbClr val="D0D0CE"/>
            </a:solidFill>
          </a:ln>
        </p:spPr>
      </p:pic>
      <p:pic>
        <p:nvPicPr>
          <p:cNvPr id="133" name="Picture 132" descr="uk.png">
            <a:extLst>
              <a:ext uri="{FF2B5EF4-FFF2-40B4-BE49-F238E27FC236}">
                <a16:creationId xmlns:a16="http://schemas.microsoft.com/office/drawing/2014/main" id="{78A3D044-CE17-AB80-01CE-FFBF2498A788}"/>
              </a:ext>
            </a:extLst>
          </p:cNvPr>
          <p:cNvPicPr>
            <a:picLocks noChangeAspect="1"/>
          </p:cNvPicPr>
          <p:nvPr/>
        </p:nvPicPr>
        <p:blipFill>
          <a:blip r:embed="rId12"/>
          <a:stretch>
            <a:fillRect/>
          </a:stretch>
        </p:blipFill>
        <p:spPr>
          <a:xfrm>
            <a:off x="8755380" y="3656238"/>
            <a:ext cx="233172" cy="155448"/>
          </a:xfrm>
          <a:prstGeom prst="roundRect">
            <a:avLst/>
          </a:prstGeom>
          <a:ln w="6350">
            <a:solidFill>
              <a:srgbClr val="D0D0CE"/>
            </a:solidFill>
          </a:ln>
        </p:spPr>
      </p:pic>
      <p:sp>
        <p:nvSpPr>
          <p:cNvPr id="134" name="TextBox 133">
            <a:extLst>
              <a:ext uri="{FF2B5EF4-FFF2-40B4-BE49-F238E27FC236}">
                <a16:creationId xmlns:a16="http://schemas.microsoft.com/office/drawing/2014/main" id="{04B4A419-709A-9408-A656-B40A32CFB6B8}"/>
              </a:ext>
            </a:extLst>
          </p:cNvPr>
          <p:cNvSpPr txBox="1"/>
          <p:nvPr/>
        </p:nvSpPr>
        <p:spPr>
          <a:xfrm>
            <a:off x="9043415" y="3652446"/>
            <a:ext cx="758952" cy="153888"/>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EU + </a:t>
            </a:r>
            <a:r>
              <a:rPr kumimoji="0" lang="en-US"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UK</a:t>
            </a:r>
            <a:endPar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sp>
        <p:nvSpPr>
          <p:cNvPr id="136" name="TextBox 135">
            <a:extLst>
              <a:ext uri="{FF2B5EF4-FFF2-40B4-BE49-F238E27FC236}">
                <a16:creationId xmlns:a16="http://schemas.microsoft.com/office/drawing/2014/main" id="{A246B7D7-6F7B-2FEB-B6EA-D24AD369A5BE}"/>
              </a:ext>
            </a:extLst>
          </p:cNvPr>
          <p:cNvSpPr txBox="1"/>
          <p:nvPr/>
        </p:nvSpPr>
        <p:spPr>
          <a:xfrm>
            <a:off x="8465753" y="3836569"/>
            <a:ext cx="1388893"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50%</a:t>
            </a:r>
            <a:r>
              <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  upcoming</a:t>
            </a:r>
          </a:p>
        </p:txBody>
      </p:sp>
      <p:cxnSp>
        <p:nvCxnSpPr>
          <p:cNvPr id="137" name="Connector 89">
            <a:extLst>
              <a:ext uri="{FF2B5EF4-FFF2-40B4-BE49-F238E27FC236}">
                <a16:creationId xmlns:a16="http://schemas.microsoft.com/office/drawing/2014/main" id="{2016EC1D-4C2E-778F-686F-504E23CBAAAC}"/>
              </a:ext>
            </a:extLst>
          </p:cNvPr>
          <p:cNvCxnSpPr/>
          <p:nvPr/>
        </p:nvCxnSpPr>
        <p:spPr>
          <a:xfrm>
            <a:off x="10515600" y="5041122"/>
            <a:ext cx="153314" cy="0"/>
          </a:xfrm>
          <a:prstGeom prst="line">
            <a:avLst/>
          </a:prstGeom>
          <a:ln w="15875">
            <a:solidFill>
              <a:srgbClr val="6FBF5A"/>
            </a:solidFill>
          </a:ln>
        </p:spPr>
        <p:style>
          <a:lnRef idx="2">
            <a:schemeClr val="accent1"/>
          </a:lnRef>
          <a:fillRef idx="0">
            <a:schemeClr val="accent1"/>
          </a:fillRef>
          <a:effectRef idx="1">
            <a:schemeClr val="accent1"/>
          </a:effectRef>
          <a:fontRef idx="minor">
            <a:schemeClr val="tx1"/>
          </a:fontRef>
        </p:style>
      </p:cxnSp>
      <p:sp>
        <p:nvSpPr>
          <p:cNvPr id="138" name="Rounded Rectangle 90">
            <a:extLst>
              <a:ext uri="{FF2B5EF4-FFF2-40B4-BE49-F238E27FC236}">
                <a16:creationId xmlns:a16="http://schemas.microsoft.com/office/drawing/2014/main" id="{2B2976E3-9BE7-4839-3297-F5FDCD581AF4}"/>
              </a:ext>
            </a:extLst>
          </p:cNvPr>
          <p:cNvSpPr/>
          <p:nvPr/>
        </p:nvSpPr>
        <p:spPr>
          <a:xfrm>
            <a:off x="9189720" y="4854102"/>
            <a:ext cx="1325880" cy="420624"/>
          </a:xfrm>
          <a:prstGeom prst="roundRect">
            <a:avLst>
              <a:gd name="adj" fmla="val 12000"/>
            </a:avLst>
          </a:prstGeom>
          <a:solidFill>
            <a:srgbClr val="FFFFFF"/>
          </a:solidFill>
          <a:ln w="15875">
            <a:solidFill>
              <a:srgbClr val="6FB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39" name="Picture 138" descr="sg.png">
            <a:extLst>
              <a:ext uri="{FF2B5EF4-FFF2-40B4-BE49-F238E27FC236}">
                <a16:creationId xmlns:a16="http://schemas.microsoft.com/office/drawing/2014/main" id="{EBE9495B-8318-FF88-D368-D62B41B98E3E}"/>
              </a:ext>
            </a:extLst>
          </p:cNvPr>
          <p:cNvPicPr>
            <a:picLocks noChangeAspect="1"/>
          </p:cNvPicPr>
          <p:nvPr/>
        </p:nvPicPr>
        <p:blipFill>
          <a:blip r:embed="rId13"/>
          <a:stretch>
            <a:fillRect/>
          </a:stretch>
        </p:blipFill>
        <p:spPr>
          <a:xfrm>
            <a:off x="9262872" y="4918110"/>
            <a:ext cx="233172" cy="155448"/>
          </a:xfrm>
          <a:prstGeom prst="roundRect">
            <a:avLst/>
          </a:prstGeom>
          <a:ln w="6350">
            <a:solidFill>
              <a:srgbClr val="D0D0CE"/>
            </a:solidFill>
          </a:ln>
        </p:spPr>
      </p:pic>
      <p:sp>
        <p:nvSpPr>
          <p:cNvPr id="140" name="TextBox 139">
            <a:extLst>
              <a:ext uri="{FF2B5EF4-FFF2-40B4-BE49-F238E27FC236}">
                <a16:creationId xmlns:a16="http://schemas.microsoft.com/office/drawing/2014/main" id="{02CA68A2-3088-7C3E-F0AE-8E160DBE09F4}"/>
              </a:ext>
            </a:extLst>
          </p:cNvPr>
          <p:cNvSpPr txBox="1"/>
          <p:nvPr/>
        </p:nvSpPr>
        <p:spPr>
          <a:xfrm>
            <a:off x="9550908" y="4914318"/>
            <a:ext cx="937259" cy="153888"/>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Singapore</a:t>
            </a:r>
            <a:r>
              <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p>
        </p:txBody>
      </p:sp>
      <p:sp>
        <p:nvSpPr>
          <p:cNvPr id="141" name="TextBox 140">
            <a:extLst>
              <a:ext uri="{FF2B5EF4-FFF2-40B4-BE49-F238E27FC236}">
                <a16:creationId xmlns:a16="http://schemas.microsoft.com/office/drawing/2014/main" id="{CCD185B5-3F9B-C4E3-E014-81737590E3FD}"/>
              </a:ext>
            </a:extLst>
          </p:cNvPr>
          <p:cNvSpPr txBox="1"/>
          <p:nvPr/>
        </p:nvSpPr>
        <p:spPr>
          <a:xfrm>
            <a:off x="9242994" y="5098441"/>
            <a:ext cx="1291768"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6FBF5A"/>
                </a:solidFill>
                <a:effectLst/>
                <a:uLnTx/>
                <a:uFillTx/>
                <a:latin typeface="Segoe UI" panose="020B0502040204020203" pitchFamily="34" charset="0"/>
                <a:ea typeface="+mn-ea"/>
                <a:cs typeface="Segoe UI" panose="020B0502040204020203" pitchFamily="34" charset="0"/>
                <a:sym typeface="Arial"/>
              </a:rPr>
              <a:t>50%</a:t>
            </a:r>
            <a:r>
              <a:rPr kumimoji="0" sz="900" b="0" i="0" u="none" strike="noStrike" kern="1200" cap="none" spc="0" normalizeH="0" baseline="0" noProof="0">
                <a:ln>
                  <a:noFill/>
                </a:ln>
                <a:solidFill>
                  <a:srgbClr val="404040"/>
                </a:solidFill>
                <a:effectLst/>
                <a:uLnTx/>
                <a:uFillTx/>
                <a:latin typeface="Segoe UI" panose="020B0502040204020203" pitchFamily="34" charset="0"/>
                <a:ea typeface="+mn-ea"/>
                <a:cs typeface="Segoe UI" panose="020B0502040204020203" pitchFamily="34" charset="0"/>
                <a:sym typeface="Arial"/>
              </a:rPr>
              <a:t>  upcoming</a:t>
            </a:r>
          </a:p>
        </p:txBody>
      </p:sp>
      <p:cxnSp>
        <p:nvCxnSpPr>
          <p:cNvPr id="142" name="Connector 94">
            <a:extLst>
              <a:ext uri="{FF2B5EF4-FFF2-40B4-BE49-F238E27FC236}">
                <a16:creationId xmlns:a16="http://schemas.microsoft.com/office/drawing/2014/main" id="{D62735C6-269D-58D0-D771-69E9D95D4965}"/>
              </a:ext>
            </a:extLst>
          </p:cNvPr>
          <p:cNvCxnSpPr/>
          <p:nvPr/>
        </p:nvCxnSpPr>
        <p:spPr>
          <a:xfrm>
            <a:off x="10515600" y="5456082"/>
            <a:ext cx="628904" cy="0"/>
          </a:xfrm>
          <a:prstGeom prst="line">
            <a:avLst/>
          </a:prstGeom>
          <a:ln w="15875">
            <a:solidFill>
              <a:srgbClr val="CC3300"/>
            </a:solidFill>
          </a:ln>
        </p:spPr>
        <p:style>
          <a:lnRef idx="2">
            <a:schemeClr val="accent1"/>
          </a:lnRef>
          <a:fillRef idx="0">
            <a:schemeClr val="accent1"/>
          </a:fillRef>
          <a:effectRef idx="1">
            <a:schemeClr val="accent1"/>
          </a:effectRef>
          <a:fontRef idx="minor">
            <a:schemeClr val="tx1"/>
          </a:fontRef>
        </p:style>
      </p:cxnSp>
      <p:sp>
        <p:nvSpPr>
          <p:cNvPr id="143" name="Rounded Rectangle 95">
            <a:extLst>
              <a:ext uri="{FF2B5EF4-FFF2-40B4-BE49-F238E27FC236}">
                <a16:creationId xmlns:a16="http://schemas.microsoft.com/office/drawing/2014/main" id="{DBDEE5A7-FB08-0E03-6589-E3E9F5398AF2}"/>
              </a:ext>
            </a:extLst>
          </p:cNvPr>
          <p:cNvSpPr/>
          <p:nvPr/>
        </p:nvSpPr>
        <p:spPr>
          <a:xfrm>
            <a:off x="9189720" y="5421030"/>
            <a:ext cx="1325880" cy="420624"/>
          </a:xfrm>
          <a:prstGeom prst="roundRect">
            <a:avLst>
              <a:gd name="adj" fmla="val 12000"/>
            </a:avLst>
          </a:prstGeom>
          <a:solidFill>
            <a:srgbClr val="FFFFFF"/>
          </a:solidFill>
          <a:ln w="15875">
            <a:solidFill>
              <a:srgbClr val="CC3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44" name="Picture 143" descr="au.png">
            <a:extLst>
              <a:ext uri="{FF2B5EF4-FFF2-40B4-BE49-F238E27FC236}">
                <a16:creationId xmlns:a16="http://schemas.microsoft.com/office/drawing/2014/main" id="{9B509B38-F41D-25A5-3CDE-0BBF8220C87B}"/>
              </a:ext>
            </a:extLst>
          </p:cNvPr>
          <p:cNvPicPr>
            <a:picLocks noChangeAspect="1"/>
          </p:cNvPicPr>
          <p:nvPr/>
        </p:nvPicPr>
        <p:blipFill>
          <a:blip r:embed="rId14"/>
          <a:stretch>
            <a:fillRect/>
          </a:stretch>
        </p:blipFill>
        <p:spPr>
          <a:xfrm>
            <a:off x="9262872" y="5485038"/>
            <a:ext cx="233172" cy="155448"/>
          </a:xfrm>
          <a:prstGeom prst="roundRect">
            <a:avLst/>
          </a:prstGeom>
          <a:ln w="6350">
            <a:solidFill>
              <a:srgbClr val="D0D0CE"/>
            </a:solidFill>
          </a:ln>
        </p:spPr>
      </p:pic>
      <p:sp>
        <p:nvSpPr>
          <p:cNvPr id="145" name="TextBox 144">
            <a:extLst>
              <a:ext uri="{FF2B5EF4-FFF2-40B4-BE49-F238E27FC236}">
                <a16:creationId xmlns:a16="http://schemas.microsoft.com/office/drawing/2014/main" id="{41E7C86A-AB7C-9238-393C-3716CBE07C4A}"/>
              </a:ext>
            </a:extLst>
          </p:cNvPr>
          <p:cNvSpPr txBox="1"/>
          <p:nvPr/>
        </p:nvSpPr>
        <p:spPr>
          <a:xfrm>
            <a:off x="9550908" y="5481246"/>
            <a:ext cx="937259" cy="153888"/>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0000"/>
                </a:solidFill>
                <a:effectLst/>
                <a:uLnTx/>
                <a:uFillTx/>
                <a:latin typeface="Segoe UI" panose="020B0502040204020203" pitchFamily="34" charset="0"/>
                <a:ea typeface="+mn-ea"/>
                <a:cs typeface="Segoe UI" panose="020B0502040204020203" pitchFamily="34" charset="0"/>
                <a:sym typeface="Arial"/>
              </a:rPr>
              <a:t>Australia</a:t>
            </a:r>
            <a:r>
              <a:rPr kumimoji="0" sz="1000" b="0" i="0" u="none" strike="noStrike" kern="1200" cap="none" spc="0" normalizeH="0" baseline="0" noProof="0">
                <a:ln>
                  <a:noFill/>
                </a:ln>
                <a:solidFill>
                  <a:srgbClr val="75787B"/>
                </a:solidFill>
                <a:effectLst/>
                <a:uLnTx/>
                <a:uFillTx/>
                <a:latin typeface="Segoe UI" panose="020B0502040204020203" pitchFamily="34" charset="0"/>
                <a:ea typeface="+mn-ea"/>
                <a:cs typeface="Segoe UI" panose="020B0502040204020203" pitchFamily="34" charset="0"/>
                <a:sym typeface="Arial"/>
              </a:rPr>
              <a:t> </a:t>
            </a:r>
          </a:p>
        </p:txBody>
      </p:sp>
      <p:sp>
        <p:nvSpPr>
          <p:cNvPr id="146" name="TextBox 145">
            <a:extLst>
              <a:ext uri="{FF2B5EF4-FFF2-40B4-BE49-F238E27FC236}">
                <a16:creationId xmlns:a16="http://schemas.microsoft.com/office/drawing/2014/main" id="{A7CB9D72-9EE9-C595-FD14-0985A82EFE0C}"/>
              </a:ext>
            </a:extLst>
          </p:cNvPr>
          <p:cNvSpPr txBox="1"/>
          <p:nvPr/>
        </p:nvSpPr>
        <p:spPr>
          <a:xfrm>
            <a:off x="9242994" y="5665369"/>
            <a:ext cx="1291768" cy="138499"/>
          </a:xfrm>
          <a:prstGeom prst="rect">
            <a:avLst/>
          </a:prstGeom>
          <a:noFill/>
          <a:ln/>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dirty="0">
                <a:ln>
                  <a:noFill/>
                </a:ln>
                <a:solidFill>
                  <a:srgbClr val="CC3300"/>
                </a:solidFill>
                <a:effectLst/>
                <a:uLnTx/>
                <a:uFillTx/>
                <a:latin typeface="Segoe UI" panose="020B0502040204020203" pitchFamily="34" charset="0"/>
                <a:ea typeface="+mn-ea"/>
                <a:cs typeface="Segoe UI" panose="020B0502040204020203" pitchFamily="34" charset="0"/>
                <a:sym typeface="Arial"/>
              </a:rPr>
              <a:t>63%</a:t>
            </a:r>
            <a:r>
              <a:rPr kumimoji="0" sz="9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  remediating</a:t>
            </a:r>
          </a:p>
        </p:txBody>
      </p:sp>
    </p:spTree>
    <p:extLst>
      <p:ext uri="{BB962C8B-B14F-4D97-AF65-F5344CB8AC3E}">
        <p14:creationId xmlns:p14="http://schemas.microsoft.com/office/powerpoint/2010/main" val="11745981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96C25-6E9F-1053-C296-EA995A01ED29}"/>
            </a:ext>
          </a:extLst>
        </p:cNvPr>
        <p:cNvGrpSpPr/>
        <p:nvPr/>
      </p:nvGrpSpPr>
      <p:grpSpPr>
        <a:xfrm>
          <a:off x="0" y="0"/>
          <a:ext cx="0" cy="0"/>
          <a:chOff x="0" y="0"/>
          <a:chExt cx="0" cy="0"/>
        </a:xfrm>
      </p:grpSpPr>
      <p:sp>
        <p:nvSpPr>
          <p:cNvPr id="341" name="Rounded Rectangle 50">
            <a:extLst>
              <a:ext uri="{FF2B5EF4-FFF2-40B4-BE49-F238E27FC236}">
                <a16:creationId xmlns:a16="http://schemas.microsoft.com/office/drawing/2014/main" id="{83E508CE-6292-4A8D-09DC-FD434ED780E7}"/>
              </a:ext>
            </a:extLst>
          </p:cNvPr>
          <p:cNvSpPr/>
          <p:nvPr/>
        </p:nvSpPr>
        <p:spPr>
          <a:xfrm>
            <a:off x="320040" y="5638800"/>
            <a:ext cx="5632704" cy="901444"/>
          </a:xfrm>
          <a:prstGeom prst="roundRect">
            <a:avLst>
              <a:gd name="adj" fmla="val 5000"/>
            </a:avLst>
          </a:prstGeom>
          <a:solidFill>
            <a:srgbClr val="FFFFFF"/>
          </a:solidFill>
          <a:ln w="38100">
            <a:solidFill>
              <a:srgbClr val="F0F2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2" name="Rectangle 1">
            <a:extLst>
              <a:ext uri="{FF2B5EF4-FFF2-40B4-BE49-F238E27FC236}">
                <a16:creationId xmlns:a16="http://schemas.microsoft.com/office/drawing/2014/main" id="{BE8F940B-7B5E-69E5-059A-DCB16FD6D2F4}"/>
              </a:ext>
            </a:extLst>
          </p:cNvPr>
          <p:cNvSpPr/>
          <p:nvPr/>
        </p:nvSpPr>
        <p:spPr>
          <a:xfrm>
            <a:off x="0" y="0"/>
            <a:ext cx="12191695" cy="33832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Calibri"/>
              <a:ea typeface="+mn-ea"/>
              <a:cs typeface="+mn-cs"/>
              <a:sym typeface="Arial"/>
            </a:endParaRPr>
          </a:p>
        </p:txBody>
      </p:sp>
      <p:sp>
        <p:nvSpPr>
          <p:cNvPr id="65" name="Rectangle 64">
            <a:extLst>
              <a:ext uri="{FF2B5EF4-FFF2-40B4-BE49-F238E27FC236}">
                <a16:creationId xmlns:a16="http://schemas.microsoft.com/office/drawing/2014/main" id="{1D130DC1-7D01-049B-431F-25B3E378CC84}"/>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dirty="0">
                <a:ln>
                  <a:noFill/>
                </a:ln>
                <a:solidFill>
                  <a:prstClr val="white"/>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REGULATORY &amp; MARKET CHANGE</a:t>
            </a:r>
          </a:p>
        </p:txBody>
      </p:sp>
      <p:sp>
        <p:nvSpPr>
          <p:cNvPr id="173" name="TextBox 172">
            <a:extLst>
              <a:ext uri="{FF2B5EF4-FFF2-40B4-BE49-F238E27FC236}">
                <a16:creationId xmlns:a16="http://schemas.microsoft.com/office/drawing/2014/main" id="{EF78BC5D-4939-FF26-EA68-B880BF01495B}"/>
              </a:ext>
            </a:extLst>
          </p:cNvPr>
          <p:cNvSpPr txBox="1"/>
          <p:nvPr/>
        </p:nvSpPr>
        <p:spPr>
          <a:xfrm>
            <a:off x="320040" y="1965960"/>
            <a:ext cx="5669280"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13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TOP THREE ANTICIPATED CHANGES</a:t>
            </a:r>
            <a:endParaRPr kumimoji="0" sz="1300" b="0" i="0" u="none" strike="noStrike" kern="1200" cap="none" spc="0" normalizeH="0" baseline="0" noProof="0" dirty="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sp>
        <p:nvSpPr>
          <p:cNvPr id="175" name="Rounded Rectangle 7">
            <a:extLst>
              <a:ext uri="{FF2B5EF4-FFF2-40B4-BE49-F238E27FC236}">
                <a16:creationId xmlns:a16="http://schemas.microsoft.com/office/drawing/2014/main" id="{C8C722C8-D1E4-F6D7-409B-1FFC334DABA3}"/>
              </a:ext>
            </a:extLst>
          </p:cNvPr>
          <p:cNvSpPr/>
          <p:nvPr/>
        </p:nvSpPr>
        <p:spPr>
          <a:xfrm>
            <a:off x="326359" y="2232152"/>
            <a:ext cx="3749039" cy="1930273"/>
          </a:xfrm>
          <a:prstGeom prst="roundRect">
            <a:avLst>
              <a:gd name="adj" fmla="val 5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327" name="Group 326">
            <a:extLst>
              <a:ext uri="{FF2B5EF4-FFF2-40B4-BE49-F238E27FC236}">
                <a16:creationId xmlns:a16="http://schemas.microsoft.com/office/drawing/2014/main" id="{B254BE5C-73F2-8941-1A85-19147BD823F8}"/>
              </a:ext>
            </a:extLst>
          </p:cNvPr>
          <p:cNvGrpSpPr/>
          <p:nvPr/>
        </p:nvGrpSpPr>
        <p:grpSpPr>
          <a:xfrm>
            <a:off x="502920" y="2415032"/>
            <a:ext cx="576000" cy="576000"/>
            <a:chOff x="502920" y="2491232"/>
            <a:chExt cx="566928" cy="566928"/>
          </a:xfrm>
        </p:grpSpPr>
        <p:sp>
          <p:nvSpPr>
            <p:cNvPr id="177" name="Rounded Rectangle 8">
              <a:extLst>
                <a:ext uri="{FF2B5EF4-FFF2-40B4-BE49-F238E27FC236}">
                  <a16:creationId xmlns:a16="http://schemas.microsoft.com/office/drawing/2014/main" id="{FEB84158-278E-02C2-1130-9154E00808CA}"/>
                </a:ext>
              </a:extLst>
            </p:cNvPr>
            <p:cNvSpPr/>
            <p:nvPr/>
          </p:nvSpPr>
          <p:spPr>
            <a:xfrm>
              <a:off x="502920" y="2491232"/>
              <a:ext cx="566928" cy="566928"/>
            </a:xfrm>
            <a:prstGeom prst="roundRect">
              <a:avLst>
                <a:gd name="adj" fmla="val 50000"/>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79" name="Picture 178" descr="ic_id_w.png">
              <a:extLst>
                <a:ext uri="{FF2B5EF4-FFF2-40B4-BE49-F238E27FC236}">
                  <a16:creationId xmlns:a16="http://schemas.microsoft.com/office/drawing/2014/main" id="{577464DB-4CC4-11FA-3BD4-DA067D4722B7}"/>
                </a:ext>
              </a:extLst>
            </p:cNvPr>
            <p:cNvPicPr>
              <a:picLocks noChangeAspect="1"/>
            </p:cNvPicPr>
            <p:nvPr/>
          </p:nvPicPr>
          <p:blipFill>
            <a:blip r:embed="rId3"/>
            <a:stretch>
              <a:fillRect/>
            </a:stretch>
          </p:blipFill>
          <p:spPr>
            <a:xfrm>
              <a:off x="627644" y="2615956"/>
              <a:ext cx="317479" cy="317479"/>
            </a:xfrm>
            <a:prstGeom prst="rect">
              <a:avLst/>
            </a:prstGeom>
          </p:spPr>
        </p:pic>
      </p:grpSp>
      <p:sp>
        <p:nvSpPr>
          <p:cNvPr id="181" name="TextBox 180">
            <a:extLst>
              <a:ext uri="{FF2B5EF4-FFF2-40B4-BE49-F238E27FC236}">
                <a16:creationId xmlns:a16="http://schemas.microsoft.com/office/drawing/2014/main" id="{C6B30655-CDA8-75DA-3A8D-5953414CC18C}"/>
              </a:ext>
            </a:extLst>
          </p:cNvPr>
          <p:cNvSpPr txBox="1"/>
          <p:nvPr/>
        </p:nvSpPr>
        <p:spPr>
          <a:xfrm>
            <a:off x="1216152" y="2443131"/>
            <a:ext cx="1645920" cy="49244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71%</a:t>
            </a:r>
          </a:p>
        </p:txBody>
      </p:sp>
      <p:sp>
        <p:nvSpPr>
          <p:cNvPr id="183" name="Rounded Rectangle 11">
            <a:extLst>
              <a:ext uri="{FF2B5EF4-FFF2-40B4-BE49-F238E27FC236}">
                <a16:creationId xmlns:a16="http://schemas.microsoft.com/office/drawing/2014/main" id="{2C64C571-35C8-D040-15A1-05F34478052C}"/>
              </a:ext>
            </a:extLst>
          </p:cNvPr>
          <p:cNvSpPr/>
          <p:nvPr/>
        </p:nvSpPr>
        <p:spPr>
          <a:xfrm>
            <a:off x="3566159" y="2415032"/>
            <a:ext cx="360000" cy="3600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#1</a:t>
            </a:r>
          </a:p>
        </p:txBody>
      </p:sp>
      <p:sp>
        <p:nvSpPr>
          <p:cNvPr id="187" name="TextBox 186">
            <a:extLst>
              <a:ext uri="{FF2B5EF4-FFF2-40B4-BE49-F238E27FC236}">
                <a16:creationId xmlns:a16="http://schemas.microsoft.com/office/drawing/2014/main" id="{5C393E1D-C38F-7EDF-8799-7D78F8F5B29F}"/>
              </a:ext>
            </a:extLst>
          </p:cNvPr>
          <p:cNvSpPr txBox="1"/>
          <p:nvPr/>
        </p:nvSpPr>
        <p:spPr>
          <a:xfrm>
            <a:off x="502920" y="3051540"/>
            <a:ext cx="3383279" cy="369332"/>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dirty="0">
                <a:ln>
                  <a:noFill/>
                </a:ln>
                <a:solidFill>
                  <a:srgbClr val="DCEFD0"/>
                </a:solidFill>
                <a:effectLst/>
                <a:uLnTx/>
                <a:uFillTx/>
                <a:latin typeface="Segoe UI" panose="020B0502040204020203" pitchFamily="34" charset="0"/>
                <a:ea typeface="+mn-ea"/>
                <a:cs typeface="Segoe UI" panose="020B0502040204020203" pitchFamily="34" charset="0"/>
                <a:sym typeface="Arial"/>
              </a:rPr>
              <a:t>CUSTOMER IDENTITY, AUTHENTICATION &amp; DIGITAL TRUST</a:t>
            </a:r>
          </a:p>
        </p:txBody>
      </p:sp>
      <p:sp>
        <p:nvSpPr>
          <p:cNvPr id="189" name="TextBox 188">
            <a:extLst>
              <a:ext uri="{FF2B5EF4-FFF2-40B4-BE49-F238E27FC236}">
                <a16:creationId xmlns:a16="http://schemas.microsoft.com/office/drawing/2014/main" id="{FD223FF5-EE11-62FC-F39F-6756044EB9C1}"/>
              </a:ext>
            </a:extLst>
          </p:cNvPr>
          <p:cNvSpPr txBox="1"/>
          <p:nvPr/>
        </p:nvSpPr>
        <p:spPr>
          <a:xfrm>
            <a:off x="502920" y="3466592"/>
            <a:ext cx="3383279" cy="46166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Rising expectations for how customers are verified and protected, as deepfakes and synthetic identities make it harder to know who is on the other end.</a:t>
            </a:r>
          </a:p>
        </p:txBody>
      </p:sp>
      <p:sp>
        <p:nvSpPr>
          <p:cNvPr id="191" name="Rounded Rectangle 15">
            <a:extLst>
              <a:ext uri="{FF2B5EF4-FFF2-40B4-BE49-F238E27FC236}">
                <a16:creationId xmlns:a16="http://schemas.microsoft.com/office/drawing/2014/main" id="{CB5EA6E2-58E0-ECB8-190A-A96C82D5B842}"/>
              </a:ext>
            </a:extLst>
          </p:cNvPr>
          <p:cNvSpPr/>
          <p:nvPr/>
        </p:nvSpPr>
        <p:spPr>
          <a:xfrm>
            <a:off x="4219956" y="2232152"/>
            <a:ext cx="3749039" cy="1930273"/>
          </a:xfrm>
          <a:prstGeom prst="roundRect">
            <a:avLst>
              <a:gd name="adj" fmla="val 5000"/>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328" name="Group 327">
            <a:extLst>
              <a:ext uri="{FF2B5EF4-FFF2-40B4-BE49-F238E27FC236}">
                <a16:creationId xmlns:a16="http://schemas.microsoft.com/office/drawing/2014/main" id="{43535E94-0496-59CE-7BD8-B492362F224D}"/>
              </a:ext>
            </a:extLst>
          </p:cNvPr>
          <p:cNvGrpSpPr/>
          <p:nvPr/>
        </p:nvGrpSpPr>
        <p:grpSpPr>
          <a:xfrm>
            <a:off x="4402836" y="2415032"/>
            <a:ext cx="576000" cy="576000"/>
            <a:chOff x="4402836" y="2491232"/>
            <a:chExt cx="566928" cy="566928"/>
          </a:xfrm>
        </p:grpSpPr>
        <p:sp>
          <p:nvSpPr>
            <p:cNvPr id="193" name="Rounded Rectangle 16">
              <a:extLst>
                <a:ext uri="{FF2B5EF4-FFF2-40B4-BE49-F238E27FC236}">
                  <a16:creationId xmlns:a16="http://schemas.microsoft.com/office/drawing/2014/main" id="{D04E8EB5-24CB-1956-168F-2B1CABD84B26}"/>
                </a:ext>
              </a:extLst>
            </p:cNvPr>
            <p:cNvSpPr/>
            <p:nvPr/>
          </p:nvSpPr>
          <p:spPr>
            <a:xfrm>
              <a:off x="4402836" y="2491232"/>
              <a:ext cx="566928" cy="566928"/>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195" name="Picture 194" descr="ic_lock_w.png">
              <a:extLst>
                <a:ext uri="{FF2B5EF4-FFF2-40B4-BE49-F238E27FC236}">
                  <a16:creationId xmlns:a16="http://schemas.microsoft.com/office/drawing/2014/main" id="{038D349F-EE91-F3A2-53F2-6A248B238746}"/>
                </a:ext>
              </a:extLst>
            </p:cNvPr>
            <p:cNvPicPr>
              <a:picLocks noChangeAspect="1"/>
            </p:cNvPicPr>
            <p:nvPr/>
          </p:nvPicPr>
          <p:blipFill>
            <a:blip r:embed="rId4"/>
            <a:stretch>
              <a:fillRect/>
            </a:stretch>
          </p:blipFill>
          <p:spPr>
            <a:xfrm>
              <a:off x="4527560" y="2615956"/>
              <a:ext cx="317479" cy="317479"/>
            </a:xfrm>
            <a:prstGeom prst="rect">
              <a:avLst/>
            </a:prstGeom>
          </p:spPr>
        </p:pic>
      </p:grpSp>
      <p:sp>
        <p:nvSpPr>
          <p:cNvPr id="197" name="TextBox 196">
            <a:extLst>
              <a:ext uri="{FF2B5EF4-FFF2-40B4-BE49-F238E27FC236}">
                <a16:creationId xmlns:a16="http://schemas.microsoft.com/office/drawing/2014/main" id="{F8306A01-B79B-C7C5-9D47-88A190967AB1}"/>
              </a:ext>
            </a:extLst>
          </p:cNvPr>
          <p:cNvSpPr txBox="1"/>
          <p:nvPr/>
        </p:nvSpPr>
        <p:spPr>
          <a:xfrm>
            <a:off x="5116068" y="2443131"/>
            <a:ext cx="1645920" cy="49244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66%</a:t>
            </a:r>
          </a:p>
        </p:txBody>
      </p:sp>
      <p:sp>
        <p:nvSpPr>
          <p:cNvPr id="200" name="Rounded Rectangle 19">
            <a:extLst>
              <a:ext uri="{FF2B5EF4-FFF2-40B4-BE49-F238E27FC236}">
                <a16:creationId xmlns:a16="http://schemas.microsoft.com/office/drawing/2014/main" id="{01F220EE-6673-BC2F-7C48-089D5EFC5C3C}"/>
              </a:ext>
            </a:extLst>
          </p:cNvPr>
          <p:cNvSpPr/>
          <p:nvPr/>
        </p:nvSpPr>
        <p:spPr>
          <a:xfrm>
            <a:off x="7466075" y="2415032"/>
            <a:ext cx="360000" cy="3600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rPr>
              <a:t>#2</a:t>
            </a:r>
          </a:p>
        </p:txBody>
      </p:sp>
      <p:sp>
        <p:nvSpPr>
          <p:cNvPr id="204" name="TextBox 203">
            <a:extLst>
              <a:ext uri="{FF2B5EF4-FFF2-40B4-BE49-F238E27FC236}">
                <a16:creationId xmlns:a16="http://schemas.microsoft.com/office/drawing/2014/main" id="{2D69CD41-4A14-2D55-675B-1EE1F6692FA1}"/>
              </a:ext>
            </a:extLst>
          </p:cNvPr>
          <p:cNvSpPr txBox="1"/>
          <p:nvPr/>
        </p:nvSpPr>
        <p:spPr>
          <a:xfrm>
            <a:off x="4402836" y="3143873"/>
            <a:ext cx="3383279" cy="18466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dirty="0">
                <a:ln>
                  <a:noFill/>
                </a:ln>
                <a:solidFill>
                  <a:srgbClr val="DCEFD0"/>
                </a:solidFill>
                <a:effectLst/>
                <a:uLnTx/>
                <a:uFillTx/>
                <a:latin typeface="Segoe UI" panose="020B0502040204020203" pitchFamily="34" charset="0"/>
                <a:ea typeface="+mn-ea"/>
                <a:cs typeface="Segoe UI" panose="020B0502040204020203" pitchFamily="34" charset="0"/>
                <a:sym typeface="Arial"/>
              </a:rPr>
              <a:t>PRIVACY, DATA-SHARING &amp; AI GOVERNANCE</a:t>
            </a:r>
          </a:p>
        </p:txBody>
      </p:sp>
      <p:sp>
        <p:nvSpPr>
          <p:cNvPr id="206" name="TextBox 205">
            <a:extLst>
              <a:ext uri="{FF2B5EF4-FFF2-40B4-BE49-F238E27FC236}">
                <a16:creationId xmlns:a16="http://schemas.microsoft.com/office/drawing/2014/main" id="{98C8D8F5-1DE3-A497-7524-CE19DC74063F}"/>
              </a:ext>
            </a:extLst>
          </p:cNvPr>
          <p:cNvSpPr txBox="1"/>
          <p:nvPr/>
        </p:nvSpPr>
        <p:spPr>
          <a:xfrm>
            <a:off x="4402836" y="3466592"/>
            <a:ext cx="3383279" cy="46166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New rules on how customer data can be used and shared, and how AI models must be governed, shaping what fraud teams can build and deploy.</a:t>
            </a:r>
          </a:p>
        </p:txBody>
      </p:sp>
      <p:sp>
        <p:nvSpPr>
          <p:cNvPr id="210" name="Rounded Rectangle 23">
            <a:extLst>
              <a:ext uri="{FF2B5EF4-FFF2-40B4-BE49-F238E27FC236}">
                <a16:creationId xmlns:a16="http://schemas.microsoft.com/office/drawing/2014/main" id="{A6B7451B-24AE-CE62-99B6-E23ED2C281C2}"/>
              </a:ext>
            </a:extLst>
          </p:cNvPr>
          <p:cNvSpPr/>
          <p:nvPr/>
        </p:nvSpPr>
        <p:spPr>
          <a:xfrm>
            <a:off x="8119872" y="2232152"/>
            <a:ext cx="3749039" cy="1930273"/>
          </a:xfrm>
          <a:prstGeom prst="roundRect">
            <a:avLst>
              <a:gd name="adj" fmla="val 5000"/>
            </a:avLst>
          </a:prstGeom>
          <a:solidFill>
            <a:srgbClr val="023D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329" name="Group 328">
            <a:extLst>
              <a:ext uri="{FF2B5EF4-FFF2-40B4-BE49-F238E27FC236}">
                <a16:creationId xmlns:a16="http://schemas.microsoft.com/office/drawing/2014/main" id="{4A8C9172-3268-D120-E80A-D7D9AD9414B3}"/>
              </a:ext>
            </a:extLst>
          </p:cNvPr>
          <p:cNvGrpSpPr/>
          <p:nvPr/>
        </p:nvGrpSpPr>
        <p:grpSpPr>
          <a:xfrm>
            <a:off x="8302752" y="2415032"/>
            <a:ext cx="576000" cy="576000"/>
            <a:chOff x="8302752" y="2491232"/>
            <a:chExt cx="566928" cy="566928"/>
          </a:xfrm>
        </p:grpSpPr>
        <p:sp>
          <p:nvSpPr>
            <p:cNvPr id="214" name="Rounded Rectangle 24">
              <a:extLst>
                <a:ext uri="{FF2B5EF4-FFF2-40B4-BE49-F238E27FC236}">
                  <a16:creationId xmlns:a16="http://schemas.microsoft.com/office/drawing/2014/main" id="{D3710F9C-48EE-2FBC-6E37-892E8FD50B64}"/>
                </a:ext>
              </a:extLst>
            </p:cNvPr>
            <p:cNvSpPr/>
            <p:nvPr/>
          </p:nvSpPr>
          <p:spPr>
            <a:xfrm>
              <a:off x="8302752" y="2491232"/>
              <a:ext cx="566928" cy="566928"/>
            </a:xfrm>
            <a:prstGeom prst="roundRect">
              <a:avLst>
                <a:gd name="adj" fmla="val 50000"/>
              </a:avLst>
            </a:prstGeom>
            <a:solidFill>
              <a:srgbClr val="4EA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16" name="Picture 215" descr="ic_bolt_w.png">
              <a:extLst>
                <a:ext uri="{FF2B5EF4-FFF2-40B4-BE49-F238E27FC236}">
                  <a16:creationId xmlns:a16="http://schemas.microsoft.com/office/drawing/2014/main" id="{81E31260-BDA9-5BF9-7833-B2549B132037}"/>
                </a:ext>
              </a:extLst>
            </p:cNvPr>
            <p:cNvPicPr>
              <a:picLocks noChangeAspect="1"/>
            </p:cNvPicPr>
            <p:nvPr/>
          </p:nvPicPr>
          <p:blipFill>
            <a:blip r:embed="rId5"/>
            <a:stretch>
              <a:fillRect/>
            </a:stretch>
          </p:blipFill>
          <p:spPr>
            <a:xfrm>
              <a:off x="8427476" y="2615956"/>
              <a:ext cx="317479" cy="317479"/>
            </a:xfrm>
            <a:prstGeom prst="rect">
              <a:avLst/>
            </a:prstGeom>
          </p:spPr>
        </p:pic>
      </p:grpSp>
      <p:sp>
        <p:nvSpPr>
          <p:cNvPr id="218" name="TextBox 217">
            <a:extLst>
              <a:ext uri="{FF2B5EF4-FFF2-40B4-BE49-F238E27FC236}">
                <a16:creationId xmlns:a16="http://schemas.microsoft.com/office/drawing/2014/main" id="{B654BB6C-D881-1B7B-B9A8-691621DA931A}"/>
              </a:ext>
            </a:extLst>
          </p:cNvPr>
          <p:cNvSpPr txBox="1"/>
          <p:nvPr/>
        </p:nvSpPr>
        <p:spPr>
          <a:xfrm>
            <a:off x="9015984" y="2443131"/>
            <a:ext cx="1645920" cy="492443"/>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65%</a:t>
            </a:r>
          </a:p>
        </p:txBody>
      </p:sp>
      <p:sp>
        <p:nvSpPr>
          <p:cNvPr id="220" name="Rounded Rectangle 27">
            <a:extLst>
              <a:ext uri="{FF2B5EF4-FFF2-40B4-BE49-F238E27FC236}">
                <a16:creationId xmlns:a16="http://schemas.microsoft.com/office/drawing/2014/main" id="{9D1FA912-C607-0D75-97CD-A4C2FC1439FF}"/>
              </a:ext>
            </a:extLst>
          </p:cNvPr>
          <p:cNvSpPr/>
          <p:nvPr/>
        </p:nvSpPr>
        <p:spPr>
          <a:xfrm>
            <a:off x="11365992" y="2415032"/>
            <a:ext cx="360000" cy="3600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dirty="0">
                <a:ln>
                  <a:noFill/>
                </a:ln>
                <a:solidFill>
                  <a:srgbClr val="023D20"/>
                </a:solidFill>
                <a:effectLst/>
                <a:uLnTx/>
                <a:uFillTx/>
                <a:latin typeface="Segoe UI" panose="020B0502040204020203" pitchFamily="34" charset="0"/>
                <a:ea typeface="+mn-ea"/>
                <a:cs typeface="Segoe UI" panose="020B0502040204020203" pitchFamily="34" charset="0"/>
                <a:sym typeface="Arial"/>
              </a:rPr>
              <a:t>#3</a:t>
            </a:r>
          </a:p>
        </p:txBody>
      </p:sp>
      <p:sp>
        <p:nvSpPr>
          <p:cNvPr id="224" name="TextBox 223">
            <a:extLst>
              <a:ext uri="{FF2B5EF4-FFF2-40B4-BE49-F238E27FC236}">
                <a16:creationId xmlns:a16="http://schemas.microsoft.com/office/drawing/2014/main" id="{A3269CF9-D734-D016-E2D0-8A84ABB69A2A}"/>
              </a:ext>
            </a:extLst>
          </p:cNvPr>
          <p:cNvSpPr txBox="1"/>
          <p:nvPr/>
        </p:nvSpPr>
        <p:spPr>
          <a:xfrm>
            <a:off x="8302752" y="3143873"/>
            <a:ext cx="3383279" cy="18466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dirty="0">
                <a:ln>
                  <a:noFill/>
                </a:ln>
                <a:solidFill>
                  <a:srgbClr val="DCEFD0"/>
                </a:solidFill>
                <a:effectLst/>
                <a:uLnTx/>
                <a:uFillTx/>
                <a:latin typeface="Segoe UI" panose="020B0502040204020203" pitchFamily="34" charset="0"/>
                <a:ea typeface="+mn-ea"/>
                <a:cs typeface="Segoe UI" panose="020B0502040204020203" pitchFamily="34" charset="0"/>
                <a:sym typeface="Arial"/>
              </a:rPr>
              <a:t>PAYMENT INNOVATION</a:t>
            </a:r>
          </a:p>
        </p:txBody>
      </p:sp>
      <p:sp>
        <p:nvSpPr>
          <p:cNvPr id="226" name="TextBox 225">
            <a:extLst>
              <a:ext uri="{FF2B5EF4-FFF2-40B4-BE49-F238E27FC236}">
                <a16:creationId xmlns:a16="http://schemas.microsoft.com/office/drawing/2014/main" id="{690E05E4-132D-C2D6-496B-DCBAE4DDB2D2}"/>
              </a:ext>
            </a:extLst>
          </p:cNvPr>
          <p:cNvSpPr txBox="1"/>
          <p:nvPr/>
        </p:nvSpPr>
        <p:spPr>
          <a:xfrm>
            <a:off x="8302752" y="3466592"/>
            <a:ext cx="3383279" cy="46166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rPr>
              <a:t>Real-time payments, stablecoins and agentic payments move money faster, shrinking the window to detect and stop fraud before funds are gone.</a:t>
            </a:r>
          </a:p>
        </p:txBody>
      </p:sp>
      <p:sp>
        <p:nvSpPr>
          <p:cNvPr id="239" name="TextBox 238">
            <a:extLst>
              <a:ext uri="{FF2B5EF4-FFF2-40B4-BE49-F238E27FC236}">
                <a16:creationId xmlns:a16="http://schemas.microsoft.com/office/drawing/2014/main" id="{8089E128-6F1F-19A5-893F-54C708BC36CA}"/>
              </a:ext>
            </a:extLst>
          </p:cNvPr>
          <p:cNvSpPr txBox="1"/>
          <p:nvPr/>
        </p:nvSpPr>
        <p:spPr>
          <a:xfrm>
            <a:off x="320040" y="4246880"/>
            <a:ext cx="5669280" cy="200055"/>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dirty="0">
                <a:ln>
                  <a:noFill/>
                </a:ln>
                <a:solidFill>
                  <a:srgbClr val="046A38"/>
                </a:solidFill>
                <a:effectLst/>
                <a:uLnTx/>
                <a:uFillTx/>
                <a:latin typeface="Segoe UI" panose="020B0502040204020203" pitchFamily="34" charset="0"/>
                <a:ea typeface="+mn-ea"/>
                <a:cs typeface="Segoe UI" panose="020B0502040204020203" pitchFamily="34" charset="0"/>
                <a:sym typeface="Arial"/>
              </a:rPr>
              <a:t>FURTHER DOWN THE LIST</a:t>
            </a:r>
            <a:endParaRPr kumimoji="0" sz="1300" b="0" i="0" u="none" strike="noStrike" kern="1200" cap="none" spc="0" normalizeH="0" baseline="0" noProof="0" dirty="0">
              <a:ln>
                <a:noFill/>
              </a:ln>
              <a:solidFill>
                <a:srgbClr val="75787B"/>
              </a:solidFill>
              <a:effectLst/>
              <a:uLnTx/>
              <a:uFillTx/>
              <a:latin typeface="Segoe UI" panose="020B0502040204020203" pitchFamily="34" charset="0"/>
              <a:ea typeface="+mn-ea"/>
              <a:cs typeface="Segoe UI" panose="020B0502040204020203" pitchFamily="34" charset="0"/>
              <a:sym typeface="Arial"/>
            </a:endParaRPr>
          </a:p>
        </p:txBody>
      </p:sp>
      <p:sp>
        <p:nvSpPr>
          <p:cNvPr id="242" name="Rounded Rectangle 32">
            <a:extLst>
              <a:ext uri="{FF2B5EF4-FFF2-40B4-BE49-F238E27FC236}">
                <a16:creationId xmlns:a16="http://schemas.microsoft.com/office/drawing/2014/main" id="{C8652960-8CB7-FC67-A19D-81632A8AE9E0}"/>
              </a:ext>
            </a:extLst>
          </p:cNvPr>
          <p:cNvSpPr/>
          <p:nvPr/>
        </p:nvSpPr>
        <p:spPr>
          <a:xfrm>
            <a:off x="320040" y="4493768"/>
            <a:ext cx="1828800" cy="972000"/>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324" name="Group 323">
            <a:extLst>
              <a:ext uri="{FF2B5EF4-FFF2-40B4-BE49-F238E27FC236}">
                <a16:creationId xmlns:a16="http://schemas.microsoft.com/office/drawing/2014/main" id="{DA7BB485-12A7-50F7-F203-AD56462B954E}"/>
              </a:ext>
            </a:extLst>
          </p:cNvPr>
          <p:cNvGrpSpPr/>
          <p:nvPr/>
        </p:nvGrpSpPr>
        <p:grpSpPr>
          <a:xfrm>
            <a:off x="411479" y="4603496"/>
            <a:ext cx="360000" cy="360000"/>
            <a:chOff x="411479" y="4603496"/>
            <a:chExt cx="347472" cy="347472"/>
          </a:xfrm>
        </p:grpSpPr>
        <p:sp>
          <p:nvSpPr>
            <p:cNvPr id="244" name="Rounded Rectangle 33">
              <a:extLst>
                <a:ext uri="{FF2B5EF4-FFF2-40B4-BE49-F238E27FC236}">
                  <a16:creationId xmlns:a16="http://schemas.microsoft.com/office/drawing/2014/main" id="{6DEEB61E-50C7-3877-5F25-59CA69FB8402}"/>
                </a:ext>
              </a:extLst>
            </p:cNvPr>
            <p:cNvSpPr/>
            <p:nvPr/>
          </p:nvSpPr>
          <p:spPr>
            <a:xfrm>
              <a:off x="411479" y="4603496"/>
              <a:ext cx="347472" cy="347472"/>
            </a:xfrm>
            <a:prstGeom prst="roundRect">
              <a:avLst>
                <a:gd name="adj" fmla="val 50000"/>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47" name="Picture 246" descr="ic_scale_w.png">
              <a:extLst>
                <a:ext uri="{FF2B5EF4-FFF2-40B4-BE49-F238E27FC236}">
                  <a16:creationId xmlns:a16="http://schemas.microsoft.com/office/drawing/2014/main" id="{CC4C707B-F630-C061-D1E5-2423F1CC04BA}"/>
                </a:ext>
              </a:extLst>
            </p:cNvPr>
            <p:cNvPicPr>
              <a:picLocks noChangeAspect="1"/>
            </p:cNvPicPr>
            <p:nvPr/>
          </p:nvPicPr>
          <p:blipFill>
            <a:blip r:embed="rId6"/>
            <a:stretch>
              <a:fillRect/>
            </a:stretch>
          </p:blipFill>
          <p:spPr>
            <a:xfrm>
              <a:off x="487923" y="4679939"/>
              <a:ext cx="194584" cy="194584"/>
            </a:xfrm>
            <a:prstGeom prst="rect">
              <a:avLst/>
            </a:prstGeom>
          </p:spPr>
        </p:pic>
      </p:grpSp>
      <p:sp>
        <p:nvSpPr>
          <p:cNvPr id="249" name="TextBox 248">
            <a:extLst>
              <a:ext uri="{FF2B5EF4-FFF2-40B4-BE49-F238E27FC236}">
                <a16:creationId xmlns:a16="http://schemas.microsoft.com/office/drawing/2014/main" id="{F8942791-6A5F-2BF4-E00A-F7C87AD12B80}"/>
              </a:ext>
            </a:extLst>
          </p:cNvPr>
          <p:cNvSpPr txBox="1"/>
          <p:nvPr/>
        </p:nvSpPr>
        <p:spPr>
          <a:xfrm>
            <a:off x="882904" y="4592491"/>
            <a:ext cx="1280160" cy="38472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5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36%</a:t>
            </a:r>
          </a:p>
        </p:txBody>
      </p:sp>
      <p:sp>
        <p:nvSpPr>
          <p:cNvPr id="251" name="TextBox 250">
            <a:extLst>
              <a:ext uri="{FF2B5EF4-FFF2-40B4-BE49-F238E27FC236}">
                <a16:creationId xmlns:a16="http://schemas.microsoft.com/office/drawing/2014/main" id="{E0FC77D0-DCC8-B836-55AB-F1879F3D7516}"/>
              </a:ext>
            </a:extLst>
          </p:cNvPr>
          <p:cNvSpPr txBox="1"/>
          <p:nvPr/>
        </p:nvSpPr>
        <p:spPr>
          <a:xfrm>
            <a:off x="431800" y="5031232"/>
            <a:ext cx="1678432" cy="3077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Liability &amp; reimbursement changes</a:t>
            </a:r>
          </a:p>
        </p:txBody>
      </p:sp>
      <p:sp>
        <p:nvSpPr>
          <p:cNvPr id="253" name="Rounded Rectangle 37">
            <a:extLst>
              <a:ext uri="{FF2B5EF4-FFF2-40B4-BE49-F238E27FC236}">
                <a16:creationId xmlns:a16="http://schemas.microsoft.com/office/drawing/2014/main" id="{F7A5072F-B7EB-0061-3CA4-A2B78102FA6A}"/>
              </a:ext>
            </a:extLst>
          </p:cNvPr>
          <p:cNvSpPr/>
          <p:nvPr/>
        </p:nvSpPr>
        <p:spPr>
          <a:xfrm>
            <a:off x="2221992" y="4493768"/>
            <a:ext cx="1828800" cy="972000"/>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325" name="Group 324">
            <a:extLst>
              <a:ext uri="{FF2B5EF4-FFF2-40B4-BE49-F238E27FC236}">
                <a16:creationId xmlns:a16="http://schemas.microsoft.com/office/drawing/2014/main" id="{2CDE4ED6-F717-A80A-8E0D-380E1CA8130D}"/>
              </a:ext>
            </a:extLst>
          </p:cNvPr>
          <p:cNvGrpSpPr/>
          <p:nvPr/>
        </p:nvGrpSpPr>
        <p:grpSpPr>
          <a:xfrm>
            <a:off x="2313432" y="4603496"/>
            <a:ext cx="360000" cy="360000"/>
            <a:chOff x="2313432" y="4603496"/>
            <a:chExt cx="347472" cy="347472"/>
          </a:xfrm>
        </p:grpSpPr>
        <p:sp>
          <p:nvSpPr>
            <p:cNvPr id="256" name="Rounded Rectangle 38">
              <a:extLst>
                <a:ext uri="{FF2B5EF4-FFF2-40B4-BE49-F238E27FC236}">
                  <a16:creationId xmlns:a16="http://schemas.microsoft.com/office/drawing/2014/main" id="{E2C4CE64-3FCB-CBFB-534B-1B7F015273A5}"/>
                </a:ext>
              </a:extLst>
            </p:cNvPr>
            <p:cNvSpPr/>
            <p:nvPr/>
          </p:nvSpPr>
          <p:spPr>
            <a:xfrm>
              <a:off x="2313432" y="4603496"/>
              <a:ext cx="347472" cy="347472"/>
            </a:xfrm>
            <a:prstGeom prst="roundRect">
              <a:avLst>
                <a:gd name="adj" fmla="val 50000"/>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58" name="Picture 257" descr="ic_aml_w.png">
              <a:extLst>
                <a:ext uri="{FF2B5EF4-FFF2-40B4-BE49-F238E27FC236}">
                  <a16:creationId xmlns:a16="http://schemas.microsoft.com/office/drawing/2014/main" id="{F58B6826-619D-67DD-B22D-2CE4B35369F5}"/>
                </a:ext>
              </a:extLst>
            </p:cNvPr>
            <p:cNvPicPr>
              <a:picLocks noChangeAspect="1"/>
            </p:cNvPicPr>
            <p:nvPr/>
          </p:nvPicPr>
          <p:blipFill>
            <a:blip r:embed="rId7"/>
            <a:stretch>
              <a:fillRect/>
            </a:stretch>
          </p:blipFill>
          <p:spPr>
            <a:xfrm>
              <a:off x="2389875" y="4679939"/>
              <a:ext cx="194584" cy="194584"/>
            </a:xfrm>
            <a:prstGeom prst="rect">
              <a:avLst/>
            </a:prstGeom>
          </p:spPr>
        </p:pic>
      </p:grpSp>
      <p:sp>
        <p:nvSpPr>
          <p:cNvPr id="261" name="TextBox 260">
            <a:extLst>
              <a:ext uri="{FF2B5EF4-FFF2-40B4-BE49-F238E27FC236}">
                <a16:creationId xmlns:a16="http://schemas.microsoft.com/office/drawing/2014/main" id="{D3768603-2799-3F0F-DB7A-38EFF9F85A08}"/>
              </a:ext>
            </a:extLst>
          </p:cNvPr>
          <p:cNvSpPr txBox="1"/>
          <p:nvPr/>
        </p:nvSpPr>
        <p:spPr>
          <a:xfrm>
            <a:off x="2784856" y="4592491"/>
            <a:ext cx="1280160" cy="38472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5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33%</a:t>
            </a:r>
          </a:p>
        </p:txBody>
      </p:sp>
      <p:sp>
        <p:nvSpPr>
          <p:cNvPr id="263" name="TextBox 262">
            <a:extLst>
              <a:ext uri="{FF2B5EF4-FFF2-40B4-BE49-F238E27FC236}">
                <a16:creationId xmlns:a16="http://schemas.microsoft.com/office/drawing/2014/main" id="{774B1F99-1516-31B4-026B-69932AF70C03}"/>
              </a:ext>
            </a:extLst>
          </p:cNvPr>
          <p:cNvSpPr txBox="1"/>
          <p:nvPr/>
        </p:nvSpPr>
        <p:spPr>
          <a:xfrm>
            <a:off x="2333752" y="5031232"/>
            <a:ext cx="1678432" cy="3077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AML modernization initiatives</a:t>
            </a:r>
          </a:p>
        </p:txBody>
      </p:sp>
      <p:sp>
        <p:nvSpPr>
          <p:cNvPr id="265" name="Rounded Rectangle 42">
            <a:extLst>
              <a:ext uri="{FF2B5EF4-FFF2-40B4-BE49-F238E27FC236}">
                <a16:creationId xmlns:a16="http://schemas.microsoft.com/office/drawing/2014/main" id="{2EE75046-8852-53B3-526B-0F9C614C3CC5}"/>
              </a:ext>
            </a:extLst>
          </p:cNvPr>
          <p:cNvSpPr/>
          <p:nvPr/>
        </p:nvSpPr>
        <p:spPr>
          <a:xfrm>
            <a:off x="4123944" y="4493768"/>
            <a:ext cx="1828800" cy="972000"/>
          </a:xfrm>
          <a:prstGeom prst="roundRect">
            <a:avLst>
              <a:gd name="adj" fmla="val 8000"/>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grpSp>
        <p:nvGrpSpPr>
          <p:cNvPr id="326" name="Group 325">
            <a:extLst>
              <a:ext uri="{FF2B5EF4-FFF2-40B4-BE49-F238E27FC236}">
                <a16:creationId xmlns:a16="http://schemas.microsoft.com/office/drawing/2014/main" id="{77953DF0-A243-7D45-CDF4-548C9C1733F7}"/>
              </a:ext>
            </a:extLst>
          </p:cNvPr>
          <p:cNvGrpSpPr/>
          <p:nvPr/>
        </p:nvGrpSpPr>
        <p:grpSpPr>
          <a:xfrm>
            <a:off x="4215383" y="4603496"/>
            <a:ext cx="360000" cy="360000"/>
            <a:chOff x="4215383" y="4603496"/>
            <a:chExt cx="347472" cy="347472"/>
          </a:xfrm>
        </p:grpSpPr>
        <p:sp>
          <p:nvSpPr>
            <p:cNvPr id="267" name="Rounded Rectangle 43">
              <a:extLst>
                <a:ext uri="{FF2B5EF4-FFF2-40B4-BE49-F238E27FC236}">
                  <a16:creationId xmlns:a16="http://schemas.microsoft.com/office/drawing/2014/main" id="{A9DAB93C-F7FA-A4B1-F553-E5FA50860E0C}"/>
                </a:ext>
              </a:extLst>
            </p:cNvPr>
            <p:cNvSpPr/>
            <p:nvPr/>
          </p:nvSpPr>
          <p:spPr>
            <a:xfrm>
              <a:off x="4215383" y="4603496"/>
              <a:ext cx="347472" cy="347472"/>
            </a:xfrm>
            <a:prstGeom prst="roundRect">
              <a:avLst>
                <a:gd name="adj" fmla="val 50000"/>
              </a:avLst>
            </a:prstGeom>
            <a:solidFill>
              <a:srgbClr val="A9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297" name="Picture 296" descr="ic_open_w.png">
              <a:extLst>
                <a:ext uri="{FF2B5EF4-FFF2-40B4-BE49-F238E27FC236}">
                  <a16:creationId xmlns:a16="http://schemas.microsoft.com/office/drawing/2014/main" id="{0583A7EC-AE0E-9E30-0CB9-74AFCF60E8A7}"/>
                </a:ext>
              </a:extLst>
            </p:cNvPr>
            <p:cNvPicPr>
              <a:picLocks noChangeAspect="1"/>
            </p:cNvPicPr>
            <p:nvPr/>
          </p:nvPicPr>
          <p:blipFill>
            <a:blip r:embed="rId8"/>
            <a:stretch>
              <a:fillRect/>
            </a:stretch>
          </p:blipFill>
          <p:spPr>
            <a:xfrm>
              <a:off x="4291827" y="4679939"/>
              <a:ext cx="194584" cy="194584"/>
            </a:xfrm>
            <a:prstGeom prst="rect">
              <a:avLst/>
            </a:prstGeom>
          </p:spPr>
        </p:pic>
      </p:grpSp>
      <p:sp>
        <p:nvSpPr>
          <p:cNvPr id="299" name="TextBox 298">
            <a:extLst>
              <a:ext uri="{FF2B5EF4-FFF2-40B4-BE49-F238E27FC236}">
                <a16:creationId xmlns:a16="http://schemas.microsoft.com/office/drawing/2014/main" id="{0C6DE0C6-730F-2FEB-4677-C8B5E672F9A4}"/>
              </a:ext>
            </a:extLst>
          </p:cNvPr>
          <p:cNvSpPr txBox="1"/>
          <p:nvPr/>
        </p:nvSpPr>
        <p:spPr>
          <a:xfrm>
            <a:off x="4686808" y="4592491"/>
            <a:ext cx="1280160" cy="38472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5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29%</a:t>
            </a:r>
          </a:p>
        </p:txBody>
      </p:sp>
      <p:sp>
        <p:nvSpPr>
          <p:cNvPr id="301" name="TextBox 300">
            <a:extLst>
              <a:ext uri="{FF2B5EF4-FFF2-40B4-BE49-F238E27FC236}">
                <a16:creationId xmlns:a16="http://schemas.microsoft.com/office/drawing/2014/main" id="{A6421C99-8E1C-7DF6-1F66-14E89733C646}"/>
              </a:ext>
            </a:extLst>
          </p:cNvPr>
          <p:cNvSpPr txBox="1"/>
          <p:nvPr/>
        </p:nvSpPr>
        <p:spPr>
          <a:xfrm>
            <a:off x="4235704" y="5031232"/>
            <a:ext cx="1678432" cy="3077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Open banking / consumer-driven banking</a:t>
            </a:r>
          </a:p>
        </p:txBody>
      </p:sp>
      <p:sp>
        <p:nvSpPr>
          <p:cNvPr id="305" name="TextBox 304">
            <a:extLst>
              <a:ext uri="{FF2B5EF4-FFF2-40B4-BE49-F238E27FC236}">
                <a16:creationId xmlns:a16="http://schemas.microsoft.com/office/drawing/2014/main" id="{30543B11-F3A1-B0C6-9973-BD046F9EF9D5}"/>
              </a:ext>
            </a:extLst>
          </p:cNvPr>
          <p:cNvSpPr txBox="1"/>
          <p:nvPr/>
        </p:nvSpPr>
        <p:spPr>
          <a:xfrm>
            <a:off x="502920" y="5720080"/>
            <a:ext cx="534924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WHY OPEN BANKING RANKS LAST</a:t>
            </a:r>
          </a:p>
        </p:txBody>
      </p:sp>
      <p:sp>
        <p:nvSpPr>
          <p:cNvPr id="307" name="TextBox 306">
            <a:extLst>
              <a:ext uri="{FF2B5EF4-FFF2-40B4-BE49-F238E27FC236}">
                <a16:creationId xmlns:a16="http://schemas.microsoft.com/office/drawing/2014/main" id="{54040FFC-A3B1-D483-46E9-A761DC4D3BDC}"/>
              </a:ext>
            </a:extLst>
          </p:cNvPr>
          <p:cNvSpPr txBox="1"/>
          <p:nvPr/>
        </p:nvSpPr>
        <p:spPr>
          <a:xfrm>
            <a:off x="502920" y="5907024"/>
            <a:ext cx="5349240" cy="61555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Open banking was the least selected change (29%). In many markets its frameworks are already defined and in place</a:t>
            </a:r>
            <a:r>
              <a:rPr kumimoji="0" lang="en-US"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 </a:t>
            </a:r>
            <a:r>
              <a:rPr kumimoji="0" lang="en-US" sz="1000" b="0" i="0" u="none" strike="noStrike" kern="1200" cap="none" spc="0" normalizeH="0" baseline="0" noProof="0" dirty="0">
                <a:ln>
                  <a:noFill/>
                </a:ln>
                <a:solidFill>
                  <a:srgbClr val="404040"/>
                </a:solidFill>
                <a:effectLst/>
                <a:uLnTx/>
                <a:uFillTx/>
                <a:latin typeface="Segoe UI" panose="020B0502040204020203" pitchFamily="34" charset="0"/>
                <a:cs typeface="Segoe UI" panose="020B0502040204020203" pitchFamily="34" charset="0"/>
                <a:sym typeface="Arial"/>
              </a:rPr>
              <a:t>(e.g., the UK’s Open Banking regime, PSD2 in the EU and Australia’s Consumer Data Right)</a:t>
            </a:r>
            <a:r>
              <a:rPr kumimoji="0" sz="10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 so respondents may see it as a known quantity rather than an emerging disruption.</a:t>
            </a:r>
          </a:p>
        </p:txBody>
      </p:sp>
      <p:grpSp>
        <p:nvGrpSpPr>
          <p:cNvPr id="20" name="Group 19">
            <a:extLst>
              <a:ext uri="{FF2B5EF4-FFF2-40B4-BE49-F238E27FC236}">
                <a16:creationId xmlns:a16="http://schemas.microsoft.com/office/drawing/2014/main" id="{E538B817-6044-ED42-0E0B-A3952ADAE0AC}"/>
              </a:ext>
            </a:extLst>
          </p:cNvPr>
          <p:cNvGrpSpPr/>
          <p:nvPr/>
        </p:nvGrpSpPr>
        <p:grpSpPr>
          <a:xfrm>
            <a:off x="6199632" y="4498085"/>
            <a:ext cx="5669280" cy="2042159"/>
            <a:chOff x="6199632" y="4409440"/>
            <a:chExt cx="5669280" cy="2042159"/>
          </a:xfrm>
        </p:grpSpPr>
        <p:grpSp>
          <p:nvGrpSpPr>
            <p:cNvPr id="19" name="Group 18">
              <a:extLst>
                <a:ext uri="{FF2B5EF4-FFF2-40B4-BE49-F238E27FC236}">
                  <a16:creationId xmlns:a16="http://schemas.microsoft.com/office/drawing/2014/main" id="{B96CD416-769B-62CE-1E8E-D52974FDD0F9}"/>
                </a:ext>
              </a:extLst>
            </p:cNvPr>
            <p:cNvGrpSpPr/>
            <p:nvPr/>
          </p:nvGrpSpPr>
          <p:grpSpPr>
            <a:xfrm>
              <a:off x="6199632" y="4409440"/>
              <a:ext cx="5669280" cy="2042159"/>
              <a:chOff x="6199632" y="4409440"/>
              <a:chExt cx="5669280" cy="2042159"/>
            </a:xfrm>
          </p:grpSpPr>
          <p:sp>
            <p:nvSpPr>
              <p:cNvPr id="309" name="Rounded Rectangle 50">
                <a:extLst>
                  <a:ext uri="{FF2B5EF4-FFF2-40B4-BE49-F238E27FC236}">
                    <a16:creationId xmlns:a16="http://schemas.microsoft.com/office/drawing/2014/main" id="{65084A1D-A054-E456-F5F2-A332860D935B}"/>
                  </a:ext>
                </a:extLst>
              </p:cNvPr>
              <p:cNvSpPr/>
              <p:nvPr/>
            </p:nvSpPr>
            <p:spPr>
              <a:xfrm>
                <a:off x="6199632" y="4409440"/>
                <a:ext cx="5669280" cy="2042159"/>
              </a:xfrm>
              <a:prstGeom prst="roundRect">
                <a:avLst>
                  <a:gd name="adj" fmla="val 5000"/>
                </a:avLst>
              </a:prstGeom>
              <a:solidFill>
                <a:srgbClr val="FFFFFF"/>
              </a:solidFill>
              <a:ln w="12700">
                <a:solidFill>
                  <a:srgbClr val="D0D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sp>
            <p:nvSpPr>
              <p:cNvPr id="313" name="Rounded Rectangle 52">
                <a:extLst>
                  <a:ext uri="{FF2B5EF4-FFF2-40B4-BE49-F238E27FC236}">
                    <a16:creationId xmlns:a16="http://schemas.microsoft.com/office/drawing/2014/main" id="{0E5F8565-855E-495E-AF8C-E66C261F2FB5}"/>
                  </a:ext>
                </a:extLst>
              </p:cNvPr>
              <p:cNvSpPr/>
              <p:nvPr/>
            </p:nvSpPr>
            <p:spPr>
              <a:xfrm>
                <a:off x="6419088" y="4500880"/>
                <a:ext cx="457200" cy="457200"/>
              </a:xfrm>
              <a:prstGeom prst="roundRect">
                <a:avLst>
                  <a:gd name="adj" fmla="val 50000"/>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endParaRPr>
              </a:p>
            </p:txBody>
          </p:sp>
          <p:pic>
            <p:nvPicPr>
              <p:cNvPr id="315" name="Picture 314" descr="ic_warn_w.png">
                <a:extLst>
                  <a:ext uri="{FF2B5EF4-FFF2-40B4-BE49-F238E27FC236}">
                    <a16:creationId xmlns:a16="http://schemas.microsoft.com/office/drawing/2014/main" id="{3E2E60FB-0DA9-B992-5C69-2A073B348B5E}"/>
                  </a:ext>
                </a:extLst>
              </p:cNvPr>
              <p:cNvPicPr>
                <a:picLocks noChangeAspect="1"/>
              </p:cNvPicPr>
              <p:nvPr/>
            </p:nvPicPr>
            <p:blipFill>
              <a:blip r:embed="rId9"/>
              <a:stretch>
                <a:fillRect/>
              </a:stretch>
            </p:blipFill>
            <p:spPr>
              <a:xfrm>
                <a:off x="6519672" y="4601464"/>
                <a:ext cx="256032" cy="256032"/>
              </a:xfrm>
              <a:prstGeom prst="rect">
                <a:avLst/>
              </a:prstGeom>
            </p:spPr>
          </p:pic>
          <p:sp>
            <p:nvSpPr>
              <p:cNvPr id="317" name="TextBox 316">
                <a:extLst>
                  <a:ext uri="{FF2B5EF4-FFF2-40B4-BE49-F238E27FC236}">
                    <a16:creationId xmlns:a16="http://schemas.microsoft.com/office/drawing/2014/main" id="{20416DD8-6DC3-F622-3F18-A1653EB7C1DE}"/>
                  </a:ext>
                </a:extLst>
              </p:cNvPr>
              <p:cNvSpPr txBox="1"/>
              <p:nvPr/>
            </p:nvSpPr>
            <p:spPr>
              <a:xfrm>
                <a:off x="6995160" y="4529425"/>
                <a:ext cx="4754880" cy="40011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dirty="0">
                    <a:ln>
                      <a:noFill/>
                    </a:ln>
                    <a:solidFill>
                      <a:srgbClr val="023D20"/>
                    </a:solidFill>
                    <a:effectLst/>
                    <a:uLnTx/>
                    <a:uFillTx/>
                    <a:latin typeface="Segoe UI" panose="020B0502040204020203" pitchFamily="34" charset="0"/>
                    <a:ea typeface="+mn-ea"/>
                    <a:cs typeface="Segoe UI" panose="020B0502040204020203" pitchFamily="34" charset="0"/>
                    <a:sym typeface="Arial"/>
                  </a:rPr>
                  <a:t>THE TENSION: CHANGE IS COMING FASTER THAN READINESS</a:t>
                </a:r>
              </a:p>
            </p:txBody>
          </p:sp>
        </p:grpSp>
        <p:sp>
          <p:nvSpPr>
            <p:cNvPr id="319" name="TextBox 318">
              <a:extLst>
                <a:ext uri="{FF2B5EF4-FFF2-40B4-BE49-F238E27FC236}">
                  <a16:creationId xmlns:a16="http://schemas.microsoft.com/office/drawing/2014/main" id="{3ED3B12A-AD15-821E-CFD7-D9DD99D19D30}"/>
                </a:ext>
              </a:extLst>
            </p:cNvPr>
            <p:cNvSpPr txBox="1"/>
            <p:nvPr/>
          </p:nvSpPr>
          <p:spPr>
            <a:xfrm>
              <a:off x="6419088" y="5049520"/>
              <a:ext cx="5303520" cy="1264449"/>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500"/>
                </a:spcAft>
                <a:buClrTx/>
                <a:buSzTx/>
                <a:buFontTx/>
                <a:buNone/>
                <a:tabLst/>
                <a:defRPr/>
              </a:pPr>
              <a:r>
                <a:rPr kumimoji="0" sz="13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Respondents expect major change ahead, yet </a:t>
              </a:r>
              <a:r>
                <a:rPr kumimoji="0" sz="13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nearly half (48%) are still investing mainly to </a:t>
              </a:r>
              <a:r>
                <a:rPr kumimoji="0" lang="en-US" sz="13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remediate</a:t>
              </a:r>
              <a:r>
                <a:rPr kumimoji="0" sz="1300" b="1"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 existing compliance gaps</a:t>
              </a:r>
              <a:r>
                <a:rPr kumimoji="0" sz="13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a:t>
              </a:r>
            </a:p>
            <a:p>
              <a:pPr marL="0" marR="0" lvl="0" indent="0" algn="l" defTabSz="457200" rtl="0" eaLnBrk="1" fontAlgn="auto" latinLnBrk="0" hangingPunct="1">
                <a:lnSpc>
                  <a:spcPct val="100000"/>
                </a:lnSpc>
                <a:spcBef>
                  <a:spcPts val="0"/>
                </a:spcBef>
                <a:spcAft>
                  <a:spcPts val="500"/>
                </a:spcAft>
                <a:buClrTx/>
                <a:buSzTx/>
                <a:buFontTx/>
                <a:buNone/>
                <a:tabLst/>
                <a:defRPr/>
              </a:pPr>
              <a:r>
                <a:rPr kumimoji="0" sz="13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For organizations </a:t>
              </a:r>
              <a:r>
                <a:rPr kumimoji="0" lang="en-US" sz="13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primarily </a:t>
              </a:r>
              <a:r>
                <a:rPr kumimoji="0" sz="1300" b="0" i="0" u="none" strike="noStrike" kern="1200" cap="none" spc="0" normalizeH="0" baseline="0" noProof="0" dirty="0">
                  <a:ln>
                    <a:noFill/>
                  </a:ln>
                  <a:solidFill>
                    <a:srgbClr val="404040"/>
                  </a:solidFill>
                  <a:effectLst/>
                  <a:uLnTx/>
                  <a:uFillTx/>
                  <a:latin typeface="Segoe UI" panose="020B0502040204020203" pitchFamily="34" charset="0"/>
                  <a:ea typeface="+mn-ea"/>
                  <a:cs typeface="Segoe UI" panose="020B0502040204020203" pitchFamily="34" charset="0"/>
                  <a:sym typeface="Arial"/>
                </a:rPr>
                <a:t>focused on remediation, especially smaller institutions, each new wave of identity, data, AI and payment requirements risks adding to the backlog rather than being addressed ahead of time.</a:t>
              </a:r>
            </a:p>
          </p:txBody>
        </p:sp>
      </p:grpSp>
      <p:sp>
        <p:nvSpPr>
          <p:cNvPr id="331" name="Rounded Rectangle 11">
            <a:extLst>
              <a:ext uri="{FF2B5EF4-FFF2-40B4-BE49-F238E27FC236}">
                <a16:creationId xmlns:a16="http://schemas.microsoft.com/office/drawing/2014/main" id="{FCE5FC86-CD29-59ED-3AC5-2B73BEF7E523}"/>
              </a:ext>
            </a:extLst>
          </p:cNvPr>
          <p:cNvSpPr/>
          <p:nvPr/>
        </p:nvSpPr>
        <p:spPr>
          <a:xfrm>
            <a:off x="1815560" y="4576063"/>
            <a:ext cx="252000" cy="252000"/>
          </a:xfrm>
          <a:prstGeom prst="roundRect">
            <a:avLst>
              <a:gd name="adj" fmla="val 50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000" b="1"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rPr>
              <a:t>#4</a:t>
            </a:r>
          </a:p>
        </p:txBody>
      </p:sp>
      <p:sp>
        <p:nvSpPr>
          <p:cNvPr id="335" name="Rounded Rectangle 11">
            <a:extLst>
              <a:ext uri="{FF2B5EF4-FFF2-40B4-BE49-F238E27FC236}">
                <a16:creationId xmlns:a16="http://schemas.microsoft.com/office/drawing/2014/main" id="{DC1FFB48-6D5A-4399-5C1E-89B5B01023E9}"/>
              </a:ext>
            </a:extLst>
          </p:cNvPr>
          <p:cNvSpPr/>
          <p:nvPr/>
        </p:nvSpPr>
        <p:spPr>
          <a:xfrm>
            <a:off x="3717512" y="4576063"/>
            <a:ext cx="252000" cy="252000"/>
          </a:xfrm>
          <a:prstGeom prst="roundRect">
            <a:avLst>
              <a:gd name="adj" fmla="val 50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000" b="1"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rPr>
              <a:t>#5</a:t>
            </a:r>
          </a:p>
        </p:txBody>
      </p:sp>
      <p:sp>
        <p:nvSpPr>
          <p:cNvPr id="337" name="Rounded Rectangle 11">
            <a:extLst>
              <a:ext uri="{FF2B5EF4-FFF2-40B4-BE49-F238E27FC236}">
                <a16:creationId xmlns:a16="http://schemas.microsoft.com/office/drawing/2014/main" id="{3B6C0846-968D-D788-400D-2E78B3E0BD4F}"/>
              </a:ext>
            </a:extLst>
          </p:cNvPr>
          <p:cNvSpPr/>
          <p:nvPr/>
        </p:nvSpPr>
        <p:spPr>
          <a:xfrm>
            <a:off x="5619464" y="4576063"/>
            <a:ext cx="252000" cy="252000"/>
          </a:xfrm>
          <a:prstGeom prst="roundRect">
            <a:avLst>
              <a:gd name="adj" fmla="val 50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CA" sz="1000" b="1"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rPr>
              <a:t>#6</a:t>
            </a:r>
          </a:p>
        </p:txBody>
      </p:sp>
      <p:sp>
        <p:nvSpPr>
          <p:cNvPr id="339" name="Flowchart: Manual Operation 338">
            <a:extLst>
              <a:ext uri="{FF2B5EF4-FFF2-40B4-BE49-F238E27FC236}">
                <a16:creationId xmlns:a16="http://schemas.microsoft.com/office/drawing/2014/main" id="{156BB1FC-2C85-62C9-E326-82A099748C3F}"/>
              </a:ext>
            </a:extLst>
          </p:cNvPr>
          <p:cNvSpPr/>
          <p:nvPr/>
        </p:nvSpPr>
        <p:spPr>
          <a:xfrm rot="10800000">
            <a:off x="4245518" y="5349911"/>
            <a:ext cx="1606642" cy="288888"/>
          </a:xfrm>
          <a:prstGeom prst="flowChartManualOperation">
            <a:avLst/>
          </a:prstGeom>
          <a:solidFill>
            <a:srgbClr val="F0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prstClr val="white"/>
              </a:solidFill>
              <a:effectLst/>
              <a:uLnTx/>
              <a:uFillTx/>
              <a:latin typeface="Calibri"/>
              <a:ea typeface="+mn-ea"/>
              <a:cs typeface="+mn-cs"/>
              <a:sym typeface="Arial"/>
            </a:endParaRPr>
          </a:p>
        </p:txBody>
      </p:sp>
      <p:sp>
        <p:nvSpPr>
          <p:cNvPr id="6" name="TextBox 5">
            <a:extLst>
              <a:ext uri="{FF2B5EF4-FFF2-40B4-BE49-F238E27FC236}">
                <a16:creationId xmlns:a16="http://schemas.microsoft.com/office/drawing/2014/main" id="{7EE09981-8DEA-F181-B01F-04152660437E}"/>
              </a:ext>
            </a:extLst>
          </p:cNvPr>
          <p:cNvSpPr txBox="1"/>
          <p:nvPr/>
        </p:nvSpPr>
        <p:spPr>
          <a:xfrm>
            <a:off x="2308861" y="3959620"/>
            <a:ext cx="1841435"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1"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rPr>
              <a:t>Banking 72% · Insurance 68% </a:t>
            </a:r>
            <a:endParaRPr kumimoji="0" lang="en-CA" sz="800" b="1" i="0" u="none" strike="noStrike" kern="0" cap="none" spc="0" normalizeH="0" baseline="0" noProof="0" dirty="0">
              <a:ln>
                <a:noFill/>
              </a:ln>
              <a:solidFill>
                <a:prstClr val="white"/>
              </a:solidFill>
              <a:effectLst/>
              <a:uLnTx/>
              <a:uFillTx/>
              <a:latin typeface="Arial"/>
              <a:cs typeface="Arial"/>
              <a:sym typeface="Arial"/>
            </a:endParaRPr>
          </a:p>
        </p:txBody>
      </p:sp>
      <p:sp>
        <p:nvSpPr>
          <p:cNvPr id="12" name="TextBox 11">
            <a:extLst>
              <a:ext uri="{FF2B5EF4-FFF2-40B4-BE49-F238E27FC236}">
                <a16:creationId xmlns:a16="http://schemas.microsoft.com/office/drawing/2014/main" id="{2CC6B312-75F5-46DD-359F-B76D89F34923}"/>
              </a:ext>
            </a:extLst>
          </p:cNvPr>
          <p:cNvSpPr txBox="1"/>
          <p:nvPr/>
        </p:nvSpPr>
        <p:spPr>
          <a:xfrm>
            <a:off x="6202458" y="3959620"/>
            <a:ext cx="1841435"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1"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rPr>
              <a:t>Banking 68% · Insurance 60% </a:t>
            </a:r>
            <a:endParaRPr kumimoji="0" lang="en-CA" sz="800" b="1" i="0" u="none" strike="noStrike" kern="0" cap="none" spc="0" normalizeH="0" baseline="0" noProof="0" dirty="0">
              <a:ln>
                <a:noFill/>
              </a:ln>
              <a:solidFill>
                <a:prstClr val="white"/>
              </a:solidFill>
              <a:effectLst/>
              <a:uLnTx/>
              <a:uFillTx/>
              <a:latin typeface="Arial"/>
              <a:cs typeface="Arial"/>
              <a:sym typeface="Arial"/>
            </a:endParaRPr>
          </a:p>
        </p:txBody>
      </p:sp>
      <p:sp>
        <p:nvSpPr>
          <p:cNvPr id="16" name="TextBox 15">
            <a:extLst>
              <a:ext uri="{FF2B5EF4-FFF2-40B4-BE49-F238E27FC236}">
                <a16:creationId xmlns:a16="http://schemas.microsoft.com/office/drawing/2014/main" id="{48BCB576-1AE6-792F-A8B3-5A676062B0A7}"/>
              </a:ext>
            </a:extLst>
          </p:cNvPr>
          <p:cNvSpPr txBox="1"/>
          <p:nvPr/>
        </p:nvSpPr>
        <p:spPr>
          <a:xfrm>
            <a:off x="5326158" y="4112020"/>
            <a:ext cx="1841435"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1"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rPr>
              <a:t>Banking 72% · Insurance 68% </a:t>
            </a:r>
            <a:endParaRPr kumimoji="0" lang="en-CA" sz="800" b="1" i="0" u="none" strike="noStrike" kern="0" cap="none" spc="0" normalizeH="0" baseline="0" noProof="0" dirty="0">
              <a:ln>
                <a:noFill/>
              </a:ln>
              <a:solidFill>
                <a:prstClr val="white"/>
              </a:solidFill>
              <a:effectLst/>
              <a:uLnTx/>
              <a:uFillTx/>
              <a:latin typeface="Arial"/>
              <a:cs typeface="Arial"/>
              <a:sym typeface="Arial"/>
            </a:endParaRPr>
          </a:p>
        </p:txBody>
      </p:sp>
      <p:sp>
        <p:nvSpPr>
          <p:cNvPr id="18" name="TextBox 17">
            <a:extLst>
              <a:ext uri="{FF2B5EF4-FFF2-40B4-BE49-F238E27FC236}">
                <a16:creationId xmlns:a16="http://schemas.microsoft.com/office/drawing/2014/main" id="{3D4041ED-AA2C-B7B0-922C-60A2154AF6D8}"/>
              </a:ext>
            </a:extLst>
          </p:cNvPr>
          <p:cNvSpPr txBox="1"/>
          <p:nvPr/>
        </p:nvSpPr>
        <p:spPr>
          <a:xfrm>
            <a:off x="10102374" y="3959620"/>
            <a:ext cx="1841435"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1" i="0" u="none" strike="noStrike" kern="1200" cap="none" spc="0" normalizeH="0" baseline="0" noProof="0" dirty="0">
                <a:ln>
                  <a:noFill/>
                </a:ln>
                <a:solidFill>
                  <a:prstClr val="white"/>
                </a:solidFill>
                <a:effectLst/>
                <a:uLnTx/>
                <a:uFillTx/>
                <a:latin typeface="Segoe UI" panose="020B0502040204020203" pitchFamily="34" charset="0"/>
                <a:ea typeface="+mn-ea"/>
                <a:cs typeface="Segoe UI" panose="020B0502040204020203" pitchFamily="34" charset="0"/>
                <a:sym typeface="Arial"/>
              </a:rPr>
              <a:t>Banking 61% · Insurance 76% </a:t>
            </a:r>
            <a:endParaRPr kumimoji="0" lang="en-CA" sz="800" b="1" i="0" u="none" strike="noStrike" kern="0" cap="none" spc="0" normalizeH="0" baseline="0" noProof="0" dirty="0">
              <a:ln>
                <a:noFill/>
              </a:ln>
              <a:solidFill>
                <a:prstClr val="white"/>
              </a:solidFill>
              <a:effectLst/>
              <a:uLnTx/>
              <a:uFillTx/>
              <a:latin typeface="Arial"/>
              <a:cs typeface="Arial"/>
              <a:sym typeface="Arial"/>
            </a:endParaRPr>
          </a:p>
        </p:txBody>
      </p:sp>
      <p:grpSp>
        <p:nvGrpSpPr>
          <p:cNvPr id="21" name="Group 20">
            <a:extLst>
              <a:ext uri="{FF2B5EF4-FFF2-40B4-BE49-F238E27FC236}">
                <a16:creationId xmlns:a16="http://schemas.microsoft.com/office/drawing/2014/main" id="{E0DE12D1-6D6B-3E0E-41CE-FD8EC00F69D2}"/>
              </a:ext>
            </a:extLst>
          </p:cNvPr>
          <p:cNvGrpSpPr/>
          <p:nvPr/>
        </p:nvGrpSpPr>
        <p:grpSpPr>
          <a:xfrm>
            <a:off x="249638" y="464705"/>
            <a:ext cx="11521440" cy="585793"/>
            <a:chOff x="249638" y="464705"/>
            <a:chExt cx="11521440" cy="585793"/>
          </a:xfrm>
        </p:grpSpPr>
        <p:sp>
          <p:nvSpPr>
            <p:cNvPr id="22" name="Text 22">
              <a:extLst>
                <a:ext uri="{FF2B5EF4-FFF2-40B4-BE49-F238E27FC236}">
                  <a16:creationId xmlns:a16="http://schemas.microsoft.com/office/drawing/2014/main" id="{660B26CA-2F4B-98B0-506D-013D2DFDA47A}"/>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WHATS COMING NEXT</a:t>
              </a:r>
            </a:p>
          </p:txBody>
        </p:sp>
        <p:sp>
          <p:nvSpPr>
            <p:cNvPr id="23" name="TextBox 22">
              <a:extLst>
                <a:ext uri="{FF2B5EF4-FFF2-40B4-BE49-F238E27FC236}">
                  <a16:creationId xmlns:a16="http://schemas.microsoft.com/office/drawing/2014/main" id="{676B8D1E-5DFC-6C6C-DEAF-F83A771FE297}"/>
                </a:ext>
              </a:extLst>
            </p:cNvPr>
            <p:cNvSpPr txBox="1"/>
            <p:nvPr/>
          </p:nvSpPr>
          <p:spPr>
            <a:xfrm>
              <a:off x="249638" y="711944"/>
              <a:ext cx="11521440" cy="33855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US" sz="2200" b="1" i="0" u="none" strike="noStrike" kern="1200" cap="none" spc="0" normalizeH="0" baseline="0" noProof="0" dirty="0">
                  <a:ln>
                    <a:noFill/>
                  </a:ln>
                  <a:solidFill>
                    <a:srgbClr val="111111"/>
                  </a:solidFill>
                  <a:effectLst/>
                  <a:uLnTx/>
                  <a:uFillTx/>
                  <a:latin typeface="Segoe UI" panose="020B0502040204020203" pitchFamily="34" charset="0"/>
                  <a:cs typeface="Segoe UI" panose="020B0502040204020203" pitchFamily="34" charset="0"/>
                  <a:sym typeface="Arial"/>
                </a:rPr>
                <a:t>Top of mind changes: Customer identity, AI governance, &amp; payment innovation</a:t>
              </a:r>
            </a:p>
          </p:txBody>
        </p:sp>
      </p:grpSp>
      <p:sp>
        <p:nvSpPr>
          <p:cNvPr id="24" name="TextBox 23">
            <a:extLst>
              <a:ext uri="{FF2B5EF4-FFF2-40B4-BE49-F238E27FC236}">
                <a16:creationId xmlns:a16="http://schemas.microsoft.com/office/drawing/2014/main" id="{9540EB17-5DE2-BFA8-EC9E-D88A14C8F494}"/>
              </a:ext>
            </a:extLst>
          </p:cNvPr>
          <p:cNvSpPr txBox="1"/>
          <p:nvPr/>
        </p:nvSpPr>
        <p:spPr>
          <a:xfrm>
            <a:off x="320040" y="1155192"/>
            <a:ext cx="11521440" cy="646331"/>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 typeface="Arial"/>
              <a:buNone/>
              <a:tabLst/>
              <a:defRPr/>
            </a:pPr>
            <a:r>
              <a:rPr kumimoji="0" lang="en-US" sz="1400" b="0" i="0" u="none" strike="noStrike" kern="1200" cap="none" spc="0" normalizeH="0" baseline="0" noProof="0" dirty="0">
                <a:ln>
                  <a:noFill/>
                </a:ln>
                <a:solidFill>
                  <a:srgbClr val="404040"/>
                </a:solidFill>
                <a:effectLst/>
                <a:uLnTx/>
                <a:uFillTx/>
                <a:latin typeface="Segoe UI" panose="020B0502040204020203" pitchFamily="34" charset="0"/>
                <a:cs typeface="Segoe UI" panose="020B0502040204020203" pitchFamily="34" charset="0"/>
                <a:sym typeface="Arial"/>
              </a:rPr>
              <a:t>Respondents were asked which </a:t>
            </a:r>
            <a:r>
              <a:rPr kumimoji="0" lang="en-US" sz="1400" b="1" i="0" u="none" strike="noStrike" kern="1200" cap="none" spc="0" normalizeH="0" baseline="0" noProof="0" dirty="0">
                <a:ln>
                  <a:noFill/>
                </a:ln>
                <a:solidFill>
                  <a:srgbClr val="404040"/>
                </a:solidFill>
                <a:effectLst/>
                <a:uLnTx/>
                <a:uFillTx/>
                <a:latin typeface="Segoe UI" panose="020B0502040204020203" pitchFamily="34" charset="0"/>
                <a:cs typeface="Segoe UI" panose="020B0502040204020203" pitchFamily="34" charset="0"/>
                <a:sym typeface="Arial"/>
              </a:rPr>
              <a:t>upcoming regulatory or market changes will have the greatest impact on their fraud programs</a:t>
            </a:r>
            <a:r>
              <a:rPr kumimoji="0" lang="en-US" sz="1400" b="0" i="0" u="none" strike="noStrike" kern="1200" cap="none" spc="0" normalizeH="0" baseline="0" noProof="0" dirty="0">
                <a:ln>
                  <a:noFill/>
                </a:ln>
                <a:solidFill>
                  <a:srgbClr val="404040"/>
                </a:solidFill>
                <a:effectLst/>
                <a:uLnTx/>
                <a:uFillTx/>
                <a:latin typeface="Segoe UI" panose="020B0502040204020203" pitchFamily="34" charset="0"/>
                <a:cs typeface="Segoe UI" panose="020B0502040204020203" pitchFamily="34" charset="0"/>
                <a:sym typeface="Arial"/>
              </a:rPr>
              <a:t>, respondents converged on three. Together, they point to a fraud landscape being reshaped by how customers are verified, how data and AI are governed, and how fast money moves.</a:t>
            </a:r>
          </a:p>
        </p:txBody>
      </p:sp>
      <p:sp>
        <p:nvSpPr>
          <p:cNvPr id="4" name="Rectangle 3">
            <a:extLst>
              <a:ext uri="{FF2B5EF4-FFF2-40B4-BE49-F238E27FC236}">
                <a16:creationId xmlns:a16="http://schemas.microsoft.com/office/drawing/2014/main" id="{8FF5E665-4951-2A5F-CD48-9273B05E314A}"/>
              </a:ext>
            </a:extLst>
          </p:cNvPr>
          <p:cNvSpPr/>
          <p:nvPr/>
        </p:nvSpPr>
        <p:spPr>
          <a:xfrm>
            <a:off x="208221" y="6680947"/>
            <a:ext cx="2769649" cy="11694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For detailed data please refer to </a:t>
            </a:r>
            <a:r>
              <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hlinkClick r:id="" action="ppaction://noaction"/>
              </a:rPr>
              <a:t>Appendix – E </a:t>
            </a:r>
            <a:endParaRPr kumimoji="0" lang="en-US" sz="8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Tree>
    <p:extLst>
      <p:ext uri="{BB962C8B-B14F-4D97-AF65-F5344CB8AC3E}">
        <p14:creationId xmlns:p14="http://schemas.microsoft.com/office/powerpoint/2010/main" val="41501661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80000"/>
            <a:lum/>
          </a:blip>
          <a:srcRect/>
          <a:stretch>
            <a:fillRect/>
          </a:stretch>
        </a:blipFill>
        <a:effectLst/>
      </p:bgPr>
    </p:bg>
    <p:spTree>
      <p:nvGrpSpPr>
        <p:cNvPr id="1" name="">
          <a:extLst>
            <a:ext uri="{FF2B5EF4-FFF2-40B4-BE49-F238E27FC236}">
              <a16:creationId xmlns:a16="http://schemas.microsoft.com/office/drawing/2014/main" id="{496308F7-D832-EB30-B8B8-FAC27973DC11}"/>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1CCCB8C9-6701-31FE-2275-E7EE13079598}"/>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Appendices</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br>
              <a:rPr kumimoji="0" lang="en-US" sz="2000" b="0"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rPr>
            </a:br>
            <a:endParaRPr kumimoji="0" lang="en-US" sz="2000" b="0"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endParaRPr>
          </a:p>
        </p:txBody>
      </p:sp>
    </p:spTree>
    <p:extLst>
      <p:ext uri="{BB962C8B-B14F-4D97-AF65-F5344CB8AC3E}">
        <p14:creationId xmlns:p14="http://schemas.microsoft.com/office/powerpoint/2010/main" val="35552774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86BC25"/>
        </a:solidFill>
        <a:effectLst/>
      </p:bgPr>
    </p:bg>
    <p:spTree>
      <p:nvGrpSpPr>
        <p:cNvPr id="1" name="">
          <a:extLst>
            <a:ext uri="{FF2B5EF4-FFF2-40B4-BE49-F238E27FC236}">
              <a16:creationId xmlns:a16="http://schemas.microsoft.com/office/drawing/2014/main" id="{2F1FB1E3-2574-F926-6B5E-24A956AAAA4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47B7BB0-E58D-E2A3-05C4-36FEC3AE6EB4}"/>
              </a:ext>
            </a:extLst>
          </p:cNvPr>
          <p:cNvSpPr txBox="1"/>
          <p:nvPr/>
        </p:nvSpPr>
        <p:spPr>
          <a:xfrm>
            <a:off x="502920" y="1699870"/>
            <a:ext cx="10415016" cy="1591970"/>
          </a:xfrm>
          <a:prstGeom prst="rect">
            <a:avLst/>
          </a:prstGeom>
          <a:noFill/>
          <a:ln/>
        </p:spPr>
        <p:txBody>
          <a:bodyPr wrap="square" lIns="0" tIns="0" rIns="0"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Arial"/>
              </a:rPr>
              <a:t>Appendix A. Fielding Data</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3" name="Text 1">
            <a:extLst>
              <a:ext uri="{FF2B5EF4-FFF2-40B4-BE49-F238E27FC236}">
                <a16:creationId xmlns:a16="http://schemas.microsoft.com/office/drawing/2014/main" id="{2C54F71D-587F-EC84-5B99-568F92DAB233}"/>
              </a:ext>
            </a:extLst>
          </p:cNvPr>
          <p:cNvSpPr txBox="1"/>
          <p:nvPr/>
        </p:nvSpPr>
        <p:spPr>
          <a:xfrm>
            <a:off x="502920" y="3423514"/>
            <a:ext cx="10415016" cy="1563624"/>
          </a:xfrm>
          <a:prstGeom prst="rect">
            <a:avLst/>
          </a:prstGeom>
          <a:noFill/>
          <a:ln/>
        </p:spPr>
        <p:txBody>
          <a:bodyPr wrap="square" lIns="0" tIns="0" rIns="0" bIns="0" rtlCol="0" anchor="t"/>
          <a:lstStyle/>
          <a:p>
            <a:pPr marL="0" marR="0" lvl="0" indent="0" algn="l" defTabSz="914400" rtl="0" eaLnBrk="1" fontAlgn="auto" latinLnBrk="0" hangingPunct="1">
              <a:lnSpc>
                <a:spcPct val="11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30469356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Methodology &amp; Respondent Profile</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5" name="Shape 3"/>
          <p:cNvSpPr/>
          <p:nvPr/>
        </p:nvSpPr>
        <p:spPr>
          <a:xfrm>
            <a:off x="502006" y="1528064"/>
            <a:ext cx="2514600" cy="914400"/>
          </a:xfrm>
          <a:prstGeom prst="rect">
            <a:avLst/>
          </a:prstGeom>
          <a:solidFill>
            <a:srgbClr val="F2F2F2"/>
          </a:solid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6" name="Text 4"/>
          <p:cNvSpPr txBox="1"/>
          <p:nvPr/>
        </p:nvSpPr>
        <p:spPr>
          <a:xfrm>
            <a:off x="502006" y="1619504"/>
            <a:ext cx="2514600"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46A38"/>
                </a:solidFill>
                <a:effectLst/>
                <a:uLnTx/>
                <a:uFillTx/>
                <a:latin typeface="Calibri" pitchFamily="34" charset="0"/>
                <a:ea typeface="Calibri" pitchFamily="34" charset="-122"/>
                <a:cs typeface="Calibri" pitchFamily="34" charset="-120"/>
                <a:sym typeface="Arial"/>
              </a:rPr>
              <a:t>100</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7" name="Text 5"/>
          <p:cNvSpPr txBox="1"/>
          <p:nvPr/>
        </p:nvSpPr>
        <p:spPr>
          <a:xfrm>
            <a:off x="502006" y="2058416"/>
            <a:ext cx="2514600" cy="329184"/>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Qualified respondents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8" name="Shape 6"/>
          <p:cNvSpPr/>
          <p:nvPr/>
        </p:nvSpPr>
        <p:spPr>
          <a:xfrm>
            <a:off x="3336646" y="1528064"/>
            <a:ext cx="2514600" cy="914400"/>
          </a:xfrm>
          <a:prstGeom prst="rect">
            <a:avLst/>
          </a:prstGeom>
          <a:solidFill>
            <a:srgbClr val="F2F2F2"/>
          </a:solid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9" name="Text 7"/>
          <p:cNvSpPr txBox="1"/>
          <p:nvPr/>
        </p:nvSpPr>
        <p:spPr>
          <a:xfrm>
            <a:off x="3336646" y="1619504"/>
            <a:ext cx="2514600"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46A38"/>
                </a:solidFill>
                <a:effectLst/>
                <a:uLnTx/>
                <a:uFillTx/>
                <a:latin typeface="Calibri" pitchFamily="34" charset="0"/>
                <a:ea typeface="Calibri" pitchFamily="34" charset="-122"/>
                <a:cs typeface="Calibri" pitchFamily="34" charset="-120"/>
                <a:sym typeface="Arial"/>
              </a:rPr>
              <a:t>75 / 25</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10" name="Text 8"/>
          <p:cNvSpPr txBox="1"/>
          <p:nvPr/>
        </p:nvSpPr>
        <p:spPr>
          <a:xfrm>
            <a:off x="3336646" y="2058416"/>
            <a:ext cx="2514600" cy="329184"/>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 Banking / Insurance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11" name="Shape 9"/>
          <p:cNvSpPr/>
          <p:nvPr/>
        </p:nvSpPr>
        <p:spPr>
          <a:xfrm>
            <a:off x="6171286" y="1528064"/>
            <a:ext cx="2514600" cy="914400"/>
          </a:xfrm>
          <a:prstGeom prst="rect">
            <a:avLst/>
          </a:prstGeom>
          <a:solidFill>
            <a:srgbClr val="F2F2F2"/>
          </a:solid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12" name="Text 10"/>
          <p:cNvSpPr txBox="1"/>
          <p:nvPr/>
        </p:nvSpPr>
        <p:spPr>
          <a:xfrm>
            <a:off x="6171286" y="1619504"/>
            <a:ext cx="2514600"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46A38"/>
                </a:solidFill>
                <a:effectLst/>
                <a:uLnTx/>
                <a:uFillTx/>
                <a:latin typeface="Calibri" pitchFamily="34" charset="0"/>
                <a:ea typeface="Calibri" pitchFamily="34" charset="-122"/>
                <a:cs typeface="Calibri" pitchFamily="34" charset="-120"/>
                <a:sym typeface="Arial"/>
              </a:rPr>
              <a:t>76%</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13" name="Text 11"/>
          <p:cNvSpPr txBox="1"/>
          <p:nvPr/>
        </p:nvSpPr>
        <p:spPr>
          <a:xfrm>
            <a:off x="6171286" y="2058416"/>
            <a:ext cx="2514600" cy="329184"/>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Director-level or above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14" name="Shape 12"/>
          <p:cNvSpPr/>
          <p:nvPr/>
        </p:nvSpPr>
        <p:spPr>
          <a:xfrm>
            <a:off x="9005926" y="1528064"/>
            <a:ext cx="2514600" cy="914400"/>
          </a:xfrm>
          <a:prstGeom prst="rect">
            <a:avLst/>
          </a:prstGeom>
          <a:solidFill>
            <a:srgbClr val="F2F2F2"/>
          </a:solid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15" name="Text 13"/>
          <p:cNvSpPr txBox="1"/>
          <p:nvPr/>
        </p:nvSpPr>
        <p:spPr>
          <a:xfrm>
            <a:off x="9005926" y="1619504"/>
            <a:ext cx="2514600"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46A38"/>
                </a:solidFill>
                <a:effectLst/>
                <a:uLnTx/>
                <a:uFillTx/>
                <a:latin typeface="Calibri" pitchFamily="34" charset="0"/>
                <a:ea typeface="Calibri" pitchFamily="34" charset="-122"/>
                <a:cs typeface="Calibri" pitchFamily="34" charset="-120"/>
                <a:sym typeface="Arial"/>
              </a:rPr>
              <a:t>100%</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16" name="Text 14"/>
          <p:cNvSpPr txBox="1"/>
          <p:nvPr/>
        </p:nvSpPr>
        <p:spPr>
          <a:xfrm>
            <a:off x="9005926" y="2058416"/>
            <a:ext cx="2514600" cy="329184"/>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Answered the open-end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17" name="Text 15"/>
          <p:cNvSpPr txBox="1"/>
          <p:nvPr/>
        </p:nvSpPr>
        <p:spPr>
          <a:xfrm>
            <a:off x="502006" y="2497328"/>
            <a:ext cx="5486400" cy="29260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46A38"/>
                </a:solidFill>
                <a:effectLst/>
                <a:uLnTx/>
                <a:uFillTx/>
                <a:latin typeface="IBM Plex Mono" pitchFamily="34" charset="0"/>
                <a:ea typeface="IBM Plex Mono" pitchFamily="34" charset="-122"/>
                <a:cs typeface="IBM Plex Mono" pitchFamily="34" charset="-120"/>
                <a:sym typeface="Arial"/>
              </a:rPr>
              <a:t>S6  </a:t>
            </a:r>
            <a:r>
              <a:rPr kumimoji="0" lang="en-US" sz="950" b="0" i="1" u="none" strike="noStrike" kern="1200" cap="none" spc="0" normalizeH="0" baseline="0" noProof="0" dirty="0">
                <a:ln>
                  <a:noFill/>
                </a:ln>
                <a:solidFill>
                  <a:srgbClr val="575757"/>
                </a:solidFill>
                <a:effectLst/>
                <a:uLnTx/>
                <a:uFillTx/>
                <a:latin typeface="Calibri" pitchFamily="34" charset="0"/>
                <a:ea typeface="Calibri" pitchFamily="34" charset="-122"/>
                <a:cs typeface="Calibri" pitchFamily="34" charset="-120"/>
                <a:sym typeface="Arial"/>
              </a:rPr>
              <a:t>“Which market best describes your primary area of responsibility for fraud risk management?”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18" name="Chart 0" descr="Chart"/>
          <p:cNvGraphicFramePr/>
          <p:nvPr/>
        </p:nvGraphicFramePr>
        <p:xfrm>
          <a:off x="502006" y="2808224"/>
          <a:ext cx="5486400" cy="2880360"/>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 16"/>
          <p:cNvSpPr txBox="1"/>
          <p:nvPr/>
        </p:nvSpPr>
        <p:spPr>
          <a:xfrm>
            <a:off x="6172200" y="2497328"/>
            <a:ext cx="5486400" cy="29260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46A38"/>
                </a:solidFill>
                <a:effectLst/>
                <a:uLnTx/>
                <a:uFillTx/>
                <a:latin typeface="IBM Plex Mono" pitchFamily="34" charset="0"/>
                <a:ea typeface="IBM Plex Mono" pitchFamily="34" charset="-122"/>
                <a:cs typeface="IBM Plex Mono" pitchFamily="34" charset="-120"/>
                <a:sym typeface="Arial"/>
              </a:rPr>
              <a:t>S4  </a:t>
            </a:r>
            <a:r>
              <a:rPr kumimoji="0" lang="en-US" sz="950" b="0" i="1" u="none" strike="noStrike" kern="1200" cap="none" spc="0" normalizeH="0" baseline="0" noProof="0" dirty="0">
                <a:ln>
                  <a:noFill/>
                </a:ln>
                <a:solidFill>
                  <a:srgbClr val="575757"/>
                </a:solidFill>
                <a:effectLst/>
                <a:uLnTx/>
                <a:uFillTx/>
                <a:latin typeface="Calibri" pitchFamily="34" charset="0"/>
                <a:ea typeface="Calibri" pitchFamily="34" charset="-122"/>
                <a:cs typeface="Calibri" pitchFamily="34" charset="-120"/>
                <a:sym typeface="Arial"/>
              </a:rPr>
              <a:t>“Which of the following best describes your department within your organization?”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20" name="Chart 1" descr="Chart"/>
          <p:cNvGraphicFramePr/>
          <p:nvPr/>
        </p:nvGraphicFramePr>
        <p:xfrm>
          <a:off x="6172200" y="2808224"/>
          <a:ext cx="5486400" cy="2880360"/>
        </p:xfrm>
        <a:graphic>
          <a:graphicData uri="http://schemas.openxmlformats.org/drawingml/2006/chart">
            <c:chart xmlns:c="http://schemas.openxmlformats.org/drawingml/2006/chart" xmlns:r="http://schemas.openxmlformats.org/officeDocument/2006/relationships" r:id="rId4"/>
          </a:graphicData>
        </a:graphic>
      </p:graphicFrame>
      <p:sp>
        <p:nvSpPr>
          <p:cNvPr id="4" name="Shape 3">
            <a:extLst>
              <a:ext uri="{FF2B5EF4-FFF2-40B4-BE49-F238E27FC236}">
                <a16:creationId xmlns:a16="http://schemas.microsoft.com/office/drawing/2014/main" id="{D03FC8D7-E945-DC2A-8892-0B249FDAA328}"/>
              </a:ext>
            </a:extLst>
          </p:cNvPr>
          <p:cNvSpPr/>
          <p:nvPr/>
        </p:nvSpPr>
        <p:spPr>
          <a:xfrm>
            <a:off x="501396" y="814832"/>
            <a:ext cx="11019130" cy="658368"/>
          </a:xfrm>
          <a:prstGeom prst="rect">
            <a:avLst/>
          </a:prstGeom>
          <a:solidFill>
            <a:srgbClr val="F2F2F2"/>
          </a:solid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000000"/>
              </a:solidFill>
              <a:effectLst/>
              <a:uLnTx/>
              <a:uFillTx/>
              <a:latin typeface="Arial"/>
              <a:cs typeface="Arial"/>
              <a:sym typeface="Arial"/>
            </a:endParaRPr>
          </a:p>
        </p:txBody>
      </p:sp>
      <p:sp>
        <p:nvSpPr>
          <p:cNvPr id="22" name="Text 4">
            <a:extLst>
              <a:ext uri="{FF2B5EF4-FFF2-40B4-BE49-F238E27FC236}">
                <a16:creationId xmlns:a16="http://schemas.microsoft.com/office/drawing/2014/main" id="{5310611D-DC3E-9A70-ACAB-8260D3C2E895}"/>
              </a:ext>
            </a:extLst>
          </p:cNvPr>
          <p:cNvSpPr txBox="1"/>
          <p:nvPr/>
        </p:nvSpPr>
        <p:spPr>
          <a:xfrm>
            <a:off x="501396" y="835764"/>
            <a:ext cx="11019130" cy="316017"/>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46A38"/>
                </a:solidFill>
                <a:effectLst/>
                <a:uLnTx/>
                <a:uFillTx/>
                <a:latin typeface="Calibri" pitchFamily="34" charset="0"/>
                <a:ea typeface="Calibri" pitchFamily="34" charset="-122"/>
                <a:cs typeface="Calibri" pitchFamily="34" charset="-120"/>
                <a:sym typeface="Arial"/>
              </a:rPr>
              <a:t>922</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24" name="Text 5">
            <a:extLst>
              <a:ext uri="{FF2B5EF4-FFF2-40B4-BE49-F238E27FC236}">
                <a16:creationId xmlns:a16="http://schemas.microsoft.com/office/drawing/2014/main" id="{9BCECA04-C378-4F10-0FEB-D54234AC6BFC}"/>
              </a:ext>
            </a:extLst>
          </p:cNvPr>
          <p:cNvSpPr txBox="1"/>
          <p:nvPr/>
        </p:nvSpPr>
        <p:spPr>
          <a:xfrm>
            <a:off x="501396" y="1181324"/>
            <a:ext cx="11019130" cy="2370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Total respondents</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Banking Respondent Profile — Institution Tier and Geography</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502006" y="1965960"/>
            <a:ext cx="5486400" cy="25603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Institution Tier (n=75)</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6" name="Chart 0"/>
          <p:cNvGraphicFramePr/>
          <p:nvPr/>
        </p:nvGraphicFramePr>
        <p:xfrm>
          <a:off x="502006" y="2267712"/>
          <a:ext cx="54864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Geography (n=75)</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8" name="Chart 1"/>
          <p:cNvGraphicFramePr/>
          <p:nvPr/>
        </p:nvGraphicFramePr>
        <p:xfrm>
          <a:off x="6172200" y="2267712"/>
          <a:ext cx="54864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10" name="Text 6"/>
          <p:cNvSpPr txBox="1"/>
          <p:nvPr/>
        </p:nvSpPr>
        <p:spPr>
          <a:xfrm>
            <a:off x="502006" y="5193792"/>
            <a:ext cx="11188598" cy="548640"/>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n=75. </a:t>
            </a:r>
            <a:r>
              <a:rPr kumimoji="0" lang="en-US" sz="850" b="0"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Banking — Geography by Institution Tier</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5" name="Chart 0"/>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7" name="Text 4"/>
          <p:cNvSpPr txBox="1"/>
          <p:nvPr/>
        </p:nvSpPr>
        <p:spPr>
          <a:xfrm>
            <a:off x="502006" y="5276088"/>
            <a:ext cx="11188598" cy="685800"/>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n=75. </a:t>
            </a:r>
            <a:r>
              <a:rPr kumimoji="0" lang="en-US" sz="850" b="0"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Insurance Respondent Profile — Institution Tier and Geography</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502006" y="1965960"/>
            <a:ext cx="5486400" cy="25603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Institution Tier (n=25)</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6" name="Chart 0"/>
          <p:cNvGraphicFramePr/>
          <p:nvPr/>
        </p:nvGraphicFramePr>
        <p:xfrm>
          <a:off x="502006" y="2267712"/>
          <a:ext cx="54864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Geography (n=25)</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8" name="Chart 1"/>
          <p:cNvGraphicFramePr/>
          <p:nvPr/>
        </p:nvGraphicFramePr>
        <p:xfrm>
          <a:off x="6172200" y="2267712"/>
          <a:ext cx="54864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10" name="Text 6"/>
          <p:cNvSpPr txBox="1"/>
          <p:nvPr/>
        </p:nvSpPr>
        <p:spPr>
          <a:xfrm>
            <a:off x="502006" y="5193792"/>
            <a:ext cx="11188598" cy="658368"/>
          </a:xfrm>
          <a:prstGeom prst="rect">
            <a:avLst/>
          </a:prstGeom>
          <a:noFill/>
          <a:ln/>
        </p:spPr>
        <p:txBody>
          <a:bodyPr wrap="square" lIns="0" tIns="0" rIns="0" bIns="0" rtlCol="0" anchor="t"/>
          <a:lstStyle/>
          <a:p>
            <a:pPr marL="0" marR="0" lvl="0" indent="0" algn="l" defTabSz="914400" rtl="0" eaLnBrk="1" fontAlgn="auto" latinLnBrk="0" hangingPunct="1">
              <a:lnSpc>
                <a:spcPct val="112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n=25. </a:t>
            </a:r>
            <a:r>
              <a:rPr kumimoji="0" lang="en-US" sz="850" b="0"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Insurance — Geography by Institution Tier</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5" name="Chart 0"/>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7" name="Text 4"/>
          <p:cNvSpPr txBox="1"/>
          <p:nvPr/>
        </p:nvSpPr>
        <p:spPr>
          <a:xfrm>
            <a:off x="502006" y="5276088"/>
            <a:ext cx="11188598" cy="685800"/>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n=25. </a:t>
            </a:r>
            <a:r>
              <a:rPr kumimoji="0" lang="en-US" sz="850" b="0"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86BC25"/>
        </a:solidFill>
        <a:effectLst/>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3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Arial"/>
              </a:rPr>
              <a:t>Appendix B. Deepfake &amp; Emerging AI Risk</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Arial"/>
              </a:rPr>
              <a:t>Where AI-driven fraud vulnerability is concentrated, and what's standing in the way of managing it.</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Greatest Increase in AI/Deepfake Vulnerability</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46A38"/>
                </a:solidFill>
                <a:effectLst/>
                <a:uLnTx/>
                <a:uFillTx/>
                <a:latin typeface="IBM Plex Mono" pitchFamily="34" charset="0"/>
                <a:ea typeface="IBM Plex Mono" pitchFamily="34" charset="-122"/>
                <a:cs typeface="IBM Plex Mono" pitchFamily="34" charset="-120"/>
                <a:sym typeface="Arial"/>
              </a:rPr>
              <a:t>Q2  </a:t>
            </a:r>
            <a:r>
              <a:rPr kumimoji="0" lang="en-US" sz="1000" b="0" i="1" u="none" strike="noStrike" kern="1200" cap="none" spc="0" normalizeH="0" baseline="0" noProof="0" dirty="0">
                <a:ln>
                  <a:noFill/>
                </a:ln>
                <a:solidFill>
                  <a:srgbClr val="575757"/>
                </a:solidFill>
                <a:effectLst/>
                <a:uLnTx/>
                <a:uFillTx/>
                <a:latin typeface="Calibri" pitchFamily="34" charset="0"/>
                <a:ea typeface="Calibri" pitchFamily="34" charset="-122"/>
                <a:cs typeface="Calibri" pitchFamily="34" charset="-120"/>
                <a:sym typeface="Arial"/>
              </a:rPr>
              <a:t>“Which area of your organization has experienced the greatest increase in vulnerability to fraud enabled by deepfakes and other advanced or frontier AI capabilities over the past 12 months?”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7" name="Chart 0" descr="Chart"/>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Ranked top 3 — shown as % of respondents who placed the option anywhere in their top 3 (not mutually exclusive; bars don't sum to 100%).  Response options as fielded: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“Contact center / phone-based authentication”</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“Digital onboarding, KYC, and identity verification”</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“Claims, underwriting, lending, or application review”</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“Payment, wire, or transaction approvals”</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“Video meetings and remote advisory interactions”</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“Executive, employee, broker, or advisor impersonation”</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Where the Risk Concentrates — By Sector</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46A38"/>
                </a:solidFill>
                <a:effectLst/>
                <a:uLnTx/>
                <a:uFillTx/>
                <a:latin typeface="IBM Plex Mono" pitchFamily="34" charset="0"/>
                <a:ea typeface="IBM Plex Mono" pitchFamily="34" charset="-122"/>
                <a:cs typeface="IBM Plex Mono" pitchFamily="34" charset="-120"/>
                <a:sym typeface="Arial"/>
              </a:rPr>
              <a:t>Q2  </a:t>
            </a:r>
            <a:r>
              <a:rPr kumimoji="0" lang="en-US" sz="1000" b="0" i="1" u="none" strike="noStrike" kern="1200" cap="none" spc="0" normalizeH="0" baseline="0" noProof="0" dirty="0">
                <a:ln>
                  <a:noFill/>
                </a:ln>
                <a:solidFill>
                  <a:srgbClr val="575757"/>
                </a:solidFill>
                <a:effectLst/>
                <a:uLnTx/>
                <a:uFillTx/>
                <a:latin typeface="Calibri" pitchFamily="34" charset="0"/>
                <a:ea typeface="Calibri" pitchFamily="34" charset="-122"/>
                <a:cs typeface="Calibri" pitchFamily="34" charset="-120"/>
                <a:sym typeface="Arial"/>
              </a:rPr>
              <a:t>“Which area of your organization has experienced the greatest increase in vulnerability to fraud enabled by deepfakes and other advanced or frontier AI capabilities over the past 12 months? (Banking vs. Insurance, % selecting in top 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7" name="Text 5"/>
          <p:cNvSpPr txBox="1"/>
          <p:nvPr/>
        </p:nvSpPr>
        <p:spPr>
          <a:xfrm>
            <a:off x="502006" y="1965960"/>
            <a:ext cx="5486400" cy="25603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Banking (n=75) — ranked</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8" name="Chart 0" descr="Chart"/>
          <p:cNvGraphicFramePr/>
          <p:nvPr/>
        </p:nvGraphicFramePr>
        <p:xfrm>
          <a:off x="502006" y="2267712"/>
          <a:ext cx="54864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Insurance (n=25) — ranked</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10" name="Chart 1" descr="Chart"/>
          <p:cNvGraphicFramePr/>
          <p:nvPr/>
        </p:nvGraphicFramePr>
        <p:xfrm>
          <a:off x="6172200" y="2267712"/>
          <a:ext cx="54864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12" name="Text 8"/>
          <p:cNvSpPr txBox="1"/>
          <p:nvPr/>
        </p:nvSpPr>
        <p:spPr>
          <a:xfrm>
            <a:off x="639166" y="5166360"/>
            <a:ext cx="10914278" cy="502920"/>
          </a:xfrm>
          <a:prstGeom prst="rect">
            <a:avLst/>
          </a:prstGeom>
          <a:noFill/>
          <a:ln/>
        </p:spPr>
        <p:txBody>
          <a:bodyPr wrap="square" rtlCol="0" anchor="ctr"/>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Key Obstacles to Managing AI-Driven Fraud Risk</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46A38"/>
                </a:solidFill>
                <a:effectLst/>
                <a:uLnTx/>
                <a:uFillTx/>
                <a:latin typeface="IBM Plex Mono" pitchFamily="34" charset="0"/>
                <a:ea typeface="IBM Plex Mono" pitchFamily="34" charset="-122"/>
                <a:cs typeface="IBM Plex Mono" pitchFamily="34" charset="-120"/>
                <a:sym typeface="Arial"/>
              </a:rPr>
              <a:t>Q3  </a:t>
            </a:r>
            <a:r>
              <a:rPr kumimoji="0" lang="en-US" sz="1000" b="0" i="1" u="none" strike="noStrike" kern="1200" cap="none" spc="0" normalizeH="0" baseline="0" noProof="0" dirty="0">
                <a:ln>
                  <a:noFill/>
                </a:ln>
                <a:solidFill>
                  <a:srgbClr val="575757"/>
                </a:solidFill>
                <a:effectLst/>
                <a:uLnTx/>
                <a:uFillTx/>
                <a:latin typeface="Calibri" pitchFamily="34" charset="0"/>
                <a:ea typeface="Calibri" pitchFamily="34" charset="-122"/>
                <a:cs typeface="Calibri" pitchFamily="34" charset="-120"/>
                <a:sym typeface="Arial"/>
              </a:rPr>
              <a:t>“What are the key obstacles to managing fraud risks created or amplified by advanced and frontier AI capabilities (e.g., deepfakes, synthetic identities, AI-enabled impersonation, and autonomous AI agents)?”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7" name="Chart 0" descr="Chart"/>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Select all that apply — bars do not sum to 100%.  Response options as fielded: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“Insufficient identity verification or prevention capabilities in the existing environment”</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“Lack of fraud detection technology in the existing environment”</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“Limited or no available 3rd party fraud intelligence and/or consortium information”</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“Limited staff awareness and training on deepfake-related fraud risk”</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Obstacles to Managing AI-Driven Fraud Risk — By Sector</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46A38"/>
                </a:solidFill>
                <a:effectLst/>
                <a:uLnTx/>
                <a:uFillTx/>
                <a:latin typeface="IBM Plex Mono" pitchFamily="34" charset="0"/>
                <a:ea typeface="IBM Plex Mono" pitchFamily="34" charset="-122"/>
                <a:cs typeface="IBM Plex Mono" pitchFamily="34" charset="-120"/>
                <a:sym typeface="Arial"/>
              </a:rPr>
              <a:t>Q3  </a:t>
            </a:r>
            <a:r>
              <a:rPr kumimoji="0" lang="en-US" sz="1000" b="0" i="1" u="none" strike="noStrike" kern="1200" cap="none" spc="0" normalizeH="0" baseline="0" noProof="0" dirty="0">
                <a:ln>
                  <a:noFill/>
                </a:ln>
                <a:solidFill>
                  <a:srgbClr val="575757"/>
                </a:solidFill>
                <a:effectLst/>
                <a:uLnTx/>
                <a:uFillTx/>
                <a:latin typeface="Calibri" pitchFamily="34" charset="0"/>
                <a:ea typeface="Calibri" pitchFamily="34" charset="-122"/>
                <a:cs typeface="Calibri" pitchFamily="34" charset="-120"/>
                <a:sym typeface="Arial"/>
              </a:rPr>
              <a:t>“What are the key obstacles to managing fraud risks created or amplified by advanced and frontier AI capabilities? (Banking vs. Insurance)”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7" name="Chart 0" descr="Chart"/>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Select all that apply — bars do not sum to 100%.  Response options as fielded: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“Insufficient identity verification or prevention capabilities in the existing environment”</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“Lack of fraud detection technology in the existing environment”</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“Limited or no available 3rd party fraud intelligence and/or consortium information”</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“Limited staff awareness and training on deepfake-related fraud risk”</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86BC25"/>
        </a:solidFill>
        <a:effectLst/>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3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Arial"/>
              </a:rPr>
              <a:t>Appendix C. Fraud Information Sharing</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Arial"/>
              </a:rPr>
              <a:t>What's blocking industry-wide information sharing, and what leaders want government to do about it.</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Biggest Barriers to Effective Information Sharing</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46A38"/>
                </a:solidFill>
                <a:effectLst/>
                <a:uLnTx/>
                <a:uFillTx/>
                <a:latin typeface="IBM Plex Mono" pitchFamily="34" charset="0"/>
                <a:ea typeface="IBM Plex Mono" pitchFamily="34" charset="-122"/>
                <a:cs typeface="IBM Plex Mono" pitchFamily="34" charset="-120"/>
                <a:sym typeface="Arial"/>
              </a:rPr>
              <a:t>Q5  </a:t>
            </a:r>
            <a:r>
              <a:rPr kumimoji="0" lang="en-US" sz="1000" b="0" i="1" u="none" strike="noStrike" kern="1200" cap="none" spc="0" normalizeH="0" baseline="0" noProof="0" dirty="0">
                <a:ln>
                  <a:noFill/>
                </a:ln>
                <a:solidFill>
                  <a:srgbClr val="575757"/>
                </a:solidFill>
                <a:effectLst/>
                <a:uLnTx/>
                <a:uFillTx/>
                <a:latin typeface="Calibri" pitchFamily="34" charset="0"/>
                <a:ea typeface="Calibri" pitchFamily="34" charset="-122"/>
                <a:cs typeface="Calibri" pitchFamily="34" charset="-120"/>
                <a:sym typeface="Arial"/>
              </a:rPr>
              <a:t>“What are the biggest barriers to enable effective fraud information sharing?”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7" name="Chart 0"/>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Ranked top 3 — shown as % of respondents who placed the option anywhere in their top 3 (not mutually exclusive; bars don't sum to 100%).  Response options as fielded: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“Legal, privacy, or regulatory constraints”</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“Limited data standardization, poor quality, and different definitions”</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“Insufficient budget or resource investment”</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“Lack of external industry participation or collaboration”</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“Unclear internal ownership or governance”</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“Difficulty demonstrating ROI or business value”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Biggest Barriers to Effective Information Sharing — By Region</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46A38"/>
                </a:solidFill>
                <a:effectLst/>
                <a:uLnTx/>
                <a:uFillTx/>
                <a:latin typeface="IBM Plex Mono" pitchFamily="34" charset="0"/>
                <a:ea typeface="IBM Plex Mono" pitchFamily="34" charset="-122"/>
                <a:cs typeface="IBM Plex Mono" pitchFamily="34" charset="-120"/>
                <a:sym typeface="Arial"/>
              </a:rPr>
              <a:t>Q5  </a:t>
            </a:r>
            <a:r>
              <a:rPr kumimoji="0" lang="en-US" sz="1000" b="0" i="1" u="none" strike="noStrike" kern="1200" cap="none" spc="0" normalizeH="0" baseline="0" noProof="0" dirty="0">
                <a:ln>
                  <a:noFill/>
                </a:ln>
                <a:solidFill>
                  <a:srgbClr val="575757"/>
                </a:solidFill>
                <a:effectLst/>
                <a:uLnTx/>
                <a:uFillTx/>
                <a:latin typeface="Calibri" pitchFamily="34" charset="0"/>
                <a:ea typeface="Calibri" pitchFamily="34" charset="-122"/>
                <a:cs typeface="Calibri" pitchFamily="34" charset="-120"/>
                <a:sym typeface="Arial"/>
              </a:rPr>
              <a:t>“What are the biggest barriers to enable effective fraud information sharing? (by region, all respondents)”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United States (n=44)</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8" name="Chart 0" descr="Chart"/>
          <p:cNvGraphicFramePr/>
          <p:nvPr/>
        </p:nvGraphicFramePr>
        <p:xfrm>
          <a:off x="502006" y="2157984"/>
          <a:ext cx="3595421" cy="1490472"/>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Canada (n=30)</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10" name="Chart 1" descr="Chart"/>
          <p:cNvGraphicFramePr/>
          <p:nvPr/>
        </p:nvGraphicFramePr>
        <p:xfrm>
          <a:off x="4298594" y="2157984"/>
          <a:ext cx="3595421" cy="1490472"/>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Europe (EU + UK) (n=14)</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12" name="Chart 2" descr="Chart"/>
          <p:cNvGraphicFramePr/>
          <p:nvPr/>
        </p:nvGraphicFramePr>
        <p:xfrm>
          <a:off x="8095183" y="2157984"/>
          <a:ext cx="3595421" cy="1490472"/>
        </p:xfrm>
        <a:graphic>
          <a:graphicData uri="http://schemas.openxmlformats.org/drawingml/2006/chart">
            <c:chart xmlns:c="http://schemas.openxmlformats.org/drawingml/2006/chart" xmlns:r="http://schemas.openxmlformats.org/officeDocument/2006/relationships" r:id="rId5"/>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Australia (n=8)</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14" name="Chart 3" descr="Chart"/>
          <p:cNvGraphicFramePr/>
          <p:nvPr/>
        </p:nvGraphicFramePr>
        <p:xfrm>
          <a:off x="502006" y="4087368"/>
          <a:ext cx="3595421" cy="1490472"/>
        </p:xfrm>
        <a:graphic>
          <a:graphicData uri="http://schemas.openxmlformats.org/drawingml/2006/chart">
            <c:chart xmlns:c="http://schemas.openxmlformats.org/drawingml/2006/chart" xmlns:r="http://schemas.openxmlformats.org/officeDocument/2006/relationships" r:id="rId6"/>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Singapore (n=4)</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16" name="Chart 4" descr="Chart"/>
          <p:cNvGraphicFramePr/>
          <p:nvPr/>
        </p:nvGraphicFramePr>
        <p:xfrm>
          <a:off x="4298594" y="4087368"/>
          <a:ext cx="3595421" cy="1490472"/>
        </p:xfrm>
        <a:graphic>
          <a:graphicData uri="http://schemas.openxmlformats.org/drawingml/2006/chart">
            <c:chart xmlns:c="http://schemas.openxmlformats.org/drawingml/2006/chart" xmlns:r="http://schemas.openxmlformats.org/officeDocument/2006/relationships" r:id="rId7"/>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18" name="Text 11"/>
          <p:cNvSpPr txBox="1"/>
          <p:nvPr/>
        </p:nvSpPr>
        <p:spPr>
          <a:xfrm>
            <a:off x="502006" y="5724144"/>
            <a:ext cx="11188598" cy="329184"/>
          </a:xfrm>
          <a:prstGeom prst="rect">
            <a:avLst/>
          </a:prstGeom>
          <a:noFill/>
          <a:ln/>
        </p:spPr>
        <p:txBody>
          <a:bodyPr wrap="square" lIns="0" tIns="0" rIns="0" bIns="0" rtlCol="0" anchor="t"/>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Ranked top 3 — figures don't sum to 100%. </a:t>
            </a:r>
            <a:r>
              <a:rPr kumimoji="0" lang="en-US" sz="850" b="0"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Region sample sizes: US n=44, Canada n=30, Europe n=14, Australia n=8, Singapore n=4. Australia and Singapore are thin samples and should be read directionally, not precisely.</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Response options as fielded: </a:t>
            </a:r>
            <a:r>
              <a:rPr kumimoji="0" lang="en-US" sz="7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sym typeface="Arial"/>
              </a:rPr>
              <a:t>Government Action With the Greatest Impact on Info Sharing</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46A38"/>
                </a:solidFill>
                <a:effectLst/>
                <a:uLnTx/>
                <a:uFillTx/>
                <a:latin typeface="IBM Plex Mono" pitchFamily="34" charset="0"/>
                <a:ea typeface="IBM Plex Mono" pitchFamily="34" charset="-122"/>
                <a:cs typeface="IBM Plex Mono" pitchFamily="34" charset="-120"/>
                <a:sym typeface="Arial"/>
              </a:rPr>
              <a:t>Q4  </a:t>
            </a:r>
            <a:r>
              <a:rPr kumimoji="0" lang="en-US" sz="1000" b="0" i="1" u="none" strike="noStrike" kern="1200" cap="none" spc="0" normalizeH="0" baseline="0" noProof="0" dirty="0">
                <a:ln>
                  <a:noFill/>
                </a:ln>
                <a:solidFill>
                  <a:srgbClr val="575757"/>
                </a:solidFill>
                <a:effectLst/>
                <a:uLnTx/>
                <a:uFillTx/>
                <a:latin typeface="Calibri" pitchFamily="34" charset="0"/>
                <a:ea typeface="Calibri" pitchFamily="34" charset="-122"/>
                <a:cs typeface="Calibri" pitchFamily="34" charset="-120"/>
                <a:sym typeface="Arial"/>
              </a:rPr>
              <a:t>“What government action would have or has had the greatest impact on enabling more effective fraud information sharing?”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graphicFrame>
        <p:nvGraphicFramePr>
          <p:cNvPr id="7" name="Chart 0" descr="Chart"/>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Single select.  Response options as fielded: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“Establish clearer legal and regulatory frameworks for information sharing”</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“Develop common data standards and definitions”</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“Create a centralized fraud information-sharing platform or utility”</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“Facilitate greater public-private collaboration and coordination”</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“Provide funding or incentives to support participation”</a:t>
            </a:r>
            <a:r>
              <a:rPr kumimoji="0" lang="en-US" sz="850" b="0" i="0" u="none" strike="noStrike" kern="1200" cap="none" spc="0" normalizeH="0" baseline="0" noProof="0" dirty="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dirty="0">
                <a:ln>
                  <a:noFill/>
                </a:ln>
                <a:solidFill>
                  <a:srgbClr val="53565A"/>
                </a:solidFill>
                <a:effectLst/>
                <a:uLnTx/>
                <a:uFillTx/>
                <a:latin typeface="Calibri" pitchFamily="34" charset="0"/>
                <a:ea typeface="Calibri" pitchFamily="34" charset="-122"/>
                <a:cs typeface="Calibri" pitchFamily="34" charset="-120"/>
                <a:sym typeface="Arial"/>
              </a:rPr>
              <a:t>“Identify and prioritize industry use cases for fraud information sharing”</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86BC25"/>
        </a:solidFill>
        <a:effectLst/>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3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Arial"/>
              </a:rPr>
              <a:t>Appendix D. Operating Model Transformation</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Calibri" pitchFamily="34" charset="0"/>
                <a:ea typeface="Calibri" pitchFamily="34" charset="-122"/>
                <a:cs typeface="Calibri" pitchFamily="34" charset="-120"/>
                <a:sym typeface="Arial"/>
              </a:rPr>
              <a:t>Self-reported program maturity, and how the mix of scaling levers shifts over the next 3 years.</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Self-Reported Fraud Program Maturity — Combined</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Q1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statement best describes the current maturity of your organization's fraud program? (all respondents, Banking + Insurance combined)”</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7" name="Chart 0"/>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Single select · low → high maturity.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“Reactive: Primarily incident-driven”</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“Foundational: Controls established within individual business units”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“Managed: Enterprise standards and governance are in place”</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“Integrated: Data, analytics, and operations are integrated across major fraud types”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“Advanced: Predictive intelligence and ecosystem collaboration are embedded”</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Self-Reported Fraud Program Maturity — By Sector</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Q1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statement best describes the current maturity of your organization's fraud program? (Banking vs. Insurance)”</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7" name="Chart 0" descr="Chart"/>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Single select · low → high maturity.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“Reactive: Primarily incident-driven”</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“Foundational: Controls established within individual business units”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“Managed: Enterprise standards and governance are in place”</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“Integrated: Data, analytics, and operations are integrated across major fraud types”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“Advanced: Predictive intelligence and ecosystem collaboration are embedded”</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Fraud Program Maturity — Banking, by Institution Tier</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Q1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statement best describes the current maturity of your organization's fraud program? (further broken down by institution tier)”</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7" name="Text 5"/>
          <p:cNvSpPr txBox="1"/>
          <p:nvPr/>
        </p:nvSpPr>
        <p:spPr>
          <a:xfrm>
            <a:off x="502006" y="1965960"/>
            <a:ext cx="5486400" cy="25603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Top 100 Financial Institution (n=40)</a:t>
            </a:r>
            <a:endParaRPr kumimoji="0" lang="en-US" sz="11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8" name="Chart 0" descr="Chart"/>
          <p:cNvGraphicFramePr/>
          <p:nvPr/>
        </p:nvGraphicFramePr>
        <p:xfrm>
          <a:off x="502006" y="2267712"/>
          <a:ext cx="548640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Large Financial Institution (n=35)</a:t>
            </a:r>
            <a:endParaRPr kumimoji="0" lang="en-US" sz="11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10" name="Chart 1" descr="Chart"/>
          <p:cNvGraphicFramePr/>
          <p:nvPr/>
        </p:nvGraphicFramePr>
        <p:xfrm>
          <a:off x="6172200" y="2267712"/>
          <a:ext cx="5486400" cy="283464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12" name="Text 8"/>
          <p:cNvSpPr txBox="1"/>
          <p:nvPr/>
        </p:nvSpPr>
        <p:spPr>
          <a:xfrm>
            <a:off x="502006" y="5303520"/>
            <a:ext cx="11188598" cy="777240"/>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Single select · low → high maturity. </a:t>
            </a:r>
            <a:r>
              <a:rPr kumimoji="0" lang="en-US" sz="850" b="0"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Institution tier is based on newS8, including 5 respondents reclassified as Top 100 from their employer description elsewhere in the survey (Top 100 is n=40 = 35 direct + 5 reclassified; Large is n=35).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Fraud Program Maturity — Insurance, by Institution Tier</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Q1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statement best describes the current maturity of your organization's fraud program? (further broken down by institution tier)”</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7" name="Text 5"/>
          <p:cNvSpPr txBox="1"/>
          <p:nvPr/>
        </p:nvSpPr>
        <p:spPr>
          <a:xfrm>
            <a:off x="502006" y="1965960"/>
            <a:ext cx="5486400" cy="25603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Top 50 Global Insurance Carrier (n=15)</a:t>
            </a:r>
            <a:endParaRPr kumimoji="0" lang="en-US" sz="11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8" name="Chart 0" descr="Chart"/>
          <p:cNvGraphicFramePr/>
          <p:nvPr/>
        </p:nvGraphicFramePr>
        <p:xfrm>
          <a:off x="502006" y="2267712"/>
          <a:ext cx="548640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Large Insurance Carrier (n=10)</a:t>
            </a:r>
            <a:endParaRPr kumimoji="0" lang="en-US" sz="11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10" name="Chart 1" descr="Chart"/>
          <p:cNvGraphicFramePr/>
          <p:nvPr/>
        </p:nvGraphicFramePr>
        <p:xfrm>
          <a:off x="6172200" y="2267712"/>
          <a:ext cx="5486400" cy="283464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12" name="Text 8"/>
          <p:cNvSpPr txBox="1"/>
          <p:nvPr/>
        </p:nvSpPr>
        <p:spPr>
          <a:xfrm>
            <a:off x="502006" y="5303520"/>
            <a:ext cx="11188598" cy="777240"/>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Single select · low → high maturity. </a:t>
            </a:r>
            <a:r>
              <a:rPr kumimoji="0" lang="en-US" sz="850" b="0"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Institution tier is based on S9, including 1 respondent reclassified as Large Insurance Carrier from their employer description elsewhere in the survey (Large is n=10 = 9 direct + 1 reclassified; Top 50 is n=15).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Scaling Approach — Today vs. 3-Year Focus</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039749"/>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039749"/>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Q8 / Q9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statement best describes your current approach to scaling fraud/investigations operations as fraud volume and complexity increases? / Which area do you expect will receive the greatest focus for operations transformation over the next three years?”</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7" name="Chart 0" descr="Chart"/>
          <p:cNvGraphicFramePr/>
          <p:nvPr/>
        </p:nvGraphicFramePr>
        <p:xfrm>
          <a:off x="502006" y="149733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468858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476173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Single select, asked twice.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“Adding capacity through hiring full-time employees and workforce expansion”</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“Adding capacity through outsourcing arrangements (e.g., contractors)”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“Automating workflows and minimizing manual activities”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“Augmenting existing capacity with AI-enabled tools”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“Redesigning operation processes and playbooks across the lifecycle”</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“Pursuing a combination of the above approaches”</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Scaling Approach — Banking, by Institution Tier</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Q8 / Q9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statement best describes your current approach to scaling fraud/investigations operations? / Which area do you expect will receive the greatest focus over the next three years? (Today vs. 3-Year Focus)”</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7" name="Text 5"/>
          <p:cNvSpPr txBox="1"/>
          <p:nvPr/>
        </p:nvSpPr>
        <p:spPr>
          <a:xfrm>
            <a:off x="502006" y="1965960"/>
            <a:ext cx="5486400" cy="23774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Top 100 Financial Institution (n=40)</a:t>
            </a:r>
            <a:endParaRPr kumimoji="0" lang="en-US" sz="11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8" name="Chart 0" descr="Chart"/>
          <p:cNvGraphicFramePr/>
          <p:nvPr/>
        </p:nvGraphicFramePr>
        <p:xfrm>
          <a:off x="502006" y="2240280"/>
          <a:ext cx="548640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Large Financial Institution (n=35)</a:t>
            </a:r>
            <a:endParaRPr kumimoji="0" lang="en-US" sz="11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10" name="Chart 1" descr="Chart"/>
          <p:cNvGraphicFramePr/>
          <p:nvPr/>
        </p:nvGraphicFramePr>
        <p:xfrm>
          <a:off x="6172200" y="2240280"/>
          <a:ext cx="5486400" cy="283464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12" name="Text 8"/>
          <p:cNvSpPr txBox="1"/>
          <p:nvPr/>
        </p:nvSpPr>
        <p:spPr>
          <a:xfrm>
            <a:off x="502006" y="5276088"/>
            <a:ext cx="11188598" cy="777240"/>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Single select, asked twice. </a:t>
            </a:r>
            <a:r>
              <a:rPr kumimoji="0" lang="en-US" sz="850" b="0"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Institution tier is based on newS8, including 5 respondents reclassified from their employer description elsewhere in the survey (see the Q1 sector x tier slide for detail).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Scaling Approach — Insurance, by Institution Tier</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Q8 / Q9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statement best describes your current approach to scaling fraud/investigations operations? / Which area do you expect will receive the greatest focus over the next three years? (Today vs. 3-Year Focus)”</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7" name="Text 5"/>
          <p:cNvSpPr txBox="1"/>
          <p:nvPr/>
        </p:nvSpPr>
        <p:spPr>
          <a:xfrm>
            <a:off x="502006" y="1965960"/>
            <a:ext cx="5486400" cy="23774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Top 50 Insurance Carrier (n=15)</a:t>
            </a:r>
            <a:endParaRPr kumimoji="0" lang="en-US" sz="11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8" name="Chart 0"/>
          <p:cNvGraphicFramePr/>
          <p:nvPr/>
        </p:nvGraphicFramePr>
        <p:xfrm>
          <a:off x="502006" y="2240280"/>
          <a:ext cx="548640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Large Insurance Carrier (n=10)</a:t>
            </a:r>
            <a:endParaRPr kumimoji="0" lang="en-US" sz="11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10" name="Chart 1"/>
          <p:cNvGraphicFramePr/>
          <p:nvPr/>
        </p:nvGraphicFramePr>
        <p:xfrm>
          <a:off x="6172200" y="2240280"/>
          <a:ext cx="5486400" cy="283464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12" name="Text 8"/>
          <p:cNvSpPr txBox="1"/>
          <p:nvPr/>
        </p:nvSpPr>
        <p:spPr>
          <a:xfrm>
            <a:off x="502006" y="5276088"/>
            <a:ext cx="11188598" cy="777240"/>
          </a:xfrm>
          <a:prstGeom prst="rect">
            <a:avLst/>
          </a:prstGeom>
          <a:noFill/>
          <a:ln/>
        </p:spPr>
        <p:txBody>
          <a:bodyPr wrap="square" lIns="0" tIns="0" rIns="0" bIns="0" rtlCol="0" anchor="t"/>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Single select, asked twice. </a:t>
            </a:r>
            <a:r>
              <a:rPr kumimoji="0" lang="en-US" sz="850" b="0"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Institution tier is based on S9, including 1 respondent reclassified from their employer description elsewhere in the survey (see the Q1 sector x tier slide for detail).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86BC25"/>
        </a:solidFill>
        <a:effectLst/>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Arial"/>
              </a:rPr>
              <a:t>Appendix E. Regulatory &amp; Market Change</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Calibri" pitchFamily="34" charset="0"/>
                <a:ea typeface="Calibri" pitchFamily="34" charset="-122"/>
                <a:cs typeface="Calibri" pitchFamily="34" charset="-120"/>
                <a:sym typeface="Arial"/>
              </a:rPr>
              <a:t>Where fraud investment is really going, and the disruption leaders see coming next.</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Fraud Investment Relative to Regulatory Requirements</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Q10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statement best reflects how your organization is allocating fraud-related investment in response to regulatory and compliance requirements?”</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7" name="Chart 0" descr="Chart"/>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Single select.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“Primarily investing to meet upcoming and draft regulatory requirements”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“Primarily investing to remediate existing compliance and control gaps”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“Regulatory requirements are not a primary driver of fraud-related investment”</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Fraud Investment Relative to Regulatory Requirements — By Region</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Q10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statement best reflects how your organization is allocating fraud-related investment in response to regulatory and compliance requirements? (by region, all respondents)”</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United States (n=44)</a:t>
            </a:r>
            <a:endParaRPr kumimoji="0" lang="en-US" sz="10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8" name="Chart 0" descr="Chart"/>
          <p:cNvGraphicFramePr/>
          <p:nvPr/>
        </p:nvGraphicFramePr>
        <p:xfrm>
          <a:off x="502006" y="2157984"/>
          <a:ext cx="3595421" cy="1490472"/>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Canada (n=30)</a:t>
            </a:r>
            <a:endParaRPr kumimoji="0" lang="en-US" sz="10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10" name="Chart 1" descr="Chart"/>
          <p:cNvGraphicFramePr/>
          <p:nvPr/>
        </p:nvGraphicFramePr>
        <p:xfrm>
          <a:off x="4298594" y="2157984"/>
          <a:ext cx="3595421" cy="1490472"/>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Europe (EU + UK) (n=14)</a:t>
            </a:r>
            <a:endParaRPr kumimoji="0" lang="en-US" sz="10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12" name="Chart 2" descr="Chart"/>
          <p:cNvGraphicFramePr/>
          <p:nvPr/>
        </p:nvGraphicFramePr>
        <p:xfrm>
          <a:off x="8095183" y="2157984"/>
          <a:ext cx="3595421" cy="1490472"/>
        </p:xfrm>
        <a:graphic>
          <a:graphicData uri="http://schemas.openxmlformats.org/drawingml/2006/chart">
            <c:chart xmlns:c="http://schemas.openxmlformats.org/drawingml/2006/chart" xmlns:r="http://schemas.openxmlformats.org/officeDocument/2006/relationships" r:id="rId5"/>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Australia (n=8)</a:t>
            </a:r>
            <a:endParaRPr kumimoji="0" lang="en-US" sz="10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14" name="Chart 3" descr="Chart"/>
          <p:cNvGraphicFramePr/>
          <p:nvPr/>
        </p:nvGraphicFramePr>
        <p:xfrm>
          <a:off x="502006" y="4087368"/>
          <a:ext cx="3595421" cy="1490472"/>
        </p:xfrm>
        <a:graphic>
          <a:graphicData uri="http://schemas.openxmlformats.org/drawingml/2006/chart">
            <c:chart xmlns:c="http://schemas.openxmlformats.org/drawingml/2006/chart" xmlns:r="http://schemas.openxmlformats.org/officeDocument/2006/relationships" r:id="rId6"/>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Singapore (n=4)</a:t>
            </a:r>
            <a:endParaRPr kumimoji="0" lang="en-US" sz="10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16" name="Chart 4" descr="Chart"/>
          <p:cNvGraphicFramePr/>
          <p:nvPr/>
        </p:nvGraphicFramePr>
        <p:xfrm>
          <a:off x="4298594" y="4087368"/>
          <a:ext cx="3595421" cy="1490472"/>
        </p:xfrm>
        <a:graphic>
          <a:graphicData uri="http://schemas.openxmlformats.org/drawingml/2006/chart">
            <c:chart xmlns:c="http://schemas.openxmlformats.org/drawingml/2006/chart" xmlns:r="http://schemas.openxmlformats.org/officeDocument/2006/relationships" r:id="rId7"/>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18" name="Text 11"/>
          <p:cNvSpPr txBox="1"/>
          <p:nvPr/>
        </p:nvSpPr>
        <p:spPr>
          <a:xfrm>
            <a:off x="502006" y="5724144"/>
            <a:ext cx="11188598" cy="329184"/>
          </a:xfrm>
          <a:prstGeom prst="rect">
            <a:avLst/>
          </a:prstGeom>
          <a:noFill/>
          <a:ln/>
        </p:spPr>
        <p:txBody>
          <a:bodyPr wrap="square" lIns="0" tIns="0" rIns="0" bIns="0" rtlCol="0" anchor="t"/>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Single select. </a:t>
            </a:r>
            <a:r>
              <a:rPr kumimoji="0" lang="en-US" sz="850" b="0"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Region sample sizes: US n=44, Canada n=30, Europe n=14, Australia n=8, Singapore n=4. Australia and Singapore are thin samples and should be read directionally, not precisely.</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0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Response options as fielded: </a:t>
            </a:r>
            <a:r>
              <a:rPr kumimoji="0" lang="en-US" sz="7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“Primarily investing to meet upcoming and draft regulatory requirements”  ·  “Primarily investing to remediate existing compliance and control gaps”  ·  “Regulatory requirements are not a primary driver of fraud-related investment”</a:t>
            </a:r>
            <a:endParaRPr kumimoji="0" lang="en-US" sz="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Regulatory Investment Focus — Insurance, by Institution Tier</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Q10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statement best reflects how your organization is allocating fraud-related investment in response to regulatory and compliance requirements? (Insurance only, by institution tier)”</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7" name="Chart 0" descr="Chart"/>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Single select. Institution tier based on S9; 1 respondent who did not directly answer was classified as Large Insurance Carrier from their employer description elsewhere in the survey (Large is n=10 = 9 direct + 1 reclassified).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“Primarily investing to meet upcoming and draft regulatory requirements”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“Primarily investing to remediate existing compliance and control gaps”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“Regulatory requirements are not a primary driver of fraud-related investment”</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Regulatory Investment Focus — Banking, by Institution Tier</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Q10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statement best reflects how your organization is allocating fraud-related investment in response to regulatory and compliance requirements? (Banking only, by institution tier)”</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7" name="Chart 0" descr="Chart"/>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Single select. Institution tier based on newS8; 5 respondents who did not directly answer were classified as Top 100 from their employer description elsewhere in the survey (Top 100 is n=40 = 35 direct + 5 reclassified).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“Primarily investing to meet upcoming and draft regulatory requirements”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“Primarily investing to remediate existing compliance and control gaps”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“Regulatory requirements are not a primary driver of fraud-related investment”</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Upcoming Regulatory / Market Change With Greatest Expected Impact</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Q11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upcoming regulatory or market changes is expected to have the greatest impact on your fraud program?”</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7" name="Chart 0" descr="Chart"/>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Ranked top 3 — shown as % of respondents who placed the option anywhere in their top 3 (not mutually exclusive; bars don't sum to 100%).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“Payment innovation and adoption (e.g., real-time payments, stable coins, agentic payments)”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“Liability and reimbursement changes”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“Open Banking / Consumer-driven banking initiatives”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“AML related modernization initiatives”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“Privacy, data-sharing requirements, and AI governance requirements”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“Customer identity, authentication, and digital trust expectations”</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Upcoming Regulatory / Market Change — By Sector</a:t>
            </a:r>
            <a:endParaRPr kumimoji="0" lang="en-US" sz="19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Tx/>
              <a:buSzTx/>
              <a:buFontTx/>
              <a:buNone/>
              <a:tabLst/>
              <a:defRPr/>
            </a:pPr>
            <a:r>
              <a:rPr kumimoji="0" lang="en-US" sz="900" b="1" i="0" u="none" strike="noStrike" kern="120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Q11  </a:t>
            </a:r>
            <a:r>
              <a:rPr kumimoji="0" lang="en-US" sz="1000" b="0" i="1" u="none" strike="noStrike" kern="120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“Which upcoming regulatory or market changes is expected to have the greatest impact on your fraud program? (Banking vs. Insurance)”</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graphicFrame>
        <p:nvGraphicFramePr>
          <p:cNvPr id="7" name="Chart 0" descr="Chart"/>
          <p:cNvGraphicFramePr/>
          <p:nvPr/>
        </p:nvGraphicFramePr>
        <p:xfrm>
          <a:off x="502006" y="2011680"/>
          <a:ext cx="11188598"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
        <p:nvSpPr>
          <p:cNvPr id="9" name="Text 6"/>
          <p:cNvSpPr txBox="1"/>
          <p:nvPr/>
        </p:nvSpPr>
        <p:spPr>
          <a:xfrm>
            <a:off x="502006" y="5276088"/>
            <a:ext cx="11188598" cy="886968"/>
          </a:xfrm>
          <a:prstGeom prst="rect">
            <a:avLst/>
          </a:prstGeom>
          <a:noFill/>
          <a:ln/>
        </p:spPr>
        <p:txBody>
          <a:bodyPr wrap="square" lIns="0" tIns="0" rIns="0" bIns="0" rtlCol="0" anchor="t"/>
          <a:lstStyle/>
          <a:p>
            <a:pPr marL="0" marR="0" lvl="0" indent="0" algn="l" defTabSz="914400" rtl="0" eaLnBrk="1" fontAlgn="auto" latinLnBrk="0" hangingPunct="1">
              <a:lnSpc>
                <a:spcPct val="118000"/>
              </a:lnSpc>
              <a:spcBef>
                <a:spcPts val="0"/>
              </a:spcBef>
              <a:spcAft>
                <a:spcPts val="0"/>
              </a:spcAft>
              <a:buClrTx/>
              <a:buSzTx/>
              <a:buFontTx/>
              <a:buNone/>
              <a:tabLst/>
              <a:defRPr/>
            </a:pPr>
            <a:r>
              <a:rPr kumimoji="0" lang="en-US" sz="850" b="1" i="0"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Ranked top 3 — figures don't sum to 100%.  Response options as fielded: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“Payment innovation and adoption (e.g., real-time payments, stable coins, agentic payments)”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“Liability and reimbursement changes”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“Open Banking / Consumer-driven banking initiatives”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“AML related modernization initiatives”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“Privacy, data-sharing requirements, and AI governance requirements”</a:t>
            </a:r>
            <a:r>
              <a:rPr kumimoji="0" lang="en-US" sz="850" b="0" i="0" u="none" strike="noStrike" kern="1200" cap="none" spc="0" normalizeH="0" baseline="0" noProof="0">
                <a:ln>
                  <a:noFill/>
                </a:ln>
                <a:solidFill>
                  <a:srgbClr val="D0D0CE"/>
                </a:solidFill>
                <a:effectLst/>
                <a:uLnTx/>
                <a:uFillTx/>
                <a:latin typeface="Calibri" pitchFamily="34" charset="0"/>
                <a:ea typeface="Calibri" pitchFamily="34" charset="-122"/>
                <a:cs typeface="Calibri" pitchFamily="34" charset="-120"/>
                <a:sym typeface="Arial"/>
              </a:rPr>
              <a:t>  ·  </a:t>
            </a:r>
            <a:r>
              <a:rPr kumimoji="0" lang="en-US" sz="850" b="0" i="1" u="none" strike="noStrike" kern="1200" cap="none" spc="0" normalizeH="0" baseline="0" noProof="0">
                <a:ln>
                  <a:noFill/>
                </a:ln>
                <a:solidFill>
                  <a:srgbClr val="53565A"/>
                </a:solidFill>
                <a:effectLst/>
                <a:uLnTx/>
                <a:uFillTx/>
                <a:latin typeface="Calibri" pitchFamily="34" charset="0"/>
                <a:ea typeface="Calibri" pitchFamily="34" charset="-122"/>
                <a:cs typeface="Calibri" pitchFamily="34" charset="-120"/>
                <a:sym typeface="Arial"/>
              </a:rPr>
              <a:t>“Customer identity, authentication, and digital trust expectations”</a:t>
            </a:r>
            <a:endParaRPr kumimoji="0" lang="en-US" sz="85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86BC25"/>
        </a:solidFill>
        <a:effectLst/>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marL="0" marR="0" lvl="0" indent="0" algn="l" defTabSz="914400" rtl="0" eaLnBrk="1" fontAlgn="auto" latinLnBrk="0" hangingPunct="1">
              <a:lnSpc>
                <a:spcPct val="100000"/>
              </a:lnSpc>
              <a:spcBef>
                <a:spcPts val="0"/>
              </a:spcBef>
              <a:spcAft>
                <a:spcPts val="0"/>
              </a:spcAft>
              <a:buClrTx/>
              <a:buSzTx/>
              <a:buFont typeface="Arial"/>
              <a:buNone/>
              <a:tabLst/>
              <a:defRPr/>
            </a:pPr>
            <a:r>
              <a:rPr kumimoji="0" lang="en-US" sz="3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Arial"/>
              </a:rPr>
              <a:t>Appendix F. Looking Ahead Three Years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900" b="1" i="0" u="none" strike="noStrike" kern="0" cap="none" spc="0" normalizeH="0" baseline="0" noProof="0">
                <a:ln>
                  <a:noFill/>
                </a:ln>
                <a:solidFill>
                  <a:srgbClr val="000000"/>
                </a:solidFill>
                <a:effectLst/>
                <a:uLnTx/>
                <a:uFillTx/>
                <a:latin typeface="Calibri" pitchFamily="34" charset="0"/>
                <a:ea typeface="Calibri" pitchFamily="34" charset="-122"/>
                <a:cs typeface="Calibri" pitchFamily="34" charset="-120"/>
                <a:sym typeface="Arial"/>
              </a:rPr>
              <a:t>What Leaders Say, Unprompted</a:t>
            </a:r>
            <a:endParaRPr kumimoji="0" lang="en-US" sz="1900" b="0" i="0" u="none" strike="noStrike" kern="0" cap="none" spc="0" normalizeH="0" baseline="0" noProof="0">
              <a:ln>
                <a:noFill/>
              </a:ln>
              <a:solidFill>
                <a:srgbClr val="000000"/>
              </a:solidFill>
              <a:effectLst/>
              <a:uLnTx/>
              <a:uFillTx/>
              <a:latin typeface="Arial"/>
              <a:cs typeface="Arial"/>
              <a:sym typeface="Arial"/>
            </a:endParaRPr>
          </a:p>
        </p:txBody>
      </p:sp>
      <p:sp>
        <p:nvSpPr>
          <p:cNvPr id="4" name="Shape 2"/>
          <p:cNvSpPr/>
          <p:nvPr/>
        </p:nvSpPr>
        <p:spPr>
          <a:xfrm>
            <a:off x="502006" y="1335024"/>
            <a:ext cx="0" cy="512064"/>
          </a:xfrm>
          <a:prstGeom prst="line">
            <a:avLst/>
          </a:prstGeom>
          <a:noFill/>
          <a:ln w="25400">
            <a:solidFill>
              <a:srgbClr val="D0D0CE"/>
            </a:solidFill>
            <a:prstDash val="solid"/>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000000"/>
              </a:solidFill>
              <a:effectLst/>
              <a:uLnTx/>
              <a:uFillTx/>
              <a:latin typeface="Arial"/>
              <a:cs typeface="Arial"/>
              <a:sym typeface="Arial"/>
            </a:endParaRPr>
          </a:p>
        </p:txBody>
      </p:sp>
      <p:sp>
        <p:nvSpPr>
          <p:cNvPr id="5" name="Text 3"/>
          <p:cNvSpPr txBox="1"/>
          <p:nvPr/>
        </p:nvSpPr>
        <p:spPr>
          <a:xfrm>
            <a:off x="648310" y="1335024"/>
            <a:ext cx="11042294" cy="512064"/>
          </a:xfrm>
          <a:prstGeom prst="rect">
            <a:avLst/>
          </a:prstGeom>
          <a:noFill/>
          <a:ln/>
        </p:spPr>
        <p:txBody>
          <a:bodyPr wrap="square" lIns="0" tIns="0" rIns="0" bIns="0" rtlCol="0" anchor="t"/>
          <a:lstStyle/>
          <a:p>
            <a:pPr marL="0" marR="0" lvl="0" indent="0" algn="l" defTabSz="914400" rtl="0" eaLnBrk="1" fontAlgn="auto" latinLnBrk="0" hangingPunct="1">
              <a:lnSpc>
                <a:spcPct val="106000"/>
              </a:lnSpc>
              <a:spcBef>
                <a:spcPts val="0"/>
              </a:spcBef>
              <a:spcAft>
                <a:spcPts val="0"/>
              </a:spcAft>
              <a:buClr>
                <a:srgbClr val="000000"/>
              </a:buClr>
              <a:buSzTx/>
              <a:buFont typeface="Arial"/>
              <a:buNone/>
              <a:tabLst/>
              <a:defRPr/>
            </a:pPr>
            <a:r>
              <a:rPr kumimoji="0" lang="en-US" sz="900" b="1" i="0" u="none" strike="noStrike" kern="0" cap="none" spc="0" normalizeH="0" baseline="0" noProof="0">
                <a:ln>
                  <a:noFill/>
                </a:ln>
                <a:solidFill>
                  <a:srgbClr val="046A38"/>
                </a:solidFill>
                <a:effectLst/>
                <a:uLnTx/>
                <a:uFillTx/>
                <a:latin typeface="IBM Plex Mono" pitchFamily="34" charset="0"/>
                <a:ea typeface="IBM Plex Mono" pitchFamily="34" charset="-122"/>
                <a:cs typeface="IBM Plex Mono" pitchFamily="34" charset="-120"/>
                <a:sym typeface="Arial"/>
              </a:rPr>
              <a:t>Q12  </a:t>
            </a:r>
            <a:r>
              <a:rPr kumimoji="0" lang="en-US" sz="1000" b="0" i="1" u="none" strike="noStrike" kern="0" cap="none" spc="0" normalizeH="0" baseline="0" noProof="0">
                <a:ln>
                  <a:noFill/>
                </a:ln>
                <a:solidFill>
                  <a:srgbClr val="575757"/>
                </a:solidFill>
                <a:effectLst/>
                <a:uLnTx/>
                <a:uFillTx/>
                <a:latin typeface="Calibri" pitchFamily="34" charset="0"/>
                <a:ea typeface="Calibri" pitchFamily="34" charset="-122"/>
                <a:cs typeface="Calibri" pitchFamily="34" charset="-120"/>
                <a:sym typeface="Arial"/>
              </a:rPr>
              <a:t>“Looking ahead three years, what development do you believe will have the greatest impact on fraud risk management, and why? (open-ended)”</a:t>
            </a:r>
            <a:endParaRPr kumimoji="0" lang="en-US" sz="1000" b="0" i="0" u="none" strike="noStrike" kern="0" cap="none" spc="0" normalizeH="0" baseline="0" noProof="0">
              <a:ln>
                <a:noFill/>
              </a:ln>
              <a:solidFill>
                <a:srgbClr val="000000"/>
              </a:solidFill>
              <a:effectLst/>
              <a:uLnTx/>
              <a:uFillTx/>
              <a:latin typeface="Arial"/>
              <a:cs typeface="Arial"/>
              <a:sym typeface="Arial"/>
            </a:endParaRPr>
          </a:p>
        </p:txBody>
      </p:sp>
      <p:pic>
        <p:nvPicPr>
          <p:cNvPr id="26" name="Picture 25">
            <a:extLst>
              <a:ext uri="{FF2B5EF4-FFF2-40B4-BE49-F238E27FC236}">
                <a16:creationId xmlns:a16="http://schemas.microsoft.com/office/drawing/2014/main" id="{05376B55-AF70-4C37-160C-62763DC719EF}"/>
              </a:ext>
            </a:extLst>
          </p:cNvPr>
          <p:cNvPicPr>
            <a:picLocks noChangeAspect="1"/>
          </p:cNvPicPr>
          <p:nvPr/>
        </p:nvPicPr>
        <p:blipFill>
          <a:blip r:embed="rId3"/>
          <a:stretch>
            <a:fillRect/>
          </a:stretch>
        </p:blipFill>
        <p:spPr>
          <a:xfrm>
            <a:off x="1242961" y="1675472"/>
            <a:ext cx="9852992" cy="4926496"/>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1DC37D5-A1D5-0F0C-8283-53301301AA2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BE017F1-6E8E-A6BF-64B1-C85CA549AF76}"/>
              </a:ext>
            </a:extLst>
          </p:cNvPr>
          <p:cNvSpPr/>
          <p:nvPr/>
        </p:nvSpPr>
        <p:spPr>
          <a:xfrm>
            <a:off x="0" y="355730"/>
            <a:ext cx="12192000" cy="2305402"/>
          </a:xfrm>
          <a:prstGeom prst="rect">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lIns="365760" tIns="274320" rIns="365760" bIns="274320" rtlCol="0" anchor="ctr" anchorCtr="0"/>
          <a:lstStyle/>
          <a:p>
            <a:pPr marL="0" marR="0" lvl="0" indent="0" algn="l" defTabSz="914400" rtl="0" eaLnBrk="1" fontAlgn="auto" latinLnBrk="0" hangingPunct="1">
              <a:lnSpc>
                <a:spcPct val="100000"/>
              </a:lnSpc>
              <a:spcBef>
                <a:spcPts val="0"/>
              </a:spcBef>
              <a:spcAft>
                <a:spcPts val="0"/>
              </a:spcAft>
              <a:buClr>
                <a:srgbClr val="FFFFFF"/>
              </a:buClr>
              <a:buSzTx/>
              <a:buFont typeface="Arial"/>
              <a:buNone/>
              <a:tabLst/>
              <a:defRPr/>
            </a:pPr>
            <a:r>
              <a:rPr kumimoji="0" lang="en-US" sz="2400" b="1" i="0" u="none" strike="noStrike" kern="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Objective</a:t>
            </a:r>
            <a:r>
              <a:rPr kumimoji="0" lang="en-US" sz="1400" b="1" i="0" u="none" strike="noStrike" kern="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 </a:t>
            </a:r>
          </a:p>
          <a:p>
            <a:pPr marL="0" marR="0" lvl="0" indent="0" algn="l" defTabSz="914400" rtl="0" eaLnBrk="1" fontAlgn="auto" latinLnBrk="0" hangingPunct="1">
              <a:lnSpc>
                <a:spcPct val="100000"/>
              </a:lnSpc>
              <a:spcBef>
                <a:spcPts val="0"/>
              </a:spcBef>
              <a:spcAft>
                <a:spcPts val="0"/>
              </a:spcAft>
              <a:buClr>
                <a:srgbClr val="FFFFFF"/>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
                <a:srgbClr val="FFFFFF"/>
              </a:buClr>
              <a:buSzTx/>
              <a:buFont typeface="Arial"/>
              <a:buNone/>
              <a:tabLst/>
              <a:defRPr/>
            </a:pPr>
            <a:r>
              <a:rPr kumimoji="0" lang="en-US" sz="1400" b="0" i="0" u="none" strike="noStrike" kern="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This study was conducted to understand and qualify the shift in the fraud risk landscape with the rise of agentic commerce and payments and to support and equip merchants with an understanding of the increase in AI-enabled fraud risks in agentic commerce and what needs to be considered for the implementation of effective mitigation strategies.</a:t>
            </a:r>
          </a:p>
        </p:txBody>
      </p:sp>
      <p:sp>
        <p:nvSpPr>
          <p:cNvPr id="11" name="TextBox 10">
            <a:extLst>
              <a:ext uri="{FF2B5EF4-FFF2-40B4-BE49-F238E27FC236}">
                <a16:creationId xmlns:a16="http://schemas.microsoft.com/office/drawing/2014/main" id="{BCD04F9A-60F8-F295-D654-504B2CFA59AE}"/>
              </a:ext>
            </a:extLst>
          </p:cNvPr>
          <p:cNvSpPr txBox="1"/>
          <p:nvPr/>
        </p:nvSpPr>
        <p:spPr>
          <a:xfrm>
            <a:off x="1" y="3055814"/>
            <a:ext cx="12191996" cy="2913618"/>
          </a:xfrm>
          <a:prstGeom prst="rect">
            <a:avLst/>
          </a:prstGeom>
          <a:solidFill>
            <a:schemeClr val="bg1"/>
          </a:solidFill>
        </p:spPr>
        <p:txBody>
          <a:bodyPr wrap="square" lIns="365760" rIns="365760">
            <a:spAutoFit/>
          </a:bodyPr>
          <a:lstStyle/>
          <a:p>
            <a:pPr marL="0" marR="0" lvl="0" indent="0" algn="l" defTabSz="914400" rtl="0" eaLnBrk="1" fontAlgn="auto" latinLnBrk="0" hangingPunct="1">
              <a:lnSpc>
                <a:spcPct val="100000"/>
              </a:lnSpc>
              <a:spcBef>
                <a:spcPts val="180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Data Sources</a:t>
            </a:r>
          </a:p>
          <a:p>
            <a:pPr marL="0" marR="0" lvl="0" indent="0" algn="l" defTabSz="914400" rtl="0" eaLnBrk="1" fontAlgn="auto" latinLnBrk="0" hangingPunct="1">
              <a:lnSpc>
                <a:spcPct val="100000"/>
              </a:lnSpc>
              <a:spcBef>
                <a:spcPts val="100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Deloitte conducted a quantitative and qualitative study incorporating a variety of data and expert insights to address a key hypothesis, incorporating data from partnering solution providers specialized in AI-enabled fraud in the retail ecosystem. This study was conducted from September to October 2025 using a combination of data sources, including:</a:t>
            </a:r>
          </a:p>
          <a:p>
            <a:pPr marL="457200" marR="0" lvl="0" indent="-342900" algn="l" defTabSz="914400" rtl="0" eaLnBrk="1" fontAlgn="auto" latinLnBrk="0" hangingPunct="1">
              <a:lnSpc>
                <a:spcPct val="100000"/>
              </a:lnSpc>
              <a:spcBef>
                <a:spcPts val="1000"/>
              </a:spcBef>
              <a:spcAft>
                <a:spcPts val="0"/>
              </a:spcAft>
              <a:buClr>
                <a:srgbClr val="000000"/>
              </a:buClr>
              <a:buSzTx/>
              <a:buFont typeface="Arial" panose="020B0604020202020204" pitchFamily="34" charset="0"/>
              <a:buChar char="•"/>
              <a:tabLst/>
              <a:defRPr/>
            </a:pPr>
            <a:r>
              <a:rPr kumimoji="0" lang="en-US" sz="1400" b="1" i="1"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2025 Deloitte Survey on AI-Enabled Fraud in Retail:</a:t>
            </a:r>
            <a:r>
              <a:rPr kumimoji="0" lang="en-US" sz="1400" b="0" i="1"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 </a:t>
            </a:r>
            <a:r>
              <a:rPr kumimoji="0" lang="en-US" sz="14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39 eligible responses were collected out of a total 62 responses based on the profile of the respondents, including the size of the organization and the respondent’s position</a:t>
            </a:r>
          </a:p>
          <a:p>
            <a:pPr marL="457200" marR="0" lvl="0" indent="-342900" algn="l" defTabSz="914400" rtl="0" eaLnBrk="1" fontAlgn="auto" latinLnBrk="0" hangingPunct="1">
              <a:lnSpc>
                <a:spcPct val="100000"/>
              </a:lnSpc>
              <a:spcBef>
                <a:spcPts val="1000"/>
              </a:spcBef>
              <a:spcAft>
                <a:spcPts val="0"/>
              </a:spcAft>
              <a:buClr>
                <a:srgbClr val="000000"/>
              </a:buClr>
              <a:buSzTx/>
              <a:buFont typeface="Arial" panose="020B0604020202020204" pitchFamily="34" charset="0"/>
              <a:buChar char="•"/>
              <a:tabLst/>
              <a:defRPr/>
            </a:pPr>
            <a:r>
              <a:rPr kumimoji="0" lang="en-US" sz="1400" b="1" i="1" u="none" strike="noStrike" kern="0" cap="none" spc="0" normalizeH="0" baseline="0" noProof="0" err="1">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Riskified</a:t>
            </a:r>
            <a:r>
              <a:rPr kumimoji="0" lang="en-US" sz="1400" b="1" i="1"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 </a:t>
            </a:r>
            <a:r>
              <a:rPr kumimoji="0" lang="en-US" sz="14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Proprietary e-commerce transaction and fraud attempt data from global merchant network, as well as a 2025 survey of 5,000+ consumers on AI for shopping and agentic commerce risk</a:t>
            </a:r>
          </a:p>
          <a:p>
            <a:pPr marL="457200" marR="0" lvl="0" indent="-342900" algn="l" defTabSz="914400" rtl="0" eaLnBrk="1" fontAlgn="auto" latinLnBrk="0" hangingPunct="1">
              <a:lnSpc>
                <a:spcPct val="100000"/>
              </a:lnSpc>
              <a:spcBef>
                <a:spcPts val="1000"/>
              </a:spcBef>
              <a:spcAft>
                <a:spcPts val="0"/>
              </a:spcAft>
              <a:buClr>
                <a:srgbClr val="000000"/>
              </a:buClr>
              <a:buSzTx/>
              <a:buFont typeface="Arial" panose="020B0604020202020204" pitchFamily="34" charset="0"/>
              <a:buChar char="•"/>
              <a:tabLst/>
              <a:defRPr/>
            </a:pPr>
            <a:r>
              <a:rPr kumimoji="0" lang="en-US" sz="1400" b="1" i="1"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HUMAN Security:</a:t>
            </a:r>
            <a:r>
              <a:rPr kumimoji="0" lang="en-US" sz="1400" b="0" i="1"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 </a:t>
            </a:r>
            <a:r>
              <a:rPr kumimoji="0" lang="en-US" sz="14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Proprietary digital interaction traffic and research reports across consumer digital journey from ad views, consumption, onsite, and pre/at/post login, including measurements of change in traffic patterns and digital attacks to date</a:t>
            </a:r>
          </a:p>
        </p:txBody>
      </p:sp>
      <p:sp>
        <p:nvSpPr>
          <p:cNvPr id="18" name="Rectangle 17">
            <a:extLst>
              <a:ext uri="{FF2B5EF4-FFF2-40B4-BE49-F238E27FC236}">
                <a16:creationId xmlns:a16="http://schemas.microsoft.com/office/drawing/2014/main" id="{AFEC5613-831F-19E4-AF48-9E111B134687}"/>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METHODOLOGIES</a:t>
            </a:r>
          </a:p>
        </p:txBody>
      </p:sp>
    </p:spTree>
    <p:extLst>
      <p:ext uri="{BB962C8B-B14F-4D97-AF65-F5344CB8AC3E}">
        <p14:creationId xmlns:p14="http://schemas.microsoft.com/office/powerpoint/2010/main" val="19202602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7FFD5-949C-A9E1-1D60-4E4CB48B2FA9}"/>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C205D23A-4A78-8D3D-2CEA-008EE141AAC1}"/>
              </a:ext>
            </a:extLst>
          </p:cNvPr>
          <p:cNvSpPr/>
          <p:nvPr/>
        </p:nvSpPr>
        <p:spPr>
          <a:xfrm>
            <a:off x="0" y="1239220"/>
            <a:ext cx="12192000" cy="525498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graphicFrame>
        <p:nvGraphicFramePr>
          <p:cNvPr id="2" name="Table 1">
            <a:extLst>
              <a:ext uri="{FF2B5EF4-FFF2-40B4-BE49-F238E27FC236}">
                <a16:creationId xmlns:a16="http://schemas.microsoft.com/office/drawing/2014/main" id="{F04AFCD2-069F-39F8-7089-67ABE2E39802}"/>
              </a:ext>
            </a:extLst>
          </p:cNvPr>
          <p:cNvGraphicFramePr>
            <a:graphicFrameLocks noGrp="1"/>
          </p:cNvGraphicFramePr>
          <p:nvPr/>
        </p:nvGraphicFramePr>
        <p:xfrm>
          <a:off x="370350" y="3590612"/>
          <a:ext cx="3566160" cy="2664961"/>
        </p:xfrm>
        <a:graphic>
          <a:graphicData uri="http://schemas.openxmlformats.org/drawingml/2006/table">
            <a:tbl>
              <a:tblPr firstRow="1" bandRow="1"/>
              <a:tblGrid>
                <a:gridCol w="2560320">
                  <a:extLst>
                    <a:ext uri="{9D8B030D-6E8A-4147-A177-3AD203B41FA5}">
                      <a16:colId xmlns:a16="http://schemas.microsoft.com/office/drawing/2014/main" val="1645355030"/>
                    </a:ext>
                  </a:extLst>
                </a:gridCol>
                <a:gridCol w="457200">
                  <a:extLst>
                    <a:ext uri="{9D8B030D-6E8A-4147-A177-3AD203B41FA5}">
                      <a16:colId xmlns:a16="http://schemas.microsoft.com/office/drawing/2014/main" val="2986133304"/>
                    </a:ext>
                  </a:extLst>
                </a:gridCol>
                <a:gridCol w="548640">
                  <a:extLst>
                    <a:ext uri="{9D8B030D-6E8A-4147-A177-3AD203B41FA5}">
                      <a16:colId xmlns:a16="http://schemas.microsoft.com/office/drawing/2014/main" val="284133260"/>
                    </a:ext>
                  </a:extLst>
                </a:gridCol>
              </a:tblGrid>
              <a:tr h="378961">
                <a:tc>
                  <a:txBody>
                    <a:bodyPr/>
                    <a:lstStyle/>
                    <a:p>
                      <a:r>
                        <a:rPr lang="en-US" sz="1200">
                          <a:latin typeface="Segoe UI" panose="020B0502040204020203" pitchFamily="34" charset="0"/>
                          <a:cs typeface="Segoe UI" panose="020B0502040204020203" pitchFamily="34" charset="0"/>
                        </a:rPr>
                        <a:t>Respondent Organizational Level</a:t>
                      </a:r>
                    </a:p>
                  </a:txBody>
                  <a:tcPr anchor="ctr">
                    <a:lnL w="6350" cap="flat" cmpd="sng" algn="ctr">
                      <a:solidFill>
                        <a:srgbClr val="4EA72E"/>
                      </a:solidFill>
                      <a:prstDash val="solid"/>
                      <a:round/>
                      <a:headEnd type="none" w="med" len="med"/>
                      <a:tailEnd type="none" w="med" len="med"/>
                    </a:lnL>
                    <a:lnT w="6350" cap="flat" cmpd="sng" algn="ctr">
                      <a:solidFill>
                        <a:srgbClr val="4EA72E"/>
                      </a:solidFill>
                      <a:prstDash val="solid"/>
                      <a:round/>
                      <a:headEnd type="none" w="med" len="med"/>
                      <a:tailEnd type="none" w="med" len="med"/>
                    </a:lnT>
                    <a:lnB w="38100" cap="flat" cmpd="sng">
                      <a:noFill/>
                      <a:prstDash val="solid"/>
                      <a:round/>
                      <a:headEnd type="none" w="sm" len="sm"/>
                      <a:tailEnd type="none" w="sm" len="sm"/>
                    </a:lnB>
                    <a:solidFill>
                      <a:srgbClr val="4EA72E"/>
                    </a:solidFill>
                  </a:tcPr>
                </a:tc>
                <a:tc>
                  <a:txBody>
                    <a:bodyPr/>
                    <a:lstStyle/>
                    <a:p>
                      <a:pPr algn="ctr"/>
                      <a:r>
                        <a:rPr lang="en-US" sz="1200">
                          <a:latin typeface="Segoe UI" panose="020B0502040204020203" pitchFamily="34" charset="0"/>
                          <a:cs typeface="Segoe UI" panose="020B0502040204020203" pitchFamily="34" charset="0"/>
                        </a:rPr>
                        <a:t>#</a:t>
                      </a:r>
                    </a:p>
                  </a:txBody>
                  <a:tcPr anchor="ctr">
                    <a:lnT w="6350" cap="flat" cmpd="sng" algn="ctr">
                      <a:solidFill>
                        <a:srgbClr val="4EA72E"/>
                      </a:solidFill>
                      <a:prstDash val="solid"/>
                      <a:round/>
                      <a:headEnd type="none" w="med" len="med"/>
                      <a:tailEnd type="none" w="med" len="med"/>
                    </a:lnT>
                    <a:lnB w="38100" cap="flat" cmpd="sng">
                      <a:noFill/>
                      <a:prstDash val="solid"/>
                      <a:round/>
                      <a:headEnd type="none" w="sm" len="sm"/>
                      <a:tailEnd type="none" w="sm" len="sm"/>
                    </a:lnB>
                    <a:solidFill>
                      <a:srgbClr val="4EA72E"/>
                    </a:solidFill>
                  </a:tcPr>
                </a:tc>
                <a:tc>
                  <a:txBody>
                    <a:bodyPr/>
                    <a:lstStyle/>
                    <a:p>
                      <a:pPr algn="ctr"/>
                      <a:r>
                        <a:rPr lang="en-US" sz="1200" b="0">
                          <a:latin typeface="Segoe UI" panose="020B0502040204020203" pitchFamily="34" charset="0"/>
                          <a:cs typeface="Segoe UI" panose="020B0502040204020203" pitchFamily="34" charset="0"/>
                        </a:rPr>
                        <a:t>%</a:t>
                      </a:r>
                    </a:p>
                  </a:txBody>
                  <a:tcPr anchor="ctr">
                    <a:lnR w="6350" cap="flat" cmpd="sng" algn="ctr">
                      <a:solidFill>
                        <a:srgbClr val="4EA72E"/>
                      </a:solidFill>
                      <a:prstDash val="solid"/>
                      <a:round/>
                      <a:headEnd type="none" w="med" len="med"/>
                      <a:tailEnd type="none" w="med" len="med"/>
                    </a:lnR>
                    <a:lnT w="6350" cap="flat" cmpd="sng" algn="ctr">
                      <a:solidFill>
                        <a:srgbClr val="4EA72E"/>
                      </a:solidFill>
                      <a:prstDash val="solid"/>
                      <a:round/>
                      <a:headEnd type="none" w="med" len="med"/>
                      <a:tailEnd type="none" w="med" len="med"/>
                    </a:lnT>
                    <a:lnB w="38100" cap="flat" cmpd="sng">
                      <a:noFill/>
                      <a:prstDash val="solid"/>
                      <a:round/>
                      <a:headEnd type="none" w="sm" len="sm"/>
                      <a:tailEnd type="none" w="sm" len="sm"/>
                    </a:lnB>
                    <a:solidFill>
                      <a:srgbClr val="4EA72E"/>
                    </a:solidFill>
                  </a:tcPr>
                </a:tc>
                <a:extLst>
                  <a:ext uri="{0D108BD9-81ED-4DB2-BD59-A6C34878D82A}">
                    <a16:rowId xmlns:a16="http://schemas.microsoft.com/office/drawing/2014/main" val="1389635185"/>
                  </a:ext>
                </a:extLst>
              </a:tr>
              <a:tr h="45720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C-level or equivalent</a:t>
                      </a:r>
                    </a:p>
                  </a:txBody>
                  <a:tcPr anchor="ctr">
                    <a:lnL w="6350" cap="flat" cmpd="sng" algn="ctr">
                      <a:solidFill>
                        <a:srgbClr val="4EA72E"/>
                      </a:solidFill>
                      <a:prstDash val="solid"/>
                      <a:round/>
                      <a:headEnd type="none" w="med" len="med"/>
                      <a:tailEnd type="none" w="med" len="med"/>
                    </a:lnL>
                    <a:lnR w="12700" cap="flat" cmpd="sng">
                      <a:noFill/>
                      <a:prstDash val="solid"/>
                      <a:round/>
                      <a:headEnd type="none" w="sm" len="sm"/>
                      <a:tailEnd type="none" w="sm" len="sm"/>
                    </a:lnR>
                    <a:lnT w="381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20</a:t>
                      </a:r>
                    </a:p>
                  </a:txBody>
                  <a:tcPr anchor="ctr">
                    <a:lnL w="12700" cap="flat" cmpd="sng">
                      <a:noFill/>
                      <a:prstDash val="solid"/>
                      <a:round/>
                      <a:headEnd type="none" w="sm" len="sm"/>
                      <a:tailEnd type="none" w="sm" len="sm"/>
                    </a:lnL>
                    <a:lnR w="12700" cap="flat" cmpd="sng">
                      <a:noFill/>
                      <a:prstDash val="solid"/>
                      <a:round/>
                      <a:headEnd type="none" w="sm" len="sm"/>
                      <a:tailEnd type="none" w="sm" len="sm"/>
                    </a:lnR>
                    <a:lnT w="381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51%</a:t>
                      </a:r>
                    </a:p>
                  </a:txBody>
                  <a:tcPr anchor="ctr">
                    <a:lnL w="12700" cap="flat" cmpd="sng">
                      <a:noFill/>
                      <a:prstDash val="solid"/>
                      <a:round/>
                      <a:headEnd type="none" w="sm" len="sm"/>
                      <a:tailEnd type="none" w="sm" len="sm"/>
                    </a:lnL>
                    <a:lnR w="6350" cap="flat" cmpd="sng" algn="ctr">
                      <a:solidFill>
                        <a:srgbClr val="4EA72E"/>
                      </a:solidFill>
                      <a:prstDash val="solid"/>
                      <a:round/>
                      <a:headEnd type="none" w="med" len="med"/>
                      <a:tailEnd type="none" w="med" len="med"/>
                    </a:lnR>
                    <a:lnT w="381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08542753"/>
                  </a:ext>
                </a:extLst>
              </a:tr>
              <a:tr h="45720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SVP-level or equivalent</a:t>
                      </a:r>
                    </a:p>
                  </a:txBody>
                  <a:tcPr anchor="ctr">
                    <a:lnL w="6350" cap="flat" cmpd="sng" algn="ctr">
                      <a:solidFill>
                        <a:srgbClr val="4EA72E"/>
                      </a:solidFill>
                      <a:prstDash val="solid"/>
                      <a:round/>
                      <a:headEnd type="none" w="med" len="med"/>
                      <a:tailEnd type="none" w="med" len="med"/>
                    </a:lnL>
                    <a:lnR w="12700" cap="flat" cmpd="sng">
                      <a:noFill/>
                      <a:prstDash val="solid"/>
                      <a:round/>
                      <a:headEnd type="none" w="sm" len="sm"/>
                      <a:tailEnd type="none" w="sm" len="sm"/>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3</a:t>
                      </a:r>
                    </a:p>
                  </a:txBody>
                  <a:tcPr anchor="ctr">
                    <a:lnL w="12700" cap="flat" cmpd="sng">
                      <a:noFill/>
                      <a:prstDash val="solid"/>
                      <a:round/>
                      <a:headEnd type="none" w="sm" len="sm"/>
                      <a:tailEnd type="none" w="sm" len="sm"/>
                    </a:lnL>
                    <a:lnR w="12700" cap="flat" cmpd="sng">
                      <a:noFill/>
                      <a:prstDash val="solid"/>
                      <a:round/>
                      <a:headEnd type="none" w="sm" len="sm"/>
                      <a:tailEnd type="none" w="sm" len="sm"/>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8%</a:t>
                      </a:r>
                    </a:p>
                  </a:txBody>
                  <a:tcPr anchor="ctr">
                    <a:lnL w="12700" cap="flat" cmpd="sng">
                      <a:noFill/>
                      <a:prstDash val="solid"/>
                      <a:round/>
                      <a:headEnd type="none" w="sm" len="sm"/>
                      <a:tailEnd type="none" w="sm" len="sm"/>
                    </a:lnL>
                    <a:lnR w="6350" cap="flat" cmpd="sng" algn="ctr">
                      <a:solidFill>
                        <a:srgbClr val="4EA72E"/>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32061161"/>
                  </a:ext>
                </a:extLst>
              </a:tr>
              <a:tr h="45720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VP-level or equivalent</a:t>
                      </a:r>
                    </a:p>
                  </a:txBody>
                  <a:tcPr anchor="ctr">
                    <a:lnL w="6350" cap="flat" cmpd="sng" algn="ctr">
                      <a:solidFill>
                        <a:srgbClr val="4EA72E"/>
                      </a:solidFill>
                      <a:prstDash val="solid"/>
                      <a:round/>
                      <a:headEnd type="none" w="med" len="med"/>
                      <a:tailEnd type="none" w="med" len="med"/>
                    </a:lnL>
                    <a:lnR w="12700" cap="flat" cmpd="sng">
                      <a:noFill/>
                      <a:prstDash val="solid"/>
                      <a:round/>
                      <a:headEnd type="none" w="sm" len="sm"/>
                      <a:tailEnd type="none" w="sm" len="sm"/>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7</a:t>
                      </a:r>
                    </a:p>
                  </a:txBody>
                  <a:tcPr anchor="ctr">
                    <a:lnL w="12700" cap="flat" cmpd="sng">
                      <a:noFill/>
                      <a:prstDash val="solid"/>
                      <a:round/>
                      <a:headEnd type="none" w="sm" len="sm"/>
                      <a:tailEnd type="none" w="sm" len="sm"/>
                    </a:lnL>
                    <a:lnR w="12700" cap="flat" cmpd="sng">
                      <a:noFill/>
                      <a:prstDash val="solid"/>
                      <a:round/>
                      <a:headEnd type="none" w="sm" len="sm"/>
                      <a:tailEnd type="none" w="sm" len="sm"/>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18%</a:t>
                      </a:r>
                    </a:p>
                  </a:txBody>
                  <a:tcPr anchor="ctr">
                    <a:lnL w="12700" cap="flat" cmpd="sng">
                      <a:noFill/>
                      <a:prstDash val="solid"/>
                      <a:round/>
                      <a:headEnd type="none" w="sm" len="sm"/>
                      <a:tailEnd type="none" w="sm" len="sm"/>
                    </a:lnL>
                    <a:lnR w="6350" cap="flat" cmpd="sng" algn="ctr">
                      <a:solidFill>
                        <a:srgbClr val="4EA72E"/>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23894732"/>
                  </a:ext>
                </a:extLst>
              </a:tr>
              <a:tr h="45720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Director-level or equivalent</a:t>
                      </a:r>
                    </a:p>
                  </a:txBody>
                  <a:tcPr anchor="ctr">
                    <a:lnL w="6350" cap="flat" cmpd="sng" algn="ctr">
                      <a:solidFill>
                        <a:srgbClr val="4EA72E"/>
                      </a:solidFill>
                      <a:prstDash val="solid"/>
                      <a:round/>
                      <a:headEnd type="none" w="med" len="med"/>
                      <a:tailEnd type="none" w="med" len="med"/>
                    </a:lnL>
                    <a:lnR w="12700" cap="flat" cmpd="sng">
                      <a:noFill/>
                      <a:prstDash val="solid"/>
                      <a:round/>
                      <a:headEnd type="none" w="sm" len="sm"/>
                      <a:tailEnd type="none" w="sm" len="sm"/>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7</a:t>
                      </a:r>
                    </a:p>
                  </a:txBody>
                  <a:tcPr anchor="ctr">
                    <a:lnL w="12700" cap="flat" cmpd="sng">
                      <a:noFill/>
                      <a:prstDash val="solid"/>
                      <a:round/>
                      <a:headEnd type="none" w="sm" len="sm"/>
                      <a:tailEnd type="none" w="sm" len="sm"/>
                    </a:lnL>
                    <a:lnR w="12700" cap="flat" cmpd="sng">
                      <a:noFill/>
                      <a:prstDash val="solid"/>
                      <a:round/>
                      <a:headEnd type="none" w="sm" len="sm"/>
                      <a:tailEnd type="none" w="sm" len="sm"/>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18%</a:t>
                      </a:r>
                    </a:p>
                  </a:txBody>
                  <a:tcPr anchor="ctr">
                    <a:lnL w="12700" cap="flat" cmpd="sng">
                      <a:noFill/>
                      <a:prstDash val="solid"/>
                      <a:round/>
                      <a:headEnd type="none" w="sm" len="sm"/>
                      <a:tailEnd type="none" w="sm" len="sm"/>
                    </a:lnL>
                    <a:lnR w="6350" cap="flat" cmpd="sng" algn="ctr">
                      <a:solidFill>
                        <a:srgbClr val="4EA72E"/>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90879780"/>
                  </a:ext>
                </a:extLst>
              </a:tr>
              <a:tr h="45720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Senior Manager-level or equivalent</a:t>
                      </a:r>
                    </a:p>
                  </a:txBody>
                  <a:tcPr anchor="ctr">
                    <a:lnL w="6350" cap="flat" cmpd="sng" algn="ctr">
                      <a:solidFill>
                        <a:srgbClr val="4EA72E"/>
                      </a:solidFill>
                      <a:prstDash val="solid"/>
                      <a:round/>
                      <a:headEnd type="none" w="med" len="med"/>
                      <a:tailEnd type="none" w="med" len="med"/>
                    </a:lnL>
                    <a:lnR w="12700" cap="flat" cmpd="sng">
                      <a:noFill/>
                      <a:prstDash val="solid"/>
                      <a:round/>
                      <a:headEnd type="none" w="sm" len="sm"/>
                      <a:tailEnd type="none" w="sm" len="sm"/>
                    </a:lnR>
                    <a:lnT w="12700" cap="flat" cmpd="sng">
                      <a:noFill/>
                      <a:prstDash val="solid"/>
                      <a:round/>
                      <a:headEnd type="none" w="sm" len="sm"/>
                      <a:tailEnd type="none" w="sm" len="sm"/>
                    </a:lnT>
                    <a:lnB w="6350" cap="flat" cmpd="sng" algn="ctr">
                      <a:solidFill>
                        <a:srgbClr val="4EA72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2</a:t>
                      </a:r>
                    </a:p>
                  </a:txBody>
                  <a:tcPr anchor="ctr">
                    <a:lnL w="12700" cap="flat" cmpd="sng">
                      <a:noFill/>
                      <a:prstDash val="solid"/>
                      <a:round/>
                      <a:headEnd type="none" w="sm" len="sm"/>
                      <a:tailEnd type="none" w="sm" len="sm"/>
                    </a:lnL>
                    <a:lnR w="12700" cap="flat" cmpd="sng">
                      <a:noFill/>
                      <a:prstDash val="solid"/>
                      <a:round/>
                      <a:headEnd type="none" w="sm" len="sm"/>
                      <a:tailEnd type="none" w="sm" len="sm"/>
                    </a:lnR>
                    <a:lnT w="12700" cap="flat" cmpd="sng">
                      <a:noFill/>
                      <a:prstDash val="solid"/>
                      <a:round/>
                      <a:headEnd type="none" w="sm" len="sm"/>
                      <a:tailEnd type="none" w="sm" len="sm"/>
                    </a:lnT>
                    <a:lnB w="6350" cap="flat" cmpd="sng" algn="ctr">
                      <a:solidFill>
                        <a:srgbClr val="4EA72E"/>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5%</a:t>
                      </a:r>
                    </a:p>
                  </a:txBody>
                  <a:tcPr anchor="ctr">
                    <a:lnL w="12700" cap="flat" cmpd="sng">
                      <a:noFill/>
                      <a:prstDash val="solid"/>
                      <a:round/>
                      <a:headEnd type="none" w="sm" len="sm"/>
                      <a:tailEnd type="none" w="sm" len="sm"/>
                    </a:lnL>
                    <a:lnR w="6350" cap="flat" cmpd="sng" algn="ctr">
                      <a:solidFill>
                        <a:srgbClr val="4EA72E"/>
                      </a:solidFill>
                      <a:prstDash val="solid"/>
                      <a:round/>
                      <a:headEnd type="none" w="med" len="med"/>
                      <a:tailEnd type="none" w="med" len="med"/>
                    </a:lnR>
                    <a:lnT w="12700" cap="flat" cmpd="sng">
                      <a:noFill/>
                      <a:prstDash val="solid"/>
                      <a:round/>
                      <a:headEnd type="none" w="sm" len="sm"/>
                      <a:tailEnd type="none" w="sm" len="sm"/>
                    </a:lnT>
                    <a:lnB w="6350" cap="flat" cmpd="sng" algn="ctr">
                      <a:solidFill>
                        <a:srgbClr val="4EA72E"/>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85362712"/>
                  </a:ext>
                </a:extLst>
              </a:tr>
            </a:tbl>
          </a:graphicData>
        </a:graphic>
      </p:graphicFrame>
      <p:graphicFrame>
        <p:nvGraphicFramePr>
          <p:cNvPr id="4" name="Table 3">
            <a:extLst>
              <a:ext uri="{FF2B5EF4-FFF2-40B4-BE49-F238E27FC236}">
                <a16:creationId xmlns:a16="http://schemas.microsoft.com/office/drawing/2014/main" id="{1CD9AA15-70DC-0E7A-8003-2E9D97E942BB}"/>
              </a:ext>
            </a:extLst>
          </p:cNvPr>
          <p:cNvGraphicFramePr>
            <a:graphicFrameLocks noGrp="1"/>
          </p:cNvGraphicFramePr>
          <p:nvPr/>
        </p:nvGraphicFramePr>
        <p:xfrm>
          <a:off x="8255488" y="1422344"/>
          <a:ext cx="3566160" cy="1719072"/>
        </p:xfrm>
        <a:graphic>
          <a:graphicData uri="http://schemas.openxmlformats.org/drawingml/2006/table">
            <a:tbl>
              <a:tblPr firstRow="1" bandRow="1"/>
              <a:tblGrid>
                <a:gridCol w="2560320">
                  <a:extLst>
                    <a:ext uri="{9D8B030D-6E8A-4147-A177-3AD203B41FA5}">
                      <a16:colId xmlns:a16="http://schemas.microsoft.com/office/drawing/2014/main" val="1645355030"/>
                    </a:ext>
                  </a:extLst>
                </a:gridCol>
                <a:gridCol w="457200">
                  <a:extLst>
                    <a:ext uri="{9D8B030D-6E8A-4147-A177-3AD203B41FA5}">
                      <a16:colId xmlns:a16="http://schemas.microsoft.com/office/drawing/2014/main" val="2986133304"/>
                    </a:ext>
                  </a:extLst>
                </a:gridCol>
                <a:gridCol w="548640">
                  <a:extLst>
                    <a:ext uri="{9D8B030D-6E8A-4147-A177-3AD203B41FA5}">
                      <a16:colId xmlns:a16="http://schemas.microsoft.com/office/drawing/2014/main" val="284133260"/>
                    </a:ext>
                  </a:extLst>
                </a:gridCol>
              </a:tblGrid>
              <a:tr h="347472">
                <a:tc>
                  <a:txBody>
                    <a:bodyPr/>
                    <a:lstStyle/>
                    <a:p>
                      <a:r>
                        <a:rPr lang="en-US" sz="1200">
                          <a:latin typeface="Segoe UI" panose="020B0502040204020203" pitchFamily="34" charset="0"/>
                          <a:cs typeface="Segoe UI" panose="020B0502040204020203" pitchFamily="34" charset="0"/>
                        </a:rPr>
                        <a:t>Merchant Industry Vertical</a:t>
                      </a:r>
                    </a:p>
                  </a:txBody>
                  <a:tcPr anchor="ctr">
                    <a:lnL w="6350" cap="flat" cmpd="sng" algn="ctr">
                      <a:solidFill>
                        <a:srgbClr val="4EA72E"/>
                      </a:solidFill>
                      <a:prstDash val="solid"/>
                      <a:round/>
                      <a:headEnd type="none" w="med" len="med"/>
                      <a:tailEnd type="none" w="med" len="med"/>
                    </a:lnL>
                    <a:lnT w="6350" cap="flat" cmpd="sng" algn="ctr">
                      <a:solidFill>
                        <a:srgbClr val="4EA72E"/>
                      </a:solidFill>
                      <a:prstDash val="solid"/>
                      <a:round/>
                      <a:headEnd type="none" w="med" len="med"/>
                      <a:tailEnd type="none" w="med" len="med"/>
                    </a:lnT>
                    <a:solidFill>
                      <a:srgbClr val="4EA72E"/>
                    </a:solidFill>
                  </a:tcPr>
                </a:tc>
                <a:tc>
                  <a:txBody>
                    <a:bodyPr/>
                    <a:lstStyle/>
                    <a:p>
                      <a:pPr algn="ctr"/>
                      <a:r>
                        <a:rPr lang="en-US" sz="1200">
                          <a:latin typeface="Segoe UI" panose="020B0502040204020203" pitchFamily="34" charset="0"/>
                          <a:cs typeface="Segoe UI" panose="020B0502040204020203" pitchFamily="34" charset="0"/>
                        </a:rPr>
                        <a:t>#</a:t>
                      </a:r>
                    </a:p>
                  </a:txBody>
                  <a:tcPr anchor="ctr">
                    <a:lnT w="6350" cap="flat" cmpd="sng" algn="ctr">
                      <a:solidFill>
                        <a:srgbClr val="4EA72E"/>
                      </a:solidFill>
                      <a:prstDash val="solid"/>
                      <a:round/>
                      <a:headEnd type="none" w="med" len="med"/>
                      <a:tailEnd type="none" w="med" len="med"/>
                    </a:lnT>
                    <a:solidFill>
                      <a:srgbClr val="4EA72E"/>
                    </a:solidFill>
                  </a:tcPr>
                </a:tc>
                <a:tc>
                  <a:txBody>
                    <a:bodyPr/>
                    <a:lstStyle/>
                    <a:p>
                      <a:pPr algn="ctr"/>
                      <a:r>
                        <a:rPr lang="en-US" sz="1200">
                          <a:latin typeface="Segoe UI" panose="020B0502040204020203" pitchFamily="34" charset="0"/>
                          <a:cs typeface="Segoe UI" panose="020B0502040204020203" pitchFamily="34" charset="0"/>
                        </a:rPr>
                        <a:t>%</a:t>
                      </a:r>
                    </a:p>
                  </a:txBody>
                  <a:tcPr anchor="ctr">
                    <a:lnR w="6350" cap="flat" cmpd="sng" algn="ctr">
                      <a:solidFill>
                        <a:srgbClr val="4EA72E"/>
                      </a:solidFill>
                      <a:prstDash val="solid"/>
                      <a:round/>
                      <a:headEnd type="none" w="med" len="med"/>
                      <a:tailEnd type="none" w="med" len="med"/>
                    </a:lnR>
                    <a:lnT w="6350" cap="flat" cmpd="sng" algn="ctr">
                      <a:solidFill>
                        <a:srgbClr val="4EA72E"/>
                      </a:solidFill>
                      <a:prstDash val="solid"/>
                      <a:round/>
                      <a:headEnd type="none" w="med" len="med"/>
                      <a:tailEnd type="none" w="med" len="med"/>
                    </a:lnT>
                    <a:solidFill>
                      <a:srgbClr val="4EA72E"/>
                    </a:solidFill>
                  </a:tcPr>
                </a:tc>
                <a:extLst>
                  <a:ext uri="{0D108BD9-81ED-4DB2-BD59-A6C34878D82A}">
                    <a16:rowId xmlns:a16="http://schemas.microsoft.com/office/drawing/2014/main" val="1389635185"/>
                  </a:ext>
                </a:extLst>
              </a:tr>
              <a:tr h="266962">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E-commerce</a:t>
                      </a:r>
                    </a:p>
                  </a:txBody>
                  <a:tcPr anchor="ctr">
                    <a:lnL w="6350" cap="flat" cmpd="sng" algn="ctr">
                      <a:solidFill>
                        <a:srgbClr val="4EA72E"/>
                      </a:solidFill>
                      <a:prstDash val="solid"/>
                      <a:round/>
                      <a:headEnd type="none" w="med" len="med"/>
                      <a:tailEnd type="none" w="med" len="med"/>
                    </a:lnL>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15</a:t>
                      </a:r>
                    </a:p>
                  </a:txBody>
                  <a:tcPr anchor="c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38%</a:t>
                      </a:r>
                    </a:p>
                  </a:txBody>
                  <a:tcPr anchor="ctr">
                    <a:lnR w="6350" cap="flat" cmpd="sng" algn="ctr">
                      <a:solidFill>
                        <a:srgbClr val="4EA72E"/>
                      </a:solidFill>
                      <a:prstDash val="solid"/>
                      <a:round/>
                      <a:headEnd type="none" w="med" len="med"/>
                      <a:tailEnd type="none" w="med" len="med"/>
                    </a:lnR>
                    <a:solidFill>
                      <a:schemeClr val="bg1"/>
                    </a:solidFill>
                  </a:tcPr>
                </a:tc>
                <a:extLst>
                  <a:ext uri="{0D108BD9-81ED-4DB2-BD59-A6C34878D82A}">
                    <a16:rowId xmlns:a16="http://schemas.microsoft.com/office/drawing/2014/main" val="3108542753"/>
                  </a:ext>
                </a:extLst>
              </a:tr>
              <a:tr h="266962">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Hospitality</a:t>
                      </a:r>
                    </a:p>
                  </a:txBody>
                  <a:tcPr anchor="ctr">
                    <a:lnL w="6350" cap="flat" cmpd="sng" algn="ctr">
                      <a:solidFill>
                        <a:srgbClr val="4EA72E"/>
                      </a:solidFill>
                      <a:prstDash val="solid"/>
                      <a:round/>
                      <a:headEnd type="none" w="med" len="med"/>
                      <a:tailEnd type="none" w="med" len="med"/>
                    </a:lnL>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4</a:t>
                      </a:r>
                    </a:p>
                  </a:txBody>
                  <a:tcPr anchor="c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10%</a:t>
                      </a:r>
                    </a:p>
                  </a:txBody>
                  <a:tcPr anchor="ctr">
                    <a:lnR w="6350" cap="flat" cmpd="sng" algn="ctr">
                      <a:solidFill>
                        <a:srgbClr val="4EA72E"/>
                      </a:solidFill>
                      <a:prstDash val="solid"/>
                      <a:round/>
                      <a:headEnd type="none" w="med" len="med"/>
                      <a:tailEnd type="none" w="med" len="med"/>
                    </a:lnR>
                    <a:solidFill>
                      <a:schemeClr val="bg1"/>
                    </a:solidFill>
                  </a:tcPr>
                </a:tc>
                <a:extLst>
                  <a:ext uri="{0D108BD9-81ED-4DB2-BD59-A6C34878D82A}">
                    <a16:rowId xmlns:a16="http://schemas.microsoft.com/office/drawing/2014/main" val="1932061161"/>
                  </a:ext>
                </a:extLst>
              </a:tr>
              <a:tr h="266962">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Retail</a:t>
                      </a:r>
                    </a:p>
                  </a:txBody>
                  <a:tcPr anchor="ctr">
                    <a:lnL w="6350" cap="flat" cmpd="sng" algn="ctr">
                      <a:solidFill>
                        <a:srgbClr val="4EA72E"/>
                      </a:solidFill>
                      <a:prstDash val="solid"/>
                      <a:round/>
                      <a:headEnd type="none" w="med" len="med"/>
                      <a:tailEnd type="none" w="med" len="med"/>
                    </a:lnL>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16</a:t>
                      </a:r>
                    </a:p>
                  </a:txBody>
                  <a:tcPr anchor="c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41%</a:t>
                      </a:r>
                    </a:p>
                  </a:txBody>
                  <a:tcPr anchor="ctr">
                    <a:lnR w="6350" cap="flat" cmpd="sng" algn="ctr">
                      <a:solidFill>
                        <a:srgbClr val="4EA72E"/>
                      </a:solidFill>
                      <a:prstDash val="solid"/>
                      <a:round/>
                      <a:headEnd type="none" w="med" len="med"/>
                      <a:tailEnd type="none" w="med" len="med"/>
                    </a:lnR>
                    <a:solidFill>
                      <a:schemeClr val="bg1"/>
                    </a:solidFill>
                  </a:tcPr>
                </a:tc>
                <a:extLst>
                  <a:ext uri="{0D108BD9-81ED-4DB2-BD59-A6C34878D82A}">
                    <a16:rowId xmlns:a16="http://schemas.microsoft.com/office/drawing/2014/main" val="1623894732"/>
                  </a:ext>
                </a:extLst>
              </a:tr>
              <a:tr h="266962">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Airlines</a:t>
                      </a:r>
                    </a:p>
                  </a:txBody>
                  <a:tcPr anchor="ctr">
                    <a:lnL w="6350" cap="flat" cmpd="sng" algn="ctr">
                      <a:solidFill>
                        <a:srgbClr val="4EA72E"/>
                      </a:solidFill>
                      <a:prstDash val="solid"/>
                      <a:round/>
                      <a:headEnd type="none" w="med" len="med"/>
                      <a:tailEnd type="none" w="med" len="med"/>
                    </a:lnL>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1</a:t>
                      </a:r>
                    </a:p>
                  </a:txBody>
                  <a:tcPr anchor="c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3%</a:t>
                      </a:r>
                    </a:p>
                  </a:txBody>
                  <a:tcPr anchor="ctr">
                    <a:lnR w="6350" cap="flat" cmpd="sng" algn="ctr">
                      <a:solidFill>
                        <a:srgbClr val="4EA72E"/>
                      </a:solidFill>
                      <a:prstDash val="solid"/>
                      <a:round/>
                      <a:headEnd type="none" w="med" len="med"/>
                      <a:tailEnd type="none" w="med" len="med"/>
                    </a:lnR>
                    <a:solidFill>
                      <a:schemeClr val="bg1"/>
                    </a:solidFill>
                  </a:tcPr>
                </a:tc>
                <a:extLst>
                  <a:ext uri="{0D108BD9-81ED-4DB2-BD59-A6C34878D82A}">
                    <a16:rowId xmlns:a16="http://schemas.microsoft.com/office/drawing/2014/main" val="1706160539"/>
                  </a:ext>
                </a:extLst>
              </a:tr>
              <a:tr h="266962">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Consumer Services</a:t>
                      </a:r>
                    </a:p>
                  </a:txBody>
                  <a:tcPr anchor="ctr">
                    <a:lnL w="6350" cap="flat" cmpd="sng" algn="ctr">
                      <a:solidFill>
                        <a:srgbClr val="4EA72E"/>
                      </a:solidFill>
                      <a:prstDash val="solid"/>
                      <a:round/>
                      <a:headEnd type="none" w="med" len="med"/>
                      <a:tailEnd type="none" w="med" len="med"/>
                    </a:lnL>
                    <a:lnB w="6350" cap="flat" cmpd="sng" algn="ctr">
                      <a:solidFill>
                        <a:srgbClr val="4EA72E"/>
                      </a:solidFill>
                      <a:prstDash val="solid"/>
                      <a:round/>
                      <a:headEnd type="none" w="med" len="med"/>
                      <a:tailEnd type="none" w="med" len="med"/>
                    </a:lnB>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3</a:t>
                      </a:r>
                    </a:p>
                  </a:txBody>
                  <a:tcPr anchor="ctr">
                    <a:lnB w="6350" cap="flat" cmpd="sng" algn="ctr">
                      <a:solidFill>
                        <a:srgbClr val="4EA72E"/>
                      </a:solidFill>
                      <a:prstDash val="solid"/>
                      <a:round/>
                      <a:headEnd type="none" w="med" len="med"/>
                      <a:tailEnd type="none" w="med" len="med"/>
                    </a:lnB>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8%</a:t>
                      </a:r>
                    </a:p>
                  </a:txBody>
                  <a:tcPr anchor="ctr">
                    <a:lnR w="6350" cap="flat" cmpd="sng" algn="ctr">
                      <a:solidFill>
                        <a:srgbClr val="4EA72E"/>
                      </a:solidFill>
                      <a:prstDash val="solid"/>
                      <a:round/>
                      <a:headEnd type="none" w="med" len="med"/>
                      <a:tailEnd type="none" w="med" len="med"/>
                    </a:lnR>
                    <a:lnB w="6350" cap="flat" cmpd="sng" algn="ctr">
                      <a:solidFill>
                        <a:srgbClr val="4EA72E"/>
                      </a:solidFill>
                      <a:prstDash val="solid"/>
                      <a:round/>
                      <a:headEnd type="none" w="med" len="med"/>
                      <a:tailEnd type="none" w="med" len="med"/>
                    </a:lnB>
                    <a:solidFill>
                      <a:schemeClr val="bg1"/>
                    </a:solidFill>
                  </a:tcPr>
                </a:tc>
                <a:extLst>
                  <a:ext uri="{0D108BD9-81ED-4DB2-BD59-A6C34878D82A}">
                    <a16:rowId xmlns:a16="http://schemas.microsoft.com/office/drawing/2014/main" val="1716599354"/>
                  </a:ext>
                </a:extLst>
              </a:tr>
            </a:tbl>
          </a:graphicData>
        </a:graphic>
      </p:graphicFrame>
      <p:graphicFrame>
        <p:nvGraphicFramePr>
          <p:cNvPr id="5" name="Table 4">
            <a:extLst>
              <a:ext uri="{FF2B5EF4-FFF2-40B4-BE49-F238E27FC236}">
                <a16:creationId xmlns:a16="http://schemas.microsoft.com/office/drawing/2014/main" id="{FFE50571-5F59-1E85-C156-6E75539F8845}"/>
              </a:ext>
            </a:extLst>
          </p:cNvPr>
          <p:cNvGraphicFramePr>
            <a:graphicFrameLocks noGrp="1"/>
          </p:cNvGraphicFramePr>
          <p:nvPr/>
        </p:nvGraphicFramePr>
        <p:xfrm>
          <a:off x="4312920" y="1422341"/>
          <a:ext cx="3566160" cy="1715837"/>
        </p:xfrm>
        <a:graphic>
          <a:graphicData uri="http://schemas.openxmlformats.org/drawingml/2006/table">
            <a:tbl>
              <a:tblPr firstRow="1" bandRow="1"/>
              <a:tblGrid>
                <a:gridCol w="2560320">
                  <a:extLst>
                    <a:ext uri="{9D8B030D-6E8A-4147-A177-3AD203B41FA5}">
                      <a16:colId xmlns:a16="http://schemas.microsoft.com/office/drawing/2014/main" val="1645355030"/>
                    </a:ext>
                  </a:extLst>
                </a:gridCol>
                <a:gridCol w="457200">
                  <a:extLst>
                    <a:ext uri="{9D8B030D-6E8A-4147-A177-3AD203B41FA5}">
                      <a16:colId xmlns:a16="http://schemas.microsoft.com/office/drawing/2014/main" val="2986133304"/>
                    </a:ext>
                  </a:extLst>
                </a:gridCol>
                <a:gridCol w="548640">
                  <a:extLst>
                    <a:ext uri="{9D8B030D-6E8A-4147-A177-3AD203B41FA5}">
                      <a16:colId xmlns:a16="http://schemas.microsoft.com/office/drawing/2014/main" val="284133260"/>
                    </a:ext>
                  </a:extLst>
                </a:gridCol>
              </a:tblGrid>
              <a:tr h="344237">
                <a:tc>
                  <a:txBody>
                    <a:bodyPr/>
                    <a:lstStyle/>
                    <a:p>
                      <a:r>
                        <a:rPr lang="en-US" sz="1200">
                          <a:latin typeface="Segoe UI" panose="020B0502040204020203" pitchFamily="34" charset="0"/>
                          <a:cs typeface="Segoe UI" panose="020B0502040204020203" pitchFamily="34" charset="0"/>
                        </a:rPr>
                        <a:t>Merchant Annual Revenue</a:t>
                      </a:r>
                    </a:p>
                  </a:txBody>
                  <a:tcPr anchor="ctr">
                    <a:lnL w="6350" cap="flat" cmpd="sng" algn="ctr">
                      <a:solidFill>
                        <a:srgbClr val="4EA72E"/>
                      </a:solidFill>
                      <a:prstDash val="solid"/>
                      <a:round/>
                      <a:headEnd type="none" w="med" len="med"/>
                      <a:tailEnd type="none" w="med" len="med"/>
                    </a:lnL>
                    <a:lnT w="6350" cap="flat" cmpd="sng" algn="ctr">
                      <a:solidFill>
                        <a:srgbClr val="4EA72E"/>
                      </a:solidFill>
                      <a:prstDash val="solid"/>
                      <a:round/>
                      <a:headEnd type="none" w="med" len="med"/>
                      <a:tailEnd type="none" w="med" len="med"/>
                    </a:lnT>
                    <a:solidFill>
                      <a:srgbClr val="4EA72E"/>
                    </a:solidFill>
                  </a:tcPr>
                </a:tc>
                <a:tc>
                  <a:txBody>
                    <a:bodyPr/>
                    <a:lstStyle/>
                    <a:p>
                      <a:pPr algn="ctr"/>
                      <a:r>
                        <a:rPr lang="en-US" sz="1200">
                          <a:latin typeface="Segoe UI" panose="020B0502040204020203" pitchFamily="34" charset="0"/>
                          <a:cs typeface="Segoe UI" panose="020B0502040204020203" pitchFamily="34" charset="0"/>
                        </a:rPr>
                        <a:t>#</a:t>
                      </a:r>
                    </a:p>
                  </a:txBody>
                  <a:tcPr anchor="ctr">
                    <a:lnT w="6350" cap="flat" cmpd="sng" algn="ctr">
                      <a:solidFill>
                        <a:srgbClr val="4EA72E"/>
                      </a:solidFill>
                      <a:prstDash val="solid"/>
                      <a:round/>
                      <a:headEnd type="none" w="med" len="med"/>
                      <a:tailEnd type="none" w="med" len="med"/>
                    </a:lnT>
                    <a:solidFill>
                      <a:srgbClr val="4EA72E"/>
                    </a:solidFill>
                  </a:tcPr>
                </a:tc>
                <a:tc>
                  <a:txBody>
                    <a:bodyPr/>
                    <a:lstStyle/>
                    <a:p>
                      <a:pPr algn="ctr"/>
                      <a:r>
                        <a:rPr lang="en-US" sz="1200">
                          <a:latin typeface="Segoe UI" panose="020B0502040204020203" pitchFamily="34" charset="0"/>
                          <a:cs typeface="Segoe UI" panose="020B0502040204020203" pitchFamily="34" charset="0"/>
                        </a:rPr>
                        <a:t>%</a:t>
                      </a:r>
                    </a:p>
                  </a:txBody>
                  <a:tcPr anchor="ctr">
                    <a:lnR w="6350" cap="flat" cmpd="sng" algn="ctr">
                      <a:solidFill>
                        <a:srgbClr val="4EA72E"/>
                      </a:solidFill>
                      <a:prstDash val="solid"/>
                      <a:round/>
                      <a:headEnd type="none" w="med" len="med"/>
                      <a:tailEnd type="none" w="med" len="med"/>
                    </a:lnR>
                    <a:lnT w="6350" cap="flat" cmpd="sng" algn="ctr">
                      <a:solidFill>
                        <a:srgbClr val="4EA72E"/>
                      </a:solidFill>
                      <a:prstDash val="solid"/>
                      <a:round/>
                      <a:headEnd type="none" w="med" len="med"/>
                      <a:tailEnd type="none" w="med" len="med"/>
                    </a:lnT>
                    <a:solidFill>
                      <a:srgbClr val="4EA72E"/>
                    </a:solidFill>
                  </a:tcPr>
                </a:tc>
                <a:extLst>
                  <a:ext uri="{0D108BD9-81ED-4DB2-BD59-A6C34878D82A}">
                    <a16:rowId xmlns:a16="http://schemas.microsoft.com/office/drawing/2014/main" val="1389635185"/>
                  </a:ext>
                </a:extLst>
              </a:tr>
              <a:tr h="338328">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Less than $1 Million</a:t>
                      </a:r>
                    </a:p>
                  </a:txBody>
                  <a:tcPr anchor="ctr">
                    <a:lnL w="6350" cap="flat" cmpd="sng" algn="ctr">
                      <a:solidFill>
                        <a:srgbClr val="4EA72E"/>
                      </a:solidFill>
                      <a:prstDash val="solid"/>
                      <a:round/>
                      <a:headEnd type="none" w="med" len="med"/>
                      <a:tailEnd type="none" w="med" len="med"/>
                    </a:lnL>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0</a:t>
                      </a:r>
                    </a:p>
                  </a:txBody>
                  <a:tcPr anchor="c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0%</a:t>
                      </a:r>
                    </a:p>
                  </a:txBody>
                  <a:tcPr anchor="ctr">
                    <a:lnR w="6350" cap="flat" cmpd="sng" algn="ctr">
                      <a:solidFill>
                        <a:srgbClr val="4EA72E"/>
                      </a:solidFill>
                      <a:prstDash val="solid"/>
                      <a:round/>
                      <a:headEnd type="none" w="med" len="med"/>
                      <a:tailEnd type="none" w="med" len="med"/>
                    </a:lnR>
                    <a:solidFill>
                      <a:schemeClr val="bg1"/>
                    </a:solidFill>
                  </a:tcPr>
                </a:tc>
                <a:extLst>
                  <a:ext uri="{0D108BD9-81ED-4DB2-BD59-A6C34878D82A}">
                    <a16:rowId xmlns:a16="http://schemas.microsoft.com/office/drawing/2014/main" val="3108542753"/>
                  </a:ext>
                </a:extLst>
              </a:tr>
              <a:tr h="338328">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$1 Million to $49.9 Million</a:t>
                      </a:r>
                    </a:p>
                  </a:txBody>
                  <a:tcPr anchor="ctr">
                    <a:lnL w="6350" cap="flat" cmpd="sng" algn="ctr">
                      <a:solidFill>
                        <a:srgbClr val="4EA72E"/>
                      </a:solidFill>
                      <a:prstDash val="solid"/>
                      <a:round/>
                      <a:headEnd type="none" w="med" len="med"/>
                      <a:tailEnd type="none" w="med" len="med"/>
                    </a:lnL>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2</a:t>
                      </a:r>
                    </a:p>
                  </a:txBody>
                  <a:tcPr anchor="c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5%</a:t>
                      </a:r>
                    </a:p>
                  </a:txBody>
                  <a:tcPr anchor="ctr">
                    <a:lnR w="6350" cap="flat" cmpd="sng" algn="ctr">
                      <a:solidFill>
                        <a:srgbClr val="4EA72E"/>
                      </a:solidFill>
                      <a:prstDash val="solid"/>
                      <a:round/>
                      <a:headEnd type="none" w="med" len="med"/>
                      <a:tailEnd type="none" w="med" len="med"/>
                    </a:lnR>
                    <a:solidFill>
                      <a:schemeClr val="bg1"/>
                    </a:solidFill>
                  </a:tcPr>
                </a:tc>
                <a:extLst>
                  <a:ext uri="{0D108BD9-81ED-4DB2-BD59-A6C34878D82A}">
                    <a16:rowId xmlns:a16="http://schemas.microsoft.com/office/drawing/2014/main" val="1932061161"/>
                  </a:ext>
                </a:extLst>
              </a:tr>
              <a:tr h="338328">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$50 Million to $99.9 Million</a:t>
                      </a:r>
                    </a:p>
                  </a:txBody>
                  <a:tcPr anchor="ctr">
                    <a:lnL w="6350" cap="flat" cmpd="sng" algn="ctr">
                      <a:solidFill>
                        <a:srgbClr val="4EA72E"/>
                      </a:solidFill>
                      <a:prstDash val="solid"/>
                      <a:round/>
                      <a:headEnd type="none" w="med" len="med"/>
                      <a:tailEnd type="none" w="med" len="med"/>
                    </a:lnL>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5</a:t>
                      </a:r>
                    </a:p>
                  </a:txBody>
                  <a:tcPr anchor="ctr">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13%</a:t>
                      </a:r>
                    </a:p>
                  </a:txBody>
                  <a:tcPr anchor="ctr">
                    <a:lnR w="6350" cap="flat" cmpd="sng" algn="ctr">
                      <a:solidFill>
                        <a:srgbClr val="4EA72E"/>
                      </a:solidFill>
                      <a:prstDash val="solid"/>
                      <a:round/>
                      <a:headEnd type="none" w="med" len="med"/>
                      <a:tailEnd type="none" w="med" len="med"/>
                    </a:lnR>
                    <a:solidFill>
                      <a:schemeClr val="bg1"/>
                    </a:solidFill>
                  </a:tcPr>
                </a:tc>
                <a:extLst>
                  <a:ext uri="{0D108BD9-81ED-4DB2-BD59-A6C34878D82A}">
                    <a16:rowId xmlns:a16="http://schemas.microsoft.com/office/drawing/2014/main" val="1623894732"/>
                  </a:ext>
                </a:extLst>
              </a:tr>
              <a:tr h="356616">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$100 Million or more</a:t>
                      </a:r>
                    </a:p>
                  </a:txBody>
                  <a:tcPr anchor="ctr">
                    <a:lnL w="6350" cap="flat" cmpd="sng" algn="ctr">
                      <a:solidFill>
                        <a:srgbClr val="4EA72E"/>
                      </a:solidFill>
                      <a:prstDash val="solid"/>
                      <a:round/>
                      <a:headEnd type="none" w="med" len="med"/>
                      <a:tailEnd type="none" w="med" len="med"/>
                    </a:lnL>
                    <a:lnB w="6350" cap="flat" cmpd="sng" algn="ctr">
                      <a:solidFill>
                        <a:srgbClr val="4EA72E"/>
                      </a:solidFill>
                      <a:prstDash val="solid"/>
                      <a:round/>
                      <a:headEnd type="none" w="med" len="med"/>
                      <a:tailEnd type="none" w="med" len="med"/>
                    </a:lnB>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32</a:t>
                      </a:r>
                    </a:p>
                  </a:txBody>
                  <a:tcPr anchor="ctr">
                    <a:lnB w="6350" cap="flat" cmpd="sng" algn="ctr">
                      <a:solidFill>
                        <a:srgbClr val="4EA72E"/>
                      </a:solidFill>
                      <a:prstDash val="solid"/>
                      <a:round/>
                      <a:headEnd type="none" w="med" len="med"/>
                      <a:tailEnd type="none" w="med" len="med"/>
                    </a:lnB>
                    <a:solidFill>
                      <a:schemeClr val="bg1"/>
                    </a:solidFill>
                  </a:tcPr>
                </a:tc>
                <a:tc>
                  <a:txBody>
                    <a:bodyPr/>
                    <a:lstStyle/>
                    <a:p>
                      <a:pPr algn="ctr"/>
                      <a:r>
                        <a:rPr lang="en-US" sz="1200">
                          <a:solidFill>
                            <a:schemeClr val="tx1">
                              <a:lumMod val="75000"/>
                              <a:lumOff val="25000"/>
                            </a:schemeClr>
                          </a:solidFill>
                          <a:latin typeface="Segoe UI" panose="020B0502040204020203" pitchFamily="34" charset="0"/>
                          <a:cs typeface="Segoe UI" panose="020B0502040204020203" pitchFamily="34" charset="0"/>
                        </a:rPr>
                        <a:t>82%</a:t>
                      </a:r>
                    </a:p>
                  </a:txBody>
                  <a:tcPr anchor="ctr">
                    <a:lnR w="6350" cap="flat" cmpd="sng" algn="ctr">
                      <a:solidFill>
                        <a:srgbClr val="4EA72E"/>
                      </a:solidFill>
                      <a:prstDash val="solid"/>
                      <a:round/>
                      <a:headEnd type="none" w="med" len="med"/>
                      <a:tailEnd type="none" w="med" len="med"/>
                    </a:lnR>
                    <a:lnB w="6350" cap="flat" cmpd="sng" algn="ctr">
                      <a:solidFill>
                        <a:srgbClr val="4EA72E"/>
                      </a:solidFill>
                      <a:prstDash val="solid"/>
                      <a:round/>
                      <a:headEnd type="none" w="med" len="med"/>
                      <a:tailEnd type="none" w="med" len="med"/>
                    </a:lnB>
                    <a:solidFill>
                      <a:schemeClr val="bg1"/>
                    </a:solidFill>
                  </a:tcPr>
                </a:tc>
                <a:extLst>
                  <a:ext uri="{0D108BD9-81ED-4DB2-BD59-A6C34878D82A}">
                    <a16:rowId xmlns:a16="http://schemas.microsoft.com/office/drawing/2014/main" val="1706160539"/>
                  </a:ext>
                </a:extLst>
              </a:tr>
            </a:tbl>
          </a:graphicData>
        </a:graphic>
      </p:graphicFrame>
      <p:graphicFrame>
        <p:nvGraphicFramePr>
          <p:cNvPr id="7" name="Chart 6">
            <a:extLst>
              <a:ext uri="{FF2B5EF4-FFF2-40B4-BE49-F238E27FC236}">
                <a16:creationId xmlns:a16="http://schemas.microsoft.com/office/drawing/2014/main" id="{90C2EAE6-A17F-411A-ECFD-6C9942715790}"/>
              </a:ext>
            </a:extLst>
          </p:cNvPr>
          <p:cNvGraphicFramePr>
            <a:graphicFrameLocks/>
          </p:cNvGraphicFramePr>
          <p:nvPr/>
        </p:nvGraphicFramePr>
        <p:xfrm>
          <a:off x="4312921" y="3449258"/>
          <a:ext cx="7508730" cy="2937098"/>
        </p:xfrm>
        <a:graphic>
          <a:graphicData uri="http://schemas.openxmlformats.org/drawingml/2006/chart">
            <c:chart xmlns:c="http://schemas.openxmlformats.org/drawingml/2006/chart" xmlns:r="http://schemas.openxmlformats.org/officeDocument/2006/relationships" r:id="rId3"/>
          </a:graphicData>
        </a:graphic>
      </p:graphicFrame>
      <p:sp>
        <p:nvSpPr>
          <p:cNvPr id="9" name="Rectangle 8">
            <a:extLst>
              <a:ext uri="{FF2B5EF4-FFF2-40B4-BE49-F238E27FC236}">
                <a16:creationId xmlns:a16="http://schemas.microsoft.com/office/drawing/2014/main" id="{CD65814A-A573-8EC3-E09C-71A8B02FF08B}"/>
              </a:ext>
            </a:extLst>
          </p:cNvPr>
          <p:cNvSpPr/>
          <p:nvPr/>
        </p:nvSpPr>
        <p:spPr bwMode="gray">
          <a:xfrm>
            <a:off x="-3" y="355729"/>
            <a:ext cx="12192001" cy="883491"/>
          </a:xfrm>
          <a:prstGeom prst="rect">
            <a:avLst/>
          </a:prstGeom>
          <a:solidFill>
            <a:schemeClr val="bg1">
              <a:lumMod val="95000"/>
            </a:schemeClr>
          </a:solidFill>
          <a:ln w="19050" algn="ctr">
            <a:noFill/>
            <a:miter lim="800000"/>
            <a:headEnd/>
            <a:tailEnd/>
          </a:ln>
        </p:spPr>
        <p:txBody>
          <a:bodyPr wrap="square" lIns="365760" tIns="88900" rIns="365760" bIns="88900" rtlCol="0" anchor="ctr"/>
          <a:lstStyle/>
          <a:p>
            <a:pPr marL="0" marR="0" lvl="0" indent="0" algn="ctr" defTabSz="914400" rtl="0" eaLnBrk="1" fontAlgn="auto" latinLnBrk="0" hangingPunct="1">
              <a:lnSpc>
                <a:spcPct val="106000"/>
              </a:lnSpc>
              <a:spcBef>
                <a:spcPts val="0"/>
              </a:spcBef>
              <a:spcAft>
                <a:spcPts val="0"/>
              </a:spcAft>
              <a:buClr>
                <a:srgbClr val="000000"/>
              </a:buClr>
              <a:buSzTx/>
              <a:buFont typeface="Wingdings 2" pitchFamily="18" charset="2"/>
              <a:buNone/>
              <a:tabLst/>
              <a:defRPr/>
            </a:pPr>
            <a:r>
              <a:rPr kumimoji="0" lang="en-US" sz="14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To better understand industry perspectives and challenges related to agentic AI and AI-enabled fraud in retail, Deloitte surveyed 39 North American merchants across various industry verticals. All participants have relevant understanding and experiences with agentic AI, and their organizations reported annual revenues ranging from $1 million to over $100 million.</a:t>
            </a:r>
          </a:p>
        </p:txBody>
      </p:sp>
      <p:sp>
        <p:nvSpPr>
          <p:cNvPr id="10" name="Rectangle 9">
            <a:extLst>
              <a:ext uri="{FF2B5EF4-FFF2-40B4-BE49-F238E27FC236}">
                <a16:creationId xmlns:a16="http://schemas.microsoft.com/office/drawing/2014/main" id="{62F58CA2-7F97-D042-4B64-1626513F9681}"/>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PROFILE OF RESPONDENTS: 2025 DELOITTE SURVEY ON AI-ENABLED FRAUD IN RETAIL </a:t>
            </a:r>
          </a:p>
        </p:txBody>
      </p:sp>
      <p:sp>
        <p:nvSpPr>
          <p:cNvPr id="6" name="Rectangle 5">
            <a:extLst>
              <a:ext uri="{FF2B5EF4-FFF2-40B4-BE49-F238E27FC236}">
                <a16:creationId xmlns:a16="http://schemas.microsoft.com/office/drawing/2014/main" id="{7D24B981-5632-C386-168A-F6730367368E}"/>
              </a:ext>
            </a:extLst>
          </p:cNvPr>
          <p:cNvSpPr/>
          <p:nvPr/>
        </p:nvSpPr>
        <p:spPr>
          <a:xfrm>
            <a:off x="370350" y="1428750"/>
            <a:ext cx="3566160" cy="3905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Respondent Location</a:t>
            </a:r>
          </a:p>
        </p:txBody>
      </p:sp>
      <p:sp>
        <p:nvSpPr>
          <p:cNvPr id="8" name="Rectangle 7">
            <a:extLst>
              <a:ext uri="{FF2B5EF4-FFF2-40B4-BE49-F238E27FC236}">
                <a16:creationId xmlns:a16="http://schemas.microsoft.com/office/drawing/2014/main" id="{C65960EB-6F73-ABDC-7843-8A6995ADC0E7}"/>
              </a:ext>
            </a:extLst>
          </p:cNvPr>
          <p:cNvSpPr/>
          <p:nvPr/>
        </p:nvSpPr>
        <p:spPr>
          <a:xfrm>
            <a:off x="370349" y="2734162"/>
            <a:ext cx="1783080" cy="3905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United States</a:t>
            </a:r>
          </a:p>
        </p:txBody>
      </p:sp>
      <p:sp>
        <p:nvSpPr>
          <p:cNvPr id="11" name="Rectangle 10">
            <a:extLst>
              <a:ext uri="{FF2B5EF4-FFF2-40B4-BE49-F238E27FC236}">
                <a16:creationId xmlns:a16="http://schemas.microsoft.com/office/drawing/2014/main" id="{B88C96FF-DC42-F7BD-3EE7-B7E001A439E9}"/>
              </a:ext>
            </a:extLst>
          </p:cNvPr>
          <p:cNvSpPr/>
          <p:nvPr/>
        </p:nvSpPr>
        <p:spPr>
          <a:xfrm>
            <a:off x="2153430" y="2734162"/>
            <a:ext cx="1783080" cy="3905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Canada</a:t>
            </a:r>
          </a:p>
        </p:txBody>
      </p:sp>
      <p:sp>
        <p:nvSpPr>
          <p:cNvPr id="12" name="Rectangle 11">
            <a:extLst>
              <a:ext uri="{FF2B5EF4-FFF2-40B4-BE49-F238E27FC236}">
                <a16:creationId xmlns:a16="http://schemas.microsoft.com/office/drawing/2014/main" id="{486B82D6-4B27-05D0-A4ED-5D2BD68CB163}"/>
              </a:ext>
            </a:extLst>
          </p:cNvPr>
          <p:cNvSpPr/>
          <p:nvPr/>
        </p:nvSpPr>
        <p:spPr>
          <a:xfrm>
            <a:off x="370349" y="1788562"/>
            <a:ext cx="1783080" cy="9456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4800" b="1"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92%</a:t>
            </a:r>
          </a:p>
        </p:txBody>
      </p:sp>
      <p:sp>
        <p:nvSpPr>
          <p:cNvPr id="13" name="Rectangle 12">
            <a:extLst>
              <a:ext uri="{FF2B5EF4-FFF2-40B4-BE49-F238E27FC236}">
                <a16:creationId xmlns:a16="http://schemas.microsoft.com/office/drawing/2014/main" id="{FF060EC4-6826-5650-ACBE-382BC0499E81}"/>
              </a:ext>
            </a:extLst>
          </p:cNvPr>
          <p:cNvSpPr/>
          <p:nvPr/>
        </p:nvSpPr>
        <p:spPr>
          <a:xfrm>
            <a:off x="2153430" y="1788562"/>
            <a:ext cx="1783080" cy="9456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4800" b="1" i="0" u="none" strike="noStrike" kern="0" cap="none" spc="0" normalizeH="0" baseline="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8%</a:t>
            </a:r>
          </a:p>
        </p:txBody>
      </p:sp>
      <p:sp>
        <p:nvSpPr>
          <p:cNvPr id="15" name="Rectangle 14">
            <a:extLst>
              <a:ext uri="{FF2B5EF4-FFF2-40B4-BE49-F238E27FC236}">
                <a16:creationId xmlns:a16="http://schemas.microsoft.com/office/drawing/2014/main" id="{EC06404C-066E-7B96-B784-CE1088CAEF76}"/>
              </a:ext>
            </a:extLst>
          </p:cNvPr>
          <p:cNvSpPr/>
          <p:nvPr/>
        </p:nvSpPr>
        <p:spPr bwMode="gray">
          <a:xfrm>
            <a:off x="-3" y="3283504"/>
            <a:ext cx="12192001" cy="107848"/>
          </a:xfrm>
          <a:prstGeom prst="rect">
            <a:avLst/>
          </a:prstGeom>
          <a:solidFill>
            <a:schemeClr val="bg1">
              <a:lumMod val="95000"/>
            </a:schemeClr>
          </a:solidFill>
          <a:ln w="19050" algn="ctr">
            <a:noFill/>
            <a:miter lim="800000"/>
            <a:headEnd/>
            <a:tailEnd/>
          </a:ln>
        </p:spPr>
        <p:txBody>
          <a:bodyPr wrap="square" lIns="365760" tIns="88900" rIns="365760" bIns="88900" rtlCol="0" anchor="ctr"/>
          <a:lstStyle/>
          <a:p>
            <a:pPr marL="0" marR="0" lvl="0" indent="0" algn="ctr" defTabSz="914400" rtl="0" eaLnBrk="1" fontAlgn="auto" latinLnBrk="0" hangingPunct="1">
              <a:lnSpc>
                <a:spcPct val="106000"/>
              </a:lnSpc>
              <a:spcBef>
                <a:spcPts val="0"/>
              </a:spcBef>
              <a:spcAft>
                <a:spcPts val="0"/>
              </a:spcAft>
              <a:buClr>
                <a:srgbClr val="000000"/>
              </a:buClr>
              <a:buSzTx/>
              <a:buFont typeface="Wingdings 2" pitchFamily="18" charset="2"/>
              <a:buNone/>
              <a:tabLst/>
              <a:defRPr/>
            </a:pPr>
            <a:endParaRPr kumimoji="0" lang="en-US" sz="14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endParaRPr>
          </a:p>
        </p:txBody>
      </p:sp>
      <p:sp>
        <p:nvSpPr>
          <p:cNvPr id="24" name="Freeform: Shape 23">
            <a:extLst>
              <a:ext uri="{FF2B5EF4-FFF2-40B4-BE49-F238E27FC236}">
                <a16:creationId xmlns:a16="http://schemas.microsoft.com/office/drawing/2014/main" id="{86A99798-A4F4-0D54-1AD5-F234188F6A66}"/>
              </a:ext>
            </a:extLst>
          </p:cNvPr>
          <p:cNvSpPr/>
          <p:nvPr/>
        </p:nvSpPr>
        <p:spPr>
          <a:xfrm>
            <a:off x="2153430" y="2659600"/>
            <a:ext cx="197169" cy="109728"/>
          </a:xfrm>
          <a:custGeom>
            <a:avLst/>
            <a:gdLst>
              <a:gd name="connsiteX0" fmla="*/ 0 w 197169"/>
              <a:gd name="connsiteY0" fmla="*/ 0 h 109728"/>
              <a:gd name="connsiteX1" fmla="*/ 142305 w 197169"/>
              <a:gd name="connsiteY1" fmla="*/ 0 h 109728"/>
              <a:gd name="connsiteX2" fmla="*/ 146304 w 197169"/>
              <a:gd name="connsiteY2" fmla="*/ 0 h 109728"/>
              <a:gd name="connsiteX3" fmla="*/ 146304 w 197169"/>
              <a:gd name="connsiteY3" fmla="*/ 807 h 109728"/>
              <a:gd name="connsiteX4" fmla="*/ 163661 w 197169"/>
              <a:gd name="connsiteY4" fmla="*/ 4312 h 109728"/>
              <a:gd name="connsiteX5" fmla="*/ 197169 w 197169"/>
              <a:gd name="connsiteY5" fmla="*/ 54864 h 109728"/>
              <a:gd name="connsiteX6" fmla="*/ 163661 w 197169"/>
              <a:gd name="connsiteY6" fmla="*/ 105417 h 109728"/>
              <a:gd name="connsiteX7" fmla="*/ 146304 w 197169"/>
              <a:gd name="connsiteY7" fmla="*/ 108921 h 109728"/>
              <a:gd name="connsiteX8" fmla="*/ 146304 w 197169"/>
              <a:gd name="connsiteY8" fmla="*/ 109728 h 109728"/>
              <a:gd name="connsiteX9" fmla="*/ 142305 w 197169"/>
              <a:gd name="connsiteY9" fmla="*/ 109728 h 109728"/>
              <a:gd name="connsiteX10" fmla="*/ 0 w 197169"/>
              <a:gd name="connsiteY10" fmla="*/ 109728 h 109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169" h="109728">
                <a:moveTo>
                  <a:pt x="0" y="0"/>
                </a:moveTo>
                <a:lnTo>
                  <a:pt x="142305" y="0"/>
                </a:lnTo>
                <a:lnTo>
                  <a:pt x="146304" y="0"/>
                </a:lnTo>
                <a:lnTo>
                  <a:pt x="146304" y="807"/>
                </a:lnTo>
                <a:lnTo>
                  <a:pt x="163661" y="4312"/>
                </a:lnTo>
                <a:cubicBezTo>
                  <a:pt x="183352" y="12640"/>
                  <a:pt x="197169" y="32138"/>
                  <a:pt x="197169" y="54864"/>
                </a:cubicBezTo>
                <a:cubicBezTo>
                  <a:pt x="197169" y="77590"/>
                  <a:pt x="183352" y="97088"/>
                  <a:pt x="163661" y="105417"/>
                </a:cubicBezTo>
                <a:lnTo>
                  <a:pt x="146304" y="108921"/>
                </a:lnTo>
                <a:lnTo>
                  <a:pt x="146304" y="109728"/>
                </a:lnTo>
                <a:lnTo>
                  <a:pt x="142305" y="109728"/>
                </a:lnTo>
                <a:lnTo>
                  <a:pt x="0" y="109728"/>
                </a:lnTo>
                <a:close/>
              </a:path>
            </a:pathLst>
          </a:cu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 name="Freeform: Shape 22">
            <a:extLst>
              <a:ext uri="{FF2B5EF4-FFF2-40B4-BE49-F238E27FC236}">
                <a16:creationId xmlns:a16="http://schemas.microsoft.com/office/drawing/2014/main" id="{4DAF90F3-1575-8C91-4AB8-5F3A5D44A4BB}"/>
              </a:ext>
            </a:extLst>
          </p:cNvPr>
          <p:cNvSpPr/>
          <p:nvPr/>
        </p:nvSpPr>
        <p:spPr>
          <a:xfrm>
            <a:off x="461789" y="2659130"/>
            <a:ext cx="1691641" cy="109728"/>
          </a:xfrm>
          <a:custGeom>
            <a:avLst/>
            <a:gdLst>
              <a:gd name="connsiteX0" fmla="*/ 54864 w 1691641"/>
              <a:gd name="connsiteY0" fmla="*/ 0 h 109728"/>
              <a:gd name="connsiteX1" fmla="*/ 54865 w 1691641"/>
              <a:gd name="connsiteY1" fmla="*/ 0 h 109728"/>
              <a:gd name="connsiteX2" fmla="*/ 54865 w 1691641"/>
              <a:gd name="connsiteY2" fmla="*/ 0 h 109728"/>
              <a:gd name="connsiteX3" fmla="*/ 1691641 w 1691641"/>
              <a:gd name="connsiteY3" fmla="*/ 0 h 109728"/>
              <a:gd name="connsiteX4" fmla="*/ 1691641 w 1691641"/>
              <a:gd name="connsiteY4" fmla="*/ 109728 h 109728"/>
              <a:gd name="connsiteX5" fmla="*/ 54865 w 1691641"/>
              <a:gd name="connsiteY5" fmla="*/ 109728 h 109728"/>
              <a:gd name="connsiteX6" fmla="*/ 54865 w 1691641"/>
              <a:gd name="connsiteY6" fmla="*/ 109728 h 109728"/>
              <a:gd name="connsiteX7" fmla="*/ 54864 w 1691641"/>
              <a:gd name="connsiteY7" fmla="*/ 109728 h 109728"/>
              <a:gd name="connsiteX8" fmla="*/ 0 w 1691641"/>
              <a:gd name="connsiteY8" fmla="*/ 54864 h 109728"/>
              <a:gd name="connsiteX9" fmla="*/ 54864 w 1691641"/>
              <a:gd name="connsiteY9" fmla="*/ 0 h 109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91641" h="109728">
                <a:moveTo>
                  <a:pt x="54864" y="0"/>
                </a:moveTo>
                <a:lnTo>
                  <a:pt x="54865" y="0"/>
                </a:lnTo>
                <a:lnTo>
                  <a:pt x="54865" y="0"/>
                </a:lnTo>
                <a:lnTo>
                  <a:pt x="1691641" y="0"/>
                </a:lnTo>
                <a:lnTo>
                  <a:pt x="1691641" y="109728"/>
                </a:lnTo>
                <a:lnTo>
                  <a:pt x="54865" y="109728"/>
                </a:lnTo>
                <a:lnTo>
                  <a:pt x="54865" y="109728"/>
                </a:lnTo>
                <a:lnTo>
                  <a:pt x="54864" y="109728"/>
                </a:lnTo>
                <a:cubicBezTo>
                  <a:pt x="24563" y="109728"/>
                  <a:pt x="0" y="85165"/>
                  <a:pt x="0" y="54864"/>
                </a:cubicBezTo>
                <a:cubicBezTo>
                  <a:pt x="0" y="24563"/>
                  <a:pt x="24563" y="0"/>
                  <a:pt x="54864" y="0"/>
                </a:cubicBezTo>
                <a:close/>
              </a:path>
            </a:pathLst>
          </a:cu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cxnSp>
        <p:nvCxnSpPr>
          <p:cNvPr id="26" name="Straight Connector 25">
            <a:extLst>
              <a:ext uri="{FF2B5EF4-FFF2-40B4-BE49-F238E27FC236}">
                <a16:creationId xmlns:a16="http://schemas.microsoft.com/office/drawing/2014/main" id="{CCB8DB16-77EC-5393-A945-29C675ED316F}"/>
              </a:ext>
            </a:extLst>
          </p:cNvPr>
          <p:cNvCxnSpPr>
            <a:cxnSpLocks/>
          </p:cNvCxnSpPr>
          <p:nvPr/>
        </p:nvCxnSpPr>
        <p:spPr>
          <a:xfrm>
            <a:off x="2153430" y="2029479"/>
            <a:ext cx="0" cy="82296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63279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5AEAC04-EDF7-16B0-EC64-E97420C9B897}"/>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DB924A2B-9A7D-350B-CAC2-6F4556C296C6}"/>
              </a:ext>
            </a:extLst>
          </p:cNvPr>
          <p:cNvSpPr/>
          <p:nvPr/>
        </p:nvSpPr>
        <p:spPr>
          <a:xfrm>
            <a:off x="9672" y="355729"/>
            <a:ext cx="12191999" cy="62069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19" name="Rectangle 318">
            <a:extLst>
              <a:ext uri="{FF2B5EF4-FFF2-40B4-BE49-F238E27FC236}">
                <a16:creationId xmlns:a16="http://schemas.microsoft.com/office/drawing/2014/main" id="{FEBC48CC-B399-33AA-B5CB-D9E8AC48DF6A}"/>
              </a:ext>
            </a:extLst>
          </p:cNvPr>
          <p:cNvSpPr/>
          <p:nvPr/>
        </p:nvSpPr>
        <p:spPr>
          <a:xfrm>
            <a:off x="9673" y="4030218"/>
            <a:ext cx="12182327" cy="80354"/>
          </a:xfrm>
          <a:prstGeom prst="rect">
            <a:avLst/>
          </a:prstGeom>
          <a:solidFill>
            <a:schemeClr val="bg1">
              <a:lumMod val="95000"/>
            </a:schemeClr>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20" name="Rectangle 319">
            <a:extLst>
              <a:ext uri="{FF2B5EF4-FFF2-40B4-BE49-F238E27FC236}">
                <a16:creationId xmlns:a16="http://schemas.microsoft.com/office/drawing/2014/main" id="{94CFD41B-0FB9-FB81-AD23-8B6D9B748A13}"/>
              </a:ext>
            </a:extLst>
          </p:cNvPr>
          <p:cNvSpPr/>
          <p:nvPr/>
        </p:nvSpPr>
        <p:spPr>
          <a:xfrm>
            <a:off x="3196922" y="355729"/>
            <a:ext cx="9591978" cy="3754843"/>
          </a:xfrm>
          <a:prstGeom prst="rect">
            <a:avLst/>
          </a:prstGeom>
          <a:no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graphicFrame>
        <p:nvGraphicFramePr>
          <p:cNvPr id="2" name="Chart 1">
            <a:extLst>
              <a:ext uri="{FF2B5EF4-FFF2-40B4-BE49-F238E27FC236}">
                <a16:creationId xmlns:a16="http://schemas.microsoft.com/office/drawing/2014/main" id="{51DE744C-A342-4812-E0D7-48A61052F679}"/>
              </a:ext>
            </a:extLst>
          </p:cNvPr>
          <p:cNvGraphicFramePr>
            <a:graphicFrameLocks/>
          </p:cNvGraphicFramePr>
          <p:nvPr/>
        </p:nvGraphicFramePr>
        <p:xfrm>
          <a:off x="8932809" y="1171762"/>
          <a:ext cx="3095518" cy="2744957"/>
        </p:xfrm>
        <a:graphic>
          <a:graphicData uri="http://schemas.openxmlformats.org/drawingml/2006/chart">
            <c:chart xmlns:c="http://schemas.openxmlformats.org/drawingml/2006/chart" xmlns:r="http://schemas.openxmlformats.org/officeDocument/2006/relationships" r:id="rId4"/>
          </a:graphicData>
        </a:graphic>
      </p:graphicFrame>
      <p:sp>
        <p:nvSpPr>
          <p:cNvPr id="3" name="Rectangle 2">
            <a:extLst>
              <a:ext uri="{FF2B5EF4-FFF2-40B4-BE49-F238E27FC236}">
                <a16:creationId xmlns:a16="http://schemas.microsoft.com/office/drawing/2014/main" id="{13C4F99B-8E0A-63C0-5A6B-1D6E8417D743}"/>
              </a:ext>
            </a:extLst>
          </p:cNvPr>
          <p:cNvSpPr/>
          <p:nvPr/>
        </p:nvSpPr>
        <p:spPr bwMode="gray">
          <a:xfrm>
            <a:off x="3115603" y="490266"/>
            <a:ext cx="2807102" cy="3410933"/>
          </a:xfrm>
          <a:prstGeom prst="rect">
            <a:avLst/>
          </a:prstGeom>
          <a:noFill/>
          <a:ln w="19050" algn="ctr">
            <a:noFill/>
            <a:miter lim="800000"/>
            <a:headEnd/>
            <a:tailEnd/>
          </a:ln>
        </p:spPr>
        <p:txBody>
          <a:bodyPr wrap="square" lIns="0" tIns="0" rIns="0" bIns="88900" rtlCol="0" anchor="t" anchorCtr="0"/>
          <a:lstStyle/>
          <a:p>
            <a:pPr marL="0" marR="0" lvl="0" indent="0" algn="ctr" defTabSz="914400" rtl="0" eaLnBrk="1" fontAlgn="auto" latinLnBrk="0" hangingPunct="1">
              <a:lnSpc>
                <a:spcPct val="100000"/>
              </a:lnSpc>
              <a:spcBef>
                <a:spcPts val="0"/>
              </a:spcBef>
              <a:spcAft>
                <a:spcPts val="90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2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Types of AI-enabled fraud experienced in the past year</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Fake/synthetic identity</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Document fabrications</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Deepfake impersonations</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Phishing/spear phishing</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Social engineering</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Brute force password attacks</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Account takeovers</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Man-in-the-middle attacks</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Fake websites/storefronts</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Fraudulent transactions/credit cards</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Coupon/promotion abuse</a:t>
            </a:r>
          </a:p>
          <a:p>
            <a:pPr marL="171450" marR="0" lvl="0" indent="-171450" algn="l" defTabSz="914400" rtl="0" eaLnBrk="1" fontAlgn="auto" latinLnBrk="0" hangingPunct="1">
              <a:lnSpc>
                <a:spcPct val="120000"/>
              </a:lnSpc>
              <a:spcBef>
                <a:spcPts val="0"/>
              </a:spcBef>
              <a:spcAft>
                <a:spcPts val="0"/>
              </a:spcAft>
              <a:buClr>
                <a:srgbClr val="000000">
                  <a:lumMod val="75000"/>
                  <a:lumOff val="25000"/>
                </a:srgbClr>
              </a:buClr>
              <a:buSzTx/>
              <a:buFont typeface="Arial" panose="020B0604020202020204" pitchFamily="34" charset="0"/>
              <a:buChar char="•"/>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Returns/damage fraud</a:t>
            </a:r>
          </a:p>
        </p:txBody>
      </p:sp>
      <p:sp>
        <p:nvSpPr>
          <p:cNvPr id="4" name="Rectangle 3">
            <a:extLst>
              <a:ext uri="{FF2B5EF4-FFF2-40B4-BE49-F238E27FC236}">
                <a16:creationId xmlns:a16="http://schemas.microsoft.com/office/drawing/2014/main" id="{38AE0179-37FA-E2CA-931D-A057FE5DE1AF}"/>
              </a:ext>
            </a:extLst>
          </p:cNvPr>
          <p:cNvSpPr/>
          <p:nvPr/>
        </p:nvSpPr>
        <p:spPr bwMode="gray">
          <a:xfrm>
            <a:off x="6126329" y="490266"/>
            <a:ext cx="2654711" cy="603272"/>
          </a:xfrm>
          <a:prstGeom prst="rect">
            <a:avLst/>
          </a:prstGeom>
          <a:noFill/>
          <a:ln w="19050" algn="ctr">
            <a:noFill/>
            <a:miter lim="800000"/>
            <a:headEnd/>
            <a:tailEnd/>
          </a:ln>
        </p:spPr>
        <p:txBody>
          <a:bodyPr wrap="square" lIns="182880" tIns="0" rIns="182880" bIns="88900" rtlCol="0" anchor="t"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2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Areas seen as particularly vulnerable to AI-enabled fraud</a:t>
            </a:r>
          </a:p>
        </p:txBody>
      </p:sp>
      <p:sp>
        <p:nvSpPr>
          <p:cNvPr id="5" name="Rectangle 4">
            <a:extLst>
              <a:ext uri="{FF2B5EF4-FFF2-40B4-BE49-F238E27FC236}">
                <a16:creationId xmlns:a16="http://schemas.microsoft.com/office/drawing/2014/main" id="{907B0E68-B977-F8EB-9BBC-14A120A05DEE}"/>
              </a:ext>
            </a:extLst>
          </p:cNvPr>
          <p:cNvSpPr/>
          <p:nvPr/>
        </p:nvSpPr>
        <p:spPr bwMode="gray">
          <a:xfrm>
            <a:off x="9152577" y="490266"/>
            <a:ext cx="2654710" cy="603272"/>
          </a:xfrm>
          <a:prstGeom prst="rect">
            <a:avLst/>
          </a:prstGeom>
          <a:noFill/>
          <a:ln w="19050" algn="ctr">
            <a:noFill/>
            <a:miter lim="800000"/>
            <a:headEnd/>
            <a:tailEnd/>
          </a:ln>
        </p:spPr>
        <p:txBody>
          <a:bodyPr wrap="square" lIns="182880" tIns="0" rIns="182880" bIns="88900" rtlCol="0" anchor="t"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2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Expected increase in volume of agentic AI-enabled attacks in the next 12 months</a:t>
            </a:r>
          </a:p>
        </p:txBody>
      </p:sp>
      <p:graphicFrame>
        <p:nvGraphicFramePr>
          <p:cNvPr id="6" name="Table 5">
            <a:extLst>
              <a:ext uri="{FF2B5EF4-FFF2-40B4-BE49-F238E27FC236}">
                <a16:creationId xmlns:a16="http://schemas.microsoft.com/office/drawing/2014/main" id="{5FD8B766-1443-D99B-3F64-968C379535D0}"/>
              </a:ext>
            </a:extLst>
          </p:cNvPr>
          <p:cNvGraphicFramePr>
            <a:graphicFrameLocks noGrp="1"/>
          </p:cNvGraphicFramePr>
          <p:nvPr/>
        </p:nvGraphicFramePr>
        <p:xfrm>
          <a:off x="6126327" y="975119"/>
          <a:ext cx="2711250" cy="2743200"/>
        </p:xfrm>
        <a:graphic>
          <a:graphicData uri="http://schemas.openxmlformats.org/drawingml/2006/table">
            <a:tbl>
              <a:tblPr/>
              <a:tblGrid>
                <a:gridCol w="2118043">
                  <a:extLst>
                    <a:ext uri="{9D8B030D-6E8A-4147-A177-3AD203B41FA5}">
                      <a16:colId xmlns:a16="http://schemas.microsoft.com/office/drawing/2014/main" val="414418745"/>
                    </a:ext>
                  </a:extLst>
                </a:gridCol>
                <a:gridCol w="593207">
                  <a:extLst>
                    <a:ext uri="{9D8B030D-6E8A-4147-A177-3AD203B41FA5}">
                      <a16:colId xmlns:a16="http://schemas.microsoft.com/office/drawing/2014/main" val="4134972209"/>
                    </a:ext>
                  </a:extLst>
                </a:gridCol>
              </a:tblGrid>
              <a:tr h="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Automated phishing</a:t>
                      </a:r>
                    </a:p>
                  </a:txBody>
                  <a:tcPr>
                    <a:lnL w="6350" cap="flat" cmpd="sng" algn="ctr">
                      <a:solidFill>
                        <a:srgbClr val="4EA72E"/>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rgbClr val="4EA72E"/>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82%</a:t>
                      </a:r>
                    </a:p>
                  </a:txBody>
                  <a:tcPr>
                    <a:lnL w="6350" cap="flat" cmpd="sng" algn="ctr">
                      <a:solidFill>
                        <a:schemeClr val="bg1">
                          <a:lumMod val="75000"/>
                        </a:schemeClr>
                      </a:solidFill>
                      <a:prstDash val="solid"/>
                      <a:round/>
                      <a:headEnd type="none" w="med" len="med"/>
                      <a:tailEnd type="none" w="med" len="med"/>
                    </a:lnL>
                    <a:lnR w="6350" cap="flat" cmpd="sng" algn="ctr">
                      <a:solidFill>
                        <a:srgbClr val="4EA72E"/>
                      </a:solidFill>
                      <a:prstDash val="solid"/>
                      <a:round/>
                      <a:headEnd type="none" w="med" len="med"/>
                      <a:tailEnd type="none" w="med" len="med"/>
                    </a:lnR>
                    <a:lnT w="6350" cap="flat" cmpd="sng" algn="ctr">
                      <a:solidFill>
                        <a:srgbClr val="4EA72E"/>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94301569"/>
                  </a:ext>
                </a:extLst>
              </a:tr>
              <a:tr h="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Synthetic Identity Creation</a:t>
                      </a:r>
                    </a:p>
                  </a:txBody>
                  <a:tcPr>
                    <a:lnL w="6350" cap="flat" cmpd="sng" algn="ctr">
                      <a:solidFill>
                        <a:srgbClr val="4EA72E"/>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69%</a:t>
                      </a:r>
                    </a:p>
                  </a:txBody>
                  <a:tcPr>
                    <a:lnL w="6350" cap="flat" cmpd="sng" algn="ctr">
                      <a:solidFill>
                        <a:schemeClr val="bg1">
                          <a:lumMod val="75000"/>
                        </a:schemeClr>
                      </a:solidFill>
                      <a:prstDash val="solid"/>
                      <a:round/>
                      <a:headEnd type="none" w="med" len="med"/>
                      <a:tailEnd type="none" w="med" len="med"/>
                    </a:lnL>
                    <a:lnR w="6350" cap="flat" cmpd="sng" algn="ctr">
                      <a:solidFill>
                        <a:srgbClr val="4EA72E"/>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65994947"/>
                  </a:ext>
                </a:extLst>
              </a:tr>
              <a:tr h="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Deepfake social engineering</a:t>
                      </a:r>
                    </a:p>
                  </a:txBody>
                  <a:tcPr>
                    <a:lnL w="6350" cap="flat" cmpd="sng" algn="ctr">
                      <a:solidFill>
                        <a:srgbClr val="4EA72E"/>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69%</a:t>
                      </a:r>
                    </a:p>
                  </a:txBody>
                  <a:tcPr>
                    <a:lnL w="6350" cap="flat" cmpd="sng" algn="ctr">
                      <a:solidFill>
                        <a:schemeClr val="bg1">
                          <a:lumMod val="75000"/>
                        </a:schemeClr>
                      </a:solidFill>
                      <a:prstDash val="solid"/>
                      <a:round/>
                      <a:headEnd type="none" w="med" len="med"/>
                      <a:tailEnd type="none" w="med" len="med"/>
                    </a:lnL>
                    <a:lnR w="6350" cap="flat" cmpd="sng" algn="ctr">
                      <a:solidFill>
                        <a:srgbClr val="4EA72E"/>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4622267"/>
                  </a:ext>
                </a:extLst>
              </a:tr>
              <a:tr h="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Payment/card fraud</a:t>
                      </a:r>
                    </a:p>
                  </a:txBody>
                  <a:tcPr>
                    <a:lnL w="6350" cap="flat" cmpd="sng" algn="ctr">
                      <a:solidFill>
                        <a:srgbClr val="4EA72E"/>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62%</a:t>
                      </a:r>
                    </a:p>
                  </a:txBody>
                  <a:tcPr>
                    <a:lnL w="6350" cap="flat" cmpd="sng" algn="ctr">
                      <a:solidFill>
                        <a:schemeClr val="bg1">
                          <a:lumMod val="75000"/>
                        </a:schemeClr>
                      </a:solidFill>
                      <a:prstDash val="solid"/>
                      <a:round/>
                      <a:headEnd type="none" w="med" len="med"/>
                      <a:tailEnd type="none" w="med" len="med"/>
                    </a:lnL>
                    <a:lnR w="6350" cap="flat" cmpd="sng" algn="ctr">
                      <a:solidFill>
                        <a:srgbClr val="4EA72E"/>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7334507"/>
                  </a:ext>
                </a:extLst>
              </a:tr>
              <a:tr h="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Refund/chargeback abuse</a:t>
                      </a:r>
                    </a:p>
                  </a:txBody>
                  <a:tcPr>
                    <a:lnL w="6350" cap="flat" cmpd="sng" algn="ctr">
                      <a:solidFill>
                        <a:srgbClr val="4EA72E"/>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41%</a:t>
                      </a:r>
                    </a:p>
                  </a:txBody>
                  <a:tcPr>
                    <a:lnL w="6350" cap="flat" cmpd="sng" algn="ctr">
                      <a:solidFill>
                        <a:schemeClr val="bg1">
                          <a:lumMod val="75000"/>
                        </a:schemeClr>
                      </a:solidFill>
                      <a:prstDash val="solid"/>
                      <a:round/>
                      <a:headEnd type="none" w="med" len="med"/>
                      <a:tailEnd type="none" w="med" len="med"/>
                    </a:lnL>
                    <a:lnR w="6350" cap="flat" cmpd="sng" algn="ctr">
                      <a:solidFill>
                        <a:srgbClr val="4EA72E"/>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18206894"/>
                  </a:ext>
                </a:extLst>
              </a:tr>
              <a:tr h="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Loyalty program/rewards</a:t>
                      </a:r>
                    </a:p>
                  </a:txBody>
                  <a:tcPr>
                    <a:lnL w="6350" cap="flat" cmpd="sng" algn="ctr">
                      <a:solidFill>
                        <a:srgbClr val="4EA72E"/>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36%</a:t>
                      </a:r>
                    </a:p>
                  </a:txBody>
                  <a:tcPr>
                    <a:lnL w="6350" cap="flat" cmpd="sng" algn="ctr">
                      <a:solidFill>
                        <a:schemeClr val="bg1">
                          <a:lumMod val="75000"/>
                        </a:schemeClr>
                      </a:solidFill>
                      <a:prstDash val="solid"/>
                      <a:round/>
                      <a:headEnd type="none" w="med" len="med"/>
                      <a:tailEnd type="none" w="med" len="med"/>
                    </a:lnL>
                    <a:lnR w="6350" cap="flat" cmpd="sng" algn="ctr">
                      <a:solidFill>
                        <a:srgbClr val="4EA72E"/>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06370770"/>
                  </a:ext>
                </a:extLst>
              </a:tr>
              <a:tr h="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Order manipulation</a:t>
                      </a:r>
                    </a:p>
                  </a:txBody>
                  <a:tcPr>
                    <a:lnL w="6350" cap="flat" cmpd="sng" algn="ctr">
                      <a:solidFill>
                        <a:srgbClr val="4EA72E"/>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23%</a:t>
                      </a:r>
                    </a:p>
                  </a:txBody>
                  <a:tcPr>
                    <a:lnL w="6350" cap="flat" cmpd="sng" algn="ctr">
                      <a:solidFill>
                        <a:schemeClr val="bg1">
                          <a:lumMod val="75000"/>
                        </a:schemeClr>
                      </a:solidFill>
                      <a:prstDash val="solid"/>
                      <a:round/>
                      <a:headEnd type="none" w="med" len="med"/>
                      <a:tailEnd type="none" w="med" len="med"/>
                    </a:lnL>
                    <a:lnR w="6350" cap="flat" cmpd="sng" algn="ctr">
                      <a:solidFill>
                        <a:srgbClr val="4EA72E"/>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67464276"/>
                  </a:ext>
                </a:extLst>
              </a:tr>
              <a:tr h="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Price manipulation</a:t>
                      </a:r>
                    </a:p>
                  </a:txBody>
                  <a:tcPr>
                    <a:lnL w="6350" cap="flat" cmpd="sng" algn="ctr">
                      <a:solidFill>
                        <a:srgbClr val="4EA72E"/>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15%</a:t>
                      </a:r>
                    </a:p>
                  </a:txBody>
                  <a:tcPr>
                    <a:lnL w="6350" cap="flat" cmpd="sng" algn="ctr">
                      <a:solidFill>
                        <a:schemeClr val="bg1">
                          <a:lumMod val="75000"/>
                        </a:schemeClr>
                      </a:solidFill>
                      <a:prstDash val="solid"/>
                      <a:round/>
                      <a:headEnd type="none" w="med" len="med"/>
                      <a:tailEnd type="none" w="med" len="med"/>
                    </a:lnL>
                    <a:lnR w="6350" cap="flat" cmpd="sng" algn="ctr">
                      <a:solidFill>
                        <a:srgbClr val="4EA72E"/>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84390837"/>
                  </a:ext>
                </a:extLst>
              </a:tr>
              <a:tr h="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Internal fraud</a:t>
                      </a:r>
                    </a:p>
                  </a:txBody>
                  <a:tcPr>
                    <a:lnL w="6350" cap="flat" cmpd="sng" algn="ctr">
                      <a:solidFill>
                        <a:srgbClr val="4EA72E"/>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15%</a:t>
                      </a:r>
                    </a:p>
                  </a:txBody>
                  <a:tcPr>
                    <a:lnL w="6350" cap="flat" cmpd="sng" algn="ctr">
                      <a:solidFill>
                        <a:schemeClr val="bg1">
                          <a:lumMod val="75000"/>
                        </a:schemeClr>
                      </a:solidFill>
                      <a:prstDash val="solid"/>
                      <a:round/>
                      <a:headEnd type="none" w="med" len="med"/>
                      <a:tailEnd type="none" w="med" len="med"/>
                    </a:lnL>
                    <a:lnR w="6350" cap="flat" cmpd="sng" algn="ctr">
                      <a:solidFill>
                        <a:srgbClr val="4EA72E"/>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24642564"/>
                  </a:ext>
                </a:extLst>
              </a:tr>
              <a:tr h="0">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Other</a:t>
                      </a:r>
                    </a:p>
                  </a:txBody>
                  <a:tcPr>
                    <a:lnL w="6350" cap="flat" cmpd="sng" algn="ctr">
                      <a:solidFill>
                        <a:srgbClr val="4EA72E"/>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rgbClr val="4EA72E"/>
                      </a:solidFill>
                      <a:prstDash val="solid"/>
                      <a:round/>
                      <a:headEnd type="none" w="med" len="med"/>
                      <a:tailEnd type="none" w="med" len="med"/>
                    </a:lnB>
                    <a:noFill/>
                  </a:tcPr>
                </a:tc>
                <a:tc>
                  <a:txBody>
                    <a:bodyPr/>
                    <a:lstStyle/>
                    <a:p>
                      <a:r>
                        <a:rPr lang="en-US" sz="1200">
                          <a:solidFill>
                            <a:schemeClr val="tx1">
                              <a:lumMod val="75000"/>
                              <a:lumOff val="25000"/>
                            </a:schemeClr>
                          </a:solidFill>
                          <a:latin typeface="Segoe UI" panose="020B0502040204020203" pitchFamily="34" charset="0"/>
                          <a:cs typeface="Segoe UI" panose="020B0502040204020203" pitchFamily="34" charset="0"/>
                        </a:rPr>
                        <a:t>5%</a:t>
                      </a:r>
                    </a:p>
                  </a:txBody>
                  <a:tcPr>
                    <a:lnL w="6350" cap="flat" cmpd="sng" algn="ctr">
                      <a:solidFill>
                        <a:schemeClr val="bg1">
                          <a:lumMod val="75000"/>
                        </a:schemeClr>
                      </a:solidFill>
                      <a:prstDash val="solid"/>
                      <a:round/>
                      <a:headEnd type="none" w="med" len="med"/>
                      <a:tailEnd type="none" w="med" len="med"/>
                    </a:lnL>
                    <a:lnR w="6350" cap="flat" cmpd="sng" algn="ctr">
                      <a:solidFill>
                        <a:srgbClr val="4EA72E"/>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rgbClr val="4EA72E"/>
                      </a:solidFill>
                      <a:prstDash val="solid"/>
                      <a:round/>
                      <a:headEnd type="none" w="med" len="med"/>
                      <a:tailEnd type="none" w="med" len="med"/>
                    </a:lnB>
                    <a:noFill/>
                  </a:tcPr>
                </a:tc>
                <a:extLst>
                  <a:ext uri="{0D108BD9-81ED-4DB2-BD59-A6C34878D82A}">
                    <a16:rowId xmlns:a16="http://schemas.microsoft.com/office/drawing/2014/main" val="3337598717"/>
                  </a:ext>
                </a:extLst>
              </a:tr>
            </a:tbl>
          </a:graphicData>
        </a:graphic>
      </p:graphicFrame>
      <p:sp>
        <p:nvSpPr>
          <p:cNvPr id="7" name="Rectangle 6">
            <a:extLst>
              <a:ext uri="{FF2B5EF4-FFF2-40B4-BE49-F238E27FC236}">
                <a16:creationId xmlns:a16="http://schemas.microsoft.com/office/drawing/2014/main" id="{7BA193FC-3AC5-AC8D-DFE9-357C0BF79553}"/>
              </a:ext>
            </a:extLst>
          </p:cNvPr>
          <p:cNvSpPr/>
          <p:nvPr/>
        </p:nvSpPr>
        <p:spPr bwMode="gray">
          <a:xfrm>
            <a:off x="4679710" y="4422471"/>
            <a:ext cx="6527003" cy="777302"/>
          </a:xfrm>
          <a:prstGeom prst="rect">
            <a:avLst/>
          </a:prstGeom>
          <a:noFill/>
          <a:ln w="19050" algn="ctr">
            <a:noFill/>
            <a:miter lim="800000"/>
            <a:headEnd/>
            <a:tailEnd/>
          </a:ln>
        </p:spPr>
        <p:txBody>
          <a:bodyPr wrap="square" lIns="182880" tIns="0" rIns="182880" bIns="88900" rtlCol="0" anchor="t"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2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Top barriers to implementing effective mitigation strategies against AI-enabled fraud</a:t>
            </a:r>
          </a:p>
        </p:txBody>
      </p:sp>
      <p:graphicFrame>
        <p:nvGraphicFramePr>
          <p:cNvPr id="8" name="Chart 7">
            <a:extLst>
              <a:ext uri="{FF2B5EF4-FFF2-40B4-BE49-F238E27FC236}">
                <a16:creationId xmlns:a16="http://schemas.microsoft.com/office/drawing/2014/main" id="{992A732C-9DDE-E23D-5403-B33F0B2D5613}"/>
              </a:ext>
            </a:extLst>
          </p:cNvPr>
          <p:cNvGraphicFramePr>
            <a:graphicFrameLocks/>
          </p:cNvGraphicFramePr>
          <p:nvPr>
            <p:custDataLst>
              <p:tags r:id="rId1"/>
            </p:custDataLst>
          </p:nvPr>
        </p:nvGraphicFramePr>
        <p:xfrm>
          <a:off x="3196922" y="4839523"/>
          <a:ext cx="8610365" cy="2030015"/>
        </p:xfrm>
        <a:graphic>
          <a:graphicData uri="http://schemas.openxmlformats.org/drawingml/2006/chart">
            <c:chart xmlns:c="http://schemas.openxmlformats.org/drawingml/2006/chart" xmlns:r="http://schemas.openxmlformats.org/officeDocument/2006/relationships" r:id="rId5"/>
          </a:graphicData>
        </a:graphic>
      </p:graphicFrame>
      <p:sp>
        <p:nvSpPr>
          <p:cNvPr id="15" name="Rectangle 14">
            <a:extLst>
              <a:ext uri="{FF2B5EF4-FFF2-40B4-BE49-F238E27FC236}">
                <a16:creationId xmlns:a16="http://schemas.microsoft.com/office/drawing/2014/main" id="{5EE11609-A875-4387-33E4-B3B0B56BB27F}"/>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RESULTS OF 2025 DELOITTE SURVEY ON AI-ENABLED FRAUD IN RETAIL </a:t>
            </a:r>
          </a:p>
        </p:txBody>
      </p:sp>
      <p:grpSp>
        <p:nvGrpSpPr>
          <p:cNvPr id="317" name="Group 316">
            <a:extLst>
              <a:ext uri="{FF2B5EF4-FFF2-40B4-BE49-F238E27FC236}">
                <a16:creationId xmlns:a16="http://schemas.microsoft.com/office/drawing/2014/main" id="{792D1146-1BCC-C905-60A8-C3917237617A}"/>
              </a:ext>
            </a:extLst>
          </p:cNvPr>
          <p:cNvGrpSpPr/>
          <p:nvPr/>
        </p:nvGrpSpPr>
        <p:grpSpPr>
          <a:xfrm>
            <a:off x="431288" y="1439854"/>
            <a:ext cx="2517728" cy="1339608"/>
            <a:chOff x="654098" y="597311"/>
            <a:chExt cx="2517728" cy="1339608"/>
          </a:xfrm>
        </p:grpSpPr>
        <p:sp>
          <p:nvSpPr>
            <p:cNvPr id="11" name="Rectangle 10">
              <a:extLst>
                <a:ext uri="{FF2B5EF4-FFF2-40B4-BE49-F238E27FC236}">
                  <a16:creationId xmlns:a16="http://schemas.microsoft.com/office/drawing/2014/main" id="{6C68ED97-A6A3-5A62-131D-DED3A17463F9}"/>
                </a:ext>
              </a:extLst>
            </p:cNvPr>
            <p:cNvSpPr/>
            <p:nvPr/>
          </p:nvSpPr>
          <p:spPr bwMode="gray">
            <a:xfrm>
              <a:off x="654098" y="597311"/>
              <a:ext cx="2517728" cy="1339608"/>
            </a:xfrm>
            <a:prstGeom prst="rect">
              <a:avLst/>
            </a:prstGeom>
            <a:noFill/>
            <a:ln w="19050" algn="ctr">
              <a:noFill/>
              <a:miter lim="800000"/>
              <a:headEnd/>
              <a:tailEnd/>
            </a:ln>
          </p:spPr>
          <p:txBody>
            <a:bodyPr wrap="square" lIns="88900" tIns="91440" rIns="88900" bIns="88900" rtlCol="0" anchor="t" anchorCtr="0"/>
            <a:lstStyle/>
            <a:p>
              <a:pPr marL="0" marR="0" lvl="0" indent="0" algn="l" defTabSz="914400" rtl="0" eaLnBrk="1" fontAlgn="auto" latinLnBrk="0" hangingPunct="1">
                <a:lnSpc>
                  <a:spcPct val="100000"/>
                </a:lnSpc>
                <a:spcBef>
                  <a:spcPts val="0"/>
                </a:spcBef>
                <a:spcAft>
                  <a:spcPts val="600"/>
                </a:spcAft>
                <a:buClr>
                  <a:srgbClr val="000000"/>
                </a:buClr>
                <a:buSzTx/>
                <a:buFont typeface="Arial"/>
                <a:buNone/>
                <a:tabLst/>
                <a:defRPr/>
              </a:pPr>
              <a:r>
                <a:rPr kumimoji="0" lang="en-US" sz="4800" b="1" i="0"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69%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of merchants experienced fraud enabled by AI in past year</a:t>
              </a:r>
              <a:endParaRPr kumimoji="0" lang="en-US" sz="1400" b="1" i="0" u="none" strike="noStrike" kern="0" cap="none" spc="0" normalizeH="0" baseline="0" noProof="0">
                <a:ln>
                  <a:noFill/>
                </a:ln>
                <a:solidFill>
                  <a:srgbClr val="000000">
                    <a:lumMod val="75000"/>
                    <a:lumOff val="25000"/>
                  </a:srgbClr>
                </a:solidFill>
                <a:effectLst/>
                <a:uLnTx/>
                <a:uFillTx/>
                <a:latin typeface="Arial"/>
                <a:cs typeface="Arial"/>
                <a:sym typeface="Arial"/>
              </a:endParaRPr>
            </a:p>
          </p:txBody>
        </p:sp>
        <p:sp>
          <p:nvSpPr>
            <p:cNvPr id="17" name="Oval 16">
              <a:extLst>
                <a:ext uri="{FF2B5EF4-FFF2-40B4-BE49-F238E27FC236}">
                  <a16:creationId xmlns:a16="http://schemas.microsoft.com/office/drawing/2014/main" id="{71088AA9-C0B2-5F72-CF9D-0270313E682F}"/>
                </a:ext>
              </a:extLst>
            </p:cNvPr>
            <p:cNvSpPr/>
            <p:nvPr/>
          </p:nvSpPr>
          <p:spPr>
            <a:xfrm>
              <a:off x="2038509" y="88439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8" name="Oval 17">
              <a:extLst>
                <a:ext uri="{FF2B5EF4-FFF2-40B4-BE49-F238E27FC236}">
                  <a16:creationId xmlns:a16="http://schemas.microsoft.com/office/drawing/2014/main" id="{4FFB1991-D85F-5FF5-6AAC-5FE6C3DBF222}"/>
                </a:ext>
              </a:extLst>
            </p:cNvPr>
            <p:cNvSpPr/>
            <p:nvPr/>
          </p:nvSpPr>
          <p:spPr>
            <a:xfrm>
              <a:off x="2140097" y="88439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9" name="Oval 18">
              <a:extLst>
                <a:ext uri="{FF2B5EF4-FFF2-40B4-BE49-F238E27FC236}">
                  <a16:creationId xmlns:a16="http://schemas.microsoft.com/office/drawing/2014/main" id="{EF5F0078-4AB8-060D-5830-101D3A2C3E58}"/>
                </a:ext>
              </a:extLst>
            </p:cNvPr>
            <p:cNvSpPr/>
            <p:nvPr/>
          </p:nvSpPr>
          <p:spPr>
            <a:xfrm>
              <a:off x="2241685" y="88439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0" name="Oval 19">
              <a:extLst>
                <a:ext uri="{FF2B5EF4-FFF2-40B4-BE49-F238E27FC236}">
                  <a16:creationId xmlns:a16="http://schemas.microsoft.com/office/drawing/2014/main" id="{EA0A82F7-6364-1B07-47E8-60CFF0254BFA}"/>
                </a:ext>
              </a:extLst>
            </p:cNvPr>
            <p:cNvSpPr/>
            <p:nvPr/>
          </p:nvSpPr>
          <p:spPr>
            <a:xfrm>
              <a:off x="2343273" y="88439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1" name="Oval 20">
              <a:extLst>
                <a:ext uri="{FF2B5EF4-FFF2-40B4-BE49-F238E27FC236}">
                  <a16:creationId xmlns:a16="http://schemas.microsoft.com/office/drawing/2014/main" id="{451CA318-B43B-A32C-7518-A6E9A8A654F7}"/>
                </a:ext>
              </a:extLst>
            </p:cNvPr>
            <p:cNvSpPr/>
            <p:nvPr/>
          </p:nvSpPr>
          <p:spPr>
            <a:xfrm>
              <a:off x="2444861" y="88439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2" name="Oval 21">
              <a:extLst>
                <a:ext uri="{FF2B5EF4-FFF2-40B4-BE49-F238E27FC236}">
                  <a16:creationId xmlns:a16="http://schemas.microsoft.com/office/drawing/2014/main" id="{1A75A20F-A981-F222-1C45-8BE0C9EF6E9F}"/>
                </a:ext>
              </a:extLst>
            </p:cNvPr>
            <p:cNvSpPr/>
            <p:nvPr/>
          </p:nvSpPr>
          <p:spPr>
            <a:xfrm>
              <a:off x="2546449" y="88439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 name="Oval 22">
              <a:extLst>
                <a:ext uri="{FF2B5EF4-FFF2-40B4-BE49-F238E27FC236}">
                  <a16:creationId xmlns:a16="http://schemas.microsoft.com/office/drawing/2014/main" id="{91D43518-FBB6-A949-455B-431E64C9AB85}"/>
                </a:ext>
              </a:extLst>
            </p:cNvPr>
            <p:cNvSpPr/>
            <p:nvPr/>
          </p:nvSpPr>
          <p:spPr>
            <a:xfrm>
              <a:off x="2648037" y="88439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4" name="Oval 23">
              <a:extLst>
                <a:ext uri="{FF2B5EF4-FFF2-40B4-BE49-F238E27FC236}">
                  <a16:creationId xmlns:a16="http://schemas.microsoft.com/office/drawing/2014/main" id="{0DD16891-BC0F-E7E4-48E3-550308A46DD0}"/>
                </a:ext>
              </a:extLst>
            </p:cNvPr>
            <p:cNvSpPr/>
            <p:nvPr/>
          </p:nvSpPr>
          <p:spPr>
            <a:xfrm>
              <a:off x="2749625" y="88439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5" name="Oval 24">
              <a:extLst>
                <a:ext uri="{FF2B5EF4-FFF2-40B4-BE49-F238E27FC236}">
                  <a16:creationId xmlns:a16="http://schemas.microsoft.com/office/drawing/2014/main" id="{29A65506-0026-718D-080B-53D373FD6A08}"/>
                </a:ext>
              </a:extLst>
            </p:cNvPr>
            <p:cNvSpPr/>
            <p:nvPr/>
          </p:nvSpPr>
          <p:spPr>
            <a:xfrm>
              <a:off x="2851213" y="88439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6" name="Oval 25">
              <a:extLst>
                <a:ext uri="{FF2B5EF4-FFF2-40B4-BE49-F238E27FC236}">
                  <a16:creationId xmlns:a16="http://schemas.microsoft.com/office/drawing/2014/main" id="{A3BF2767-6D8A-896F-052E-7DABEA3BBA3A}"/>
                </a:ext>
              </a:extLst>
            </p:cNvPr>
            <p:cNvSpPr/>
            <p:nvPr/>
          </p:nvSpPr>
          <p:spPr>
            <a:xfrm>
              <a:off x="2952797" y="88439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7" name="Oval 26">
              <a:extLst>
                <a:ext uri="{FF2B5EF4-FFF2-40B4-BE49-F238E27FC236}">
                  <a16:creationId xmlns:a16="http://schemas.microsoft.com/office/drawing/2014/main" id="{5F8DAA5F-26D3-4BB0-36A7-AF5269298098}"/>
                </a:ext>
              </a:extLst>
            </p:cNvPr>
            <p:cNvSpPr/>
            <p:nvPr/>
          </p:nvSpPr>
          <p:spPr>
            <a:xfrm>
              <a:off x="2038509" y="95037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8" name="Oval 27">
              <a:extLst>
                <a:ext uri="{FF2B5EF4-FFF2-40B4-BE49-F238E27FC236}">
                  <a16:creationId xmlns:a16="http://schemas.microsoft.com/office/drawing/2014/main" id="{5B5E26D5-6018-193A-0E92-DE200078FCEA}"/>
                </a:ext>
              </a:extLst>
            </p:cNvPr>
            <p:cNvSpPr/>
            <p:nvPr/>
          </p:nvSpPr>
          <p:spPr>
            <a:xfrm>
              <a:off x="2140097" y="95037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9" name="Oval 28">
              <a:extLst>
                <a:ext uri="{FF2B5EF4-FFF2-40B4-BE49-F238E27FC236}">
                  <a16:creationId xmlns:a16="http://schemas.microsoft.com/office/drawing/2014/main" id="{53AEB030-D730-D1E1-5864-584C9A9A622C}"/>
                </a:ext>
              </a:extLst>
            </p:cNvPr>
            <p:cNvSpPr/>
            <p:nvPr/>
          </p:nvSpPr>
          <p:spPr>
            <a:xfrm>
              <a:off x="2241685" y="95037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0" name="Oval 29">
              <a:extLst>
                <a:ext uri="{FF2B5EF4-FFF2-40B4-BE49-F238E27FC236}">
                  <a16:creationId xmlns:a16="http://schemas.microsoft.com/office/drawing/2014/main" id="{69537B46-F74B-D23A-1A66-0FC1BDA1AA57}"/>
                </a:ext>
              </a:extLst>
            </p:cNvPr>
            <p:cNvSpPr/>
            <p:nvPr/>
          </p:nvSpPr>
          <p:spPr>
            <a:xfrm>
              <a:off x="2343273" y="95037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1" name="Oval 30">
              <a:extLst>
                <a:ext uri="{FF2B5EF4-FFF2-40B4-BE49-F238E27FC236}">
                  <a16:creationId xmlns:a16="http://schemas.microsoft.com/office/drawing/2014/main" id="{44224F20-601D-9669-67F3-312B16C9E92C}"/>
                </a:ext>
              </a:extLst>
            </p:cNvPr>
            <p:cNvSpPr/>
            <p:nvPr/>
          </p:nvSpPr>
          <p:spPr>
            <a:xfrm>
              <a:off x="2444861" y="95037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2" name="Oval 31">
              <a:extLst>
                <a:ext uri="{FF2B5EF4-FFF2-40B4-BE49-F238E27FC236}">
                  <a16:creationId xmlns:a16="http://schemas.microsoft.com/office/drawing/2014/main" id="{E26007AD-4D7F-9DE5-AE11-7DE2D190645A}"/>
                </a:ext>
              </a:extLst>
            </p:cNvPr>
            <p:cNvSpPr/>
            <p:nvPr/>
          </p:nvSpPr>
          <p:spPr>
            <a:xfrm>
              <a:off x="2546449" y="95037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3" name="Oval 32">
              <a:extLst>
                <a:ext uri="{FF2B5EF4-FFF2-40B4-BE49-F238E27FC236}">
                  <a16:creationId xmlns:a16="http://schemas.microsoft.com/office/drawing/2014/main" id="{CBCF0700-14FC-7E98-458A-19407EBF233C}"/>
                </a:ext>
              </a:extLst>
            </p:cNvPr>
            <p:cNvSpPr/>
            <p:nvPr/>
          </p:nvSpPr>
          <p:spPr>
            <a:xfrm>
              <a:off x="2648037" y="95037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4" name="Oval 33">
              <a:extLst>
                <a:ext uri="{FF2B5EF4-FFF2-40B4-BE49-F238E27FC236}">
                  <a16:creationId xmlns:a16="http://schemas.microsoft.com/office/drawing/2014/main" id="{3800B8D2-92FC-1630-918B-9A3DAADB5640}"/>
                </a:ext>
              </a:extLst>
            </p:cNvPr>
            <p:cNvSpPr/>
            <p:nvPr/>
          </p:nvSpPr>
          <p:spPr>
            <a:xfrm>
              <a:off x="2749625" y="95037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5" name="Oval 34">
              <a:extLst>
                <a:ext uri="{FF2B5EF4-FFF2-40B4-BE49-F238E27FC236}">
                  <a16:creationId xmlns:a16="http://schemas.microsoft.com/office/drawing/2014/main" id="{C1BA38C5-99C1-ACEF-36F5-CCE81E5B1906}"/>
                </a:ext>
              </a:extLst>
            </p:cNvPr>
            <p:cNvSpPr/>
            <p:nvPr/>
          </p:nvSpPr>
          <p:spPr>
            <a:xfrm>
              <a:off x="2851213" y="95037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6" name="Oval 35">
              <a:extLst>
                <a:ext uri="{FF2B5EF4-FFF2-40B4-BE49-F238E27FC236}">
                  <a16:creationId xmlns:a16="http://schemas.microsoft.com/office/drawing/2014/main" id="{D98F1A1C-31B4-D2DB-B286-8A5749BD3398}"/>
                </a:ext>
              </a:extLst>
            </p:cNvPr>
            <p:cNvSpPr/>
            <p:nvPr/>
          </p:nvSpPr>
          <p:spPr>
            <a:xfrm>
              <a:off x="2952797" y="95037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7" name="Oval 36">
              <a:extLst>
                <a:ext uri="{FF2B5EF4-FFF2-40B4-BE49-F238E27FC236}">
                  <a16:creationId xmlns:a16="http://schemas.microsoft.com/office/drawing/2014/main" id="{334F4F66-12F9-B8DC-380A-92534FB4D36C}"/>
                </a:ext>
              </a:extLst>
            </p:cNvPr>
            <p:cNvSpPr/>
            <p:nvPr/>
          </p:nvSpPr>
          <p:spPr>
            <a:xfrm>
              <a:off x="2038509" y="101634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8" name="Oval 37">
              <a:extLst>
                <a:ext uri="{FF2B5EF4-FFF2-40B4-BE49-F238E27FC236}">
                  <a16:creationId xmlns:a16="http://schemas.microsoft.com/office/drawing/2014/main" id="{C2ED84ED-B9B5-E24B-C611-F071FA756A54}"/>
                </a:ext>
              </a:extLst>
            </p:cNvPr>
            <p:cNvSpPr/>
            <p:nvPr/>
          </p:nvSpPr>
          <p:spPr>
            <a:xfrm>
              <a:off x="2140097" y="101634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9" name="Oval 38">
              <a:extLst>
                <a:ext uri="{FF2B5EF4-FFF2-40B4-BE49-F238E27FC236}">
                  <a16:creationId xmlns:a16="http://schemas.microsoft.com/office/drawing/2014/main" id="{BD9A0F1B-01B8-0696-55FF-1EF0F61D4D14}"/>
                </a:ext>
              </a:extLst>
            </p:cNvPr>
            <p:cNvSpPr/>
            <p:nvPr/>
          </p:nvSpPr>
          <p:spPr>
            <a:xfrm>
              <a:off x="2241685" y="101634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40" name="Oval 39">
              <a:extLst>
                <a:ext uri="{FF2B5EF4-FFF2-40B4-BE49-F238E27FC236}">
                  <a16:creationId xmlns:a16="http://schemas.microsoft.com/office/drawing/2014/main" id="{83B246EE-4EBD-C85B-C0B6-9A8F64CBC786}"/>
                </a:ext>
              </a:extLst>
            </p:cNvPr>
            <p:cNvSpPr/>
            <p:nvPr/>
          </p:nvSpPr>
          <p:spPr>
            <a:xfrm>
              <a:off x="2343273" y="101634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41" name="Oval 40">
              <a:extLst>
                <a:ext uri="{FF2B5EF4-FFF2-40B4-BE49-F238E27FC236}">
                  <a16:creationId xmlns:a16="http://schemas.microsoft.com/office/drawing/2014/main" id="{D78AB353-B617-A708-C984-9D4ACB0EC5CA}"/>
                </a:ext>
              </a:extLst>
            </p:cNvPr>
            <p:cNvSpPr/>
            <p:nvPr/>
          </p:nvSpPr>
          <p:spPr>
            <a:xfrm>
              <a:off x="2444861" y="101634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42" name="Oval 41">
              <a:extLst>
                <a:ext uri="{FF2B5EF4-FFF2-40B4-BE49-F238E27FC236}">
                  <a16:creationId xmlns:a16="http://schemas.microsoft.com/office/drawing/2014/main" id="{85CBDE2D-6188-4431-A18E-CAD3837C2677}"/>
                </a:ext>
              </a:extLst>
            </p:cNvPr>
            <p:cNvSpPr/>
            <p:nvPr/>
          </p:nvSpPr>
          <p:spPr>
            <a:xfrm>
              <a:off x="2546449" y="101634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43" name="Oval 42">
              <a:extLst>
                <a:ext uri="{FF2B5EF4-FFF2-40B4-BE49-F238E27FC236}">
                  <a16:creationId xmlns:a16="http://schemas.microsoft.com/office/drawing/2014/main" id="{43D3F633-A688-F191-04C6-76B1CB7E3F02}"/>
                </a:ext>
              </a:extLst>
            </p:cNvPr>
            <p:cNvSpPr/>
            <p:nvPr/>
          </p:nvSpPr>
          <p:spPr>
            <a:xfrm>
              <a:off x="2648037" y="101634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44" name="Oval 43">
              <a:extLst>
                <a:ext uri="{FF2B5EF4-FFF2-40B4-BE49-F238E27FC236}">
                  <a16:creationId xmlns:a16="http://schemas.microsoft.com/office/drawing/2014/main" id="{AD04B05A-633F-8725-6E58-EF969A20621C}"/>
                </a:ext>
              </a:extLst>
            </p:cNvPr>
            <p:cNvSpPr/>
            <p:nvPr/>
          </p:nvSpPr>
          <p:spPr>
            <a:xfrm>
              <a:off x="2749625" y="101634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45" name="Oval 44">
              <a:extLst>
                <a:ext uri="{FF2B5EF4-FFF2-40B4-BE49-F238E27FC236}">
                  <a16:creationId xmlns:a16="http://schemas.microsoft.com/office/drawing/2014/main" id="{80BD8E08-96B9-D026-B852-3D89DCA44863}"/>
                </a:ext>
              </a:extLst>
            </p:cNvPr>
            <p:cNvSpPr/>
            <p:nvPr/>
          </p:nvSpPr>
          <p:spPr>
            <a:xfrm>
              <a:off x="2851213" y="101634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46" name="Oval 45">
              <a:extLst>
                <a:ext uri="{FF2B5EF4-FFF2-40B4-BE49-F238E27FC236}">
                  <a16:creationId xmlns:a16="http://schemas.microsoft.com/office/drawing/2014/main" id="{E7CED9EB-13B2-1BA7-D663-5B2BE018772A}"/>
                </a:ext>
              </a:extLst>
            </p:cNvPr>
            <p:cNvSpPr/>
            <p:nvPr/>
          </p:nvSpPr>
          <p:spPr>
            <a:xfrm>
              <a:off x="2952797" y="101634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47" name="Oval 46">
              <a:extLst>
                <a:ext uri="{FF2B5EF4-FFF2-40B4-BE49-F238E27FC236}">
                  <a16:creationId xmlns:a16="http://schemas.microsoft.com/office/drawing/2014/main" id="{088E3460-A8F2-40BE-17C5-3123F2AF4920}"/>
                </a:ext>
              </a:extLst>
            </p:cNvPr>
            <p:cNvSpPr/>
            <p:nvPr/>
          </p:nvSpPr>
          <p:spPr>
            <a:xfrm>
              <a:off x="2038509" y="108232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48" name="Oval 47">
              <a:extLst>
                <a:ext uri="{FF2B5EF4-FFF2-40B4-BE49-F238E27FC236}">
                  <a16:creationId xmlns:a16="http://schemas.microsoft.com/office/drawing/2014/main" id="{1D5018EC-712F-5E65-B355-8C683D47802D}"/>
                </a:ext>
              </a:extLst>
            </p:cNvPr>
            <p:cNvSpPr/>
            <p:nvPr/>
          </p:nvSpPr>
          <p:spPr>
            <a:xfrm>
              <a:off x="2140097" y="108232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49" name="Oval 48">
              <a:extLst>
                <a:ext uri="{FF2B5EF4-FFF2-40B4-BE49-F238E27FC236}">
                  <a16:creationId xmlns:a16="http://schemas.microsoft.com/office/drawing/2014/main" id="{28BEA1E7-E5A4-6527-D5DD-21C7105C780A}"/>
                </a:ext>
              </a:extLst>
            </p:cNvPr>
            <p:cNvSpPr/>
            <p:nvPr/>
          </p:nvSpPr>
          <p:spPr>
            <a:xfrm>
              <a:off x="2241685" y="108232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50" name="Oval 49">
              <a:extLst>
                <a:ext uri="{FF2B5EF4-FFF2-40B4-BE49-F238E27FC236}">
                  <a16:creationId xmlns:a16="http://schemas.microsoft.com/office/drawing/2014/main" id="{FA1CD0F3-2C6D-DAEB-67AF-72CF15417299}"/>
                </a:ext>
              </a:extLst>
            </p:cNvPr>
            <p:cNvSpPr/>
            <p:nvPr/>
          </p:nvSpPr>
          <p:spPr>
            <a:xfrm>
              <a:off x="2343273" y="108232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51" name="Oval 50">
              <a:extLst>
                <a:ext uri="{FF2B5EF4-FFF2-40B4-BE49-F238E27FC236}">
                  <a16:creationId xmlns:a16="http://schemas.microsoft.com/office/drawing/2014/main" id="{D99B5AE3-49D8-F0F0-A416-85D130AFE3BB}"/>
                </a:ext>
              </a:extLst>
            </p:cNvPr>
            <p:cNvSpPr/>
            <p:nvPr/>
          </p:nvSpPr>
          <p:spPr>
            <a:xfrm>
              <a:off x="2444861" y="108232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52" name="Oval 51">
              <a:extLst>
                <a:ext uri="{FF2B5EF4-FFF2-40B4-BE49-F238E27FC236}">
                  <a16:creationId xmlns:a16="http://schemas.microsoft.com/office/drawing/2014/main" id="{D5920E33-3D2B-645C-DB87-C4FEF6E30C23}"/>
                </a:ext>
              </a:extLst>
            </p:cNvPr>
            <p:cNvSpPr/>
            <p:nvPr/>
          </p:nvSpPr>
          <p:spPr>
            <a:xfrm>
              <a:off x="2546449" y="108232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53" name="Oval 52">
              <a:extLst>
                <a:ext uri="{FF2B5EF4-FFF2-40B4-BE49-F238E27FC236}">
                  <a16:creationId xmlns:a16="http://schemas.microsoft.com/office/drawing/2014/main" id="{46ADCEA7-B085-A7F4-5640-DFD869928E28}"/>
                </a:ext>
              </a:extLst>
            </p:cNvPr>
            <p:cNvSpPr/>
            <p:nvPr/>
          </p:nvSpPr>
          <p:spPr>
            <a:xfrm>
              <a:off x="2648037" y="108232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54" name="Oval 53">
              <a:extLst>
                <a:ext uri="{FF2B5EF4-FFF2-40B4-BE49-F238E27FC236}">
                  <a16:creationId xmlns:a16="http://schemas.microsoft.com/office/drawing/2014/main" id="{EA5A3DB6-FA2A-4AA8-21E1-42920842E934}"/>
                </a:ext>
              </a:extLst>
            </p:cNvPr>
            <p:cNvSpPr/>
            <p:nvPr/>
          </p:nvSpPr>
          <p:spPr>
            <a:xfrm>
              <a:off x="2749625" y="108232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55" name="Oval 54">
              <a:extLst>
                <a:ext uri="{FF2B5EF4-FFF2-40B4-BE49-F238E27FC236}">
                  <a16:creationId xmlns:a16="http://schemas.microsoft.com/office/drawing/2014/main" id="{A71C09CE-36E1-302F-7EE2-BD817EB4DFA7}"/>
                </a:ext>
              </a:extLst>
            </p:cNvPr>
            <p:cNvSpPr/>
            <p:nvPr/>
          </p:nvSpPr>
          <p:spPr>
            <a:xfrm>
              <a:off x="2851213" y="108232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56" name="Oval 55">
              <a:extLst>
                <a:ext uri="{FF2B5EF4-FFF2-40B4-BE49-F238E27FC236}">
                  <a16:creationId xmlns:a16="http://schemas.microsoft.com/office/drawing/2014/main" id="{8AFDC2D5-20B2-0B6A-FD75-F642AD39162F}"/>
                </a:ext>
              </a:extLst>
            </p:cNvPr>
            <p:cNvSpPr/>
            <p:nvPr/>
          </p:nvSpPr>
          <p:spPr>
            <a:xfrm>
              <a:off x="2952797" y="108232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57" name="Oval 56">
              <a:extLst>
                <a:ext uri="{FF2B5EF4-FFF2-40B4-BE49-F238E27FC236}">
                  <a16:creationId xmlns:a16="http://schemas.microsoft.com/office/drawing/2014/main" id="{305DF597-0872-7F67-74B2-F711B4EDC154}"/>
                </a:ext>
              </a:extLst>
            </p:cNvPr>
            <p:cNvSpPr/>
            <p:nvPr/>
          </p:nvSpPr>
          <p:spPr>
            <a:xfrm>
              <a:off x="2038509" y="114829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58" name="Oval 57">
              <a:extLst>
                <a:ext uri="{FF2B5EF4-FFF2-40B4-BE49-F238E27FC236}">
                  <a16:creationId xmlns:a16="http://schemas.microsoft.com/office/drawing/2014/main" id="{527006D3-2E6F-EDCC-1459-3B0F0883D608}"/>
                </a:ext>
              </a:extLst>
            </p:cNvPr>
            <p:cNvSpPr/>
            <p:nvPr/>
          </p:nvSpPr>
          <p:spPr>
            <a:xfrm>
              <a:off x="2140097" y="114829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59" name="Oval 58">
              <a:extLst>
                <a:ext uri="{FF2B5EF4-FFF2-40B4-BE49-F238E27FC236}">
                  <a16:creationId xmlns:a16="http://schemas.microsoft.com/office/drawing/2014/main" id="{DDAECC32-FE95-71E3-81B9-B4642937F062}"/>
                </a:ext>
              </a:extLst>
            </p:cNvPr>
            <p:cNvSpPr/>
            <p:nvPr/>
          </p:nvSpPr>
          <p:spPr>
            <a:xfrm>
              <a:off x="2241685" y="114829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0" name="Oval 59">
              <a:extLst>
                <a:ext uri="{FF2B5EF4-FFF2-40B4-BE49-F238E27FC236}">
                  <a16:creationId xmlns:a16="http://schemas.microsoft.com/office/drawing/2014/main" id="{DAF4C3B1-7679-FCA8-890C-A255BBAF5D0C}"/>
                </a:ext>
              </a:extLst>
            </p:cNvPr>
            <p:cNvSpPr/>
            <p:nvPr/>
          </p:nvSpPr>
          <p:spPr>
            <a:xfrm>
              <a:off x="2343273" y="114829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1" name="Oval 60">
              <a:extLst>
                <a:ext uri="{FF2B5EF4-FFF2-40B4-BE49-F238E27FC236}">
                  <a16:creationId xmlns:a16="http://schemas.microsoft.com/office/drawing/2014/main" id="{E9BCF3E5-1CAC-34B3-44B2-71E4070FED3B}"/>
                </a:ext>
              </a:extLst>
            </p:cNvPr>
            <p:cNvSpPr/>
            <p:nvPr/>
          </p:nvSpPr>
          <p:spPr>
            <a:xfrm>
              <a:off x="2444861" y="114829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2" name="Oval 61">
              <a:extLst>
                <a:ext uri="{FF2B5EF4-FFF2-40B4-BE49-F238E27FC236}">
                  <a16:creationId xmlns:a16="http://schemas.microsoft.com/office/drawing/2014/main" id="{4BA351A5-006E-AFF4-EDF3-CA519473501A}"/>
                </a:ext>
              </a:extLst>
            </p:cNvPr>
            <p:cNvSpPr/>
            <p:nvPr/>
          </p:nvSpPr>
          <p:spPr>
            <a:xfrm>
              <a:off x="2546449" y="114829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3" name="Oval 62">
              <a:extLst>
                <a:ext uri="{FF2B5EF4-FFF2-40B4-BE49-F238E27FC236}">
                  <a16:creationId xmlns:a16="http://schemas.microsoft.com/office/drawing/2014/main" id="{ECBB01F6-8F7F-DFAE-41D1-C737876D1773}"/>
                </a:ext>
              </a:extLst>
            </p:cNvPr>
            <p:cNvSpPr/>
            <p:nvPr/>
          </p:nvSpPr>
          <p:spPr>
            <a:xfrm>
              <a:off x="2648037" y="114829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4" name="Oval 63">
              <a:extLst>
                <a:ext uri="{FF2B5EF4-FFF2-40B4-BE49-F238E27FC236}">
                  <a16:creationId xmlns:a16="http://schemas.microsoft.com/office/drawing/2014/main" id="{DAB7C544-2184-C76D-ADC6-576D4829FF16}"/>
                </a:ext>
              </a:extLst>
            </p:cNvPr>
            <p:cNvSpPr/>
            <p:nvPr/>
          </p:nvSpPr>
          <p:spPr>
            <a:xfrm>
              <a:off x="2749625" y="114829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5" name="Oval 64">
              <a:extLst>
                <a:ext uri="{FF2B5EF4-FFF2-40B4-BE49-F238E27FC236}">
                  <a16:creationId xmlns:a16="http://schemas.microsoft.com/office/drawing/2014/main" id="{94855DF7-1CC2-DBB4-09FB-3AE62686F0DC}"/>
                </a:ext>
              </a:extLst>
            </p:cNvPr>
            <p:cNvSpPr/>
            <p:nvPr/>
          </p:nvSpPr>
          <p:spPr>
            <a:xfrm>
              <a:off x="2851213" y="114829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6" name="Oval 65">
              <a:extLst>
                <a:ext uri="{FF2B5EF4-FFF2-40B4-BE49-F238E27FC236}">
                  <a16:creationId xmlns:a16="http://schemas.microsoft.com/office/drawing/2014/main" id="{DB082604-68B7-9F9E-39CC-BA29474C411C}"/>
                </a:ext>
              </a:extLst>
            </p:cNvPr>
            <p:cNvSpPr/>
            <p:nvPr/>
          </p:nvSpPr>
          <p:spPr>
            <a:xfrm>
              <a:off x="2952797" y="114829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7" name="Oval 66">
              <a:extLst>
                <a:ext uri="{FF2B5EF4-FFF2-40B4-BE49-F238E27FC236}">
                  <a16:creationId xmlns:a16="http://schemas.microsoft.com/office/drawing/2014/main" id="{E934E171-FB4D-DCC1-BA68-9E6C789B5E60}"/>
                </a:ext>
              </a:extLst>
            </p:cNvPr>
            <p:cNvSpPr/>
            <p:nvPr/>
          </p:nvSpPr>
          <p:spPr>
            <a:xfrm>
              <a:off x="2038509" y="121427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8" name="Oval 67">
              <a:extLst>
                <a:ext uri="{FF2B5EF4-FFF2-40B4-BE49-F238E27FC236}">
                  <a16:creationId xmlns:a16="http://schemas.microsoft.com/office/drawing/2014/main" id="{537F6EC8-B6E6-AF0B-60BE-353AC305662B}"/>
                </a:ext>
              </a:extLst>
            </p:cNvPr>
            <p:cNvSpPr/>
            <p:nvPr/>
          </p:nvSpPr>
          <p:spPr>
            <a:xfrm>
              <a:off x="2140097" y="121427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9" name="Oval 68">
              <a:extLst>
                <a:ext uri="{FF2B5EF4-FFF2-40B4-BE49-F238E27FC236}">
                  <a16:creationId xmlns:a16="http://schemas.microsoft.com/office/drawing/2014/main" id="{167B8A9A-D056-1A64-EA66-06D426F65467}"/>
                </a:ext>
              </a:extLst>
            </p:cNvPr>
            <p:cNvSpPr/>
            <p:nvPr/>
          </p:nvSpPr>
          <p:spPr>
            <a:xfrm>
              <a:off x="2241685" y="121427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70" name="Oval 69">
              <a:extLst>
                <a:ext uri="{FF2B5EF4-FFF2-40B4-BE49-F238E27FC236}">
                  <a16:creationId xmlns:a16="http://schemas.microsoft.com/office/drawing/2014/main" id="{D95E0B5B-2D39-B569-E24F-12143686A115}"/>
                </a:ext>
              </a:extLst>
            </p:cNvPr>
            <p:cNvSpPr/>
            <p:nvPr/>
          </p:nvSpPr>
          <p:spPr>
            <a:xfrm>
              <a:off x="2343273" y="121427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71" name="Oval 70">
              <a:extLst>
                <a:ext uri="{FF2B5EF4-FFF2-40B4-BE49-F238E27FC236}">
                  <a16:creationId xmlns:a16="http://schemas.microsoft.com/office/drawing/2014/main" id="{3AD057AA-9D6C-2857-622E-AB76A8037383}"/>
                </a:ext>
              </a:extLst>
            </p:cNvPr>
            <p:cNvSpPr/>
            <p:nvPr/>
          </p:nvSpPr>
          <p:spPr>
            <a:xfrm>
              <a:off x="2444861" y="121427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72" name="Oval 71">
              <a:extLst>
                <a:ext uri="{FF2B5EF4-FFF2-40B4-BE49-F238E27FC236}">
                  <a16:creationId xmlns:a16="http://schemas.microsoft.com/office/drawing/2014/main" id="{5538E6DF-9C64-DB05-F39A-5E96EB071033}"/>
                </a:ext>
              </a:extLst>
            </p:cNvPr>
            <p:cNvSpPr/>
            <p:nvPr/>
          </p:nvSpPr>
          <p:spPr>
            <a:xfrm>
              <a:off x="2546449" y="121427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73" name="Oval 72">
              <a:extLst>
                <a:ext uri="{FF2B5EF4-FFF2-40B4-BE49-F238E27FC236}">
                  <a16:creationId xmlns:a16="http://schemas.microsoft.com/office/drawing/2014/main" id="{BBAABBBF-5D72-536A-4BB3-B33867EAD420}"/>
                </a:ext>
              </a:extLst>
            </p:cNvPr>
            <p:cNvSpPr/>
            <p:nvPr/>
          </p:nvSpPr>
          <p:spPr>
            <a:xfrm>
              <a:off x="2648037" y="121427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74" name="Oval 73">
              <a:extLst>
                <a:ext uri="{FF2B5EF4-FFF2-40B4-BE49-F238E27FC236}">
                  <a16:creationId xmlns:a16="http://schemas.microsoft.com/office/drawing/2014/main" id="{4B689B18-70D1-B99A-CB40-052A919EF62A}"/>
                </a:ext>
              </a:extLst>
            </p:cNvPr>
            <p:cNvSpPr/>
            <p:nvPr/>
          </p:nvSpPr>
          <p:spPr>
            <a:xfrm>
              <a:off x="2749625" y="121427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75" name="Oval 74">
              <a:extLst>
                <a:ext uri="{FF2B5EF4-FFF2-40B4-BE49-F238E27FC236}">
                  <a16:creationId xmlns:a16="http://schemas.microsoft.com/office/drawing/2014/main" id="{BF1053EE-4389-3940-8FA8-F393B8D14040}"/>
                </a:ext>
              </a:extLst>
            </p:cNvPr>
            <p:cNvSpPr/>
            <p:nvPr/>
          </p:nvSpPr>
          <p:spPr>
            <a:xfrm>
              <a:off x="2851213" y="121427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76" name="Oval 75">
              <a:extLst>
                <a:ext uri="{FF2B5EF4-FFF2-40B4-BE49-F238E27FC236}">
                  <a16:creationId xmlns:a16="http://schemas.microsoft.com/office/drawing/2014/main" id="{0316ED67-B5AA-87CB-83C3-4DF7090376D7}"/>
                </a:ext>
              </a:extLst>
            </p:cNvPr>
            <p:cNvSpPr/>
            <p:nvPr/>
          </p:nvSpPr>
          <p:spPr>
            <a:xfrm>
              <a:off x="2952797" y="1214274"/>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77" name="Oval 76">
              <a:extLst>
                <a:ext uri="{FF2B5EF4-FFF2-40B4-BE49-F238E27FC236}">
                  <a16:creationId xmlns:a16="http://schemas.microsoft.com/office/drawing/2014/main" id="{7F5FEE30-BA8D-23E0-2BFE-413DFE210362}"/>
                </a:ext>
              </a:extLst>
            </p:cNvPr>
            <p:cNvSpPr/>
            <p:nvPr/>
          </p:nvSpPr>
          <p:spPr>
            <a:xfrm>
              <a:off x="2038509" y="1280250"/>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78" name="Oval 77">
              <a:extLst>
                <a:ext uri="{FF2B5EF4-FFF2-40B4-BE49-F238E27FC236}">
                  <a16:creationId xmlns:a16="http://schemas.microsoft.com/office/drawing/2014/main" id="{E627DAD3-C69D-2B62-5D3A-C388468D9A0E}"/>
                </a:ext>
              </a:extLst>
            </p:cNvPr>
            <p:cNvSpPr/>
            <p:nvPr/>
          </p:nvSpPr>
          <p:spPr>
            <a:xfrm>
              <a:off x="2140097" y="1280250"/>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79" name="Oval 78">
              <a:extLst>
                <a:ext uri="{FF2B5EF4-FFF2-40B4-BE49-F238E27FC236}">
                  <a16:creationId xmlns:a16="http://schemas.microsoft.com/office/drawing/2014/main" id="{742B54EE-828B-9EBB-A200-CDE04B54E0B9}"/>
                </a:ext>
              </a:extLst>
            </p:cNvPr>
            <p:cNvSpPr/>
            <p:nvPr/>
          </p:nvSpPr>
          <p:spPr>
            <a:xfrm>
              <a:off x="2241685" y="1280250"/>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0" name="Oval 79">
              <a:extLst>
                <a:ext uri="{FF2B5EF4-FFF2-40B4-BE49-F238E27FC236}">
                  <a16:creationId xmlns:a16="http://schemas.microsoft.com/office/drawing/2014/main" id="{35D824DF-99C3-DD4F-DEA6-DC84DAB0865C}"/>
                </a:ext>
              </a:extLst>
            </p:cNvPr>
            <p:cNvSpPr/>
            <p:nvPr/>
          </p:nvSpPr>
          <p:spPr>
            <a:xfrm>
              <a:off x="2343273" y="1280250"/>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1" name="Oval 80">
              <a:extLst>
                <a:ext uri="{FF2B5EF4-FFF2-40B4-BE49-F238E27FC236}">
                  <a16:creationId xmlns:a16="http://schemas.microsoft.com/office/drawing/2014/main" id="{6A9DDEE4-E178-2ECD-86F1-30D47BC06AFF}"/>
                </a:ext>
              </a:extLst>
            </p:cNvPr>
            <p:cNvSpPr/>
            <p:nvPr/>
          </p:nvSpPr>
          <p:spPr>
            <a:xfrm>
              <a:off x="2444861" y="1280250"/>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2" name="Oval 81">
              <a:extLst>
                <a:ext uri="{FF2B5EF4-FFF2-40B4-BE49-F238E27FC236}">
                  <a16:creationId xmlns:a16="http://schemas.microsoft.com/office/drawing/2014/main" id="{0400B801-C2CB-FB76-759D-A0D1AB20996B}"/>
                </a:ext>
              </a:extLst>
            </p:cNvPr>
            <p:cNvSpPr/>
            <p:nvPr/>
          </p:nvSpPr>
          <p:spPr>
            <a:xfrm>
              <a:off x="2546449" y="1280250"/>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3" name="Oval 82">
              <a:extLst>
                <a:ext uri="{FF2B5EF4-FFF2-40B4-BE49-F238E27FC236}">
                  <a16:creationId xmlns:a16="http://schemas.microsoft.com/office/drawing/2014/main" id="{0B3A6796-3C86-A355-55C1-8948A02EA69E}"/>
                </a:ext>
              </a:extLst>
            </p:cNvPr>
            <p:cNvSpPr/>
            <p:nvPr/>
          </p:nvSpPr>
          <p:spPr>
            <a:xfrm>
              <a:off x="2648037" y="1280250"/>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4" name="Oval 83">
              <a:extLst>
                <a:ext uri="{FF2B5EF4-FFF2-40B4-BE49-F238E27FC236}">
                  <a16:creationId xmlns:a16="http://schemas.microsoft.com/office/drawing/2014/main" id="{1AD7C11E-1456-C9F9-F6A6-7155F4B9AA3F}"/>
                </a:ext>
              </a:extLst>
            </p:cNvPr>
            <p:cNvSpPr/>
            <p:nvPr/>
          </p:nvSpPr>
          <p:spPr>
            <a:xfrm>
              <a:off x="2749625" y="1280250"/>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5" name="Oval 84">
              <a:extLst>
                <a:ext uri="{FF2B5EF4-FFF2-40B4-BE49-F238E27FC236}">
                  <a16:creationId xmlns:a16="http://schemas.microsoft.com/office/drawing/2014/main" id="{018C8209-FAE5-17D9-DD5F-77B4B940DE5E}"/>
                </a:ext>
              </a:extLst>
            </p:cNvPr>
            <p:cNvSpPr/>
            <p:nvPr/>
          </p:nvSpPr>
          <p:spPr>
            <a:xfrm>
              <a:off x="2851213" y="1280250"/>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6" name="Oval 85">
              <a:extLst>
                <a:ext uri="{FF2B5EF4-FFF2-40B4-BE49-F238E27FC236}">
                  <a16:creationId xmlns:a16="http://schemas.microsoft.com/office/drawing/2014/main" id="{571CE9F8-D86D-D6CD-AA0C-2E493FEDA0A3}"/>
                </a:ext>
              </a:extLst>
            </p:cNvPr>
            <p:cNvSpPr/>
            <p:nvPr/>
          </p:nvSpPr>
          <p:spPr>
            <a:xfrm>
              <a:off x="2952797" y="1280250"/>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7" name="Oval 86">
              <a:extLst>
                <a:ext uri="{FF2B5EF4-FFF2-40B4-BE49-F238E27FC236}">
                  <a16:creationId xmlns:a16="http://schemas.microsoft.com/office/drawing/2014/main" id="{265B777C-BC09-A35F-4FC2-EE68E3B5F802}"/>
                </a:ext>
              </a:extLst>
            </p:cNvPr>
            <p:cNvSpPr/>
            <p:nvPr/>
          </p:nvSpPr>
          <p:spPr>
            <a:xfrm>
              <a:off x="2038509" y="1346226"/>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8" name="Oval 87">
              <a:extLst>
                <a:ext uri="{FF2B5EF4-FFF2-40B4-BE49-F238E27FC236}">
                  <a16:creationId xmlns:a16="http://schemas.microsoft.com/office/drawing/2014/main" id="{B0DD587B-8A4F-CA53-2D0A-7BC931C74C51}"/>
                </a:ext>
              </a:extLst>
            </p:cNvPr>
            <p:cNvSpPr/>
            <p:nvPr/>
          </p:nvSpPr>
          <p:spPr>
            <a:xfrm>
              <a:off x="2140097" y="1346226"/>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9" name="Oval 88">
              <a:extLst>
                <a:ext uri="{FF2B5EF4-FFF2-40B4-BE49-F238E27FC236}">
                  <a16:creationId xmlns:a16="http://schemas.microsoft.com/office/drawing/2014/main" id="{BED25B53-5652-E3FF-43A6-7AEE6928267D}"/>
                </a:ext>
              </a:extLst>
            </p:cNvPr>
            <p:cNvSpPr/>
            <p:nvPr/>
          </p:nvSpPr>
          <p:spPr>
            <a:xfrm>
              <a:off x="2241685" y="1346226"/>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0" name="Oval 89">
              <a:extLst>
                <a:ext uri="{FF2B5EF4-FFF2-40B4-BE49-F238E27FC236}">
                  <a16:creationId xmlns:a16="http://schemas.microsoft.com/office/drawing/2014/main" id="{F87D4F5F-4064-E41F-2E25-F8F4D45F80C1}"/>
                </a:ext>
              </a:extLst>
            </p:cNvPr>
            <p:cNvSpPr/>
            <p:nvPr/>
          </p:nvSpPr>
          <p:spPr>
            <a:xfrm>
              <a:off x="2343273" y="1346226"/>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1" name="Oval 90">
              <a:extLst>
                <a:ext uri="{FF2B5EF4-FFF2-40B4-BE49-F238E27FC236}">
                  <a16:creationId xmlns:a16="http://schemas.microsoft.com/office/drawing/2014/main" id="{1B26778B-689B-37DE-C7BF-1AAE58FA3763}"/>
                </a:ext>
              </a:extLst>
            </p:cNvPr>
            <p:cNvSpPr/>
            <p:nvPr/>
          </p:nvSpPr>
          <p:spPr>
            <a:xfrm>
              <a:off x="2444861" y="1346226"/>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2" name="Oval 91">
              <a:extLst>
                <a:ext uri="{FF2B5EF4-FFF2-40B4-BE49-F238E27FC236}">
                  <a16:creationId xmlns:a16="http://schemas.microsoft.com/office/drawing/2014/main" id="{A761A6A5-9398-5E20-D2AA-072C259577D1}"/>
                </a:ext>
              </a:extLst>
            </p:cNvPr>
            <p:cNvSpPr/>
            <p:nvPr/>
          </p:nvSpPr>
          <p:spPr>
            <a:xfrm>
              <a:off x="2546449" y="1346226"/>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3" name="Oval 92">
              <a:extLst>
                <a:ext uri="{FF2B5EF4-FFF2-40B4-BE49-F238E27FC236}">
                  <a16:creationId xmlns:a16="http://schemas.microsoft.com/office/drawing/2014/main" id="{C7324552-66A8-BE16-CB5E-FFFE27D1E347}"/>
                </a:ext>
              </a:extLst>
            </p:cNvPr>
            <p:cNvSpPr/>
            <p:nvPr/>
          </p:nvSpPr>
          <p:spPr>
            <a:xfrm>
              <a:off x="2648037" y="1346226"/>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4" name="Oval 93">
              <a:extLst>
                <a:ext uri="{FF2B5EF4-FFF2-40B4-BE49-F238E27FC236}">
                  <a16:creationId xmlns:a16="http://schemas.microsoft.com/office/drawing/2014/main" id="{510679BA-CFDD-63F3-C4FC-3A534BBB7AC4}"/>
                </a:ext>
              </a:extLst>
            </p:cNvPr>
            <p:cNvSpPr/>
            <p:nvPr/>
          </p:nvSpPr>
          <p:spPr>
            <a:xfrm>
              <a:off x="2749625" y="1346226"/>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5" name="Oval 94">
              <a:extLst>
                <a:ext uri="{FF2B5EF4-FFF2-40B4-BE49-F238E27FC236}">
                  <a16:creationId xmlns:a16="http://schemas.microsoft.com/office/drawing/2014/main" id="{6E88A62D-6B31-A32D-F0BD-235AE4EBC502}"/>
                </a:ext>
              </a:extLst>
            </p:cNvPr>
            <p:cNvSpPr/>
            <p:nvPr/>
          </p:nvSpPr>
          <p:spPr>
            <a:xfrm>
              <a:off x="2851213" y="1346226"/>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6" name="Oval 95">
              <a:extLst>
                <a:ext uri="{FF2B5EF4-FFF2-40B4-BE49-F238E27FC236}">
                  <a16:creationId xmlns:a16="http://schemas.microsoft.com/office/drawing/2014/main" id="{B92B97BF-F570-A0C4-8BC7-97FEB2368731}"/>
                </a:ext>
              </a:extLst>
            </p:cNvPr>
            <p:cNvSpPr/>
            <p:nvPr/>
          </p:nvSpPr>
          <p:spPr>
            <a:xfrm>
              <a:off x="2952797" y="1346226"/>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7" name="Oval 96">
              <a:extLst>
                <a:ext uri="{FF2B5EF4-FFF2-40B4-BE49-F238E27FC236}">
                  <a16:creationId xmlns:a16="http://schemas.microsoft.com/office/drawing/2014/main" id="{D194DC91-DD5F-2009-E58F-EA973D03A764}"/>
                </a:ext>
              </a:extLst>
            </p:cNvPr>
            <p:cNvSpPr/>
            <p:nvPr/>
          </p:nvSpPr>
          <p:spPr>
            <a:xfrm>
              <a:off x="2038509" y="1412205"/>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8" name="Oval 97">
              <a:extLst>
                <a:ext uri="{FF2B5EF4-FFF2-40B4-BE49-F238E27FC236}">
                  <a16:creationId xmlns:a16="http://schemas.microsoft.com/office/drawing/2014/main" id="{2F26D35C-4DFA-BE0E-4FDA-001F395AD669}"/>
                </a:ext>
              </a:extLst>
            </p:cNvPr>
            <p:cNvSpPr/>
            <p:nvPr/>
          </p:nvSpPr>
          <p:spPr>
            <a:xfrm>
              <a:off x="2140097" y="1412205"/>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9" name="Oval 98">
              <a:extLst>
                <a:ext uri="{FF2B5EF4-FFF2-40B4-BE49-F238E27FC236}">
                  <a16:creationId xmlns:a16="http://schemas.microsoft.com/office/drawing/2014/main" id="{4671A225-20EB-9094-02D9-BE36718706C0}"/>
                </a:ext>
              </a:extLst>
            </p:cNvPr>
            <p:cNvSpPr/>
            <p:nvPr/>
          </p:nvSpPr>
          <p:spPr>
            <a:xfrm>
              <a:off x="2241685" y="1412205"/>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0" name="Oval 99">
              <a:extLst>
                <a:ext uri="{FF2B5EF4-FFF2-40B4-BE49-F238E27FC236}">
                  <a16:creationId xmlns:a16="http://schemas.microsoft.com/office/drawing/2014/main" id="{41B7447A-B40A-EA50-B437-1C14037ED9C3}"/>
                </a:ext>
              </a:extLst>
            </p:cNvPr>
            <p:cNvSpPr/>
            <p:nvPr/>
          </p:nvSpPr>
          <p:spPr>
            <a:xfrm>
              <a:off x="2343273" y="1412205"/>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1" name="Oval 100">
              <a:extLst>
                <a:ext uri="{FF2B5EF4-FFF2-40B4-BE49-F238E27FC236}">
                  <a16:creationId xmlns:a16="http://schemas.microsoft.com/office/drawing/2014/main" id="{809FD0BB-BEFA-582D-5213-BC12F9F62F30}"/>
                </a:ext>
              </a:extLst>
            </p:cNvPr>
            <p:cNvSpPr/>
            <p:nvPr/>
          </p:nvSpPr>
          <p:spPr>
            <a:xfrm>
              <a:off x="2444861" y="1412205"/>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2" name="Oval 101">
              <a:extLst>
                <a:ext uri="{FF2B5EF4-FFF2-40B4-BE49-F238E27FC236}">
                  <a16:creationId xmlns:a16="http://schemas.microsoft.com/office/drawing/2014/main" id="{09F66896-B85F-42B0-7FA2-922E006DCD79}"/>
                </a:ext>
              </a:extLst>
            </p:cNvPr>
            <p:cNvSpPr/>
            <p:nvPr/>
          </p:nvSpPr>
          <p:spPr>
            <a:xfrm>
              <a:off x="2546449" y="1412205"/>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3" name="Oval 102">
              <a:extLst>
                <a:ext uri="{FF2B5EF4-FFF2-40B4-BE49-F238E27FC236}">
                  <a16:creationId xmlns:a16="http://schemas.microsoft.com/office/drawing/2014/main" id="{CD452C79-8E15-B685-35D4-73363FD24B05}"/>
                </a:ext>
              </a:extLst>
            </p:cNvPr>
            <p:cNvSpPr/>
            <p:nvPr/>
          </p:nvSpPr>
          <p:spPr>
            <a:xfrm>
              <a:off x="2648037" y="1412205"/>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4" name="Oval 103">
              <a:extLst>
                <a:ext uri="{FF2B5EF4-FFF2-40B4-BE49-F238E27FC236}">
                  <a16:creationId xmlns:a16="http://schemas.microsoft.com/office/drawing/2014/main" id="{95DD15D9-8FD9-E61A-2C9E-6521E5CBF7F2}"/>
                </a:ext>
              </a:extLst>
            </p:cNvPr>
            <p:cNvSpPr/>
            <p:nvPr/>
          </p:nvSpPr>
          <p:spPr>
            <a:xfrm>
              <a:off x="2749625" y="1412205"/>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5" name="Oval 104">
              <a:extLst>
                <a:ext uri="{FF2B5EF4-FFF2-40B4-BE49-F238E27FC236}">
                  <a16:creationId xmlns:a16="http://schemas.microsoft.com/office/drawing/2014/main" id="{E18E1B3F-5139-AB83-F687-D73918916C6C}"/>
                </a:ext>
              </a:extLst>
            </p:cNvPr>
            <p:cNvSpPr/>
            <p:nvPr/>
          </p:nvSpPr>
          <p:spPr>
            <a:xfrm>
              <a:off x="2851213" y="1412205"/>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6" name="Oval 105">
              <a:extLst>
                <a:ext uri="{FF2B5EF4-FFF2-40B4-BE49-F238E27FC236}">
                  <a16:creationId xmlns:a16="http://schemas.microsoft.com/office/drawing/2014/main" id="{8CC68A0D-A4AA-D0DF-51A3-E54906B6D55C}"/>
                </a:ext>
              </a:extLst>
            </p:cNvPr>
            <p:cNvSpPr/>
            <p:nvPr/>
          </p:nvSpPr>
          <p:spPr>
            <a:xfrm>
              <a:off x="2952797" y="1412205"/>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7" name="Oval 106">
              <a:extLst>
                <a:ext uri="{FF2B5EF4-FFF2-40B4-BE49-F238E27FC236}">
                  <a16:creationId xmlns:a16="http://schemas.microsoft.com/office/drawing/2014/main" id="{DD90AC0E-8058-5F70-2B8A-BB8917CC2876}"/>
                </a:ext>
              </a:extLst>
            </p:cNvPr>
            <p:cNvSpPr/>
            <p:nvPr/>
          </p:nvSpPr>
          <p:spPr>
            <a:xfrm>
              <a:off x="2038509" y="81841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8" name="Oval 107">
              <a:extLst>
                <a:ext uri="{FF2B5EF4-FFF2-40B4-BE49-F238E27FC236}">
                  <a16:creationId xmlns:a16="http://schemas.microsoft.com/office/drawing/2014/main" id="{9FBAEF25-E915-FCAC-E8C7-5952F4FDFB8F}"/>
                </a:ext>
              </a:extLst>
            </p:cNvPr>
            <p:cNvSpPr/>
            <p:nvPr/>
          </p:nvSpPr>
          <p:spPr>
            <a:xfrm>
              <a:off x="2140097" y="81841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9" name="Oval 108">
              <a:extLst>
                <a:ext uri="{FF2B5EF4-FFF2-40B4-BE49-F238E27FC236}">
                  <a16:creationId xmlns:a16="http://schemas.microsoft.com/office/drawing/2014/main" id="{2C24A766-C7D7-7B3D-E802-F7055478EE0C}"/>
                </a:ext>
              </a:extLst>
            </p:cNvPr>
            <p:cNvSpPr/>
            <p:nvPr/>
          </p:nvSpPr>
          <p:spPr>
            <a:xfrm>
              <a:off x="2241685" y="81841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10" name="Oval 109">
              <a:extLst>
                <a:ext uri="{FF2B5EF4-FFF2-40B4-BE49-F238E27FC236}">
                  <a16:creationId xmlns:a16="http://schemas.microsoft.com/office/drawing/2014/main" id="{A9CD7589-BA5A-7F14-24B9-8F37A0EE330B}"/>
                </a:ext>
              </a:extLst>
            </p:cNvPr>
            <p:cNvSpPr/>
            <p:nvPr/>
          </p:nvSpPr>
          <p:spPr>
            <a:xfrm>
              <a:off x="2343273" y="81841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11" name="Oval 110">
              <a:extLst>
                <a:ext uri="{FF2B5EF4-FFF2-40B4-BE49-F238E27FC236}">
                  <a16:creationId xmlns:a16="http://schemas.microsoft.com/office/drawing/2014/main" id="{65AFB898-D63C-14BC-8282-C85D9C65D2BD}"/>
                </a:ext>
              </a:extLst>
            </p:cNvPr>
            <p:cNvSpPr/>
            <p:nvPr/>
          </p:nvSpPr>
          <p:spPr>
            <a:xfrm>
              <a:off x="2444861" y="81841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12" name="Oval 111">
              <a:extLst>
                <a:ext uri="{FF2B5EF4-FFF2-40B4-BE49-F238E27FC236}">
                  <a16:creationId xmlns:a16="http://schemas.microsoft.com/office/drawing/2014/main" id="{934C44DF-F61B-AB0F-E794-76299A81E827}"/>
                </a:ext>
              </a:extLst>
            </p:cNvPr>
            <p:cNvSpPr/>
            <p:nvPr/>
          </p:nvSpPr>
          <p:spPr>
            <a:xfrm>
              <a:off x="2546449" y="81841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13" name="Oval 112">
              <a:extLst>
                <a:ext uri="{FF2B5EF4-FFF2-40B4-BE49-F238E27FC236}">
                  <a16:creationId xmlns:a16="http://schemas.microsoft.com/office/drawing/2014/main" id="{CB170454-7F37-7668-9B43-545B1DC70FD2}"/>
                </a:ext>
              </a:extLst>
            </p:cNvPr>
            <p:cNvSpPr/>
            <p:nvPr/>
          </p:nvSpPr>
          <p:spPr>
            <a:xfrm>
              <a:off x="2648037" y="81841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14" name="Oval 113">
              <a:extLst>
                <a:ext uri="{FF2B5EF4-FFF2-40B4-BE49-F238E27FC236}">
                  <a16:creationId xmlns:a16="http://schemas.microsoft.com/office/drawing/2014/main" id="{67E8527C-78C7-B8AC-03FC-002636520680}"/>
                </a:ext>
              </a:extLst>
            </p:cNvPr>
            <p:cNvSpPr/>
            <p:nvPr/>
          </p:nvSpPr>
          <p:spPr>
            <a:xfrm>
              <a:off x="2749625" y="81841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15" name="Oval 114">
              <a:extLst>
                <a:ext uri="{FF2B5EF4-FFF2-40B4-BE49-F238E27FC236}">
                  <a16:creationId xmlns:a16="http://schemas.microsoft.com/office/drawing/2014/main" id="{79902E70-3D36-2891-C355-2500E977CA8B}"/>
                </a:ext>
              </a:extLst>
            </p:cNvPr>
            <p:cNvSpPr/>
            <p:nvPr/>
          </p:nvSpPr>
          <p:spPr>
            <a:xfrm>
              <a:off x="2851213" y="81841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16" name="Oval 115">
              <a:extLst>
                <a:ext uri="{FF2B5EF4-FFF2-40B4-BE49-F238E27FC236}">
                  <a16:creationId xmlns:a16="http://schemas.microsoft.com/office/drawing/2014/main" id="{FE14BC9E-53DF-CC37-DDC0-DB54770B5268}"/>
                </a:ext>
              </a:extLst>
            </p:cNvPr>
            <p:cNvSpPr/>
            <p:nvPr/>
          </p:nvSpPr>
          <p:spPr>
            <a:xfrm>
              <a:off x="2952797" y="81841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grpSp>
      <p:grpSp>
        <p:nvGrpSpPr>
          <p:cNvPr id="318" name="Group 317">
            <a:extLst>
              <a:ext uri="{FF2B5EF4-FFF2-40B4-BE49-F238E27FC236}">
                <a16:creationId xmlns:a16="http://schemas.microsoft.com/office/drawing/2014/main" id="{A59882B0-5009-E5E0-765C-2872E45EC872}"/>
              </a:ext>
            </a:extLst>
          </p:cNvPr>
          <p:cNvGrpSpPr/>
          <p:nvPr/>
        </p:nvGrpSpPr>
        <p:grpSpPr>
          <a:xfrm>
            <a:off x="418272" y="4528464"/>
            <a:ext cx="2514600" cy="1339608"/>
            <a:chOff x="654098" y="4250929"/>
            <a:chExt cx="2514600" cy="1339608"/>
          </a:xfrm>
        </p:grpSpPr>
        <p:sp>
          <p:nvSpPr>
            <p:cNvPr id="14" name="Rectangle 13">
              <a:extLst>
                <a:ext uri="{FF2B5EF4-FFF2-40B4-BE49-F238E27FC236}">
                  <a16:creationId xmlns:a16="http://schemas.microsoft.com/office/drawing/2014/main" id="{A144AB76-00E2-5E49-40B9-DC5E9F6EEBDA}"/>
                </a:ext>
              </a:extLst>
            </p:cNvPr>
            <p:cNvSpPr/>
            <p:nvPr/>
          </p:nvSpPr>
          <p:spPr bwMode="gray">
            <a:xfrm>
              <a:off x="654098" y="4250929"/>
              <a:ext cx="2514600" cy="1339608"/>
            </a:xfrm>
            <a:prstGeom prst="rect">
              <a:avLst/>
            </a:prstGeom>
            <a:noFill/>
            <a:ln w="19050" algn="ctr">
              <a:noFill/>
              <a:miter lim="800000"/>
              <a:headEnd/>
              <a:tailEnd/>
            </a:ln>
          </p:spPr>
          <p:txBody>
            <a:bodyPr wrap="square" lIns="88900" tIns="91440" rIns="88900" bIns="88900" rtlCol="0" anchor="t" anchorCtr="0"/>
            <a:lstStyle/>
            <a:p>
              <a:pPr marL="0" marR="0" lvl="0" indent="0" algn="l" defTabSz="914400" rtl="0" eaLnBrk="1" fontAlgn="auto" latinLnBrk="0" hangingPunct="1">
                <a:lnSpc>
                  <a:spcPct val="100000"/>
                </a:lnSpc>
                <a:spcBef>
                  <a:spcPts val="0"/>
                </a:spcBef>
                <a:spcAft>
                  <a:spcPts val="600"/>
                </a:spcAft>
                <a:buClr>
                  <a:srgbClr val="000000"/>
                </a:buClr>
                <a:buSzTx/>
                <a:buFont typeface="Arial"/>
                <a:buNone/>
                <a:tabLst/>
                <a:defRPr/>
              </a:pPr>
              <a:r>
                <a:rPr kumimoji="0" lang="en-US" sz="4800" b="1" i="0"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95%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of merchants are planning to adapt their fraud strategy for agentic AI </a:t>
              </a:r>
              <a:endParaRPr kumimoji="0" lang="en-US" sz="1400" b="1" i="0" u="none" strike="noStrike" kern="0" cap="none" spc="0" normalizeH="0" baseline="0" noProof="0">
                <a:ln>
                  <a:noFill/>
                </a:ln>
                <a:solidFill>
                  <a:srgbClr val="000000">
                    <a:lumMod val="75000"/>
                    <a:lumOff val="25000"/>
                  </a:srgbClr>
                </a:solidFill>
                <a:effectLst/>
                <a:uLnTx/>
                <a:uFillTx/>
                <a:latin typeface="Arial"/>
                <a:cs typeface="Arial"/>
                <a:sym typeface="Arial"/>
              </a:endParaRPr>
            </a:p>
          </p:txBody>
        </p:sp>
        <p:sp>
          <p:nvSpPr>
            <p:cNvPr id="217" name="Oval 216">
              <a:extLst>
                <a:ext uri="{FF2B5EF4-FFF2-40B4-BE49-F238E27FC236}">
                  <a16:creationId xmlns:a16="http://schemas.microsoft.com/office/drawing/2014/main" id="{C12B0667-D581-B6EA-C705-D61B985A9AC2}"/>
                </a:ext>
              </a:extLst>
            </p:cNvPr>
            <p:cNvSpPr/>
            <p:nvPr/>
          </p:nvSpPr>
          <p:spPr>
            <a:xfrm>
              <a:off x="2038843" y="453801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18" name="Oval 217">
              <a:extLst>
                <a:ext uri="{FF2B5EF4-FFF2-40B4-BE49-F238E27FC236}">
                  <a16:creationId xmlns:a16="http://schemas.microsoft.com/office/drawing/2014/main" id="{1D67339F-C32B-648C-D193-7CD752917439}"/>
                </a:ext>
              </a:extLst>
            </p:cNvPr>
            <p:cNvSpPr/>
            <p:nvPr/>
          </p:nvSpPr>
          <p:spPr>
            <a:xfrm>
              <a:off x="2140431" y="453801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19" name="Oval 218">
              <a:extLst>
                <a:ext uri="{FF2B5EF4-FFF2-40B4-BE49-F238E27FC236}">
                  <a16:creationId xmlns:a16="http://schemas.microsoft.com/office/drawing/2014/main" id="{FFAF0E86-A92F-BD33-BDC3-EE02D656C207}"/>
                </a:ext>
              </a:extLst>
            </p:cNvPr>
            <p:cNvSpPr/>
            <p:nvPr/>
          </p:nvSpPr>
          <p:spPr>
            <a:xfrm>
              <a:off x="2242019" y="453801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20" name="Oval 219">
              <a:extLst>
                <a:ext uri="{FF2B5EF4-FFF2-40B4-BE49-F238E27FC236}">
                  <a16:creationId xmlns:a16="http://schemas.microsoft.com/office/drawing/2014/main" id="{C9CD0138-4C8D-F476-5689-BEEB9AF096E0}"/>
                </a:ext>
              </a:extLst>
            </p:cNvPr>
            <p:cNvSpPr/>
            <p:nvPr/>
          </p:nvSpPr>
          <p:spPr>
            <a:xfrm>
              <a:off x="2343607" y="453801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21" name="Oval 220">
              <a:extLst>
                <a:ext uri="{FF2B5EF4-FFF2-40B4-BE49-F238E27FC236}">
                  <a16:creationId xmlns:a16="http://schemas.microsoft.com/office/drawing/2014/main" id="{B77F6ACA-1C01-9B41-E6A1-9F2F7CE0FE51}"/>
                </a:ext>
              </a:extLst>
            </p:cNvPr>
            <p:cNvSpPr/>
            <p:nvPr/>
          </p:nvSpPr>
          <p:spPr>
            <a:xfrm>
              <a:off x="2445195" y="453801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22" name="Oval 221">
              <a:extLst>
                <a:ext uri="{FF2B5EF4-FFF2-40B4-BE49-F238E27FC236}">
                  <a16:creationId xmlns:a16="http://schemas.microsoft.com/office/drawing/2014/main" id="{A9A1E274-6BF5-8872-DE61-11344A09D2A2}"/>
                </a:ext>
              </a:extLst>
            </p:cNvPr>
            <p:cNvSpPr/>
            <p:nvPr/>
          </p:nvSpPr>
          <p:spPr>
            <a:xfrm>
              <a:off x="2546783" y="453801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23" name="Oval 222">
              <a:extLst>
                <a:ext uri="{FF2B5EF4-FFF2-40B4-BE49-F238E27FC236}">
                  <a16:creationId xmlns:a16="http://schemas.microsoft.com/office/drawing/2014/main" id="{18FBEDCE-4F95-85D0-687C-67644CEE30EB}"/>
                </a:ext>
              </a:extLst>
            </p:cNvPr>
            <p:cNvSpPr/>
            <p:nvPr/>
          </p:nvSpPr>
          <p:spPr>
            <a:xfrm>
              <a:off x="2648371" y="453801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24" name="Oval 223">
              <a:extLst>
                <a:ext uri="{FF2B5EF4-FFF2-40B4-BE49-F238E27FC236}">
                  <a16:creationId xmlns:a16="http://schemas.microsoft.com/office/drawing/2014/main" id="{38ADC2F9-8735-E7EB-5088-7704F79A2CDA}"/>
                </a:ext>
              </a:extLst>
            </p:cNvPr>
            <p:cNvSpPr/>
            <p:nvPr/>
          </p:nvSpPr>
          <p:spPr>
            <a:xfrm>
              <a:off x="2749959" y="453801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25" name="Oval 224">
              <a:extLst>
                <a:ext uri="{FF2B5EF4-FFF2-40B4-BE49-F238E27FC236}">
                  <a16:creationId xmlns:a16="http://schemas.microsoft.com/office/drawing/2014/main" id="{FA510957-8C1B-6A67-AEBF-3FAD36698E10}"/>
                </a:ext>
              </a:extLst>
            </p:cNvPr>
            <p:cNvSpPr/>
            <p:nvPr/>
          </p:nvSpPr>
          <p:spPr>
            <a:xfrm>
              <a:off x="2851547" y="453801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26" name="Oval 225">
              <a:extLst>
                <a:ext uri="{FF2B5EF4-FFF2-40B4-BE49-F238E27FC236}">
                  <a16:creationId xmlns:a16="http://schemas.microsoft.com/office/drawing/2014/main" id="{06775295-8D32-DDEB-9AFC-35896B5AFAFB}"/>
                </a:ext>
              </a:extLst>
            </p:cNvPr>
            <p:cNvSpPr/>
            <p:nvPr/>
          </p:nvSpPr>
          <p:spPr>
            <a:xfrm>
              <a:off x="2953131" y="453801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27" name="Oval 226">
              <a:extLst>
                <a:ext uri="{FF2B5EF4-FFF2-40B4-BE49-F238E27FC236}">
                  <a16:creationId xmlns:a16="http://schemas.microsoft.com/office/drawing/2014/main" id="{C1E99476-EE23-9B05-CA7D-C69F53775FD3}"/>
                </a:ext>
              </a:extLst>
            </p:cNvPr>
            <p:cNvSpPr/>
            <p:nvPr/>
          </p:nvSpPr>
          <p:spPr>
            <a:xfrm>
              <a:off x="2038843" y="460398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28" name="Oval 227">
              <a:extLst>
                <a:ext uri="{FF2B5EF4-FFF2-40B4-BE49-F238E27FC236}">
                  <a16:creationId xmlns:a16="http://schemas.microsoft.com/office/drawing/2014/main" id="{063DDEB8-7B7A-6528-54C2-895ADDDA4291}"/>
                </a:ext>
              </a:extLst>
            </p:cNvPr>
            <p:cNvSpPr/>
            <p:nvPr/>
          </p:nvSpPr>
          <p:spPr>
            <a:xfrm>
              <a:off x="2140431" y="460398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29" name="Oval 228">
              <a:extLst>
                <a:ext uri="{FF2B5EF4-FFF2-40B4-BE49-F238E27FC236}">
                  <a16:creationId xmlns:a16="http://schemas.microsoft.com/office/drawing/2014/main" id="{9CF63D97-7233-2A80-FA55-5E8F16918EBE}"/>
                </a:ext>
              </a:extLst>
            </p:cNvPr>
            <p:cNvSpPr/>
            <p:nvPr/>
          </p:nvSpPr>
          <p:spPr>
            <a:xfrm>
              <a:off x="2242019" y="460398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0" name="Oval 229">
              <a:extLst>
                <a:ext uri="{FF2B5EF4-FFF2-40B4-BE49-F238E27FC236}">
                  <a16:creationId xmlns:a16="http://schemas.microsoft.com/office/drawing/2014/main" id="{BFC5C7FA-1A6D-E2F2-86BC-FFE006D91160}"/>
                </a:ext>
              </a:extLst>
            </p:cNvPr>
            <p:cNvSpPr/>
            <p:nvPr/>
          </p:nvSpPr>
          <p:spPr>
            <a:xfrm>
              <a:off x="2343607" y="460398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1" name="Oval 230">
              <a:extLst>
                <a:ext uri="{FF2B5EF4-FFF2-40B4-BE49-F238E27FC236}">
                  <a16:creationId xmlns:a16="http://schemas.microsoft.com/office/drawing/2014/main" id="{D6CF2DCC-73B3-9F58-F30D-B6D013CADD3E}"/>
                </a:ext>
              </a:extLst>
            </p:cNvPr>
            <p:cNvSpPr/>
            <p:nvPr/>
          </p:nvSpPr>
          <p:spPr>
            <a:xfrm>
              <a:off x="2445195" y="460398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2" name="Oval 231">
              <a:extLst>
                <a:ext uri="{FF2B5EF4-FFF2-40B4-BE49-F238E27FC236}">
                  <a16:creationId xmlns:a16="http://schemas.microsoft.com/office/drawing/2014/main" id="{94DC163B-A522-310D-ACA2-C47E6E67F335}"/>
                </a:ext>
              </a:extLst>
            </p:cNvPr>
            <p:cNvSpPr/>
            <p:nvPr/>
          </p:nvSpPr>
          <p:spPr>
            <a:xfrm>
              <a:off x="2546783" y="460398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3" name="Oval 232">
              <a:extLst>
                <a:ext uri="{FF2B5EF4-FFF2-40B4-BE49-F238E27FC236}">
                  <a16:creationId xmlns:a16="http://schemas.microsoft.com/office/drawing/2014/main" id="{5A707BD2-9065-E1C4-A88A-B3BF296814D9}"/>
                </a:ext>
              </a:extLst>
            </p:cNvPr>
            <p:cNvSpPr/>
            <p:nvPr/>
          </p:nvSpPr>
          <p:spPr>
            <a:xfrm>
              <a:off x="2648371" y="460398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4" name="Oval 233">
              <a:extLst>
                <a:ext uri="{FF2B5EF4-FFF2-40B4-BE49-F238E27FC236}">
                  <a16:creationId xmlns:a16="http://schemas.microsoft.com/office/drawing/2014/main" id="{8807EF8A-D100-1FB4-CFE1-7C43B50B5565}"/>
                </a:ext>
              </a:extLst>
            </p:cNvPr>
            <p:cNvSpPr/>
            <p:nvPr/>
          </p:nvSpPr>
          <p:spPr>
            <a:xfrm>
              <a:off x="2749959" y="460398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5" name="Oval 234">
              <a:extLst>
                <a:ext uri="{FF2B5EF4-FFF2-40B4-BE49-F238E27FC236}">
                  <a16:creationId xmlns:a16="http://schemas.microsoft.com/office/drawing/2014/main" id="{EE60E96F-53EB-F827-9044-864B36429011}"/>
                </a:ext>
              </a:extLst>
            </p:cNvPr>
            <p:cNvSpPr/>
            <p:nvPr/>
          </p:nvSpPr>
          <p:spPr>
            <a:xfrm>
              <a:off x="2851547" y="460398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6" name="Oval 235">
              <a:extLst>
                <a:ext uri="{FF2B5EF4-FFF2-40B4-BE49-F238E27FC236}">
                  <a16:creationId xmlns:a16="http://schemas.microsoft.com/office/drawing/2014/main" id="{9D4B22F2-1E45-C53C-60F2-272EEB891756}"/>
                </a:ext>
              </a:extLst>
            </p:cNvPr>
            <p:cNvSpPr/>
            <p:nvPr/>
          </p:nvSpPr>
          <p:spPr>
            <a:xfrm>
              <a:off x="2953131" y="460398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7" name="Oval 236">
              <a:extLst>
                <a:ext uri="{FF2B5EF4-FFF2-40B4-BE49-F238E27FC236}">
                  <a16:creationId xmlns:a16="http://schemas.microsoft.com/office/drawing/2014/main" id="{7D9247F1-4092-B599-2A03-D39CEF3C1B0B}"/>
                </a:ext>
              </a:extLst>
            </p:cNvPr>
            <p:cNvSpPr/>
            <p:nvPr/>
          </p:nvSpPr>
          <p:spPr>
            <a:xfrm>
              <a:off x="2038843" y="466996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8" name="Oval 237">
              <a:extLst>
                <a:ext uri="{FF2B5EF4-FFF2-40B4-BE49-F238E27FC236}">
                  <a16:creationId xmlns:a16="http://schemas.microsoft.com/office/drawing/2014/main" id="{037C586E-F03B-874E-549E-8623303A96CB}"/>
                </a:ext>
              </a:extLst>
            </p:cNvPr>
            <p:cNvSpPr/>
            <p:nvPr/>
          </p:nvSpPr>
          <p:spPr>
            <a:xfrm>
              <a:off x="2140431" y="466996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39" name="Oval 238">
              <a:extLst>
                <a:ext uri="{FF2B5EF4-FFF2-40B4-BE49-F238E27FC236}">
                  <a16:creationId xmlns:a16="http://schemas.microsoft.com/office/drawing/2014/main" id="{5F2DE1FA-E4AB-DAE5-46AA-C88A9D995172}"/>
                </a:ext>
              </a:extLst>
            </p:cNvPr>
            <p:cNvSpPr/>
            <p:nvPr/>
          </p:nvSpPr>
          <p:spPr>
            <a:xfrm>
              <a:off x="2242019" y="466996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40" name="Oval 239">
              <a:extLst>
                <a:ext uri="{FF2B5EF4-FFF2-40B4-BE49-F238E27FC236}">
                  <a16:creationId xmlns:a16="http://schemas.microsoft.com/office/drawing/2014/main" id="{559DD6DE-CFEF-12E7-8252-7E421433D256}"/>
                </a:ext>
              </a:extLst>
            </p:cNvPr>
            <p:cNvSpPr/>
            <p:nvPr/>
          </p:nvSpPr>
          <p:spPr>
            <a:xfrm>
              <a:off x="2343607" y="466996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41" name="Oval 240">
              <a:extLst>
                <a:ext uri="{FF2B5EF4-FFF2-40B4-BE49-F238E27FC236}">
                  <a16:creationId xmlns:a16="http://schemas.microsoft.com/office/drawing/2014/main" id="{71B4DB93-BD5B-223E-50B5-361DC087FA62}"/>
                </a:ext>
              </a:extLst>
            </p:cNvPr>
            <p:cNvSpPr/>
            <p:nvPr/>
          </p:nvSpPr>
          <p:spPr>
            <a:xfrm>
              <a:off x="2445195" y="466996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42" name="Oval 241">
              <a:extLst>
                <a:ext uri="{FF2B5EF4-FFF2-40B4-BE49-F238E27FC236}">
                  <a16:creationId xmlns:a16="http://schemas.microsoft.com/office/drawing/2014/main" id="{BB0C10F7-864E-56F6-5116-06105337079C}"/>
                </a:ext>
              </a:extLst>
            </p:cNvPr>
            <p:cNvSpPr/>
            <p:nvPr/>
          </p:nvSpPr>
          <p:spPr>
            <a:xfrm>
              <a:off x="2546783" y="466996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43" name="Oval 242">
              <a:extLst>
                <a:ext uri="{FF2B5EF4-FFF2-40B4-BE49-F238E27FC236}">
                  <a16:creationId xmlns:a16="http://schemas.microsoft.com/office/drawing/2014/main" id="{FF5E5E0E-0126-04A1-2B49-98D1BD0C02F4}"/>
                </a:ext>
              </a:extLst>
            </p:cNvPr>
            <p:cNvSpPr/>
            <p:nvPr/>
          </p:nvSpPr>
          <p:spPr>
            <a:xfrm>
              <a:off x="2648371" y="466996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44" name="Oval 243">
              <a:extLst>
                <a:ext uri="{FF2B5EF4-FFF2-40B4-BE49-F238E27FC236}">
                  <a16:creationId xmlns:a16="http://schemas.microsoft.com/office/drawing/2014/main" id="{A5576392-AD35-9008-708E-FDFC7A32E25A}"/>
                </a:ext>
              </a:extLst>
            </p:cNvPr>
            <p:cNvSpPr/>
            <p:nvPr/>
          </p:nvSpPr>
          <p:spPr>
            <a:xfrm>
              <a:off x="2749959" y="466996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45" name="Oval 244">
              <a:extLst>
                <a:ext uri="{FF2B5EF4-FFF2-40B4-BE49-F238E27FC236}">
                  <a16:creationId xmlns:a16="http://schemas.microsoft.com/office/drawing/2014/main" id="{AC2DB70C-8935-9B68-6627-C96C5EC65CF0}"/>
                </a:ext>
              </a:extLst>
            </p:cNvPr>
            <p:cNvSpPr/>
            <p:nvPr/>
          </p:nvSpPr>
          <p:spPr>
            <a:xfrm>
              <a:off x="2851547" y="466996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46" name="Oval 245">
              <a:extLst>
                <a:ext uri="{FF2B5EF4-FFF2-40B4-BE49-F238E27FC236}">
                  <a16:creationId xmlns:a16="http://schemas.microsoft.com/office/drawing/2014/main" id="{D7D2C8A0-AE77-8BE3-99B9-DE143853D4C3}"/>
                </a:ext>
              </a:extLst>
            </p:cNvPr>
            <p:cNvSpPr/>
            <p:nvPr/>
          </p:nvSpPr>
          <p:spPr>
            <a:xfrm>
              <a:off x="2953131" y="466996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47" name="Oval 246">
              <a:extLst>
                <a:ext uri="{FF2B5EF4-FFF2-40B4-BE49-F238E27FC236}">
                  <a16:creationId xmlns:a16="http://schemas.microsoft.com/office/drawing/2014/main" id="{516F4878-7AB0-9DC5-209D-AC53D3498DCB}"/>
                </a:ext>
              </a:extLst>
            </p:cNvPr>
            <p:cNvSpPr/>
            <p:nvPr/>
          </p:nvSpPr>
          <p:spPr>
            <a:xfrm>
              <a:off x="2038843" y="473594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48" name="Oval 247">
              <a:extLst>
                <a:ext uri="{FF2B5EF4-FFF2-40B4-BE49-F238E27FC236}">
                  <a16:creationId xmlns:a16="http://schemas.microsoft.com/office/drawing/2014/main" id="{5E4E012B-C027-C6C9-6F74-D224E338A40F}"/>
                </a:ext>
              </a:extLst>
            </p:cNvPr>
            <p:cNvSpPr/>
            <p:nvPr/>
          </p:nvSpPr>
          <p:spPr>
            <a:xfrm>
              <a:off x="2140431" y="473594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49" name="Oval 248">
              <a:extLst>
                <a:ext uri="{FF2B5EF4-FFF2-40B4-BE49-F238E27FC236}">
                  <a16:creationId xmlns:a16="http://schemas.microsoft.com/office/drawing/2014/main" id="{D57A672C-636C-1596-072D-3C05E29203A4}"/>
                </a:ext>
              </a:extLst>
            </p:cNvPr>
            <p:cNvSpPr/>
            <p:nvPr/>
          </p:nvSpPr>
          <p:spPr>
            <a:xfrm>
              <a:off x="2242019" y="473594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50" name="Oval 249">
              <a:extLst>
                <a:ext uri="{FF2B5EF4-FFF2-40B4-BE49-F238E27FC236}">
                  <a16:creationId xmlns:a16="http://schemas.microsoft.com/office/drawing/2014/main" id="{4FE997AA-E24C-89D0-3142-2576D973C903}"/>
                </a:ext>
              </a:extLst>
            </p:cNvPr>
            <p:cNvSpPr/>
            <p:nvPr/>
          </p:nvSpPr>
          <p:spPr>
            <a:xfrm>
              <a:off x="2343607" y="473594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51" name="Oval 250">
              <a:extLst>
                <a:ext uri="{FF2B5EF4-FFF2-40B4-BE49-F238E27FC236}">
                  <a16:creationId xmlns:a16="http://schemas.microsoft.com/office/drawing/2014/main" id="{E8CC4F03-DC41-DFA9-101F-F4D86FF97003}"/>
                </a:ext>
              </a:extLst>
            </p:cNvPr>
            <p:cNvSpPr/>
            <p:nvPr/>
          </p:nvSpPr>
          <p:spPr>
            <a:xfrm>
              <a:off x="2445195" y="473594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52" name="Oval 251">
              <a:extLst>
                <a:ext uri="{FF2B5EF4-FFF2-40B4-BE49-F238E27FC236}">
                  <a16:creationId xmlns:a16="http://schemas.microsoft.com/office/drawing/2014/main" id="{7C912CF4-FF6F-AF16-DC03-B3930D252D76}"/>
                </a:ext>
              </a:extLst>
            </p:cNvPr>
            <p:cNvSpPr/>
            <p:nvPr/>
          </p:nvSpPr>
          <p:spPr>
            <a:xfrm>
              <a:off x="2546783" y="473594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53" name="Oval 252">
              <a:extLst>
                <a:ext uri="{FF2B5EF4-FFF2-40B4-BE49-F238E27FC236}">
                  <a16:creationId xmlns:a16="http://schemas.microsoft.com/office/drawing/2014/main" id="{9F89B22E-956A-414A-BC7A-1F7380C1C008}"/>
                </a:ext>
              </a:extLst>
            </p:cNvPr>
            <p:cNvSpPr/>
            <p:nvPr/>
          </p:nvSpPr>
          <p:spPr>
            <a:xfrm>
              <a:off x="2648371" y="473594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54" name="Oval 253">
              <a:extLst>
                <a:ext uri="{FF2B5EF4-FFF2-40B4-BE49-F238E27FC236}">
                  <a16:creationId xmlns:a16="http://schemas.microsoft.com/office/drawing/2014/main" id="{41F8A358-3718-282B-EDC2-1EF31029E587}"/>
                </a:ext>
              </a:extLst>
            </p:cNvPr>
            <p:cNvSpPr/>
            <p:nvPr/>
          </p:nvSpPr>
          <p:spPr>
            <a:xfrm>
              <a:off x="2749959" y="473594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55" name="Oval 254">
              <a:extLst>
                <a:ext uri="{FF2B5EF4-FFF2-40B4-BE49-F238E27FC236}">
                  <a16:creationId xmlns:a16="http://schemas.microsoft.com/office/drawing/2014/main" id="{F0CE126D-890B-635D-1A48-2B3B56C99891}"/>
                </a:ext>
              </a:extLst>
            </p:cNvPr>
            <p:cNvSpPr/>
            <p:nvPr/>
          </p:nvSpPr>
          <p:spPr>
            <a:xfrm>
              <a:off x="2851547" y="473594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56" name="Oval 255">
              <a:extLst>
                <a:ext uri="{FF2B5EF4-FFF2-40B4-BE49-F238E27FC236}">
                  <a16:creationId xmlns:a16="http://schemas.microsoft.com/office/drawing/2014/main" id="{1FE19A1A-F81F-3B5E-D077-165C4A4B3636}"/>
                </a:ext>
              </a:extLst>
            </p:cNvPr>
            <p:cNvSpPr/>
            <p:nvPr/>
          </p:nvSpPr>
          <p:spPr>
            <a:xfrm>
              <a:off x="2953131" y="4735940"/>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57" name="Oval 256">
              <a:extLst>
                <a:ext uri="{FF2B5EF4-FFF2-40B4-BE49-F238E27FC236}">
                  <a16:creationId xmlns:a16="http://schemas.microsoft.com/office/drawing/2014/main" id="{3296E177-B3F1-8D6F-5B16-C269C173AF06}"/>
                </a:ext>
              </a:extLst>
            </p:cNvPr>
            <p:cNvSpPr/>
            <p:nvPr/>
          </p:nvSpPr>
          <p:spPr>
            <a:xfrm>
              <a:off x="2038843" y="480191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58" name="Oval 257">
              <a:extLst>
                <a:ext uri="{FF2B5EF4-FFF2-40B4-BE49-F238E27FC236}">
                  <a16:creationId xmlns:a16="http://schemas.microsoft.com/office/drawing/2014/main" id="{6215BA59-DF9B-811B-7F9F-5F8A31297AA6}"/>
                </a:ext>
              </a:extLst>
            </p:cNvPr>
            <p:cNvSpPr/>
            <p:nvPr/>
          </p:nvSpPr>
          <p:spPr>
            <a:xfrm>
              <a:off x="2140431" y="480191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59" name="Oval 258">
              <a:extLst>
                <a:ext uri="{FF2B5EF4-FFF2-40B4-BE49-F238E27FC236}">
                  <a16:creationId xmlns:a16="http://schemas.microsoft.com/office/drawing/2014/main" id="{55F5584B-18C4-5CC4-8A28-793AA2D74CF1}"/>
                </a:ext>
              </a:extLst>
            </p:cNvPr>
            <p:cNvSpPr/>
            <p:nvPr/>
          </p:nvSpPr>
          <p:spPr>
            <a:xfrm>
              <a:off x="2242019" y="480191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60" name="Oval 259">
              <a:extLst>
                <a:ext uri="{FF2B5EF4-FFF2-40B4-BE49-F238E27FC236}">
                  <a16:creationId xmlns:a16="http://schemas.microsoft.com/office/drawing/2014/main" id="{7DCF10AE-F965-BF84-0314-4D9B4D4676A9}"/>
                </a:ext>
              </a:extLst>
            </p:cNvPr>
            <p:cNvSpPr/>
            <p:nvPr/>
          </p:nvSpPr>
          <p:spPr>
            <a:xfrm>
              <a:off x="2343607" y="480191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61" name="Oval 260">
              <a:extLst>
                <a:ext uri="{FF2B5EF4-FFF2-40B4-BE49-F238E27FC236}">
                  <a16:creationId xmlns:a16="http://schemas.microsoft.com/office/drawing/2014/main" id="{BFE0FE47-9B62-B9ED-E59E-12AD2163AABE}"/>
                </a:ext>
              </a:extLst>
            </p:cNvPr>
            <p:cNvSpPr/>
            <p:nvPr/>
          </p:nvSpPr>
          <p:spPr>
            <a:xfrm>
              <a:off x="2445195" y="480191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62" name="Oval 261">
              <a:extLst>
                <a:ext uri="{FF2B5EF4-FFF2-40B4-BE49-F238E27FC236}">
                  <a16:creationId xmlns:a16="http://schemas.microsoft.com/office/drawing/2014/main" id="{168B5766-9957-B977-3929-9F7CE33EB2EB}"/>
                </a:ext>
              </a:extLst>
            </p:cNvPr>
            <p:cNvSpPr/>
            <p:nvPr/>
          </p:nvSpPr>
          <p:spPr>
            <a:xfrm>
              <a:off x="2546783" y="480191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63" name="Oval 262">
              <a:extLst>
                <a:ext uri="{FF2B5EF4-FFF2-40B4-BE49-F238E27FC236}">
                  <a16:creationId xmlns:a16="http://schemas.microsoft.com/office/drawing/2014/main" id="{B581FC6D-4EA8-E648-C75E-BC579BF47B59}"/>
                </a:ext>
              </a:extLst>
            </p:cNvPr>
            <p:cNvSpPr/>
            <p:nvPr/>
          </p:nvSpPr>
          <p:spPr>
            <a:xfrm>
              <a:off x="2648371" y="480191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64" name="Oval 263">
              <a:extLst>
                <a:ext uri="{FF2B5EF4-FFF2-40B4-BE49-F238E27FC236}">
                  <a16:creationId xmlns:a16="http://schemas.microsoft.com/office/drawing/2014/main" id="{491DF057-26C3-3BE7-F332-08CAB9F3B4D6}"/>
                </a:ext>
              </a:extLst>
            </p:cNvPr>
            <p:cNvSpPr/>
            <p:nvPr/>
          </p:nvSpPr>
          <p:spPr>
            <a:xfrm>
              <a:off x="2749959" y="480191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65" name="Oval 264">
              <a:extLst>
                <a:ext uri="{FF2B5EF4-FFF2-40B4-BE49-F238E27FC236}">
                  <a16:creationId xmlns:a16="http://schemas.microsoft.com/office/drawing/2014/main" id="{78AC1325-5C7C-5E55-30DD-7449075A09E5}"/>
                </a:ext>
              </a:extLst>
            </p:cNvPr>
            <p:cNvSpPr/>
            <p:nvPr/>
          </p:nvSpPr>
          <p:spPr>
            <a:xfrm>
              <a:off x="2851547" y="480191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66" name="Oval 265">
              <a:extLst>
                <a:ext uri="{FF2B5EF4-FFF2-40B4-BE49-F238E27FC236}">
                  <a16:creationId xmlns:a16="http://schemas.microsoft.com/office/drawing/2014/main" id="{C871FE6B-6470-151F-12DD-AAA3BEFA1A75}"/>
                </a:ext>
              </a:extLst>
            </p:cNvPr>
            <p:cNvSpPr/>
            <p:nvPr/>
          </p:nvSpPr>
          <p:spPr>
            <a:xfrm>
              <a:off x="2953131" y="480191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67" name="Oval 266">
              <a:extLst>
                <a:ext uri="{FF2B5EF4-FFF2-40B4-BE49-F238E27FC236}">
                  <a16:creationId xmlns:a16="http://schemas.microsoft.com/office/drawing/2014/main" id="{D31EC5AA-1D97-F44C-9F5C-952947C74713}"/>
                </a:ext>
              </a:extLst>
            </p:cNvPr>
            <p:cNvSpPr/>
            <p:nvPr/>
          </p:nvSpPr>
          <p:spPr>
            <a:xfrm>
              <a:off x="2038843" y="486789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68" name="Oval 267">
              <a:extLst>
                <a:ext uri="{FF2B5EF4-FFF2-40B4-BE49-F238E27FC236}">
                  <a16:creationId xmlns:a16="http://schemas.microsoft.com/office/drawing/2014/main" id="{3E6EAAAF-8D07-D186-FA03-8BBA2E7519B9}"/>
                </a:ext>
              </a:extLst>
            </p:cNvPr>
            <p:cNvSpPr/>
            <p:nvPr/>
          </p:nvSpPr>
          <p:spPr>
            <a:xfrm>
              <a:off x="2140431" y="486789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69" name="Oval 268">
              <a:extLst>
                <a:ext uri="{FF2B5EF4-FFF2-40B4-BE49-F238E27FC236}">
                  <a16:creationId xmlns:a16="http://schemas.microsoft.com/office/drawing/2014/main" id="{8C2BAB72-E8BB-5E28-7EF0-72A1B7C34F6D}"/>
                </a:ext>
              </a:extLst>
            </p:cNvPr>
            <p:cNvSpPr/>
            <p:nvPr/>
          </p:nvSpPr>
          <p:spPr>
            <a:xfrm>
              <a:off x="2242019" y="486789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70" name="Oval 269">
              <a:extLst>
                <a:ext uri="{FF2B5EF4-FFF2-40B4-BE49-F238E27FC236}">
                  <a16:creationId xmlns:a16="http://schemas.microsoft.com/office/drawing/2014/main" id="{28716277-6BE2-F188-3E73-C5F99B151720}"/>
                </a:ext>
              </a:extLst>
            </p:cNvPr>
            <p:cNvSpPr/>
            <p:nvPr/>
          </p:nvSpPr>
          <p:spPr>
            <a:xfrm>
              <a:off x="2343607" y="486789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71" name="Oval 270">
              <a:extLst>
                <a:ext uri="{FF2B5EF4-FFF2-40B4-BE49-F238E27FC236}">
                  <a16:creationId xmlns:a16="http://schemas.microsoft.com/office/drawing/2014/main" id="{7CC3D171-C59F-5844-9B64-FA1937177A39}"/>
                </a:ext>
              </a:extLst>
            </p:cNvPr>
            <p:cNvSpPr/>
            <p:nvPr/>
          </p:nvSpPr>
          <p:spPr>
            <a:xfrm>
              <a:off x="2445195" y="486789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72" name="Oval 271">
              <a:extLst>
                <a:ext uri="{FF2B5EF4-FFF2-40B4-BE49-F238E27FC236}">
                  <a16:creationId xmlns:a16="http://schemas.microsoft.com/office/drawing/2014/main" id="{CF415B1F-FBDA-183A-ABCE-EE30CB53672E}"/>
                </a:ext>
              </a:extLst>
            </p:cNvPr>
            <p:cNvSpPr/>
            <p:nvPr/>
          </p:nvSpPr>
          <p:spPr>
            <a:xfrm>
              <a:off x="2546783" y="486789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73" name="Oval 272">
              <a:extLst>
                <a:ext uri="{FF2B5EF4-FFF2-40B4-BE49-F238E27FC236}">
                  <a16:creationId xmlns:a16="http://schemas.microsoft.com/office/drawing/2014/main" id="{63682506-2CAA-C471-97BE-C9C20DD6E8AC}"/>
                </a:ext>
              </a:extLst>
            </p:cNvPr>
            <p:cNvSpPr/>
            <p:nvPr/>
          </p:nvSpPr>
          <p:spPr>
            <a:xfrm>
              <a:off x="2648371" y="486789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74" name="Oval 273">
              <a:extLst>
                <a:ext uri="{FF2B5EF4-FFF2-40B4-BE49-F238E27FC236}">
                  <a16:creationId xmlns:a16="http://schemas.microsoft.com/office/drawing/2014/main" id="{D5D11756-10EF-641B-8814-81E1F02BD2FC}"/>
                </a:ext>
              </a:extLst>
            </p:cNvPr>
            <p:cNvSpPr/>
            <p:nvPr/>
          </p:nvSpPr>
          <p:spPr>
            <a:xfrm>
              <a:off x="2749959" y="486789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75" name="Oval 274">
              <a:extLst>
                <a:ext uri="{FF2B5EF4-FFF2-40B4-BE49-F238E27FC236}">
                  <a16:creationId xmlns:a16="http://schemas.microsoft.com/office/drawing/2014/main" id="{0C0BE76F-43EA-A8A0-CE2C-55765830834B}"/>
                </a:ext>
              </a:extLst>
            </p:cNvPr>
            <p:cNvSpPr/>
            <p:nvPr/>
          </p:nvSpPr>
          <p:spPr>
            <a:xfrm>
              <a:off x="2851547" y="486789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76" name="Oval 275">
              <a:extLst>
                <a:ext uri="{FF2B5EF4-FFF2-40B4-BE49-F238E27FC236}">
                  <a16:creationId xmlns:a16="http://schemas.microsoft.com/office/drawing/2014/main" id="{7CB3B8B6-389D-E2D7-6CE9-01C0ED4DA8BA}"/>
                </a:ext>
              </a:extLst>
            </p:cNvPr>
            <p:cNvSpPr/>
            <p:nvPr/>
          </p:nvSpPr>
          <p:spPr>
            <a:xfrm>
              <a:off x="2953131" y="4867892"/>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77" name="Oval 276">
              <a:extLst>
                <a:ext uri="{FF2B5EF4-FFF2-40B4-BE49-F238E27FC236}">
                  <a16:creationId xmlns:a16="http://schemas.microsoft.com/office/drawing/2014/main" id="{DABB666D-0D9C-CE83-31A9-904809C5CBEC}"/>
                </a:ext>
              </a:extLst>
            </p:cNvPr>
            <p:cNvSpPr/>
            <p:nvPr/>
          </p:nvSpPr>
          <p:spPr>
            <a:xfrm>
              <a:off x="2038843" y="493386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78" name="Oval 277">
              <a:extLst>
                <a:ext uri="{FF2B5EF4-FFF2-40B4-BE49-F238E27FC236}">
                  <a16:creationId xmlns:a16="http://schemas.microsoft.com/office/drawing/2014/main" id="{9772A689-A6BC-FCB4-64D4-A3F3DA62AEA4}"/>
                </a:ext>
              </a:extLst>
            </p:cNvPr>
            <p:cNvSpPr/>
            <p:nvPr/>
          </p:nvSpPr>
          <p:spPr>
            <a:xfrm>
              <a:off x="2140431" y="493386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79" name="Oval 278">
              <a:extLst>
                <a:ext uri="{FF2B5EF4-FFF2-40B4-BE49-F238E27FC236}">
                  <a16:creationId xmlns:a16="http://schemas.microsoft.com/office/drawing/2014/main" id="{F9D5D218-6D51-89D0-EB1A-E7A8A208AF0C}"/>
                </a:ext>
              </a:extLst>
            </p:cNvPr>
            <p:cNvSpPr/>
            <p:nvPr/>
          </p:nvSpPr>
          <p:spPr>
            <a:xfrm>
              <a:off x="2242019" y="493386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80" name="Oval 279">
              <a:extLst>
                <a:ext uri="{FF2B5EF4-FFF2-40B4-BE49-F238E27FC236}">
                  <a16:creationId xmlns:a16="http://schemas.microsoft.com/office/drawing/2014/main" id="{182FB6DA-F415-4A42-0A0C-F3A04CB41F06}"/>
                </a:ext>
              </a:extLst>
            </p:cNvPr>
            <p:cNvSpPr/>
            <p:nvPr/>
          </p:nvSpPr>
          <p:spPr>
            <a:xfrm>
              <a:off x="2343607" y="493386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81" name="Oval 280">
              <a:extLst>
                <a:ext uri="{FF2B5EF4-FFF2-40B4-BE49-F238E27FC236}">
                  <a16:creationId xmlns:a16="http://schemas.microsoft.com/office/drawing/2014/main" id="{1EF77FF6-DB40-E246-BF2C-6E5EF2B9087B}"/>
                </a:ext>
              </a:extLst>
            </p:cNvPr>
            <p:cNvSpPr/>
            <p:nvPr/>
          </p:nvSpPr>
          <p:spPr>
            <a:xfrm>
              <a:off x="2445195" y="493386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82" name="Oval 281">
              <a:extLst>
                <a:ext uri="{FF2B5EF4-FFF2-40B4-BE49-F238E27FC236}">
                  <a16:creationId xmlns:a16="http://schemas.microsoft.com/office/drawing/2014/main" id="{8CBC8835-F30F-6F28-2011-1DD81F7D392C}"/>
                </a:ext>
              </a:extLst>
            </p:cNvPr>
            <p:cNvSpPr/>
            <p:nvPr/>
          </p:nvSpPr>
          <p:spPr>
            <a:xfrm>
              <a:off x="2546783" y="493386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83" name="Oval 282">
              <a:extLst>
                <a:ext uri="{FF2B5EF4-FFF2-40B4-BE49-F238E27FC236}">
                  <a16:creationId xmlns:a16="http://schemas.microsoft.com/office/drawing/2014/main" id="{4FDEC24B-55AE-23FA-3C41-DC66905E7D7F}"/>
                </a:ext>
              </a:extLst>
            </p:cNvPr>
            <p:cNvSpPr/>
            <p:nvPr/>
          </p:nvSpPr>
          <p:spPr>
            <a:xfrm>
              <a:off x="2648371" y="493386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84" name="Oval 283">
              <a:extLst>
                <a:ext uri="{FF2B5EF4-FFF2-40B4-BE49-F238E27FC236}">
                  <a16:creationId xmlns:a16="http://schemas.microsoft.com/office/drawing/2014/main" id="{EDD9B851-3B9C-2DB8-E3DB-53755974F30B}"/>
                </a:ext>
              </a:extLst>
            </p:cNvPr>
            <p:cNvSpPr/>
            <p:nvPr/>
          </p:nvSpPr>
          <p:spPr>
            <a:xfrm>
              <a:off x="2749959" y="493386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85" name="Oval 284">
              <a:extLst>
                <a:ext uri="{FF2B5EF4-FFF2-40B4-BE49-F238E27FC236}">
                  <a16:creationId xmlns:a16="http://schemas.microsoft.com/office/drawing/2014/main" id="{35016A30-B9A9-F237-6CD3-9272AC8D2050}"/>
                </a:ext>
              </a:extLst>
            </p:cNvPr>
            <p:cNvSpPr/>
            <p:nvPr/>
          </p:nvSpPr>
          <p:spPr>
            <a:xfrm>
              <a:off x="2851547" y="493386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86" name="Oval 285">
              <a:extLst>
                <a:ext uri="{FF2B5EF4-FFF2-40B4-BE49-F238E27FC236}">
                  <a16:creationId xmlns:a16="http://schemas.microsoft.com/office/drawing/2014/main" id="{8ECFD13E-DFC8-5280-C002-EADFA36B4435}"/>
                </a:ext>
              </a:extLst>
            </p:cNvPr>
            <p:cNvSpPr/>
            <p:nvPr/>
          </p:nvSpPr>
          <p:spPr>
            <a:xfrm>
              <a:off x="2953131" y="4933868"/>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87" name="Oval 286">
              <a:extLst>
                <a:ext uri="{FF2B5EF4-FFF2-40B4-BE49-F238E27FC236}">
                  <a16:creationId xmlns:a16="http://schemas.microsoft.com/office/drawing/2014/main" id="{C8268E05-9BE2-57B1-ADF3-AE07FD1B82A1}"/>
                </a:ext>
              </a:extLst>
            </p:cNvPr>
            <p:cNvSpPr/>
            <p:nvPr/>
          </p:nvSpPr>
          <p:spPr>
            <a:xfrm>
              <a:off x="2038843" y="499984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88" name="Oval 287">
              <a:extLst>
                <a:ext uri="{FF2B5EF4-FFF2-40B4-BE49-F238E27FC236}">
                  <a16:creationId xmlns:a16="http://schemas.microsoft.com/office/drawing/2014/main" id="{35E8AE32-46DD-6CB6-AB60-30CEF1CA5292}"/>
                </a:ext>
              </a:extLst>
            </p:cNvPr>
            <p:cNvSpPr/>
            <p:nvPr/>
          </p:nvSpPr>
          <p:spPr>
            <a:xfrm>
              <a:off x="2140431" y="499984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89" name="Oval 288">
              <a:extLst>
                <a:ext uri="{FF2B5EF4-FFF2-40B4-BE49-F238E27FC236}">
                  <a16:creationId xmlns:a16="http://schemas.microsoft.com/office/drawing/2014/main" id="{25980498-43EE-1378-DC07-7FF9063B4C30}"/>
                </a:ext>
              </a:extLst>
            </p:cNvPr>
            <p:cNvSpPr/>
            <p:nvPr/>
          </p:nvSpPr>
          <p:spPr>
            <a:xfrm>
              <a:off x="2242019" y="499984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90" name="Oval 289">
              <a:extLst>
                <a:ext uri="{FF2B5EF4-FFF2-40B4-BE49-F238E27FC236}">
                  <a16:creationId xmlns:a16="http://schemas.microsoft.com/office/drawing/2014/main" id="{00703F4F-A23B-E16F-A52A-DD9CE8533642}"/>
                </a:ext>
              </a:extLst>
            </p:cNvPr>
            <p:cNvSpPr/>
            <p:nvPr/>
          </p:nvSpPr>
          <p:spPr>
            <a:xfrm>
              <a:off x="2343607" y="499984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91" name="Oval 290">
              <a:extLst>
                <a:ext uri="{FF2B5EF4-FFF2-40B4-BE49-F238E27FC236}">
                  <a16:creationId xmlns:a16="http://schemas.microsoft.com/office/drawing/2014/main" id="{34A6FD62-6514-38C8-2BCE-E28B8C58DF1A}"/>
                </a:ext>
              </a:extLst>
            </p:cNvPr>
            <p:cNvSpPr/>
            <p:nvPr/>
          </p:nvSpPr>
          <p:spPr>
            <a:xfrm>
              <a:off x="2445195" y="499984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92" name="Oval 291">
              <a:extLst>
                <a:ext uri="{FF2B5EF4-FFF2-40B4-BE49-F238E27FC236}">
                  <a16:creationId xmlns:a16="http://schemas.microsoft.com/office/drawing/2014/main" id="{577684DA-FC5B-4D4A-0D07-496A4ECD9323}"/>
                </a:ext>
              </a:extLst>
            </p:cNvPr>
            <p:cNvSpPr/>
            <p:nvPr/>
          </p:nvSpPr>
          <p:spPr>
            <a:xfrm>
              <a:off x="2546783" y="499984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93" name="Oval 292">
              <a:extLst>
                <a:ext uri="{FF2B5EF4-FFF2-40B4-BE49-F238E27FC236}">
                  <a16:creationId xmlns:a16="http://schemas.microsoft.com/office/drawing/2014/main" id="{6E674EC2-4C9F-EE6C-070B-2B5114B4E56D}"/>
                </a:ext>
              </a:extLst>
            </p:cNvPr>
            <p:cNvSpPr/>
            <p:nvPr/>
          </p:nvSpPr>
          <p:spPr>
            <a:xfrm>
              <a:off x="2648371" y="499984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94" name="Oval 293">
              <a:extLst>
                <a:ext uri="{FF2B5EF4-FFF2-40B4-BE49-F238E27FC236}">
                  <a16:creationId xmlns:a16="http://schemas.microsoft.com/office/drawing/2014/main" id="{39A5E929-D6CD-3CBE-28E6-1CD0C54B28DA}"/>
                </a:ext>
              </a:extLst>
            </p:cNvPr>
            <p:cNvSpPr/>
            <p:nvPr/>
          </p:nvSpPr>
          <p:spPr>
            <a:xfrm>
              <a:off x="2749959" y="499984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95" name="Oval 294">
              <a:extLst>
                <a:ext uri="{FF2B5EF4-FFF2-40B4-BE49-F238E27FC236}">
                  <a16:creationId xmlns:a16="http://schemas.microsoft.com/office/drawing/2014/main" id="{0D2A9208-674A-9DB0-5366-71E428A11EE9}"/>
                </a:ext>
              </a:extLst>
            </p:cNvPr>
            <p:cNvSpPr/>
            <p:nvPr/>
          </p:nvSpPr>
          <p:spPr>
            <a:xfrm>
              <a:off x="2851547" y="499984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96" name="Oval 295">
              <a:extLst>
                <a:ext uri="{FF2B5EF4-FFF2-40B4-BE49-F238E27FC236}">
                  <a16:creationId xmlns:a16="http://schemas.microsoft.com/office/drawing/2014/main" id="{ECEB43EB-5520-4D68-95FF-E306B9107ACD}"/>
                </a:ext>
              </a:extLst>
            </p:cNvPr>
            <p:cNvSpPr/>
            <p:nvPr/>
          </p:nvSpPr>
          <p:spPr>
            <a:xfrm>
              <a:off x="2953131" y="4999844"/>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97" name="Oval 296">
              <a:extLst>
                <a:ext uri="{FF2B5EF4-FFF2-40B4-BE49-F238E27FC236}">
                  <a16:creationId xmlns:a16="http://schemas.microsoft.com/office/drawing/2014/main" id="{AF6AB9BF-440A-12AB-8B41-C6704261F431}"/>
                </a:ext>
              </a:extLst>
            </p:cNvPr>
            <p:cNvSpPr/>
            <p:nvPr/>
          </p:nvSpPr>
          <p:spPr>
            <a:xfrm>
              <a:off x="2038843" y="5065823"/>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98" name="Oval 297">
              <a:extLst>
                <a:ext uri="{FF2B5EF4-FFF2-40B4-BE49-F238E27FC236}">
                  <a16:creationId xmlns:a16="http://schemas.microsoft.com/office/drawing/2014/main" id="{788EE87C-F439-88AE-AC18-3C7F06992EA7}"/>
                </a:ext>
              </a:extLst>
            </p:cNvPr>
            <p:cNvSpPr/>
            <p:nvPr/>
          </p:nvSpPr>
          <p:spPr>
            <a:xfrm>
              <a:off x="2140431" y="5065823"/>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299" name="Oval 298">
              <a:extLst>
                <a:ext uri="{FF2B5EF4-FFF2-40B4-BE49-F238E27FC236}">
                  <a16:creationId xmlns:a16="http://schemas.microsoft.com/office/drawing/2014/main" id="{195C7160-93D9-E0F4-37E3-CD163B78767E}"/>
                </a:ext>
              </a:extLst>
            </p:cNvPr>
            <p:cNvSpPr/>
            <p:nvPr/>
          </p:nvSpPr>
          <p:spPr>
            <a:xfrm>
              <a:off x="2242019" y="5065823"/>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00" name="Oval 299">
              <a:extLst>
                <a:ext uri="{FF2B5EF4-FFF2-40B4-BE49-F238E27FC236}">
                  <a16:creationId xmlns:a16="http://schemas.microsoft.com/office/drawing/2014/main" id="{DA9A3846-7D59-748A-6F69-3E04B67DFB62}"/>
                </a:ext>
              </a:extLst>
            </p:cNvPr>
            <p:cNvSpPr/>
            <p:nvPr/>
          </p:nvSpPr>
          <p:spPr>
            <a:xfrm>
              <a:off x="2343607" y="5065823"/>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01" name="Oval 300">
              <a:extLst>
                <a:ext uri="{FF2B5EF4-FFF2-40B4-BE49-F238E27FC236}">
                  <a16:creationId xmlns:a16="http://schemas.microsoft.com/office/drawing/2014/main" id="{AFA87404-A799-6A56-D48A-AC3719AA6DA8}"/>
                </a:ext>
              </a:extLst>
            </p:cNvPr>
            <p:cNvSpPr/>
            <p:nvPr/>
          </p:nvSpPr>
          <p:spPr>
            <a:xfrm>
              <a:off x="2445195" y="5065823"/>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02" name="Oval 301">
              <a:extLst>
                <a:ext uri="{FF2B5EF4-FFF2-40B4-BE49-F238E27FC236}">
                  <a16:creationId xmlns:a16="http://schemas.microsoft.com/office/drawing/2014/main" id="{8888594E-F617-11C1-F6A1-9BD13C05406C}"/>
                </a:ext>
              </a:extLst>
            </p:cNvPr>
            <p:cNvSpPr/>
            <p:nvPr/>
          </p:nvSpPr>
          <p:spPr>
            <a:xfrm>
              <a:off x="2546783" y="5065823"/>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03" name="Oval 302">
              <a:extLst>
                <a:ext uri="{FF2B5EF4-FFF2-40B4-BE49-F238E27FC236}">
                  <a16:creationId xmlns:a16="http://schemas.microsoft.com/office/drawing/2014/main" id="{56A665DC-07F0-4C65-4C2E-339D73BE24D8}"/>
                </a:ext>
              </a:extLst>
            </p:cNvPr>
            <p:cNvSpPr/>
            <p:nvPr/>
          </p:nvSpPr>
          <p:spPr>
            <a:xfrm>
              <a:off x="2648371" y="5065823"/>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04" name="Oval 303">
              <a:extLst>
                <a:ext uri="{FF2B5EF4-FFF2-40B4-BE49-F238E27FC236}">
                  <a16:creationId xmlns:a16="http://schemas.microsoft.com/office/drawing/2014/main" id="{83F34431-F6A9-E5ED-4438-B7EE5D3FF27F}"/>
                </a:ext>
              </a:extLst>
            </p:cNvPr>
            <p:cNvSpPr/>
            <p:nvPr/>
          </p:nvSpPr>
          <p:spPr>
            <a:xfrm>
              <a:off x="2749959" y="5065823"/>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05" name="Oval 304">
              <a:extLst>
                <a:ext uri="{FF2B5EF4-FFF2-40B4-BE49-F238E27FC236}">
                  <a16:creationId xmlns:a16="http://schemas.microsoft.com/office/drawing/2014/main" id="{2B6B7191-46C8-E460-84EC-32D8CDC75AB5}"/>
                </a:ext>
              </a:extLst>
            </p:cNvPr>
            <p:cNvSpPr/>
            <p:nvPr/>
          </p:nvSpPr>
          <p:spPr>
            <a:xfrm>
              <a:off x="2851547" y="5065823"/>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06" name="Oval 305">
              <a:extLst>
                <a:ext uri="{FF2B5EF4-FFF2-40B4-BE49-F238E27FC236}">
                  <a16:creationId xmlns:a16="http://schemas.microsoft.com/office/drawing/2014/main" id="{D8F58FF7-6E66-B09B-393E-8C951D610755}"/>
                </a:ext>
              </a:extLst>
            </p:cNvPr>
            <p:cNvSpPr/>
            <p:nvPr/>
          </p:nvSpPr>
          <p:spPr>
            <a:xfrm>
              <a:off x="2953131" y="5065823"/>
              <a:ext cx="54864" cy="54864"/>
            </a:xfrm>
            <a:prstGeom prst="ellipse">
              <a:avLst/>
            </a:prstGeom>
            <a:solidFill>
              <a:srgbClr val="D1D1D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07" name="Oval 306">
              <a:extLst>
                <a:ext uri="{FF2B5EF4-FFF2-40B4-BE49-F238E27FC236}">
                  <a16:creationId xmlns:a16="http://schemas.microsoft.com/office/drawing/2014/main" id="{DBC923EB-3FD9-D325-2C48-82C92E27ECFA}"/>
                </a:ext>
              </a:extLst>
            </p:cNvPr>
            <p:cNvSpPr/>
            <p:nvPr/>
          </p:nvSpPr>
          <p:spPr>
            <a:xfrm>
              <a:off x="2038843" y="447203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08" name="Oval 307">
              <a:extLst>
                <a:ext uri="{FF2B5EF4-FFF2-40B4-BE49-F238E27FC236}">
                  <a16:creationId xmlns:a16="http://schemas.microsoft.com/office/drawing/2014/main" id="{F9DAA018-FE0F-2D09-3BDE-CD898FF7957F}"/>
                </a:ext>
              </a:extLst>
            </p:cNvPr>
            <p:cNvSpPr/>
            <p:nvPr/>
          </p:nvSpPr>
          <p:spPr>
            <a:xfrm>
              <a:off x="2140431" y="447203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09" name="Oval 308">
              <a:extLst>
                <a:ext uri="{FF2B5EF4-FFF2-40B4-BE49-F238E27FC236}">
                  <a16:creationId xmlns:a16="http://schemas.microsoft.com/office/drawing/2014/main" id="{6FE31035-15D7-DFB0-140C-36A7E8D3ACA8}"/>
                </a:ext>
              </a:extLst>
            </p:cNvPr>
            <p:cNvSpPr/>
            <p:nvPr/>
          </p:nvSpPr>
          <p:spPr>
            <a:xfrm>
              <a:off x="2242019" y="447203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10" name="Oval 309">
              <a:extLst>
                <a:ext uri="{FF2B5EF4-FFF2-40B4-BE49-F238E27FC236}">
                  <a16:creationId xmlns:a16="http://schemas.microsoft.com/office/drawing/2014/main" id="{B860D85D-6754-B8AD-703D-25BDB6AA7D21}"/>
                </a:ext>
              </a:extLst>
            </p:cNvPr>
            <p:cNvSpPr/>
            <p:nvPr/>
          </p:nvSpPr>
          <p:spPr>
            <a:xfrm>
              <a:off x="2343607" y="447203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11" name="Oval 310">
              <a:extLst>
                <a:ext uri="{FF2B5EF4-FFF2-40B4-BE49-F238E27FC236}">
                  <a16:creationId xmlns:a16="http://schemas.microsoft.com/office/drawing/2014/main" id="{93311052-4562-DFF6-58E6-3AD92593E65D}"/>
                </a:ext>
              </a:extLst>
            </p:cNvPr>
            <p:cNvSpPr/>
            <p:nvPr/>
          </p:nvSpPr>
          <p:spPr>
            <a:xfrm>
              <a:off x="2445195" y="447203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12" name="Oval 311">
              <a:extLst>
                <a:ext uri="{FF2B5EF4-FFF2-40B4-BE49-F238E27FC236}">
                  <a16:creationId xmlns:a16="http://schemas.microsoft.com/office/drawing/2014/main" id="{613C1478-7270-6D7E-0044-171274631210}"/>
                </a:ext>
              </a:extLst>
            </p:cNvPr>
            <p:cNvSpPr/>
            <p:nvPr/>
          </p:nvSpPr>
          <p:spPr>
            <a:xfrm>
              <a:off x="2546783" y="447203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13" name="Oval 312">
              <a:extLst>
                <a:ext uri="{FF2B5EF4-FFF2-40B4-BE49-F238E27FC236}">
                  <a16:creationId xmlns:a16="http://schemas.microsoft.com/office/drawing/2014/main" id="{58A67CCF-63C3-C07E-0E85-6D26DD6E58BF}"/>
                </a:ext>
              </a:extLst>
            </p:cNvPr>
            <p:cNvSpPr/>
            <p:nvPr/>
          </p:nvSpPr>
          <p:spPr>
            <a:xfrm>
              <a:off x="2648371" y="447203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14" name="Oval 313">
              <a:extLst>
                <a:ext uri="{FF2B5EF4-FFF2-40B4-BE49-F238E27FC236}">
                  <a16:creationId xmlns:a16="http://schemas.microsoft.com/office/drawing/2014/main" id="{F3A9474C-E8BD-1C60-4D9E-0F424081787E}"/>
                </a:ext>
              </a:extLst>
            </p:cNvPr>
            <p:cNvSpPr/>
            <p:nvPr/>
          </p:nvSpPr>
          <p:spPr>
            <a:xfrm>
              <a:off x="2749959" y="447203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15" name="Oval 314">
              <a:extLst>
                <a:ext uri="{FF2B5EF4-FFF2-40B4-BE49-F238E27FC236}">
                  <a16:creationId xmlns:a16="http://schemas.microsoft.com/office/drawing/2014/main" id="{BFB540B3-579E-802A-0DDE-7FEB780521BB}"/>
                </a:ext>
              </a:extLst>
            </p:cNvPr>
            <p:cNvSpPr/>
            <p:nvPr/>
          </p:nvSpPr>
          <p:spPr>
            <a:xfrm>
              <a:off x="2851547" y="447203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16" name="Oval 315">
              <a:extLst>
                <a:ext uri="{FF2B5EF4-FFF2-40B4-BE49-F238E27FC236}">
                  <a16:creationId xmlns:a16="http://schemas.microsoft.com/office/drawing/2014/main" id="{173EF4C2-183E-8DF0-80C4-38C9BCCB9A9F}"/>
                </a:ext>
              </a:extLst>
            </p:cNvPr>
            <p:cNvSpPr/>
            <p:nvPr/>
          </p:nvSpPr>
          <p:spPr>
            <a:xfrm>
              <a:off x="2953131" y="4472036"/>
              <a:ext cx="54864" cy="54864"/>
            </a:xfrm>
            <a:prstGeom prst="ellipse">
              <a:avLst/>
            </a:prstGeom>
            <a:solidFill>
              <a:srgbClr val="4EA7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grpSp>
    </p:spTree>
    <p:extLst>
      <p:ext uri="{BB962C8B-B14F-4D97-AF65-F5344CB8AC3E}">
        <p14:creationId xmlns:p14="http://schemas.microsoft.com/office/powerpoint/2010/main" val="38719804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20D972E-E73B-B7BA-819A-33B3A9AE425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633AADD-8824-2A3F-1854-0E4FA6485918}"/>
              </a:ext>
            </a:extLst>
          </p:cNvPr>
          <p:cNvSpPr/>
          <p:nvPr/>
        </p:nvSpPr>
        <p:spPr>
          <a:xfrm>
            <a:off x="-904" y="353224"/>
            <a:ext cx="12192000" cy="492221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5760" tIns="320040" rIns="457200" rtlCol="0" anchor="t" anchorCtr="0"/>
          <a:lstStyle/>
          <a:p>
            <a:pPr marL="0" marR="0" lvl="0" indent="0" algn="ctr" defTabSz="914400" rtl="0" eaLnBrk="1" fontAlgn="auto" latinLnBrk="0" hangingPunct="1">
              <a:lnSpc>
                <a:spcPct val="100000"/>
              </a:lnSpc>
              <a:spcBef>
                <a:spcPts val="0"/>
              </a:spcBef>
              <a:spcAft>
                <a:spcPts val="60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endParaRPr kumimoji="0" lang="en-US" sz="14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endParaRPr>
          </a:p>
        </p:txBody>
      </p:sp>
      <p:sp>
        <p:nvSpPr>
          <p:cNvPr id="15" name="Rectangle 14">
            <a:extLst>
              <a:ext uri="{FF2B5EF4-FFF2-40B4-BE49-F238E27FC236}">
                <a16:creationId xmlns:a16="http://schemas.microsoft.com/office/drawing/2014/main" id="{68E7E960-8B4B-AD66-CE21-21D714C109AF}"/>
              </a:ext>
            </a:extLst>
          </p:cNvPr>
          <p:cNvSpPr/>
          <p:nvPr/>
        </p:nvSpPr>
        <p:spPr>
          <a:xfrm>
            <a:off x="0" y="358886"/>
            <a:ext cx="3510052" cy="488531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274320" tIns="1097280" rIns="0" rtlCol="0" anchor="t" anchorCtr="0"/>
          <a:lstStyle/>
          <a:p>
            <a:pPr marL="0" marR="0" lvl="0" indent="0" algn="just" defTabSz="914400" rtl="0" eaLnBrk="1" fontAlgn="auto" latinLnBrk="0" hangingPunct="1">
              <a:lnSpc>
                <a:spcPct val="100000"/>
              </a:lnSpc>
              <a:spcBef>
                <a:spcPts val="0"/>
              </a:spcBef>
              <a:spcAft>
                <a:spcPts val="60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4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Respondents consistently emphasized keywords such as AI, fraud, automation, and agentic capabilities – signaling the areas expected to define the retail fraud landscape over the next 2-3 years.</a:t>
            </a:r>
          </a:p>
        </p:txBody>
      </p:sp>
      <p:sp>
        <p:nvSpPr>
          <p:cNvPr id="2" name="Rectangle 1">
            <a:extLst>
              <a:ext uri="{FF2B5EF4-FFF2-40B4-BE49-F238E27FC236}">
                <a16:creationId xmlns:a16="http://schemas.microsoft.com/office/drawing/2014/main" id="{B11817D8-90F9-0182-ACC2-F6C7B159C60C}"/>
              </a:ext>
            </a:extLst>
          </p:cNvPr>
          <p:cNvSpPr/>
          <p:nvPr/>
        </p:nvSpPr>
        <p:spPr>
          <a:xfrm>
            <a:off x="12421" y="4684225"/>
            <a:ext cx="12178675" cy="177650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274320" tIns="182880" rIns="0" rtlCol="0" anchor="t" anchorCtr="0"/>
          <a:lstStyle/>
          <a:p>
            <a:pPr marL="0" marR="0" lvl="0" indent="0" algn="l" defTabSz="914400" rtl="0" eaLnBrk="1" fontAlgn="auto" latinLnBrk="0" hangingPunct="1">
              <a:lnSpc>
                <a:spcPct val="100000"/>
              </a:lnSpc>
              <a:spcBef>
                <a:spcPts val="0"/>
              </a:spcBef>
              <a:spcAft>
                <a:spcPts val="60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4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The top emerging themes included:</a:t>
            </a:r>
          </a:p>
        </p:txBody>
      </p:sp>
      <p:sp>
        <p:nvSpPr>
          <p:cNvPr id="4" name="Rectangle 3">
            <a:extLst>
              <a:ext uri="{FF2B5EF4-FFF2-40B4-BE49-F238E27FC236}">
                <a16:creationId xmlns:a16="http://schemas.microsoft.com/office/drawing/2014/main" id="{B021A3B8-F604-50CB-DC47-E31235472F74}"/>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RESULTS OF 2025 DELOITTE SURVEY ON AI-ENABLED FRAUD IN RETAIL (CONT’D.) </a:t>
            </a:r>
          </a:p>
        </p:txBody>
      </p:sp>
      <p:pic>
        <p:nvPicPr>
          <p:cNvPr id="1026" name="Picture 2">
            <a:extLst>
              <a:ext uri="{FF2B5EF4-FFF2-40B4-BE49-F238E27FC236}">
                <a16:creationId xmlns:a16="http://schemas.microsoft.com/office/drawing/2014/main" id="{0E12C5AB-3C33-1227-2FEB-5B6387F3E7A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29" t="-2371" r="-1714" b="-2653"/>
          <a:stretch>
            <a:fillRect/>
          </a:stretch>
        </p:blipFill>
        <p:spPr bwMode="auto">
          <a:xfrm>
            <a:off x="3844802" y="368722"/>
            <a:ext cx="8336440" cy="4472217"/>
          </a:xfrm>
          <a:prstGeom prst="rect">
            <a:avLst/>
          </a:prstGeom>
          <a:solidFill>
            <a:schemeClr val="bg1"/>
          </a:solidFill>
          <a:ln w="88900" cap="sq">
            <a:noFill/>
            <a:miter lim="800000"/>
          </a:ln>
          <a:effectLst/>
          <a:scene3d>
            <a:camera prst="orthographicFront"/>
            <a:lightRig rig="twoPt" dir="t">
              <a:rot lat="0" lon="0" rev="7200000"/>
            </a:lightRig>
          </a:scene3d>
          <a:sp3d>
            <a:contourClr>
              <a:srgbClr val="FFFFFF"/>
            </a:contourClr>
          </a:sp3d>
        </p:spPr>
      </p:pic>
      <p:sp>
        <p:nvSpPr>
          <p:cNvPr id="17" name="Freeform: Shape 16">
            <a:extLst>
              <a:ext uri="{FF2B5EF4-FFF2-40B4-BE49-F238E27FC236}">
                <a16:creationId xmlns:a16="http://schemas.microsoft.com/office/drawing/2014/main" id="{E06B6220-1F31-C66A-0D7B-E2AE4AE32704}"/>
              </a:ext>
            </a:extLst>
          </p:cNvPr>
          <p:cNvSpPr/>
          <p:nvPr/>
        </p:nvSpPr>
        <p:spPr>
          <a:xfrm>
            <a:off x="8914685" y="5176836"/>
            <a:ext cx="3038307" cy="1322277"/>
          </a:xfrm>
          <a:custGeom>
            <a:avLst/>
            <a:gdLst>
              <a:gd name="connsiteX0" fmla="*/ 163633 w 3383280"/>
              <a:gd name="connsiteY0" fmla="*/ 0 h 1309934"/>
              <a:gd name="connsiteX1" fmla="*/ 3219647 w 3383280"/>
              <a:gd name="connsiteY1" fmla="*/ 0 h 1309934"/>
              <a:gd name="connsiteX2" fmla="*/ 3383280 w 3383280"/>
              <a:gd name="connsiteY2" fmla="*/ 163633 h 1309934"/>
              <a:gd name="connsiteX3" fmla="*/ 3383280 w 3383280"/>
              <a:gd name="connsiteY3" fmla="*/ 818144 h 1309934"/>
              <a:gd name="connsiteX4" fmla="*/ 3219647 w 3383280"/>
              <a:gd name="connsiteY4" fmla="*/ 981777 h 1309934"/>
              <a:gd name="connsiteX5" fmla="*/ 1661900 w 3383280"/>
              <a:gd name="connsiteY5" fmla="*/ 981777 h 1309934"/>
              <a:gd name="connsiteX6" fmla="*/ 1359900 w 3383280"/>
              <a:gd name="connsiteY6" fmla="*/ 1309934 h 1309934"/>
              <a:gd name="connsiteX7" fmla="*/ 1447941 w 3383280"/>
              <a:gd name="connsiteY7" fmla="*/ 981777 h 1309934"/>
              <a:gd name="connsiteX8" fmla="*/ 163633 w 3383280"/>
              <a:gd name="connsiteY8" fmla="*/ 981777 h 1309934"/>
              <a:gd name="connsiteX9" fmla="*/ 0 w 3383280"/>
              <a:gd name="connsiteY9" fmla="*/ 818144 h 1309934"/>
              <a:gd name="connsiteX10" fmla="*/ 0 w 3383280"/>
              <a:gd name="connsiteY10" fmla="*/ 163633 h 1309934"/>
              <a:gd name="connsiteX11" fmla="*/ 163633 w 3383280"/>
              <a:gd name="connsiteY11" fmla="*/ 0 h 1309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383280" h="1309934">
                <a:moveTo>
                  <a:pt x="163633" y="0"/>
                </a:moveTo>
                <a:lnTo>
                  <a:pt x="3219647" y="0"/>
                </a:lnTo>
                <a:cubicBezTo>
                  <a:pt x="3310019" y="0"/>
                  <a:pt x="3383280" y="73261"/>
                  <a:pt x="3383280" y="163633"/>
                </a:cubicBezTo>
                <a:lnTo>
                  <a:pt x="3383280" y="818144"/>
                </a:lnTo>
                <a:cubicBezTo>
                  <a:pt x="3383280" y="908516"/>
                  <a:pt x="3310019" y="981777"/>
                  <a:pt x="3219647" y="981777"/>
                </a:cubicBezTo>
                <a:lnTo>
                  <a:pt x="1661900" y="981777"/>
                </a:lnTo>
                <a:lnTo>
                  <a:pt x="1359900" y="1309934"/>
                </a:lnTo>
                <a:lnTo>
                  <a:pt x="1447941" y="981777"/>
                </a:lnTo>
                <a:lnTo>
                  <a:pt x="163633" y="981777"/>
                </a:lnTo>
                <a:cubicBezTo>
                  <a:pt x="73261" y="981777"/>
                  <a:pt x="0" y="908516"/>
                  <a:pt x="0" y="818144"/>
                </a:cubicBezTo>
                <a:lnTo>
                  <a:pt x="0" y="163633"/>
                </a:lnTo>
                <a:cubicBezTo>
                  <a:pt x="0" y="73261"/>
                  <a:pt x="73261" y="0"/>
                  <a:pt x="163633" y="0"/>
                </a:cubicBezTo>
                <a:close/>
              </a:path>
            </a:pathLst>
          </a:custGeom>
          <a:solidFill>
            <a:srgbClr val="43B02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82880" tIns="274320" rIns="182880" rtlCol="0" anchor="t"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1" u="none" strike="noStrike" kern="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“Rapid evolution of fraud tactics through agentic AI and automation”</a:t>
            </a:r>
          </a:p>
        </p:txBody>
      </p:sp>
      <p:sp>
        <p:nvSpPr>
          <p:cNvPr id="27" name="Freeform: Shape 26">
            <a:extLst>
              <a:ext uri="{FF2B5EF4-FFF2-40B4-BE49-F238E27FC236}">
                <a16:creationId xmlns:a16="http://schemas.microsoft.com/office/drawing/2014/main" id="{FBAB86B4-E6F7-7E6A-7EB3-1A3001727B22}"/>
              </a:ext>
            </a:extLst>
          </p:cNvPr>
          <p:cNvSpPr/>
          <p:nvPr/>
        </p:nvSpPr>
        <p:spPr>
          <a:xfrm>
            <a:off x="239008" y="5176836"/>
            <a:ext cx="3009017" cy="1327940"/>
          </a:xfrm>
          <a:custGeom>
            <a:avLst/>
            <a:gdLst>
              <a:gd name="connsiteX0" fmla="*/ 161999 w 3460281"/>
              <a:gd name="connsiteY0" fmla="*/ 0 h 1315544"/>
              <a:gd name="connsiteX1" fmla="*/ 3298282 w 3460281"/>
              <a:gd name="connsiteY1" fmla="*/ 0 h 1315544"/>
              <a:gd name="connsiteX2" fmla="*/ 3460281 w 3460281"/>
              <a:gd name="connsiteY2" fmla="*/ 161999 h 1315544"/>
              <a:gd name="connsiteX3" fmla="*/ 3460281 w 3460281"/>
              <a:gd name="connsiteY3" fmla="*/ 809975 h 1315544"/>
              <a:gd name="connsiteX4" fmla="*/ 3298282 w 3460281"/>
              <a:gd name="connsiteY4" fmla="*/ 971974 h 1315544"/>
              <a:gd name="connsiteX5" fmla="*/ 2677284 w 3460281"/>
              <a:gd name="connsiteY5" fmla="*/ 971974 h 1315544"/>
              <a:gd name="connsiteX6" fmla="*/ 2829352 w 3460281"/>
              <a:gd name="connsiteY6" fmla="*/ 1315544 h 1315544"/>
              <a:gd name="connsiteX7" fmla="*/ 2492990 w 3460281"/>
              <a:gd name="connsiteY7" fmla="*/ 971974 h 1315544"/>
              <a:gd name="connsiteX8" fmla="*/ 161999 w 3460281"/>
              <a:gd name="connsiteY8" fmla="*/ 971974 h 1315544"/>
              <a:gd name="connsiteX9" fmla="*/ 0 w 3460281"/>
              <a:gd name="connsiteY9" fmla="*/ 809975 h 1315544"/>
              <a:gd name="connsiteX10" fmla="*/ 0 w 3460281"/>
              <a:gd name="connsiteY10" fmla="*/ 161999 h 1315544"/>
              <a:gd name="connsiteX11" fmla="*/ 161999 w 3460281"/>
              <a:gd name="connsiteY11" fmla="*/ 0 h 1315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460281" h="1315544">
                <a:moveTo>
                  <a:pt x="161999" y="0"/>
                </a:moveTo>
                <a:lnTo>
                  <a:pt x="3298282" y="0"/>
                </a:lnTo>
                <a:cubicBezTo>
                  <a:pt x="3387752" y="0"/>
                  <a:pt x="3460281" y="72529"/>
                  <a:pt x="3460281" y="161999"/>
                </a:cubicBezTo>
                <a:lnTo>
                  <a:pt x="3460281" y="809975"/>
                </a:lnTo>
                <a:cubicBezTo>
                  <a:pt x="3460281" y="899445"/>
                  <a:pt x="3387752" y="971974"/>
                  <a:pt x="3298282" y="971974"/>
                </a:cubicBezTo>
                <a:lnTo>
                  <a:pt x="2677284" y="971974"/>
                </a:lnTo>
                <a:lnTo>
                  <a:pt x="2829352" y="1315544"/>
                </a:lnTo>
                <a:lnTo>
                  <a:pt x="2492990" y="971974"/>
                </a:lnTo>
                <a:lnTo>
                  <a:pt x="161999" y="971974"/>
                </a:lnTo>
                <a:cubicBezTo>
                  <a:pt x="72529" y="971974"/>
                  <a:pt x="0" y="899445"/>
                  <a:pt x="0" y="809975"/>
                </a:cubicBezTo>
                <a:lnTo>
                  <a:pt x="0" y="161999"/>
                </a:lnTo>
                <a:cubicBezTo>
                  <a:pt x="0" y="72529"/>
                  <a:pt x="72529" y="0"/>
                  <a:pt x="161999" y="0"/>
                </a:cubicBezTo>
                <a:close/>
              </a:path>
            </a:pathLst>
          </a:custGeom>
          <a:solidFill>
            <a:srgbClr val="43B02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82880" tIns="274320" rIns="182880" rtlCol="0" anchor="t"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1" u="none" strike="noStrike" kern="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“Greater difficulty distinguishing fraud from legitimate retail activity”</a:t>
            </a:r>
          </a:p>
        </p:txBody>
      </p:sp>
      <p:sp>
        <p:nvSpPr>
          <p:cNvPr id="28" name="Freeform: Shape 27">
            <a:extLst>
              <a:ext uri="{FF2B5EF4-FFF2-40B4-BE49-F238E27FC236}">
                <a16:creationId xmlns:a16="http://schemas.microsoft.com/office/drawing/2014/main" id="{D4B71FD6-AA04-F104-5CFD-95F1FB987C97}"/>
              </a:ext>
            </a:extLst>
          </p:cNvPr>
          <p:cNvSpPr/>
          <p:nvPr/>
        </p:nvSpPr>
        <p:spPr>
          <a:xfrm>
            <a:off x="3370826" y="5176836"/>
            <a:ext cx="2651189" cy="1414725"/>
          </a:xfrm>
          <a:custGeom>
            <a:avLst/>
            <a:gdLst>
              <a:gd name="connsiteX0" fmla="*/ 161999 w 3460281"/>
              <a:gd name="connsiteY0" fmla="*/ 0 h 1401519"/>
              <a:gd name="connsiteX1" fmla="*/ 3298282 w 3460281"/>
              <a:gd name="connsiteY1" fmla="*/ 0 h 1401519"/>
              <a:gd name="connsiteX2" fmla="*/ 3460281 w 3460281"/>
              <a:gd name="connsiteY2" fmla="*/ 161999 h 1401519"/>
              <a:gd name="connsiteX3" fmla="*/ 3460281 w 3460281"/>
              <a:gd name="connsiteY3" fmla="*/ 809975 h 1401519"/>
              <a:gd name="connsiteX4" fmla="*/ 3298282 w 3460281"/>
              <a:gd name="connsiteY4" fmla="*/ 971974 h 1401519"/>
              <a:gd name="connsiteX5" fmla="*/ 1218479 w 3460281"/>
              <a:gd name="connsiteY5" fmla="*/ 971974 h 1401519"/>
              <a:gd name="connsiteX6" fmla="*/ 942058 w 3460281"/>
              <a:gd name="connsiteY6" fmla="*/ 1401519 h 1401519"/>
              <a:gd name="connsiteX7" fmla="*/ 1035275 w 3460281"/>
              <a:gd name="connsiteY7" fmla="*/ 971974 h 1401519"/>
              <a:gd name="connsiteX8" fmla="*/ 161999 w 3460281"/>
              <a:gd name="connsiteY8" fmla="*/ 971974 h 1401519"/>
              <a:gd name="connsiteX9" fmla="*/ 0 w 3460281"/>
              <a:gd name="connsiteY9" fmla="*/ 809975 h 1401519"/>
              <a:gd name="connsiteX10" fmla="*/ 0 w 3460281"/>
              <a:gd name="connsiteY10" fmla="*/ 161999 h 1401519"/>
              <a:gd name="connsiteX11" fmla="*/ 161999 w 3460281"/>
              <a:gd name="connsiteY11" fmla="*/ 0 h 1401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460281" h="1401519">
                <a:moveTo>
                  <a:pt x="161999" y="0"/>
                </a:moveTo>
                <a:lnTo>
                  <a:pt x="3298282" y="0"/>
                </a:lnTo>
                <a:cubicBezTo>
                  <a:pt x="3387752" y="0"/>
                  <a:pt x="3460281" y="72529"/>
                  <a:pt x="3460281" y="161999"/>
                </a:cubicBezTo>
                <a:lnTo>
                  <a:pt x="3460281" y="809975"/>
                </a:lnTo>
                <a:cubicBezTo>
                  <a:pt x="3460281" y="899445"/>
                  <a:pt x="3387752" y="971974"/>
                  <a:pt x="3298282" y="971974"/>
                </a:cubicBezTo>
                <a:lnTo>
                  <a:pt x="1218479" y="971974"/>
                </a:lnTo>
                <a:lnTo>
                  <a:pt x="942058" y="1401519"/>
                </a:lnTo>
                <a:lnTo>
                  <a:pt x="1035275" y="971974"/>
                </a:lnTo>
                <a:lnTo>
                  <a:pt x="161999" y="971974"/>
                </a:lnTo>
                <a:cubicBezTo>
                  <a:pt x="72529" y="971974"/>
                  <a:pt x="0" y="899445"/>
                  <a:pt x="0" y="809975"/>
                </a:cubicBezTo>
                <a:lnTo>
                  <a:pt x="0" y="161999"/>
                </a:lnTo>
                <a:cubicBezTo>
                  <a:pt x="0" y="72529"/>
                  <a:pt x="72529" y="0"/>
                  <a:pt x="161999" y="0"/>
                </a:cubicBezTo>
                <a:close/>
              </a:path>
            </a:pathLst>
          </a:custGeom>
          <a:solidFill>
            <a:srgbClr val="92D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lIns="182880" tIns="274320" rIns="182880" rtlCol="0" anchor="t"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1" u="none" strike="noStrike" kern="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“Escalating sophistication and volume of retail fraud attacks”</a:t>
            </a:r>
          </a:p>
        </p:txBody>
      </p:sp>
      <p:sp>
        <p:nvSpPr>
          <p:cNvPr id="29" name="Freeform: Shape 28">
            <a:extLst>
              <a:ext uri="{FF2B5EF4-FFF2-40B4-BE49-F238E27FC236}">
                <a16:creationId xmlns:a16="http://schemas.microsoft.com/office/drawing/2014/main" id="{1311A458-90F4-09E9-50ED-67175F2A676A}"/>
              </a:ext>
            </a:extLst>
          </p:cNvPr>
          <p:cNvSpPr/>
          <p:nvPr/>
        </p:nvSpPr>
        <p:spPr>
          <a:xfrm>
            <a:off x="6140695" y="5176836"/>
            <a:ext cx="2647067" cy="1221854"/>
          </a:xfrm>
          <a:custGeom>
            <a:avLst/>
            <a:gdLst>
              <a:gd name="connsiteX0" fmla="*/ 161999 w 3460281"/>
              <a:gd name="connsiteY0" fmla="*/ 0 h 1210448"/>
              <a:gd name="connsiteX1" fmla="*/ 3298282 w 3460281"/>
              <a:gd name="connsiteY1" fmla="*/ 0 h 1210448"/>
              <a:gd name="connsiteX2" fmla="*/ 3460281 w 3460281"/>
              <a:gd name="connsiteY2" fmla="*/ 161999 h 1210448"/>
              <a:gd name="connsiteX3" fmla="*/ 3460281 w 3460281"/>
              <a:gd name="connsiteY3" fmla="*/ 809975 h 1210448"/>
              <a:gd name="connsiteX4" fmla="*/ 3298282 w 3460281"/>
              <a:gd name="connsiteY4" fmla="*/ 971974 h 1210448"/>
              <a:gd name="connsiteX5" fmla="*/ 2596277 w 3460281"/>
              <a:gd name="connsiteY5" fmla="*/ 971974 h 1210448"/>
              <a:gd name="connsiteX6" fmla="*/ 2761088 w 3460281"/>
              <a:gd name="connsiteY6" fmla="*/ 1210448 h 1210448"/>
              <a:gd name="connsiteX7" fmla="*/ 2418396 w 3460281"/>
              <a:gd name="connsiteY7" fmla="*/ 971974 h 1210448"/>
              <a:gd name="connsiteX8" fmla="*/ 161999 w 3460281"/>
              <a:gd name="connsiteY8" fmla="*/ 971974 h 1210448"/>
              <a:gd name="connsiteX9" fmla="*/ 0 w 3460281"/>
              <a:gd name="connsiteY9" fmla="*/ 809975 h 1210448"/>
              <a:gd name="connsiteX10" fmla="*/ 0 w 3460281"/>
              <a:gd name="connsiteY10" fmla="*/ 161999 h 1210448"/>
              <a:gd name="connsiteX11" fmla="*/ 161999 w 3460281"/>
              <a:gd name="connsiteY11" fmla="*/ 0 h 1210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460281" h="1210448">
                <a:moveTo>
                  <a:pt x="161999" y="0"/>
                </a:moveTo>
                <a:lnTo>
                  <a:pt x="3298282" y="0"/>
                </a:lnTo>
                <a:cubicBezTo>
                  <a:pt x="3387752" y="0"/>
                  <a:pt x="3460281" y="72529"/>
                  <a:pt x="3460281" y="161999"/>
                </a:cubicBezTo>
                <a:lnTo>
                  <a:pt x="3460281" y="809975"/>
                </a:lnTo>
                <a:cubicBezTo>
                  <a:pt x="3460281" y="899445"/>
                  <a:pt x="3387752" y="971974"/>
                  <a:pt x="3298282" y="971974"/>
                </a:cubicBezTo>
                <a:lnTo>
                  <a:pt x="2596277" y="971974"/>
                </a:lnTo>
                <a:lnTo>
                  <a:pt x="2761088" y="1210448"/>
                </a:lnTo>
                <a:lnTo>
                  <a:pt x="2418396" y="971974"/>
                </a:lnTo>
                <a:lnTo>
                  <a:pt x="161999" y="971974"/>
                </a:lnTo>
                <a:cubicBezTo>
                  <a:pt x="72529" y="971974"/>
                  <a:pt x="0" y="899445"/>
                  <a:pt x="0" y="809975"/>
                </a:cubicBezTo>
                <a:lnTo>
                  <a:pt x="0" y="161999"/>
                </a:lnTo>
                <a:cubicBezTo>
                  <a:pt x="0" y="72529"/>
                  <a:pt x="72529" y="0"/>
                  <a:pt x="161999" y="0"/>
                </a:cubicBezTo>
                <a:close/>
              </a:path>
            </a:pathLst>
          </a:custGeom>
          <a:solidFill>
            <a:schemeClr val="accent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lIns="182880" tIns="274320" rIns="182880" rtlCol="0" anchor="t"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1" u="none" strike="noStrike" kern="0" cap="none" spc="0" normalizeH="0" baseline="0" noProof="0">
                <a:ln>
                  <a:noFill/>
                </a:ln>
                <a:solidFill>
                  <a:srgbClr val="FFFFFF"/>
                </a:solidFill>
                <a:effectLst/>
                <a:uLnTx/>
                <a:uFillTx/>
                <a:latin typeface="Segoe UI" panose="020B0502040204020203" pitchFamily="34" charset="0"/>
                <a:ea typeface="+mn-ea"/>
                <a:cs typeface="Segoe UI" panose="020B0502040204020203" pitchFamily="34" charset="0"/>
                <a:sym typeface="Arial"/>
              </a:rPr>
              <a:t>“Expansion of scalable, low-cost AI-enabled fraud schemes”</a:t>
            </a:r>
          </a:p>
        </p:txBody>
      </p:sp>
    </p:spTree>
    <p:extLst>
      <p:ext uri="{BB962C8B-B14F-4D97-AF65-F5344CB8AC3E}">
        <p14:creationId xmlns:p14="http://schemas.microsoft.com/office/powerpoint/2010/main" val="34949428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B5D5917-CDDD-4692-220A-B9009D7E546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B37E83F-435A-8033-94B9-C894A8439EE7}"/>
              </a:ext>
            </a:extLst>
          </p:cNvPr>
          <p:cNvSpPr/>
          <p:nvPr/>
        </p:nvSpPr>
        <p:spPr bwMode="gray">
          <a:xfrm>
            <a:off x="0" y="3289210"/>
            <a:ext cx="12192000" cy="3217469"/>
          </a:xfrm>
          <a:prstGeom prst="rect">
            <a:avLst/>
          </a:prstGeom>
          <a:solidFill>
            <a:schemeClr val="bg1">
              <a:lumMod val="95000"/>
            </a:schemeClr>
          </a:solidFill>
          <a:ln w="19050" algn="ctr">
            <a:noFill/>
            <a:miter lim="800000"/>
            <a:headEnd/>
            <a:tailEnd/>
          </a:ln>
        </p:spPr>
        <p:txBody>
          <a:bodyPr wrap="square" lIns="88900" tIns="88900" rIns="88900" bIns="88900" rtlCol="0" anchor="ctr"/>
          <a:lstStyle/>
          <a:p>
            <a:pPr marL="0" marR="0" lvl="0" indent="0" algn="ctr" defTabSz="914400" rtl="0" eaLnBrk="1" fontAlgn="auto" latinLnBrk="0" hangingPunct="1">
              <a:lnSpc>
                <a:spcPct val="106000"/>
              </a:lnSpc>
              <a:spcBef>
                <a:spcPts val="0"/>
              </a:spcBef>
              <a:spcAft>
                <a:spcPts val="0"/>
              </a:spcAft>
              <a:buClr>
                <a:srgbClr val="000000"/>
              </a:buClr>
              <a:buSzTx/>
              <a:buFont typeface="Wingdings 2" pitchFamily="18" charset="2"/>
              <a:buNone/>
              <a:tabLst/>
              <a:defRPr/>
            </a:pPr>
            <a:endParaRPr kumimoji="0" lang="en-US" sz="1600" b="1" i="0" u="none" strike="noStrike" kern="0" cap="none" spc="0" normalizeH="0" baseline="0" noProof="0">
              <a:ln>
                <a:noFill/>
              </a:ln>
              <a:solidFill>
                <a:srgbClr val="FFFFFF"/>
              </a:solidFill>
              <a:effectLst/>
              <a:uLnTx/>
              <a:uFillTx/>
              <a:latin typeface="Arial"/>
              <a:cs typeface="Arial"/>
              <a:sym typeface="Arial"/>
            </a:endParaRPr>
          </a:p>
        </p:txBody>
      </p:sp>
      <p:sp>
        <p:nvSpPr>
          <p:cNvPr id="3" name="Rectangle 2">
            <a:extLst>
              <a:ext uri="{FF2B5EF4-FFF2-40B4-BE49-F238E27FC236}">
                <a16:creationId xmlns:a16="http://schemas.microsoft.com/office/drawing/2014/main" id="{077F86EC-4F9B-3775-5A02-E05E82130147}"/>
              </a:ext>
            </a:extLst>
          </p:cNvPr>
          <p:cNvSpPr/>
          <p:nvPr/>
        </p:nvSpPr>
        <p:spPr bwMode="gray">
          <a:xfrm>
            <a:off x="412954" y="3391723"/>
            <a:ext cx="3655960" cy="603272"/>
          </a:xfrm>
          <a:prstGeom prst="rect">
            <a:avLst/>
          </a:prstGeom>
          <a:noFill/>
          <a:ln w="19050" algn="ctr">
            <a:noFill/>
            <a:miter lim="800000"/>
            <a:headEnd/>
            <a:tailEnd/>
          </a:ln>
        </p:spPr>
        <p:txBody>
          <a:bodyPr wrap="square" lIns="182880" tIns="0" rIns="182880" bIns="88900" rtlCol="0" anchor="t"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2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Mitigation strategies expected to be most effective against AI-enabled fraud</a:t>
            </a:r>
          </a:p>
        </p:txBody>
      </p:sp>
      <p:sp>
        <p:nvSpPr>
          <p:cNvPr id="4" name="Rectangle 3">
            <a:extLst>
              <a:ext uri="{FF2B5EF4-FFF2-40B4-BE49-F238E27FC236}">
                <a16:creationId xmlns:a16="http://schemas.microsoft.com/office/drawing/2014/main" id="{1E3FDDB8-1D96-99F0-8204-B264CEA077E3}"/>
              </a:ext>
            </a:extLst>
          </p:cNvPr>
          <p:cNvSpPr/>
          <p:nvPr/>
        </p:nvSpPr>
        <p:spPr bwMode="gray">
          <a:xfrm>
            <a:off x="4312229" y="3391723"/>
            <a:ext cx="3747731" cy="603272"/>
          </a:xfrm>
          <a:prstGeom prst="rect">
            <a:avLst/>
          </a:prstGeom>
          <a:noFill/>
          <a:ln w="19050" algn="ctr">
            <a:noFill/>
            <a:miter lim="800000"/>
            <a:headEnd/>
            <a:tailEnd/>
          </a:ln>
        </p:spPr>
        <p:txBody>
          <a:bodyPr wrap="square" lIns="182880" tIns="0" rIns="182880" bIns="88900" rtlCol="0" anchor="t"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2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Industry-wide measures seen as most-needed to address AI-enabled fraud</a:t>
            </a:r>
          </a:p>
        </p:txBody>
      </p:sp>
      <p:sp>
        <p:nvSpPr>
          <p:cNvPr id="5" name="Rectangle 4">
            <a:extLst>
              <a:ext uri="{FF2B5EF4-FFF2-40B4-BE49-F238E27FC236}">
                <a16:creationId xmlns:a16="http://schemas.microsoft.com/office/drawing/2014/main" id="{F8A789C6-C032-29D1-E292-007CAE31444E}"/>
              </a:ext>
            </a:extLst>
          </p:cNvPr>
          <p:cNvSpPr/>
          <p:nvPr/>
        </p:nvSpPr>
        <p:spPr bwMode="gray">
          <a:xfrm>
            <a:off x="1" y="725438"/>
            <a:ext cx="2585883" cy="2347374"/>
          </a:xfrm>
          <a:prstGeom prst="rect">
            <a:avLst/>
          </a:prstGeom>
          <a:noFill/>
          <a:ln w="19050" algn="ctr">
            <a:noFill/>
            <a:miter lim="800000"/>
            <a:headEnd/>
            <a:tailEnd/>
          </a:ln>
        </p:spPr>
        <p:txBody>
          <a:bodyPr wrap="square" lIns="365760" tIns="0" rIns="182880" bIns="88900" rtlCol="0" anchor="t"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2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Organizations that have updated their fraud strategy or implemented new controls to manage fraud enabled by AI</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endParaRPr kumimoji="0" lang="en-US" sz="1200" b="1"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3200" b="1" i="0" u="none" strike="noStrike" kern="1200" cap="none" spc="0" normalizeH="0" baseline="0" noProof="0">
                <a:ln>
                  <a:noFill/>
                </a:ln>
                <a:solidFill>
                  <a:srgbClr val="4EA72E"/>
                </a:solidFill>
                <a:effectLst/>
                <a:uLnTx/>
                <a:uFillTx/>
                <a:latin typeface="Segoe UI" panose="020B0502040204020203" pitchFamily="34" charset="0"/>
                <a:cs typeface="Segoe UI" panose="020B0502040204020203" pitchFamily="34" charset="0"/>
                <a:sym typeface="Arial"/>
              </a:rPr>
              <a:t>67% Yes</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3200" b="1"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rPr>
              <a:t>33% No</a:t>
            </a:r>
          </a:p>
        </p:txBody>
      </p:sp>
      <p:graphicFrame>
        <p:nvGraphicFramePr>
          <p:cNvPr id="6" name="Chart 5">
            <a:extLst>
              <a:ext uri="{FF2B5EF4-FFF2-40B4-BE49-F238E27FC236}">
                <a16:creationId xmlns:a16="http://schemas.microsoft.com/office/drawing/2014/main" id="{01AD10CE-A3A9-7B46-728B-A9A14FCE478D}"/>
              </a:ext>
            </a:extLst>
          </p:cNvPr>
          <p:cNvGraphicFramePr>
            <a:graphicFrameLocks/>
          </p:cNvGraphicFramePr>
          <p:nvPr/>
        </p:nvGraphicFramePr>
        <p:xfrm>
          <a:off x="8121445" y="351322"/>
          <a:ext cx="4070553" cy="2937890"/>
        </p:xfrm>
        <a:graphic>
          <a:graphicData uri="http://schemas.openxmlformats.org/drawingml/2006/chart">
            <c:chart xmlns:c="http://schemas.openxmlformats.org/drawingml/2006/chart" xmlns:r="http://schemas.openxmlformats.org/officeDocument/2006/relationships" r:id="rId4"/>
          </a:graphicData>
        </a:graphic>
      </p:graphicFrame>
      <p:sp>
        <p:nvSpPr>
          <p:cNvPr id="7" name="Rectangle 6">
            <a:extLst>
              <a:ext uri="{FF2B5EF4-FFF2-40B4-BE49-F238E27FC236}">
                <a16:creationId xmlns:a16="http://schemas.microsoft.com/office/drawing/2014/main" id="{5D1299AC-EFDD-EBE7-463B-343C5838C583}"/>
              </a:ext>
            </a:extLst>
          </p:cNvPr>
          <p:cNvSpPr/>
          <p:nvPr/>
        </p:nvSpPr>
        <p:spPr bwMode="gray">
          <a:xfrm>
            <a:off x="8121443" y="576580"/>
            <a:ext cx="3824751" cy="603272"/>
          </a:xfrm>
          <a:prstGeom prst="rect">
            <a:avLst/>
          </a:prstGeom>
          <a:noFill/>
          <a:ln w="19050" algn="ctr">
            <a:noFill/>
            <a:miter lim="800000"/>
            <a:headEnd/>
            <a:tailEnd/>
          </a:ln>
        </p:spPr>
        <p:txBody>
          <a:bodyPr wrap="square" lIns="182880" tIns="0" rIns="182880" bIns="88900" rtlCol="0" anchor="t"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2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Merchant preparedness to handle AI-enabled fraud for the future</a:t>
            </a:r>
          </a:p>
        </p:txBody>
      </p:sp>
      <p:graphicFrame>
        <p:nvGraphicFramePr>
          <p:cNvPr id="8" name="Chart 7">
            <a:extLst>
              <a:ext uri="{FF2B5EF4-FFF2-40B4-BE49-F238E27FC236}">
                <a16:creationId xmlns:a16="http://schemas.microsoft.com/office/drawing/2014/main" id="{89306EFC-34BC-59AA-A843-E360C1D4C215}"/>
              </a:ext>
            </a:extLst>
          </p:cNvPr>
          <p:cNvGraphicFramePr>
            <a:graphicFrameLocks/>
          </p:cNvGraphicFramePr>
          <p:nvPr>
            <p:custDataLst>
              <p:tags r:id="rId1"/>
            </p:custDataLst>
          </p:nvPr>
        </p:nvGraphicFramePr>
        <p:xfrm>
          <a:off x="235972" y="3995005"/>
          <a:ext cx="3832939" cy="2560839"/>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cx1="http://schemas.microsoft.com/office/drawing/2015/9/8/chartex">
        <mc:Choice Requires="cx1">
          <p:graphicFrame>
            <p:nvGraphicFramePr>
              <p:cNvPr id="9" name="Chart 8">
                <a:extLst>
                  <a:ext uri="{FF2B5EF4-FFF2-40B4-BE49-F238E27FC236}">
                    <a16:creationId xmlns:a16="http://schemas.microsoft.com/office/drawing/2014/main" id="{FB46DB7F-3465-88DE-D479-9244B5ADB40C}"/>
                  </a:ext>
                </a:extLst>
              </p:cNvPr>
              <p:cNvGraphicFramePr/>
              <p:nvPr/>
            </p:nvGraphicFramePr>
            <p:xfrm>
              <a:off x="4312227" y="3805498"/>
              <a:ext cx="3747734" cy="2731091"/>
            </p:xfrm>
            <a:graphic>
              <a:graphicData uri="http://schemas.microsoft.com/office/drawing/2014/chartex">
                <cx:chart xmlns:cx="http://schemas.microsoft.com/office/drawing/2014/chartex" xmlns:r="http://schemas.openxmlformats.org/officeDocument/2006/relationships" r:id="rId6"/>
              </a:graphicData>
            </a:graphic>
          </p:graphicFrame>
        </mc:Choice>
        <mc:Fallback xmlns="">
          <p:pic>
            <p:nvPicPr>
              <p:cNvPr id="9" name="Chart 8">
                <a:extLst>
                  <a:ext uri="{FF2B5EF4-FFF2-40B4-BE49-F238E27FC236}">
                    <a16:creationId xmlns:a16="http://schemas.microsoft.com/office/drawing/2014/main" id="{FB46DB7F-3465-88DE-D479-9244B5ADB40C}"/>
                  </a:ext>
                </a:extLst>
              </p:cNvPr>
              <p:cNvPicPr>
                <a:picLocks noGrp="1" noRot="1" noChangeAspect="1" noMove="1" noResize="1" noEditPoints="1" noAdjustHandles="1" noChangeArrowheads="1" noChangeShapeType="1"/>
              </p:cNvPicPr>
              <p:nvPr/>
            </p:nvPicPr>
            <p:blipFill>
              <a:blip r:embed="rId7"/>
              <a:stretch>
                <a:fillRect/>
              </a:stretch>
            </p:blipFill>
            <p:spPr>
              <a:xfrm>
                <a:off x="4312227" y="3805498"/>
                <a:ext cx="3747734" cy="2731091"/>
              </a:xfrm>
              <a:prstGeom prst="rect">
                <a:avLst/>
              </a:prstGeom>
            </p:spPr>
          </p:pic>
        </mc:Fallback>
      </mc:AlternateContent>
      <p:sp>
        <p:nvSpPr>
          <p:cNvPr id="10" name="Rectangle 9">
            <a:extLst>
              <a:ext uri="{FF2B5EF4-FFF2-40B4-BE49-F238E27FC236}">
                <a16:creationId xmlns:a16="http://schemas.microsoft.com/office/drawing/2014/main" id="{FC2EA71A-A1D3-2100-8E2C-A2BDB851F748}"/>
              </a:ext>
            </a:extLst>
          </p:cNvPr>
          <p:cNvSpPr/>
          <p:nvPr/>
        </p:nvSpPr>
        <p:spPr bwMode="gray">
          <a:xfrm>
            <a:off x="2585884" y="436727"/>
            <a:ext cx="5447070" cy="2852473"/>
          </a:xfrm>
          <a:prstGeom prst="rect">
            <a:avLst/>
          </a:prstGeom>
          <a:solidFill>
            <a:schemeClr val="bg1"/>
          </a:solidFill>
          <a:ln w="19050" algn="ctr">
            <a:noFill/>
            <a:miter lim="800000"/>
            <a:headEnd/>
            <a:tailEnd/>
          </a:ln>
        </p:spPr>
        <p:txBody>
          <a:bodyPr wrap="square" lIns="0" tIns="0" rIns="0" bIns="88900" rtlCol="0" anchor="t" anchorCtr="0"/>
          <a:lstStyle/>
          <a:p>
            <a:pPr marL="0" marR="0" lvl="0" indent="0" algn="ctr" defTabSz="914400" rtl="0" eaLnBrk="1" fontAlgn="auto" latinLnBrk="0" hangingPunct="1">
              <a:lnSpc>
                <a:spcPct val="100000"/>
              </a:lnSpc>
              <a:spcBef>
                <a:spcPts val="0"/>
              </a:spcBef>
              <a:spcAft>
                <a:spcPts val="60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2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If replied ‘Yes’ to updating fraud strategy or implementing new controls, what have they worked on?</a:t>
            </a:r>
          </a:p>
          <a:p>
            <a:pPr marL="171450" marR="0" lvl="0" indent="-171450" algn="l" defTabSz="914400" rtl="0" eaLnBrk="1" fontAlgn="auto" latinLnBrk="0" hangingPunct="1">
              <a:lnSpc>
                <a:spcPct val="110000"/>
              </a:lnSpc>
              <a:spcBef>
                <a:spcPts val="0"/>
              </a:spcBef>
              <a:spcAft>
                <a:spcPts val="0"/>
              </a:spcAft>
              <a:buClr>
                <a:srgbClr val="000000">
                  <a:lumMod val="75000"/>
                  <a:lumOff val="25000"/>
                </a:srgbClr>
              </a:buClr>
              <a:buSzTx/>
              <a:buFont typeface="Wingdings" panose="05000000000000000000" pitchFamily="2" charset="2"/>
              <a:buChar char="Ø"/>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rPr>
              <a:t>Know Your Agent and risk models</a:t>
            </a:r>
          </a:p>
          <a:p>
            <a:pPr marL="171450" marR="0" lvl="0" indent="-171450" algn="l" defTabSz="914400" rtl="0" eaLnBrk="1" fontAlgn="auto" latinLnBrk="0" hangingPunct="1">
              <a:lnSpc>
                <a:spcPct val="110000"/>
              </a:lnSpc>
              <a:spcBef>
                <a:spcPts val="0"/>
              </a:spcBef>
              <a:spcAft>
                <a:spcPts val="0"/>
              </a:spcAft>
              <a:buClr>
                <a:srgbClr val="000000">
                  <a:lumMod val="75000"/>
                  <a:lumOff val="25000"/>
                </a:srgbClr>
              </a:buClr>
              <a:buSzTx/>
              <a:buFont typeface="Wingdings" panose="05000000000000000000" pitchFamily="2" charset="2"/>
              <a:buChar char="Ø"/>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rPr>
              <a:t>Penetration testing </a:t>
            </a:r>
          </a:p>
          <a:p>
            <a:pPr marL="171450" marR="0" lvl="0" indent="-171450" algn="l" defTabSz="914400" rtl="0" eaLnBrk="1" fontAlgn="auto" latinLnBrk="0" hangingPunct="1">
              <a:lnSpc>
                <a:spcPct val="110000"/>
              </a:lnSpc>
              <a:spcBef>
                <a:spcPts val="0"/>
              </a:spcBef>
              <a:spcAft>
                <a:spcPts val="0"/>
              </a:spcAft>
              <a:buClr>
                <a:srgbClr val="000000">
                  <a:lumMod val="75000"/>
                  <a:lumOff val="25000"/>
                </a:srgbClr>
              </a:buClr>
              <a:buSzTx/>
              <a:buFont typeface="Wingdings" panose="05000000000000000000" pitchFamily="2" charset="2"/>
              <a:buChar char="Ø"/>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rPr>
              <a:t>Multilevel authentication </a:t>
            </a:r>
          </a:p>
          <a:p>
            <a:pPr marL="171450" marR="0" lvl="0" indent="-171450" algn="l" defTabSz="914400" rtl="0" eaLnBrk="1" fontAlgn="auto" latinLnBrk="0" hangingPunct="1">
              <a:lnSpc>
                <a:spcPct val="110000"/>
              </a:lnSpc>
              <a:spcBef>
                <a:spcPts val="0"/>
              </a:spcBef>
              <a:spcAft>
                <a:spcPts val="0"/>
              </a:spcAft>
              <a:buClr>
                <a:srgbClr val="000000">
                  <a:lumMod val="75000"/>
                  <a:lumOff val="25000"/>
                </a:srgbClr>
              </a:buClr>
              <a:buSzTx/>
              <a:buFont typeface="Wingdings" panose="05000000000000000000" pitchFamily="2" charset="2"/>
              <a:buChar char="Ø"/>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rPr>
              <a:t>Adoption of industry best-practices</a:t>
            </a:r>
          </a:p>
          <a:p>
            <a:pPr marL="171450" marR="0" lvl="0" indent="-171450" algn="l" defTabSz="914400" rtl="0" eaLnBrk="1" fontAlgn="auto" latinLnBrk="0" hangingPunct="1">
              <a:lnSpc>
                <a:spcPct val="110000"/>
              </a:lnSpc>
              <a:spcBef>
                <a:spcPts val="0"/>
              </a:spcBef>
              <a:spcAft>
                <a:spcPts val="0"/>
              </a:spcAft>
              <a:buClr>
                <a:srgbClr val="000000">
                  <a:lumMod val="75000"/>
                  <a:lumOff val="25000"/>
                </a:srgbClr>
              </a:buClr>
              <a:buSzTx/>
              <a:buFont typeface="Wingdings" panose="05000000000000000000" pitchFamily="2" charset="2"/>
              <a:buChar char="Ø"/>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rPr>
              <a:t>Development of internal tool/procedures</a:t>
            </a:r>
          </a:p>
          <a:p>
            <a:pPr marL="171450" marR="0" lvl="0" indent="-171450" algn="l" defTabSz="914400" rtl="0" eaLnBrk="1" fontAlgn="auto" latinLnBrk="0" hangingPunct="1">
              <a:lnSpc>
                <a:spcPct val="110000"/>
              </a:lnSpc>
              <a:spcBef>
                <a:spcPts val="0"/>
              </a:spcBef>
              <a:spcAft>
                <a:spcPts val="0"/>
              </a:spcAft>
              <a:buClr>
                <a:srgbClr val="000000">
                  <a:lumMod val="75000"/>
                  <a:lumOff val="25000"/>
                </a:srgbClr>
              </a:buClr>
              <a:buSzTx/>
              <a:buFont typeface="Wingdings" panose="05000000000000000000" pitchFamily="2" charset="2"/>
              <a:buChar char="Ø"/>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rPr>
              <a:t>Controls focusing on AI for internal audit programs</a:t>
            </a:r>
          </a:p>
          <a:p>
            <a:pPr marL="171450" marR="0" lvl="0" indent="-171450" algn="l" defTabSz="914400" rtl="0" eaLnBrk="1" fontAlgn="auto" latinLnBrk="0" hangingPunct="1">
              <a:lnSpc>
                <a:spcPct val="110000"/>
              </a:lnSpc>
              <a:spcBef>
                <a:spcPts val="0"/>
              </a:spcBef>
              <a:spcAft>
                <a:spcPts val="0"/>
              </a:spcAft>
              <a:buClr>
                <a:srgbClr val="000000">
                  <a:lumMod val="75000"/>
                  <a:lumOff val="25000"/>
                </a:srgbClr>
              </a:buClr>
              <a:buSzTx/>
              <a:buFont typeface="Wingdings" panose="05000000000000000000" pitchFamily="2" charset="2"/>
              <a:buChar char="Ø"/>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rPr>
              <a:t>AI detection tools (e.g., adaptive AI, behavioral analytics, real-time threat orchestration)</a:t>
            </a:r>
          </a:p>
          <a:p>
            <a:pPr marL="171450" marR="0" lvl="0" indent="-171450" algn="l" defTabSz="914400" rtl="0" eaLnBrk="1" fontAlgn="auto" latinLnBrk="0" hangingPunct="1">
              <a:lnSpc>
                <a:spcPct val="110000"/>
              </a:lnSpc>
              <a:spcBef>
                <a:spcPts val="0"/>
              </a:spcBef>
              <a:spcAft>
                <a:spcPts val="0"/>
              </a:spcAft>
              <a:buClr>
                <a:srgbClr val="000000">
                  <a:lumMod val="75000"/>
                  <a:lumOff val="25000"/>
                </a:srgbClr>
              </a:buClr>
              <a:buSzTx/>
              <a:buFont typeface="Wingdings" panose="05000000000000000000" pitchFamily="2" charset="2"/>
              <a:buChar char="Ø"/>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rPr>
              <a:t>Inclusion of data use for AI in contracting language</a:t>
            </a:r>
          </a:p>
          <a:p>
            <a:pPr marL="171450" marR="0" lvl="0" indent="-171450" algn="l" defTabSz="914400" rtl="0" eaLnBrk="1" fontAlgn="auto" latinLnBrk="0" hangingPunct="1">
              <a:lnSpc>
                <a:spcPct val="110000"/>
              </a:lnSpc>
              <a:spcBef>
                <a:spcPts val="0"/>
              </a:spcBef>
              <a:spcAft>
                <a:spcPts val="0"/>
              </a:spcAft>
              <a:buClr>
                <a:srgbClr val="000000">
                  <a:lumMod val="75000"/>
                  <a:lumOff val="25000"/>
                </a:srgbClr>
              </a:buClr>
              <a:buSzTx/>
              <a:buFont typeface="Wingdings" panose="05000000000000000000" pitchFamily="2" charset="2"/>
              <a:buChar char="Ø"/>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rPr>
              <a:t>Reduction of human involvement for making fraud decisions</a:t>
            </a:r>
          </a:p>
          <a:p>
            <a:pPr marL="171450" marR="0" lvl="0" indent="-171450" algn="l" defTabSz="914400" rtl="0" eaLnBrk="1" fontAlgn="auto" latinLnBrk="0" hangingPunct="1">
              <a:lnSpc>
                <a:spcPct val="110000"/>
              </a:lnSpc>
              <a:spcBef>
                <a:spcPts val="0"/>
              </a:spcBef>
              <a:spcAft>
                <a:spcPts val="0"/>
              </a:spcAft>
              <a:buClr>
                <a:srgbClr val="000000">
                  <a:lumMod val="75000"/>
                  <a:lumOff val="25000"/>
                </a:srgbClr>
              </a:buClr>
              <a:buSzTx/>
              <a:buFont typeface="Wingdings" panose="05000000000000000000" pitchFamily="2" charset="2"/>
              <a:buChar char="Ø"/>
              <a:tabLst/>
              <a:defRPr sz="1400" b="0" i="0" u="none" strike="noStrike" kern="1200" spc="0" baseline="0">
                <a:solidFill>
                  <a:prstClr val="black">
                    <a:lumMod val="65000"/>
                    <a:lumOff val="35000"/>
                  </a:prstClr>
                </a:solidFill>
                <a:latin typeface="+mn-lt"/>
                <a:ea typeface="+mn-ea"/>
                <a:cs typeface="+mn-cs"/>
              </a:defRPr>
            </a:pPr>
            <a:r>
              <a:rPr kumimoji="0" lang="en-US" sz="1200" b="0" i="0" u="none" strike="noStrike" kern="1200" cap="none" spc="0" normalizeH="0" baseline="0" noProof="0">
                <a:ln>
                  <a:noFill/>
                </a:ln>
                <a:solidFill>
                  <a:prstClr val="black">
                    <a:lumMod val="65000"/>
                    <a:lumOff val="35000"/>
                  </a:prstClr>
                </a:solidFill>
                <a:effectLst/>
                <a:uLnTx/>
                <a:uFillTx/>
                <a:latin typeface="Segoe UI" panose="020B0502040204020203" pitchFamily="34" charset="0"/>
                <a:cs typeface="Segoe UI" panose="020B0502040204020203" pitchFamily="34" charset="0"/>
                <a:sym typeface="Arial"/>
              </a:rPr>
              <a:t>Fortification of email and mobile security</a:t>
            </a:r>
          </a:p>
        </p:txBody>
      </p:sp>
      <p:graphicFrame>
        <p:nvGraphicFramePr>
          <p:cNvPr id="11" name="Chart 10">
            <a:extLst>
              <a:ext uri="{FF2B5EF4-FFF2-40B4-BE49-F238E27FC236}">
                <a16:creationId xmlns:a16="http://schemas.microsoft.com/office/drawing/2014/main" id="{01651C14-C7D4-C0F8-7395-8AF2B1036A81}"/>
              </a:ext>
            </a:extLst>
          </p:cNvPr>
          <p:cNvGraphicFramePr>
            <a:graphicFrameLocks/>
          </p:cNvGraphicFramePr>
          <p:nvPr/>
        </p:nvGraphicFramePr>
        <p:xfrm>
          <a:off x="8236942" y="3744601"/>
          <a:ext cx="3655960" cy="2811238"/>
        </p:xfrm>
        <a:graphic>
          <a:graphicData uri="http://schemas.openxmlformats.org/drawingml/2006/chart">
            <c:chart xmlns:c="http://schemas.openxmlformats.org/drawingml/2006/chart" xmlns:r="http://schemas.openxmlformats.org/officeDocument/2006/relationships" r:id="rId8"/>
          </a:graphicData>
        </a:graphic>
      </p:graphicFrame>
      <p:sp>
        <p:nvSpPr>
          <p:cNvPr id="12" name="Rectangle 11">
            <a:extLst>
              <a:ext uri="{FF2B5EF4-FFF2-40B4-BE49-F238E27FC236}">
                <a16:creationId xmlns:a16="http://schemas.microsoft.com/office/drawing/2014/main" id="{0F0ECDC1-F770-6BD3-D79F-259DC4C05D33}"/>
              </a:ext>
            </a:extLst>
          </p:cNvPr>
          <p:cNvSpPr/>
          <p:nvPr/>
        </p:nvSpPr>
        <p:spPr bwMode="gray">
          <a:xfrm>
            <a:off x="8236942" y="3391723"/>
            <a:ext cx="3655959" cy="592837"/>
          </a:xfrm>
          <a:prstGeom prst="rect">
            <a:avLst/>
          </a:prstGeom>
          <a:noFill/>
          <a:ln w="19050" algn="ctr">
            <a:noFill/>
            <a:miter lim="800000"/>
            <a:headEnd/>
            <a:tailEnd/>
          </a:ln>
        </p:spPr>
        <p:txBody>
          <a:bodyPr wrap="square" lIns="182880" tIns="0" rIns="182880" bIns="88900" rtlCol="0" anchor="t"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sz="1400" b="0" i="0" u="none" strike="noStrike" kern="1200" spc="0" baseline="0">
                <a:solidFill>
                  <a:prstClr val="black">
                    <a:lumMod val="65000"/>
                    <a:lumOff val="35000"/>
                  </a:prstClr>
                </a:solidFill>
                <a:latin typeface="+mn-lt"/>
                <a:ea typeface="+mn-ea"/>
                <a:cs typeface="+mn-cs"/>
              </a:defRPr>
            </a:pPr>
            <a:r>
              <a:rPr kumimoji="0" lang="en-US" sz="12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cs typeface="Segoe UI" panose="020B0502040204020203" pitchFamily="34" charset="0"/>
                <a:sym typeface="Arial"/>
              </a:rPr>
              <a:t>Merchants currently using or considering using agentic AI in customer-facing channels</a:t>
            </a:r>
          </a:p>
        </p:txBody>
      </p:sp>
      <p:sp>
        <p:nvSpPr>
          <p:cNvPr id="13" name="Rectangle 12">
            <a:extLst>
              <a:ext uri="{FF2B5EF4-FFF2-40B4-BE49-F238E27FC236}">
                <a16:creationId xmlns:a16="http://schemas.microsoft.com/office/drawing/2014/main" id="{B45B810D-6719-1EC3-D5AC-74633D9D2F6C}"/>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RESULTS OF 2025 DELOITTE SURVEY ON AI-ENABLED FRAUD IN RETAIL (CONT’D.)</a:t>
            </a:r>
          </a:p>
        </p:txBody>
      </p:sp>
    </p:spTree>
    <p:extLst>
      <p:ext uri="{BB962C8B-B14F-4D97-AF65-F5344CB8AC3E}">
        <p14:creationId xmlns:p14="http://schemas.microsoft.com/office/powerpoint/2010/main" val="140546745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3"/>
</p:tagLst>
</file>

<file path=ppt/tags/tag2.xml><?xml version="1.0" encoding="utf-8"?>
<p:tagLst xmlns:a="http://schemas.openxmlformats.org/drawingml/2006/main" xmlns:r="http://schemas.openxmlformats.org/officeDocument/2006/relationships" xmlns:p="http://schemas.openxmlformats.org/presentationml/2006/main">
  <p:tag name="NUM" val="4"/>
</p:tagLst>
</file>

<file path=ppt/tags/tag3.xml><?xml version="1.0" encoding="utf-8"?>
<p:tagLst xmlns:a="http://schemas.openxmlformats.org/drawingml/2006/main" xmlns:r="http://schemas.openxmlformats.org/officeDocument/2006/relationships" xmlns:p="http://schemas.openxmlformats.org/presentationml/2006/main">
  <p:tag name="NUM" val="6"/>
</p:tagLst>
</file>

<file path=ppt/tags/tag4.xml><?xml version="1.0" encoding="utf-8"?>
<p:tagLst xmlns:a="http://schemas.openxmlformats.org/drawingml/2006/main" xmlns:r="http://schemas.openxmlformats.org/officeDocument/2006/relationships" xmlns:p="http://schemas.openxmlformats.org/presentationml/2006/main">
  <p:tag name="POWER_USER_POWER_POINT_EXCEL_LINK_TAG_NAME" val="{&quot;Id&quot;:&quot;POWER_USER_LINK_979C92F4_DF95_4635_82E3_79B000E44A6F&quot;,&quot;SourceFullName&quot;:&quot;https://candeloitte.sharepoint.com/sites/FraudPursuitsResearch/Shared Documents/General/Riskified x Deloitte Partnership/Deloitte x Riskified - Agentic AI POV/GLG Survey/Survey Raw Data _ Use for long form text answers.&quot;,&quot;LastUpdate&quot;:&quot;2025-11-26 4:56 PM&quot;,&quot;UpdatedBy&quot;:&quot;dpai&quot;,&quot;IsLinked&quot;:false,&quot;IsBrokenLink&quot;:false,&quot;Type&quot;:1,&quot;ShapeId&quot;:0,&quot;WorksheetName&quot;:null}"/>
</p:tagLst>
</file>

<file path=ppt/tags/tag5.xml><?xml version="1.0" encoding="utf-8"?>
<p:tagLst xmlns:a="http://schemas.openxmlformats.org/drawingml/2006/main" xmlns:r="http://schemas.openxmlformats.org/officeDocument/2006/relationships" xmlns:p="http://schemas.openxmlformats.org/presentationml/2006/main">
  <p:tag name="POWER_USER_POWER_POINT_EXCEL_LINK_TAG_NAME" val="{&quot;Id&quot;:&quot;POWER_USER_LINK_A5F465AE_20AC_4DCE_8A0B_C5675F6B4AC6&quot;,&quot;SourceFullName&quot;:&quot;https://candeloitte.sharepoint.com/sites/FraudPursuitsResearch/Shared Documents/General/Riskified x Deloitte Partnership/Deloitte x Riskified - Agentic AI POV/GLG Survey/Crosstab export.xlsx&quot;,&quot;LastUpdate&quot;:&quot;2025-11-26 12:32 PM&quot;,&quot;UpdatedBy&quot;:&quot;dpai&quot;,&quot;IsLinked&quot;:false,&quot;IsBrokenLink&quot;:false,&quot;Type&quot;:1,&quot;ShapeId&quot;:0,&quot;WorksheetName&quot;:null}"/>
</p:tagLst>
</file>

<file path=ppt/theme/theme1.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Custom 2">
      <a:dk1>
        <a:srgbClr val="000000"/>
      </a:dk1>
      <a:lt1>
        <a:srgbClr val="FFFFFF"/>
      </a:lt1>
      <a:dk2>
        <a:srgbClr val="000000"/>
      </a:dk2>
      <a:lt2>
        <a:srgbClr val="FFFFFF"/>
      </a:lt2>
      <a:accent1>
        <a:srgbClr val="86BC25"/>
      </a:accent1>
      <a:accent2>
        <a:srgbClr val="046A38"/>
      </a:accent2>
      <a:accent3>
        <a:srgbClr val="134406"/>
      </a:accent3>
      <a:accent4>
        <a:srgbClr val="43B02A"/>
      </a:accent4>
      <a:accent5>
        <a:srgbClr val="0D8390"/>
      </a:accent5>
      <a:accent6>
        <a:srgbClr val="007CB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4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a60d57e-af5b-4752-ac57-3e4f28ca11dc}" enabled="1" method="Privileged" siteId="{36da45f1-dd2c-4d1f-af13-5abe46b99921}" removed="0"/>
</clbl:labelList>
</file>

<file path=docProps/app.xml><?xml version="1.0" encoding="utf-8"?>
<Properties xmlns="http://schemas.openxmlformats.org/officeDocument/2006/extended-properties" xmlns:vt="http://schemas.openxmlformats.org/officeDocument/2006/docPropsVTypes">
  <TotalTime>5442</TotalTime>
  <Words>6684</Words>
  <Application>Microsoft Office PowerPoint</Application>
  <PresentationFormat>Widescreen</PresentationFormat>
  <Paragraphs>611</Paragraphs>
  <Slides>50</Slides>
  <Notes>46</Notes>
  <HiddenSlides>5</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50</vt:i4>
      </vt:variant>
    </vt:vector>
  </HeadingPairs>
  <TitlesOfParts>
    <vt:vector size="62" baseType="lpstr">
      <vt:lpstr>Aptos</vt:lpstr>
      <vt:lpstr>Arial</vt:lpstr>
      <vt:lpstr>Calibri</vt:lpstr>
      <vt:lpstr>IBM Plex Mono</vt:lpstr>
      <vt:lpstr>Open Sans</vt:lpstr>
      <vt:lpstr>Segoe UI</vt:lpstr>
      <vt:lpstr>Wingdings</vt:lpstr>
      <vt:lpstr>Wingdings 2</vt:lpstr>
      <vt:lpstr>3_Office Theme</vt:lpstr>
      <vt:lpstr>Office Theme</vt:lpstr>
      <vt:lpstr>4_Office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 David</dc:creator>
  <cp:lastModifiedBy>Lin, David</cp:lastModifiedBy>
  <cp:revision>24</cp:revision>
  <dcterms:created xsi:type="dcterms:W3CDTF">2026-10-14T23:00:31Z</dcterms:created>
  <dcterms:modified xsi:type="dcterms:W3CDTF">2026-10-18T02:58:08Z</dcterms:modified>
</cp:coreProperties>
</file>