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6.xml" ContentType="application/vnd.openxmlformats-officedocument.drawingml.chart+xml"/>
  <Override PartName="/ppt/charts/chart4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65.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6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6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8.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69.xml" ContentType="application/vnd.openxmlformats-officedocument.drawingml.chart+xml"/>
  <Override PartName="/ppt/charts/chart7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7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72.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73.xml" ContentType="application/vnd.openxmlformats-officedocument.drawingml.chart+xml"/>
  <Override PartName="/ppt/charts/chart74.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75.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76.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77.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78.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79.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0.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charts/chart81.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82.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Relationships xmlns="http://schemas.openxmlformats.org/package/2006/relationships"><Relationship Id="rId1" Type="http://schemas.openxmlformats.org/officeDocument/2006/relationships/package" Target="../embeddings/Microsoft_Excel_Worksheet8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 (n=40)</c:v>
                  </c:pt>
                  <c:pt idx="1">
                    <c:v>Large Financial Institution — outside Top 100; &gt;20,000 FTE (n=35)</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 (n=34)</c:v>
                  </c:pt>
                  <c:pt idx="1">
                    <c:v>Canada (n=18)</c:v>
                  </c:pt>
                  <c:pt idx="2">
                    <c:v>Europe — EU + UK (n=12)</c:v>
                  </c:pt>
                  <c:pt idx="3">
                    <c:v>Australia (n=7)</c:v>
                  </c:pt>
                  <c:pt idx="4">
                    <c:v>Singapore (n=4)</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Sheet1!$B$2:$B$3</c:f>
              <c:numCache>
                <c:formatCode>General</c:formatCode>
                <c:ptCount val="2"/>
                <c:pt idx="0">
                  <c:v>35</c:v>
                </c:pt>
                <c:pt idx="1">
                  <c:v>57</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Sheet1!$C$2:$C$3</c:f>
              <c:numCache>
                <c:formatCode>General</c:formatCode>
                <c:ptCount val="2"/>
                <c:pt idx="0">
                  <c:v>32</c:v>
                </c:pt>
                <c:pt idx="1">
                  <c:v>14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Sheet1!$D$2:$D$3</c:f>
              <c:numCache>
                <c:formatCode>General</c:formatCode>
                <c:ptCount val="2"/>
                <c:pt idx="0">
                  <c:v>18</c:v>
                </c:pt>
                <c:pt idx="1">
                  <c:v>14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Sheet1!$E$2:$E$3</c:f>
              <c:numCache>
                <c:formatCode>General</c:formatCode>
                <c:ptCount val="2"/>
                <c:pt idx="0">
                  <c:v>10</c:v>
                </c:pt>
                <c:pt idx="1">
                  <c:v>9</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Sheet1!$F$2:$F$3</c:f>
              <c:numCache>
                <c:formatCode>General</c:formatCode>
                <c:ptCount val="2"/>
                <c:pt idx="0">
                  <c:v>5</c:v>
                </c:pt>
                <c:pt idx="1">
                  <c:v>6</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 (n=15)</c:v>
                  </c:pt>
                  <c:pt idx="1">
                    <c:v>Large Insurance Carrier — outside Top 100; &gt;15,000 FTE (n=10)</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 (n=10)</c:v>
                  </c:pt>
                  <c:pt idx="1">
                    <c:v>Canada (n=12)</c:v>
                  </c:pt>
                  <c:pt idx="2">
                    <c:v>Europe — EU + UK (n=2)</c:v>
                  </c:pt>
                  <c:pt idx="3">
                    <c:v>Australia (n=1)</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Sheet1!$B$2:$B$3</c:f>
              <c:numCache>
                <c:formatCode>General</c:formatCode>
                <c:ptCount val="2"/>
                <c:pt idx="0">
                  <c:v>47</c:v>
                </c:pt>
                <c:pt idx="1">
                  <c:v>30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Sheet1!$C$2:$C$3</c:f>
              <c:numCache>
                <c:formatCode>General</c:formatCode>
                <c:ptCount val="2"/>
                <c:pt idx="0">
                  <c:v>40</c:v>
                </c:pt>
                <c:pt idx="1">
                  <c:v>60</c:v>
                </c:pt>
              </c:numCache>
            </c:numRef>
          </c:val>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Sheet1!$D$2:$D$3</c:f>
              <c:numCache>
                <c:formatCode>General</c:formatCode>
                <c:ptCount val="2"/>
                <c:pt idx="0">
                  <c:v>7</c:v>
                </c:pt>
                <c:pt idx="1">
                  <c:v>10</c:v>
                </c:pt>
              </c:numCache>
            </c:numRef>
          </c:val>
        </c:ser>
        <c:ser>
          <c:idx val="3"/>
          <c:order val="3"/>
          <c:tx>
            <c:strRef>
              <c:f>Sheet1!$E$1</c:f>
              <c:strCache>
                <c:ptCount val="1"/>
                <c:pt idx="0">
                  <c:v>Australia</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Sheet1!$E$2:$E$3</c:f>
              <c:numCache>
                <c:formatCode>General</c:formatCode>
                <c:ptCount val="2"/>
                <c:pt idx="0">
                  <c:v>7</c:v>
                </c:pt>
                <c:pt idx="1">
                  <c:v>0</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80</c:v>
                </c:pt>
                <c:pt idx="2">
                  <c:v>66</c:v>
                </c:pt>
                <c:pt idx="3">
                  <c:v>36</c:v>
                </c:pt>
                <c:pt idx="4">
                  <c:v>16</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63</c:v>
                </c:pt>
                <c:pt idx="2">
                  <c:v>57</c:v>
                </c:pt>
                <c:pt idx="3">
                  <c:v>30</c:v>
                </c:pt>
                <c:pt idx="4">
                  <c:v>33</c:v>
                </c:pt>
                <c:pt idx="5">
                  <c:v>37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64</c:v>
                </c:pt>
                <c:pt idx="2">
                  <c:v>57</c:v>
                </c:pt>
                <c:pt idx="3">
                  <c:v>43</c:v>
                </c:pt>
                <c:pt idx="4">
                  <c:v>50</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75</c:v>
                </c:pt>
                <c:pt idx="1">
                  <c:v>100</c:v>
                </c:pt>
                <c:pt idx="2">
                  <c:v>50</c:v>
                </c:pt>
                <c:pt idx="3">
                  <c:v>50</c:v>
                </c:pt>
                <c:pt idx="4">
                  <c:v>12</c:v>
                </c:pt>
                <c:pt idx="5">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74</c:v>
                </c:pt>
                <c:pt idx="1">
                  <c:v>74</c:v>
                </c:pt>
                <c:pt idx="2">
                  <c:v>74</c:v>
                </c:pt>
                <c:pt idx="3">
                  <c:v>35</c:v>
                </c:pt>
                <c:pt idx="4">
                  <c:v>18</c:v>
                </c:pt>
                <c:pt idx="5">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72</c:v>
                </c:pt>
                <c:pt idx="1">
                  <c:v>72</c:v>
                </c:pt>
                <c:pt idx="2">
                  <c:v>61</c:v>
                </c:pt>
                <c:pt idx="3">
                  <c:v>28</c:v>
                </c:pt>
                <c:pt idx="4">
                  <c:v>39</c:v>
                </c:pt>
                <c:pt idx="5">
                  <c:v>28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67</c:v>
                </c:pt>
                <c:pt idx="1">
                  <c:v>67</c:v>
                </c:pt>
                <c:pt idx="2">
                  <c:v>58</c:v>
                </c:pt>
                <c:pt idx="3">
                  <c:v>42</c:v>
                </c:pt>
                <c:pt idx="4">
                  <c:v>58</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100</c:v>
                </c:pt>
                <c:pt idx="2">
                  <c:v>43</c:v>
                </c:pt>
                <c:pt idx="3">
                  <c:v>57</c:v>
                </c:pt>
                <c:pt idx="4">
                  <c:v>14</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90</c:v>
                </c:pt>
                <c:pt idx="1">
                  <c:v>100</c:v>
                </c:pt>
                <c:pt idx="2">
                  <c:v>40</c:v>
                </c:pt>
                <c:pt idx="3">
                  <c:v>40</c:v>
                </c:pt>
                <c:pt idx="4">
                  <c:v>10</c:v>
                </c:pt>
                <c:pt idx="5">
                  <c:v>20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83</c:v>
                </c:pt>
                <c:pt idx="1">
                  <c:v>50</c:v>
                </c:pt>
                <c:pt idx="2">
                  <c:v>50</c:v>
                </c:pt>
                <c:pt idx="3">
                  <c:v>33</c:v>
                </c:pt>
                <c:pt idx="4">
                  <c:v>25</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50</c:v>
                </c:pt>
                <c:pt idx="4">
                  <c:v>0</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100</c:v>
                </c:pt>
                <c:pt idx="2">
                  <c:v>100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39</c:v>
                </c:pt>
                <c:pt idx="1">
                  <c:v>25</c:v>
                </c:pt>
                <c:pt idx="2">
                  <c:v>12</c:v>
                </c:pt>
                <c:pt idx="3">
                  <c:v>12</c:v>
                </c:pt>
                <c:pt idx="4">
                  <c:v>8</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Sheet1!$C$2:$C$7</c:f>
              <c:numCache>
                <c:formatCode>General</c:formatCode>
                <c:ptCount val="6"/>
                <c:pt idx="0">
                  <c:v>24</c:v>
                </c:pt>
                <c:pt idx="1">
                  <c:v>28</c:v>
                </c:pt>
                <c:pt idx="2">
                  <c:v>20</c:v>
                </c:pt>
                <c:pt idx="3">
                  <c:v>16</c:v>
                </c:pt>
                <c:pt idx="4">
                  <c:v>12</c:v>
                </c:pt>
                <c:pt idx="5">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16</c:v>
                </c:pt>
                <c:pt idx="2">
                  <c:v>18</c:v>
                </c:pt>
                <c:pt idx="3">
                  <c:v>20</c:v>
                </c:pt>
                <c:pt idx="4">
                  <c:v>5</c:v>
                </c:pt>
                <c:pt idx="5">
                  <c:v>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33</c:v>
                </c:pt>
                <c:pt idx="1">
                  <c:v>40</c:v>
                </c:pt>
                <c:pt idx="2">
                  <c:v>7</c:v>
                </c:pt>
                <c:pt idx="3">
                  <c:v>7</c:v>
                </c:pt>
                <c:pt idx="4">
                  <c:v>13</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29</c:v>
                </c:pt>
                <c:pt idx="2">
                  <c:v>14</c:v>
                </c:pt>
                <c:pt idx="3">
                  <c:v>7</c:v>
                </c:pt>
                <c:pt idx="4">
                  <c:v>7</c:v>
                </c:pt>
                <c:pt idx="5">
                  <c:v>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38</c:v>
                </c:pt>
                <c:pt idx="2">
                  <c:v>0</c:v>
                </c:pt>
                <c:pt idx="3">
                  <c:v>12</c:v>
                </c:pt>
                <c:pt idx="4">
                  <c:v>25</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38</c:v>
                </c:pt>
                <c:pt idx="1">
                  <c:v>18</c:v>
                </c:pt>
                <c:pt idx="2">
                  <c:v>15</c:v>
                </c:pt>
                <c:pt idx="3">
                  <c:v>21</c:v>
                </c:pt>
                <c:pt idx="4">
                  <c:v>3</c:v>
                </c:pt>
                <c:pt idx="5">
                  <c:v>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39</c:v>
                </c:pt>
                <c:pt idx="1">
                  <c:v>39</c:v>
                </c:pt>
                <c:pt idx="2">
                  <c:v>0</c:v>
                </c:pt>
                <c:pt idx="3">
                  <c:v>6</c:v>
                </c:pt>
                <c:pt idx="4">
                  <c:v>17</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42</c:v>
                </c:pt>
                <c:pt idx="1">
                  <c:v>33</c:v>
                </c:pt>
                <c:pt idx="2">
                  <c:v>17</c:v>
                </c:pt>
                <c:pt idx="3">
                  <c:v>0</c:v>
                </c:pt>
                <c:pt idx="4">
                  <c:v>0</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29</c:v>
                </c:pt>
                <c:pt idx="1">
                  <c:v>29</c:v>
                </c:pt>
                <c:pt idx="2">
                  <c:v>0</c:v>
                </c:pt>
                <c:pt idx="3">
                  <c:v>14</c:v>
                </c:pt>
                <c:pt idx="4">
                  <c:v>29</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30</c:v>
                </c:pt>
                <c:pt idx="1">
                  <c:v>10</c:v>
                </c:pt>
                <c:pt idx="2">
                  <c:v>30</c:v>
                </c:pt>
                <c:pt idx="3">
                  <c:v>20</c:v>
                </c:pt>
                <c:pt idx="4">
                  <c:v>10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42</c:v>
                </c:pt>
                <c:pt idx="2">
                  <c:v>17</c:v>
                </c:pt>
                <c:pt idx="3">
                  <c:v>8</c:v>
                </c:pt>
                <c:pt idx="4">
                  <c:v>8</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0</c:v>
                </c:pt>
                <c:pt idx="2">
                  <c:v>0</c:v>
                </c:pt>
                <c:pt idx="3">
                  <c:v>50</c:v>
                </c:pt>
                <c:pt idx="4">
                  <c:v>50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100</c:v>
                </c:pt>
                <c:pt idx="2">
                  <c:v>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27</c:v>
                </c:pt>
                <c:pt idx="1">
                  <c:v>30</c:v>
                </c:pt>
                <c:pt idx="2">
                  <c:v>25</c:v>
                </c:pt>
                <c:pt idx="3">
                  <c:v>16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33</c:v>
                </c:pt>
                <c:pt idx="1">
                  <c:v>27</c:v>
                </c:pt>
                <c:pt idx="2">
                  <c:v>17</c:v>
                </c:pt>
                <c:pt idx="3">
                  <c:v>23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36</c:v>
                </c:pt>
                <c:pt idx="1">
                  <c:v>21</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38</c:v>
                </c:pt>
                <c:pt idx="3">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29</c:v>
                </c:pt>
                <c:pt idx="1">
                  <c:v>26</c:v>
                </c:pt>
                <c:pt idx="2">
                  <c:v>24</c:v>
                </c:pt>
                <c:pt idx="3">
                  <c:v>18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39</c:v>
                </c:pt>
                <c:pt idx="1">
                  <c:v>28</c:v>
                </c:pt>
                <c:pt idx="2">
                  <c:v>17</c:v>
                </c:pt>
                <c:pt idx="3">
                  <c:v>17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42</c:v>
                </c:pt>
                <c:pt idx="1">
                  <c:v>17</c:v>
                </c:pt>
                <c:pt idx="2">
                  <c:v>33</c:v>
                </c:pt>
                <c:pt idx="3">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29</c:v>
                </c:pt>
                <c:pt idx="1">
                  <c:v>29</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20</c:v>
                </c:pt>
                <c:pt idx="1">
                  <c:v>40</c:v>
                </c:pt>
                <c:pt idx="2">
                  <c:v>30</c:v>
                </c:pt>
                <c:pt idx="3">
                  <c:v>10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17</c:v>
                </c:pt>
                <c:pt idx="3">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0</c:v>
                </c:pt>
                <c:pt idx="1">
                  <c:v>50</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0</c:v>
                </c:pt>
                <c:pt idx="1">
                  <c:v>0</c:v>
                </c:pt>
                <c:pt idx="2">
                  <c:v>100</c:v>
                </c:pt>
                <c:pt idx="3">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n=40 / Top 50 Insurance n=15)</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(Banking n=35 / Insurance n=10)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Sheet1!$B$2:$B$7</c:f>
              <c:numCache>
                <c:formatCode>General</c:formatCode>
                <c:ptCount val="6"/>
                <c:pt idx="0">
                  <c:v>33</c:v>
                </c:pt>
                <c:pt idx="1">
                  <c:v>32</c:v>
                </c:pt>
                <c:pt idx="2">
                  <c:v>25</c:v>
                </c:pt>
                <c:pt idx="3">
                  <c:v>18</c:v>
                </c:pt>
                <c:pt idx="4">
                  <c:v>16</c:v>
                </c:pt>
                <c:pt idx="5">
                  <c:v>8</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Sheet1!$C$2:$C$7</c:f>
              <c:numCache>
                <c:formatCode>General</c:formatCode>
                <c:ptCount val="6"/>
                <c:pt idx="0">
                  <c:v>21</c:v>
                </c:pt>
                <c:pt idx="1">
                  <c:v>19</c:v>
                </c:pt>
                <c:pt idx="2">
                  <c:v>22</c:v>
                </c:pt>
                <c:pt idx="3">
                  <c:v>6</c:v>
                </c:pt>
                <c:pt idx="4">
                  <c:v>8</c:v>
                </c:pt>
                <c:pt idx="5">
                  <c:v>14</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Sheet1!$D$2:$D$7</c:f>
              <c:numCache>
                <c:formatCode>General</c:formatCode>
                <c:ptCount val="6"/>
                <c:pt idx="0">
                  <c:v>8</c:v>
                </c:pt>
                <c:pt idx="1">
                  <c:v>9</c:v>
                </c:pt>
                <c:pt idx="2">
                  <c:v>9</c:v>
                </c:pt>
                <c:pt idx="3">
                  <c:v>7</c:v>
                </c:pt>
                <c:pt idx="4">
                  <c:v>5</c:v>
                </c:pt>
                <c:pt idx="5">
                  <c:v>4</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Sheet1!$E$2:$E$7</c:f>
              <c:numCache>
                <c:formatCode>General</c:formatCode>
                <c:ptCount val="6"/>
                <c:pt idx="0">
                  <c:v>6</c:v>
                </c:pt>
                <c:pt idx="1">
                  <c:v>4</c:v>
                </c:pt>
                <c:pt idx="2">
                  <c:v>5</c:v>
                </c:pt>
                <c:pt idx="3">
                  <c:v>3</c:v>
                </c:pt>
                <c:pt idx="4">
                  <c:v>3</c:v>
                </c:pt>
                <c:pt idx="5">
                  <c:v>3</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Sheet1!$F$2:$F$7</c:f>
              <c:numCache>
                <c:formatCode>General</c:formatCode>
                <c:ptCount val="6"/>
                <c:pt idx="0">
                  <c:v>3</c:v>
                </c:pt>
                <c:pt idx="1">
                  <c:v>2</c:v>
                </c:pt>
                <c:pt idx="2">
                  <c:v>4</c:v>
                </c:pt>
                <c:pt idx="3">
                  <c:v>2</c:v>
                </c:pt>
                <c:pt idx="4">
                  <c:v>1</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chart" Target="/ppt/charts/chart18.xml"/><Relationship Id="rId4" Type="http://schemas.openxmlformats.org/officeDocument/2006/relationships/chart" Target="/ppt/charts/chart19.xml"/><Relationship Id="rId5" Type="http://schemas.openxmlformats.org/officeDocument/2006/relationships/chart" Target="/ppt/charts/chart20.xml"/><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chart" Target="/ppt/charts/chart23.xml"/><Relationship Id="rId4" Type="http://schemas.openxmlformats.org/officeDocument/2006/relationships/chart" Target="/ppt/charts/chart24.xml"/><Relationship Id="rId5" Type="http://schemas.openxmlformats.org/officeDocument/2006/relationships/chart" Target="/ppt/charts/chart25.xml"/><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chart" Target="/ppt/charts/chart27.xml"/><Relationship Id="rId3" Type="http://schemas.openxmlformats.org/officeDocument/2006/relationships/chart" Target="/ppt/charts/chart28.xml"/><Relationship Id="rId4" Type="http://schemas.openxmlformats.org/officeDocument/2006/relationships/chart" Target="/ppt/charts/chart29.xml"/><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chart" Target="/ppt/charts/chart34.xml"/><Relationship Id="rId4" Type="http://schemas.openxmlformats.org/officeDocument/2006/relationships/chart" Target="/ppt/charts/chart35.xml"/><Relationship Id="rId5" Type="http://schemas.openxmlformats.org/officeDocument/2006/relationships/chart" Target="/ppt/charts/chart36.xml"/><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7.xml"/><Relationship Id="rId2" Type="http://schemas.openxmlformats.org/officeDocument/2006/relationships/chart" Target="/ppt/charts/chart38.xml"/><Relationship Id="rId3" Type="http://schemas.openxmlformats.org/officeDocument/2006/relationships/chart" Target="/ppt/charts/chart39.xml"/><Relationship Id="rId4" Type="http://schemas.openxmlformats.org/officeDocument/2006/relationships/chart" Target="/ppt/charts/chart40.xml"/><Relationship Id="rId5" Type="http://schemas.openxmlformats.org/officeDocument/2006/relationships/chart" Target="/ppt/charts/chart41.xml"/><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2.xml"/><Relationship Id="rId2" Type="http://schemas.openxmlformats.org/officeDocument/2006/relationships/chart" Target="/ppt/charts/chart43.xml"/><Relationship Id="rId3" Type="http://schemas.openxmlformats.org/officeDocument/2006/relationships/chart" Target="/ppt/charts/chart44.xml"/><Relationship Id="rId4" Type="http://schemas.openxmlformats.org/officeDocument/2006/relationships/chart" Target="/ppt/charts/chart45.xml"/><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6.xml"/><Relationship Id="rId2" Type="http://schemas.openxmlformats.org/officeDocument/2006/relationships/chart" Target="/ppt/charts/chart47.xml"/><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8.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0.xml"/><Relationship Id="rId2" Type="http://schemas.openxmlformats.org/officeDocument/2006/relationships/chart" Target="/ppt/charts/chart51.xml"/><Relationship Id="rId3" Type="http://schemas.openxmlformats.org/officeDocument/2006/relationships/chart" Target="/ppt/charts/chart52.xml"/><Relationship Id="rId4" Type="http://schemas.openxmlformats.org/officeDocument/2006/relationships/chart" Target="/ppt/charts/chart53.xml"/><Relationship Id="rId5" Type="http://schemas.openxmlformats.org/officeDocument/2006/relationships/chart" Target="/ppt/charts/chart54.xml"/><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55.xml"/><Relationship Id="rId2" Type="http://schemas.openxmlformats.org/officeDocument/2006/relationships/chart" Target="/ppt/charts/chart56.xml"/><Relationship Id="rId3" Type="http://schemas.openxmlformats.org/officeDocument/2006/relationships/chart" Target="/ppt/charts/chart57.xml"/><Relationship Id="rId4" Type="http://schemas.openxmlformats.org/officeDocument/2006/relationships/chart" Target="/ppt/charts/chart58.xml"/><Relationship Id="rId5" Type="http://schemas.openxmlformats.org/officeDocument/2006/relationships/chart" Target="/ppt/charts/chart59.xml"/><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60.xml"/><Relationship Id="rId2" Type="http://schemas.openxmlformats.org/officeDocument/2006/relationships/chart" Target="/ppt/charts/chart61.xml"/><Relationship Id="rId3" Type="http://schemas.openxmlformats.org/officeDocument/2006/relationships/chart" Target="/ppt/charts/chart62.xml"/><Relationship Id="rId4" Type="http://schemas.openxmlformats.org/officeDocument/2006/relationships/chart" Target="/ppt/charts/chart63.xml"/><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64.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65.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66.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6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68.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69.xml"/><Relationship Id="rId2" Type="http://schemas.openxmlformats.org/officeDocument/2006/relationships/chart" Target="/ppt/charts/chart70.xml"/><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7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72.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73.xml"/><Relationship Id="rId2" Type="http://schemas.openxmlformats.org/officeDocument/2006/relationships/chart" Target="/ppt/charts/chart74.xml"/><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75.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76.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77.xml"/><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78.xml"/><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79.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80.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81.xml"/><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82.xml"/><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are more evenly spread across regions; Large institutions are disproportionately U.S.-based.</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are almost entirely U.S. and Canada-based; Top 50 carriers carry the sample's thin UK and Australia representation.</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Legal/regulatory concern runs hottest in Australia; every market still names data quality among its top two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mix shifts by region: legal/regulatory concern peaks in Australia and data quality in Singapore, but both are thin cells.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cite legal/regulatory constraints almost universally; Canada spreads more evenly across all six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hardest on a centralized platform or utility; Insurance is more evenly split, with data standards ranking twice as high as it does for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leads in most markets, but Canada ties it with legal/regulatory reform and Singapore ties it with data standards.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and Canadian carriers split between platform infrastructure and legal reform; Europe and Australia's cells are too thin to generalize.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tops the list in Canada and Europe, but onboarding verification leads in Australia and oversight dominates in Singapore.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leads across most Banking markets, but Singapore banks lean hardest on third-party oversight instead.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lean on ongoing monitoring; Canadian carriers lean hardest on third-party oversight of any Insurance market.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Region sample sizes — Top 100: US n=14, Canada n=13, Europe n=7, Australia n=4, Singapore n=2. Large: US n=20, Canada n=5, Europe n=5, Australia n=3, Singapore n=2. Australia and Singapore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607161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0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08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Region sample sizes — Top 50: US n=7, Canada n=6, Europe n=1, Australia n=1. Large: US n=3, Canada n=6, Europe n=1 (no Australia; neither tier has Singapore respondents). Europe and Australia cells are extremely thin — each is a single UK/Australian respondent — shown for completeness, not statistical reliability.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71616"/>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36</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Canada stands out for prioritizing Open Banking well above its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 shown is each region's share of the full 100-respondent sample who placed the option anywhere in their top 3, so segments sum to the overall figure in each category label (bars don't sum to 100%).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50</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2026-09-28T02:56:32Z</dcterms:created>
  <dcterms:modified xsi:type="dcterms:W3CDTF">2026-09-28T02:56:32Z</dcterms:modified>
</cp:coreProperties>
</file>