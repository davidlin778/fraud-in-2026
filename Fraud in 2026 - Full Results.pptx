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2.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23.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Sheet1!$D$2:$D$13</c:f>
              <c:numCache>
                <c:formatCode>General</c:formatCode>
                <c:ptCount val="12"/>
                <c:pt idx="0">
                  <c:v>11</c:v>
                </c:pt>
                <c:pt idx="1">
                  <c:v>8</c:v>
                </c:pt>
                <c:pt idx="2">
                  <c:v>11</c:v>
                </c:pt>
                <c:pt idx="3">
                  <c:v>4</c:v>
                </c:pt>
                <c:pt idx="4">
                  <c:v>9</c:v>
                </c:pt>
                <c:pt idx="5">
                  <c:v>4</c:v>
                </c:pt>
                <c:pt idx="6">
                  <c:v>7</c:v>
                </c:pt>
                <c:pt idx="7">
                  <c:v>4</c:v>
                </c:pt>
                <c:pt idx="8">
                  <c:v>9</c:v>
                </c:pt>
                <c:pt idx="9">
                  <c:v>0</c:v>
                </c:pt>
                <c:pt idx="10">
                  <c:v>1</c:v>
                </c:pt>
                <c:pt idx="11">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Sheet1!$E$2:$E$13</c:f>
              <c:numCache>
                <c:formatCode>General</c:formatCode>
                <c:ptCount val="12"/>
                <c:pt idx="0">
                  <c:v>7</c:v>
                </c:pt>
                <c:pt idx="1">
                  <c:v>4</c:v>
                </c:pt>
                <c:pt idx="2">
                  <c:v>9</c:v>
                </c:pt>
                <c:pt idx="3">
                  <c:v>4</c:v>
                </c:pt>
                <c:pt idx="4">
                  <c:v>4</c:v>
                </c:pt>
                <c:pt idx="5">
                  <c:v>4</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(88%)</c:v>
                  </c:pt>
                  <c:pt idx="2">
                    <c:v>Legal, privacy &amp; regulatory constraints — Banking (73%)</c:v>
                  </c:pt>
                  <c:pt idx="3">
                    <c:v>Legal, privacy &amp; regulatory constraints — Insurance (72%)</c:v>
                  </c:pt>
                  <c:pt idx="4">
                    <c:v>Lack of external industry participation — Banking (64%)</c:v>
                  </c:pt>
                  <c:pt idx="5">
                    <c:v>Lack of external industry participation — Insurance (48%)</c:v>
                  </c:pt>
                  <c:pt idx="6">
                    <c:v>Insufficient budget or resources — Banking (36%)</c:v>
                  </c:pt>
                  <c:pt idx="7">
                    <c:v>Insufficient budget or resources — Insurance (36%)</c:v>
                  </c:pt>
                  <c:pt idx="8">
                    <c:v>Difficulty demonstrating ROI — Banking (31%)</c:v>
                  </c:pt>
                  <c:pt idx="9">
                    <c:v>Difficulty demonstrating ROI — Insurance (16%)</c:v>
                  </c:pt>
                  <c:pt idx="10">
                    <c:v>Unclear internal ownership / governance — Banking (23%)</c:v>
                  </c:pt>
                  <c:pt idx="11">
                    <c:v>Unclear internal ownership / governance — Insurance (36%)</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augmentation — Banking (34%)</c:v>
                  </c:pt>
                  <c:pt idx="1">
                    <c:v>AI-enabled tools augmentation — Insurance (32%)</c:v>
                  </c:pt>
                  <c:pt idx="2">
                    <c:v>Automating workflows — Banking (29%)</c:v>
                  </c:pt>
                  <c:pt idx="3">
                    <c:v>Automating workflows — Insurance (28%)</c:v>
                  </c:pt>
                  <c:pt idx="4">
                    <c:v>Redesigning processes &amp; playbooks — Banking (10%)</c:v>
                  </c:pt>
                  <c:pt idx="5">
                    <c:v>Redesigning processes &amp; playbooks — Insurance (12%)</c:v>
                  </c:pt>
                  <c:pt idx="6">
                    <c:v>Outsourcing — Banking (10%)</c:v>
                  </c:pt>
                  <c:pt idx="7">
                    <c:v>Outsourcing — Insurance (16%)</c:v>
                  </c:pt>
                  <c:pt idx="8">
                    <c:v>Hiring / workforce expansion — Banking (10%)</c:v>
                  </c:pt>
                  <c:pt idx="9">
                    <c:v>Hiring / workforce expansion — Insurance (12%)</c:v>
                  </c:pt>
                  <c:pt idx="10">
                    <c:v>Combination of approaches — Banking (7%)</c:v>
                  </c:pt>
                  <c:pt idx="11">
                    <c:v>Combination of approaches — Insurance (0%)</c:v>
                  </c:pt>
                </c:lvl>
              </c:multiLvlStrCache>
            </c:multiLvlStrRef>
          </c:cat>
          <c:val>
            <c:numRef>
              <c:f>Sheet1!$B$2:$B$13</c:f>
              <c:numCache>
                <c:formatCode>General</c:formatCode>
                <c:ptCount val="12"/>
                <c:pt idx="0">
                  <c:v>19</c:v>
                </c:pt>
                <c:pt idx="1">
                  <c:v>28</c:v>
                </c:pt>
                <c:pt idx="2">
                  <c:v>17</c:v>
                </c:pt>
                <c:pt idx="3">
                  <c:v>20</c:v>
                </c:pt>
                <c:pt idx="4">
                  <c:v>4</c:v>
                </c:pt>
                <c:pt idx="5">
                  <c:v>4</c:v>
                </c:pt>
                <c:pt idx="6">
                  <c:v>3</c:v>
                </c:pt>
                <c:pt idx="7">
                  <c:v>4</c:v>
                </c:pt>
                <c:pt idx="8">
                  <c:v>3</c:v>
                </c:pt>
                <c:pt idx="9">
                  <c:v>4</c:v>
                </c:pt>
                <c:pt idx="10">
                  <c:v>8</c:v>
                </c:pt>
                <c:pt idx="11">
                  <c:v>0</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augmentation — Banking (34%)</c:v>
                  </c:pt>
                  <c:pt idx="1">
                    <c:v>AI-enabled tools augmentation — Insurance (32%)</c:v>
                  </c:pt>
                  <c:pt idx="2">
                    <c:v>Automating workflows — Banking (29%)</c:v>
                  </c:pt>
                  <c:pt idx="3">
                    <c:v>Automating workflows — Insurance (28%)</c:v>
                  </c:pt>
                  <c:pt idx="4">
                    <c:v>Redesigning processes &amp; playbooks — Banking (10%)</c:v>
                  </c:pt>
                  <c:pt idx="5">
                    <c:v>Redesigning processes &amp; playbooks — Insurance (12%)</c:v>
                  </c:pt>
                  <c:pt idx="6">
                    <c:v>Outsourcing — Banking (10%)</c:v>
                  </c:pt>
                  <c:pt idx="7">
                    <c:v>Outsourcing — Insurance (16%)</c:v>
                  </c:pt>
                  <c:pt idx="8">
                    <c:v>Hiring / workforce expansion — Banking (10%)</c:v>
                  </c:pt>
                  <c:pt idx="9">
                    <c:v>Hiring / workforce expansion — Insurance (12%)</c:v>
                  </c:pt>
                  <c:pt idx="10">
                    <c:v>Combination of approaches — Banking (7%)</c:v>
                  </c:pt>
                  <c:pt idx="11">
                    <c:v>Combination of approaches — Insurance (0%)</c:v>
                  </c:pt>
                </c:lvl>
              </c:multiLvlStrCache>
            </c:multiLvlStrRef>
          </c:cat>
          <c:val>
            <c:numRef>
              <c:f>Sheet1!$C$2:$C$13</c:f>
              <c:numCache>
                <c:formatCode>General</c:formatCode>
                <c:ptCount val="12"/>
                <c:pt idx="0">
                  <c:v>16</c:v>
                </c:pt>
                <c:pt idx="1">
                  <c:v>4</c:v>
                </c:pt>
                <c:pt idx="2">
                  <c:v>12</c:v>
                </c:pt>
                <c:pt idx="3">
                  <c:v>8</c:v>
                </c:pt>
                <c:pt idx="4">
                  <c:v>5</c:v>
                </c:pt>
                <c:pt idx="5">
                  <c:v>8</c:v>
                </c:pt>
                <c:pt idx="6">
                  <c:v>5</c:v>
                </c:pt>
                <c:pt idx="7">
                  <c:v>12</c:v>
                </c:pt>
                <c:pt idx="8">
                  <c:v>7</c:v>
                </c:pt>
                <c:pt idx="9">
                  <c:v>8</c:v>
                </c:pt>
                <c:pt idx="10">
                  <c:v>1</c:v>
                </c:pt>
                <c:pt idx="11">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 Top 50 Insurance)</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augmentation — Banking (41%)</c:v>
                  </c:pt>
                  <c:pt idx="1">
                    <c:v>AI-enabled tools augmentation — Insurance (40%)</c:v>
                  </c:pt>
                  <c:pt idx="2">
                    <c:v>Automating workflows — Banking (27%)</c:v>
                  </c:pt>
                  <c:pt idx="3">
                    <c:v>Automating workflows — Insurance (28%)</c:v>
                  </c:pt>
                  <c:pt idx="4">
                    <c:v>Redesigning processes &amp; playbooks — Banking (18%)</c:v>
                  </c:pt>
                  <c:pt idx="5">
                    <c:v>Redesigning processes &amp; playbooks — Insurance (24%)</c:v>
                  </c:pt>
                  <c:pt idx="6">
                    <c:v>Outsourcing — Banking (7%)</c:v>
                  </c:pt>
                  <c:pt idx="7">
                    <c:v>Outsourcing — Insurance (4%)</c:v>
                  </c:pt>
                  <c:pt idx="8">
                    <c:v>Hiring / workforce expansion — Banking (5%)</c:v>
                  </c:pt>
                  <c:pt idx="9">
                    <c:v>Hiring / workforce expansion — Insurance (4%)</c:v>
                  </c:pt>
                  <c:pt idx="10">
                    <c:v>Combination of approaches — Banking (2%)</c:v>
                  </c:pt>
                  <c:pt idx="11">
                    <c:v>Combination of approaches — Insurance (0%)</c:v>
                  </c:pt>
                </c:lvl>
              </c:multiLvlStrCache>
            </c:multiLvlStrRef>
          </c:cat>
          <c:val>
            <c:numRef>
              <c:f>Sheet1!$B$2:$B$13</c:f>
              <c:numCache>
                <c:formatCode>General</c:formatCode>
                <c:ptCount val="12"/>
                <c:pt idx="0">
                  <c:v>21</c:v>
                </c:pt>
                <c:pt idx="1">
                  <c:v>24</c:v>
                </c:pt>
                <c:pt idx="2">
                  <c:v>17</c:v>
                </c:pt>
                <c:pt idx="3">
                  <c:v>16</c:v>
                </c:pt>
                <c:pt idx="4">
                  <c:v>8</c:v>
                </c:pt>
                <c:pt idx="5">
                  <c:v>16</c:v>
                </c:pt>
                <c:pt idx="6">
                  <c:v>4</c:v>
                </c:pt>
                <c:pt idx="7">
                  <c:v>4</c:v>
                </c:pt>
                <c:pt idx="8">
                  <c:v>1</c:v>
                </c:pt>
                <c:pt idx="9">
                  <c:v>0</c:v>
                </c:pt>
                <c:pt idx="10">
                  <c:v>1</c:v>
                </c:pt>
                <c:pt idx="11">
                  <c:v>0</c:v>
                </c:pt>
              </c:numCache>
            </c:numRef>
          </c:val>
        </c:ser>
        <c:ser>
          <c:idx val="1"/>
          <c:order val="1"/>
          <c:tx>
            <c:strRef>
              <c:f>Sheet1!$C$1</c:f>
              <c:strCache>
                <c:ptCount val="1"/>
                <c:pt idx="0">
                  <c:v>Large institution (outside Top 100 / Top 50)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augmentation — Banking (41%)</c:v>
                  </c:pt>
                  <c:pt idx="1">
                    <c:v>AI-enabled tools augmentation — Insurance (40%)</c:v>
                  </c:pt>
                  <c:pt idx="2">
                    <c:v>Automating workflows — Banking (27%)</c:v>
                  </c:pt>
                  <c:pt idx="3">
                    <c:v>Automating workflows — Insurance (28%)</c:v>
                  </c:pt>
                  <c:pt idx="4">
                    <c:v>Redesigning processes &amp; playbooks — Banking (18%)</c:v>
                  </c:pt>
                  <c:pt idx="5">
                    <c:v>Redesigning processes &amp; playbooks — Insurance (24%)</c:v>
                  </c:pt>
                  <c:pt idx="6">
                    <c:v>Outsourcing — Banking (7%)</c:v>
                  </c:pt>
                  <c:pt idx="7">
                    <c:v>Outsourcing — Insurance (4%)</c:v>
                  </c:pt>
                  <c:pt idx="8">
                    <c:v>Hiring / workforce expansion — Banking (5%)</c:v>
                  </c:pt>
                  <c:pt idx="9">
                    <c:v>Hiring / workforce expansion — Insurance (4%)</c:v>
                  </c:pt>
                  <c:pt idx="10">
                    <c:v>Combination of approaches — Banking (2%)</c:v>
                  </c:pt>
                  <c:pt idx="11">
                    <c:v>Combination of approaches — Insurance (0%)</c:v>
                  </c:pt>
                </c:lvl>
              </c:multiLvlStrCache>
            </c:multiLvlStrRef>
          </c:cat>
          <c:val>
            <c:numRef>
              <c:f>Sheet1!$C$2:$C$13</c:f>
              <c:numCache>
                <c:formatCode>General</c:formatCode>
                <c:ptCount val="12"/>
                <c:pt idx="0">
                  <c:v>20</c:v>
                </c:pt>
                <c:pt idx="1">
                  <c:v>16</c:v>
                </c:pt>
                <c:pt idx="2">
                  <c:v>9</c:v>
                </c:pt>
                <c:pt idx="3">
                  <c:v>12</c:v>
                </c:pt>
                <c:pt idx="4">
                  <c:v>8</c:v>
                </c:pt>
                <c:pt idx="5">
                  <c:v>8</c:v>
                </c:pt>
                <c:pt idx="6">
                  <c:v>4</c:v>
                </c:pt>
                <c:pt idx="7">
                  <c:v>0</c:v>
                </c:pt>
                <c:pt idx="8">
                  <c:v>4</c:v>
                </c:pt>
                <c:pt idx="9">
                  <c:v>4</c:v>
                </c:pt>
                <c:pt idx="10">
                  <c:v>1</c:v>
                </c:pt>
                <c:pt idx="11">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1–2 respondents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Banking/Australia (n=7) and Banking/Singapore (n=4) are thin samples shown directionally. Insurance/Europe (n=2, both United Kingdom) and Insurance/Australia (n=1) are extremely thin — each segment reflects just 1 respondent — and are shown for completeness, not as statistically reliable estimates. Insurance had zero Singapore respondents, so no segment appears there.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newS8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Australia (n=4 Top 100 / n=3 Large) and Singapore (n=2 / n=2)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Insurance/Europe (n=1, United Kingdom) and Insurance/Australia (n=1) are extremely thin — each segment reflects a single respondent — and are shown for completeness, not as statistically reliable estimates. Insurance had zero Singapore respondents in either tier, so no segment appears there.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80760"/>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AI-enabled tools lead in both sectors, but Top-tier institutions lean on it more heavily than Large institutions.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and may sum to within ±1pt of that total. Institution tier is based on newS8 (Banking) / S9 (Insurance), including respondents reclassified from their employer description elsewhere in the survey — Banking Top 100 is n=40, Insurance Large is n=10 (see the Q1 sector x tier slide for detail).</a:t>
            </a:r>
            <a:endParaRPr lang="en-US" sz="850" dirty="0"/>
          </a:p>
        </p:txBody>
      </p:sp>
      <p:sp>
        <p:nvSpPr>
          <p:cNvPr id="10" name="Text 7"/>
          <p:cNvSpPr txBox="1"/>
          <p:nvPr/>
        </p:nvSpPr>
        <p:spPr>
          <a:xfrm>
            <a:off x="502006" y="5843016"/>
            <a:ext cx="11188598" cy="402336"/>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lead grows in every tier — but Insurance's Top-tier carriers show the sharpest three-year pivot toward 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 newS8 / S9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and may sum to within ±1pt of that total. Institution tier is based on newS8 (Banking) / S9 (Insurance), including respondents reclassified from their employer description elsewhere in the survey — Banking Top 100 is n=40, Insurance Large is n=10 (see the Q1 sector x tier slide for detail).</a:t>
            </a:r>
            <a:endParaRPr lang="en-US" sz="850" dirty="0"/>
          </a:p>
        </p:txBody>
      </p:sp>
      <p:sp>
        <p:nvSpPr>
          <p:cNvPr id="10" name="Text 7"/>
          <p:cNvSpPr txBox="1"/>
          <p:nvPr/>
        </p:nvSpPr>
        <p:spPr>
          <a:xfrm>
            <a:off x="502006" y="5843016"/>
            <a:ext cx="11188598" cy="402336"/>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2026-09-25T17:13:33Z</dcterms:created>
  <dcterms:modified xsi:type="dcterms:W3CDTF">2026-09-25T17:13:33Z</dcterms:modified>
</cp:coreProperties>
</file>