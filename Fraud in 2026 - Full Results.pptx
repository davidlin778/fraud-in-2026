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9.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4.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39.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40.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0.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55.xml" ContentType="application/vnd.openxmlformats-officedocument.drawingml.chart+xml"/>
  <Override PartName="/ppt/charts/chart56.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57.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58.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59.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69.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73.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74.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75.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76.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77.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charts/chart78.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charts/chart79.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charts/chart80.xml" ContentType="application/vnd.openxmlformats-officedocument.drawingml.chart+xml"/>
  <Override PartName="/ppt/charts/chart81.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charts/chart82.xml" ContentType="application/vnd.openxmlformats-officedocument.drawingml.chart+xml"/>
  <Override PartName="/ppt/slideMasters/slideMaster43.xml" ContentType="application/vnd.openxmlformats-officedocument.presentationml.slideMaster+xml"/>
  <Override PartName="/ppt/slides/slide43.xml" ContentType="application/vnd.openxmlformats-officedocument.presentationml.slide+xml"/>
  <Override PartName="/ppt/charts/chart83.xml" ContentType="application/vnd.openxmlformats-officedocument.drawingml.chart+xml"/>
  <Override PartName="/ppt/slideMasters/slideMaster44.xml" ContentType="application/vnd.openxmlformats-officedocument.presentationml.slideMaster+xml"/>
  <Override PartName="/ppt/slides/slide44.xml" ContentType="application/vnd.openxmlformats-officedocument.presentationml.slide+xml"/>
  <Override PartName="/ppt/charts/chart84.xml" ContentType="application/vnd.openxmlformats-officedocument.drawingml.chart+xml"/>
  <Override PartName="/ppt/charts/chart85.xml" ContentType="application/vnd.openxmlformats-officedocument.drawingml.chart+xml"/>
  <Override PartName="/ppt/slideMasters/slideMaster45.xml" ContentType="application/vnd.openxmlformats-officedocument.presentationml.slideMaster+xml"/>
  <Override PartName="/ppt/slides/slide45.xml" ContentType="application/vnd.openxmlformats-officedocument.presentationml.slide+xml"/>
  <Override PartName="/ppt/charts/chart86.xml" ContentType="application/vnd.openxmlformats-officedocument.drawingml.chart+xml"/>
  <Override PartName="/ppt/slideMasters/slideMaster46.xml" ContentType="application/vnd.openxmlformats-officedocument.presentationml.slideMaster+xml"/>
  <Override PartName="/ppt/slides/slide46.xml" ContentType="application/vnd.openxmlformats-officedocument.presentationml.slide+xml"/>
  <Override PartName="/ppt/charts/chart87.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charts/chart88.xml" ContentType="application/vnd.openxmlformats-officedocument.drawingml.chart+xml"/>
  <Override PartName="/ppt/slideMasters/slideMaster49.xml" ContentType="application/vnd.openxmlformats-officedocument.presentationml.slideMaster+xml"/>
  <Override PartName="/ppt/slides/slide49.xml" ContentType="application/vnd.openxmlformats-officedocument.presentationml.slide+xml"/>
  <Override PartName="/ppt/charts/chart89.xml" ContentType="application/vnd.openxmlformats-officedocument.drawingml.chart+xml"/>
  <Override PartName="/ppt/slideMasters/slideMaster50.xml" ContentType="application/vnd.openxmlformats-officedocument.presentationml.slideMaster+xml"/>
  <Override PartName="/ppt/slides/slide50.xml" ContentType="application/vnd.openxmlformats-officedocument.presentationml.slide+xml"/>
  <Override PartName="/ppt/charts/chart90.xml" ContentType="application/vnd.openxmlformats-officedocument.drawingml.chart+xml"/>
  <Override PartName="/ppt/slideMasters/slideMaster51.xml" ContentType="application/vnd.openxmlformats-officedocument.presentationml.slideMaster+xml"/>
  <Override PartName="/ppt/slides/slide51.xml" ContentType="application/vnd.openxmlformats-officedocument.presentationml.slide+xml"/>
  <Override PartName="/ppt/charts/chart91.xml" ContentType="application/vnd.openxmlformats-officedocument.drawingml.chart+xml"/>
  <Override PartName="/ppt/slideMasters/slideMaster52.xml" ContentType="application/vnd.openxmlformats-officedocument.presentationml.slideMaster+xml"/>
  <Override PartName="/ppt/slides/slide52.xml" ContentType="application/vnd.openxmlformats-officedocument.presentationml.slide+xml"/>
  <Override PartName="/ppt/charts/chart92.xml" ContentType="application/vnd.openxmlformats-officedocument.drawingml.chart+xml"/>
  <Override PartName="/ppt/slideMasters/slideMaster53.xml" ContentType="application/vnd.openxmlformats-officedocument.presentationml.slideMaster+xml"/>
  <Override PartName="/ppt/slides/slide53.xml" ContentType="application/vnd.openxmlformats-officedocument.presentationml.slide+xml"/>
  <Override PartName="/ppt/charts/chart93.xml" ContentType="application/vnd.openxmlformats-officedocument.drawingml.chart+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Relationships xmlns="http://schemas.openxmlformats.org/package/2006/relationships"><Relationship Id="rId1" Type="http://schemas.openxmlformats.org/officeDocument/2006/relationships/package" Target="../embeddings/Microsoft_Excel_Worksheet9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Sheet1!$B$2:$B$7</c:f>
              <c:numCache>
                <c:formatCode>General</c:formatCode>
                <c:ptCount val="6"/>
                <c:pt idx="0">
                  <c:v>45</c:v>
                </c:pt>
                <c:pt idx="1">
                  <c:v>24</c:v>
                </c:pt>
                <c:pt idx="2">
                  <c:v>12</c:v>
                </c:pt>
                <c:pt idx="3">
                  <c:v>9</c:v>
                </c:pt>
                <c:pt idx="4">
                  <c:v>5</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Sheet1!$C$2:$C$7</c:f>
              <c:numCache>
                <c:formatCode>General</c:formatCode>
                <c:ptCount val="6"/>
                <c:pt idx="0">
                  <c:v>40</c:v>
                </c:pt>
                <c:pt idx="1">
                  <c:v>48</c:v>
                </c:pt>
                <c:pt idx="2">
                  <c:v>8</c:v>
                </c:pt>
                <c:pt idx="3">
                  <c:v>4</c:v>
                </c:pt>
                <c:pt idx="4">
                  <c:v>0</c:v>
                </c:pt>
                <c:pt idx="5">
                  <c:v>0</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Sheet1!$B$2:$B$7</c:f>
              <c:numCache>
                <c:formatCode>General</c:formatCode>
                <c:ptCount val="6"/>
                <c:pt idx="0">
                  <c:v>27</c:v>
                </c:pt>
                <c:pt idx="1">
                  <c:v>20</c:v>
                </c:pt>
                <c:pt idx="2">
                  <c:v>20</c:v>
                </c:pt>
                <c:pt idx="3">
                  <c:v>19</c:v>
                </c:pt>
                <c:pt idx="4">
                  <c:v>8</c:v>
                </c:pt>
                <c:pt idx="5">
                  <c:v>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Sheet1!$C$2:$C$7</c:f>
              <c:numCache>
                <c:formatCode>General</c:formatCode>
                <c:ptCount val="6"/>
                <c:pt idx="0">
                  <c:v>20</c:v>
                </c:pt>
                <c:pt idx="1">
                  <c:v>8</c:v>
                </c:pt>
                <c:pt idx="2">
                  <c:v>12</c:v>
                </c:pt>
                <c:pt idx="3">
                  <c:v>32</c:v>
                </c:pt>
                <c:pt idx="4">
                  <c:v>12</c:v>
                </c:pt>
                <c:pt idx="5">
                  <c:v>16</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Top 100 Financial Institution (n=40)</c:v>
                  </c:pt>
                  <c:pt idx="1">
                    <c:v>Large Financial Institution — outside Top 100; &gt;20,000 FTE (n=35)</c:v>
                  </c:pt>
                </c:lvl>
              </c:multiLvlStrCache>
            </c:multiLvlStrRef>
          </c:cat>
          <c:val>
            <c:numRef>
              <c:f>Sheet1!$B$2:$B$3</c:f>
              <c:numCache>
                <c:formatCode>General</c:formatCode>
                <c:ptCount val="2"/>
                <c:pt idx="0">
                  <c:v>53</c:v>
                </c:pt>
                <c:pt idx="1">
                  <c:v>47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United States (n=34)</c:v>
                  </c:pt>
                  <c:pt idx="1">
                    <c:v>Canada (n=18)</c:v>
                  </c:pt>
                  <c:pt idx="2">
                    <c:v>Europe — EU + UK (n=12)</c:v>
                  </c:pt>
                  <c:pt idx="3">
                    <c:v>Australia (n=7)</c:v>
                  </c:pt>
                  <c:pt idx="4">
                    <c:v>Singapore (n=4)</c:v>
                  </c:pt>
                </c:lvl>
              </c:multiLvlStrCache>
            </c:multiLvlStrRef>
          </c:cat>
          <c:val>
            <c:numRef>
              <c:f>Sheet1!$B$2:$B$6</c:f>
              <c:numCache>
                <c:formatCode>General</c:formatCode>
                <c:ptCount val="5"/>
                <c:pt idx="0">
                  <c:v>45</c:v>
                </c:pt>
                <c:pt idx="1">
                  <c:v>24</c:v>
                </c:pt>
                <c:pt idx="2">
                  <c:v>16</c:v>
                </c:pt>
                <c:pt idx="3">
                  <c:v>9</c:v>
                </c:pt>
                <c:pt idx="4">
                  <c:v>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Sheet1!$B$2:$B$3</c:f>
              <c:numCache>
                <c:formatCode>General</c:formatCode>
                <c:ptCount val="2"/>
                <c:pt idx="0">
                  <c:v>35</c:v>
                </c:pt>
                <c:pt idx="1">
                  <c:v>57</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Sheet1!$C$2:$C$3</c:f>
              <c:numCache>
                <c:formatCode>General</c:formatCode>
                <c:ptCount val="2"/>
                <c:pt idx="0">
                  <c:v>32</c:v>
                </c:pt>
                <c:pt idx="1">
                  <c:v>14</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Sheet1!$D$2:$D$3</c:f>
              <c:numCache>
                <c:formatCode>General</c:formatCode>
                <c:ptCount val="2"/>
                <c:pt idx="0">
                  <c:v>18</c:v>
                </c:pt>
                <c:pt idx="1">
                  <c:v>14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Sheet1!$E$2:$E$3</c:f>
              <c:numCache>
                <c:formatCode>General</c:formatCode>
                <c:ptCount val="2"/>
                <c:pt idx="0">
                  <c:v>10</c:v>
                </c:pt>
                <c:pt idx="1">
                  <c:v>9</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Sheet1!$F$2:$F$3</c:f>
              <c:numCache>
                <c:formatCode>General</c:formatCode>
                <c:ptCount val="2"/>
                <c:pt idx="0">
                  <c:v>5</c:v>
                </c:pt>
                <c:pt idx="1">
                  <c:v>6</c:v>
                </c:pt>
              </c:numCache>
            </c:numRef>
          </c:val>
        </c:ser>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Top 50 Global Insurance Carrier (n=15)</c:v>
                  </c:pt>
                  <c:pt idx="1">
                    <c:v>Large Insurance Carrier — outside Top 100; &gt;15,000 FTE (n=10)</c:v>
                  </c:pt>
                </c:lvl>
              </c:multiLvlStrCache>
            </c:multiLvlStrRef>
          </c:cat>
          <c:val>
            <c:numRef>
              <c:f>Sheet1!$B$2:$B$3</c:f>
              <c:numCache>
                <c:formatCode>General</c:formatCode>
                <c:ptCount val="2"/>
                <c:pt idx="0">
                  <c:v>60</c:v>
                </c:pt>
                <c:pt idx="1">
                  <c:v>40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United States (n=10)</c:v>
                  </c:pt>
                  <c:pt idx="1">
                    <c:v>Canada (n=12)</c:v>
                  </c:pt>
                  <c:pt idx="2">
                    <c:v>Europe — EU + UK (n=2)</c:v>
                  </c:pt>
                  <c:pt idx="3">
                    <c:v>Australia (n=1)</c:v>
                  </c:pt>
                </c:lvl>
              </c:multiLvlStrCache>
            </c:multiLvlStrRef>
          </c:cat>
          <c:val>
            <c:numRef>
              <c:f>Sheet1!$B$2:$B$5</c:f>
              <c:numCache>
                <c:formatCode>General</c:formatCode>
                <c:ptCount val="4"/>
                <c:pt idx="0">
                  <c:v>40</c:v>
                </c:pt>
                <c:pt idx="1">
                  <c:v>48</c:v>
                </c:pt>
                <c:pt idx="2">
                  <c:v>8</c:v>
                </c:pt>
                <c:pt idx="3">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046A38"/>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Sheet1!$B$2:$B$3</c:f>
              <c:numCache>
                <c:formatCode>General</c:formatCode>
                <c:ptCount val="2"/>
                <c:pt idx="0">
                  <c:v>47</c:v>
                </c:pt>
                <c:pt idx="1">
                  <c:v>30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Sheet1!$C$2:$C$3</c:f>
              <c:numCache>
                <c:formatCode>General</c:formatCode>
                <c:ptCount val="2"/>
                <c:pt idx="0">
                  <c:v>40</c:v>
                </c:pt>
                <c:pt idx="1">
                  <c:v>60</c:v>
                </c:pt>
              </c:numCache>
            </c:numRef>
          </c:val>
        </c:ser>
        <c:ser>
          <c:idx val="2"/>
          <c:order val="2"/>
          <c:tx>
            <c:strRef>
              <c:f>Sheet1!$D$1</c:f>
              <c:strCache>
                <c:ptCount val="1"/>
                <c:pt idx="0">
                  <c:v>Europe (EU + UK)</c:v>
                </c:pt>
              </c:strCache>
            </c:strRef>
          </c:tx>
          <c:spPr>
            <a:solidFill>
              <a:srgbClr val="0D8390"/>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Sheet1!$D$2:$D$3</c:f>
              <c:numCache>
                <c:formatCode>General</c:formatCode>
                <c:ptCount val="2"/>
                <c:pt idx="0">
                  <c:v>7</c:v>
                </c:pt>
                <c:pt idx="1">
                  <c:v>10</c:v>
                </c:pt>
              </c:numCache>
            </c:numRef>
          </c:val>
        </c:ser>
        <c:ser>
          <c:idx val="3"/>
          <c:order val="3"/>
          <c:tx>
            <c:strRef>
              <c:f>Sheet1!$E$1</c:f>
              <c:strCache>
                <c:ptCount val="1"/>
                <c:pt idx="0">
                  <c:v>Australia</c:v>
                </c:pt>
              </c:strCache>
            </c:strRef>
          </c:tx>
          <c:spPr>
            <a:solidFill>
              <a:srgbClr val="53565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Sheet1!$E$2:$E$3</c:f>
              <c:numCache>
                <c:formatCode>General</c:formatCode>
                <c:ptCount val="2"/>
                <c:pt idx="0">
                  <c:v>7</c:v>
                </c:pt>
                <c:pt idx="1">
                  <c:v>0</c:v>
                </c:pt>
              </c:numCache>
            </c:numRef>
          </c:val>
        </c:ser>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Greatest Increase in AI/Deepfake Vulnerability</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KYC &amp; identity verification</c:v>
                  </c:pt>
                  <c:pt idx="1">
                    <c:v>Payment, wire &amp; transaction approvals</c:v>
                  </c:pt>
                  <c:pt idx="2">
                    <c:v>Claims, underwriting &amp; lending review</c:v>
                  </c:pt>
                  <c:pt idx="3">
                    <c:v>Contact center / phone-based authentication</c:v>
                  </c:pt>
                  <c:pt idx="4">
                    <c:v>Executive / employee / broker impersonation</c:v>
                  </c:pt>
                  <c:pt idx="5">
                    <c:v>Video meetings &amp; remote advisory</c:v>
                  </c:pt>
                </c:lvl>
              </c:multiLvlStrCache>
            </c:multiLvlStrRef>
          </c:cat>
          <c:val>
            <c:numRef>
              <c:f>Sheet1!$B$2:$B$7</c:f>
              <c:numCache>
                <c:formatCode>General</c:formatCode>
                <c:ptCount val="6"/>
                <c:pt idx="0">
                  <c:v>70</c:v>
                </c:pt>
                <c:pt idx="1">
                  <c:v>64</c:v>
                </c:pt>
                <c:pt idx="2">
                  <c:v>53</c:v>
                </c:pt>
                <c:pt idx="3">
                  <c:v>52</c:v>
                </c:pt>
                <c:pt idx="4">
                  <c:v>43</c:v>
                </c:pt>
                <c:pt idx="5">
                  <c:v>15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&amp; KYC</c:v>
                  </c:pt>
                  <c:pt idx="1">
                    <c:v>Payment / wire approvals</c:v>
                  </c:pt>
                  <c:pt idx="2">
                    <c:v>Claims &amp; underwriting review</c:v>
                  </c:pt>
                  <c:pt idx="3">
                    <c:v>Contact center / phone auth</c:v>
                  </c:pt>
                  <c:pt idx="4">
                    <c:v>Exec / employee impersonation</c:v>
                  </c:pt>
                  <c:pt idx="5">
                    <c:v>Video meetings &amp; remote advisory</c:v>
                  </c:pt>
                </c:lvl>
              </c:multiLvlStrCache>
            </c:multiLvlStrRef>
          </c:cat>
          <c:val>
            <c:numRef>
              <c:f>Sheet1!$B$2:$B$7</c:f>
              <c:numCache>
                <c:formatCode>General</c:formatCode>
                <c:ptCount val="6"/>
                <c:pt idx="0">
                  <c:v>73</c:v>
                </c:pt>
                <c:pt idx="1">
                  <c:v>73</c:v>
                </c:pt>
                <c:pt idx="2">
                  <c:v>48</c:v>
                </c:pt>
                <c:pt idx="3">
                  <c:v>47</c:v>
                </c:pt>
                <c:pt idx="4">
                  <c:v>40</c:v>
                </c:pt>
                <c:pt idx="5">
                  <c:v>15</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Contact center / phone auth</c:v>
                  </c:pt>
                  <c:pt idx="1">
                    <c:v>Claims &amp; underwriting review</c:v>
                  </c:pt>
                  <c:pt idx="2">
                    <c:v>Exec / employee impersonation</c:v>
                  </c:pt>
                  <c:pt idx="3">
                    <c:v>Digital onboarding &amp; KYC</c:v>
                  </c:pt>
                  <c:pt idx="4">
                    <c:v>Payment / wire approvals</c:v>
                  </c:pt>
                  <c:pt idx="5">
                    <c:v>Video meetings &amp; remote advisory</c:v>
                  </c:pt>
                </c:lvl>
              </c:multiLvlStrCache>
            </c:multiLvlStrRef>
          </c:cat>
          <c:val>
            <c:numRef>
              <c:f>Sheet1!$B$2:$B$7</c:f>
              <c:numCache>
                <c:formatCode>General</c:formatCode>
                <c:ptCount val="6"/>
                <c:pt idx="0">
                  <c:v>72</c:v>
                </c:pt>
                <c:pt idx="1">
                  <c:v>64</c:v>
                </c:pt>
                <c:pt idx="2">
                  <c:v>60</c:v>
                </c:pt>
                <c:pt idx="3">
                  <c:v>52</c:v>
                </c:pt>
                <c:pt idx="4">
                  <c:v>36</c:v>
                </c:pt>
                <c:pt idx="5">
                  <c:v>16</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Key Obstacles to Managing AI-Driven Fraud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identity verification / prevention capability</c:v>
                  </c:pt>
                  <c:pt idx="2">
                    <c:v>Lack of fraud detection technology</c:v>
                  </c:pt>
                  <c:pt idx="3">
                    <c:v>Limited 3rd-party intel / consortium data</c:v>
                  </c:pt>
                </c:lvl>
              </c:multiLvlStrCache>
            </c:multiLvlStrRef>
          </c:cat>
          <c:val>
            <c:numRef>
              <c:f>Sheet1!$B$2:$B$5</c:f>
              <c:numCache>
                <c:formatCode>General</c:formatCode>
                <c:ptCount val="4"/>
                <c:pt idx="0">
                  <c:v>53</c:v>
                </c:pt>
                <c:pt idx="1">
                  <c:v>50</c:v>
                </c:pt>
                <c:pt idx="2">
                  <c:v>46</c:v>
                </c:pt>
                <c:pt idx="3">
                  <c:v>43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Sheet1!$B$2:$B$5</c:f>
              <c:numCache>
                <c:formatCode>General</c:formatCode>
                <c:ptCount val="4"/>
                <c:pt idx="0">
                  <c:v>49</c:v>
                </c:pt>
                <c:pt idx="1">
                  <c:v>51</c:v>
                </c:pt>
                <c:pt idx="2">
                  <c:v>48</c:v>
                </c:pt>
                <c:pt idx="3">
                  <c:v>43</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Sheet1!$C$2:$C$5</c:f>
              <c:numCache>
                <c:formatCode>General</c:formatCode>
                <c:ptCount val="4"/>
                <c:pt idx="0">
                  <c:v>64</c:v>
                </c:pt>
                <c:pt idx="1">
                  <c:v>48</c:v>
                </c:pt>
                <c:pt idx="2">
                  <c:v>40</c:v>
                </c:pt>
                <c:pt idx="3">
                  <c:v>44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Sheet1!$B$2:$B$9</c:f>
              <c:numCache>
                <c:formatCode>General</c:formatCode>
                <c:ptCount val="8"/>
                <c:pt idx="0">
                  <c:v>23</c:v>
                </c:pt>
                <c:pt idx="1">
                  <c:v>20</c:v>
                </c:pt>
                <c:pt idx="2">
                  <c:v>24</c:v>
                </c:pt>
                <c:pt idx="3">
                  <c:v>24</c:v>
                </c:pt>
                <c:pt idx="4">
                  <c:v>21</c:v>
                </c:pt>
                <c:pt idx="5">
                  <c:v>8</c:v>
                </c:pt>
                <c:pt idx="6">
                  <c:v>12</c:v>
                </c:pt>
                <c:pt idx="7">
                  <c:v>20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Sheet1!$C$2:$C$9</c:f>
              <c:numCache>
                <c:formatCode>General</c:formatCode>
                <c:ptCount val="8"/>
                <c:pt idx="0">
                  <c:v>16</c:v>
                </c:pt>
                <c:pt idx="1">
                  <c:v>36</c:v>
                </c:pt>
                <c:pt idx="2">
                  <c:v>13</c:v>
                </c:pt>
                <c:pt idx="3">
                  <c:v>20</c:v>
                </c:pt>
                <c:pt idx="4">
                  <c:v>12</c:v>
                </c:pt>
                <c:pt idx="5">
                  <c:v>28</c:v>
                </c:pt>
                <c:pt idx="6">
                  <c:v>15</c:v>
                </c:pt>
                <c:pt idx="7">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Sheet1!$D$2:$D$9</c:f>
              <c:numCache>
                <c:formatCode>General</c:formatCode>
                <c:ptCount val="8"/>
                <c:pt idx="0">
                  <c:v>5</c:v>
                </c:pt>
                <c:pt idx="1">
                  <c:v>4</c:v>
                </c:pt>
                <c:pt idx="2">
                  <c:v>8</c:v>
                </c:pt>
                <c:pt idx="3">
                  <c:v>4</c:v>
                </c:pt>
                <c:pt idx="4">
                  <c:v>8</c:v>
                </c:pt>
                <c:pt idx="5">
                  <c:v>0</c:v>
                </c:pt>
                <c:pt idx="6">
                  <c:v>7</c:v>
                </c:pt>
                <c:pt idx="7">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Sheet1!$E$2:$E$9</c:f>
              <c:numCache>
                <c:formatCode>General</c:formatCode>
                <c:ptCount val="8"/>
                <c:pt idx="0">
                  <c:v>3</c:v>
                </c:pt>
                <c:pt idx="1">
                  <c:v>4</c:v>
                </c:pt>
                <c:pt idx="2">
                  <c:v>3</c:v>
                </c:pt>
                <c:pt idx="3">
                  <c:v>0</c:v>
                </c:pt>
                <c:pt idx="4">
                  <c:v>4</c:v>
                </c:pt>
                <c:pt idx="5">
                  <c:v>4</c:v>
                </c:pt>
                <c:pt idx="6">
                  <c:v>7</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Sheet1!$F$2:$F$9</c:f>
              <c:numCache>
                <c:formatCode>General</c:formatCode>
                <c:ptCount val="8"/>
                <c:pt idx="0">
                  <c:v>3</c:v>
                </c:pt>
                <c:pt idx="1">
                  <c:v>0</c:v>
                </c:pt>
                <c:pt idx="2">
                  <c:v>3</c:v>
                </c:pt>
                <c:pt idx="3">
                  <c:v>0</c:v>
                </c:pt>
                <c:pt idx="4">
                  <c:v>3</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50</c:v>
                </c:pt>
                <c:pt idx="1">
                  <c:v>53</c:v>
                </c:pt>
                <c:pt idx="2">
                  <c:v>47</c:v>
                </c:pt>
                <c:pt idx="3">
                  <c:v>26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67</c:v>
                </c:pt>
                <c:pt idx="1">
                  <c:v>56</c:v>
                </c:pt>
                <c:pt idx="2">
                  <c:v>50</c:v>
                </c:pt>
                <c:pt idx="3">
                  <c:v>61</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33</c:v>
                </c:pt>
                <c:pt idx="1">
                  <c:v>50</c:v>
                </c:pt>
                <c:pt idx="2">
                  <c:v>50</c:v>
                </c:pt>
                <c:pt idx="3">
                  <c:v>42</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29</c:v>
                </c:pt>
                <c:pt idx="1">
                  <c:v>29</c:v>
                </c:pt>
                <c:pt idx="2">
                  <c:v>43</c:v>
                </c:pt>
                <c:pt idx="3">
                  <c:v>71</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50</c:v>
                </c:pt>
                <c:pt idx="1">
                  <c:v>50</c:v>
                </c:pt>
                <c:pt idx="2">
                  <c:v>50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50</c:v>
                </c:pt>
                <c:pt idx="1">
                  <c:v>60</c:v>
                </c:pt>
                <c:pt idx="2">
                  <c:v>20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75</c:v>
                </c:pt>
                <c:pt idx="1">
                  <c:v>42</c:v>
                </c:pt>
                <c:pt idx="2">
                  <c:v>58</c:v>
                </c:pt>
                <c:pt idx="3">
                  <c:v>42</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50</c:v>
                </c:pt>
                <c:pt idx="1">
                  <c:v>50</c:v>
                </c:pt>
                <c:pt idx="2">
                  <c:v>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100</c:v>
                </c:pt>
                <c:pt idx="1">
                  <c:v>0</c:v>
                </c:pt>
                <c:pt idx="2">
                  <c:v>100</c:v>
                </c:pt>
                <c:pt idx="3">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Biggest Barriers to Effective Information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Limited data standardization &amp; poor quality</c:v>
                  </c:pt>
                  <c:pt idx="1">
                    <c:v>Legal, privacy or regulatory constraints</c:v>
                  </c:pt>
                  <c:pt idx="2">
                    <c:v>Lack of external industry participation</c:v>
                  </c:pt>
                  <c:pt idx="3">
                    <c:v>Insufficient budget or resources</c:v>
                  </c:pt>
                  <c:pt idx="4">
                    <c:v>Difficulty demonstrating ROI</c:v>
                  </c:pt>
                  <c:pt idx="5">
                    <c:v>Unclear internal ownership / governance</c:v>
                  </c:pt>
                </c:lvl>
              </c:multiLvlStrCache>
            </c:multiLvlStrRef>
          </c:cat>
          <c:val>
            <c:numRef>
              <c:f>Sheet1!$B$2:$B$7</c:f>
              <c:numCache>
                <c:formatCode>General</c:formatCode>
                <c:ptCount val="6"/>
                <c:pt idx="0">
                  <c:v>77</c:v>
                </c:pt>
                <c:pt idx="1">
                  <c:v>73</c:v>
                </c:pt>
                <c:pt idx="2">
                  <c:v>60</c:v>
                </c:pt>
                <c:pt idx="3">
                  <c:v>36</c:v>
                </c:pt>
                <c:pt idx="4">
                  <c:v>27</c:v>
                </c:pt>
                <c:pt idx="5">
                  <c:v>26</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77</c:v>
                </c:pt>
                <c:pt idx="1">
                  <c:v>80</c:v>
                </c:pt>
                <c:pt idx="2">
                  <c:v>66</c:v>
                </c:pt>
                <c:pt idx="3">
                  <c:v>36</c:v>
                </c:pt>
                <c:pt idx="4">
                  <c:v>16</c:v>
                </c:pt>
                <c:pt idx="5">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77</c:v>
                </c:pt>
                <c:pt idx="1">
                  <c:v>63</c:v>
                </c:pt>
                <c:pt idx="2">
                  <c:v>57</c:v>
                </c:pt>
                <c:pt idx="3">
                  <c:v>30</c:v>
                </c:pt>
                <c:pt idx="4">
                  <c:v>33</c:v>
                </c:pt>
                <c:pt idx="5">
                  <c:v>37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71</c:v>
                </c:pt>
                <c:pt idx="1">
                  <c:v>64</c:v>
                </c:pt>
                <c:pt idx="2">
                  <c:v>57</c:v>
                </c:pt>
                <c:pt idx="3">
                  <c:v>43</c:v>
                </c:pt>
                <c:pt idx="4">
                  <c:v>50</c:v>
                </c:pt>
                <c:pt idx="5">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75</c:v>
                </c:pt>
                <c:pt idx="1">
                  <c:v>100</c:v>
                </c:pt>
                <c:pt idx="2">
                  <c:v>50</c:v>
                </c:pt>
                <c:pt idx="3">
                  <c:v>50</c:v>
                </c:pt>
                <c:pt idx="4">
                  <c:v>12</c:v>
                </c:pt>
                <c:pt idx="5">
                  <c:v>12</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50</c:v>
                </c:pt>
                <c:pt idx="2">
                  <c:v>50</c:v>
                </c:pt>
                <c:pt idx="3">
                  <c:v>25</c:v>
                </c:pt>
                <c:pt idx="4">
                  <c:v>50</c:v>
                </c:pt>
                <c:pt idx="5">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74</c:v>
                </c:pt>
                <c:pt idx="1">
                  <c:v>74</c:v>
                </c:pt>
                <c:pt idx="2">
                  <c:v>74</c:v>
                </c:pt>
                <c:pt idx="3">
                  <c:v>35</c:v>
                </c:pt>
                <c:pt idx="4">
                  <c:v>18</c:v>
                </c:pt>
                <c:pt idx="5">
                  <c:v>26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72</c:v>
                </c:pt>
                <c:pt idx="1">
                  <c:v>72</c:v>
                </c:pt>
                <c:pt idx="2">
                  <c:v>61</c:v>
                </c:pt>
                <c:pt idx="3">
                  <c:v>28</c:v>
                </c:pt>
                <c:pt idx="4">
                  <c:v>39</c:v>
                </c:pt>
                <c:pt idx="5">
                  <c:v>28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67</c:v>
                </c:pt>
                <c:pt idx="1">
                  <c:v>67</c:v>
                </c:pt>
                <c:pt idx="2">
                  <c:v>58</c:v>
                </c:pt>
                <c:pt idx="3">
                  <c:v>42</c:v>
                </c:pt>
                <c:pt idx="4">
                  <c:v>58</c:v>
                </c:pt>
                <c:pt idx="5">
                  <c:v>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71</c:v>
                </c:pt>
                <c:pt idx="1">
                  <c:v>100</c:v>
                </c:pt>
                <c:pt idx="2">
                  <c:v>43</c:v>
                </c:pt>
                <c:pt idx="3">
                  <c:v>57</c:v>
                </c:pt>
                <c:pt idx="4">
                  <c:v>14</c:v>
                </c:pt>
                <c:pt idx="5">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50</c:v>
                </c:pt>
                <c:pt idx="2">
                  <c:v>50</c:v>
                </c:pt>
                <c:pt idx="3">
                  <c:v>25</c:v>
                </c:pt>
                <c:pt idx="4">
                  <c:v>50</c:v>
                </c:pt>
                <c:pt idx="5">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90</c:v>
                </c:pt>
                <c:pt idx="1">
                  <c:v>100</c:v>
                </c:pt>
                <c:pt idx="2">
                  <c:v>40</c:v>
                </c:pt>
                <c:pt idx="3">
                  <c:v>40</c:v>
                </c:pt>
                <c:pt idx="4">
                  <c:v>10</c:v>
                </c:pt>
                <c:pt idx="5">
                  <c:v>20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83</c:v>
                </c:pt>
                <c:pt idx="1">
                  <c:v>50</c:v>
                </c:pt>
                <c:pt idx="2">
                  <c:v>50</c:v>
                </c:pt>
                <c:pt idx="3">
                  <c:v>33</c:v>
                </c:pt>
                <c:pt idx="4">
                  <c:v>25</c:v>
                </c:pt>
                <c:pt idx="5">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50</c:v>
                </c:pt>
                <c:pt idx="2">
                  <c:v>50</c:v>
                </c:pt>
                <c:pt idx="3">
                  <c:v>50</c:v>
                </c:pt>
                <c:pt idx="4">
                  <c:v>0</c:v>
                </c:pt>
                <c:pt idx="5">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100</c:v>
                </c:pt>
                <c:pt idx="2">
                  <c:v>100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Government Action With the Greatest Impact on Info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35</c:v>
                </c:pt>
                <c:pt idx="1">
                  <c:v>26</c:v>
                </c:pt>
                <c:pt idx="2">
                  <c:v>14</c:v>
                </c:pt>
                <c:pt idx="3">
                  <c:v>13</c:v>
                </c:pt>
                <c:pt idx="4">
                  <c:v>9</c:v>
                </c:pt>
                <c:pt idx="5">
                  <c:v>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39</c:v>
                </c:pt>
                <c:pt idx="1">
                  <c:v>25</c:v>
                </c:pt>
                <c:pt idx="2">
                  <c:v>12</c:v>
                </c:pt>
                <c:pt idx="3">
                  <c:v>12</c:v>
                </c:pt>
                <c:pt idx="4">
                  <c:v>8</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Sheet1!$C$2:$C$7</c:f>
              <c:numCache>
                <c:formatCode>General</c:formatCode>
                <c:ptCount val="6"/>
                <c:pt idx="0">
                  <c:v>24</c:v>
                </c:pt>
                <c:pt idx="1">
                  <c:v>28</c:v>
                </c:pt>
                <c:pt idx="2">
                  <c:v>20</c:v>
                </c:pt>
                <c:pt idx="3">
                  <c:v>16</c:v>
                </c:pt>
                <c:pt idx="4">
                  <c:v>12</c:v>
                </c:pt>
                <c:pt idx="5">
                  <c:v>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36</c:v>
                </c:pt>
                <c:pt idx="1">
                  <c:v>16</c:v>
                </c:pt>
                <c:pt idx="2">
                  <c:v>18</c:v>
                </c:pt>
                <c:pt idx="3">
                  <c:v>20</c:v>
                </c:pt>
                <c:pt idx="4">
                  <c:v>5</c:v>
                </c:pt>
                <c:pt idx="5">
                  <c:v>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33</c:v>
                </c:pt>
                <c:pt idx="1">
                  <c:v>40</c:v>
                </c:pt>
                <c:pt idx="2">
                  <c:v>7</c:v>
                </c:pt>
                <c:pt idx="3">
                  <c:v>7</c:v>
                </c:pt>
                <c:pt idx="4">
                  <c:v>13</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36</c:v>
                </c:pt>
                <c:pt idx="1">
                  <c:v>29</c:v>
                </c:pt>
                <c:pt idx="2">
                  <c:v>14</c:v>
                </c:pt>
                <c:pt idx="3">
                  <c:v>7</c:v>
                </c:pt>
                <c:pt idx="4">
                  <c:v>7</c:v>
                </c:pt>
                <c:pt idx="5">
                  <c:v>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25</c:v>
                </c:pt>
                <c:pt idx="1">
                  <c:v>38</c:v>
                </c:pt>
                <c:pt idx="2">
                  <c:v>0</c:v>
                </c:pt>
                <c:pt idx="3">
                  <c:v>12</c:v>
                </c:pt>
                <c:pt idx="4">
                  <c:v>25</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50</c:v>
                </c:pt>
                <c:pt idx="1">
                  <c:v>0</c:v>
                </c:pt>
                <c:pt idx="2">
                  <c:v>50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38</c:v>
                </c:pt>
                <c:pt idx="1">
                  <c:v>18</c:v>
                </c:pt>
                <c:pt idx="2">
                  <c:v>15</c:v>
                </c:pt>
                <c:pt idx="3">
                  <c:v>21</c:v>
                </c:pt>
                <c:pt idx="4">
                  <c:v>3</c:v>
                </c:pt>
                <c:pt idx="5">
                  <c:v>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39</c:v>
                </c:pt>
                <c:pt idx="1">
                  <c:v>39</c:v>
                </c:pt>
                <c:pt idx="2">
                  <c:v>0</c:v>
                </c:pt>
                <c:pt idx="3">
                  <c:v>6</c:v>
                </c:pt>
                <c:pt idx="4">
                  <c:v>17</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42</c:v>
                </c:pt>
                <c:pt idx="1">
                  <c:v>33</c:v>
                </c:pt>
                <c:pt idx="2">
                  <c:v>17</c:v>
                </c:pt>
                <c:pt idx="3">
                  <c:v>0</c:v>
                </c:pt>
                <c:pt idx="4">
                  <c:v>0</c:v>
                </c:pt>
                <c:pt idx="5">
                  <c:v>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29</c:v>
                </c:pt>
                <c:pt idx="1">
                  <c:v>29</c:v>
                </c:pt>
                <c:pt idx="2">
                  <c:v>0</c:v>
                </c:pt>
                <c:pt idx="3">
                  <c:v>14</c:v>
                </c:pt>
                <c:pt idx="4">
                  <c:v>29</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50</c:v>
                </c:pt>
                <c:pt idx="1">
                  <c:v>0</c:v>
                </c:pt>
                <c:pt idx="2">
                  <c:v>50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30</c:v>
                </c:pt>
                <c:pt idx="1">
                  <c:v>10</c:v>
                </c:pt>
                <c:pt idx="2">
                  <c:v>30</c:v>
                </c:pt>
                <c:pt idx="3">
                  <c:v>20</c:v>
                </c:pt>
                <c:pt idx="4">
                  <c:v>10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25</c:v>
                </c:pt>
                <c:pt idx="1">
                  <c:v>42</c:v>
                </c:pt>
                <c:pt idx="2">
                  <c:v>17</c:v>
                </c:pt>
                <c:pt idx="3">
                  <c:v>8</c:v>
                </c:pt>
                <c:pt idx="4">
                  <c:v>8</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0</c:v>
                </c:pt>
                <c:pt idx="1">
                  <c:v>0</c:v>
                </c:pt>
                <c:pt idx="2">
                  <c:v>0</c:v>
                </c:pt>
                <c:pt idx="3">
                  <c:v>50</c:v>
                </c:pt>
                <c:pt idx="4">
                  <c:v>50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0</c:v>
                </c:pt>
                <c:pt idx="1">
                  <c:v>100</c:v>
                </c:pt>
                <c:pt idx="2">
                  <c:v>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Fintech partners</c:v>
                  </c:pt>
                  <c:pt idx="1">
                    <c:v>Business &amp; commercial clients</c:v>
                  </c:pt>
                  <c:pt idx="2">
                    <c:v>Dealers &amp; indirect lending partners</c:v>
                  </c:pt>
                  <c:pt idx="3">
                    <c:v>Mortgage brokers</c:v>
                  </c:pt>
                  <c:pt idx="4">
                    <c:v>Merchants</c:v>
                  </c:pt>
                  <c:pt idx="5">
                    <c:v>Appraisers</c:v>
                  </c:pt>
                </c:lvl>
              </c:multiLvlStrCache>
            </c:multiLvlStrRef>
          </c:cat>
          <c:val>
            <c:numRef>
              <c:f>Sheet1!$B$2:$B$7</c:f>
              <c:numCache>
                <c:formatCode>General</c:formatCode>
                <c:ptCount val="6"/>
                <c:pt idx="0">
                  <c:v>28</c:v>
                </c:pt>
                <c:pt idx="1">
                  <c:v>24</c:v>
                </c:pt>
                <c:pt idx="2">
                  <c:v>20</c:v>
                </c:pt>
                <c:pt idx="3">
                  <c:v>16</c:v>
                </c:pt>
                <c:pt idx="4">
                  <c:v>7</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Health care providers</c:v>
                  </c:pt>
                  <c:pt idx="1">
                    <c:v>Automotive service providers</c:v>
                  </c:pt>
                  <c:pt idx="2">
                    <c:v>Brokers &amp; distribution partners</c:v>
                  </c:pt>
                  <c:pt idx="3">
                    <c:v>Third-party administrators (TPAs)</c:v>
                  </c:pt>
                  <c:pt idx="4">
                    <c:v>Property claims service providers</c:v>
                  </c:pt>
                  <c:pt idx="5">
                    <c:v>Legal representatives &amp; paralegals</c:v>
                  </c:pt>
                </c:lvl>
              </c:multiLvlStrCache>
            </c:multiLvlStrRef>
          </c:cat>
          <c:val>
            <c:numRef>
              <c:f>Sheet1!$B$2:$B$7</c:f>
              <c:numCache>
                <c:formatCode>General</c:formatCode>
                <c:ptCount val="6"/>
                <c:pt idx="0">
                  <c:v>40</c:v>
                </c:pt>
                <c:pt idx="1">
                  <c:v>16</c:v>
                </c:pt>
                <c:pt idx="2">
                  <c:v>16</c:v>
                </c:pt>
                <c:pt idx="3">
                  <c:v>12</c:v>
                </c:pt>
                <c:pt idx="4">
                  <c:v>12</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Strategy Expected to Most Reduce Third-Party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30</c:v>
                </c:pt>
                <c:pt idx="1">
                  <c:v>27</c:v>
                </c:pt>
                <c:pt idx="2">
                  <c:v>23</c:v>
                </c:pt>
                <c:pt idx="3">
                  <c:v>19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33</c:v>
                </c:pt>
                <c:pt idx="1">
                  <c:v>25</c:v>
                </c:pt>
                <c:pt idx="2">
                  <c:v>23</c:v>
                </c:pt>
                <c:pt idx="3">
                  <c:v>17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Sheet1!$C$2:$C$5</c:f>
              <c:numCache>
                <c:formatCode>General</c:formatCode>
                <c:ptCount val="4"/>
                <c:pt idx="0">
                  <c:v>20</c:v>
                </c:pt>
                <c:pt idx="1">
                  <c:v>32</c:v>
                </c:pt>
                <c:pt idx="2">
                  <c:v>24</c:v>
                </c:pt>
                <c:pt idx="3">
                  <c:v>24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27</c:v>
                </c:pt>
                <c:pt idx="1">
                  <c:v>30</c:v>
                </c:pt>
                <c:pt idx="2">
                  <c:v>25</c:v>
                </c:pt>
                <c:pt idx="3">
                  <c:v>16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33</c:v>
                </c:pt>
                <c:pt idx="1">
                  <c:v>27</c:v>
                </c:pt>
                <c:pt idx="2">
                  <c:v>17</c:v>
                </c:pt>
                <c:pt idx="3">
                  <c:v>23</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36</c:v>
                </c:pt>
                <c:pt idx="1">
                  <c:v>21</c:v>
                </c:pt>
                <c:pt idx="2">
                  <c:v>29</c:v>
                </c:pt>
                <c:pt idx="3">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25</c:v>
                </c:pt>
                <c:pt idx="1">
                  <c:v>25</c:v>
                </c:pt>
                <c:pt idx="2">
                  <c:v>38</c:v>
                </c:pt>
                <c:pt idx="3">
                  <c:v>12</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25</c:v>
                </c:pt>
                <c:pt idx="1">
                  <c:v>25</c:v>
                </c:pt>
                <c:pt idx="2">
                  <c:v>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29</c:v>
                </c:pt>
                <c:pt idx="1">
                  <c:v>26</c:v>
                </c:pt>
                <c:pt idx="2">
                  <c:v>24</c:v>
                </c:pt>
                <c:pt idx="3">
                  <c:v>18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39</c:v>
                </c:pt>
                <c:pt idx="1">
                  <c:v>28</c:v>
                </c:pt>
                <c:pt idx="2">
                  <c:v>17</c:v>
                </c:pt>
                <c:pt idx="3">
                  <c:v>17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42</c:v>
                </c:pt>
                <c:pt idx="1">
                  <c:v>17</c:v>
                </c:pt>
                <c:pt idx="2">
                  <c:v>33</c:v>
                </c:pt>
                <c:pt idx="3">
                  <c:v>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29</c:v>
                </c:pt>
                <c:pt idx="1">
                  <c:v>29</c:v>
                </c:pt>
                <c:pt idx="2">
                  <c:v>29</c:v>
                </c:pt>
                <c:pt idx="3">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25</c:v>
                </c:pt>
                <c:pt idx="1">
                  <c:v>25</c:v>
                </c:pt>
                <c:pt idx="2">
                  <c:v>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20</c:v>
                </c:pt>
                <c:pt idx="1">
                  <c:v>40</c:v>
                </c:pt>
                <c:pt idx="2">
                  <c:v>30</c:v>
                </c:pt>
                <c:pt idx="3">
                  <c:v>10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25</c:v>
                </c:pt>
                <c:pt idx="1">
                  <c:v>25</c:v>
                </c:pt>
                <c:pt idx="2">
                  <c:v>17</c:v>
                </c:pt>
                <c:pt idx="3">
                  <c:v>33</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0</c:v>
                </c:pt>
                <c:pt idx="1">
                  <c:v>50</c:v>
                </c:pt>
                <c:pt idx="2">
                  <c:v>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0</c:v>
                </c:pt>
                <c:pt idx="1">
                  <c:v>0</c:v>
                </c:pt>
                <c:pt idx="2">
                  <c:v>100</c:v>
                </c:pt>
                <c:pt idx="3">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100 Financial Institution (n=40)</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30</c:v>
                </c:pt>
                <c:pt idx="1">
                  <c:v>28</c:v>
                </c:pt>
                <c:pt idx="2">
                  <c:v>18</c:v>
                </c:pt>
                <c:pt idx="3">
                  <c:v>22</c:v>
                </c:pt>
              </c:numCache>
            </c:numRef>
          </c:val>
        </c:ser>
        <c:ser>
          <c:idx val="1"/>
          <c:order val="1"/>
          <c:tx>
            <c:strRef>
              <c:f>Sheet1!$C$1</c:f>
              <c:strCache>
                <c:ptCount val="1"/>
                <c:pt idx="0">
                  <c:v>Large Financial Institution (n=35)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Sheet1!$C$2:$C$5</c:f>
              <c:numCache>
                <c:formatCode>General</c:formatCode>
                <c:ptCount val="4"/>
                <c:pt idx="0">
                  <c:v>37</c:v>
                </c:pt>
                <c:pt idx="1">
                  <c:v>23</c:v>
                </c:pt>
                <c:pt idx="2">
                  <c:v>29</c:v>
                </c:pt>
                <c:pt idx="3">
                  <c:v>11</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50 Global Insurance Carrier (n=15)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20</c:v>
                </c:pt>
                <c:pt idx="1">
                  <c:v>40</c:v>
                </c:pt>
                <c:pt idx="2">
                  <c:v>20</c:v>
                </c:pt>
                <c:pt idx="3">
                  <c:v>20</c:v>
                </c:pt>
              </c:numCache>
            </c:numRef>
          </c:val>
        </c:ser>
        <c:ser>
          <c:idx val="1"/>
          <c:order val="1"/>
          <c:tx>
            <c:strRef>
              <c:f>Sheet1!$C$1</c:f>
              <c:strCache>
                <c:ptCount val="1"/>
                <c:pt idx="0">
                  <c:v>Large Insurance Carrier (n=10)</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Sheet1!$C$2:$C$5</c:f>
              <c:numCache>
                <c:formatCode>General</c:formatCode>
                <c:ptCount val="4"/>
                <c:pt idx="0">
                  <c:v>20</c:v>
                </c:pt>
                <c:pt idx="1">
                  <c:v>20</c:v>
                </c:pt>
                <c:pt idx="2">
                  <c:v>30</c:v>
                </c:pt>
                <c:pt idx="3">
                  <c:v>30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5</c:v>
                </c:pt>
                <c:pt idx="2">
                  <c:v>9</c:v>
                </c:pt>
                <c:pt idx="3">
                  <c:v>48</c:v>
                </c:pt>
                <c:pt idx="4">
                  <c:v>37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Sheet1!$C$2:$C$6</c:f>
              <c:numCache>
                <c:formatCode>General</c:formatCode>
                <c:ptCount val="5"/>
                <c:pt idx="0">
                  <c:v>4</c:v>
                </c:pt>
                <c:pt idx="1">
                  <c:v>4</c:v>
                </c:pt>
                <c:pt idx="2">
                  <c:v>20</c:v>
                </c:pt>
                <c:pt idx="3">
                  <c:v>32</c:v>
                </c:pt>
                <c:pt idx="4">
                  <c:v>40</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Top tier (Top 100 Banking n=40 / Top 50 Insurance n=15)</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Banking (0%)</c:v>
                  </c:pt>
                  <c:pt idx="1">
                    <c:v>Reactive — Insurance (4%)</c:v>
                  </c:pt>
                  <c:pt idx="2">
                    <c:v>Foundational — Banking (5%)</c:v>
                  </c:pt>
                  <c:pt idx="3">
                    <c:v>Foundational — Insurance (4%)</c:v>
                  </c:pt>
                  <c:pt idx="4">
                    <c:v>Managed — Banking (9%)</c:v>
                  </c:pt>
                  <c:pt idx="5">
                    <c:v>Managed — Insurance (20%)</c:v>
                  </c:pt>
                  <c:pt idx="6">
                    <c:v>Integrated — Banking (48%)</c:v>
                  </c:pt>
                  <c:pt idx="7">
                    <c:v>Integrated — Insurance (32%)</c:v>
                  </c:pt>
                  <c:pt idx="8">
                    <c:v>Advanced — Banking (37%)</c:v>
                  </c:pt>
                  <c:pt idx="9">
                    <c:v>Advanced — Insurance (40%)</c:v>
                  </c:pt>
                </c:lvl>
              </c:multiLvlStrCache>
            </c:multiLvlStrRef>
          </c:cat>
          <c:val>
            <c:numRef>
              <c:f>Sheet1!$B$2:$B$11</c:f>
              <c:numCache>
                <c:formatCode>General</c:formatCode>
                <c:ptCount val="10"/>
                <c:pt idx="0">
                  <c:v>0</c:v>
                </c:pt>
                <c:pt idx="1">
                  <c:v>0</c:v>
                </c:pt>
                <c:pt idx="2">
                  <c:v>0</c:v>
                </c:pt>
                <c:pt idx="3">
                  <c:v>4</c:v>
                </c:pt>
                <c:pt idx="4">
                  <c:v>4</c:v>
                </c:pt>
                <c:pt idx="5">
                  <c:v>8</c:v>
                </c:pt>
                <c:pt idx="6">
                  <c:v>24</c:v>
                </c:pt>
                <c:pt idx="7">
                  <c:v>20</c:v>
                </c:pt>
                <c:pt idx="8">
                  <c:v>25</c:v>
                </c:pt>
                <c:pt idx="9">
                  <c:v>28</c:v>
                </c:pt>
              </c:numCache>
            </c:numRef>
          </c:val>
        </c:ser>
        <c:ser>
          <c:idx val="1"/>
          <c:order val="1"/>
          <c:tx>
            <c:strRef>
              <c:f>Sheet1!$C$1</c:f>
              <c:strCache>
                <c:ptCount val="1"/>
                <c:pt idx="0">
                  <c:v>Large institution (Banking n=35 / Insurance n=10)</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Banking (0%)</c:v>
                  </c:pt>
                  <c:pt idx="1">
                    <c:v>Reactive — Insurance (4%)</c:v>
                  </c:pt>
                  <c:pt idx="2">
                    <c:v>Foundational — Banking (5%)</c:v>
                  </c:pt>
                  <c:pt idx="3">
                    <c:v>Foundational — Insurance (4%)</c:v>
                  </c:pt>
                  <c:pt idx="4">
                    <c:v>Managed — Banking (9%)</c:v>
                  </c:pt>
                  <c:pt idx="5">
                    <c:v>Managed — Insurance (20%)</c:v>
                  </c:pt>
                  <c:pt idx="6">
                    <c:v>Integrated — Banking (48%)</c:v>
                  </c:pt>
                  <c:pt idx="7">
                    <c:v>Integrated — Insurance (32%)</c:v>
                  </c:pt>
                  <c:pt idx="8">
                    <c:v>Advanced — Banking (37%)</c:v>
                  </c:pt>
                  <c:pt idx="9">
                    <c:v>Advanced — Insurance (40%)</c:v>
                  </c:pt>
                </c:lvl>
              </c:multiLvlStrCache>
            </c:multiLvlStrRef>
          </c:cat>
          <c:val>
            <c:numRef>
              <c:f>Sheet1!$C$2:$C$11</c:f>
              <c:numCache>
                <c:formatCode>General</c:formatCode>
                <c:ptCount val="10"/>
                <c:pt idx="0">
                  <c:v>0</c:v>
                </c:pt>
                <c:pt idx="1">
                  <c:v>4</c:v>
                </c:pt>
                <c:pt idx="2">
                  <c:v>5</c:v>
                </c:pt>
                <c:pt idx="3">
                  <c:v>0</c:v>
                </c:pt>
                <c:pt idx="4">
                  <c:v>5</c:v>
                </c:pt>
                <c:pt idx="5">
                  <c:v>12</c:v>
                </c:pt>
                <c:pt idx="6">
                  <c:v>24</c:v>
                </c:pt>
                <c:pt idx="7">
                  <c:v>12</c:v>
                </c:pt>
                <c:pt idx="8">
                  <c:v>12</c:v>
                </c:pt>
                <c:pt idx="9">
                  <c:v>12</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Sheet1!$B$2:$B$11</c:f>
              <c:numCache>
                <c:formatCode>General</c:formatCode>
                <c:ptCount val="10"/>
                <c:pt idx="0">
                  <c:v>0</c:v>
                </c:pt>
                <c:pt idx="1">
                  <c:v>0</c:v>
                </c:pt>
                <c:pt idx="2">
                  <c:v>0</c:v>
                </c:pt>
                <c:pt idx="3">
                  <c:v>3</c:v>
                </c:pt>
                <c:pt idx="4">
                  <c:v>3</c:v>
                </c:pt>
                <c:pt idx="5">
                  <c:v>6</c:v>
                </c:pt>
                <c:pt idx="6">
                  <c:v>13</c:v>
                </c:pt>
                <c:pt idx="7">
                  <c:v>34</c:v>
                </c:pt>
                <c:pt idx="8">
                  <c:v>20</c:v>
                </c:pt>
                <c:pt idx="9">
                  <c:v>14</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Sheet1!$C$2:$C$11</c:f>
              <c:numCache>
                <c:formatCode>General</c:formatCode>
                <c:ptCount val="10"/>
                <c:pt idx="0">
                  <c:v>0</c:v>
                </c:pt>
                <c:pt idx="1">
                  <c:v>0</c:v>
                </c:pt>
                <c:pt idx="2">
                  <c:v>0</c:v>
                </c:pt>
                <c:pt idx="3">
                  <c:v>6</c:v>
                </c:pt>
                <c:pt idx="4">
                  <c:v>3</c:v>
                </c:pt>
                <c:pt idx="5">
                  <c:v>3</c:v>
                </c:pt>
                <c:pt idx="6">
                  <c:v>20</c:v>
                </c:pt>
                <c:pt idx="7">
                  <c:v>0</c:v>
                </c:pt>
                <c:pt idx="8">
                  <c:v>10</c:v>
                </c:pt>
                <c:pt idx="9">
                  <c:v>6</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Sheet1!$D$2:$D$11</c:f>
              <c:numCache>
                <c:formatCode>General</c:formatCode>
                <c:ptCount val="10"/>
                <c:pt idx="0">
                  <c:v>0</c:v>
                </c:pt>
                <c:pt idx="1">
                  <c:v>0</c:v>
                </c:pt>
                <c:pt idx="2">
                  <c:v>0</c:v>
                </c:pt>
                <c:pt idx="3">
                  <c:v>3</c:v>
                </c:pt>
                <c:pt idx="4">
                  <c:v>3</c:v>
                </c:pt>
                <c:pt idx="5">
                  <c:v>0</c:v>
                </c:pt>
                <c:pt idx="6">
                  <c:v>5</c:v>
                </c:pt>
                <c:pt idx="7">
                  <c:v>11</c:v>
                </c:pt>
                <c:pt idx="8">
                  <c:v>10</c:v>
                </c:pt>
                <c:pt idx="9">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Sheet1!$E$2:$E$11</c:f>
              <c:numCache>
                <c:formatCode>General</c:formatCode>
                <c:ptCount val="10"/>
                <c:pt idx="0">
                  <c:v>0</c:v>
                </c:pt>
                <c:pt idx="1">
                  <c:v>0</c:v>
                </c:pt>
                <c:pt idx="2">
                  <c:v>0</c:v>
                </c:pt>
                <c:pt idx="3">
                  <c:v>0</c:v>
                </c:pt>
                <c:pt idx="4">
                  <c:v>0</c:v>
                </c:pt>
                <c:pt idx="5">
                  <c:v>0</c:v>
                </c:pt>
                <c:pt idx="6">
                  <c:v>3</c:v>
                </c:pt>
                <c:pt idx="7">
                  <c:v>6</c:v>
                </c:pt>
                <c:pt idx="8">
                  <c:v>8</c:v>
                </c:pt>
                <c:pt idx="9">
                  <c:v>3</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Sheet1!$F$2:$F$11</c:f>
              <c:numCache>
                <c:formatCode>General</c:formatCode>
                <c:ptCount val="10"/>
                <c:pt idx="0">
                  <c:v>0</c:v>
                </c:pt>
                <c:pt idx="1">
                  <c:v>0</c:v>
                </c:pt>
                <c:pt idx="2">
                  <c:v>0</c:v>
                </c:pt>
                <c:pt idx="3">
                  <c:v>0</c:v>
                </c:pt>
                <c:pt idx="4">
                  <c:v>0</c:v>
                </c:pt>
                <c:pt idx="5">
                  <c:v>3</c:v>
                </c:pt>
                <c:pt idx="6">
                  <c:v>5</c:v>
                </c:pt>
                <c:pt idx="7">
                  <c:v>0</c:v>
                </c:pt>
                <c:pt idx="8">
                  <c:v>0</c:v>
                </c:pt>
                <c:pt idx="9">
                  <c:v>3</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Sheet1!$B$2:$B$11</c:f>
              <c:numCache>
                <c:formatCode>General</c:formatCode>
                <c:ptCount val="10"/>
                <c:pt idx="0">
                  <c:v>0</c:v>
                </c:pt>
                <c:pt idx="1">
                  <c:v>0</c:v>
                </c:pt>
                <c:pt idx="2">
                  <c:v>0</c:v>
                </c:pt>
                <c:pt idx="3">
                  <c:v>0</c:v>
                </c:pt>
                <c:pt idx="4">
                  <c:v>7</c:v>
                </c:pt>
                <c:pt idx="5">
                  <c:v>10</c:v>
                </c:pt>
                <c:pt idx="6">
                  <c:v>27</c:v>
                </c:pt>
                <c:pt idx="7">
                  <c:v>20</c:v>
                </c:pt>
                <c:pt idx="8">
                  <c:v>13</c:v>
                </c:pt>
                <c:pt idx="9">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Sheet1!$C$2:$C$11</c:f>
              <c:numCache>
                <c:formatCode>General</c:formatCode>
                <c:ptCount val="10"/>
                <c:pt idx="0">
                  <c:v>0</c:v>
                </c:pt>
                <c:pt idx="1">
                  <c:v>10</c:v>
                </c:pt>
                <c:pt idx="2">
                  <c:v>7</c:v>
                </c:pt>
                <c:pt idx="3">
                  <c:v>0</c:v>
                </c:pt>
                <c:pt idx="4">
                  <c:v>7</c:v>
                </c:pt>
                <c:pt idx="5">
                  <c:v>20</c:v>
                </c:pt>
                <c:pt idx="6">
                  <c:v>7</c:v>
                </c:pt>
                <c:pt idx="7">
                  <c:v>10</c:v>
                </c:pt>
                <c:pt idx="8">
                  <c:v>20</c:v>
                </c:pt>
                <c:pt idx="9">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Sheet1!$D$2:$D$11</c:f>
              <c:numCache>
                <c:formatCode>General</c:formatCode>
                <c:ptCount val="10"/>
                <c:pt idx="0">
                  <c:v>0</c:v>
                </c:pt>
                <c:pt idx="1">
                  <c:v>0</c:v>
                </c:pt>
                <c:pt idx="2">
                  <c:v>0</c:v>
                </c:pt>
                <c:pt idx="3">
                  <c:v>0</c:v>
                </c:pt>
                <c:pt idx="4">
                  <c:v>0</c:v>
                </c:pt>
                <c:pt idx="5">
                  <c:v>0</c:v>
                </c:pt>
                <c:pt idx="6">
                  <c:v>0</c:v>
                </c:pt>
                <c:pt idx="7">
                  <c:v>0</c:v>
                </c:pt>
                <c:pt idx="8">
                  <c:v>7</c:v>
                </c:pt>
                <c:pt idx="9">
                  <c:v>10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Sheet1!$E$2:$E$11</c:f>
              <c:numCache>
                <c:formatCode>General</c:formatCode>
                <c:ptCount val="10"/>
                <c:pt idx="0">
                  <c:v>0</c:v>
                </c:pt>
                <c:pt idx="1">
                  <c:v>0</c:v>
                </c:pt>
                <c:pt idx="2">
                  <c:v>0</c:v>
                </c:pt>
                <c:pt idx="3">
                  <c:v>0</c:v>
                </c:pt>
                <c:pt idx="4">
                  <c:v>0</c:v>
                </c:pt>
                <c:pt idx="5">
                  <c:v>0</c:v>
                </c:pt>
                <c:pt idx="6">
                  <c:v>0</c:v>
                </c:pt>
                <c:pt idx="7">
                  <c:v>0</c:v>
                </c:pt>
                <c:pt idx="8">
                  <c:v>7</c:v>
                </c:pt>
                <c:pt idx="9">
                  <c:v>0</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Current approach</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Sheet1!$B$2:$B$7</c:f>
              <c:numCache>
                <c:formatCode>General</c:formatCode>
                <c:ptCount val="6"/>
                <c:pt idx="0">
                  <c:v>34</c:v>
                </c:pt>
                <c:pt idx="1">
                  <c:v>29</c:v>
                </c:pt>
                <c:pt idx="2">
                  <c:v>10</c:v>
                </c:pt>
                <c:pt idx="3">
                  <c:v>10</c:v>
                </c:pt>
                <c:pt idx="4">
                  <c:v>10</c:v>
                </c:pt>
                <c:pt idx="5">
                  <c:v>7</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Sheet1!$C$2:$C$7</c:f>
              <c:numCache>
                <c:formatCode>General</c:formatCode>
                <c:ptCount val="6"/>
                <c:pt idx="0">
                  <c:v>41</c:v>
                </c:pt>
                <c:pt idx="1">
                  <c:v>27</c:v>
                </c:pt>
                <c:pt idx="2">
                  <c:v>18</c:v>
                </c:pt>
                <c:pt idx="3">
                  <c:v>7</c:v>
                </c:pt>
                <c:pt idx="4">
                  <c:v>5</c:v>
                </c:pt>
                <c:pt idx="5">
                  <c:v>2</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47</c:v>
                </c:pt>
                <c:pt idx="1">
                  <c:v>33</c:v>
                </c:pt>
                <c:pt idx="2">
                  <c:v>7</c:v>
                </c:pt>
                <c:pt idx="3">
                  <c:v>7</c:v>
                </c:pt>
                <c:pt idx="4">
                  <c:v>7</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27</c:v>
                </c:pt>
                <c:pt idx="2">
                  <c:v>27</c:v>
                </c:pt>
                <c:pt idx="3">
                  <c:v>7</c:v>
                </c:pt>
                <c:pt idx="4">
                  <c:v>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10</c:v>
                </c:pt>
                <c:pt idx="1">
                  <c:v>20</c:v>
                </c:pt>
                <c:pt idx="2">
                  <c:v>20</c:v>
                </c:pt>
                <c:pt idx="3">
                  <c:v>30</c:v>
                </c:pt>
                <c:pt idx="4">
                  <c:v>20</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30</c:v>
                </c:pt>
                <c:pt idx="2">
                  <c:v>20</c:v>
                </c:pt>
                <c:pt idx="3">
                  <c:v>0</c:v>
                </c:pt>
                <c:pt idx="4">
                  <c:v>10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Sheet1!$B$2:$B$13</c:f>
              <c:numCache>
                <c:formatCode>General</c:formatCode>
                <c:ptCount val="12"/>
                <c:pt idx="0">
                  <c:v>20</c:v>
                </c:pt>
                <c:pt idx="1">
                  <c:v>0</c:v>
                </c:pt>
                <c:pt idx="2">
                  <c:v>27</c:v>
                </c:pt>
                <c:pt idx="3">
                  <c:v>0</c:v>
                </c:pt>
                <c:pt idx="4">
                  <c:v>0</c:v>
                </c:pt>
                <c:pt idx="5">
                  <c:v>20</c:v>
                </c:pt>
                <c:pt idx="6">
                  <c:v>0</c:v>
                </c:pt>
                <c:pt idx="7">
                  <c:v>0</c:v>
                </c:pt>
                <c:pt idx="8">
                  <c:v>0</c:v>
                </c:pt>
                <c:pt idx="9">
                  <c:v>10</c:v>
                </c:pt>
                <c:pt idx="10">
                  <c:v>0</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Sheet1!$C$2:$C$13</c:f>
              <c:numCache>
                <c:formatCode>General</c:formatCode>
                <c:ptCount val="12"/>
                <c:pt idx="0">
                  <c:v>20</c:v>
                </c:pt>
                <c:pt idx="1">
                  <c:v>10</c:v>
                </c:pt>
                <c:pt idx="2">
                  <c:v>7</c:v>
                </c:pt>
                <c:pt idx="3">
                  <c:v>20</c:v>
                </c:pt>
                <c:pt idx="4">
                  <c:v>7</c:v>
                </c:pt>
                <c:pt idx="5">
                  <c:v>0</c:v>
                </c:pt>
                <c:pt idx="6">
                  <c:v>7</c:v>
                </c:pt>
                <c:pt idx="7">
                  <c:v>20</c:v>
                </c:pt>
                <c:pt idx="8">
                  <c:v>0</c:v>
                </c:pt>
                <c:pt idx="9">
                  <c:v>10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Sheet1!$D$2:$D$13</c:f>
              <c:numCache>
                <c:formatCode>General</c:formatCode>
                <c:ptCount val="12"/>
                <c:pt idx="0">
                  <c:v>7</c:v>
                </c:pt>
                <c:pt idx="1">
                  <c:v>0</c:v>
                </c:pt>
                <c:pt idx="2">
                  <c:v>0</c:v>
                </c:pt>
                <c:pt idx="3">
                  <c:v>0</c:v>
                </c:pt>
                <c:pt idx="4">
                  <c:v>0</c:v>
                </c:pt>
                <c:pt idx="5">
                  <c:v>0</c:v>
                </c:pt>
                <c:pt idx="6">
                  <c:v>0</c:v>
                </c:pt>
                <c:pt idx="7">
                  <c:v>10</c:v>
                </c:pt>
                <c:pt idx="8">
                  <c:v>0</c:v>
                </c:pt>
                <c:pt idx="9">
                  <c:v>0</c:v>
                </c:pt>
                <c:pt idx="10">
                  <c:v>0</c:v>
                </c:pt>
                <c:pt idx="11">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Sheet1!$E$2:$E$13</c:f>
              <c:numCache>
                <c:formatCode>General</c:formatCode>
                <c:ptCount val="12"/>
                <c:pt idx="0">
                  <c:v>0</c:v>
                </c:pt>
                <c:pt idx="1">
                  <c:v>0</c:v>
                </c:pt>
                <c:pt idx="2">
                  <c:v>0</c:v>
                </c:pt>
                <c:pt idx="3">
                  <c:v>0</c:v>
                </c:pt>
                <c:pt idx="4">
                  <c:v>0</c:v>
                </c:pt>
                <c:pt idx="5">
                  <c:v>0</c:v>
                </c:pt>
                <c:pt idx="6">
                  <c:v>0</c:v>
                </c:pt>
                <c:pt idx="7">
                  <c:v>0</c:v>
                </c:pt>
                <c:pt idx="8">
                  <c:v>7</c:v>
                </c:pt>
                <c:pt idx="9">
                  <c:v>0</c:v>
                </c:pt>
                <c:pt idx="10">
                  <c:v>0</c:v>
                </c:pt>
                <c:pt idx="11">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Sheet1!$B$2:$B$13</c:f>
              <c:numCache>
                <c:formatCode>General</c:formatCode>
                <c:ptCount val="12"/>
                <c:pt idx="0">
                  <c:v>27</c:v>
                </c:pt>
                <c:pt idx="1">
                  <c:v>10</c:v>
                </c:pt>
                <c:pt idx="2">
                  <c:v>7</c:v>
                </c:pt>
                <c:pt idx="3">
                  <c:v>20</c:v>
                </c:pt>
                <c:pt idx="4">
                  <c:v>7</c:v>
                </c:pt>
                <c:pt idx="5">
                  <c:v>0</c:v>
                </c:pt>
                <c:pt idx="6">
                  <c:v>7</c:v>
                </c:pt>
                <c:pt idx="7">
                  <c:v>0</c:v>
                </c:pt>
                <c:pt idx="8">
                  <c:v>0</c:v>
                </c:pt>
                <c:pt idx="9">
                  <c:v>0</c:v>
                </c:pt>
                <c:pt idx="10">
                  <c:v>0</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Sheet1!$C$2:$C$13</c:f>
              <c:numCache>
                <c:formatCode>General</c:formatCode>
                <c:ptCount val="12"/>
                <c:pt idx="0">
                  <c:v>13</c:v>
                </c:pt>
                <c:pt idx="1">
                  <c:v>30</c:v>
                </c:pt>
                <c:pt idx="2">
                  <c:v>20</c:v>
                </c:pt>
                <c:pt idx="3">
                  <c:v>10</c:v>
                </c:pt>
                <c:pt idx="4">
                  <c:v>7</c:v>
                </c:pt>
                <c:pt idx="5">
                  <c:v>20</c:v>
                </c:pt>
                <c:pt idx="6">
                  <c:v>0</c:v>
                </c:pt>
                <c:pt idx="7">
                  <c:v>0</c:v>
                </c:pt>
                <c:pt idx="8">
                  <c:v>0</c:v>
                </c:pt>
                <c:pt idx="9">
                  <c:v>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Sheet1!$D$2:$D$13</c:f>
              <c:numCache>
                <c:formatCode>General</c:formatCode>
                <c:ptCount val="12"/>
                <c:pt idx="0">
                  <c:v>0</c:v>
                </c:pt>
                <c:pt idx="1">
                  <c:v>0</c:v>
                </c:pt>
                <c:pt idx="2">
                  <c:v>0</c:v>
                </c:pt>
                <c:pt idx="3">
                  <c:v>0</c:v>
                </c:pt>
                <c:pt idx="4">
                  <c:v>7</c:v>
                </c:pt>
                <c:pt idx="5">
                  <c:v>0</c:v>
                </c:pt>
                <c:pt idx="6">
                  <c:v>0</c:v>
                </c:pt>
                <c:pt idx="7">
                  <c:v>0</c:v>
                </c:pt>
                <c:pt idx="8">
                  <c:v>0</c:v>
                </c:pt>
                <c:pt idx="9">
                  <c:v>10</c:v>
                </c:pt>
                <c:pt idx="10">
                  <c:v>0</c:v>
                </c:pt>
                <c:pt idx="11">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Sheet1!$E$2:$E$13</c:f>
              <c:numCache>
                <c:formatCode>General</c:formatCode>
                <c:ptCount val="12"/>
                <c:pt idx="0">
                  <c:v>0</c:v>
                </c:pt>
                <c:pt idx="1">
                  <c:v>0</c:v>
                </c:pt>
                <c:pt idx="2">
                  <c:v>0</c:v>
                </c:pt>
                <c:pt idx="3">
                  <c:v>0</c:v>
                </c:pt>
                <c:pt idx="4">
                  <c:v>7</c:v>
                </c:pt>
                <c:pt idx="5">
                  <c:v>0</c:v>
                </c:pt>
                <c:pt idx="6">
                  <c:v>0</c:v>
                </c:pt>
                <c:pt idx="7">
                  <c:v>0</c:v>
                </c:pt>
                <c:pt idx="8">
                  <c:v>0</c:v>
                </c:pt>
                <c:pt idx="9">
                  <c:v>0</c:v>
                </c:pt>
                <c:pt idx="10">
                  <c:v>0</c:v>
                </c:pt>
                <c:pt idx="11">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35</c:v>
                </c:pt>
                <c:pt idx="1">
                  <c:v>32</c:v>
                </c:pt>
                <c:pt idx="2">
                  <c:v>8</c:v>
                </c:pt>
                <c:pt idx="3">
                  <c:v>5</c:v>
                </c:pt>
                <c:pt idx="4">
                  <c:v>5</c:v>
                </c:pt>
                <c:pt idx="5">
                  <c:v>15</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32</c:v>
                </c:pt>
                <c:pt idx="2">
                  <c:v>15</c:v>
                </c:pt>
                <c:pt idx="3">
                  <c:v>8</c:v>
                </c:pt>
                <c:pt idx="4">
                  <c:v>2</c:v>
                </c:pt>
                <c:pt idx="5">
                  <c:v>2</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34</c:v>
                </c:pt>
                <c:pt idx="1">
                  <c:v>26</c:v>
                </c:pt>
                <c:pt idx="2">
                  <c:v>11</c:v>
                </c:pt>
                <c:pt idx="3">
                  <c:v>11</c:v>
                </c:pt>
                <c:pt idx="4">
                  <c:v>14</c:v>
                </c:pt>
                <c:pt idx="5">
                  <c:v>3</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43</c:v>
                </c:pt>
                <c:pt idx="1">
                  <c:v>20</c:v>
                </c:pt>
                <c:pt idx="2">
                  <c:v>17</c:v>
                </c:pt>
                <c:pt idx="3">
                  <c:v>9</c:v>
                </c:pt>
                <c:pt idx="4">
                  <c:v>9</c:v>
                </c:pt>
                <c:pt idx="5">
                  <c:v>3</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Sheet1!$B$2:$B$13</c:f>
              <c:numCache>
                <c:formatCode>General</c:formatCode>
                <c:ptCount val="12"/>
                <c:pt idx="0">
                  <c:v>20</c:v>
                </c:pt>
                <c:pt idx="1">
                  <c:v>17</c:v>
                </c:pt>
                <c:pt idx="2">
                  <c:v>10</c:v>
                </c:pt>
                <c:pt idx="3">
                  <c:v>11</c:v>
                </c:pt>
                <c:pt idx="4">
                  <c:v>0</c:v>
                </c:pt>
                <c:pt idx="5">
                  <c:v>6</c:v>
                </c:pt>
                <c:pt idx="6">
                  <c:v>0</c:v>
                </c:pt>
                <c:pt idx="7">
                  <c:v>9</c:v>
                </c:pt>
                <c:pt idx="8">
                  <c:v>0</c:v>
                </c:pt>
                <c:pt idx="9">
                  <c:v>14</c:v>
                </c:pt>
                <c:pt idx="10">
                  <c:v>5</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Sheet1!$C$2:$C$13</c:f>
              <c:numCache>
                <c:formatCode>General</c:formatCode>
                <c:ptCount val="12"/>
                <c:pt idx="0">
                  <c:v>5</c:v>
                </c:pt>
                <c:pt idx="1">
                  <c:v>6</c:v>
                </c:pt>
                <c:pt idx="2">
                  <c:v>12</c:v>
                </c:pt>
                <c:pt idx="3">
                  <c:v>9</c:v>
                </c:pt>
                <c:pt idx="4">
                  <c:v>2</c:v>
                </c:pt>
                <c:pt idx="5">
                  <c:v>0</c:v>
                </c:pt>
                <c:pt idx="6">
                  <c:v>2</c:v>
                </c:pt>
                <c:pt idx="7">
                  <c:v>0</c:v>
                </c:pt>
                <c:pt idx="8">
                  <c:v>2</c:v>
                </c:pt>
                <c:pt idx="9">
                  <c:v>0</c:v>
                </c:pt>
                <c:pt idx="10">
                  <c:v>8</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Sheet1!$D$2:$D$13</c:f>
              <c:numCache>
                <c:formatCode>General</c:formatCode>
                <c:ptCount val="12"/>
                <c:pt idx="0">
                  <c:v>5</c:v>
                </c:pt>
                <c:pt idx="1">
                  <c:v>6</c:v>
                </c:pt>
                <c:pt idx="2">
                  <c:v>5</c:v>
                </c:pt>
                <c:pt idx="3">
                  <c:v>3</c:v>
                </c:pt>
                <c:pt idx="4">
                  <c:v>2</c:v>
                </c:pt>
                <c:pt idx="5">
                  <c:v>3</c:v>
                </c:pt>
                <c:pt idx="6">
                  <c:v>0</c:v>
                </c:pt>
                <c:pt idx="7">
                  <c:v>0</c:v>
                </c:pt>
                <c:pt idx="8">
                  <c:v>2</c:v>
                </c:pt>
                <c:pt idx="9">
                  <c:v>0</c:v>
                </c:pt>
                <c:pt idx="10">
                  <c:v>2</c:v>
                </c:pt>
                <c:pt idx="11">
                  <c:v>3</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Sheet1!$E$2:$E$13</c:f>
              <c:numCache>
                <c:formatCode>General</c:formatCode>
                <c:ptCount val="12"/>
                <c:pt idx="0">
                  <c:v>2</c:v>
                </c:pt>
                <c:pt idx="1">
                  <c:v>6</c:v>
                </c:pt>
                <c:pt idx="2">
                  <c:v>5</c:v>
                </c:pt>
                <c:pt idx="3">
                  <c:v>0</c:v>
                </c:pt>
                <c:pt idx="4">
                  <c:v>2</c:v>
                </c:pt>
                <c:pt idx="5">
                  <c:v>0</c:v>
                </c:pt>
                <c:pt idx="6">
                  <c:v>0</c:v>
                </c:pt>
                <c:pt idx="7">
                  <c:v>3</c:v>
                </c:pt>
                <c:pt idx="8">
                  <c:v>0</c:v>
                </c:pt>
                <c:pt idx="9">
                  <c:v>0</c:v>
                </c:pt>
                <c:pt idx="10">
                  <c:v>0</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Sheet1!$F$2:$F$13</c:f>
              <c:numCache>
                <c:formatCode>General</c:formatCode>
                <c:ptCount val="12"/>
                <c:pt idx="0">
                  <c:v>2</c:v>
                </c:pt>
                <c:pt idx="1">
                  <c:v>0</c:v>
                </c:pt>
                <c:pt idx="2">
                  <c:v>0</c:v>
                </c:pt>
                <c:pt idx="3">
                  <c:v>3</c:v>
                </c:pt>
                <c:pt idx="4">
                  <c:v>0</c:v>
                </c:pt>
                <c:pt idx="5">
                  <c:v>3</c:v>
                </c:pt>
                <c:pt idx="6">
                  <c:v>2</c:v>
                </c:pt>
                <c:pt idx="7">
                  <c:v>0</c:v>
                </c:pt>
                <c:pt idx="8">
                  <c:v>0</c:v>
                </c:pt>
                <c:pt idx="9">
                  <c:v>0</c:v>
                </c:pt>
                <c:pt idx="10">
                  <c:v>0</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Sheet1!$B$2:$B$13</c:f>
              <c:numCache>
                <c:formatCode>General</c:formatCode>
                <c:ptCount val="12"/>
                <c:pt idx="0">
                  <c:v>10</c:v>
                </c:pt>
                <c:pt idx="1">
                  <c:v>20</c:v>
                </c:pt>
                <c:pt idx="2">
                  <c:v>8</c:v>
                </c:pt>
                <c:pt idx="3">
                  <c:v>14</c:v>
                </c:pt>
                <c:pt idx="4">
                  <c:v>10</c:v>
                </c:pt>
                <c:pt idx="5">
                  <c:v>11</c:v>
                </c:pt>
                <c:pt idx="6">
                  <c:v>5</c:v>
                </c:pt>
                <c:pt idx="7">
                  <c:v>3</c:v>
                </c:pt>
                <c:pt idx="8">
                  <c:v>0</c:v>
                </c:pt>
                <c:pt idx="9">
                  <c:v>9</c:v>
                </c:pt>
                <c:pt idx="10">
                  <c:v>2</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Sheet1!$C$2:$C$13</c:f>
              <c:numCache>
                <c:formatCode>General</c:formatCode>
                <c:ptCount val="12"/>
                <c:pt idx="0">
                  <c:v>20</c:v>
                </c:pt>
                <c:pt idx="1">
                  <c:v>9</c:v>
                </c:pt>
                <c:pt idx="2">
                  <c:v>10</c:v>
                </c:pt>
                <c:pt idx="3">
                  <c:v>0</c:v>
                </c:pt>
                <c:pt idx="4">
                  <c:v>2</c:v>
                </c:pt>
                <c:pt idx="5">
                  <c:v>3</c:v>
                </c:pt>
                <c:pt idx="6">
                  <c:v>0</c:v>
                </c:pt>
                <c:pt idx="7">
                  <c:v>3</c:v>
                </c:pt>
                <c:pt idx="8">
                  <c:v>0</c:v>
                </c:pt>
                <c:pt idx="9">
                  <c:v>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Sheet1!$D$2:$D$13</c:f>
              <c:numCache>
                <c:formatCode>General</c:formatCode>
                <c:ptCount val="12"/>
                <c:pt idx="0">
                  <c:v>10</c:v>
                </c:pt>
                <c:pt idx="1">
                  <c:v>6</c:v>
                </c:pt>
                <c:pt idx="2">
                  <c:v>5</c:v>
                </c:pt>
                <c:pt idx="3">
                  <c:v>3</c:v>
                </c:pt>
                <c:pt idx="4">
                  <c:v>2</c:v>
                </c:pt>
                <c:pt idx="5">
                  <c:v>0</c:v>
                </c:pt>
                <c:pt idx="6">
                  <c:v>0</c:v>
                </c:pt>
                <c:pt idx="7">
                  <c:v>3</c:v>
                </c:pt>
                <c:pt idx="8">
                  <c:v>0</c:v>
                </c:pt>
                <c:pt idx="9">
                  <c:v>0</c:v>
                </c:pt>
                <c:pt idx="10">
                  <c:v>0</c:v>
                </c:pt>
                <c:pt idx="11">
                  <c:v>3</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Sheet1!$E$2:$E$13</c:f>
              <c:numCache>
                <c:formatCode>General</c:formatCode>
                <c:ptCount val="12"/>
                <c:pt idx="0">
                  <c:v>0</c:v>
                </c:pt>
                <c:pt idx="1">
                  <c:v>3</c:v>
                </c:pt>
                <c:pt idx="2">
                  <c:v>5</c:v>
                </c:pt>
                <c:pt idx="3">
                  <c:v>3</c:v>
                </c:pt>
                <c:pt idx="4">
                  <c:v>0</c:v>
                </c:pt>
                <c:pt idx="5">
                  <c:v>3</c:v>
                </c:pt>
                <c:pt idx="6">
                  <c:v>2</c:v>
                </c:pt>
                <c:pt idx="7">
                  <c:v>0</c:v>
                </c:pt>
                <c:pt idx="8">
                  <c:v>2</c:v>
                </c:pt>
                <c:pt idx="9">
                  <c:v>0</c:v>
                </c:pt>
                <c:pt idx="10">
                  <c:v>0</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Sheet1!$F$2:$F$13</c:f>
              <c:numCache>
                <c:formatCode>General</c:formatCode>
                <c:ptCount val="12"/>
                <c:pt idx="0">
                  <c:v>0</c:v>
                </c:pt>
                <c:pt idx="1">
                  <c:v>6</c:v>
                </c:pt>
                <c:pt idx="2">
                  <c:v>5</c:v>
                </c:pt>
                <c:pt idx="3">
                  <c:v>0</c:v>
                </c:pt>
                <c:pt idx="4">
                  <c:v>0</c:v>
                </c:pt>
                <c:pt idx="5">
                  <c:v>0</c:v>
                </c:pt>
                <c:pt idx="6">
                  <c:v>0</c:v>
                </c:pt>
                <c:pt idx="7">
                  <c:v>0</c:v>
                </c:pt>
                <c:pt idx="8">
                  <c:v>0</c:v>
                </c:pt>
                <c:pt idx="9">
                  <c:v>0</c:v>
                </c:pt>
                <c:pt idx="10">
                  <c:v>0</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Fraud Investment Relative to Regulatory Requirements</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48</c:v>
                </c:pt>
                <c:pt idx="1">
                  <c:v>39</c:v>
                </c:pt>
                <c:pt idx="2">
                  <c:v>13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Sheet1!$B$2:$B$4</c:f>
              <c:numCache>
                <c:formatCode>General</c:formatCode>
                <c:ptCount val="3"/>
                <c:pt idx="0">
                  <c:v>18</c:v>
                </c:pt>
                <c:pt idx="1">
                  <c:v>19</c:v>
                </c:pt>
                <c:pt idx="2">
                  <c:v>7</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Sheet1!$C$2:$C$4</c:f>
              <c:numCache>
                <c:formatCode>General</c:formatCode>
                <c:ptCount val="3"/>
                <c:pt idx="0">
                  <c:v>19</c:v>
                </c:pt>
                <c:pt idx="1">
                  <c:v>9</c:v>
                </c:pt>
                <c:pt idx="2">
                  <c:v>2</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Sheet1!$D$2:$D$4</c:f>
              <c:numCache>
                <c:formatCode>General</c:formatCode>
                <c:ptCount val="3"/>
                <c:pt idx="0">
                  <c:v>5</c:v>
                </c:pt>
                <c:pt idx="1">
                  <c:v>7</c:v>
                </c:pt>
                <c:pt idx="2">
                  <c:v>2</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Sheet1!$E$2:$E$4</c:f>
              <c:numCache>
                <c:formatCode>General</c:formatCode>
                <c:ptCount val="3"/>
                <c:pt idx="0">
                  <c:v>5</c:v>
                </c:pt>
                <c:pt idx="1">
                  <c:v>2</c:v>
                </c:pt>
                <c:pt idx="2">
                  <c:v>1</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Sheet1!$F$2:$F$4</c:f>
              <c:numCache>
                <c:formatCode>General</c:formatCode>
                <c:ptCount val="3"/>
                <c:pt idx="0">
                  <c:v>1</c:v>
                </c:pt>
                <c:pt idx="1">
                  <c:v>2</c:v>
                </c:pt>
                <c:pt idx="2">
                  <c:v>1</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9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50 Global Insurance Carrier (n=15)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33</c:v>
                </c:pt>
                <c:pt idx="1">
                  <c:v>47</c:v>
                </c:pt>
                <c:pt idx="2">
                  <c:v>20</c:v>
                </c:pt>
              </c:numCache>
            </c:numRef>
          </c:val>
        </c:ser>
        <c:ser>
          <c:idx val="1"/>
          <c:order val="1"/>
          <c:tx>
            <c:strRef>
              <c:f>Sheet1!$C$1</c:f>
              <c:strCache>
                <c:ptCount val="1"/>
                <c:pt idx="0">
                  <c:v>Large Insurance Carrier (n=10)</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Sheet1!$C$2:$C$4</c:f>
              <c:numCache>
                <c:formatCode>General</c:formatCode>
                <c:ptCount val="3"/>
                <c:pt idx="0">
                  <c:v>70</c:v>
                </c:pt>
                <c:pt idx="1">
                  <c:v>30</c:v>
                </c:pt>
                <c:pt idx="2">
                  <c:v>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100 Financial Institution (n=40)</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42</c:v>
                </c:pt>
                <c:pt idx="1">
                  <c:v>48</c:v>
                </c:pt>
                <c:pt idx="2">
                  <c:v>10</c:v>
                </c:pt>
              </c:numCache>
            </c:numRef>
          </c:val>
        </c:ser>
        <c:ser>
          <c:idx val="1"/>
          <c:order val="1"/>
          <c:tx>
            <c:strRef>
              <c:f>Sheet1!$C$1</c:f>
              <c:strCache>
                <c:ptCount val="1"/>
                <c:pt idx="0">
                  <c:v>Large Financial Institution (n=35)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Sheet1!$C$2:$C$4</c:f>
              <c:numCache>
                <c:formatCode>General</c:formatCode>
                <c:ptCount val="3"/>
                <c:pt idx="0">
                  <c:v>54</c:v>
                </c:pt>
                <c:pt idx="1">
                  <c:v>29</c:v>
                </c:pt>
                <c:pt idx="2">
                  <c:v>17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Upcoming Regulatory / Market Change With Greatest Expected Impact</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Customer identity, authentication &amp; digital trust</c:v>
                  </c:pt>
                  <c:pt idx="1">
                    <c:v>Privacy, data-sharing &amp; AI governance requirements</c:v>
                  </c:pt>
                  <c:pt idx="2">
                    <c:v>Payment innovation (RTP, stablecoins, agentic payments)</c:v>
                  </c:pt>
                  <c:pt idx="3">
                    <c:v>Liability &amp; reimbursement changes</c:v>
                  </c:pt>
                  <c:pt idx="4">
                    <c:v>AML modernization initiatives</c:v>
                  </c:pt>
                  <c:pt idx="5">
                    <c:v>Open Banking / consumer-driven initiatives</c:v>
                  </c:pt>
                </c:lvl>
              </c:multiLvlStrCache>
            </c:multiLvlStrRef>
          </c:cat>
          <c:val>
            <c:numRef>
              <c:f>Sheet1!$B$2:$B$7</c:f>
              <c:numCache>
                <c:formatCode>General</c:formatCode>
                <c:ptCount val="6"/>
                <c:pt idx="0">
                  <c:v>71</c:v>
                </c:pt>
                <c:pt idx="1">
                  <c:v>66</c:v>
                </c:pt>
                <c:pt idx="2">
                  <c:v>65</c:v>
                </c:pt>
                <c:pt idx="3">
                  <c:v>36</c:v>
                </c:pt>
                <c:pt idx="4">
                  <c:v>33</c:v>
                </c:pt>
                <c:pt idx="5">
                  <c:v>29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Sheet1!$B$2:$B$7</c:f>
              <c:numCache>
                <c:formatCode>General</c:formatCode>
                <c:ptCount val="6"/>
                <c:pt idx="0">
                  <c:v>33</c:v>
                </c:pt>
                <c:pt idx="1">
                  <c:v>32</c:v>
                </c:pt>
                <c:pt idx="2">
                  <c:v>25</c:v>
                </c:pt>
                <c:pt idx="3">
                  <c:v>18</c:v>
                </c:pt>
                <c:pt idx="4">
                  <c:v>16</c:v>
                </c:pt>
                <c:pt idx="5">
                  <c:v>8</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Sheet1!$C$2:$C$7</c:f>
              <c:numCache>
                <c:formatCode>General</c:formatCode>
                <c:ptCount val="6"/>
                <c:pt idx="0">
                  <c:v>21</c:v>
                </c:pt>
                <c:pt idx="1">
                  <c:v>19</c:v>
                </c:pt>
                <c:pt idx="2">
                  <c:v>22</c:v>
                </c:pt>
                <c:pt idx="3">
                  <c:v>6</c:v>
                </c:pt>
                <c:pt idx="4">
                  <c:v>8</c:v>
                </c:pt>
                <c:pt idx="5">
                  <c:v>14</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Sheet1!$D$2:$D$7</c:f>
              <c:numCache>
                <c:formatCode>General</c:formatCode>
                <c:ptCount val="6"/>
                <c:pt idx="0">
                  <c:v>8</c:v>
                </c:pt>
                <c:pt idx="1">
                  <c:v>9</c:v>
                </c:pt>
                <c:pt idx="2">
                  <c:v>9</c:v>
                </c:pt>
                <c:pt idx="3">
                  <c:v>7</c:v>
                </c:pt>
                <c:pt idx="4">
                  <c:v>5</c:v>
                </c:pt>
                <c:pt idx="5">
                  <c:v>4</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Sheet1!$E$2:$E$7</c:f>
              <c:numCache>
                <c:formatCode>General</c:formatCode>
                <c:ptCount val="6"/>
                <c:pt idx="0">
                  <c:v>6</c:v>
                </c:pt>
                <c:pt idx="1">
                  <c:v>4</c:v>
                </c:pt>
                <c:pt idx="2">
                  <c:v>5</c:v>
                </c:pt>
                <c:pt idx="3">
                  <c:v>3</c:v>
                </c:pt>
                <c:pt idx="4">
                  <c:v>3</c:v>
                </c:pt>
                <c:pt idx="5">
                  <c:v>3</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Sheet1!$F$2:$F$7</c:f>
              <c:numCache>
                <c:formatCode>General</c:formatCode>
                <c:ptCount val="6"/>
                <c:pt idx="0">
                  <c:v>3</c:v>
                </c:pt>
                <c:pt idx="1">
                  <c:v>2</c:v>
                </c:pt>
                <c:pt idx="2">
                  <c:v>4</c:v>
                </c:pt>
                <c:pt idx="3">
                  <c:v>2</c:v>
                </c:pt>
                <c:pt idx="4">
                  <c:v>1</c:v>
                </c:pt>
                <c:pt idx="5">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chart" Target="/ppt/charts/chart17.xml"/><Relationship Id="rId4" Type="http://schemas.openxmlformats.org/officeDocument/2006/relationships/chart" Target="/ppt/charts/chart18.xml"/><Relationship Id="rId5" Type="http://schemas.openxmlformats.org/officeDocument/2006/relationships/chart" Target="/ppt/charts/chart19.xml"/><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chart" Target="/ppt/charts/chart21.xml"/><Relationship Id="rId3" Type="http://schemas.openxmlformats.org/officeDocument/2006/relationships/chart" Target="/ppt/charts/chart22.xml"/><Relationship Id="rId4" Type="http://schemas.openxmlformats.org/officeDocument/2006/relationships/chart" Target="/ppt/charts/chart23.xml"/><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chart" Target="/ppt/charts/chart26.xml"/><Relationship Id="rId3" Type="http://schemas.openxmlformats.org/officeDocument/2006/relationships/chart" Target="/ppt/charts/chart27.xml"/><Relationship Id="rId4" Type="http://schemas.openxmlformats.org/officeDocument/2006/relationships/chart" Target="/ppt/charts/chart28.xml"/><Relationship Id="rId5" Type="http://schemas.openxmlformats.org/officeDocument/2006/relationships/chart" Target="/ppt/charts/chart29.xml"/><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chart" Target="/ppt/charts/chart31.xml"/><Relationship Id="rId3" Type="http://schemas.openxmlformats.org/officeDocument/2006/relationships/chart" Target="/ppt/charts/chart32.xml"/><Relationship Id="rId4" Type="http://schemas.openxmlformats.org/officeDocument/2006/relationships/chart" Target="/ppt/charts/chart33.xml"/><Relationship Id="rId5" Type="http://schemas.openxmlformats.org/officeDocument/2006/relationships/chart" Target="/ppt/charts/chart34.xml"/><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35.xml"/><Relationship Id="rId2" Type="http://schemas.openxmlformats.org/officeDocument/2006/relationships/chart" Target="/ppt/charts/chart36.xml"/><Relationship Id="rId3" Type="http://schemas.openxmlformats.org/officeDocument/2006/relationships/chart" Target="/ppt/charts/chart37.xml"/><Relationship Id="rId4" Type="http://schemas.openxmlformats.org/officeDocument/2006/relationships/chart" Target="/ppt/charts/chart38.xml"/><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39.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40.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41.xml"/><Relationship Id="rId2" Type="http://schemas.openxmlformats.org/officeDocument/2006/relationships/chart" Target="/ppt/charts/chart42.xml"/><Relationship Id="rId3" Type="http://schemas.openxmlformats.org/officeDocument/2006/relationships/chart" Target="/ppt/charts/chart43.xml"/><Relationship Id="rId4" Type="http://schemas.openxmlformats.org/officeDocument/2006/relationships/chart" Target="/ppt/charts/chart44.xml"/><Relationship Id="rId5" Type="http://schemas.openxmlformats.org/officeDocument/2006/relationships/chart" Target="/ppt/charts/chart45.xml"/><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46.xml"/><Relationship Id="rId2" Type="http://schemas.openxmlformats.org/officeDocument/2006/relationships/chart" Target="/ppt/charts/chart47.xml"/><Relationship Id="rId3" Type="http://schemas.openxmlformats.org/officeDocument/2006/relationships/chart" Target="/ppt/charts/chart48.xml"/><Relationship Id="rId4" Type="http://schemas.openxmlformats.org/officeDocument/2006/relationships/chart" Target="/ppt/charts/chart49.xml"/><Relationship Id="rId5" Type="http://schemas.openxmlformats.org/officeDocument/2006/relationships/chart" Target="/ppt/charts/chart50.xml"/><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51.xml"/><Relationship Id="rId2" Type="http://schemas.openxmlformats.org/officeDocument/2006/relationships/chart" Target="/ppt/charts/chart52.xml"/><Relationship Id="rId3" Type="http://schemas.openxmlformats.org/officeDocument/2006/relationships/chart" Target="/ppt/charts/chart53.xml"/><Relationship Id="rId4" Type="http://schemas.openxmlformats.org/officeDocument/2006/relationships/chart" Target="/ppt/charts/chart54.xml"/><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55.xml"/><Relationship Id="rId2" Type="http://schemas.openxmlformats.org/officeDocument/2006/relationships/chart" Target="/ppt/charts/chart56.xml"/><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57.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58.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59.xml"/><Relationship Id="rId2" Type="http://schemas.openxmlformats.org/officeDocument/2006/relationships/chart" Target="/ppt/charts/chart60.xml"/><Relationship Id="rId3" Type="http://schemas.openxmlformats.org/officeDocument/2006/relationships/chart" Target="/ppt/charts/chart61.xml"/><Relationship Id="rId4" Type="http://schemas.openxmlformats.org/officeDocument/2006/relationships/chart" Target="/ppt/charts/chart62.xml"/><Relationship Id="rId5" Type="http://schemas.openxmlformats.org/officeDocument/2006/relationships/chart" Target="/ppt/charts/chart63.xml"/><Relationship Id="rId6" Type="http://schemas.openxmlformats.org/officeDocument/2006/relationships/slideLayout" Target="../slideLayouts/slideLayout1.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64.xml"/><Relationship Id="rId2" Type="http://schemas.openxmlformats.org/officeDocument/2006/relationships/chart" Target="/ppt/charts/chart65.xml"/><Relationship Id="rId3" Type="http://schemas.openxmlformats.org/officeDocument/2006/relationships/chart" Target="/ppt/charts/chart66.xml"/><Relationship Id="rId4" Type="http://schemas.openxmlformats.org/officeDocument/2006/relationships/chart" Target="/ppt/charts/chart67.xml"/><Relationship Id="rId5" Type="http://schemas.openxmlformats.org/officeDocument/2006/relationships/chart" Target="/ppt/charts/chart68.xml"/><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69.xml"/><Relationship Id="rId2" Type="http://schemas.openxmlformats.org/officeDocument/2006/relationships/chart" Target="/ppt/charts/chart70.xml"/><Relationship Id="rId3" Type="http://schemas.openxmlformats.org/officeDocument/2006/relationships/chart" Target="/ppt/charts/chart71.xml"/><Relationship Id="rId4" Type="http://schemas.openxmlformats.org/officeDocument/2006/relationships/chart" Target="/ppt/charts/chart72.xml"/><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73.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74.xml"/><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75.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76.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77.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78.xml"/><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79.xml"/><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80.xml"/><Relationship Id="rId2" Type="http://schemas.openxmlformats.org/officeDocument/2006/relationships/chart" Target="/ppt/charts/chart81.xml"/><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chart" Target="/ppt/charts/chart82.xml"/><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chart" Target="/ppt/charts/chart83.xml"/><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chart" Target="/ppt/charts/chart84.xml"/><Relationship Id="rId2" Type="http://schemas.openxmlformats.org/officeDocument/2006/relationships/chart" Target="/ppt/charts/chart85.xml"/><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chart" Target="/ppt/charts/chart86.xml"/><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chart" Target="/ppt/charts/chart87.xml"/><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chart" Target="/ppt/charts/chart88.xml"/><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chart" Target="/ppt/charts/chart89.xml"/><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chart" Target="/ppt/charts/chart90.xml"/><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chart" Target="/ppt/charts/chart91.xml"/><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chart" Target="/ppt/charts/chart92.xml"/><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chart" Target="/ppt/charts/chart93.xml"/><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Shape 2"/>
          <p:cNvSpPr/>
          <p:nvPr/>
        </p:nvSpPr>
        <p:spPr>
          <a:xfrm>
            <a:off x="3392424" y="731520"/>
            <a:ext cx="5404104" cy="5404104"/>
          </a:xfrm>
          <a:prstGeom prst="rect">
            <a:avLst/>
          </a:prstGeom>
          <a:solidFill>
            <a:srgbClr val="0B1C14"/>
          </a:solidFill>
          <a:ln w="9525">
            <a:solidFill>
              <a:srgbClr val="86BC25"/>
            </a:solidFill>
            <a:prstDash val="solid"/>
          </a:ln>
        </p:spPr>
      </p:sp>
      <p:sp>
        <p:nvSpPr>
          <p:cNvPr id="5" name="Shape 3"/>
          <p:cNvSpPr/>
          <p:nvPr/>
        </p:nvSpPr>
        <p:spPr>
          <a:xfrm>
            <a:off x="3392424" y="731520"/>
            <a:ext cx="5404104" cy="5404104"/>
          </a:xfrm>
          <a:prstGeom prst="rect">
            <a:avLst/>
          </a:prstGeom>
          <a:ln w="12700">
            <a:solidFill>
              <a:srgbClr val="86BC25"/>
            </a:solidFill>
            <a:prstDash val="dash"/>
          </a:ln>
        </p:spPr>
      </p:sp>
      <p:sp>
        <p:nvSpPr>
          <p:cNvPr id="6" name="Shape 4"/>
          <p:cNvSpPr/>
          <p:nvPr/>
        </p:nvSpPr>
        <p:spPr>
          <a:xfrm>
            <a:off x="3776472" y="1115568"/>
            <a:ext cx="4636008" cy="4636008"/>
          </a:xfrm>
          <a:prstGeom prst="rect">
            <a:avLst/>
          </a:prstGeom>
          <a:ln w="12700">
            <a:solidFill>
              <a:srgbClr val="0D8390"/>
            </a:solidFill>
            <a:prstDash val="dash"/>
          </a:ln>
        </p:spPr>
      </p:sp>
      <p:sp>
        <p:nvSpPr>
          <p:cNvPr id="7" name="Shape 5"/>
          <p:cNvSpPr/>
          <p:nvPr/>
        </p:nvSpPr>
        <p:spPr>
          <a:xfrm>
            <a:off x="4160520" y="1499616"/>
            <a:ext cx="3867912" cy="3867912"/>
          </a:xfrm>
          <a:prstGeom prst="rect">
            <a:avLst/>
          </a:prstGeom>
          <a:ln w="12700">
            <a:solidFill>
              <a:srgbClr val="86BC25"/>
            </a:solidFill>
            <a:prstDash val="dash"/>
          </a:ln>
        </p:spPr>
      </p:sp>
      <p:sp>
        <p:nvSpPr>
          <p:cNvPr id="8" name="Shape 6"/>
          <p:cNvSpPr/>
          <p:nvPr/>
        </p:nvSpPr>
        <p:spPr>
          <a:xfrm>
            <a:off x="4544568" y="1883664"/>
            <a:ext cx="3099816" cy="3099816"/>
          </a:xfrm>
          <a:prstGeom prst="rect">
            <a:avLst/>
          </a:prstGeom>
          <a:ln w="12700">
            <a:solidFill>
              <a:srgbClr val="0D8390"/>
            </a:solidFill>
            <a:prstDash val="dash"/>
          </a:ln>
        </p:spPr>
      </p:sp>
      <p:sp>
        <p:nvSpPr>
          <p:cNvPr id="9" name="Shape 7"/>
          <p:cNvSpPr/>
          <p:nvPr/>
        </p:nvSpPr>
        <p:spPr>
          <a:xfrm>
            <a:off x="4928616" y="2267712"/>
            <a:ext cx="2331720" cy="2331720"/>
          </a:xfrm>
          <a:prstGeom prst="rect">
            <a:avLst/>
          </a:prstGeom>
          <a:ln w="12700">
            <a:solidFill>
              <a:srgbClr val="86BC25"/>
            </a:solidFill>
            <a:prstDash val="dash"/>
          </a:ln>
        </p:spPr>
      </p:sp>
      <p:sp>
        <p:nvSpPr>
          <p:cNvPr id="10" name="Shape 8"/>
          <p:cNvSpPr/>
          <p:nvPr/>
        </p:nvSpPr>
        <p:spPr>
          <a:xfrm>
            <a:off x="5312664" y="2651760"/>
            <a:ext cx="1563624" cy="1563624"/>
          </a:xfrm>
          <a:prstGeom prst="rect">
            <a:avLst/>
          </a:prstGeom>
          <a:ln w="12700">
            <a:solidFill>
              <a:srgbClr val="0D8390"/>
            </a:solidFill>
            <a:prstDash val="dash"/>
          </a:ln>
        </p:spPr>
      </p:sp>
      <p:sp>
        <p:nvSpPr>
          <p:cNvPr id="11" name="Text 9"/>
          <p:cNvSpPr txBox="1"/>
          <p:nvPr/>
        </p:nvSpPr>
        <p:spPr>
          <a:xfrm>
            <a:off x="3392424" y="2656332"/>
            <a:ext cx="5404104" cy="777240"/>
          </a:xfrm>
          <a:prstGeom prst="rect">
            <a:avLst/>
          </a:prstGeom>
          <a:noFill/>
          <a:ln/>
        </p:spPr>
        <p:txBody>
          <a:bodyPr wrap="square" rtlCol="0" anchor="ctr"/>
          <a:lstStyle/>
          <a:p>
            <a:pPr algn="ctr" indent="0" marL="0">
              <a:buNone/>
            </a:pPr>
            <a:r>
              <a:rPr lang="en-US" sz="5400" b="1" dirty="0">
                <a:solidFill>
                  <a:srgbClr val="86BC25"/>
                </a:solidFill>
                <a:latin typeface="Calibri" pitchFamily="34" charset="0"/>
                <a:ea typeface="Calibri" pitchFamily="34" charset="-122"/>
                <a:cs typeface="Calibri" pitchFamily="34" charset="-120"/>
              </a:rPr>
              <a:t>100</a:t>
            </a:r>
            <a:endParaRPr lang="en-US" sz="5400" dirty="0"/>
          </a:p>
        </p:txBody>
      </p:sp>
      <p:sp>
        <p:nvSpPr>
          <p:cNvPr id="12" name="Text 10"/>
          <p:cNvSpPr txBox="1"/>
          <p:nvPr/>
        </p:nvSpPr>
        <p:spPr>
          <a:xfrm>
            <a:off x="3392424" y="3451860"/>
            <a:ext cx="5404104"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FRAUD LEADERS SURVEYED</a:t>
            </a:r>
            <a:endParaRPr lang="en-US" sz="1400" dirty="0"/>
          </a:p>
        </p:txBody>
      </p:sp>
      <p:sp>
        <p:nvSpPr>
          <p:cNvPr id="13" name="Text 11"/>
          <p:cNvSpPr txBox="1"/>
          <p:nvPr/>
        </p:nvSpPr>
        <p:spPr>
          <a:xfrm>
            <a:off x="502006" y="4901184"/>
            <a:ext cx="9601200" cy="896112"/>
          </a:xfrm>
          <a:prstGeom prst="rect">
            <a:avLst/>
          </a:prstGeom>
          <a:noFill/>
          <a:ln/>
        </p:spPr>
        <p:txBody>
          <a:bodyPr wrap="square" lIns="0" tIns="0" rIns="0" bIns="0"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Fraud in 2026: Full Survey Results</a:t>
            </a:r>
            <a:endParaRPr lang="en-US" sz="2800" dirty="0"/>
          </a:p>
        </p:txBody>
      </p:sp>
      <p:sp>
        <p:nvSpPr>
          <p:cNvPr id="14" name="Text 12"/>
          <p:cNvSpPr txBox="1"/>
          <p:nvPr/>
        </p:nvSpPr>
        <p:spPr>
          <a:xfrm>
            <a:off x="502006" y="5870448"/>
            <a:ext cx="9601200" cy="685800"/>
          </a:xfrm>
          <a:prstGeom prst="rect">
            <a:avLst/>
          </a:prstGeom>
          <a:noFill/>
          <a:ln/>
        </p:spPr>
        <p:txBody>
          <a:bodyPr wrap="square" lIns="0" tIns="0" rIns="0" bIns="0" rtlCol="0" anchor="t"/>
          <a:lstStyle/>
          <a:p>
            <a:pPr algn="l" indent="0" marL="0">
              <a:buNone/>
            </a:pPr>
            <a:r>
              <a:rPr lang="en-US" sz="1600" dirty="0">
                <a:solidFill>
                  <a:srgbClr val="FFFFFF"/>
                </a:solidFill>
                <a:latin typeface="Calibri" pitchFamily="34" charset="0"/>
                <a:ea typeface="Calibri" pitchFamily="34" charset="-122"/>
                <a:cs typeface="Calibri" pitchFamily="34" charset="-120"/>
              </a:rPr>
              <a:t>Banking &amp; Insurance Fraud Landscape Survey — n=100, fielding complete
</a:t>
            </a:r>
            <a:pPr algn="l" indent="0" marL="0">
              <a:buNone/>
            </a:pPr>
            <a:r>
              <a:rPr lang="en-US" sz="1250" dirty="0">
                <a:solidFill>
                  <a:srgbClr val="D0D0CE"/>
                </a:solidFill>
                <a:latin typeface="Calibri" pitchFamily="34" charset="0"/>
                <a:ea typeface="Calibri" pitchFamily="34" charset="-122"/>
                <a:cs typeface="Calibri" pitchFamily="34" charset="-120"/>
              </a:rPr>
              <a:t>A Deloitte Perspective  ·  Fielded via GLG for the D.fend Fin Crime Forum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ctr"/>
          <a:lstStyle/>
          <a:p>
            <a:pPr indent="0" marL="0">
              <a:buNone/>
            </a:pPr>
            <a:r>
              <a:rPr lang="en-US" sz="1900" b="1" dirty="0">
                <a:solidFill>
                  <a:srgbClr val="000000"/>
                </a:solidFill>
                <a:latin typeface="Calibri" pitchFamily="34" charset="0"/>
                <a:ea typeface="Calibri" pitchFamily="34" charset="-122"/>
                <a:cs typeface="Calibri" pitchFamily="34" charset="-120"/>
              </a:rPr>
              <a:t>Table of Contents</a:t>
            </a:r>
            <a:endParaRPr lang="en-US" sz="19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a:t>
            </a:r>
            <a:endParaRPr lang="en-US" sz="900" dirty="0"/>
          </a:p>
        </p:txBody>
      </p:sp>
      <p:sp>
        <p:nvSpPr>
          <p:cNvPr id="4" name="Shape 2"/>
          <p:cNvSpPr/>
          <p:nvPr/>
        </p:nvSpPr>
        <p:spPr>
          <a:xfrm>
            <a:off x="498348" y="1508760"/>
            <a:ext cx="7772400" cy="548640"/>
          </a:xfrm>
          <a:prstGeom prst="rect">
            <a:avLst/>
          </a:prstGeom>
          <a:solidFill>
            <a:srgbClr val="F2F2F2"/>
          </a:solidFill>
          <a:ln/>
        </p:spPr>
      </p:sp>
      <p:sp>
        <p:nvSpPr>
          <p:cNvPr id="5" name="Shape 3"/>
          <p:cNvSpPr/>
          <p:nvPr/>
        </p:nvSpPr>
        <p:spPr>
          <a:xfrm>
            <a:off x="589788" y="1581912"/>
            <a:ext cx="402336" cy="402336"/>
          </a:xfrm>
          <a:prstGeom prst="rect">
            <a:avLst/>
          </a:prstGeom>
          <a:solidFill>
            <a:srgbClr val="86BC25"/>
          </a:solidFill>
          <a:ln/>
        </p:spPr>
      </p:sp>
      <p:sp>
        <p:nvSpPr>
          <p:cNvPr id="6" name="Text 4"/>
          <p:cNvSpPr txBox="1"/>
          <p:nvPr/>
        </p:nvSpPr>
        <p:spPr>
          <a:xfrm>
            <a:off x="589788" y="158191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a:t>
            </a:r>
            <a:endParaRPr lang="en-US" sz="1400" dirty="0"/>
          </a:p>
        </p:txBody>
      </p:sp>
      <p:sp>
        <p:nvSpPr>
          <p:cNvPr id="7" name="Text 5"/>
          <p:cNvSpPr txBox="1"/>
          <p:nvPr/>
        </p:nvSpPr>
        <p:spPr>
          <a:xfrm>
            <a:off x="1138428" y="150876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Methodology &amp; Respondent Profile</a:t>
            </a:r>
            <a:endParaRPr lang="en-US" sz="1400" dirty="0"/>
          </a:p>
        </p:txBody>
      </p:sp>
      <p:sp>
        <p:nvSpPr>
          <p:cNvPr id="8" name="Shape 6"/>
          <p:cNvSpPr/>
          <p:nvPr/>
        </p:nvSpPr>
        <p:spPr>
          <a:xfrm>
            <a:off x="498348" y="2185416"/>
            <a:ext cx="7772400" cy="548640"/>
          </a:xfrm>
          <a:prstGeom prst="rect">
            <a:avLst/>
          </a:prstGeom>
          <a:solidFill>
            <a:srgbClr val="F2F2F2"/>
          </a:solidFill>
          <a:ln/>
        </p:spPr>
      </p:sp>
      <p:sp>
        <p:nvSpPr>
          <p:cNvPr id="9" name="Shape 7"/>
          <p:cNvSpPr/>
          <p:nvPr/>
        </p:nvSpPr>
        <p:spPr>
          <a:xfrm>
            <a:off x="589788" y="2258568"/>
            <a:ext cx="402336" cy="402336"/>
          </a:xfrm>
          <a:prstGeom prst="rect">
            <a:avLst/>
          </a:prstGeom>
          <a:solidFill>
            <a:srgbClr val="86BC25"/>
          </a:solidFill>
          <a:ln/>
        </p:spPr>
      </p:sp>
      <p:sp>
        <p:nvSpPr>
          <p:cNvPr id="10" name="Text 8"/>
          <p:cNvSpPr txBox="1"/>
          <p:nvPr/>
        </p:nvSpPr>
        <p:spPr>
          <a:xfrm>
            <a:off x="589788" y="225856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138428" y="218541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Deepfake &amp; Emerging AI Risk</a:t>
            </a:r>
            <a:endParaRPr lang="en-US" sz="1400" dirty="0"/>
          </a:p>
        </p:txBody>
      </p:sp>
      <p:sp>
        <p:nvSpPr>
          <p:cNvPr id="12" name="Shape 10"/>
          <p:cNvSpPr/>
          <p:nvPr/>
        </p:nvSpPr>
        <p:spPr>
          <a:xfrm>
            <a:off x="498348" y="2862072"/>
            <a:ext cx="7772400" cy="548640"/>
          </a:xfrm>
          <a:prstGeom prst="rect">
            <a:avLst/>
          </a:prstGeom>
          <a:solidFill>
            <a:srgbClr val="F2F2F2"/>
          </a:solidFill>
          <a:ln/>
        </p:spPr>
      </p:sp>
      <p:sp>
        <p:nvSpPr>
          <p:cNvPr id="13" name="Shape 11"/>
          <p:cNvSpPr/>
          <p:nvPr/>
        </p:nvSpPr>
        <p:spPr>
          <a:xfrm>
            <a:off x="589788" y="2935224"/>
            <a:ext cx="402336" cy="402336"/>
          </a:xfrm>
          <a:prstGeom prst="rect">
            <a:avLst/>
          </a:prstGeom>
          <a:solidFill>
            <a:srgbClr val="86BC25"/>
          </a:solidFill>
          <a:ln/>
        </p:spPr>
      </p:sp>
      <p:sp>
        <p:nvSpPr>
          <p:cNvPr id="14" name="Text 12"/>
          <p:cNvSpPr txBox="1"/>
          <p:nvPr/>
        </p:nvSpPr>
        <p:spPr>
          <a:xfrm>
            <a:off x="589788" y="29352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138428" y="2862072"/>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Fraud Information Sharing</a:t>
            </a:r>
            <a:endParaRPr lang="en-US" sz="1400" dirty="0"/>
          </a:p>
        </p:txBody>
      </p:sp>
      <p:sp>
        <p:nvSpPr>
          <p:cNvPr id="16" name="Shape 14"/>
          <p:cNvSpPr/>
          <p:nvPr/>
        </p:nvSpPr>
        <p:spPr>
          <a:xfrm>
            <a:off x="498348" y="3538728"/>
            <a:ext cx="7772400" cy="548640"/>
          </a:xfrm>
          <a:prstGeom prst="rect">
            <a:avLst/>
          </a:prstGeom>
          <a:solidFill>
            <a:srgbClr val="F2F2F2"/>
          </a:solidFill>
          <a:ln/>
        </p:spPr>
      </p:sp>
      <p:sp>
        <p:nvSpPr>
          <p:cNvPr id="17" name="Shape 15"/>
          <p:cNvSpPr/>
          <p:nvPr/>
        </p:nvSpPr>
        <p:spPr>
          <a:xfrm>
            <a:off x="589788" y="3611880"/>
            <a:ext cx="402336" cy="402336"/>
          </a:xfrm>
          <a:prstGeom prst="rect">
            <a:avLst/>
          </a:prstGeom>
          <a:solidFill>
            <a:srgbClr val="86BC25"/>
          </a:solidFill>
          <a:ln/>
        </p:spPr>
      </p:sp>
      <p:sp>
        <p:nvSpPr>
          <p:cNvPr id="18" name="Text 16"/>
          <p:cNvSpPr txBox="1"/>
          <p:nvPr/>
        </p:nvSpPr>
        <p:spPr>
          <a:xfrm>
            <a:off x="589788" y="361188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138428" y="3538728"/>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Third-Party Fraud Risk</a:t>
            </a:r>
            <a:endParaRPr lang="en-US" sz="1400" dirty="0"/>
          </a:p>
        </p:txBody>
      </p:sp>
      <p:sp>
        <p:nvSpPr>
          <p:cNvPr id="20" name="Shape 18"/>
          <p:cNvSpPr/>
          <p:nvPr/>
        </p:nvSpPr>
        <p:spPr>
          <a:xfrm>
            <a:off x="498348" y="4215384"/>
            <a:ext cx="7772400" cy="548640"/>
          </a:xfrm>
          <a:prstGeom prst="rect">
            <a:avLst/>
          </a:prstGeom>
          <a:solidFill>
            <a:srgbClr val="F2F2F2"/>
          </a:solidFill>
          <a:ln/>
        </p:spPr>
      </p:sp>
      <p:sp>
        <p:nvSpPr>
          <p:cNvPr id="21" name="Shape 19"/>
          <p:cNvSpPr/>
          <p:nvPr/>
        </p:nvSpPr>
        <p:spPr>
          <a:xfrm>
            <a:off x="589788" y="4288536"/>
            <a:ext cx="402336" cy="402336"/>
          </a:xfrm>
          <a:prstGeom prst="rect">
            <a:avLst/>
          </a:prstGeom>
          <a:solidFill>
            <a:srgbClr val="86BC25"/>
          </a:solidFill>
          <a:ln/>
        </p:spPr>
      </p:sp>
      <p:sp>
        <p:nvSpPr>
          <p:cNvPr id="22" name="Text 20"/>
          <p:cNvSpPr txBox="1"/>
          <p:nvPr/>
        </p:nvSpPr>
        <p:spPr>
          <a:xfrm>
            <a:off x="589788" y="42885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1"/>
          <p:cNvSpPr txBox="1"/>
          <p:nvPr/>
        </p:nvSpPr>
        <p:spPr>
          <a:xfrm>
            <a:off x="1138428" y="4215384"/>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Operating Model Transformation</a:t>
            </a:r>
            <a:endParaRPr lang="en-US" sz="1400" dirty="0"/>
          </a:p>
        </p:txBody>
      </p:sp>
      <p:sp>
        <p:nvSpPr>
          <p:cNvPr id="24" name="Shape 22"/>
          <p:cNvSpPr/>
          <p:nvPr/>
        </p:nvSpPr>
        <p:spPr>
          <a:xfrm>
            <a:off x="498348" y="4892040"/>
            <a:ext cx="7772400" cy="548640"/>
          </a:xfrm>
          <a:prstGeom prst="rect">
            <a:avLst/>
          </a:prstGeom>
          <a:solidFill>
            <a:srgbClr val="F2F2F2"/>
          </a:solidFill>
          <a:ln/>
        </p:spPr>
      </p:sp>
      <p:sp>
        <p:nvSpPr>
          <p:cNvPr id="25" name="Shape 23"/>
          <p:cNvSpPr/>
          <p:nvPr/>
        </p:nvSpPr>
        <p:spPr>
          <a:xfrm>
            <a:off x="589788" y="4965192"/>
            <a:ext cx="402336" cy="402336"/>
          </a:xfrm>
          <a:prstGeom prst="rect">
            <a:avLst/>
          </a:prstGeom>
          <a:solidFill>
            <a:srgbClr val="86BC25"/>
          </a:solidFill>
          <a:ln/>
        </p:spPr>
      </p:sp>
      <p:sp>
        <p:nvSpPr>
          <p:cNvPr id="26" name="Text 24"/>
          <p:cNvSpPr txBox="1"/>
          <p:nvPr/>
        </p:nvSpPr>
        <p:spPr>
          <a:xfrm>
            <a:off x="589788" y="496519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1138428" y="489204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Regulatory &amp; Market Change</a:t>
            </a:r>
            <a:endParaRPr lang="en-US" sz="1400" dirty="0"/>
          </a:p>
        </p:txBody>
      </p:sp>
      <p:sp>
        <p:nvSpPr>
          <p:cNvPr id="28" name="Shape 26"/>
          <p:cNvSpPr/>
          <p:nvPr/>
        </p:nvSpPr>
        <p:spPr>
          <a:xfrm>
            <a:off x="498348" y="5568696"/>
            <a:ext cx="7772400" cy="548640"/>
          </a:xfrm>
          <a:prstGeom prst="rect">
            <a:avLst/>
          </a:prstGeom>
          <a:solidFill>
            <a:srgbClr val="F2F2F2"/>
          </a:solidFill>
          <a:ln/>
        </p:spPr>
      </p:sp>
      <p:sp>
        <p:nvSpPr>
          <p:cNvPr id="29" name="Shape 27"/>
          <p:cNvSpPr/>
          <p:nvPr/>
        </p:nvSpPr>
        <p:spPr>
          <a:xfrm>
            <a:off x="589788" y="5641848"/>
            <a:ext cx="402336" cy="402336"/>
          </a:xfrm>
          <a:prstGeom prst="rect">
            <a:avLst/>
          </a:prstGeom>
          <a:solidFill>
            <a:srgbClr val="86BC25"/>
          </a:solidFill>
          <a:ln/>
        </p:spPr>
      </p:sp>
      <p:sp>
        <p:nvSpPr>
          <p:cNvPr id="30" name="Text 28"/>
          <p:cNvSpPr txBox="1"/>
          <p:nvPr/>
        </p:nvSpPr>
        <p:spPr>
          <a:xfrm>
            <a:off x="589788" y="564184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1" name="Text 29"/>
          <p:cNvSpPr txBox="1"/>
          <p:nvPr/>
        </p:nvSpPr>
        <p:spPr>
          <a:xfrm>
            <a:off x="1138428" y="556869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Looking Ahead Three Years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Methodology &amp; Respondent Profile</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Fielded via GLG among senior fraud leaders at banks and insurers globally — fielding closed at exactly the target sample size and mix.</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a:t>
            </a:r>
            <a:endParaRPr lang="en-US" sz="900" dirty="0"/>
          </a:p>
        </p:txBody>
      </p:sp>
      <p:sp>
        <p:nvSpPr>
          <p:cNvPr id="5" name="Shape 3"/>
          <p:cNvSpPr/>
          <p:nvPr/>
        </p:nvSpPr>
        <p:spPr>
          <a:xfrm>
            <a:off x="502006" y="1335024"/>
            <a:ext cx="2514600" cy="914400"/>
          </a:xfrm>
          <a:prstGeom prst="rect">
            <a:avLst/>
          </a:prstGeom>
          <a:solidFill>
            <a:srgbClr val="F2F2F2"/>
          </a:solidFill>
          <a:ln/>
        </p:spPr>
      </p:sp>
      <p:sp>
        <p:nvSpPr>
          <p:cNvPr id="6" name="Text 4"/>
          <p:cNvSpPr txBox="1"/>
          <p:nvPr/>
        </p:nvSpPr>
        <p:spPr>
          <a:xfrm>
            <a:off x="50200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50200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Qualified respondents</a:t>
            </a:r>
            <a:endParaRPr lang="en-US" sz="1000" dirty="0"/>
          </a:p>
        </p:txBody>
      </p:sp>
      <p:sp>
        <p:nvSpPr>
          <p:cNvPr id="8" name="Shape 6"/>
          <p:cNvSpPr/>
          <p:nvPr/>
        </p:nvSpPr>
        <p:spPr>
          <a:xfrm>
            <a:off x="3336646" y="1335024"/>
            <a:ext cx="2514600" cy="914400"/>
          </a:xfrm>
          <a:prstGeom prst="rect">
            <a:avLst/>
          </a:prstGeom>
          <a:solidFill>
            <a:srgbClr val="F2F2F2"/>
          </a:solidFill>
          <a:ln/>
        </p:spPr>
      </p:sp>
      <p:sp>
        <p:nvSpPr>
          <p:cNvPr id="9" name="Text 7"/>
          <p:cNvSpPr txBox="1"/>
          <p:nvPr/>
        </p:nvSpPr>
        <p:spPr>
          <a:xfrm>
            <a:off x="333664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75 / 25</a:t>
            </a:r>
            <a:endParaRPr lang="en-US" sz="2200" dirty="0"/>
          </a:p>
        </p:txBody>
      </p:sp>
      <p:sp>
        <p:nvSpPr>
          <p:cNvPr id="10" name="Text 8"/>
          <p:cNvSpPr txBox="1"/>
          <p:nvPr/>
        </p:nvSpPr>
        <p:spPr>
          <a:xfrm>
            <a:off x="333664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 Banking / Insurance</a:t>
            </a:r>
            <a:endParaRPr lang="en-US" sz="1000" dirty="0"/>
          </a:p>
        </p:txBody>
      </p:sp>
      <p:sp>
        <p:nvSpPr>
          <p:cNvPr id="11" name="Shape 9"/>
          <p:cNvSpPr/>
          <p:nvPr/>
        </p:nvSpPr>
        <p:spPr>
          <a:xfrm>
            <a:off x="6171286" y="1335024"/>
            <a:ext cx="2514600" cy="914400"/>
          </a:xfrm>
          <a:prstGeom prst="rect">
            <a:avLst/>
          </a:prstGeom>
          <a:solidFill>
            <a:srgbClr val="F2F2F2"/>
          </a:solidFill>
          <a:ln/>
        </p:spPr>
      </p:sp>
      <p:sp>
        <p:nvSpPr>
          <p:cNvPr id="12" name="Text 10"/>
          <p:cNvSpPr txBox="1"/>
          <p:nvPr/>
        </p:nvSpPr>
        <p:spPr>
          <a:xfrm>
            <a:off x="617128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76%</a:t>
            </a:r>
            <a:endParaRPr lang="en-US" sz="2200" dirty="0"/>
          </a:p>
        </p:txBody>
      </p:sp>
      <p:sp>
        <p:nvSpPr>
          <p:cNvPr id="13" name="Text 11"/>
          <p:cNvSpPr txBox="1"/>
          <p:nvPr/>
        </p:nvSpPr>
        <p:spPr>
          <a:xfrm>
            <a:off x="617128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Director-level or above</a:t>
            </a:r>
            <a:endParaRPr lang="en-US" sz="1000" dirty="0"/>
          </a:p>
        </p:txBody>
      </p:sp>
      <p:sp>
        <p:nvSpPr>
          <p:cNvPr id="14" name="Shape 12"/>
          <p:cNvSpPr/>
          <p:nvPr/>
        </p:nvSpPr>
        <p:spPr>
          <a:xfrm>
            <a:off x="9005926" y="1335024"/>
            <a:ext cx="2514600" cy="914400"/>
          </a:xfrm>
          <a:prstGeom prst="rect">
            <a:avLst/>
          </a:prstGeom>
          <a:solidFill>
            <a:srgbClr val="F2F2F2"/>
          </a:solidFill>
          <a:ln/>
        </p:spPr>
      </p:sp>
      <p:sp>
        <p:nvSpPr>
          <p:cNvPr id="15" name="Text 13"/>
          <p:cNvSpPr txBox="1"/>
          <p:nvPr/>
        </p:nvSpPr>
        <p:spPr>
          <a:xfrm>
            <a:off x="900592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16" name="Text 14"/>
          <p:cNvSpPr txBox="1"/>
          <p:nvPr/>
        </p:nvSpPr>
        <p:spPr>
          <a:xfrm>
            <a:off x="900592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Answered the open-end</a:t>
            </a:r>
            <a:endParaRPr lang="en-US" sz="1000" dirty="0"/>
          </a:p>
        </p:txBody>
      </p:sp>
      <p:sp>
        <p:nvSpPr>
          <p:cNvPr id="17" name="Text 15"/>
          <p:cNvSpPr txBox="1"/>
          <p:nvPr/>
        </p:nvSpPr>
        <p:spPr>
          <a:xfrm>
            <a:off x="502006"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S6  </a:t>
            </a:r>
            <a:pPr indent="0" marL="0">
              <a:buNone/>
            </a:pPr>
            <a:r>
              <a:rPr lang="en-US" sz="950" i="1" dirty="0">
                <a:solidFill>
                  <a:srgbClr val="575757"/>
                </a:solidFill>
                <a:latin typeface="Calibri" pitchFamily="34" charset="0"/>
                <a:ea typeface="Calibri" pitchFamily="34" charset="-122"/>
                <a:cs typeface="Calibri" pitchFamily="34" charset="-120"/>
              </a:rPr>
              <a:t>“Which market best describes your primary area of responsibility for fraud risk management?”</a:t>
            </a:r>
            <a:endParaRPr lang="en-US" sz="900" dirty="0"/>
          </a:p>
        </p:txBody>
      </p:sp>
      <p:graphicFrame>
        <p:nvGraphicFramePr>
          <p:cNvPr id="18" name="Chart 0" descr=""/>
          <p:cNvGraphicFramePr/>
          <p:nvPr/>
        </p:nvGraphicFramePr>
        <p:xfrm>
          <a:off x="502006" y="2615184"/>
          <a:ext cx="5486400" cy="28803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6172200"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S4  </a:t>
            </a:r>
            <a:pPr indent="0" marL="0">
              <a:buNone/>
            </a:pPr>
            <a:r>
              <a:rPr lang="en-US" sz="950" i="1" dirty="0">
                <a:solidFill>
                  <a:srgbClr val="575757"/>
                </a:solidFill>
                <a:latin typeface="Calibri" pitchFamily="34" charset="0"/>
                <a:ea typeface="Calibri" pitchFamily="34" charset="-122"/>
                <a:cs typeface="Calibri" pitchFamily="34" charset="-120"/>
              </a:rPr>
              <a:t>“Which of the following best describes your department within your organization?”</a:t>
            </a:r>
            <a:endParaRPr lang="en-US" sz="900" dirty="0"/>
          </a:p>
        </p:txBody>
      </p:sp>
      <p:graphicFrame>
        <p:nvGraphicFramePr>
          <p:cNvPr id="20" name="Chart 1" descr=""/>
          <p:cNvGraphicFramePr/>
          <p:nvPr/>
        </p:nvGraphicFramePr>
        <p:xfrm>
          <a:off x="6172200" y="2615184"/>
          <a:ext cx="5486400" cy="28803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Banking Respondent Profile — Institution Tier and Geography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Banking sample skews slightly toward Top 100 institutions and is anchored in the United States and Canada.</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a:t>
            </a:r>
            <a:endParaRPr lang="en-US" sz="900" dirty="0"/>
          </a:p>
        </p:txBody>
      </p:sp>
      <p:sp>
        <p:nvSpPr>
          <p:cNvPr id="5" name="Text 3"/>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Institution Tier (n=75)</a:t>
            </a:r>
            <a:endParaRPr lang="en-US" sz="1150" dirty="0"/>
          </a:p>
        </p:txBody>
      </p:sp>
      <p:graphicFrame>
        <p:nvGraphicFramePr>
          <p:cNvPr id="6"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Geography (n=75)</a:t>
            </a:r>
            <a:endParaRPr lang="en-US" sz="1150" dirty="0"/>
          </a:p>
        </p:txBody>
      </p:sp>
      <p:graphicFrame>
        <p:nvGraphicFramePr>
          <p:cNvPr id="8"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02006" y="5120640"/>
            <a:ext cx="11188598" cy="0"/>
          </a:xfrm>
          <a:prstGeom prst="line">
            <a:avLst/>
          </a:prstGeom>
          <a:noFill/>
          <a:ln w="9525">
            <a:solidFill>
              <a:srgbClr val="D0D0CE"/>
            </a:solidFill>
            <a:prstDash val="solid"/>
          </a:ln>
        </p:spPr>
      </p:sp>
      <p:sp>
        <p:nvSpPr>
          <p:cNvPr id="10" name="Text 6"/>
          <p:cNvSpPr txBox="1"/>
          <p:nvPr/>
        </p:nvSpPr>
        <p:spPr>
          <a:xfrm>
            <a:off x="502006" y="5193792"/>
            <a:ext cx="11188598" cy="5486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n=75.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based on newS8, and includes 5 respondents reclassified as Top 100 from their employer description elsewhere in the survey (Top 100 is n=40 = 35 direct + 5 reclassified; Large is n=35). Geography based on S6, with Europe combining EU and UK respondents (n=12: 9 UK, 3 EU). Percentages may not sum to exactly 100% due to rounding.</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Banking — Geography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are more evenly spread across regions; Large institutions are disproportionately U.S.-based.</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a:t>
            </a:r>
            <a:endParaRPr lang="en-US" sz="900" dirty="0"/>
          </a:p>
        </p:txBody>
      </p:sp>
      <p:graphicFrame>
        <p:nvGraphicFramePr>
          <p:cNvPr id="5"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02006" y="5202936"/>
            <a:ext cx="11188598" cy="0"/>
          </a:xfrm>
          <a:prstGeom prst="line">
            <a:avLst/>
          </a:prstGeom>
          <a:noFill/>
          <a:ln w="9525">
            <a:solidFill>
              <a:srgbClr val="D0D0CE"/>
            </a:solidFill>
            <a:prstDash val="solid"/>
          </a:ln>
        </p:spPr>
      </p:sp>
      <p:sp>
        <p:nvSpPr>
          <p:cNvPr id="7" name="Text 4"/>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n=75.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Percentages are each region's share of that tier (Top 100 or Large), so each bar sums to ~100% and may not sum exactly due to rounding. Region counts — Top 100: US n=14, Canada n=13, Europe n=7, Australia n=4, Singapore n=2. Large: US n=20, Canada n=5, Europe n=5, Australia n=3, Singapore n=2. Top 100 includes 5 respondents reclassified from their employer description elsewhere in the survey (see the Banking sample profile slide).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Insurance Respondent Profile — Institution Tier and Geography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Insurance sample leans Top 50 carriers and is concentrated in the United States and Canada, with a thin tail across the UK and Australia.</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a:t>
            </a:r>
            <a:endParaRPr lang="en-US" sz="900" dirty="0"/>
          </a:p>
        </p:txBody>
      </p:sp>
      <p:sp>
        <p:nvSpPr>
          <p:cNvPr id="5" name="Text 3"/>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Institution Tier (n=25)</a:t>
            </a:r>
            <a:endParaRPr lang="en-US" sz="1150" dirty="0"/>
          </a:p>
        </p:txBody>
      </p:sp>
      <p:graphicFrame>
        <p:nvGraphicFramePr>
          <p:cNvPr id="6"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Geography (n=25)</a:t>
            </a:r>
            <a:endParaRPr lang="en-US" sz="1150" dirty="0"/>
          </a:p>
        </p:txBody>
      </p:sp>
      <p:graphicFrame>
        <p:nvGraphicFramePr>
          <p:cNvPr id="8"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02006" y="5120640"/>
            <a:ext cx="11188598" cy="0"/>
          </a:xfrm>
          <a:prstGeom prst="line">
            <a:avLst/>
          </a:prstGeom>
          <a:noFill/>
          <a:ln w="9525">
            <a:solidFill>
              <a:srgbClr val="D0D0CE"/>
            </a:solidFill>
            <a:prstDash val="solid"/>
          </a:ln>
        </p:spPr>
      </p:sp>
      <p:sp>
        <p:nvSpPr>
          <p:cNvPr id="10" name="Text 6"/>
          <p:cNvSpPr txBox="1"/>
          <p:nvPr/>
        </p:nvSpPr>
        <p:spPr>
          <a:xfrm>
            <a:off x="502006" y="5193792"/>
            <a:ext cx="11188598" cy="658368"/>
          </a:xfrm>
          <a:prstGeom prst="rect">
            <a:avLst/>
          </a:prstGeom>
          <a:noFill/>
          <a:ln/>
        </p:spPr>
        <p:txBody>
          <a:bodyPr wrap="square" lIns="0" tIns="0" rIns="0" bIns="0" rtlCol="0" anchor="t"/>
          <a:lstStyle/>
          <a:p>
            <a:pPr algn="l" indent="0" marL="0">
              <a:lnSpc>
                <a:spcPct val="112000"/>
              </a:lnSpc>
              <a:buNone/>
            </a:pPr>
            <a:r>
              <a:rPr lang="en-US" sz="850" b="1" dirty="0">
                <a:solidFill>
                  <a:srgbClr val="53565A"/>
                </a:solidFill>
                <a:latin typeface="Calibri" pitchFamily="34" charset="0"/>
                <a:ea typeface="Calibri" pitchFamily="34" charset="-122"/>
                <a:cs typeface="Calibri" pitchFamily="34" charset="-120"/>
              </a:rPr>
              <a:t>n=25. </a:t>
            </a:r>
            <a:pPr algn="l" indent="0" marL="0">
              <a:lnSpc>
                <a:spcPct val="112000"/>
              </a:lnSpc>
              <a:buNone/>
            </a:pPr>
            <a:r>
              <a:rPr lang="en-US" sz="850" dirty="0">
                <a:solidFill>
                  <a:srgbClr val="53565A"/>
                </a:solidFill>
                <a:latin typeface="Calibri" pitchFamily="34" charset="0"/>
                <a:ea typeface="Calibri" pitchFamily="34" charset="-122"/>
                <a:cs typeface="Calibri" pitchFamily="34" charset="-120"/>
              </a:rPr>
              <a:t>Institution tier based on S9, and includes 1 respondent reclassified as Large Insurance Carrier from their employer description elsewhere in the survey (Large is n=10 = 9 direct + 1 reclassified; Top 50 is n=15). Geography based on S6, with Europe combining EU and UK respondents (n=2, both UK); Insurance had zero Singapore respondents, so that category is omitted rather than shown at 0%. Australia (n=1) and Europe (n=2) are thin samples and should be read directionally.</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Insurance — Geography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carriers are almost entirely U.S. and Canada-based; Top 50 carriers carry the sample's thin UK and Australia representation.</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6</a:t>
            </a:r>
            <a:endParaRPr lang="en-US" sz="900" dirty="0"/>
          </a:p>
        </p:txBody>
      </p:sp>
      <p:graphicFrame>
        <p:nvGraphicFramePr>
          <p:cNvPr id="5"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02006" y="5202936"/>
            <a:ext cx="11188598" cy="0"/>
          </a:xfrm>
          <a:prstGeom prst="line">
            <a:avLst/>
          </a:prstGeom>
          <a:noFill/>
          <a:ln w="9525">
            <a:solidFill>
              <a:srgbClr val="D0D0CE"/>
            </a:solidFill>
            <a:prstDash val="solid"/>
          </a:ln>
        </p:spPr>
      </p:sp>
      <p:sp>
        <p:nvSpPr>
          <p:cNvPr id="7" name="Text 4"/>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n=25.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Percentages are each region's share of that tier (Top 50 or Large), so each bar sums to ~100% and may not sum exactly due to rounding. Region counts — Top 50: US n=7, Canada n=6, Europe n=1, Australia n=1. Large: US n=3, Canada n=6, Europe n=1, Australia n=0. Neither tier has Singapore respondents. Large includes 1 respondent (Canada) reclassified from their employer description elsewhere in the survey (see the Insurance sample profile slide).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1. Deepfake &amp; Emerging AI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AI-driven fraud vulnerability is concentrated, and what's standing in the way of managing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Increase in AI/Deepfake Vulnerability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AI-driven fraud is hitting identity checks the hardest — onboarding and payments, not the areas fraud teams traditionally focus 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“Contact center / phone-based authentication”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“Digital onboarding, KYC, and identity verification”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“Claims, underwriting, lending, or application review”</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wire, or transaction approvals”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“Video meetings and remote advisory interactions”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“Executive, employee, broker, or advisor impersonation”</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Where the Risk Concentrates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overall #1 area masks a real split: Banking's top exposure is an exact tie between onboarding/KYC and payment/wire, while Insurance's is contact center and claims.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 (Banking vs. Insurance, % selecting in top 3)”</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9</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 — ranked</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 — ranked</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66360"/>
            <a:ext cx="11188598" cy="502920"/>
          </a:xfrm>
          <a:prstGeom prst="roundRect">
            <a:avLst>
              <a:gd name="adj" fmla="val 9091"/>
            </a:avLst>
          </a:prstGeom>
          <a:solidFill>
            <a:srgbClr val="F2F2F2"/>
          </a:solidFill>
          <a:ln/>
        </p:spPr>
      </p:sp>
      <p:sp>
        <p:nvSpPr>
          <p:cNvPr id="12" name="Text 8"/>
          <p:cNvSpPr txBox="1"/>
          <p:nvPr/>
        </p:nvSpPr>
        <p:spPr>
          <a:xfrm>
            <a:off x="639166" y="5166360"/>
            <a:ext cx="10914278" cy="502920"/>
          </a:xfrm>
          <a:prstGeom prst="rect">
            <a:avLst/>
          </a:prstGeom>
          <a:noFill/>
          <a:ln/>
        </p:spPr>
        <p:txBody>
          <a:bodyPr wrap="square" rtlCol="0" anchor="ctr"/>
          <a:lstStyle/>
          <a:p>
            <a:pPr indent="0" marL="0">
              <a:lnSpc>
                <a:spcPct val="110000"/>
              </a:lnSpc>
              <a:buNone/>
            </a:pPr>
            <a:r>
              <a:rPr lang="en-US" sz="900" i="1" dirty="0">
                <a:solidFill>
                  <a:srgbClr val="53565A"/>
                </a:solidFill>
                <a:latin typeface="Calibri" pitchFamily="34" charset="0"/>
                <a:ea typeface="Calibri" pitchFamily="34" charset="-122"/>
                <a:cs typeface="Calibri" pitchFamily="34" charset="-120"/>
              </a:rPr>
              <a:t>Each panel is sorted independently. Values are % of that segment's respondents who placed the option anywhere in their top 3 (not mutually exclusive). Banking n=75, Insurance n=25 — bases differ, so compare rank order and share within each segment, not raw counts. Banking's top two areas are tied at 73%.</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Key Obstacles to Managing AI-Driven Fraud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bigger problem is untrained staff and identity-verification gaps, not a single missing tool.</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(e.g., deepfakes, synthetic identities, AI-enabled impersonation, and autonomous AI agents)?”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Insurance leans hardest on the training gap (64%); Banking is more evenly split across all four obstacles.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mix of obstacles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76656"/>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Region sample sizes — Banking: US n=34, Canada n=18, Europe n=12, Australia n=7, Singapore n=4. Insurance: US n=10, Canada n=12, Europe n=2 (both United Kingdom), Australia n=1, Singapore n=0. Banking/Australia, Banking/Singapore, and all Insurance cells outside US/Canada are thin samples and should be read directionally, not precisely.</a:t>
            </a:r>
            <a:endParaRPr lang="en-US" sz="850" dirty="0"/>
          </a:p>
        </p:txBody>
      </p:sp>
      <p:sp>
        <p:nvSpPr>
          <p:cNvPr id="10" name="Text 7"/>
          <p:cNvSpPr txBox="1"/>
          <p:nvPr/>
        </p:nvSpPr>
        <p:spPr>
          <a:xfrm>
            <a:off x="502006" y="5989320"/>
            <a:ext cx="11188598" cy="3200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Banking,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Staff training and ID verification lead in most Banking markets, but Australia stands apart, citing 3rd-party intel gaps as its biggest obstacle by far.</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13</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(n=18)</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(n=12)</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(n=7)</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Banking region sample sizes: US n=34, Canada n=18, Europe n=12, Australia n=7,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Insurance,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Canadian insurers cite staff training well above every other market; U.S. carriers are the only ones where detection technology ranks lowest.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(Insurance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14</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(n=10)</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(n=12)</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(n=2)</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Insurance region sample sizes: US n=10, Canada n=12, Europe n=2 (both United Kingdom), Australia n=1. Insurance had zero Singapore respondents, so that panel is omitted. Europe and Australia are extremely thin (1–2 respondents) and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2. Fraud Information Sharing</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What's blocking industry-wide information sharing, and what leaders want government to do about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What's blocking sharing is structural — messy, inconsistent data even more than legal rules — not unwillingness.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“Legal, privacy, or regulatory constraints”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data standardization, poor quality, and different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budget or resource investment”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external industry participation or collaboration”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“Unclear internal ownership or governance”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“Difficulty demonstrating ROI or business value”</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Legal/regulatory concern runs hottest in Australia; every market still names data quality among its top two barriers.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17</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(n=44)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(n=30)</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(n=14)</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(n=8)</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Region sample sizes: US n=44, Canada n=30, Europe n=14, Australia n=8,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Banking,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mix shifts by region: legal/regulatory concern peaks in Australia and data quality in Singapore, but both are thin cells.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(Banking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18</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(n=18)</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(n=12)</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(n=7)</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Banking region sample sizes: US n=34, Canada n=18, Europe n=12, Australia n=7,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Insurance,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U.S. carriers cite legal/regulatory constraints almost universally; Canada spreads more evenly across all six barriers.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(Insurance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19</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(n=10)</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(n=12)</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(n=2)</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Insurance region sample sizes: US n=10, Canada n=12, Europe n=2 (both United Kingdom), Australia n=1. Insurance had zero Singapore respondents, so that panel is omitted. Europe and Australia are extremely thin (1–2 respondents) and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Government Action With the Greatest Impact on Info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want government to build shared infrastructure, not just pass new laws.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hardest on a centralized platform or utility; Insurance is more evenly split, with data standards ranking twice as high as it does for Banking.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 centralized platform or utility remains a leading choice in almost every market, though priorities shift somewhat by region.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22</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(n=44)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(n=30)</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(n=14)</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(n=8)</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Region sample sizes: US n=44, Canada n=30, Europe n=14, Australia n=8,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“Establish clearer legal and regulatory frameworks for information sharing”  ·  “Develop common data standards and definitions”  ·  “Create a centralized fraud information-sharing platform or utility”  ·  “Facilitate greater public-private collaboration and coordination”  ·  “Provide funding or incentives to support participation”  ·  “Identify and prioritize industry use cases for fraud information sharing”</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Banking,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 centralized platform or utility leads in most markets, but Canada ties it with legal/regulatory reform and Singapore ties it with data standards.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(Banking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23</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(n=18)</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(n=12)</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(n=7)</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Banking region sample sizes: US n=34, Canada n=18, Europe n=12, Australia n=7,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“Establish clearer legal and regulatory frameworks for information sharing”  ·  “Develop common data standards and definitions”  ·  “Create a centralized fraud information-sharing platform or utility”  ·  “Facilitate greater public-private collaboration and coordination”  ·  “Provide funding or incentives to support participation”  ·  “Identify and prioritize industry use cases for fraud information sharing”</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Insurance,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U.S. and Canadian carriers split between platform infrastructure and legal reform; Europe and Australia's cells are too thin to generalize.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(Insurance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24</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(n=10)</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(n=12)</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(n=2)</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Insurance region sample sizes: US n=10, Canada n=12, Europe n=2 (both United Kingdom), Australia n=1. Insurance had zero Singapore respondents, so that panel is omitted. Europe and Australia are extremely thin (1–2 respondents) and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“Establish clearer legal and regulatory frameworks for information sharing”  ·  “Develop common data standards and definitions”  ·  “Create a centralized fraud information-sharing platform or utility”  ·  “Facilitate greater public-private collaboration and coordination”  ·  “Provide funding or incentives to support participation”  ·  “Identify and prioritize industry use cases for fraud information sharing”</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3. Third-Party Fraud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Which external parties present the greatest exposure — and it splits sharply by sector.</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Third-Party Fraud Risk Exposure,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Banks and insurers face very different third-party risks — one fix won't work for both.</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Q6a / Q6b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external party currently presents the greatest fraud risk exposure to your organization? (asked separately of Banking and Insurance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26</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20640"/>
            <a:ext cx="11188598" cy="0"/>
          </a:xfrm>
          <a:prstGeom prst="line">
            <a:avLst/>
          </a:prstGeom>
          <a:noFill/>
          <a:ln w="9525">
            <a:solidFill>
              <a:srgbClr val="D0D0CE"/>
            </a:solidFill>
            <a:prstDash val="solid"/>
          </a:ln>
        </p:spPr>
      </p:sp>
      <p:sp>
        <p:nvSpPr>
          <p:cNvPr id="12" name="Text 8"/>
          <p:cNvSpPr txBox="1"/>
          <p:nvPr/>
        </p:nvSpPr>
        <p:spPr>
          <a:xfrm>
            <a:off x="502006" y="5193792"/>
            <a:ext cx="11188598" cy="914400"/>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 </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Q6a Banking: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Mortgage brokers · Merchants · Fintech Partners · Dealers &amp; Indirect Lending Partners · Business &amp; Commercial Clients · Appraisers</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  ·  Q6b Insurance: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Brokers and distribution partners · Health care providers · Automotive service providers · Legal representatives and paralegals · Third-party administrators (TPAs) · Property claims service providers</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Expected to Most Reduce Third-Party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would rather get smarter about spotting risk than tighten the front door.</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toward intelligence-sharing; Insurance is split evenly between monitoring and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Information sharing tops the list in Canada and Europe, but onboarding verification leads in Australia and oversight dominates in Singapore.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29</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(n=44)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(n=30)</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(n=14)</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(n=8)</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Region sample sizes: US n=44, Canada n=30, Europe n=14, Australia n=8, Singapore n=4. Australia and Singapore are thin samples and should be read directionally, not precisely. A small share of "Other" responses (write-ins) are omitted, so figures may not sum to exactly 100%.</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Banking,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Information sharing leads across most Banking markets, but Singapore banks lean hardest on third-party oversight instead.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30</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(n=18)</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(n=12)</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(n=7)</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Banking region sample sizes: US n=34, Canada n=18, Europe n=12, Australia n=7, Singapore n=4. Australia and Singapore are thin samples and should be read directionally, not precisely. A small share of "Other" responses (write-ins) are omitted, so figures may not sum to exactly 100%.</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Insurance,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U.S. carriers lean on ongoing monitoring; Canadian carriers lean hardest on third-party oversight of any Insurance market.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(Insurance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31</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(n=10)</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(n=12)</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(n=2)</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Insurance region sample sizes: US n=10, Canada n=12, Europe n=2 (both United Kingdom), Australia n=1. Insurance had zero Singapore respondents, so that panel is omitted. Europe and Australia are extremely thin (1–2 respondents) and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Financial Institutions lean harder on information sharing and onboarding controls; Top 100 institutions lean relatively more on third-party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newS8; 5 respondents who did not directly answer were classified as Top 100 from their employer description elsewhere in the survey (Top 100 is n=40 = 35 direct + 5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lean hardest on ongoing monitoring; Large carriers split more evenly toward onboarding controls and third-party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(Insurance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S9; 1 respondent who did not directly answer was classified as Large Insurance Carrier from their employer description elsewhere in the survey (Large is n=10 = 9 direct + 1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4. Operating Model Transformation</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Self-reported program maturity, and how the mix of scaling levers shifts over the next 3 years.</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Self-Reported Fraud Program Maturity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82% self-rate “Integrated” or “Advanced” overall — but Banking clusters at Integrated while Insurance skews further, to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“Reactive: Primarily incident-driven”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“Foundational: Controls established within individual business units”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“Managed: Enterprise standards and governance are in place”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“Integrated: Data, analytics, and operations are integrated across major fraud types”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“Advanced: Predictive intelligence and ecosystem collaboration are embedded”</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By Sector and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maturity skews somewhat by institution tier — top-tier institutions lean more Advanced, particularly in Insurance.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 further broken down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tier segments are rounded to the nearest whole percent. Institution tier is based on newS8 (Banking) / S9 (Insurance); 5 Banking and 1 Insurance respondent who did not directly answer that question were classified from their employer description elsewhere in the survey (Top 100 and Large Insurance Carrier, respectively) — Banking Top 100 is n=40 (35 direct + 5 reclassified) and Insurance Large is n=10 (9 direct + 1 reclassified).</a:t>
            </a:r>
            <a:endParaRPr lang="en-US" sz="850" dirty="0"/>
          </a:p>
        </p:txBody>
      </p:sp>
      <p:sp>
        <p:nvSpPr>
          <p:cNvPr id="10" name="Text 7"/>
          <p:cNvSpPr txBox="1"/>
          <p:nvPr/>
        </p:nvSpPr>
        <p:spPr>
          <a:xfrm>
            <a:off x="502006" y="5980176"/>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lean more Advanced across most regions; Large institutions cluster more heavily at Integrated.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(Top 100 n=40, Large n=35); region segments are rounded to the nearest whole percent. Region sample sizes — Top 100: US n=14, Canada n=13, Europe n=7, Australia n=4, Singapore n=2. Large: US n=20, Canada n=5, Europe n=5, Australia n=3, Singapore n=2. Australia and Singapore are thin samples shown directionally. Top 100 includes 5 respondents reclassified from their employer description elsewhere in the survey (see previous slide).</a:t>
            </a:r>
            <a:endParaRPr lang="en-US" sz="850" dirty="0"/>
          </a:p>
        </p:txBody>
      </p:sp>
      <p:sp>
        <p:nvSpPr>
          <p:cNvPr id="10" name="Text 7"/>
          <p:cNvSpPr txBox="1"/>
          <p:nvPr/>
        </p:nvSpPr>
        <p:spPr>
          <a:xfrm>
            <a:off x="502006" y="6071616"/>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Insurance, Large carriers show a wider spread across maturity levels than Top 50 carriers — though the regional cut here is thin.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0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08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Region sample sizes — Top 50: US n=7, Canada n=6, Europe n=1, Australia n=1. Large: US n=3, Canada n=6, Europe n=1 (no Australia; neither tier has Singapore respondents). Europe and Australia cells are extremely thin — each is a single UK/Australian respondent — shown for completeness, not statistical reliability. Large includes 1 respondent (Canada) reclassified from their employer description elsewhere in the survey (see the sector x tier slide).</a:t>
            </a:r>
            <a:endParaRPr lang="en-US" sz="850" dirty="0"/>
          </a:p>
        </p:txBody>
      </p:sp>
      <p:sp>
        <p:nvSpPr>
          <p:cNvPr id="10" name="Text 7"/>
          <p:cNvSpPr txBox="1"/>
          <p:nvPr/>
        </p:nvSpPr>
        <p:spPr>
          <a:xfrm>
            <a:off x="502006" y="6071616"/>
            <a:ext cx="11188598" cy="347472"/>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Today vs. 3-Year Focus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 is already the top way fraud teams scale, and its lead is only growing.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 Which area do you expect will receive the greatest focus for operations transformation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39</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outsourcing arrangements (e.g., contractors)”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“Automating workflows and minimizing manual activities”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“Augmenting existing capacity with AI-enabled tools”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“Redesigning operation processes and playbooks across the lifecycle”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“Pursuing a combination of the above approaches”</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are already leaning hardest on AI; Large carriers still split their effort more evenly, notably toward outsourcing today.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40</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50 Insurance Carrier (n=15)</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Insurance Carrier (n=10)</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S9, including 1 respondent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Current Scaling Approach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Insurance, the regional pattern is thin but directionally consistent with the tier-level split.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50: US n=7, Canada n=6, Europe n=1, Australia n=1. Large: US n=3, Canada n=6, Europe n=1 (no Australia; neither tier has Singapore respondents). Every regional cell here is thin (n=1–7) and should be read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3-Year Scaling Focus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Looking ahead, Insurance's regional pattern shifts further toward AI and process redesign in both tiers.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do you expect will receive the greatest focus for fraud/investigations operations transformation over the next three years?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50: US n=7, Canada n=6, Europe n=1, Australia n=1. Large: US n=3, Canada n=6, Europe n=1 (no Australia; neither tier has Singapore respondents). Every regional cell here is thin (n=1–7) and should be read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already lean hardest on AI and automation; Large institutions rely more on hiring and outsourcing, today and in three years.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43</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100 Financial Institution (n=40)</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Financial Institution (n=35)</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newS8, including 5 respondents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Current Scaling Approach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in the U.S. lean hardest on AI today; Large institutions show a more even regional spread.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100: US n=14, Canada n=13, Europe n=7, Australia n=4, Singapore n=2. Large: US n=20, Canada n=5, Europe n=5, Australia n=3, Singapore n=2. Australia and Singapore are thin samples shown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3-Year Scaling Focus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AI's three-year lead holds across nearly every region and tier in Banking.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do you expect will receive the greatest focus for fraud/investigations operations transformation over the next three years?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100: US n=14, Canada n=13, Europe n=7, Australia n=4, Singapore n=2. Large: US n=20, Canada n=5, Europe n=5, Australia n=3, Singapore n=2. Australia and Singapore are thin samples shown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5. Regulatory &amp; Market Change</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fraud investment is really going, and the disruption leaders see coming next.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46</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Most fraud spending today is about fixing past problems, not getting ahead of new ones.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remediation-first pattern holds broadly across markets, though Canada leans even more toward fixing existing gaps.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 shown is each region's share of the full 100-respondent sample, so segments sum to the overall figure in each category label.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Regulatory Investment Focus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Insurance Carriers lean hardest into remediation; Top 50 carriers split more evenly toward getting ahead of upcoming rules.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(Insurance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49</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S9; 1 respondent who did not directly answer was classified as Large Insurance Carrier from their employer description elsewhere in the survey (Large is n=10 = 9 direct + 1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Regulatory Investment Focus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Financial Institutions skew further toward remediation than Top 100 banks, who are closer to an even split.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(Banking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newS8; 5 respondents who did not directly answer were classified as Top 100 from their employer description elsewhere in the survey (Top 100 is n=40 = 35 direct + 5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With Greatest Expected Impact</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authentication tops a close three-way race for the next big disruption.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privacy concerns dominate across every market; Canada stands out for prioritizing Open Banking well above its peers.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 shown is each region's share of the full 100-respondent sample who placed the option anywhere in their top 3, so segments sum to the overall figure in each category label (bars don't sum to 100%).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6. Looking Ahead Three Years</a:t>
            </a:r>
            <a:endParaRPr lang="en-US" sz="36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53</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What Leaders Say, Unprompted</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Left to answer in their own words, leaders converge on the same trend.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“Looking ahead three years, what development do you believe will have the greatest impact on fraud risk management, and why? (open-ended)”</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54</a:t>
            </a:r>
            <a:endParaRPr lang="en-US" sz="900" dirty="0"/>
          </a:p>
        </p:txBody>
      </p:sp>
      <p:sp>
        <p:nvSpPr>
          <p:cNvPr id="7" name="Shape 5"/>
          <p:cNvSpPr/>
          <p:nvPr/>
        </p:nvSpPr>
        <p:spPr>
          <a:xfrm>
            <a:off x="502006" y="2011680"/>
            <a:ext cx="11188598" cy="914400"/>
          </a:xfrm>
          <a:prstGeom prst="roundRect">
            <a:avLst>
              <a:gd name="adj" fmla="val 6000"/>
            </a:avLst>
          </a:prstGeom>
          <a:solidFill>
            <a:srgbClr val="F2F2F2"/>
          </a:solidFill>
          <a:ln/>
        </p:spPr>
      </p:sp>
      <p:sp>
        <p:nvSpPr>
          <p:cNvPr id="8" name="Text 6"/>
          <p:cNvSpPr txBox="1"/>
          <p:nvPr/>
        </p:nvSpPr>
        <p:spPr>
          <a:xfrm>
            <a:off x="776326" y="2011680"/>
            <a:ext cx="2011680" cy="914400"/>
          </a:xfrm>
          <a:prstGeom prst="rect">
            <a:avLst/>
          </a:prstGeom>
          <a:noFill/>
          <a:ln/>
        </p:spPr>
        <p:txBody>
          <a:bodyPr wrap="square" rtlCol="0" anchor="ctr"/>
          <a:lstStyle/>
          <a:p>
            <a:pPr indent="0" marL="0">
              <a:buNone/>
            </a:pPr>
            <a:r>
              <a:rPr lang="en-US" sz="3000" b="1" dirty="0">
                <a:solidFill>
                  <a:srgbClr val="046A38"/>
                </a:solidFill>
                <a:latin typeface="Calibri" pitchFamily="34" charset="0"/>
                <a:ea typeface="Calibri" pitchFamily="34" charset="-122"/>
                <a:cs typeface="Calibri" pitchFamily="34" charset="-120"/>
              </a:rPr>
              <a:t>100/100</a:t>
            </a:r>
            <a:endParaRPr lang="en-US" sz="3000" dirty="0"/>
          </a:p>
        </p:txBody>
      </p:sp>
      <p:sp>
        <p:nvSpPr>
          <p:cNvPr id="9" name="Text 7"/>
          <p:cNvSpPr txBox="1"/>
          <p:nvPr/>
        </p:nvSpPr>
        <p:spPr>
          <a:xfrm>
            <a:off x="2970886" y="2057400"/>
            <a:ext cx="8445398" cy="822960"/>
          </a:xfrm>
          <a:prstGeom prst="rect">
            <a:avLst/>
          </a:prstGeom>
          <a:noFill/>
          <a:ln/>
        </p:spPr>
        <p:txBody>
          <a:bodyPr wrap="square" rtlCol="0" anchor="ctr"/>
          <a:lstStyle/>
          <a:p>
            <a:pPr indent="0" marL="0">
              <a:lnSpc>
                <a:spcPct val="110000"/>
              </a:lnSpc>
              <a:buNone/>
            </a:pPr>
            <a:r>
              <a:rPr lang="en-US" sz="1150" dirty="0">
                <a:solidFill>
                  <a:srgbClr val="53565A"/>
                </a:solidFill>
                <a:latin typeface="Calibri" pitchFamily="34" charset="0"/>
                <a:ea typeface="Calibri" pitchFamily="34" charset="-122"/>
                <a:cs typeface="Calibri" pitchFamily="34" charset="-120"/>
              </a:rPr>
              <a:t>respondents answered in their own words — a full response rate on an open text field. The dominant unprompted theme: the convergence of GenAI, synthetic identity, and real-time payments — the same thread running through every closed-ended question above.</a:t>
            </a:r>
            <a:endParaRPr lang="en-US" sz="1150" dirty="0"/>
          </a:p>
        </p:txBody>
      </p:sp>
      <p:sp>
        <p:nvSpPr>
          <p:cNvPr id="10" name="Shape 8"/>
          <p:cNvSpPr/>
          <p:nvPr/>
        </p:nvSpPr>
        <p:spPr>
          <a:xfrm>
            <a:off x="502006" y="3154680"/>
            <a:ext cx="5457139" cy="1600200"/>
          </a:xfrm>
          <a:prstGeom prst="roundRect">
            <a:avLst>
              <a:gd name="adj" fmla="val 2857"/>
            </a:avLst>
          </a:prstGeom>
          <a:solidFill>
            <a:srgbClr val="FFFFFF"/>
          </a:solidFill>
          <a:ln w="9525">
            <a:solidFill>
              <a:srgbClr val="D0D0CE"/>
            </a:solidFill>
            <a:prstDash val="solid"/>
          </a:ln>
        </p:spPr>
      </p:sp>
      <p:sp>
        <p:nvSpPr>
          <p:cNvPr id="11" name="Text 9"/>
          <p:cNvSpPr txBox="1"/>
          <p:nvPr/>
        </p:nvSpPr>
        <p:spPr>
          <a:xfrm>
            <a:off x="684886"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convergence of genAI, synthetic identities and real time digital identity verification. This will matter significantly because fraudsters will become AI-native, identity becomes the new battleground, fraud prevention will replace fraud detection, and the winners will use AI against AI.”</a:t>
            </a:r>
            <a:endParaRPr lang="en-US" sz="1000" dirty="0"/>
          </a:p>
        </p:txBody>
      </p:sp>
      <p:sp>
        <p:nvSpPr>
          <p:cNvPr id="12" name="Text 10"/>
          <p:cNvSpPr txBox="1"/>
          <p:nvPr/>
        </p:nvSpPr>
        <p:spPr>
          <a:xfrm>
            <a:off x="684886"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Director · Insurance</a:t>
            </a:r>
            <a:endParaRPr lang="en-US" sz="900" dirty="0"/>
          </a:p>
        </p:txBody>
      </p:sp>
      <p:sp>
        <p:nvSpPr>
          <p:cNvPr id="13" name="Shape 11"/>
          <p:cNvSpPr/>
          <p:nvPr/>
        </p:nvSpPr>
        <p:spPr>
          <a:xfrm>
            <a:off x="6233465" y="3154680"/>
            <a:ext cx="5457139" cy="1600200"/>
          </a:xfrm>
          <a:prstGeom prst="roundRect">
            <a:avLst>
              <a:gd name="adj" fmla="val 2857"/>
            </a:avLst>
          </a:prstGeom>
          <a:solidFill>
            <a:srgbClr val="FFFFFF"/>
          </a:solidFill>
          <a:ln w="9525">
            <a:solidFill>
              <a:srgbClr val="D0D0CE"/>
            </a:solidFill>
            <a:prstDash val="solid"/>
          </a:ln>
        </p:spPr>
      </p:sp>
      <p:sp>
        <p:nvSpPr>
          <p:cNvPr id="14" name="Text 12"/>
          <p:cNvSpPr txBox="1"/>
          <p:nvPr/>
        </p:nvSpPr>
        <p:spPr>
          <a:xfrm>
            <a:off x="6416345"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biggest development will be the convergence of GenAI, synthetic identity, and real-time payments. Fraud will become faster, more personalized, and harder to distinguish from legitimate customer behaviour.”</a:t>
            </a:r>
            <a:endParaRPr lang="en-US" sz="1000" dirty="0"/>
          </a:p>
        </p:txBody>
      </p:sp>
      <p:sp>
        <p:nvSpPr>
          <p:cNvPr id="15" name="Text 13"/>
          <p:cNvSpPr txBox="1"/>
          <p:nvPr/>
        </p:nvSpPr>
        <p:spPr>
          <a:xfrm>
            <a:off x="6416345"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C-level · Banking</a:t>
            </a:r>
            <a:endParaRPr lang="en-US" sz="900" dirty="0"/>
          </a:p>
        </p:txBody>
      </p:sp>
      <p:sp>
        <p:nvSpPr>
          <p:cNvPr id="16" name="Shape 14"/>
          <p:cNvSpPr/>
          <p:nvPr/>
        </p:nvSpPr>
        <p:spPr>
          <a:xfrm>
            <a:off x="502006" y="4937760"/>
            <a:ext cx="5457139" cy="1600200"/>
          </a:xfrm>
          <a:prstGeom prst="roundRect">
            <a:avLst>
              <a:gd name="adj" fmla="val 2857"/>
            </a:avLst>
          </a:prstGeom>
          <a:solidFill>
            <a:srgbClr val="FFFFFF"/>
          </a:solidFill>
          <a:ln w="9525">
            <a:solidFill>
              <a:srgbClr val="D0D0CE"/>
            </a:solidFill>
            <a:prstDash val="solid"/>
          </a:ln>
        </p:spPr>
      </p:sp>
      <p:sp>
        <p:nvSpPr>
          <p:cNvPr id="17" name="Text 15"/>
          <p:cNvSpPr txBox="1"/>
          <p:nvPr/>
        </p:nvSpPr>
        <p:spPr>
          <a:xfrm>
            <a:off x="684886"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“Companies are moving away from regular passwords towards decentralized digital credentials and biometric passkeys, as this would minimize phishing and account hacking.”</a:t>
            </a:r>
            <a:endParaRPr lang="en-US" sz="1000" dirty="0"/>
          </a:p>
        </p:txBody>
      </p:sp>
      <p:sp>
        <p:nvSpPr>
          <p:cNvPr id="18" name="Text 16"/>
          <p:cNvSpPr txBox="1"/>
          <p:nvPr/>
        </p:nvSpPr>
        <p:spPr>
          <a:xfrm>
            <a:off x="684886"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Senior Manager · Banking</a:t>
            </a:r>
            <a:endParaRPr lang="en-US" sz="900" dirty="0"/>
          </a:p>
        </p:txBody>
      </p:sp>
      <p:sp>
        <p:nvSpPr>
          <p:cNvPr id="19" name="Shape 17"/>
          <p:cNvSpPr/>
          <p:nvPr/>
        </p:nvSpPr>
        <p:spPr>
          <a:xfrm>
            <a:off x="6233465" y="4937760"/>
            <a:ext cx="5457139" cy="1600200"/>
          </a:xfrm>
          <a:prstGeom prst="roundRect">
            <a:avLst>
              <a:gd name="adj" fmla="val 2857"/>
            </a:avLst>
          </a:prstGeom>
          <a:solidFill>
            <a:srgbClr val="FFFFFF"/>
          </a:solidFill>
          <a:ln w="9525">
            <a:solidFill>
              <a:srgbClr val="D0D0CE"/>
            </a:solidFill>
            <a:prstDash val="solid"/>
          </a:ln>
        </p:spPr>
      </p:sp>
      <p:sp>
        <p:nvSpPr>
          <p:cNvPr id="20" name="Text 18"/>
          <p:cNvSpPr txBox="1"/>
          <p:nvPr/>
        </p:nvSpPr>
        <p:spPr>
          <a:xfrm>
            <a:off x="6416345"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“AI will shift fraud management from reactive investigation toward more predictive prevention, which should help us identify risks before losses occur.”</a:t>
            </a:r>
            <a:endParaRPr lang="en-US" sz="1000" dirty="0"/>
          </a:p>
        </p:txBody>
      </p:sp>
      <p:sp>
        <p:nvSpPr>
          <p:cNvPr id="21" name="Text 19"/>
          <p:cNvSpPr txBox="1"/>
          <p:nvPr/>
        </p:nvSpPr>
        <p:spPr>
          <a:xfrm>
            <a:off x="6416345"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VP · Banking</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Text 2"/>
          <p:cNvSpPr txBox="1"/>
          <p:nvPr/>
        </p:nvSpPr>
        <p:spPr>
          <a:xfrm>
            <a:off x="502006" y="4215384"/>
            <a:ext cx="8531352" cy="2167128"/>
          </a:xfrm>
          <a:prstGeom prst="rect">
            <a:avLst/>
          </a:prstGeom>
          <a:noFill/>
          <a:ln/>
        </p:spPr>
        <p:txBody>
          <a:bodyPr wrap="square" lIns="0" tIns="0" rIns="0" bIns="0" rtlCol="0" anchor="t"/>
          <a:lstStyle/>
          <a:p>
            <a:pPr algn="l" indent="0" marL="0">
              <a:lnSpc>
                <a:spcPct val="120000"/>
              </a:lnSpc>
              <a:buNone/>
            </a:pPr>
            <a:r>
              <a:rPr lang="en-US" sz="2800" b="1" dirty="0">
                <a:solidFill>
                  <a:srgbClr val="FFFFFF"/>
                </a:solidFill>
                <a:latin typeface="Calibri" pitchFamily="34" charset="0"/>
                <a:ea typeface="Calibri" pitchFamily="34" charset="-122"/>
                <a:cs typeface="Calibri" pitchFamily="34" charset="-120"/>
              </a:rPr>
              <a:t>Thank you
</a:t>
            </a:r>
            <a:endParaRPr lang="en-US" sz="2800" dirty="0"/>
          </a:p>
          <a:p>
            <a:pPr algn="l" indent="0" marL="0">
              <a:lnSpc>
                <a:spcPct val="120000"/>
              </a:lnSpc>
              <a:buNone/>
            </a:pPr>
            <a:r>
              <a:rPr lang="en-US" sz="1600" b="1" dirty="0">
                <a:solidFill>
                  <a:srgbClr val="86BC25"/>
                </a:solidFill>
                <a:latin typeface="Calibri" pitchFamily="34" charset="0"/>
                <a:ea typeface="Calibri" pitchFamily="34" charset="-122"/>
                <a:cs typeface="Calibri" pitchFamily="34" charset="-120"/>
              </a:rPr>
              <a:t>[Presenter Name]
</a:t>
            </a:r>
            <a:endParaRPr lang="en-US" sz="2800" dirty="0"/>
          </a:p>
          <a:p>
            <a:pPr algn="l" indent="0" marL="0">
              <a:lnSpc>
                <a:spcPct val="120000"/>
              </a:lnSpc>
              <a:buNone/>
            </a:pPr>
            <a:r>
              <a:rPr lang="en-US" sz="1300" dirty="0">
                <a:solidFill>
                  <a:srgbClr val="FFFFFF"/>
                </a:solidFill>
                <a:latin typeface="Calibri" pitchFamily="34" charset="0"/>
                <a:ea typeface="Calibri" pitchFamily="34" charset="-122"/>
                <a:cs typeface="Calibri" pitchFamily="34" charset="-120"/>
              </a:rPr>
              <a:t>[Title | Practice]
</a:t>
            </a:r>
            <a:endParaRPr lang="en-US" sz="2800" dirty="0"/>
          </a:p>
          <a:p>
            <a:pPr algn="l" indent="0" marL="0">
              <a:lnSpc>
                <a:spcPct val="120000"/>
              </a:lnSpc>
              <a:buNone/>
            </a:pPr>
            <a:r>
              <a:rPr lang="en-US" sz="1300" dirty="0">
                <a:solidFill>
                  <a:srgbClr val="D0D0CE"/>
                </a:solidFill>
                <a:latin typeface="Calibri" pitchFamily="34" charset="0"/>
                <a:ea typeface="Calibri" pitchFamily="34" charset="-122"/>
                <a:cs typeface="Calibri" pitchFamily="34" charset="-120"/>
              </a:rPr>
              <a:t>[email@deloitte.com]</a:t>
            </a:r>
            <a:endParaRPr lang="en-US" sz="2800" dirty="0"/>
          </a:p>
        </p:txBody>
      </p:sp>
      <p:sp>
        <p:nvSpPr>
          <p:cNvPr id="5" name="Shape 3"/>
          <p:cNvSpPr/>
          <p:nvPr/>
        </p:nvSpPr>
        <p:spPr>
          <a:xfrm>
            <a:off x="9372600" y="4215384"/>
            <a:ext cx="2322576" cy="1728216"/>
          </a:xfrm>
          <a:prstGeom prst="rect">
            <a:avLst/>
          </a:prstGeom>
          <a:solidFill>
            <a:srgbClr val="0B1C14"/>
          </a:solidFill>
          <a:ln w="9525">
            <a:solidFill>
              <a:srgbClr val="86BC25"/>
            </a:solidFill>
            <a:prstDash val="solid"/>
          </a:ln>
        </p:spPr>
      </p:sp>
      <p:sp>
        <p:nvSpPr>
          <p:cNvPr id="6" name="Text 4"/>
          <p:cNvSpPr txBox="1"/>
          <p:nvPr/>
        </p:nvSpPr>
        <p:spPr>
          <a:xfrm>
            <a:off x="9372600" y="4892040"/>
            <a:ext cx="2322576" cy="365760"/>
          </a:xfrm>
          <a:prstGeom prst="rect">
            <a:avLst/>
          </a:prstGeom>
          <a:noFill/>
          <a:ln/>
        </p:spPr>
        <p:txBody>
          <a:bodyPr wrap="square" rtlCol="0" anchor="ctr"/>
          <a:lstStyle/>
          <a:p>
            <a:pPr algn="ctr" indent="0" marL="0">
              <a:buNone/>
            </a:pPr>
            <a:r>
              <a:rPr lang="en-US" sz="1600" b="1" dirty="0">
                <a:solidFill>
                  <a:srgbClr val="86BC25"/>
                </a:solidFill>
                <a:latin typeface="Calibri" pitchFamily="34" charset="0"/>
                <a:ea typeface="Calibri" pitchFamily="34" charset="-122"/>
                <a:cs typeface="Calibri" pitchFamily="34" charset="-120"/>
              </a:rPr>
              <a:t>D.FEND</a:t>
            </a:r>
            <a:endParaRPr lang="en-US" sz="1600" dirty="0"/>
          </a:p>
        </p:txBody>
      </p:sp>
      <p:sp>
        <p:nvSpPr>
          <p:cNvPr id="7" name="Text 5"/>
          <p:cNvSpPr txBox="1"/>
          <p:nvPr/>
        </p:nvSpPr>
        <p:spPr>
          <a:xfrm>
            <a:off x="9370771" y="6016752"/>
            <a:ext cx="2322576" cy="365760"/>
          </a:xfrm>
          <a:prstGeom prst="rect">
            <a:avLst/>
          </a:prstGeom>
          <a:noFill/>
          <a:ln/>
        </p:spPr>
        <p:txBody>
          <a:bodyPr wrap="square" rtlCol="0" anchor="ctr"/>
          <a:lstStyle/>
          <a:p>
            <a:pPr algn="ctr" indent="0" marL="0">
              <a:buNone/>
            </a:pPr>
            <a:r>
              <a:rPr lang="en-US" sz="1000" i="1" dirty="0">
                <a:solidFill>
                  <a:srgbClr val="D0D0CE"/>
                </a:solidFill>
                <a:latin typeface="Calibri" pitchFamily="34" charset="0"/>
                <a:ea typeface="Calibri" pitchFamily="34" charset="-122"/>
                <a:cs typeface="Calibri" pitchFamily="34" charset="-120"/>
              </a:rPr>
              <a:t>Fin Crime Forum</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2026-09-28T16:05:10Z</dcterms:created>
  <dcterms:modified xsi:type="dcterms:W3CDTF">2026-09-28T16:05:10Z</dcterms:modified>
</cp:coreProperties>
</file>