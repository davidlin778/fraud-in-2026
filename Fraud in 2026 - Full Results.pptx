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25</c:v>
                </c:pt>
                <c:pt idx="1">
                  <c:v>20.8</c:v>
                </c:pt>
                <c:pt idx="2">
                  <c:v>18.7</c:v>
                </c:pt>
                <c:pt idx="3">
                  <c:v>17.3</c:v>
                </c:pt>
                <c:pt idx="4">
                  <c:v>12.8</c:v>
                </c:pt>
                <c:pt idx="5">
                  <c:v>4.3</c:v>
                </c:pt>
              </c:numCache>
            </c:numRef>
          </c:val>
        </c:ser>
        <c:dLbls>
          <c:numFmt formatCode="0.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28</c:v>
                </c:pt>
                <c:pt idx="1">
                  <c:v>24.7</c:v>
                </c:pt>
                <c:pt idx="2">
                  <c:v>17.1</c:v>
                </c:pt>
                <c:pt idx="3">
                  <c:v>14.4</c:v>
                </c:pt>
                <c:pt idx="4">
                  <c:v>10.7</c:v>
                </c:pt>
                <c:pt idx="5">
                  <c:v>3.8</c:v>
                </c:pt>
              </c:numCache>
            </c:numRef>
          </c:val>
        </c:ser>
        <c:dLbls>
          <c:numFmt formatCode="0.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26</c:v>
                </c:pt>
                <c:pt idx="1">
                  <c:v>23.3</c:v>
                </c:pt>
                <c:pt idx="2">
                  <c:v>19.3</c:v>
                </c:pt>
                <c:pt idx="3">
                  <c:v>16</c:v>
                </c:pt>
                <c:pt idx="4">
                  <c:v>9.3</c:v>
                </c:pt>
                <c:pt idx="5">
                  <c:v>6</c:v>
                </c:pt>
              </c:numCache>
            </c:numRef>
          </c:val>
        </c:ser>
        <c:dLbls>
          <c:numFmt formatCode="0.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Legal, privacy or regulatory constraints</c:v>
                  </c:pt>
                  <c:pt idx="1">
                    <c:v>Limited data standardization &amp; poor quality</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28.7</c:v>
                </c:pt>
                <c:pt idx="1">
                  <c:v>25</c:v>
                </c:pt>
                <c:pt idx="2">
                  <c:v>19.3</c:v>
                </c:pt>
                <c:pt idx="3">
                  <c:v>10.3</c:v>
                </c:pt>
                <c:pt idx="4">
                  <c:v>9</c:v>
                </c:pt>
                <c:pt idx="5">
                  <c:v>7.2</c:v>
                </c:pt>
              </c:numCache>
            </c:numRef>
          </c:val>
        </c:ser>
        <c:dLbls>
          <c:numFmt formatCode="0.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AML modernization initiatives</c:v>
                  </c:pt>
                  <c:pt idx="4">
                    <c:v>Liability &amp; reimbursement changes</c:v>
                  </c:pt>
                  <c:pt idx="5">
                    <c:v>Open Banking / consumer-driven initiatives</c:v>
                  </c:pt>
                </c:lvl>
              </c:multiLvlStrCache>
            </c:multiLvlStrRef>
          </c:cat>
          <c:val>
            <c:numRef>
              <c:f>Sheet1!$B$2:$B$7</c:f>
              <c:numCache>
                <c:formatCode>General</c:formatCode>
                <c:ptCount val="6"/>
                <c:pt idx="0">
                  <c:v>25</c:v>
                </c:pt>
                <c:pt idx="1">
                  <c:v>21.8</c:v>
                </c:pt>
                <c:pt idx="2">
                  <c:v>20.5</c:v>
                </c:pt>
                <c:pt idx="3">
                  <c:v>11.2</c:v>
                </c:pt>
                <c:pt idx="4">
                  <c:v>10.8</c:v>
                </c:pt>
                <c:pt idx="5">
                  <c:v>10.7</c:v>
                </c:pt>
              </c:numCache>
            </c:numRef>
          </c:val>
        </c:ser>
        <c:dLbls>
          <c:numFmt formatCode="0.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weighted Borda-style (1st=3pts, 2nd=2pts, 3rd=1pt), shown as % of the 600-point pool.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onboarding/KYC, but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weighted score)”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by its own weighted score. Values are % of that segment's own point pool (Banking = 450 pts, Insurance = 150 pts) — segments are not comparable in absolute points, only in rank order and share of their own pool.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legal rules and messy data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weighted Borda-style (1st=3pts, 2nd=2pts, 3rd=1pt), shown as % of the 600-point pool.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weighted Borda-style (1st=3pts, 2nd=2pts, 3rd=1pt), shown as % of the 600-point pool.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2026-09-20T16:05:11Z</dcterms:created>
  <dcterms:modified xsi:type="dcterms:W3CDTF">2026-09-20T16:05:11Z</dcterms:modified>
</cp:coreProperties>
</file>