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0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</c:v>
                </c:pt>
              </c:strCache>
            </c:strRef>
          </c:tx>
          <c:spPr>
            <a:solidFill>
              <a:srgbClr val="86BC2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United States</c:v>
                  </c:pt>
                  <c:pt idx="1">
                    <c:v>Canada</c:v>
                  </c:pt>
                  <c:pt idx="2">
                    <c:v>United Kingdom</c:v>
                  </c:pt>
                  <c:pt idx="3">
                    <c:v>Australia</c:v>
                  </c:pt>
                  <c:pt idx="4">
                    <c:v>Singapore</c:v>
                  </c:pt>
                  <c:pt idx="5">
                    <c:v>EU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41</c:v>
                </c:pt>
                <c:pt idx="1">
                  <c:v>33</c:v>
                </c:pt>
                <c:pt idx="2">
                  <c:v>11</c:v>
                </c:pt>
                <c:pt idx="3">
                  <c:v>8</c:v>
                </c:pt>
                <c:pt idx="4">
                  <c:v>4</c:v>
                </c:pt>
                <c:pt idx="5">
                  <c:v>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Dept</c:v>
                </c:pt>
              </c:strCache>
            </c:strRef>
          </c:tx>
          <c:spPr>
            <a:solidFill>
              <a:srgbClr val="86BC2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Fraud Risk &amp; Governance</c:v>
                  </c:pt>
                  <c:pt idx="1">
                    <c:v>Fraud Operations</c:v>
                  </c:pt>
                  <c:pt idx="2">
                    <c:v>Fraud Strategy &amp; Transformation</c:v>
                  </c:pt>
                  <c:pt idx="3">
                    <c:v>Fraud Analytics/Intelligence</c:v>
                  </c:pt>
                  <c:pt idx="4">
                    <c:v>Special Investigations Unit</c:v>
                  </c:pt>
                  <c:pt idx="5">
                    <c:v>Fraud Investigations Unit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</c:v>
                </c:pt>
                <c:pt idx="1">
                  <c:v>22</c:v>
                </c:pt>
                <c:pt idx="2">
                  <c:v>20</c:v>
                </c:pt>
                <c:pt idx="3">
                  <c:v>17</c:v>
                </c:pt>
                <c:pt idx="4">
                  <c:v>9</c:v>
                </c:pt>
                <c:pt idx="5">
                  <c:v>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Greatest Increase in AI/Deepfake Vulnerability</c:v>
                </c:pt>
              </c:strCache>
            </c:strRef>
          </c:tx>
          <c:spPr>
            <a:solidFill>
              <a:srgbClr val="86BC2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Digital onboarding, KYC &amp; identity verification</c:v>
                  </c:pt>
                  <c:pt idx="1">
                    <c:v>Payment, wire &amp; transaction approvals</c:v>
                  </c:pt>
                  <c:pt idx="2">
                    <c:v>Claims, underwriting &amp; lending review</c:v>
                  </c:pt>
                  <c:pt idx="3">
                    <c:v>Contact center / phone-based authentication</c:v>
                  </c:pt>
                  <c:pt idx="4">
                    <c:v>Executive / employee / broker impersonation</c:v>
                  </c:pt>
                  <c:pt idx="5">
                    <c:v>Video meetings &amp; remote advisory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25.2</c:v>
                </c:pt>
                <c:pt idx="1">
                  <c:v>20.8</c:v>
                </c:pt>
                <c:pt idx="2">
                  <c:v>18.3</c:v>
                </c:pt>
                <c:pt idx="3">
                  <c:v>17.3</c:v>
                </c:pt>
                <c:pt idx="4">
                  <c:v>12.7</c:v>
                </c:pt>
                <c:pt idx="5">
                  <c:v>4.7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Key Obstacles to Managing AI-Driven Fraud Risk</c:v>
                </c:pt>
              </c:strCache>
            </c:strRef>
          </c:tx>
          <c:spPr>
            <a:solidFill>
              <a:srgbClr val="86BC2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Limited staff awareness &amp; training</c:v>
                  </c:pt>
                  <c:pt idx="1">
                    <c:v>Insufficient identity verification / prevention capability</c:v>
                  </c:pt>
                  <c:pt idx="2">
                    <c:v>Lack of fraud detection technology</c:v>
                  </c:pt>
                  <c:pt idx="3">
                    <c:v>Limited 3rd-party intel / consortium data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44</c:v>
                </c:pt>
                <c:pt idx="3">
                  <c:v>44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Biggest Barriers to Effective Information Sharing</c:v>
                </c:pt>
              </c:strCache>
            </c:strRef>
          </c:tx>
          <c:spPr>
            <a:solidFill>
              <a:srgbClr val="86BC2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Legal, privacy or regulatory constraints</c:v>
                  </c:pt>
                  <c:pt idx="1">
                    <c:v>Limited data standardization &amp; poor quality</c:v>
                  </c:pt>
                  <c:pt idx="2">
                    <c:v>Lack of external industry participation</c:v>
                  </c:pt>
                  <c:pt idx="3">
                    <c:v>Insufficient budget or resources</c:v>
                  </c:pt>
                  <c:pt idx="4">
                    <c:v>Difficulty demonstrating ROI</c:v>
                  </c:pt>
                  <c:pt idx="5">
                    <c:v>Unclear internal ownership / governance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28.7</c:v>
                </c:pt>
                <c:pt idx="1">
                  <c:v>24.8</c:v>
                </c:pt>
                <c:pt idx="2">
                  <c:v>19.3</c:v>
                </c:pt>
                <c:pt idx="3">
                  <c:v>10</c:v>
                </c:pt>
                <c:pt idx="4">
                  <c:v>9</c:v>
                </c:pt>
                <c:pt idx="5">
                  <c:v>7.7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Government Action With the Greatest Impact on Info Sharing</c:v>
                </c:pt>
              </c:strCache>
            </c:strRef>
          </c:tx>
          <c:spPr>
            <a:solidFill>
              <a:srgbClr val="86BC2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Centralized fraud info-sharing platform / utility</c:v>
                  </c:pt>
                  <c:pt idx="1">
                    <c:v>Clearer legal &amp; regulatory frameworks</c:v>
                  </c:pt>
                  <c:pt idx="2">
                    <c:v>Common data standards &amp; definitions</c:v>
                  </c:pt>
                  <c:pt idx="3">
                    <c:v>Greater public-private collaboration</c:v>
                  </c:pt>
                  <c:pt idx="4">
                    <c:v>Prioritized industry use cases</c:v>
                  </c:pt>
                  <c:pt idx="5">
                    <c:v>Funding or incentives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26</c:v>
                </c:pt>
                <c:pt idx="2">
                  <c:v>14</c:v>
                </c:pt>
                <c:pt idx="3">
                  <c:v>13</c:v>
                </c:pt>
                <c:pt idx="4">
                  <c:v>9</c:v>
                </c:pt>
                <c:pt idx="5">
                  <c:v>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Banking</c:v>
                </c:pt>
              </c:strCache>
            </c:strRef>
          </c:tx>
          <c:spPr>
            <a:solidFill>
              <a:srgbClr val="86BC2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Fintech partners</c:v>
                  </c:pt>
                  <c:pt idx="1">
                    <c:v>Business &amp; commercial clients</c:v>
                  </c:pt>
                  <c:pt idx="2">
                    <c:v>Dealers &amp; indirect lending partners</c:v>
                  </c:pt>
                  <c:pt idx="3">
                    <c:v>Mortgage brokers</c:v>
                  </c:pt>
                  <c:pt idx="4">
                    <c:v>Merchants</c:v>
                  </c:pt>
                  <c:pt idx="5">
                    <c:v>Appraisers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</c:v>
                </c:pt>
                <c:pt idx="1">
                  <c:v>24</c:v>
                </c:pt>
                <c:pt idx="2">
                  <c:v>20</c:v>
                </c:pt>
                <c:pt idx="3">
                  <c:v>17</c:v>
                </c:pt>
                <c:pt idx="4">
                  <c:v>8</c:v>
                </c:pt>
                <c:pt idx="5">
                  <c:v>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Insurance</c:v>
                </c:pt>
              </c:strCache>
            </c:strRef>
          </c:tx>
          <c:spPr>
            <a:solidFill>
              <a:srgbClr val="046A3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Health care providers</c:v>
                  </c:pt>
                  <c:pt idx="1">
                    <c:v>Automotive service providers</c:v>
                  </c:pt>
                  <c:pt idx="2">
                    <c:v>Brokers &amp; distribution partners</c:v>
                  </c:pt>
                  <c:pt idx="3">
                    <c:v>Third-party administrators (TPAs)</c:v>
                  </c:pt>
                  <c:pt idx="4">
                    <c:v>Property claims service providers</c:v>
                  </c:pt>
                  <c:pt idx="5">
                    <c:v>Legal representatives &amp; paralegals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16</c:v>
                </c:pt>
                <c:pt idx="2">
                  <c:v>16</c:v>
                </c:pt>
                <c:pt idx="3">
                  <c:v>12</c:v>
                </c:pt>
                <c:pt idx="4">
                  <c:v>12</c:v>
                </c:pt>
                <c:pt idx="5">
                  <c:v>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Expected to Most Reduce Third-Party Risk</c:v>
                </c:pt>
              </c:strCache>
            </c:strRef>
          </c:tx>
          <c:spPr>
            <a:solidFill>
              <a:srgbClr val="86BC2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Increase info sharing &amp; intelligence</c:v>
                  </c:pt>
                  <c:pt idx="1">
                    <c:v>Enhance ongoing monitoring &amp; detection</c:v>
                  </c:pt>
                  <c:pt idx="2">
                    <c:v>Strengthen onboarding verification &amp; due diligence</c:v>
                  </c:pt>
                  <c:pt idx="3">
                    <c:v>Strengthen 3rd-party oversight &amp; accountability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</c:v>
                </c:pt>
                <c:pt idx="1">
                  <c:v>27</c:v>
                </c:pt>
                <c:pt idx="2">
                  <c:v>25</c:v>
                </c:pt>
                <c:pt idx="3">
                  <c:v>19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Maturity</c:v>
                </c:pt>
              </c:strCache>
            </c:strRef>
          </c:tx>
          <c:spPr>
            <a:solidFill>
              <a:srgbClr val="86BC2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Reactive</c:v>
                  </c:pt>
                  <c:pt idx="1">
                    <c:v>Foundational</c:v>
                  </c:pt>
                  <c:pt idx="2">
                    <c:v>Managed</c:v>
                  </c:pt>
                  <c:pt idx="3">
                    <c:v>Integrated</c:v>
                  </c:pt>
                  <c:pt idx="4">
                    <c:v>Advanced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6</c:v>
                </c:pt>
                <c:pt idx="2">
                  <c:v>14</c:v>
                </c:pt>
                <c:pt idx="3">
                  <c:v>42</c:v>
                </c:pt>
                <c:pt idx="4">
                  <c:v>37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 approach</c:v>
                </c:pt>
              </c:strCache>
            </c:strRef>
          </c:tx>
          <c:spPr>
            <a:solidFill>
              <a:srgbClr val="86BC2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AI-enabled tools augmentation</c:v>
                  </c:pt>
                  <c:pt idx="1">
                    <c:v>Automating workflows</c:v>
                  </c:pt>
                  <c:pt idx="2">
                    <c:v>Redesigning processes &amp; playbooks</c:v>
                  </c:pt>
                  <c:pt idx="3">
                    <c:v>Outsourcing</c:v>
                  </c:pt>
                  <c:pt idx="4">
                    <c:v>Hiring / workforce expansion</c:v>
                  </c:pt>
                  <c:pt idx="5">
                    <c:v>Combination of approaches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30</c:v>
                </c:pt>
                <c:pt idx="2">
                  <c:v>10</c:v>
                </c:pt>
                <c:pt idx="3">
                  <c:v>10</c:v>
                </c:pt>
                <c:pt idx="4">
                  <c:v>9</c:v>
                </c:pt>
                <c:pt idx="5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3-year focus</c:v>
                </c:pt>
              </c:strCache>
            </c:strRef>
          </c:tx>
          <c:spPr>
            <a:solidFill>
              <a:srgbClr val="046A3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AI-enabled tools augmentation</c:v>
                  </c:pt>
                  <c:pt idx="1">
                    <c:v>Automating workflows</c:v>
                  </c:pt>
                  <c:pt idx="2">
                    <c:v>Redesigning processes &amp; playbooks</c:v>
                  </c:pt>
                  <c:pt idx="3">
                    <c:v>Outsourcing</c:v>
                  </c:pt>
                  <c:pt idx="4">
                    <c:v>Hiring / workforce expansion</c:v>
                  </c:pt>
                  <c:pt idx="5">
                    <c:v>Combination of approaches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</c:v>
                </c:pt>
                <c:pt idx="1">
                  <c:v>28</c:v>
                </c:pt>
                <c:pt idx="2">
                  <c:v>18</c:v>
                </c:pt>
                <c:pt idx="3">
                  <c:v>7</c:v>
                </c:pt>
                <c:pt idx="4">
                  <c:v>5</c:v>
                </c:pt>
                <c:pt idx="5">
                  <c:v>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Fraud Investment Relative to Regulatory Requirements</c:v>
                </c:pt>
              </c:strCache>
            </c:strRef>
          </c:tx>
          <c:spPr>
            <a:solidFill>
              <a:srgbClr val="86BC2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Investing to remediate existing compliance gaps</c:v>
                  </c:pt>
                  <c:pt idx="1">
                    <c:v>Investing to meet upcoming / draft regulations</c:v>
                  </c:pt>
                  <c:pt idx="2">
                    <c:v>Regulation not a primary driver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</c:v>
                </c:pt>
                <c:pt idx="1">
                  <c:v>39</c:v>
                </c:pt>
                <c:pt idx="2">
                  <c:v>13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Upcoming Regulatory / Market Change With Greatest Expected Impact</c:v>
                </c:pt>
              </c:strCache>
            </c:strRef>
          </c:tx>
          <c:spPr>
            <a:solidFill>
              <a:srgbClr val="86BC2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Customer identity, authentication &amp; digital trust</c:v>
                  </c:pt>
                  <c:pt idx="1">
                    <c:v>Privacy, data-sharing &amp; AI governance requirements</c:v>
                  </c:pt>
                  <c:pt idx="2">
                    <c:v>Payment innovation (RTP, stablecoins, agentic payments)</c:v>
                  </c:pt>
                  <c:pt idx="3">
                    <c:v>AML modernization initiatives</c:v>
                  </c:pt>
                  <c:pt idx="4">
                    <c:v>Liability &amp; reimbursement changes</c:v>
                  </c:pt>
                  <c:pt idx="5">
                    <c:v>Open Banking / consumer-driven initiatives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24.5</c:v>
                </c:pt>
                <c:pt idx="1">
                  <c:v>21.5</c:v>
                </c:pt>
                <c:pt idx="2">
                  <c:v>21.2</c:v>
                </c:pt>
                <c:pt idx="3">
                  <c:v>11.5</c:v>
                </c:pt>
                <c:pt idx="4">
                  <c:v>10.7</c:v>
                </c:pt>
                <c:pt idx="5">
                  <c:v>10.7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356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457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800454" y="598932"/>
            <a:ext cx="82296" cy="82296"/>
          </a:xfrm>
          <a:prstGeom prst="ellipse">
            <a:avLst/>
          </a:prstGeom>
          <a:solidFill>
            <a:srgbClr val="86BC25"/>
          </a:solidFill>
          <a:ln/>
        </p:spPr>
      </p:sp>
      <p:sp>
        <p:nvSpPr>
          <p:cNvPr id="4" name="Shape 2"/>
          <p:cNvSpPr/>
          <p:nvPr/>
        </p:nvSpPr>
        <p:spPr>
          <a:xfrm>
            <a:off x="3392424" y="731520"/>
            <a:ext cx="5404104" cy="5404104"/>
          </a:xfrm>
          <a:prstGeom prst="rect">
            <a:avLst/>
          </a:prstGeom>
          <a:solidFill>
            <a:srgbClr val="0B1C14"/>
          </a:solidFill>
          <a:ln w="9525">
            <a:solidFill>
              <a:srgbClr val="86BC2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92424" y="731520"/>
            <a:ext cx="5404104" cy="5404104"/>
          </a:xfrm>
          <a:prstGeom prst="rect">
            <a:avLst/>
          </a:prstGeom>
          <a:ln w="12700">
            <a:solidFill>
              <a:srgbClr val="86BC25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3776472" y="1115568"/>
            <a:ext cx="4636008" cy="4636008"/>
          </a:xfrm>
          <a:prstGeom prst="rect">
            <a:avLst/>
          </a:prstGeom>
          <a:ln w="12700">
            <a:solidFill>
              <a:srgbClr val="0D8390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4160520" y="1499616"/>
            <a:ext cx="3867912" cy="3867912"/>
          </a:xfrm>
          <a:prstGeom prst="rect">
            <a:avLst/>
          </a:prstGeom>
          <a:ln w="12700">
            <a:solidFill>
              <a:srgbClr val="86BC25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4544568" y="1883664"/>
            <a:ext cx="3099816" cy="3099816"/>
          </a:xfrm>
          <a:prstGeom prst="rect">
            <a:avLst/>
          </a:prstGeom>
          <a:ln w="12700">
            <a:solidFill>
              <a:srgbClr val="0D8390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4928616" y="2267712"/>
            <a:ext cx="2331720" cy="2331720"/>
          </a:xfrm>
          <a:prstGeom prst="rect">
            <a:avLst/>
          </a:prstGeom>
          <a:ln w="12700">
            <a:solidFill>
              <a:srgbClr val="86BC25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5312664" y="2651760"/>
            <a:ext cx="1563624" cy="1563624"/>
          </a:xfrm>
          <a:prstGeom prst="rect">
            <a:avLst/>
          </a:prstGeom>
          <a:ln w="12700">
            <a:solidFill>
              <a:srgbClr val="0D8390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3392424" y="2656332"/>
            <a:ext cx="540410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3392424" y="3451860"/>
            <a:ext cx="5404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LEADERS SURVEYED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02006" y="4901184"/>
            <a:ext cx="9601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in 2026: Full Survey Results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502006" y="587044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&amp; Insurance Fraud Landscape Survey — n=100, fielding complete
</a:t>
            </a:r>
            <a:pPr algn="l" indent="0" marL="0">
              <a:buNone/>
            </a:pPr>
            <a:r>
              <a:rPr lang="en-US" sz="125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Deloitte Perspective  ·  Fielded via GLG for the D.fend Fin Crime Forum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274320"/>
            <a:ext cx="111885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11346790" y="6476695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98348" y="1554480"/>
            <a:ext cx="777240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5" name="Shape 3"/>
          <p:cNvSpPr/>
          <p:nvPr/>
        </p:nvSpPr>
        <p:spPr>
          <a:xfrm>
            <a:off x="589788" y="1627632"/>
            <a:ext cx="420624" cy="420624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89788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56716" y="1554480"/>
            <a:ext cx="6995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Respondent Profile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98348" y="2249424"/>
            <a:ext cx="777240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Shape 7"/>
          <p:cNvSpPr/>
          <p:nvPr/>
        </p:nvSpPr>
        <p:spPr>
          <a:xfrm>
            <a:off x="589788" y="2322576"/>
            <a:ext cx="420624" cy="420624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9788" y="2322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56716" y="2249424"/>
            <a:ext cx="6995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&amp; Emerging AI Risk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98348" y="2944368"/>
            <a:ext cx="777240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3" name="Shape 11"/>
          <p:cNvSpPr/>
          <p:nvPr/>
        </p:nvSpPr>
        <p:spPr>
          <a:xfrm>
            <a:off x="589788" y="3017520"/>
            <a:ext cx="420624" cy="420624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9788" y="3017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56716" y="2944368"/>
            <a:ext cx="6995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Information Sharing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98348" y="3639312"/>
            <a:ext cx="777240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Shape 15"/>
          <p:cNvSpPr/>
          <p:nvPr/>
        </p:nvSpPr>
        <p:spPr>
          <a:xfrm>
            <a:off x="589788" y="3712464"/>
            <a:ext cx="420624" cy="420624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9788" y="3712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56716" y="3639312"/>
            <a:ext cx="6995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Fraud Risk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8348" y="4334256"/>
            <a:ext cx="777240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Shape 19"/>
          <p:cNvSpPr/>
          <p:nvPr/>
        </p:nvSpPr>
        <p:spPr>
          <a:xfrm>
            <a:off x="589788" y="4407408"/>
            <a:ext cx="420624" cy="420624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9788" y="4407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156716" y="4334256"/>
            <a:ext cx="6995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Model Transformation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98348" y="5029200"/>
            <a:ext cx="777240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5" name="Shape 23"/>
          <p:cNvSpPr/>
          <p:nvPr/>
        </p:nvSpPr>
        <p:spPr>
          <a:xfrm>
            <a:off x="589788" y="5102352"/>
            <a:ext cx="420624" cy="420624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89788" y="5102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156716" y="5029200"/>
            <a:ext cx="6995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&amp; Market Change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98348" y="5724144"/>
            <a:ext cx="777240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9" name="Shape 27"/>
          <p:cNvSpPr/>
          <p:nvPr/>
        </p:nvSpPr>
        <p:spPr>
          <a:xfrm>
            <a:off x="589788" y="5797296"/>
            <a:ext cx="420624" cy="420624"/>
          </a:xfrm>
          <a:prstGeom prst="rect">
            <a:avLst/>
          </a:prstGeom>
          <a:solidFill>
            <a:srgbClr val="86BC2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89788" y="5797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56716" y="5724144"/>
            <a:ext cx="6995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 Three Years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274320"/>
            <a:ext cx="111885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Respondent Profile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02006" y="621792"/>
            <a:ext cx="111885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Fielded via GLG among senior fraud leaders at banks and insurers globally — fielding closed at exactly the target sample size and mix.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346790" y="6476695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006" y="1444752"/>
            <a:ext cx="2514600" cy="9601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006" y="1536192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02006" y="2011680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respondents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36646" y="1444752"/>
            <a:ext cx="2514600" cy="9601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36646" y="1536192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/ 25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336646" y="2011680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Banking / Insurance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71286" y="1444752"/>
            <a:ext cx="2514600" cy="9601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71286" y="1536192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171286" y="2011680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Director-level or above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05926" y="1444752"/>
            <a:ext cx="2514600" cy="9601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005926" y="1536192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005926" y="2011680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Answered the open-end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02006" y="252374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S6  </a:t>
            </a:r>
            <a:pPr indent="0" marL="0">
              <a:buNone/>
            </a:pPr>
            <a:r>
              <a:rPr lang="en-US" sz="100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market best describes your primary area of responsibility for fraud risk management?”</a:t>
            </a:r>
            <a:endParaRPr lang="en-US" sz="9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502006" y="2816352"/>
          <a:ext cx="54864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6172200" y="252374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S4  </a:t>
            </a:r>
            <a:pPr indent="0" marL="0">
              <a:buNone/>
            </a:pPr>
            <a:r>
              <a:rPr lang="en-US" sz="100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of the following best describes your department within your organization?”</a:t>
            </a:r>
            <a:endParaRPr lang="en-US" sz="900" dirty="0"/>
          </a:p>
        </p:txBody>
      </p:sp>
      <p:graphicFrame>
        <p:nvGraphicFramePr>
          <p:cNvPr id="20" name="Chart 1" descr=""/>
          <p:cNvGraphicFramePr/>
          <p:nvPr/>
        </p:nvGraphicFramePr>
        <p:xfrm>
          <a:off x="6172200" y="2816352"/>
          <a:ext cx="54864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86BC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99870"/>
            <a:ext cx="10415016" cy="15919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Deepfake &amp; Emerging AI Risk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423514"/>
            <a:ext cx="10415016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AI-driven fraud vulnerability is concentrated, and what's standing in the way of managing it.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46790" y="6476695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274320"/>
            <a:ext cx="111885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Greatest Increase in AI/Deepfake Vulnerability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02006" y="621792"/>
            <a:ext cx="111885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fraud is hitting identity checks the hardest — onboarding and payments, not the areas fraud teams traditionally focus 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006" y="1444752"/>
            <a:ext cx="0" cy="59436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8310" y="1444752"/>
            <a:ext cx="110422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Q2  </a:t>
            </a:r>
            <a:pPr algn="l"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area of your organization has experienced the greatest increase in vulnerability to fraud enabled by deepfakes and other advanced or frontier AI capabilities over the past 12 months?”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346790" y="6476695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006" y="2194560"/>
          <a:ext cx="11188598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02006" y="5989320"/>
            <a:ext cx="1118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top 3 by respondents, weighted Borda-style: 1st = 3 pts · 2nd = 2 pts · 3rd = 1 pt · shown as % of the 600-point pool (100 respondents × 6 pts each)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274320"/>
            <a:ext cx="111885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Obstacles to Managing AI-Driven Fraud Risk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02006" y="621792"/>
            <a:ext cx="111885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bigger problem is untrained staff, not missing technology.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006" y="1444752"/>
            <a:ext cx="0" cy="59436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8310" y="1444752"/>
            <a:ext cx="110422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Q3  </a:t>
            </a:r>
            <a:pPr algn="l"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are the key obstacles to managing fraud risks created or amplified by advanced and frontier AI capabilities (e.g., deepfakes, synthetic identities, AI-enabled impersonation, and autonomous AI agents)?”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346790" y="6476695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006" y="2194560"/>
          <a:ext cx="11188598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02006" y="5989320"/>
            <a:ext cx="1118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all that apply — bars do not sum to 100%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86BC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99870"/>
            <a:ext cx="10415016" cy="15919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Fraud Information Sharing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423514"/>
            <a:ext cx="10415016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blocking industry-wide information sharing, and what leaders want government to do about it.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46790" y="6476695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274320"/>
            <a:ext cx="111885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Barriers to Effective Information Sharing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02006" y="621792"/>
            <a:ext cx="111885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blocking sharing is structural — legal rules and messy data — not unwillingness.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006" y="1444752"/>
            <a:ext cx="0" cy="59436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8310" y="1444752"/>
            <a:ext cx="110422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Q5  </a:t>
            </a:r>
            <a:pPr algn="l"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are the biggest barriers to enable effective fraud information sharing?”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346790" y="6476695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006" y="2194560"/>
          <a:ext cx="11188598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02006" y="5989320"/>
            <a:ext cx="1118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top 3 by respondents, weighted Borda-style: 1st = 3 pts · 2nd = 2 pts · 3rd = 1 pt · shown as % of the 600-point pool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274320"/>
            <a:ext cx="111885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Action With the Greatest Impact on Info Sharing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02006" y="621792"/>
            <a:ext cx="111885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want government to build shared infrastructure, not just pass new laws.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006" y="1444752"/>
            <a:ext cx="0" cy="59436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8310" y="1444752"/>
            <a:ext cx="110422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Q4  </a:t>
            </a:r>
            <a:pPr algn="l"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government action would have or has had the greatest impact on enabling more effective fraud information sharing?”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346790" y="6476695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006" y="2194560"/>
          <a:ext cx="11188598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02006" y="5989320"/>
            <a:ext cx="1118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select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86BC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99870"/>
            <a:ext cx="10415016" cy="15919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Third-Party Fraud Risk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423514"/>
            <a:ext cx="10415016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external parties present the greatest exposure — and it splits sharply by sector.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46790" y="6476695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274320"/>
            <a:ext cx="111885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Greatest Third-Party Fraud Risk Exposure, by Sector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02006" y="621792"/>
            <a:ext cx="111885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and insurers face very different third-party risks — one fix won't work for both.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006" y="1444752"/>
            <a:ext cx="0" cy="59436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8310" y="1444752"/>
            <a:ext cx="110422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Q6a / Q6b  </a:t>
            </a:r>
            <a:pPr algn="l"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external party currently presents the greatest fraud risk exposure to your organization? (asked separately of Banking and Insurance respondents)”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346790" y="6476695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02006" y="21031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(n=75)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006" y="2423160"/>
          <a:ext cx="54864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172200" y="21031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(n=25)</a:t>
            </a:r>
            <a:endParaRPr lang="en-US" sz="12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172200" y="2423160"/>
          <a:ext cx="54864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274320"/>
            <a:ext cx="111885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Expected to Most Reduce Third-Party Risk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02006" y="621792"/>
            <a:ext cx="111885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would rather get smarter about spotting risk than tighten the front door.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006" y="1444752"/>
            <a:ext cx="0" cy="59436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8310" y="1444752"/>
            <a:ext cx="110422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Q7  </a:t>
            </a:r>
            <a:pPr algn="l"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strategy is expected to have the greatest impact on reducing third-party fraud risk over the next three years?”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346790" y="6476695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006" y="2194560"/>
          <a:ext cx="11188598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02006" y="5989320"/>
            <a:ext cx="1118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select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86BC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99870"/>
            <a:ext cx="10415016" cy="15919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Operating Model Transformation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423514"/>
            <a:ext cx="10415016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Self-reported program maturity, and how the mix of scaling levers shifts over the next 3 years.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46790" y="6476695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274320"/>
            <a:ext cx="111885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Self-Reported Fraud Program Maturity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02006" y="621792"/>
            <a:ext cx="111885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rate their programs as more advanced than the vulnerability data elsewhere would suggest — 79% self-rate “Integrated” or “Advanced,” yet this same group ranks AI-driven identity fraud as their top exposure.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006" y="1444752"/>
            <a:ext cx="0" cy="59436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8310" y="1444752"/>
            <a:ext cx="110422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  </a:t>
            </a:r>
            <a:pPr algn="l"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statement best describes the current maturity of your organization's fraud program?”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346790" y="6476695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006" y="2194560"/>
          <a:ext cx="11188598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02006" y="5989320"/>
            <a:ext cx="1118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select · low → high maturity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274320"/>
            <a:ext cx="111885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Approach — Today vs. 3-Year Focus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02006" y="621792"/>
            <a:ext cx="111885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already the top way fraud teams scale, and its lead is only growing.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006" y="1444752"/>
            <a:ext cx="0" cy="59436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8310" y="1444752"/>
            <a:ext cx="110422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Q8 / Q9  </a:t>
            </a:r>
            <a:pPr algn="l"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statement best describes your current approach to scaling fraud/investigations operations as fraud volume and complexity increases? / Which area do you expect will receive the greatest focus for operations transformation over the next three years?”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346790" y="6476695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006" y="2194560"/>
          <a:ext cx="11188598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02006" y="5989320"/>
            <a:ext cx="1118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select, asked twice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86BC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99870"/>
            <a:ext cx="10415016" cy="15919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Regulatory &amp; Market Change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423514"/>
            <a:ext cx="10415016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fraud investment is really going, and the disruption leaders see coming next.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46790" y="6476695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274320"/>
            <a:ext cx="111885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Investment Relative to Regulatory Requirements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02006" y="621792"/>
            <a:ext cx="111885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fraud spending today is about fixing past problems, not getting ahead of new ones.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006" y="1444752"/>
            <a:ext cx="0" cy="59436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8310" y="1444752"/>
            <a:ext cx="110422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Q10  </a:t>
            </a:r>
            <a:pPr algn="l"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statement best reflects how your organization is allocating fraud-related investment in response to regulatory and compliance requirements?”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346790" y="6476695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006" y="2194560"/>
          <a:ext cx="11188598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02006" y="5989320"/>
            <a:ext cx="1118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select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274320"/>
            <a:ext cx="111885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Upcoming Regulatory / Market Change With Greatest Expected Impact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02006" y="621792"/>
            <a:ext cx="111885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and authentication tops a close three-way race for the next big disruption.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006" y="1444752"/>
            <a:ext cx="0" cy="59436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8310" y="1444752"/>
            <a:ext cx="110422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Q11  </a:t>
            </a:r>
            <a:pPr algn="l"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upcoming regulatory or market changes is expected to have the greatest impact on your fraud program?”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346790" y="6476695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006" y="2194560"/>
          <a:ext cx="11188598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02006" y="5989320"/>
            <a:ext cx="1118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top 3 by respondents, weighted Borda-style: 1st = 3 pts · 2nd = 2 pts · 3rd = 1 pt · shown as % of the 600-point pool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86BC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99870"/>
            <a:ext cx="10415016" cy="15919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Looking Ahead Three Years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11346790" y="6476695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274320"/>
            <a:ext cx="111885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Leaders Say, Unprompted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02006" y="621792"/>
            <a:ext cx="111885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to answer in their own words, leaders converge on the same trend.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006" y="1444752"/>
            <a:ext cx="0" cy="594360"/>
          </a:xfrm>
          <a:prstGeom prst="line">
            <a:avLst/>
          </a:prstGeom>
          <a:noFill/>
          <a:ln w="25400">
            <a:solidFill>
              <a:srgbClr val="D0D0C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8310" y="1444752"/>
            <a:ext cx="110422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046A3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Q12  </a:t>
            </a:r>
            <a:pPr algn="l"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575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“Looking ahead three years, what development do you believe will have the greatest impact on fraud risk management, and why? (open-ended)”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346790" y="6476695"/>
            <a:ext cx="34381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006" y="2103120"/>
            <a:ext cx="11188598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6326" y="210312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100/100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970886" y="2148840"/>
            <a:ext cx="844539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respondents answered in their own words — a full response rate on an open text field. The dominant unprompted theme: the convergence of GenAI, synthetic identity, and real-time payments.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006" y="3017520"/>
            <a:ext cx="5457139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6598" y="3127248"/>
            <a:ext cx="5127955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convergence of genAI, synthetic identities and real-time digital identity verification will matter significantly... identity becomes the new battleground, fraud prevention will replace fraud detection, and the winners will use AI against AI.”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66598" y="4224528"/>
            <a:ext cx="512795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3565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Director · Insurance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233465" y="3017520"/>
            <a:ext cx="5457139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8057" y="3127248"/>
            <a:ext cx="5127955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biggest development will be the convergence of GenAI, synthetic identity, and real-time payments. Fraud will become faster, more personalized, and harder to distinguish from legitimate customer behaviour.”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398057" y="4224528"/>
            <a:ext cx="512795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3565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C-level · Banking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006" y="4645152"/>
            <a:ext cx="5457139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6598" y="4754880"/>
            <a:ext cx="5127955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“Companies are moving away from regular passwords towards decentralized digital credentials and biometric passkeys, as this would minimize phishing and account hacking.”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66598" y="5852160"/>
            <a:ext cx="512795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3565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Senior Manager · Banking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233465" y="4645152"/>
            <a:ext cx="5457139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9525">
            <a:solidFill>
              <a:srgbClr val="D0D0C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98057" y="4754880"/>
            <a:ext cx="5127955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“AI will shift fraud management from reactive investigation toward more predictive prevention, which should help us identify risks before losses occur.”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98057" y="5852160"/>
            <a:ext cx="512795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3565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VP · Banking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506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006" y="457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800454" y="598932"/>
            <a:ext cx="82296" cy="82296"/>
          </a:xfrm>
          <a:prstGeom prst="ellipse">
            <a:avLst/>
          </a:prstGeom>
          <a:solidFill>
            <a:srgbClr val="86BC2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006" y="4215384"/>
            <a:ext cx="8531352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
</a:t>
            </a:r>
            <a:endParaRPr lang="en-US" sz="2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[Presenter Name]
</a:t>
            </a:r>
            <a:endParaRPr lang="en-US" sz="2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[Title | Practice]
</a:t>
            </a:r>
            <a:endParaRPr lang="en-US" sz="2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[email@deloitte.com]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372600" y="4215384"/>
            <a:ext cx="2322576" cy="1728216"/>
          </a:xfrm>
          <a:prstGeom prst="rect">
            <a:avLst/>
          </a:prstGeom>
          <a:solidFill>
            <a:srgbClr val="0B1C14"/>
          </a:solidFill>
          <a:ln w="9525">
            <a:solidFill>
              <a:srgbClr val="86BC2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72600" y="4892040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6B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D.FEND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370771" y="6016752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0D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Crime Forum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2026-09-10T14:07:12Z</dcterms:created>
  <dcterms:modified xsi:type="dcterms:W3CDTF">2026-09-10T14:07:12Z</dcterms:modified>
</cp:coreProperties>
</file>