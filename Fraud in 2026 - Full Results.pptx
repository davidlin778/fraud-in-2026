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7.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8.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9.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0.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1.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2.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3.xml" ContentType="application/vnd.openxmlformats-officedocument.drawingml.chart+xml"/>
  <Override PartName="/ppt/charts/chart2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25.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6.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3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31.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32.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33.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34.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35.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Sheet1!$D$2:$D$9</c:f>
              <c:numCache>
                <c:formatCode>General</c:formatCode>
                <c:ptCount val="8"/>
                <c:pt idx="0">
                  <c:v>5</c:v>
                </c:pt>
                <c:pt idx="1">
                  <c:v>4</c:v>
                </c:pt>
                <c:pt idx="2">
                  <c:v>8</c:v>
                </c:pt>
                <c:pt idx="3">
                  <c:v>4</c:v>
                </c:pt>
                <c:pt idx="4">
                  <c:v>8</c:v>
                </c:pt>
                <c:pt idx="5">
                  <c:v>0</c:v>
                </c:pt>
                <c:pt idx="6">
                  <c:v>7</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Sheet1!$E$2:$E$9</c:f>
              <c:numCache>
                <c:formatCode>General</c:formatCode>
                <c:ptCount val="8"/>
                <c:pt idx="0">
                  <c:v>3</c:v>
                </c:pt>
                <c:pt idx="1">
                  <c:v>4</c:v>
                </c:pt>
                <c:pt idx="2">
                  <c:v>3</c:v>
                </c:pt>
                <c:pt idx="3">
                  <c:v>0</c:v>
                </c:pt>
                <c:pt idx="4">
                  <c:v>4</c:v>
                </c:pt>
                <c:pt idx="5">
                  <c:v>4</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Sheet1!$B$2:$B$13</c:f>
              <c:numCache>
                <c:formatCode>General</c:formatCode>
                <c:ptCount val="12"/>
                <c:pt idx="0">
                  <c:v>33</c:v>
                </c:pt>
                <c:pt idx="1">
                  <c:v>36</c:v>
                </c:pt>
                <c:pt idx="2">
                  <c:v>33</c:v>
                </c:pt>
                <c:pt idx="3">
                  <c:v>40</c:v>
                </c:pt>
                <c:pt idx="4">
                  <c:v>33</c:v>
                </c:pt>
                <c:pt idx="5">
                  <c:v>16</c:v>
                </c:pt>
                <c:pt idx="6">
                  <c:v>16</c:v>
                </c:pt>
                <c:pt idx="7">
                  <c:v>16</c:v>
                </c:pt>
                <c:pt idx="8">
                  <c:v>8</c:v>
                </c:pt>
                <c:pt idx="9">
                  <c:v>4</c:v>
                </c:pt>
                <c:pt idx="10">
                  <c:v>12</c:v>
                </c:pt>
                <c:pt idx="11">
                  <c:v>8</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Sheet1!$C$2:$C$13</c:f>
              <c:numCache>
                <c:formatCode>General</c:formatCode>
                <c:ptCount val="12"/>
                <c:pt idx="0">
                  <c:v>17</c:v>
                </c:pt>
                <c:pt idx="1">
                  <c:v>40</c:v>
                </c:pt>
                <c:pt idx="2">
                  <c:v>17</c:v>
                </c:pt>
                <c:pt idx="3">
                  <c:v>24</c:v>
                </c:pt>
                <c:pt idx="4">
                  <c:v>15</c:v>
                </c:pt>
                <c:pt idx="5">
                  <c:v>24</c:v>
                </c:pt>
                <c:pt idx="6">
                  <c:v>7</c:v>
                </c:pt>
                <c:pt idx="7">
                  <c:v>16</c:v>
                </c:pt>
                <c:pt idx="8">
                  <c:v>9</c:v>
                </c:pt>
                <c:pt idx="9">
                  <c:v>12</c:v>
                </c:pt>
                <c:pt idx="10">
                  <c:v>7</c:v>
                </c:pt>
                <c:pt idx="11">
                  <c:v>24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Sheet1!$D$2:$D$13</c:f>
              <c:numCache>
                <c:formatCode>General</c:formatCode>
                <c:ptCount val="12"/>
                <c:pt idx="0">
                  <c:v>11</c:v>
                </c:pt>
                <c:pt idx="1">
                  <c:v>8</c:v>
                </c:pt>
                <c:pt idx="2">
                  <c:v>11</c:v>
                </c:pt>
                <c:pt idx="3">
                  <c:v>4</c:v>
                </c:pt>
                <c:pt idx="4">
                  <c:v>9</c:v>
                </c:pt>
                <c:pt idx="5">
                  <c:v>4</c:v>
                </c:pt>
                <c:pt idx="6">
                  <c:v>7</c:v>
                </c:pt>
                <c:pt idx="7">
                  <c:v>4</c:v>
                </c:pt>
                <c:pt idx="8">
                  <c:v>9</c:v>
                </c:pt>
                <c:pt idx="9">
                  <c:v>0</c:v>
                </c:pt>
                <c:pt idx="10">
                  <c:v>1</c:v>
                </c:pt>
                <c:pt idx="11">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Sheet1!$E$2:$E$13</c:f>
              <c:numCache>
                <c:formatCode>General</c:formatCode>
                <c:ptCount val="12"/>
                <c:pt idx="0">
                  <c:v>7</c:v>
                </c:pt>
                <c:pt idx="1">
                  <c:v>4</c:v>
                </c:pt>
                <c:pt idx="2">
                  <c:v>9</c:v>
                </c:pt>
                <c:pt idx="3">
                  <c:v>4</c:v>
                </c:pt>
                <c:pt idx="4">
                  <c:v>4</c:v>
                </c:pt>
                <c:pt idx="5">
                  <c:v>4</c:v>
                </c:pt>
                <c:pt idx="6">
                  <c:v>5</c:v>
                </c:pt>
                <c:pt idx="7">
                  <c:v>0</c:v>
                </c:pt>
                <c:pt idx="8">
                  <c:v>1</c:v>
                </c:pt>
                <c:pt idx="9">
                  <c:v>0</c:v>
                </c:pt>
                <c:pt idx="10">
                  <c:v>1</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Sheet1!$F$2:$F$13</c:f>
              <c:numCache>
                <c:formatCode>General</c:formatCode>
                <c:ptCount val="12"/>
                <c:pt idx="0">
                  <c:v>5</c:v>
                </c:pt>
                <c:pt idx="1">
                  <c:v>0</c:v>
                </c:pt>
                <c:pt idx="2">
                  <c:v>3</c:v>
                </c:pt>
                <c:pt idx="3">
                  <c:v>0</c:v>
                </c:pt>
                <c:pt idx="4">
                  <c:v>3</c:v>
                </c:pt>
                <c:pt idx="5">
                  <c:v>0</c:v>
                </c:pt>
                <c:pt idx="6">
                  <c:v>1</c:v>
                </c:pt>
                <c:pt idx="7">
                  <c:v>0</c:v>
                </c:pt>
                <c:pt idx="8">
                  <c:v>3</c:v>
                </c:pt>
                <c:pt idx="9">
                  <c:v>0</c:v>
                </c:pt>
                <c:pt idx="10">
                  <c:v>1</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Sheet1!$B$2:$B$7</c:f>
              <c:numCache>
                <c:formatCode>General</c:formatCode>
                <c:ptCount val="6"/>
                <c:pt idx="0">
                  <c:v>16</c:v>
                </c:pt>
                <c:pt idx="1">
                  <c:v>7</c:v>
                </c:pt>
                <c:pt idx="2">
                  <c:v>8</c:v>
                </c:pt>
                <c:pt idx="3">
                  <c:v>9</c:v>
                </c:pt>
                <c:pt idx="4">
                  <c:v>2</c:v>
                </c:pt>
                <c:pt idx="5">
                  <c:v>2</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Sheet1!$C$2:$C$7</c:f>
              <c:numCache>
                <c:formatCode>General</c:formatCode>
                <c:ptCount val="6"/>
                <c:pt idx="0">
                  <c:v>10</c:v>
                </c:pt>
                <c:pt idx="1">
                  <c:v>12</c:v>
                </c:pt>
                <c:pt idx="2">
                  <c:v>2</c:v>
                </c:pt>
                <c:pt idx="3">
                  <c:v>2</c:v>
                </c:pt>
                <c:pt idx="4">
                  <c:v>4</c:v>
                </c:pt>
                <c:pt idx="5">
                  <c:v>0</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Sheet1!$D$2:$D$7</c:f>
              <c:numCache>
                <c:formatCode>General</c:formatCode>
                <c:ptCount val="6"/>
                <c:pt idx="0">
                  <c:v>5</c:v>
                </c:pt>
                <c:pt idx="1">
                  <c:v>4</c:v>
                </c:pt>
                <c:pt idx="2">
                  <c:v>2</c:v>
                </c:pt>
                <c:pt idx="3">
                  <c:v>1</c:v>
                </c:pt>
                <c:pt idx="4">
                  <c:v>1</c:v>
                </c:pt>
                <c:pt idx="5">
                  <c:v>1</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Sheet1!$E$2:$E$7</c:f>
              <c:numCache>
                <c:formatCode>General</c:formatCode>
                <c:ptCount val="6"/>
                <c:pt idx="0">
                  <c:v>2</c:v>
                </c:pt>
                <c:pt idx="1">
                  <c:v>3</c:v>
                </c:pt>
                <c:pt idx="2">
                  <c:v>0</c:v>
                </c:pt>
                <c:pt idx="3">
                  <c:v>1</c:v>
                </c:pt>
                <c:pt idx="4">
                  <c:v>2</c:v>
                </c:pt>
                <c:pt idx="5">
                  <c:v>0</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Sheet1!$F$2:$F$7</c:f>
              <c:numCache>
                <c:formatCode>General</c:formatCode>
                <c:ptCount val="6"/>
                <c:pt idx="0">
                  <c:v>2</c:v>
                </c:pt>
                <c:pt idx="1">
                  <c:v>0</c:v>
                </c:pt>
                <c:pt idx="2">
                  <c:v>2</c:v>
                </c:pt>
                <c:pt idx="3">
                  <c:v>0</c:v>
                </c:pt>
                <c:pt idx="4">
                  <c:v>0</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Sheet1!$B$2:$B$9</c:f>
              <c:numCache>
                <c:formatCode>General</c:formatCode>
                <c:ptCount val="8"/>
                <c:pt idx="0">
                  <c:v>13</c:v>
                </c:pt>
                <c:pt idx="1">
                  <c:v>8</c:v>
                </c:pt>
                <c:pt idx="2">
                  <c:v>12</c:v>
                </c:pt>
                <c:pt idx="3">
                  <c:v>16</c:v>
                </c:pt>
                <c:pt idx="4">
                  <c:v>11</c:v>
                </c:pt>
                <c:pt idx="5">
                  <c:v>12</c:v>
                </c:pt>
                <c:pt idx="6">
                  <c:v>8</c:v>
                </c:pt>
                <c:pt idx="7">
                  <c:v>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Sheet1!$C$2:$C$9</c:f>
              <c:numCache>
                <c:formatCode>General</c:formatCode>
                <c:ptCount val="8"/>
                <c:pt idx="0">
                  <c:v>9</c:v>
                </c:pt>
                <c:pt idx="1">
                  <c:v>12</c:v>
                </c:pt>
                <c:pt idx="2">
                  <c:v>7</c:v>
                </c:pt>
                <c:pt idx="3">
                  <c:v>12</c:v>
                </c:pt>
                <c:pt idx="4">
                  <c:v>4</c:v>
                </c:pt>
                <c:pt idx="5">
                  <c:v>8</c:v>
                </c:pt>
                <c:pt idx="6">
                  <c:v>4</c:v>
                </c:pt>
                <c:pt idx="7">
                  <c:v>16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Sheet1!$D$2:$D$9</c:f>
              <c:numCache>
                <c:formatCode>General</c:formatCode>
                <c:ptCount val="8"/>
                <c:pt idx="0">
                  <c:v>7</c:v>
                </c:pt>
                <c:pt idx="1">
                  <c:v>0</c:v>
                </c:pt>
                <c:pt idx="2">
                  <c:v>3</c:v>
                </c:pt>
                <c:pt idx="3">
                  <c:v>4</c:v>
                </c:pt>
                <c:pt idx="4">
                  <c:v>5</c:v>
                </c:pt>
                <c:pt idx="5">
                  <c:v>0</c:v>
                </c:pt>
                <c:pt idx="6">
                  <c:v>1</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Sheet1!$E$2:$E$9</c:f>
              <c:numCache>
                <c:formatCode>General</c:formatCode>
                <c:ptCount val="8"/>
                <c:pt idx="0">
                  <c:v>3</c:v>
                </c:pt>
                <c:pt idx="1">
                  <c:v>0</c:v>
                </c:pt>
                <c:pt idx="2">
                  <c:v>3</c:v>
                </c:pt>
                <c:pt idx="3">
                  <c:v>0</c:v>
                </c:pt>
                <c:pt idx="4">
                  <c:v>3</c:v>
                </c:pt>
                <c:pt idx="5">
                  <c:v>4</c:v>
                </c:pt>
                <c:pt idx="6">
                  <c:v>1</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Sheet1!$F$2:$F$9</c:f>
              <c:numCache>
                <c:formatCode>General</c:formatCode>
                <c:ptCount val="8"/>
                <c:pt idx="0">
                  <c:v>1</c:v>
                </c:pt>
                <c:pt idx="1">
                  <c:v>0</c:v>
                </c:pt>
                <c:pt idx="2">
                  <c:v>1</c:v>
                </c:pt>
                <c:pt idx="3">
                  <c:v>0</c:v>
                </c:pt>
                <c:pt idx="4">
                  <c:v>0</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Top tier (Top 100 Banking / Top 50 Insurance)</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Sheet1!$B$2:$B$11</c:f>
              <c:numCache>
                <c:formatCode>General</c:formatCode>
                <c:ptCount val="10"/>
                <c:pt idx="0">
                  <c:v>0</c:v>
                </c:pt>
                <c:pt idx="1">
                  <c:v>0</c:v>
                </c:pt>
                <c:pt idx="2">
                  <c:v>0</c:v>
                </c:pt>
                <c:pt idx="3">
                  <c:v>4</c:v>
                </c:pt>
                <c:pt idx="4">
                  <c:v>4</c:v>
                </c:pt>
                <c:pt idx="5">
                  <c:v>8</c:v>
                </c:pt>
                <c:pt idx="6">
                  <c:v>24</c:v>
                </c:pt>
                <c:pt idx="7">
                  <c:v>20</c:v>
                </c:pt>
                <c:pt idx="8">
                  <c:v>25</c:v>
                </c:pt>
                <c:pt idx="9">
                  <c:v>28</c:v>
                </c:pt>
              </c:numCache>
            </c:numRef>
          </c:val>
        </c:ser>
        <c:ser>
          <c:idx val="1"/>
          <c:order val="1"/>
          <c:tx>
            <c:strRef>
              <c:f>Sheet1!$C$1</c:f>
              <c:strCache>
                <c:ptCount val="1"/>
                <c:pt idx="0">
                  <c:v>Large institution (outside Top 100 / Top 50)</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Sheet1!$C$2:$C$11</c:f>
              <c:numCache>
                <c:formatCode>General</c:formatCode>
                <c:ptCount val="10"/>
                <c:pt idx="0">
                  <c:v>0</c:v>
                </c:pt>
                <c:pt idx="1">
                  <c:v>4</c:v>
                </c:pt>
                <c:pt idx="2">
                  <c:v>5</c:v>
                </c:pt>
                <c:pt idx="3">
                  <c:v>0</c:v>
                </c:pt>
                <c:pt idx="4">
                  <c:v>5</c:v>
                </c:pt>
                <c:pt idx="5">
                  <c:v>12</c:v>
                </c:pt>
                <c:pt idx="6">
                  <c:v>24</c:v>
                </c:pt>
                <c:pt idx="7">
                  <c:v>12</c:v>
                </c:pt>
                <c:pt idx="8">
                  <c:v>12</c:v>
                </c:pt>
                <c:pt idx="9">
                  <c:v>12</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Sheet1!$B$2:$B$11</c:f>
              <c:numCache>
                <c:formatCode>General</c:formatCode>
                <c:ptCount val="10"/>
                <c:pt idx="0">
                  <c:v>0</c:v>
                </c:pt>
                <c:pt idx="1">
                  <c:v>0</c:v>
                </c:pt>
                <c:pt idx="2">
                  <c:v>0</c:v>
                </c:pt>
                <c:pt idx="3">
                  <c:v>3</c:v>
                </c:pt>
                <c:pt idx="4">
                  <c:v>3</c:v>
                </c:pt>
                <c:pt idx="5">
                  <c:v>6</c:v>
                </c:pt>
                <c:pt idx="6">
                  <c:v>13</c:v>
                </c:pt>
                <c:pt idx="7">
                  <c:v>34</c:v>
                </c:pt>
                <c:pt idx="8">
                  <c:v>20</c:v>
                </c:pt>
                <c:pt idx="9">
                  <c:v>14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Sheet1!$C$2:$C$11</c:f>
              <c:numCache>
                <c:formatCode>General</c:formatCode>
                <c:ptCount val="10"/>
                <c:pt idx="0">
                  <c:v>0</c:v>
                </c:pt>
                <c:pt idx="1">
                  <c:v>0</c:v>
                </c:pt>
                <c:pt idx="2">
                  <c:v>0</c:v>
                </c:pt>
                <c:pt idx="3">
                  <c:v>6</c:v>
                </c:pt>
                <c:pt idx="4">
                  <c:v>3</c:v>
                </c:pt>
                <c:pt idx="5">
                  <c:v>3</c:v>
                </c:pt>
                <c:pt idx="6">
                  <c:v>20</c:v>
                </c:pt>
                <c:pt idx="7">
                  <c:v>0</c:v>
                </c:pt>
                <c:pt idx="8">
                  <c:v>10</c:v>
                </c:pt>
                <c:pt idx="9">
                  <c:v>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Sheet1!$D$2:$D$11</c:f>
              <c:numCache>
                <c:formatCode>General</c:formatCode>
                <c:ptCount val="10"/>
                <c:pt idx="0">
                  <c:v>0</c:v>
                </c:pt>
                <c:pt idx="1">
                  <c:v>0</c:v>
                </c:pt>
                <c:pt idx="2">
                  <c:v>0</c:v>
                </c:pt>
                <c:pt idx="3">
                  <c:v>3</c:v>
                </c:pt>
                <c:pt idx="4">
                  <c:v>3</c:v>
                </c:pt>
                <c:pt idx="5">
                  <c:v>0</c:v>
                </c:pt>
                <c:pt idx="6">
                  <c:v>5</c:v>
                </c:pt>
                <c:pt idx="7">
                  <c:v>11</c:v>
                </c:pt>
                <c:pt idx="8">
                  <c:v>10</c:v>
                </c:pt>
                <c:pt idx="9">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Sheet1!$E$2:$E$11</c:f>
              <c:numCache>
                <c:formatCode>General</c:formatCode>
                <c:ptCount val="10"/>
                <c:pt idx="0">
                  <c:v>0</c:v>
                </c:pt>
                <c:pt idx="1">
                  <c:v>0</c:v>
                </c:pt>
                <c:pt idx="2">
                  <c:v>0</c:v>
                </c:pt>
                <c:pt idx="3">
                  <c:v>0</c:v>
                </c:pt>
                <c:pt idx="4">
                  <c:v>0</c:v>
                </c:pt>
                <c:pt idx="5">
                  <c:v>0</c:v>
                </c:pt>
                <c:pt idx="6">
                  <c:v>3</c:v>
                </c:pt>
                <c:pt idx="7">
                  <c:v>6</c:v>
                </c:pt>
                <c:pt idx="8">
                  <c:v>8</c:v>
                </c:pt>
                <c:pt idx="9">
                  <c:v>3</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Sheet1!$F$2:$F$11</c:f>
              <c:numCache>
                <c:formatCode>General</c:formatCode>
                <c:ptCount val="10"/>
                <c:pt idx="0">
                  <c:v>0</c:v>
                </c:pt>
                <c:pt idx="1">
                  <c:v>0</c:v>
                </c:pt>
                <c:pt idx="2">
                  <c:v>0</c:v>
                </c:pt>
                <c:pt idx="3">
                  <c:v>0</c:v>
                </c:pt>
                <c:pt idx="4">
                  <c:v>0</c:v>
                </c:pt>
                <c:pt idx="5">
                  <c:v>3</c:v>
                </c:pt>
                <c:pt idx="6">
                  <c:v>5</c:v>
                </c:pt>
                <c:pt idx="7">
                  <c:v>0</c:v>
                </c:pt>
                <c:pt idx="8">
                  <c:v>0</c:v>
                </c:pt>
                <c:pt idx="9">
                  <c:v>3</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Sheet1!$B$2:$B$11</c:f>
              <c:numCache>
                <c:formatCode>General</c:formatCode>
                <c:ptCount val="10"/>
                <c:pt idx="0">
                  <c:v>0</c:v>
                </c:pt>
                <c:pt idx="1">
                  <c:v>0</c:v>
                </c:pt>
                <c:pt idx="2">
                  <c:v>0</c:v>
                </c:pt>
                <c:pt idx="3">
                  <c:v>0</c:v>
                </c:pt>
                <c:pt idx="4">
                  <c:v>7</c:v>
                </c:pt>
                <c:pt idx="5">
                  <c:v>10</c:v>
                </c:pt>
                <c:pt idx="6">
                  <c:v>27</c:v>
                </c:pt>
                <c:pt idx="7">
                  <c:v>20</c:v>
                </c:pt>
                <c:pt idx="8">
                  <c:v>13</c:v>
                </c:pt>
                <c:pt idx="9">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Sheet1!$C$2:$C$11</c:f>
              <c:numCache>
                <c:formatCode>General</c:formatCode>
                <c:ptCount val="10"/>
                <c:pt idx="0">
                  <c:v>0</c:v>
                </c:pt>
                <c:pt idx="1">
                  <c:v>10</c:v>
                </c:pt>
                <c:pt idx="2">
                  <c:v>7</c:v>
                </c:pt>
                <c:pt idx="3">
                  <c:v>0</c:v>
                </c:pt>
                <c:pt idx="4">
                  <c:v>7</c:v>
                </c:pt>
                <c:pt idx="5">
                  <c:v>20</c:v>
                </c:pt>
                <c:pt idx="6">
                  <c:v>7</c:v>
                </c:pt>
                <c:pt idx="7">
                  <c:v>10</c:v>
                </c:pt>
                <c:pt idx="8">
                  <c:v>20</c:v>
                </c:pt>
                <c:pt idx="9">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Sheet1!$D$2:$D$11</c:f>
              <c:numCache>
                <c:formatCode>General</c:formatCode>
                <c:ptCount val="10"/>
                <c:pt idx="0">
                  <c:v>0</c:v>
                </c:pt>
                <c:pt idx="1">
                  <c:v>0</c:v>
                </c:pt>
                <c:pt idx="2">
                  <c:v>0</c:v>
                </c:pt>
                <c:pt idx="3">
                  <c:v>0</c:v>
                </c:pt>
                <c:pt idx="4">
                  <c:v>0</c:v>
                </c:pt>
                <c:pt idx="5">
                  <c:v>0</c:v>
                </c:pt>
                <c:pt idx="6">
                  <c:v>0</c:v>
                </c:pt>
                <c:pt idx="7">
                  <c:v>0</c:v>
                </c:pt>
                <c:pt idx="8">
                  <c:v>7</c:v>
                </c:pt>
                <c:pt idx="9">
                  <c:v>10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Sheet1!$E$2:$E$11</c:f>
              <c:numCache>
                <c:formatCode>General</c:formatCode>
                <c:ptCount val="10"/>
                <c:pt idx="0">
                  <c:v>0</c:v>
                </c:pt>
                <c:pt idx="1">
                  <c:v>0</c:v>
                </c:pt>
                <c:pt idx="2">
                  <c:v>0</c:v>
                </c:pt>
                <c:pt idx="3">
                  <c:v>0</c:v>
                </c:pt>
                <c:pt idx="4">
                  <c:v>0</c:v>
                </c:pt>
                <c:pt idx="5">
                  <c:v>0</c:v>
                </c:pt>
                <c:pt idx="6">
                  <c:v>0</c:v>
                </c:pt>
                <c:pt idx="7">
                  <c:v>0</c:v>
                </c:pt>
                <c:pt idx="8">
                  <c:v>7</c:v>
                </c:pt>
                <c:pt idx="9">
                  <c:v>0</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47</c:v>
                </c:pt>
                <c:pt idx="1">
                  <c:v>33</c:v>
                </c:pt>
                <c:pt idx="2">
                  <c:v>7</c:v>
                </c:pt>
                <c:pt idx="3">
                  <c:v>7</c:v>
                </c:pt>
                <c:pt idx="4">
                  <c:v>7</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27</c:v>
                </c:pt>
                <c:pt idx="2">
                  <c:v>27</c:v>
                </c:pt>
                <c:pt idx="3">
                  <c:v>7</c:v>
                </c:pt>
                <c:pt idx="4">
                  <c:v>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10</c:v>
                </c:pt>
                <c:pt idx="1">
                  <c:v>20</c:v>
                </c:pt>
                <c:pt idx="2">
                  <c:v>20</c:v>
                </c:pt>
                <c:pt idx="3">
                  <c:v>30</c:v>
                </c:pt>
                <c:pt idx="4">
                  <c:v>20</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30</c:v>
                </c:pt>
                <c:pt idx="2">
                  <c:v>20</c:v>
                </c:pt>
                <c:pt idx="3">
                  <c:v>0</c:v>
                </c:pt>
                <c:pt idx="4">
                  <c:v>10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Sheet1!$B$2:$B$13</c:f>
              <c:numCache>
                <c:formatCode>General</c:formatCode>
                <c:ptCount val="12"/>
                <c:pt idx="0">
                  <c:v>20</c:v>
                </c:pt>
                <c:pt idx="1">
                  <c:v>0</c:v>
                </c:pt>
                <c:pt idx="2">
                  <c:v>27</c:v>
                </c:pt>
                <c:pt idx="3">
                  <c:v>0</c:v>
                </c:pt>
                <c:pt idx="4">
                  <c:v>0</c:v>
                </c:pt>
                <c:pt idx="5">
                  <c:v>20</c:v>
                </c:pt>
                <c:pt idx="6">
                  <c:v>0</c:v>
                </c:pt>
                <c:pt idx="7">
                  <c:v>0</c:v>
                </c:pt>
                <c:pt idx="8">
                  <c:v>0</c:v>
                </c:pt>
                <c:pt idx="9">
                  <c:v>10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Sheet1!$C$2:$C$13</c:f>
              <c:numCache>
                <c:formatCode>General</c:formatCode>
                <c:ptCount val="12"/>
                <c:pt idx="0">
                  <c:v>20</c:v>
                </c:pt>
                <c:pt idx="1">
                  <c:v>10</c:v>
                </c:pt>
                <c:pt idx="2">
                  <c:v>7</c:v>
                </c:pt>
                <c:pt idx="3">
                  <c:v>20</c:v>
                </c:pt>
                <c:pt idx="4">
                  <c:v>7</c:v>
                </c:pt>
                <c:pt idx="5">
                  <c:v>0</c:v>
                </c:pt>
                <c:pt idx="6">
                  <c:v>7</c:v>
                </c:pt>
                <c:pt idx="7">
                  <c:v>20</c:v>
                </c:pt>
                <c:pt idx="8">
                  <c:v>0</c:v>
                </c:pt>
                <c:pt idx="9">
                  <c:v>10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Sheet1!$D$2:$D$13</c:f>
              <c:numCache>
                <c:formatCode>General</c:formatCode>
                <c:ptCount val="12"/>
                <c:pt idx="0">
                  <c:v>7</c:v>
                </c:pt>
                <c:pt idx="1">
                  <c:v>0</c:v>
                </c:pt>
                <c:pt idx="2">
                  <c:v>0</c:v>
                </c:pt>
                <c:pt idx="3">
                  <c:v>0</c:v>
                </c:pt>
                <c:pt idx="4">
                  <c:v>0</c:v>
                </c:pt>
                <c:pt idx="5">
                  <c:v>0</c:v>
                </c:pt>
                <c:pt idx="6">
                  <c:v>0</c:v>
                </c:pt>
                <c:pt idx="7">
                  <c:v>10</c:v>
                </c:pt>
                <c:pt idx="8">
                  <c:v>0</c:v>
                </c:pt>
                <c:pt idx="9">
                  <c:v>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0</c:v>
                </c:pt>
                <c:pt idx="5">
                  <c:v>0</c:v>
                </c:pt>
                <c:pt idx="6">
                  <c:v>0</c:v>
                </c:pt>
                <c:pt idx="7">
                  <c:v>0</c:v>
                </c:pt>
                <c:pt idx="8">
                  <c:v>7</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Sheet1!$B$2:$B$13</c:f>
              <c:numCache>
                <c:formatCode>General</c:formatCode>
                <c:ptCount val="12"/>
                <c:pt idx="0">
                  <c:v>27</c:v>
                </c:pt>
                <c:pt idx="1">
                  <c:v>10</c:v>
                </c:pt>
                <c:pt idx="2">
                  <c:v>7</c:v>
                </c:pt>
                <c:pt idx="3">
                  <c:v>20</c:v>
                </c:pt>
                <c:pt idx="4">
                  <c:v>7</c:v>
                </c:pt>
                <c:pt idx="5">
                  <c:v>0</c:v>
                </c:pt>
                <c:pt idx="6">
                  <c:v>7</c:v>
                </c:pt>
                <c:pt idx="7">
                  <c:v>0</c:v>
                </c:pt>
                <c:pt idx="8">
                  <c:v>0</c:v>
                </c:pt>
                <c:pt idx="9">
                  <c:v>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Sheet1!$C$2:$C$13</c:f>
              <c:numCache>
                <c:formatCode>General</c:formatCode>
                <c:ptCount val="12"/>
                <c:pt idx="0">
                  <c:v>13</c:v>
                </c:pt>
                <c:pt idx="1">
                  <c:v>30</c:v>
                </c:pt>
                <c:pt idx="2">
                  <c:v>20</c:v>
                </c:pt>
                <c:pt idx="3">
                  <c:v>10</c:v>
                </c:pt>
                <c:pt idx="4">
                  <c:v>7</c:v>
                </c:pt>
                <c:pt idx="5">
                  <c:v>20</c:v>
                </c:pt>
                <c:pt idx="6">
                  <c:v>0</c:v>
                </c:pt>
                <c:pt idx="7">
                  <c:v>0</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Sheet1!$D$2:$D$13</c:f>
              <c:numCache>
                <c:formatCode>General</c:formatCode>
                <c:ptCount val="12"/>
                <c:pt idx="0">
                  <c:v>0</c:v>
                </c:pt>
                <c:pt idx="1">
                  <c:v>0</c:v>
                </c:pt>
                <c:pt idx="2">
                  <c:v>0</c:v>
                </c:pt>
                <c:pt idx="3">
                  <c:v>0</c:v>
                </c:pt>
                <c:pt idx="4">
                  <c:v>7</c:v>
                </c:pt>
                <c:pt idx="5">
                  <c:v>0</c:v>
                </c:pt>
                <c:pt idx="6">
                  <c:v>0</c:v>
                </c:pt>
                <c:pt idx="7">
                  <c:v>0</c:v>
                </c:pt>
                <c:pt idx="8">
                  <c:v>0</c:v>
                </c:pt>
                <c:pt idx="9">
                  <c:v>10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7</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35</c:v>
                </c:pt>
                <c:pt idx="1">
                  <c:v>32</c:v>
                </c:pt>
                <c:pt idx="2">
                  <c:v>8</c:v>
                </c:pt>
                <c:pt idx="3">
                  <c:v>5</c:v>
                </c:pt>
                <c:pt idx="4">
                  <c:v>5</c:v>
                </c:pt>
                <c:pt idx="5">
                  <c:v>15</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32</c:v>
                </c:pt>
                <c:pt idx="2">
                  <c:v>15</c:v>
                </c:pt>
                <c:pt idx="3">
                  <c:v>8</c:v>
                </c:pt>
                <c:pt idx="4">
                  <c:v>2</c:v>
                </c:pt>
                <c:pt idx="5">
                  <c:v>2</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34</c:v>
                </c:pt>
                <c:pt idx="1">
                  <c:v>26</c:v>
                </c:pt>
                <c:pt idx="2">
                  <c:v>11</c:v>
                </c:pt>
                <c:pt idx="3">
                  <c:v>11</c:v>
                </c:pt>
                <c:pt idx="4">
                  <c:v>14</c:v>
                </c:pt>
                <c:pt idx="5">
                  <c:v>3</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43</c:v>
                </c:pt>
                <c:pt idx="1">
                  <c:v>20</c:v>
                </c:pt>
                <c:pt idx="2">
                  <c:v>17</c:v>
                </c:pt>
                <c:pt idx="3">
                  <c:v>9</c:v>
                </c:pt>
                <c:pt idx="4">
                  <c:v>9</c:v>
                </c:pt>
                <c:pt idx="5">
                  <c:v>3</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Sheet1!$B$2:$B$13</c:f>
              <c:numCache>
                <c:formatCode>General</c:formatCode>
                <c:ptCount val="12"/>
                <c:pt idx="0">
                  <c:v>20</c:v>
                </c:pt>
                <c:pt idx="1">
                  <c:v>17</c:v>
                </c:pt>
                <c:pt idx="2">
                  <c:v>10</c:v>
                </c:pt>
                <c:pt idx="3">
                  <c:v>11</c:v>
                </c:pt>
                <c:pt idx="4">
                  <c:v>0</c:v>
                </c:pt>
                <c:pt idx="5">
                  <c:v>6</c:v>
                </c:pt>
                <c:pt idx="6">
                  <c:v>0</c:v>
                </c:pt>
                <c:pt idx="7">
                  <c:v>9</c:v>
                </c:pt>
                <c:pt idx="8">
                  <c:v>0</c:v>
                </c:pt>
                <c:pt idx="9">
                  <c:v>14</c:v>
                </c:pt>
                <c:pt idx="10">
                  <c:v>5</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Sheet1!$C$2:$C$13</c:f>
              <c:numCache>
                <c:formatCode>General</c:formatCode>
                <c:ptCount val="12"/>
                <c:pt idx="0">
                  <c:v>5</c:v>
                </c:pt>
                <c:pt idx="1">
                  <c:v>6</c:v>
                </c:pt>
                <c:pt idx="2">
                  <c:v>12</c:v>
                </c:pt>
                <c:pt idx="3">
                  <c:v>9</c:v>
                </c:pt>
                <c:pt idx="4">
                  <c:v>2</c:v>
                </c:pt>
                <c:pt idx="5">
                  <c:v>0</c:v>
                </c:pt>
                <c:pt idx="6">
                  <c:v>2</c:v>
                </c:pt>
                <c:pt idx="7">
                  <c:v>0</c:v>
                </c:pt>
                <c:pt idx="8">
                  <c:v>2</c:v>
                </c:pt>
                <c:pt idx="9">
                  <c:v>0</c:v>
                </c:pt>
                <c:pt idx="10">
                  <c:v>8</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Sheet1!$D$2:$D$13</c:f>
              <c:numCache>
                <c:formatCode>General</c:formatCode>
                <c:ptCount val="12"/>
                <c:pt idx="0">
                  <c:v>5</c:v>
                </c:pt>
                <c:pt idx="1">
                  <c:v>6</c:v>
                </c:pt>
                <c:pt idx="2">
                  <c:v>5</c:v>
                </c:pt>
                <c:pt idx="3">
                  <c:v>3</c:v>
                </c:pt>
                <c:pt idx="4">
                  <c:v>2</c:v>
                </c:pt>
                <c:pt idx="5">
                  <c:v>3</c:v>
                </c:pt>
                <c:pt idx="6">
                  <c:v>0</c:v>
                </c:pt>
                <c:pt idx="7">
                  <c:v>0</c:v>
                </c:pt>
                <c:pt idx="8">
                  <c:v>2</c:v>
                </c:pt>
                <c:pt idx="9">
                  <c:v>0</c:v>
                </c:pt>
                <c:pt idx="10">
                  <c:v>2</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Sheet1!$E$2:$E$13</c:f>
              <c:numCache>
                <c:formatCode>General</c:formatCode>
                <c:ptCount val="12"/>
                <c:pt idx="0">
                  <c:v>2</c:v>
                </c:pt>
                <c:pt idx="1">
                  <c:v>6</c:v>
                </c:pt>
                <c:pt idx="2">
                  <c:v>5</c:v>
                </c:pt>
                <c:pt idx="3">
                  <c:v>0</c:v>
                </c:pt>
                <c:pt idx="4">
                  <c:v>2</c:v>
                </c:pt>
                <c:pt idx="5">
                  <c:v>0</c:v>
                </c:pt>
                <c:pt idx="6">
                  <c:v>0</c:v>
                </c:pt>
                <c:pt idx="7">
                  <c:v>3</c:v>
                </c:pt>
                <c:pt idx="8">
                  <c:v>0</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Sheet1!$F$2:$F$13</c:f>
              <c:numCache>
                <c:formatCode>General</c:formatCode>
                <c:ptCount val="12"/>
                <c:pt idx="0">
                  <c:v>2</c:v>
                </c:pt>
                <c:pt idx="1">
                  <c:v>0</c:v>
                </c:pt>
                <c:pt idx="2">
                  <c:v>0</c:v>
                </c:pt>
                <c:pt idx="3">
                  <c:v>3</c:v>
                </c:pt>
                <c:pt idx="4">
                  <c:v>0</c:v>
                </c:pt>
                <c:pt idx="5">
                  <c:v>3</c:v>
                </c:pt>
                <c:pt idx="6">
                  <c:v>2</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Sheet1!$B$2:$B$13</c:f>
              <c:numCache>
                <c:formatCode>General</c:formatCode>
                <c:ptCount val="12"/>
                <c:pt idx="0">
                  <c:v>10</c:v>
                </c:pt>
                <c:pt idx="1">
                  <c:v>20</c:v>
                </c:pt>
                <c:pt idx="2">
                  <c:v>8</c:v>
                </c:pt>
                <c:pt idx="3">
                  <c:v>14</c:v>
                </c:pt>
                <c:pt idx="4">
                  <c:v>10</c:v>
                </c:pt>
                <c:pt idx="5">
                  <c:v>11</c:v>
                </c:pt>
                <c:pt idx="6">
                  <c:v>5</c:v>
                </c:pt>
                <c:pt idx="7">
                  <c:v>3</c:v>
                </c:pt>
                <c:pt idx="8">
                  <c:v>0</c:v>
                </c:pt>
                <c:pt idx="9">
                  <c:v>9</c:v>
                </c:pt>
                <c:pt idx="10">
                  <c:v>2</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Sheet1!$C$2:$C$13</c:f>
              <c:numCache>
                <c:formatCode>General</c:formatCode>
                <c:ptCount val="12"/>
                <c:pt idx="0">
                  <c:v>20</c:v>
                </c:pt>
                <c:pt idx="1">
                  <c:v>9</c:v>
                </c:pt>
                <c:pt idx="2">
                  <c:v>10</c:v>
                </c:pt>
                <c:pt idx="3">
                  <c:v>0</c:v>
                </c:pt>
                <c:pt idx="4">
                  <c:v>2</c:v>
                </c:pt>
                <c:pt idx="5">
                  <c:v>3</c:v>
                </c:pt>
                <c:pt idx="6">
                  <c:v>0</c:v>
                </c:pt>
                <c:pt idx="7">
                  <c:v>3</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Sheet1!$D$2:$D$13</c:f>
              <c:numCache>
                <c:formatCode>General</c:formatCode>
                <c:ptCount val="12"/>
                <c:pt idx="0">
                  <c:v>10</c:v>
                </c:pt>
                <c:pt idx="1">
                  <c:v>6</c:v>
                </c:pt>
                <c:pt idx="2">
                  <c:v>5</c:v>
                </c:pt>
                <c:pt idx="3">
                  <c:v>3</c:v>
                </c:pt>
                <c:pt idx="4">
                  <c:v>2</c:v>
                </c:pt>
                <c:pt idx="5">
                  <c:v>0</c:v>
                </c:pt>
                <c:pt idx="6">
                  <c:v>0</c:v>
                </c:pt>
                <c:pt idx="7">
                  <c:v>3</c:v>
                </c:pt>
                <c:pt idx="8">
                  <c:v>0</c:v>
                </c:pt>
                <c:pt idx="9">
                  <c:v>0</c:v>
                </c:pt>
                <c:pt idx="10">
                  <c:v>0</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Sheet1!$E$2:$E$13</c:f>
              <c:numCache>
                <c:formatCode>General</c:formatCode>
                <c:ptCount val="12"/>
                <c:pt idx="0">
                  <c:v>0</c:v>
                </c:pt>
                <c:pt idx="1">
                  <c:v>3</c:v>
                </c:pt>
                <c:pt idx="2">
                  <c:v>5</c:v>
                </c:pt>
                <c:pt idx="3">
                  <c:v>3</c:v>
                </c:pt>
                <c:pt idx="4">
                  <c:v>0</c:v>
                </c:pt>
                <c:pt idx="5">
                  <c:v>3</c:v>
                </c:pt>
                <c:pt idx="6">
                  <c:v>2</c:v>
                </c:pt>
                <c:pt idx="7">
                  <c:v>0</c:v>
                </c:pt>
                <c:pt idx="8">
                  <c:v>2</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Sheet1!$F$2:$F$13</c:f>
              <c:numCache>
                <c:formatCode>General</c:formatCode>
                <c:ptCount val="12"/>
                <c:pt idx="0">
                  <c:v>0</c:v>
                </c:pt>
                <c:pt idx="1">
                  <c:v>6</c:v>
                </c:pt>
                <c:pt idx="2">
                  <c:v>5</c:v>
                </c:pt>
                <c:pt idx="3">
                  <c:v>0</c:v>
                </c:pt>
                <c:pt idx="4">
                  <c:v>0</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Sheet1!$B$2:$B$4</c:f>
              <c:numCache>
                <c:formatCode>General</c:formatCode>
                <c:ptCount val="3"/>
                <c:pt idx="0">
                  <c:v>18</c:v>
                </c:pt>
                <c:pt idx="1">
                  <c:v>19</c:v>
                </c:pt>
                <c:pt idx="2">
                  <c:v>7</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Sheet1!$C$2:$C$4</c:f>
              <c:numCache>
                <c:formatCode>General</c:formatCode>
                <c:ptCount val="3"/>
                <c:pt idx="0">
                  <c:v>19</c:v>
                </c:pt>
                <c:pt idx="1">
                  <c:v>9</c:v>
                </c:pt>
                <c:pt idx="2">
                  <c:v>2</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Sheet1!$D$2:$D$4</c:f>
              <c:numCache>
                <c:formatCode>General</c:formatCode>
                <c:ptCount val="3"/>
                <c:pt idx="0">
                  <c:v>5</c:v>
                </c:pt>
                <c:pt idx="1">
                  <c:v>7</c:v>
                </c:pt>
                <c:pt idx="2">
                  <c:v>2</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Sheet1!$E$2:$E$4</c:f>
              <c:numCache>
                <c:formatCode>General</c:formatCode>
                <c:ptCount val="3"/>
                <c:pt idx="0">
                  <c:v>5</c:v>
                </c:pt>
                <c:pt idx="1">
                  <c:v>2</c:v>
                </c:pt>
                <c:pt idx="2">
                  <c:v>1</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Sheet1!$F$2:$F$4</c:f>
              <c:numCache>
                <c:formatCode>General</c:formatCode>
                <c:ptCount val="3"/>
                <c:pt idx="0">
                  <c:v>1</c:v>
                </c:pt>
                <c:pt idx="1">
                  <c:v>2</c:v>
                </c:pt>
                <c:pt idx="2">
                  <c:v>1</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33</c:v>
                </c:pt>
                <c:pt idx="1">
                  <c:v>47</c:v>
                </c:pt>
                <c:pt idx="2">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70</c:v>
                </c:pt>
                <c:pt idx="1">
                  <c:v>30</c:v>
                </c:pt>
                <c:pt idx="2">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42</c:v>
                </c:pt>
                <c:pt idx="1">
                  <c:v>48</c:v>
                </c:pt>
                <c:pt idx="2">
                  <c:v>10</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54</c:v>
                </c:pt>
                <c:pt idx="1">
                  <c:v>29</c:v>
                </c:pt>
                <c:pt idx="2">
                  <c:v>17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chart" Target="/ppt/charts/chart24.xml"/><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8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Banking/Australia (n=7) and Banking/Singapore (n=4) are thin samples shown directionally. Insurance/Europe (n=2, both United Kingdom) and Insurance/Australia (n=1) are extremely thin — each segment reflects just 1–2 respondents — and are shown for completeness, not as statistically reliable estimates. Insurance had zero Singapore respondents, so no segment appears there.</a:t>
            </a:r>
            <a:endParaRPr lang="en-US" sz="850" dirty="0"/>
          </a:p>
        </p:txBody>
      </p:sp>
      <p:sp>
        <p:nvSpPr>
          <p:cNvPr id="10" name="Text 7"/>
          <p:cNvSpPr txBox="1"/>
          <p:nvPr/>
        </p:nvSpPr>
        <p:spPr>
          <a:xfrm>
            <a:off x="502006" y="589788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barrier mix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13232"/>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Banking/Australia (n=7) and Banking/Singapore (n=4) are thin samples shown directionally. Insurance/Europe (n=2, both United Kingdom) and Insurance/Australia (n=1) are extremely thin — each segment reflects just 1–2 respondents — and are shown for completeness, not as statistically reliable estimates. Insurance had zero Singapore respondents, so no segment appears there.</a:t>
            </a:r>
            <a:endParaRPr lang="en-US" sz="850" dirty="0"/>
          </a:p>
        </p:txBody>
      </p:sp>
      <p:sp>
        <p:nvSpPr>
          <p:cNvPr id="10" name="Text 7"/>
          <p:cNvSpPr txBox="1"/>
          <p:nvPr/>
        </p:nvSpPr>
        <p:spPr>
          <a:xfrm>
            <a:off x="502006" y="6007608"/>
            <a:ext cx="11188598" cy="3200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preferred strategy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Banking/Australia (n=7) and Banking/Singapore (n=4) are thin samples shown directionally. Insurance/Europe (n=2, both United Kingdom) and Insurance/Australia (n=1) are extremely thin — each segment reflects just 1 respondent — and are shown for completeness, not as statistically reliable estimates. Insurance had zero Singapore respondents, so no segment appears there.</a:t>
            </a:r>
            <a:endParaRPr lang="en-US" sz="850" dirty="0"/>
          </a:p>
        </p:txBody>
      </p:sp>
      <p:sp>
        <p:nvSpPr>
          <p:cNvPr id="10" name="Text 7"/>
          <p:cNvSpPr txBox="1"/>
          <p:nvPr/>
        </p:nvSpPr>
        <p:spPr>
          <a:xfrm>
            <a:off x="502006" y="5861304"/>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By Sector and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maturity skews somewhat by institution tier — top-tier institutions lean more Advanced, particularly in Insurance.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 newS8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tier segments are rounded to the nearest whole percent. Institution tier is based on newS8 (Banking) / S9 (Insurance); 5 Banking and 1 Insurance respondent who did not directly answer that question were classified from their employer description elsewhere in the survey (Top 100 and Large Insurance Carrier, respectively) — Banking Top 100 is n=40 (35 direct + 5 reclassified) and Insurance Large is n=10 (9 direct + 1 reclassified).</a:t>
            </a:r>
            <a:endParaRPr lang="en-US" sz="850" dirty="0"/>
          </a:p>
        </p:txBody>
      </p:sp>
      <p:sp>
        <p:nvSpPr>
          <p:cNvPr id="10" name="Text 7"/>
          <p:cNvSpPr txBox="1"/>
          <p:nvPr/>
        </p:nvSpPr>
        <p:spPr>
          <a:xfrm>
            <a:off x="502006" y="598017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lean more Advanced across most regions; Large institutions cluster more heavily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 newS8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(Top 100 n=40, Large n=35); region segments are rounded to the nearest whole percent. Australia (n=4 Top 100 / n=3 Large) and Singapore (n=2 / n=2) are thin samples shown directionally. Top 100 includes 5 respondents reclassified from their employer description elsewhere in the survey (see previous slide).</a:t>
            </a:r>
            <a:endParaRPr lang="en-US" sz="850" dirty="0"/>
          </a:p>
        </p:txBody>
      </p:sp>
      <p:sp>
        <p:nvSpPr>
          <p:cNvPr id="10" name="Text 7"/>
          <p:cNvSpPr txBox="1"/>
          <p:nvPr/>
        </p:nvSpPr>
        <p:spPr>
          <a:xfrm>
            <a:off x="502006" y="5861304"/>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Large carriers show a wider spread across maturity levels than Top 50 carriers — though the regional cut here is thin.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85800"/>
          </a:xfrm>
          <a:prstGeom prst="rect">
            <a:avLst/>
          </a:prstGeom>
          <a:noFill/>
          <a:ln/>
        </p:spPr>
        <p:txBody>
          <a:bodyPr wrap="square" lIns="0" tIns="0" rIns="0" bIns="0" rtlCol="0" anchor="t"/>
          <a:lstStyle/>
          <a:p>
            <a:pPr algn="l" indent="0" marL="0">
              <a:lnSpc>
                <a:spcPct val="112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2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Insurance/Europe (n=1, United Kingdom) and Insurance/Australia (n=1) are extremely thin — each segment reflects a single respondent — and are shown for completeness, not as statistically reliable estimates. Insurance had zero Singapore respondents in either tier, so no segment appears there. Large includes 1 respondent (Canada) reclassified from their employer description elsewhere in the survey (see the sector x tier slide).</a:t>
            </a:r>
            <a:endParaRPr lang="en-US" sz="850" dirty="0"/>
          </a:p>
        </p:txBody>
      </p:sp>
      <p:sp>
        <p:nvSpPr>
          <p:cNvPr id="10" name="Text 7"/>
          <p:cNvSpPr txBox="1"/>
          <p:nvPr/>
        </p:nvSpPr>
        <p:spPr>
          <a:xfrm>
            <a:off x="502006" y="6080760"/>
            <a:ext cx="11188598" cy="34747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are already leaning hardest on AI; Large carriers still split their effort more evenly, notably toward outsourcing today.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25</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Insurance Carrier (n=15)</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the regional pattern is thin but directionally consistent with the tier-level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Every regional cell here is thin (n=1–7) and should be read directionally. Insurance had zero Singapore respondents in either tier, so no segment appears there.</a:t>
            </a:r>
            <a:endParaRPr lang="en-US" sz="850" dirty="0"/>
          </a:p>
        </p:txBody>
      </p:sp>
      <p:sp>
        <p:nvSpPr>
          <p:cNvPr id="10" name="Text 7"/>
          <p:cNvSpPr txBox="1"/>
          <p:nvPr/>
        </p:nvSpPr>
        <p:spPr>
          <a:xfrm>
            <a:off x="502006" y="5861304"/>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Looking ahead, Insurance's regional pattern shifts further toward AI and process redesign in both tiers.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Every regional cell here is thin (n=1–7) and should be read directionally. Insurance had zero Singapore respondents in either tier, so no segment appears there.</a:t>
            </a:r>
            <a:endParaRPr lang="en-US" sz="850" dirty="0"/>
          </a:p>
        </p:txBody>
      </p:sp>
      <p:sp>
        <p:nvSpPr>
          <p:cNvPr id="10" name="Text 7"/>
          <p:cNvSpPr txBox="1"/>
          <p:nvPr/>
        </p:nvSpPr>
        <p:spPr>
          <a:xfrm>
            <a:off x="502006" y="5861304"/>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already lean hardest on AI and automation; Large institutions rely more on hiring and outsourcing, today and in three years.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 newS8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28</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the U.S. lean hardest on AI today; Large institutions show a more even regional spread.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newS8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Australia (n=4 Top 100 / n=3 Large) and Singapore (n=2 / n=2) are thin samples shown directionally.</a:t>
            </a:r>
            <a:endParaRPr lang="en-US" sz="850" dirty="0"/>
          </a:p>
        </p:txBody>
      </p:sp>
      <p:sp>
        <p:nvSpPr>
          <p:cNvPr id="10" name="Text 7"/>
          <p:cNvSpPr txBox="1"/>
          <p:nvPr/>
        </p:nvSpPr>
        <p:spPr>
          <a:xfrm>
            <a:off x="502006" y="5861304"/>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AI's three-year lead holds across nearly every region and tier in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 newS8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Australia (n=4 Top 100 / n=3 Large) and Singapore (n=2 / n=2) are thin samples shown directionally.</a:t>
            </a:r>
            <a:endParaRPr lang="en-US" sz="850" dirty="0"/>
          </a:p>
        </p:txBody>
      </p:sp>
      <p:sp>
        <p:nvSpPr>
          <p:cNvPr id="10" name="Text 7"/>
          <p:cNvSpPr txBox="1"/>
          <p:nvPr/>
        </p:nvSpPr>
        <p:spPr>
          <a:xfrm>
            <a:off x="502006" y="5861304"/>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remediation-first pattern holds broadly across markets, though Canada leans even more toward fixing existing gaps.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Insurance Carriers lean hardest into remediation; Top 50 carriers split more evenly toward getting ahead of upcoming rules.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skew further toward remediation than Top 100 banks, who are closer to an even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 newS8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38</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2026-09-25T17:38:54Z</dcterms:created>
  <dcterms:modified xsi:type="dcterms:W3CDTF">2026-09-25T17:38:54Z</dcterms:modified>
</cp:coreProperties>
</file>