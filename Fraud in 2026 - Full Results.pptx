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55.xml" ContentType="application/vnd.openxmlformats-officedocument.drawingml.chart+xml"/>
  <Override PartName="/ppt/charts/chart5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5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7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74.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7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76.xml" ContentType="application/vnd.openxmlformats-officedocument.drawingml.chart+xml"/>
  <Override PartName="/ppt/charts/chart77.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78.xml" ContentType="application/vnd.openxmlformats-officedocument.drawingml.chart+xml"/>
  <Override PartName="/ppt/charts/chart79.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88.xml" ContentType="application/vnd.openxmlformats-officedocument.drawingml.chart+xml"/>
  <Override PartName="/ppt/charts/chart89.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97.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98.xml" ContentType="application/vnd.openxmlformats-officedocument.drawingml.chart+xml"/>
  <Override PartName="/ppt/charts/chart99.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107.xml" ContentType="application/vnd.openxmlformats-officedocument.drawingml.chart+xml"/>
  <Override PartName="/ppt/charts/chart10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109.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charts/chart119.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charts/chart120.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charts/chart121.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charts/chart122.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123.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24.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Relationships xmlns="http://schemas.openxmlformats.org/package/2006/relationships"><Relationship Id="rId1" Type="http://schemas.openxmlformats.org/officeDocument/2006/relationships/package" Target="../embeddings/Microsoft_Excel_Worksheet1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53</c:v>
                </c:pt>
                <c:pt idx="2">
                  <c:v>47</c:v>
                </c:pt>
                <c:pt idx="3">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67</c:v>
                </c:pt>
                <c:pt idx="1">
                  <c:v>56</c:v>
                </c:pt>
                <c:pt idx="2">
                  <c:v>50</c:v>
                </c:pt>
                <c:pt idx="3">
                  <c:v>61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33</c:v>
                </c:pt>
                <c:pt idx="1">
                  <c:v>50</c:v>
                </c:pt>
                <c:pt idx="2">
                  <c:v>50</c:v>
                </c:pt>
                <c:pt idx="3">
                  <c:v>42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29</c:v>
                </c:pt>
                <c:pt idx="1">
                  <c:v>29</c:v>
                </c:pt>
                <c:pt idx="2">
                  <c:v>43</c:v>
                </c:pt>
                <c:pt idx="3">
                  <c:v>71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50</c:v>
                </c:pt>
                <c:pt idx="2">
                  <c:v>50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60</c:v>
                </c:pt>
                <c:pt idx="2">
                  <c:v>20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75</c:v>
                </c:pt>
                <c:pt idx="1">
                  <c:v>42</c:v>
                </c:pt>
                <c:pt idx="2">
                  <c:v>58</c:v>
                </c:pt>
                <c:pt idx="3">
                  <c:v>42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100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80</c:v>
                </c:pt>
                <c:pt idx="2">
                  <c:v>66</c:v>
                </c:pt>
                <c:pt idx="3">
                  <c:v>36</c:v>
                </c:pt>
                <c:pt idx="4">
                  <c:v>16</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63</c:v>
                </c:pt>
                <c:pt idx="2">
                  <c:v>57</c:v>
                </c:pt>
                <c:pt idx="3">
                  <c:v>30</c:v>
                </c:pt>
                <c:pt idx="4">
                  <c:v>33</c:v>
                </c:pt>
                <c:pt idx="5">
                  <c:v>37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64</c:v>
                </c:pt>
                <c:pt idx="2">
                  <c:v>57</c:v>
                </c:pt>
                <c:pt idx="3">
                  <c:v>43</c:v>
                </c:pt>
                <c:pt idx="4">
                  <c:v>50</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75</c:v>
                </c:pt>
                <c:pt idx="1">
                  <c:v>100</c:v>
                </c:pt>
                <c:pt idx="2">
                  <c:v>50</c:v>
                </c:pt>
                <c:pt idx="3">
                  <c:v>50</c:v>
                </c:pt>
                <c:pt idx="4">
                  <c:v>12</c:v>
                </c:pt>
                <c:pt idx="5">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39</c:v>
                </c:pt>
                <c:pt idx="1">
                  <c:v>25</c:v>
                </c:pt>
                <c:pt idx="2">
                  <c:v>12</c:v>
                </c:pt>
                <c:pt idx="3">
                  <c:v>12</c:v>
                </c:pt>
                <c:pt idx="4">
                  <c:v>8</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24</c:v>
                </c:pt>
                <c:pt idx="1">
                  <c:v>28</c:v>
                </c:pt>
                <c:pt idx="2">
                  <c:v>20</c:v>
                </c:pt>
                <c:pt idx="3">
                  <c:v>16</c:v>
                </c:pt>
                <c:pt idx="4">
                  <c:v>12</c:v>
                </c:pt>
                <c:pt idx="5">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38</c:v>
                </c:pt>
                <c:pt idx="1">
                  <c:v>18</c:v>
                </c:pt>
                <c:pt idx="2">
                  <c:v>15</c:v>
                </c:pt>
                <c:pt idx="3">
                  <c:v>21</c:v>
                </c:pt>
                <c:pt idx="4">
                  <c:v>3</c:v>
                </c:pt>
                <c:pt idx="5">
                  <c:v>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39</c:v>
                </c:pt>
                <c:pt idx="1">
                  <c:v>39</c:v>
                </c:pt>
                <c:pt idx="2">
                  <c:v>0</c:v>
                </c:pt>
                <c:pt idx="3">
                  <c:v>6</c:v>
                </c:pt>
                <c:pt idx="4">
                  <c:v>17</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42</c:v>
                </c:pt>
                <c:pt idx="1">
                  <c:v>33</c:v>
                </c:pt>
                <c:pt idx="2">
                  <c:v>17</c:v>
                </c:pt>
                <c:pt idx="3">
                  <c:v>0</c:v>
                </c:pt>
                <c:pt idx="4">
                  <c:v>0</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29</c:v>
                </c:pt>
                <c:pt idx="1">
                  <c:v>29</c:v>
                </c:pt>
                <c:pt idx="2">
                  <c:v>0</c:v>
                </c:pt>
                <c:pt idx="3">
                  <c:v>14</c:v>
                </c:pt>
                <c:pt idx="4">
                  <c:v>29</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30</c:v>
                </c:pt>
                <c:pt idx="1">
                  <c:v>10</c:v>
                </c:pt>
                <c:pt idx="2">
                  <c:v>30</c:v>
                </c:pt>
                <c:pt idx="3">
                  <c:v>20</c:v>
                </c:pt>
                <c:pt idx="4">
                  <c:v>10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42</c:v>
                </c:pt>
                <c:pt idx="2">
                  <c:v>17</c:v>
                </c:pt>
                <c:pt idx="3">
                  <c:v>8</c:v>
                </c:pt>
                <c:pt idx="4">
                  <c:v>8</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0</c:v>
                </c:pt>
                <c:pt idx="2">
                  <c:v>0</c:v>
                </c:pt>
                <c:pt idx="3">
                  <c:v>50</c:v>
                </c:pt>
                <c:pt idx="4">
                  <c:v>50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27</c:v>
                </c:pt>
                <c:pt idx="1">
                  <c:v>30</c:v>
                </c:pt>
                <c:pt idx="2">
                  <c:v>25</c:v>
                </c:pt>
                <c:pt idx="3">
                  <c:v>16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33</c:v>
                </c:pt>
                <c:pt idx="1">
                  <c:v>27</c:v>
                </c:pt>
                <c:pt idx="2">
                  <c:v>17</c:v>
                </c:pt>
                <c:pt idx="3">
                  <c:v>23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36</c:v>
                </c:pt>
                <c:pt idx="1">
                  <c:v>21</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38</c:v>
                </c:pt>
                <c:pt idx="3">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26</c:v>
                </c:pt>
                <c:pt idx="2">
                  <c:v>24</c:v>
                </c:pt>
                <c:pt idx="3">
                  <c:v>18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39</c:v>
                </c:pt>
                <c:pt idx="1">
                  <c:v>28</c:v>
                </c:pt>
                <c:pt idx="2">
                  <c:v>17</c:v>
                </c:pt>
                <c:pt idx="3">
                  <c:v>17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42</c:v>
                </c:pt>
                <c:pt idx="1">
                  <c:v>17</c:v>
                </c:pt>
                <c:pt idx="2">
                  <c:v>33</c:v>
                </c:pt>
                <c:pt idx="3">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29</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30</c:v>
                </c:pt>
                <c:pt idx="3">
                  <c:v>10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17</c:v>
                </c:pt>
                <c:pt idx="3">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30</c:v>
                </c:pt>
                <c:pt idx="1">
                  <c:v>28</c:v>
                </c:pt>
                <c:pt idx="2">
                  <c:v>18</c:v>
                </c:pt>
                <c:pt idx="3">
                  <c:v>22</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37</c:v>
                </c:pt>
                <c:pt idx="1">
                  <c:v>23</c:v>
                </c:pt>
                <c:pt idx="2">
                  <c:v>29</c:v>
                </c:pt>
                <c:pt idx="3">
                  <c:v>11</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20</c:v>
                </c:pt>
                <c:pt idx="3">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20</c:v>
                </c:pt>
                <c:pt idx="1">
                  <c:v>20</c:v>
                </c:pt>
                <c:pt idx="2">
                  <c:v>30</c:v>
                </c:pt>
                <c:pt idx="3">
                  <c:v>30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8</c:v>
                </c:pt>
                <c:pt idx="3">
                  <c:v>45</c:v>
                </c:pt>
                <c:pt idx="4">
                  <c:v>48</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Large Financial Institution (n=35)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11</c:v>
                </c:pt>
                <c:pt idx="2">
                  <c:v>11</c:v>
                </c:pt>
                <c:pt idx="3">
                  <c:v>51</c:v>
                </c:pt>
                <c:pt idx="4">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7</c:v>
                </c:pt>
                <c:pt idx="3">
                  <c:v>36</c:v>
                </c:pt>
                <c:pt idx="4">
                  <c:v>57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8</c:v>
                </c:pt>
                <c:pt idx="3">
                  <c:v>62</c:v>
                </c:pt>
                <c:pt idx="4">
                  <c:v>31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14</c:v>
                </c:pt>
                <c:pt idx="3">
                  <c:v>29</c:v>
                </c:pt>
                <c:pt idx="4">
                  <c:v>57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25</c:v>
                </c:pt>
                <c:pt idx="4">
                  <c:v>75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100</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10</c:v>
                </c:pt>
                <c:pt idx="3">
                  <c:v>60</c:v>
                </c:pt>
                <c:pt idx="4">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40</c:v>
                </c:pt>
                <c:pt idx="2">
                  <c:v>20</c:v>
                </c:pt>
                <c:pt idx="3">
                  <c:v>0</c:v>
                </c:pt>
                <c:pt idx="4">
                  <c:v>40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20</c:v>
                </c:pt>
                <c:pt idx="2">
                  <c:v>0</c:v>
                </c:pt>
                <c:pt idx="3">
                  <c:v>80</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67</c:v>
                </c:pt>
                <c:pt idx="4">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50</c:v>
                </c:pt>
                <c:pt idx="3">
                  <c:v>0</c:v>
                </c:pt>
                <c:pt idx="4">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7</c:v>
                </c:pt>
                <c:pt idx="2">
                  <c:v>13</c:v>
                </c:pt>
                <c:pt idx="3">
                  <c:v>33</c:v>
                </c:pt>
                <c:pt idx="4">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10</c:v>
                </c:pt>
                <c:pt idx="1">
                  <c:v>0</c:v>
                </c:pt>
                <c:pt idx="2">
                  <c:v>30</c:v>
                </c:pt>
                <c:pt idx="3">
                  <c:v>30</c:v>
                </c:pt>
                <c:pt idx="4">
                  <c:v>30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14</c:v>
                </c:pt>
                <c:pt idx="3">
                  <c:v>57</c:v>
                </c:pt>
                <c:pt idx="4">
                  <c:v>29</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17</c:v>
                </c:pt>
                <c:pt idx="2">
                  <c:v>17</c:v>
                </c:pt>
                <c:pt idx="3">
                  <c:v>17</c:v>
                </c:pt>
                <c:pt idx="4">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33</c:v>
                </c:pt>
                <c:pt idx="3">
                  <c:v>67</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17</c:v>
                </c:pt>
                <c:pt idx="1">
                  <c:v>0</c:v>
                </c:pt>
                <c:pt idx="2">
                  <c:v>33</c:v>
                </c:pt>
                <c:pt idx="3">
                  <c:v>17</c:v>
                </c:pt>
                <c:pt idx="4">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43</c:v>
                </c:pt>
                <c:pt idx="1">
                  <c:v>57</c:v>
                </c:pt>
                <c:pt idx="2">
                  <c:v>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57</c:v>
                </c:pt>
                <c:pt idx="1">
                  <c:v>14</c:v>
                </c:pt>
                <c:pt idx="2">
                  <c:v>14</c:v>
                </c:pt>
                <c:pt idx="3">
                  <c:v>14</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50</c:v>
                </c:pt>
                <c:pt idx="1">
                  <c:v>17</c:v>
                </c:pt>
                <c:pt idx="2">
                  <c:v>17</c:v>
                </c:pt>
                <c:pt idx="3">
                  <c:v>17</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33</c:v>
                </c:pt>
                <c:pt idx="1">
                  <c:v>50</c:v>
                </c:pt>
                <c:pt idx="2">
                  <c:v>17</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100</c:v>
                </c:pt>
                <c:pt idx="1">
                  <c:v>0</c:v>
                </c:pt>
                <c:pt idx="2">
                  <c:v>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0</c:v>
                </c:pt>
                <c:pt idx="2">
                  <c:v>100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0</c:v>
                </c:pt>
                <c:pt idx="2">
                  <c:v>0</c:v>
                </c:pt>
                <c:pt idx="3">
                  <c:v>0</c:v>
                </c:pt>
                <c:pt idx="4">
                  <c:v>100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0</c:v>
                </c:pt>
                <c:pt idx="2">
                  <c:v>100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0</c:v>
                </c:pt>
                <c:pt idx="2">
                  <c:v>67</c:v>
                </c:pt>
                <c:pt idx="3">
                  <c:v>0</c:v>
                </c:pt>
                <c:pt idx="4">
                  <c:v>33</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33</c:v>
                </c:pt>
                <c:pt idx="1">
                  <c:v>67</c:v>
                </c:pt>
                <c:pt idx="2">
                  <c:v>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17</c:v>
                </c:pt>
                <c:pt idx="1">
                  <c:v>33</c:v>
                </c:pt>
                <c:pt idx="2">
                  <c:v>0</c:v>
                </c:pt>
                <c:pt idx="3">
                  <c:v>33</c:v>
                </c:pt>
                <c:pt idx="4">
                  <c:v>17</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50</c:v>
                </c:pt>
                <c:pt idx="1">
                  <c:v>17</c:v>
                </c:pt>
                <c:pt idx="2">
                  <c:v>33</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0</c:v>
                </c:pt>
                <c:pt idx="2">
                  <c:v>0</c:v>
                </c:pt>
                <c:pt idx="3">
                  <c:v>100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0</c:v>
                </c:pt>
                <c:pt idx="2">
                  <c:v>0</c:v>
                </c:pt>
                <c:pt idx="3">
                  <c:v>0</c:v>
                </c:pt>
                <c:pt idx="4">
                  <c:v>100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57</c:v>
                </c:pt>
                <c:pt idx="1">
                  <c:v>29</c:v>
                </c:pt>
                <c:pt idx="2">
                  <c:v>0</c:v>
                </c:pt>
                <c:pt idx="3">
                  <c:v>0</c:v>
                </c:pt>
                <c:pt idx="4">
                  <c:v>0</c:v>
                </c:pt>
                <c:pt idx="5">
                  <c:v>14</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29</c:v>
                </c:pt>
                <c:pt idx="1">
                  <c:v>21</c:v>
                </c:pt>
                <c:pt idx="2">
                  <c:v>29</c:v>
                </c:pt>
                <c:pt idx="3">
                  <c:v>14</c:v>
                </c:pt>
                <c:pt idx="4">
                  <c:v>0</c:v>
                </c:pt>
                <c:pt idx="5">
                  <c:v>7</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15</c:v>
                </c:pt>
                <c:pt idx="1">
                  <c:v>38</c:v>
                </c:pt>
                <c:pt idx="2">
                  <c:v>8</c:v>
                </c:pt>
                <c:pt idx="3">
                  <c:v>8</c:v>
                </c:pt>
                <c:pt idx="4">
                  <c:v>8</c:v>
                </c:pt>
                <c:pt idx="5">
                  <c:v>23</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62</c:v>
                </c:pt>
                <c:pt idx="1">
                  <c:v>31</c:v>
                </c:pt>
                <c:pt idx="2">
                  <c:v>8</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29</c:v>
                </c:pt>
                <c:pt idx="1">
                  <c:v>29</c:v>
                </c:pt>
                <c:pt idx="2">
                  <c:v>14</c:v>
                </c:pt>
                <c:pt idx="3">
                  <c:v>0</c:v>
                </c:pt>
                <c:pt idx="4">
                  <c:v>14</c:v>
                </c:pt>
                <c:pt idx="5">
                  <c:v>14</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57</c:v>
                </c:pt>
                <c:pt idx="1">
                  <c:v>29</c:v>
                </c:pt>
                <c:pt idx="2">
                  <c:v>14</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25</c:v>
                </c:pt>
                <c:pt idx="1">
                  <c:v>50</c:v>
                </c:pt>
                <c:pt idx="2">
                  <c:v>25</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50</c:v>
                </c:pt>
                <c:pt idx="2">
                  <c:v>0</c:v>
                </c:pt>
                <c:pt idx="3">
                  <c:v>25</c:v>
                </c:pt>
                <c:pt idx="4">
                  <c:v>25</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50</c:v>
                </c:pt>
                <c:pt idx="1">
                  <c:v>0</c:v>
                </c:pt>
                <c:pt idx="2">
                  <c:v>0</c:v>
                </c:pt>
                <c:pt idx="3">
                  <c:v>50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30</c:v>
                </c:pt>
                <c:pt idx="1">
                  <c:v>20</c:v>
                </c:pt>
                <c:pt idx="2">
                  <c:v>10</c:v>
                </c:pt>
                <c:pt idx="3">
                  <c:v>15</c:v>
                </c:pt>
                <c:pt idx="4">
                  <c:v>25</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35</c:v>
                </c:pt>
                <c:pt idx="1">
                  <c:v>25</c:v>
                </c:pt>
                <c:pt idx="2">
                  <c:v>20</c:v>
                </c:pt>
                <c:pt idx="3">
                  <c:v>5</c:v>
                </c:pt>
                <c:pt idx="4">
                  <c:v>15</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40</c:v>
                </c:pt>
                <c:pt idx="1">
                  <c:v>60</c:v>
                </c:pt>
                <c:pt idx="2">
                  <c:v>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60</c:v>
                </c:pt>
                <c:pt idx="1">
                  <c:v>0</c:v>
                </c:pt>
                <c:pt idx="2">
                  <c:v>20</c:v>
                </c:pt>
                <c:pt idx="3">
                  <c:v>20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40</c:v>
                </c:pt>
                <c:pt idx="1">
                  <c:v>20</c:v>
                </c:pt>
                <c:pt idx="2">
                  <c:v>20</c:v>
                </c:pt>
                <c:pt idx="3">
                  <c:v>0</c:v>
                </c:pt>
                <c:pt idx="4">
                  <c:v>0</c:v>
                </c:pt>
                <c:pt idx="5">
                  <c:v>20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40</c:v>
                </c:pt>
                <c:pt idx="1">
                  <c:v>20</c:v>
                </c:pt>
                <c:pt idx="2">
                  <c:v>0</c:v>
                </c:pt>
                <c:pt idx="3">
                  <c:v>20</c:v>
                </c:pt>
                <c:pt idx="4">
                  <c:v>0</c:v>
                </c:pt>
                <c:pt idx="5">
                  <c:v>20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67</c:v>
                </c:pt>
                <c:pt idx="1">
                  <c:v>0</c:v>
                </c:pt>
                <c:pt idx="2">
                  <c:v>0</c:v>
                </c:pt>
                <c:pt idx="3">
                  <c:v>33</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33</c:v>
                </c:pt>
                <c:pt idx="1">
                  <c:v>33</c:v>
                </c:pt>
                <c:pt idx="2">
                  <c:v>33</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50</c:v>
                </c:pt>
                <c:pt idx="2">
                  <c:v>50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100</c:v>
                </c:pt>
                <c:pt idx="1">
                  <c:v>0</c:v>
                </c:pt>
                <c:pt idx="2">
                  <c:v>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chart" Target="/ppt/charts/chart19.xml"/><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chart" Target="/ppt/charts/chart22.xml"/><Relationship Id="rId4" Type="http://schemas.openxmlformats.org/officeDocument/2006/relationships/chart" Target="/ppt/charts/chart23.xml"/><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chart" Target="/ppt/charts/chart28.xml"/><Relationship Id="rId5" Type="http://schemas.openxmlformats.org/officeDocument/2006/relationships/chart" Target="/ppt/charts/chart29.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chart" Target="/ppt/charts/chart31.xml"/><Relationship Id="rId3" Type="http://schemas.openxmlformats.org/officeDocument/2006/relationships/chart" Target="/ppt/charts/chart32.xml"/><Relationship Id="rId4" Type="http://schemas.openxmlformats.org/officeDocument/2006/relationships/chart" Target="/ppt/charts/chart33.xml"/><Relationship Id="rId5" Type="http://schemas.openxmlformats.org/officeDocument/2006/relationships/chart" Target="/ppt/charts/chart34.xml"/><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chart" Target="/ppt/charts/chart42.xml"/><Relationship Id="rId3" Type="http://schemas.openxmlformats.org/officeDocument/2006/relationships/chart" Target="/ppt/charts/chart43.xml"/><Relationship Id="rId4" Type="http://schemas.openxmlformats.org/officeDocument/2006/relationships/chart" Target="/ppt/charts/chart44.xml"/><Relationship Id="rId5" Type="http://schemas.openxmlformats.org/officeDocument/2006/relationships/chart" Target="/ppt/charts/chart45.xml"/><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chart" Target="/ppt/charts/chart47.xml"/><Relationship Id="rId3" Type="http://schemas.openxmlformats.org/officeDocument/2006/relationships/chart" Target="/ppt/charts/chart48.xml"/><Relationship Id="rId4" Type="http://schemas.openxmlformats.org/officeDocument/2006/relationships/chart" Target="/ppt/charts/chart49.xml"/><Relationship Id="rId5" Type="http://schemas.openxmlformats.org/officeDocument/2006/relationships/chart" Target="/ppt/charts/chart50.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chart" Target="/ppt/charts/chart52.xml"/><Relationship Id="rId3" Type="http://schemas.openxmlformats.org/officeDocument/2006/relationships/chart" Target="/ppt/charts/chart53.xml"/><Relationship Id="rId4" Type="http://schemas.openxmlformats.org/officeDocument/2006/relationships/chart" Target="/ppt/charts/chart54.xml"/><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chart" Target="/ppt/charts/chart56.xm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chart" Target="/ppt/charts/chart60.xml"/><Relationship Id="rId3" Type="http://schemas.openxmlformats.org/officeDocument/2006/relationships/chart" Target="/ppt/charts/chart61.xml"/><Relationship Id="rId4" Type="http://schemas.openxmlformats.org/officeDocument/2006/relationships/chart" Target="/ppt/charts/chart62.xml"/><Relationship Id="rId5" Type="http://schemas.openxmlformats.org/officeDocument/2006/relationships/chart" Target="/ppt/charts/chart63.xml"/><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64.xml"/><Relationship Id="rId2" Type="http://schemas.openxmlformats.org/officeDocument/2006/relationships/chart" Target="/ppt/charts/chart65.xml"/><Relationship Id="rId3" Type="http://schemas.openxmlformats.org/officeDocument/2006/relationships/chart" Target="/ppt/charts/chart66.xml"/><Relationship Id="rId4" Type="http://schemas.openxmlformats.org/officeDocument/2006/relationships/chart" Target="/ppt/charts/chart67.xml"/><Relationship Id="rId5" Type="http://schemas.openxmlformats.org/officeDocument/2006/relationships/chart" Target="/ppt/charts/chart68.xml"/><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69.xml"/><Relationship Id="rId2" Type="http://schemas.openxmlformats.org/officeDocument/2006/relationships/chart" Target="/ppt/charts/chart70.xml"/><Relationship Id="rId3" Type="http://schemas.openxmlformats.org/officeDocument/2006/relationships/chart" Target="/ppt/charts/chart71.xml"/><Relationship Id="rId4" Type="http://schemas.openxmlformats.org/officeDocument/2006/relationships/chart" Target="/ppt/charts/chart72.xml"/><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7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74.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75.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76.xml"/><Relationship Id="rId2" Type="http://schemas.openxmlformats.org/officeDocument/2006/relationships/chart" Target="/ppt/charts/chart77.xml"/><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78.xml"/><Relationship Id="rId2" Type="http://schemas.openxmlformats.org/officeDocument/2006/relationships/chart" Target="/ppt/charts/chart79.xml"/><Relationship Id="rId3" Type="http://schemas.openxmlformats.org/officeDocument/2006/relationships/chart" Target="/ppt/charts/chart80.xml"/><Relationship Id="rId4" Type="http://schemas.openxmlformats.org/officeDocument/2006/relationships/chart" Target="/ppt/charts/chart81.xml"/><Relationship Id="rId5" Type="http://schemas.openxmlformats.org/officeDocument/2006/relationships/chart" Target="/ppt/charts/chart82.xml"/><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83.xml"/><Relationship Id="rId2" Type="http://schemas.openxmlformats.org/officeDocument/2006/relationships/chart" Target="/ppt/charts/chart84.xml"/><Relationship Id="rId3" Type="http://schemas.openxmlformats.org/officeDocument/2006/relationships/chart" Target="/ppt/charts/chart85.xml"/><Relationship Id="rId4" Type="http://schemas.openxmlformats.org/officeDocument/2006/relationships/chart" Target="/ppt/charts/chart86.xml"/><Relationship Id="rId5" Type="http://schemas.openxmlformats.org/officeDocument/2006/relationships/chart" Target="/ppt/charts/chart87.xml"/><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88.xml"/><Relationship Id="rId2" Type="http://schemas.openxmlformats.org/officeDocument/2006/relationships/chart" Target="/ppt/charts/chart89.xm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90.xml"/><Relationship Id="rId2" Type="http://schemas.openxmlformats.org/officeDocument/2006/relationships/chart" Target="/ppt/charts/chart91.xml"/><Relationship Id="rId3" Type="http://schemas.openxmlformats.org/officeDocument/2006/relationships/chart" Target="/ppt/charts/chart92.xml"/><Relationship Id="rId4" Type="http://schemas.openxmlformats.org/officeDocument/2006/relationships/chart" Target="/ppt/charts/chart93.xml"/><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94.xml"/><Relationship Id="rId2" Type="http://schemas.openxmlformats.org/officeDocument/2006/relationships/chart" Target="/ppt/charts/chart95.xml"/><Relationship Id="rId3" Type="http://schemas.openxmlformats.org/officeDocument/2006/relationships/chart" Target="/ppt/charts/chart96.xml"/><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97.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98.xml"/><Relationship Id="rId2" Type="http://schemas.openxmlformats.org/officeDocument/2006/relationships/chart" Target="/ppt/charts/chart99.xm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100.xml"/><Relationship Id="rId2" Type="http://schemas.openxmlformats.org/officeDocument/2006/relationships/chart" Target="/ppt/charts/chart101.xml"/><Relationship Id="rId3" Type="http://schemas.openxmlformats.org/officeDocument/2006/relationships/chart" Target="/ppt/charts/chart102.xml"/><Relationship Id="rId4" Type="http://schemas.openxmlformats.org/officeDocument/2006/relationships/chart" Target="/ppt/charts/chart103.xml"/><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04.xml"/><Relationship Id="rId2" Type="http://schemas.openxmlformats.org/officeDocument/2006/relationships/chart" Target="/ppt/charts/chart105.xml"/><Relationship Id="rId3" Type="http://schemas.openxmlformats.org/officeDocument/2006/relationships/chart" Target="/ppt/charts/chart106.xml"/><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107.xml"/><Relationship Id="rId2" Type="http://schemas.openxmlformats.org/officeDocument/2006/relationships/chart" Target="/ppt/charts/chart108.xml"/><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09.xml"/><Relationship Id="rId2" Type="http://schemas.openxmlformats.org/officeDocument/2006/relationships/chart" Target="/ppt/charts/chart110.xml"/><Relationship Id="rId3" Type="http://schemas.openxmlformats.org/officeDocument/2006/relationships/chart" Target="/ppt/charts/chart111.xml"/><Relationship Id="rId4" Type="http://schemas.openxmlformats.org/officeDocument/2006/relationships/chart" Target="/ppt/charts/chart112.xml"/><Relationship Id="rId5" Type="http://schemas.openxmlformats.org/officeDocument/2006/relationships/chart" Target="/ppt/charts/chart113.xml"/><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114.xml"/><Relationship Id="rId2" Type="http://schemas.openxmlformats.org/officeDocument/2006/relationships/chart" Target="/ppt/charts/chart115.xml"/><Relationship Id="rId3" Type="http://schemas.openxmlformats.org/officeDocument/2006/relationships/chart" Target="/ppt/charts/chart116.xml"/><Relationship Id="rId4" Type="http://schemas.openxmlformats.org/officeDocument/2006/relationships/chart" Target="/ppt/charts/chart117.xml"/><Relationship Id="rId5" Type="http://schemas.openxmlformats.org/officeDocument/2006/relationships/chart" Target="/ppt/charts/chart118.xml"/><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119.xml"/><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120.xml"/><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121.xml"/><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122.xml"/><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123.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24.xml"/><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Staff training and ID verification lead in most Banking markets, but Australia stands apart, citing 3rd-party intel gaps as its biggest obstacle by far.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Canadian insurers cite staff training well above every other market; U.S. carriers are the only ones where detection technology ranks lowest.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Legal/regulatory concern runs hottest in Australia; every market still names data quality among its top two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hardest on a centralized platform or utility; Insurance is more evenly split, with data standards ranking twice as high as it does for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leads in most markets, but Canada ties it with legal/regulatory reform and Singapore ties it with data standards.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and Canadian carriers split between platform infrastructure and legal reform; Europe and Australia's cells are too thin to generalize.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tops the list in Canada and Europe, but onboarding verification leads in Australia and oversight dominates in Singapore.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leads across most Banking markets, but Singapore banks lean hardest on third-party oversight instead.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lean on ongoing monitoring; Canadian carriers lean hardest on third-party oversight of any Insurance market.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lean harder on information sharing and onboarding controls; Top 100 institutions lean relatively more on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lean hardest on ongoing monitoring; Large carriers split more evenly toward onboarding controls and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skew further toward Advanced;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67712"/>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67712"/>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30368"/>
            <a:ext cx="11188598" cy="0"/>
          </a:xfrm>
          <a:prstGeom prst="line">
            <a:avLst/>
          </a:prstGeom>
          <a:noFill/>
          <a:ln w="9525">
            <a:solidFill>
              <a:srgbClr val="D0D0CE"/>
            </a:solidFill>
            <a:prstDash val="solid"/>
          </a:ln>
        </p:spPr>
      </p:sp>
      <p:sp>
        <p:nvSpPr>
          <p:cNvPr id="12" name="Text 8"/>
          <p:cNvSpPr txBox="1"/>
          <p:nvPr/>
        </p:nvSpPr>
        <p:spPr>
          <a:xfrm>
            <a:off x="502006" y="5303520"/>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as Top 100 from their employer description elsewhere in the survey (Top 100 is n=40 = 35 direct + 5 reclassified; Large is n=35).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Top 100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Australia self-rate most advanced; Canada's Top 100 cluster is the only market that skews toward Integrated over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(Top 100 Financial Institutions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(n=13)</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(n=7)</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(n=4)</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Top 100 region sample sizes: US n=14, Canada n=13, Europe n=7, Australia n=4, Singapore n=2. Australia and Singapore are thin samples and should be read directionally, not precisely. Includes 5 respondents reclassified as Top 100 from their employer description elsewhere in the survey.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Large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institutions in Canada and Singapore split toward the maturity extremes; the U.S. and Europe cluster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(Large Financial Institutions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(n=20)</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(n=5)</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(n=5)</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(n=3)</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Large Financial Institution region sample sizes: US n=20, Canada n=5, Europe n=5, Australia n=3, Singapore n=2. Canada, Europe,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skew toward Advanced; Large carriers spread more evenly across the maturity curve, including the only Reactive responses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Global Insurance Carrier (n=15)</a:t>
            </a:r>
            <a:endParaRPr lang="en-US" sz="1150" dirty="0"/>
          </a:p>
        </p:txBody>
      </p:sp>
      <p:graphicFrame>
        <p:nvGraphicFramePr>
          <p:cNvPr id="8" name="Chart 0" descr=""/>
          <p:cNvGraphicFramePr/>
          <p:nvPr/>
        </p:nvGraphicFramePr>
        <p:xfrm>
          <a:off x="502006" y="2267712"/>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67712"/>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30368"/>
            <a:ext cx="11188598" cy="0"/>
          </a:xfrm>
          <a:prstGeom prst="line">
            <a:avLst/>
          </a:prstGeom>
          <a:noFill/>
          <a:ln w="9525">
            <a:solidFill>
              <a:srgbClr val="D0D0CE"/>
            </a:solidFill>
            <a:prstDash val="solid"/>
          </a:ln>
        </p:spPr>
      </p:sp>
      <p:sp>
        <p:nvSpPr>
          <p:cNvPr id="12" name="Text 8"/>
          <p:cNvSpPr txBox="1"/>
          <p:nvPr/>
        </p:nvSpPr>
        <p:spPr>
          <a:xfrm>
            <a:off x="502006" y="5303520"/>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as Large Insurance Carrier from their employer description elsewhere in the survey (Large is n=10 = 9 direct + 1 reclassified; Top 50 is n=15).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Top 50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in the U.S. and Canada lean Advanced or Integrated; Europe and Australia's single respondents each self-rate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(Top 50 Insurance Carriers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(n=7)</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Top 50 Insurance Carrier region sample sizes: US n=7, Canada n=6, Europe n=1 (United Kingdom), Australia n=1. Neither tier has Singapore respondents. Europe and Australia are single respondents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Large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in Canada include the only Reactive response in Insurance; the U.S. and Europe cluster at Integrated or above.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(Large Insurance Carriers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502006" y="5669280"/>
            <a:ext cx="11188598" cy="0"/>
          </a:xfrm>
          <a:prstGeom prst="line">
            <a:avLst/>
          </a:prstGeom>
          <a:noFill/>
          <a:ln w="9525">
            <a:solidFill>
              <a:srgbClr val="D0D0CE"/>
            </a:solidFill>
            <a:prstDash val="solid"/>
          </a:ln>
        </p:spPr>
      </p:sp>
      <p:sp>
        <p:nvSpPr>
          <p:cNvPr id="14" name="Text 9"/>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Large Insurance Carrier region sample sizes: US n=3, Canada n=6, Europe n=1 (United Kingdom). No Australia or Singapore respondents in this tier. Europe is a single respondent shown for completeness, not statistical reliability. Includes 1 respondent (Canada) reclassified from their employer description elsewhere in the survey.</a:t>
            </a:r>
            <a:endParaRPr lang="en-US" sz="850" dirty="0"/>
          </a:p>
        </p:txBody>
      </p:sp>
      <p:sp>
        <p:nvSpPr>
          <p:cNvPr id="15" name="Text 10"/>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Top 50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in the U.S. lean hardest on automating workflows today; Canada and the U.S. converge on AI as the 3-year focus.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(Insurance — Top 50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(n=7)</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Top 50 region sample sizes: US n=7, Canada n=6, Europe n=1 (United Kingdom), Australia n=1. Neither tier has Singapore respondents. Europe and Australia are single respondents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Large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in the U.S. lean on redesigning processes today but shift toward automating workflows over three years; Canada spreads more evenly across levers.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(Insurance — Large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45</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502006" y="5669280"/>
            <a:ext cx="11188598" cy="0"/>
          </a:xfrm>
          <a:prstGeom prst="line">
            <a:avLst/>
          </a:prstGeom>
          <a:noFill/>
          <a:ln w="9525">
            <a:solidFill>
              <a:srgbClr val="D0D0CE"/>
            </a:solidFill>
            <a:prstDash val="solid"/>
          </a:ln>
        </p:spPr>
      </p:sp>
      <p:sp>
        <p:nvSpPr>
          <p:cNvPr id="14" name="Text 9"/>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Large Insurance Carrier region sample sizes: US n=3, Canada n=6, Europe n=1 (United Kingdom). No Australia or Singapore respondents in this tier. Europe is a single respondent shown for completeness, not statistical reliability.</a:t>
            </a:r>
            <a:endParaRPr lang="en-US" sz="850" dirty="0"/>
          </a:p>
        </p:txBody>
      </p:sp>
      <p:sp>
        <p:nvSpPr>
          <p:cNvPr id="15" name="Text 10"/>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46</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Top 100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both today and in three years; Canada shifts from automating workflows today toward AI over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(Banking — Top 100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(n=13)</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(n=7)</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(n=4)</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Top 100 region sample sizes: US n=14, Canada n=13, Europe n=7, Australia n=4, Singapore n=2.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Large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institutions in the U.S. and Canada both lean on AI, but Canada's three-year focus stays there while the U.S. shifts toward hiring.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(Banking — Large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(n=20)</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(n=5)</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(n=5)</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(n=3)</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Large Financial Institution region sample sizes: US n=20, Canada n=5, Europe n=5, Australia n=3, Singapore n=2. Canada, Europe,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57</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2026-09-29T16:03:03Z</dcterms:created>
  <dcterms:modified xsi:type="dcterms:W3CDTF">2026-09-29T16:03:03Z</dcterms:modified>
</cp:coreProperties>
</file>