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Sheet1!$D$2:$D$9</c:f>
              <c:numCache>
                <c:formatCode>General</c:formatCode>
                <c:ptCount val="8"/>
                <c:pt idx="0">
                  <c:v>5</c:v>
                </c:pt>
                <c:pt idx="1">
                  <c:v>0</c:v>
                </c:pt>
                <c:pt idx="2">
                  <c:v>8</c:v>
                </c:pt>
                <c:pt idx="3">
                  <c:v>0</c:v>
                </c:pt>
                <c:pt idx="4">
                  <c:v>8</c:v>
                </c:pt>
                <c:pt idx="5">
                  <c:v>0</c:v>
                </c:pt>
                <c:pt idx="6">
                  <c:v>7</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Sheet1!$E$2:$E$9</c:f>
              <c:numCache>
                <c:formatCode>General</c:formatCode>
                <c:ptCount val="8"/>
                <c:pt idx="0">
                  <c:v>3</c:v>
                </c:pt>
                <c:pt idx="1">
                  <c:v>0</c:v>
                </c:pt>
                <c:pt idx="2">
                  <c:v>3</c:v>
                </c:pt>
                <c:pt idx="3">
                  <c:v>0</c:v>
                </c:pt>
                <c:pt idx="4">
                  <c:v>4</c:v>
                </c:pt>
                <c:pt idx="5">
                  <c:v>0</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Sheet1!$D$2:$D$13</c:f>
              <c:numCache>
                <c:formatCode>General</c:formatCode>
                <c:ptCount val="12"/>
                <c:pt idx="0">
                  <c:v>11</c:v>
                </c:pt>
                <c:pt idx="1">
                  <c:v>0</c:v>
                </c:pt>
                <c:pt idx="2">
                  <c:v>11</c:v>
                </c:pt>
                <c:pt idx="3">
                  <c:v>0</c:v>
                </c:pt>
                <c:pt idx="4">
                  <c:v>9</c:v>
                </c:pt>
                <c:pt idx="5">
                  <c:v>0</c:v>
                </c:pt>
                <c:pt idx="6">
                  <c:v>7</c:v>
                </c:pt>
                <c:pt idx="7">
                  <c:v>0</c:v>
                </c:pt>
                <c:pt idx="8">
                  <c:v>9</c:v>
                </c:pt>
                <c:pt idx="9">
                  <c:v>0</c:v>
                </c:pt>
                <c:pt idx="10">
                  <c:v>1</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Sheet1!$E$2:$E$13</c:f>
              <c:numCache>
                <c:formatCode>General</c:formatCode>
                <c:ptCount val="12"/>
                <c:pt idx="0">
                  <c:v>7</c:v>
                </c:pt>
                <c:pt idx="1">
                  <c:v>0</c:v>
                </c:pt>
                <c:pt idx="2">
                  <c:v>9</c:v>
                </c:pt>
                <c:pt idx="3">
                  <c:v>0</c:v>
                </c:pt>
                <c:pt idx="4">
                  <c:v>4</c:v>
                </c:pt>
                <c:pt idx="5">
                  <c:v>0</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United States (n=44)</c:v>
                </c:pt>
              </c:strCache>
            </c:strRef>
          </c:tx>
          <c:spPr>
            <a:solidFill>
              <a:srgbClr val="86BC25"/>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33</c:v>
                </c:pt>
                <c:pt idx="1">
                  <c:v>40</c:v>
                </c:pt>
                <c:pt idx="2">
                  <c:v>7</c:v>
                </c:pt>
                <c:pt idx="3">
                  <c:v>7</c:v>
                </c:pt>
                <c:pt idx="4">
                  <c:v>13</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Sheet1!$D$2:$D$7</c:f>
              <c:numCache>
                <c:formatCode>General</c:formatCode>
                <c:ptCount val="6"/>
                <c:pt idx="0">
                  <c:v>36</c:v>
                </c:pt>
                <c:pt idx="1">
                  <c:v>29</c:v>
                </c:pt>
                <c:pt idx="2">
                  <c:v>14</c:v>
                </c:pt>
                <c:pt idx="3">
                  <c:v>7</c:v>
                </c:pt>
                <c:pt idx="4">
                  <c:v>7</c:v>
                </c:pt>
                <c:pt idx="5">
                  <c:v>7</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Sheet1!$E$2:$E$7</c:f>
              <c:numCache>
                <c:formatCode>General</c:formatCode>
                <c:ptCount val="6"/>
                <c:pt idx="0">
                  <c:v>25</c:v>
                </c:pt>
                <c:pt idx="1">
                  <c:v>38</c:v>
                </c:pt>
                <c:pt idx="2">
                  <c:v>0</c:v>
                </c:pt>
                <c:pt idx="3">
                  <c:v>12</c:v>
                </c:pt>
                <c:pt idx="4">
                  <c:v>25</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Sheet1!$F$2:$F$7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Sheet1!$D$2:$D$9</c:f>
              <c:numCache>
                <c:formatCode>General</c:formatCode>
                <c:ptCount val="8"/>
                <c:pt idx="0">
                  <c:v>7</c:v>
                </c:pt>
                <c:pt idx="1">
                  <c:v>0</c:v>
                </c:pt>
                <c:pt idx="2">
                  <c:v>3</c:v>
                </c:pt>
                <c:pt idx="3">
                  <c:v>0</c:v>
                </c:pt>
                <c:pt idx="4">
                  <c:v>5</c:v>
                </c:pt>
                <c:pt idx="5">
                  <c:v>0</c:v>
                </c:pt>
                <c:pt idx="6">
                  <c:v>1</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Sheet1!$E$2:$E$9</c:f>
              <c:numCache>
                <c:formatCode>General</c:formatCode>
                <c:ptCount val="8"/>
                <c:pt idx="0">
                  <c:v>3</c:v>
                </c:pt>
                <c:pt idx="1">
                  <c:v>0</c:v>
                </c:pt>
                <c:pt idx="2">
                  <c:v>3</c:v>
                </c:pt>
                <c:pt idx="3">
                  <c:v>0</c:v>
                </c:pt>
                <c:pt idx="4">
                  <c:v>3</c:v>
                </c:pt>
                <c:pt idx="5">
                  <c:v>0</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so Insurance's stacked totals run below the full-sample figures shown on the previous slide (64%, 48%, 40%, 44%).</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data standardization 88%, legal/privacy 72%, external participation 48%, budget/resources 36%, ROI 16%, ownership 36%.</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info sharing 20%, monitoring 32%, onboarding 24%, oversight 24%.</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2026-09-25T16:10:22Z</dcterms:created>
  <dcterms:modified xsi:type="dcterms:W3CDTF">2026-09-25T16:10:22Z</dcterms:modified>
</cp:coreProperties>
</file>