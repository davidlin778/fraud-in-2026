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9.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0.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2.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5.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6.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31.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32.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33.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34.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35.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36.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Sheet1!$B$2:$B$13</c:f>
              <c:numCache>
                <c:formatCode>General</c:formatCode>
                <c:ptCount val="12"/>
                <c:pt idx="0">
                  <c:v>33</c:v>
                </c:pt>
                <c:pt idx="1">
                  <c:v>36</c:v>
                </c:pt>
                <c:pt idx="2">
                  <c:v>33</c:v>
                </c:pt>
                <c:pt idx="3">
                  <c:v>40</c:v>
                </c:pt>
                <c:pt idx="4">
                  <c:v>33</c:v>
                </c:pt>
                <c:pt idx="5">
                  <c:v>16</c:v>
                </c:pt>
                <c:pt idx="6">
                  <c:v>16</c:v>
                </c:pt>
                <c:pt idx="7">
                  <c:v>16</c:v>
                </c:pt>
                <c:pt idx="8">
                  <c:v>8</c:v>
                </c:pt>
                <c:pt idx="9">
                  <c:v>4</c:v>
                </c:pt>
                <c:pt idx="10">
                  <c:v>12</c:v>
                </c:pt>
                <c:pt idx="11">
                  <c:v>8</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Sheet1!$C$2:$C$13</c:f>
              <c:numCache>
                <c:formatCode>General</c:formatCode>
                <c:ptCount val="12"/>
                <c:pt idx="0">
                  <c:v>17</c:v>
                </c:pt>
                <c:pt idx="1">
                  <c:v>40</c:v>
                </c:pt>
                <c:pt idx="2">
                  <c:v>17</c:v>
                </c:pt>
                <c:pt idx="3">
                  <c:v>24</c:v>
                </c:pt>
                <c:pt idx="4">
                  <c:v>15</c:v>
                </c:pt>
                <c:pt idx="5">
                  <c:v>24</c:v>
                </c:pt>
                <c:pt idx="6">
                  <c:v>7</c:v>
                </c:pt>
                <c:pt idx="7">
                  <c:v>16</c:v>
                </c:pt>
                <c:pt idx="8">
                  <c:v>9</c:v>
                </c:pt>
                <c:pt idx="9">
                  <c:v>12</c:v>
                </c:pt>
                <c:pt idx="10">
                  <c:v>7</c:v>
                </c:pt>
                <c:pt idx="11">
                  <c:v>24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Sheet1!$D$2:$D$13</c:f>
              <c:numCache>
                <c:formatCode>General</c:formatCode>
                <c:ptCount val="12"/>
                <c:pt idx="0">
                  <c:v>11</c:v>
                </c:pt>
                <c:pt idx="1">
                  <c:v>8</c:v>
                </c:pt>
                <c:pt idx="2">
                  <c:v>11</c:v>
                </c:pt>
                <c:pt idx="3">
                  <c:v>4</c:v>
                </c:pt>
                <c:pt idx="4">
                  <c:v>9</c:v>
                </c:pt>
                <c:pt idx="5">
                  <c:v>4</c:v>
                </c:pt>
                <c:pt idx="6">
                  <c:v>7</c:v>
                </c:pt>
                <c:pt idx="7">
                  <c:v>4</c:v>
                </c:pt>
                <c:pt idx="8">
                  <c:v>9</c:v>
                </c:pt>
                <c:pt idx="9">
                  <c:v>0</c:v>
                </c:pt>
                <c:pt idx="10">
                  <c:v>1</c:v>
                </c:pt>
                <c:pt idx="11">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Sheet1!$E$2:$E$13</c:f>
              <c:numCache>
                <c:formatCode>General</c:formatCode>
                <c:ptCount val="12"/>
                <c:pt idx="0">
                  <c:v>7</c:v>
                </c:pt>
                <c:pt idx="1">
                  <c:v>4</c:v>
                </c:pt>
                <c:pt idx="2">
                  <c:v>9</c:v>
                </c:pt>
                <c:pt idx="3">
                  <c:v>4</c:v>
                </c:pt>
                <c:pt idx="4">
                  <c:v>4</c:v>
                </c:pt>
                <c:pt idx="5">
                  <c:v>4</c:v>
                </c:pt>
                <c:pt idx="6">
                  <c:v>5</c:v>
                </c:pt>
                <c:pt idx="7">
                  <c:v>0</c:v>
                </c:pt>
                <c:pt idx="8">
                  <c:v>1</c:v>
                </c:pt>
                <c:pt idx="9">
                  <c:v>0</c:v>
                </c:pt>
                <c:pt idx="10">
                  <c:v>1</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Sheet1!$F$2:$F$13</c:f>
              <c:numCache>
                <c:formatCode>General</c:formatCode>
                <c:ptCount val="12"/>
                <c:pt idx="0">
                  <c:v>5</c:v>
                </c:pt>
                <c:pt idx="1">
                  <c:v>0</c:v>
                </c:pt>
                <c:pt idx="2">
                  <c:v>3</c:v>
                </c:pt>
                <c:pt idx="3">
                  <c:v>0</c:v>
                </c:pt>
                <c:pt idx="4">
                  <c:v>3</c:v>
                </c:pt>
                <c:pt idx="5">
                  <c:v>0</c:v>
                </c:pt>
                <c:pt idx="6">
                  <c:v>1</c:v>
                </c:pt>
                <c:pt idx="7">
                  <c:v>0</c:v>
                </c:pt>
                <c:pt idx="8">
                  <c:v>3</c:v>
                </c:pt>
                <c:pt idx="9">
                  <c:v>0</c:v>
                </c:pt>
                <c:pt idx="10">
                  <c:v>1</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Sheet1!$B$2:$B$7</c:f>
              <c:numCache>
                <c:formatCode>General</c:formatCode>
                <c:ptCount val="6"/>
                <c:pt idx="0">
                  <c:v>16</c:v>
                </c:pt>
                <c:pt idx="1">
                  <c:v>7</c:v>
                </c:pt>
                <c:pt idx="2">
                  <c:v>8</c:v>
                </c:pt>
                <c:pt idx="3">
                  <c:v>9</c:v>
                </c:pt>
                <c:pt idx="4">
                  <c:v>2</c:v>
                </c:pt>
                <c:pt idx="5">
                  <c:v>2</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Sheet1!$C$2:$C$7</c:f>
              <c:numCache>
                <c:formatCode>General</c:formatCode>
                <c:ptCount val="6"/>
                <c:pt idx="0">
                  <c:v>10</c:v>
                </c:pt>
                <c:pt idx="1">
                  <c:v>12</c:v>
                </c:pt>
                <c:pt idx="2">
                  <c:v>2</c:v>
                </c:pt>
                <c:pt idx="3">
                  <c:v>2</c:v>
                </c:pt>
                <c:pt idx="4">
                  <c:v>4</c:v>
                </c:pt>
                <c:pt idx="5">
                  <c:v>0</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Sheet1!$D$2:$D$7</c:f>
              <c:numCache>
                <c:formatCode>General</c:formatCode>
                <c:ptCount val="6"/>
                <c:pt idx="0">
                  <c:v>5</c:v>
                </c:pt>
                <c:pt idx="1">
                  <c:v>4</c:v>
                </c:pt>
                <c:pt idx="2">
                  <c:v>2</c:v>
                </c:pt>
                <c:pt idx="3">
                  <c:v>1</c:v>
                </c:pt>
                <c:pt idx="4">
                  <c:v>1</c:v>
                </c:pt>
                <c:pt idx="5">
                  <c:v>1</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Sheet1!$E$2:$E$7</c:f>
              <c:numCache>
                <c:formatCode>General</c:formatCode>
                <c:ptCount val="6"/>
                <c:pt idx="0">
                  <c:v>2</c:v>
                </c:pt>
                <c:pt idx="1">
                  <c:v>3</c:v>
                </c:pt>
                <c:pt idx="2">
                  <c:v>0</c:v>
                </c:pt>
                <c:pt idx="3">
                  <c:v>1</c:v>
                </c:pt>
                <c:pt idx="4">
                  <c:v>2</c:v>
                </c:pt>
                <c:pt idx="5">
                  <c:v>0</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Sheet1!$F$2:$F$7</c:f>
              <c:numCache>
                <c:formatCode>General</c:formatCode>
                <c:ptCount val="6"/>
                <c:pt idx="0">
                  <c:v>2</c:v>
                </c:pt>
                <c:pt idx="1">
                  <c:v>0</c:v>
                </c:pt>
                <c:pt idx="2">
                  <c:v>2</c:v>
                </c:pt>
                <c:pt idx="3">
                  <c:v>0</c:v>
                </c:pt>
                <c:pt idx="4">
                  <c:v>0</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Sheet1!$D$2:$D$9</c:f>
              <c:numCache>
                <c:formatCode>General</c:formatCode>
                <c:ptCount val="8"/>
                <c:pt idx="0">
                  <c:v>7</c:v>
                </c:pt>
                <c:pt idx="1">
                  <c:v>0</c:v>
                </c:pt>
                <c:pt idx="2">
                  <c:v>3</c:v>
                </c:pt>
                <c:pt idx="3">
                  <c:v>4</c:v>
                </c:pt>
                <c:pt idx="4">
                  <c:v>5</c:v>
                </c:pt>
                <c:pt idx="5">
                  <c:v>0</c:v>
                </c:pt>
                <c:pt idx="6">
                  <c:v>1</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Sheet1!$E$2:$E$9</c:f>
              <c:numCache>
                <c:formatCode>General</c:formatCode>
                <c:ptCount val="8"/>
                <c:pt idx="0">
                  <c:v>3</c:v>
                </c:pt>
                <c:pt idx="1">
                  <c:v>0</c:v>
                </c:pt>
                <c:pt idx="2">
                  <c:v>3</c:v>
                </c:pt>
                <c:pt idx="3">
                  <c:v>0</c:v>
                </c:pt>
                <c:pt idx="4">
                  <c:v>3</c:v>
                </c:pt>
                <c:pt idx="5">
                  <c:v>4</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n=40 / Top 50 Insurance n=15)</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(Banking n=35 / Insurance n=10)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Sheet1!$D$2:$D$11</c:f>
              <c:numCache>
                <c:formatCode>General</c:formatCode>
                <c:ptCount val="10"/>
                <c:pt idx="0">
                  <c:v>0</c:v>
                </c:pt>
                <c:pt idx="1">
                  <c:v>0</c:v>
                </c:pt>
                <c:pt idx="2">
                  <c:v>0</c:v>
                </c:pt>
                <c:pt idx="3">
                  <c:v>0</c:v>
                </c:pt>
                <c:pt idx="4">
                  <c:v>0</c:v>
                </c:pt>
                <c:pt idx="5">
                  <c:v>0</c:v>
                </c:pt>
                <c:pt idx="6">
                  <c:v>0</c:v>
                </c:pt>
                <c:pt idx="7">
                  <c:v>0</c:v>
                </c:pt>
                <c:pt idx="8">
                  <c:v>7</c:v>
                </c:pt>
                <c:pt idx="9">
                  <c:v>10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Sheet1!$E$2:$E$11</c:f>
              <c:numCache>
                <c:formatCode>General</c:formatCode>
                <c:ptCount val="10"/>
                <c:pt idx="0">
                  <c:v>0</c:v>
                </c:pt>
                <c:pt idx="1">
                  <c:v>0</c:v>
                </c:pt>
                <c:pt idx="2">
                  <c:v>0</c:v>
                </c:pt>
                <c:pt idx="3">
                  <c:v>0</c:v>
                </c:pt>
                <c:pt idx="4">
                  <c:v>0</c:v>
                </c:pt>
                <c:pt idx="5">
                  <c:v>0</c:v>
                </c:pt>
                <c:pt idx="6">
                  <c:v>0</c:v>
                </c:pt>
                <c:pt idx="7">
                  <c:v>0</c:v>
                </c:pt>
                <c:pt idx="8">
                  <c:v>7</c:v>
                </c:pt>
                <c:pt idx="9">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Sheet1!$B$2:$B$13</c:f>
              <c:numCache>
                <c:formatCode>General</c:formatCode>
                <c:ptCount val="12"/>
                <c:pt idx="0">
                  <c:v>20</c:v>
                </c:pt>
                <c:pt idx="1">
                  <c:v>0</c:v>
                </c:pt>
                <c:pt idx="2">
                  <c:v>27</c:v>
                </c:pt>
                <c:pt idx="3">
                  <c:v>0</c:v>
                </c:pt>
                <c:pt idx="4">
                  <c:v>0</c:v>
                </c:pt>
                <c:pt idx="5">
                  <c:v>20</c:v>
                </c:pt>
                <c:pt idx="6">
                  <c:v>0</c:v>
                </c:pt>
                <c:pt idx="7">
                  <c:v>0</c:v>
                </c:pt>
                <c:pt idx="8">
                  <c:v>0</c:v>
                </c:pt>
                <c:pt idx="9">
                  <c:v>10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Sheet1!$C$2:$C$13</c:f>
              <c:numCache>
                <c:formatCode>General</c:formatCode>
                <c:ptCount val="12"/>
                <c:pt idx="0">
                  <c:v>20</c:v>
                </c:pt>
                <c:pt idx="1">
                  <c:v>10</c:v>
                </c:pt>
                <c:pt idx="2">
                  <c:v>7</c:v>
                </c:pt>
                <c:pt idx="3">
                  <c:v>20</c:v>
                </c:pt>
                <c:pt idx="4">
                  <c:v>7</c:v>
                </c:pt>
                <c:pt idx="5">
                  <c:v>0</c:v>
                </c:pt>
                <c:pt idx="6">
                  <c:v>7</c:v>
                </c:pt>
                <c:pt idx="7">
                  <c:v>20</c:v>
                </c:pt>
                <c:pt idx="8">
                  <c:v>0</c:v>
                </c:pt>
                <c:pt idx="9">
                  <c:v>10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Sheet1!$D$2:$D$13</c:f>
              <c:numCache>
                <c:formatCode>General</c:formatCode>
                <c:ptCount val="12"/>
                <c:pt idx="0">
                  <c:v>7</c:v>
                </c:pt>
                <c:pt idx="1">
                  <c:v>0</c:v>
                </c:pt>
                <c:pt idx="2">
                  <c:v>0</c:v>
                </c:pt>
                <c:pt idx="3">
                  <c:v>0</c:v>
                </c:pt>
                <c:pt idx="4">
                  <c:v>0</c:v>
                </c:pt>
                <c:pt idx="5">
                  <c:v>0</c:v>
                </c:pt>
                <c:pt idx="6">
                  <c:v>0</c:v>
                </c:pt>
                <c:pt idx="7">
                  <c:v>10</c:v>
                </c:pt>
                <c:pt idx="8">
                  <c:v>0</c:v>
                </c:pt>
                <c:pt idx="9">
                  <c:v>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7</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Sheet1!$B$2:$B$13</c:f>
              <c:numCache>
                <c:formatCode>General</c:formatCode>
                <c:ptCount val="12"/>
                <c:pt idx="0">
                  <c:v>27</c:v>
                </c:pt>
                <c:pt idx="1">
                  <c:v>10</c:v>
                </c:pt>
                <c:pt idx="2">
                  <c:v>7</c:v>
                </c:pt>
                <c:pt idx="3">
                  <c:v>20</c:v>
                </c:pt>
                <c:pt idx="4">
                  <c:v>7</c:v>
                </c:pt>
                <c:pt idx="5">
                  <c:v>0</c:v>
                </c:pt>
                <c:pt idx="6">
                  <c:v>7</c:v>
                </c:pt>
                <c:pt idx="7">
                  <c:v>0</c:v>
                </c:pt>
                <c:pt idx="8">
                  <c:v>0</c:v>
                </c:pt>
                <c:pt idx="9">
                  <c:v>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Sheet1!$C$2:$C$13</c:f>
              <c:numCache>
                <c:formatCode>General</c:formatCode>
                <c:ptCount val="12"/>
                <c:pt idx="0">
                  <c:v>13</c:v>
                </c:pt>
                <c:pt idx="1">
                  <c:v>30</c:v>
                </c:pt>
                <c:pt idx="2">
                  <c:v>20</c:v>
                </c:pt>
                <c:pt idx="3">
                  <c:v>10</c:v>
                </c:pt>
                <c:pt idx="4">
                  <c:v>7</c:v>
                </c:pt>
                <c:pt idx="5">
                  <c:v>20</c:v>
                </c:pt>
                <c:pt idx="6">
                  <c:v>0</c:v>
                </c:pt>
                <c:pt idx="7">
                  <c:v>0</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Sheet1!$D$2:$D$13</c:f>
              <c:numCache>
                <c:formatCode>General</c:formatCode>
                <c:ptCount val="12"/>
                <c:pt idx="0">
                  <c:v>0</c:v>
                </c:pt>
                <c:pt idx="1">
                  <c:v>0</c:v>
                </c:pt>
                <c:pt idx="2">
                  <c:v>0</c:v>
                </c:pt>
                <c:pt idx="3">
                  <c:v>0</c:v>
                </c:pt>
                <c:pt idx="4">
                  <c:v>7</c:v>
                </c:pt>
                <c:pt idx="5">
                  <c:v>0</c:v>
                </c:pt>
                <c:pt idx="6">
                  <c:v>0</c:v>
                </c:pt>
                <c:pt idx="7">
                  <c:v>0</c:v>
                </c:pt>
                <c:pt idx="8">
                  <c:v>0</c:v>
                </c:pt>
                <c:pt idx="9">
                  <c:v>10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7</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Sheet1!$B$2:$B$13</c:f>
              <c:numCache>
                <c:formatCode>General</c:formatCode>
                <c:ptCount val="12"/>
                <c:pt idx="0">
                  <c:v>20</c:v>
                </c:pt>
                <c:pt idx="1">
                  <c:v>17</c:v>
                </c:pt>
                <c:pt idx="2">
                  <c:v>10</c:v>
                </c:pt>
                <c:pt idx="3">
                  <c:v>11</c:v>
                </c:pt>
                <c:pt idx="4">
                  <c:v>0</c:v>
                </c:pt>
                <c:pt idx="5">
                  <c:v>6</c:v>
                </c:pt>
                <c:pt idx="6">
                  <c:v>0</c:v>
                </c:pt>
                <c:pt idx="7">
                  <c:v>9</c:v>
                </c:pt>
                <c:pt idx="8">
                  <c:v>0</c:v>
                </c:pt>
                <c:pt idx="9">
                  <c:v>14</c:v>
                </c:pt>
                <c:pt idx="10">
                  <c:v>5</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Sheet1!$C$2:$C$13</c:f>
              <c:numCache>
                <c:formatCode>General</c:formatCode>
                <c:ptCount val="12"/>
                <c:pt idx="0">
                  <c:v>5</c:v>
                </c:pt>
                <c:pt idx="1">
                  <c:v>6</c:v>
                </c:pt>
                <c:pt idx="2">
                  <c:v>12</c:v>
                </c:pt>
                <c:pt idx="3">
                  <c:v>9</c:v>
                </c:pt>
                <c:pt idx="4">
                  <c:v>2</c:v>
                </c:pt>
                <c:pt idx="5">
                  <c:v>0</c:v>
                </c:pt>
                <c:pt idx="6">
                  <c:v>2</c:v>
                </c:pt>
                <c:pt idx="7">
                  <c:v>0</c:v>
                </c:pt>
                <c:pt idx="8">
                  <c:v>2</c:v>
                </c:pt>
                <c:pt idx="9">
                  <c:v>0</c:v>
                </c:pt>
                <c:pt idx="10">
                  <c:v>8</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Sheet1!$D$2:$D$13</c:f>
              <c:numCache>
                <c:formatCode>General</c:formatCode>
                <c:ptCount val="12"/>
                <c:pt idx="0">
                  <c:v>5</c:v>
                </c:pt>
                <c:pt idx="1">
                  <c:v>6</c:v>
                </c:pt>
                <c:pt idx="2">
                  <c:v>5</c:v>
                </c:pt>
                <c:pt idx="3">
                  <c:v>3</c:v>
                </c:pt>
                <c:pt idx="4">
                  <c:v>2</c:v>
                </c:pt>
                <c:pt idx="5">
                  <c:v>3</c:v>
                </c:pt>
                <c:pt idx="6">
                  <c:v>0</c:v>
                </c:pt>
                <c:pt idx="7">
                  <c:v>0</c:v>
                </c:pt>
                <c:pt idx="8">
                  <c:v>2</c:v>
                </c:pt>
                <c:pt idx="9">
                  <c:v>0</c:v>
                </c:pt>
                <c:pt idx="10">
                  <c:v>2</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Sheet1!$E$2:$E$13</c:f>
              <c:numCache>
                <c:formatCode>General</c:formatCode>
                <c:ptCount val="12"/>
                <c:pt idx="0">
                  <c:v>2</c:v>
                </c:pt>
                <c:pt idx="1">
                  <c:v>6</c:v>
                </c:pt>
                <c:pt idx="2">
                  <c:v>5</c:v>
                </c:pt>
                <c:pt idx="3">
                  <c:v>0</c:v>
                </c:pt>
                <c:pt idx="4">
                  <c:v>2</c:v>
                </c:pt>
                <c:pt idx="5">
                  <c:v>0</c:v>
                </c:pt>
                <c:pt idx="6">
                  <c:v>0</c:v>
                </c:pt>
                <c:pt idx="7">
                  <c:v>3</c:v>
                </c:pt>
                <c:pt idx="8">
                  <c:v>0</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Sheet1!$F$2:$F$13</c:f>
              <c:numCache>
                <c:formatCode>General</c:formatCode>
                <c:ptCount val="12"/>
                <c:pt idx="0">
                  <c:v>2</c:v>
                </c:pt>
                <c:pt idx="1">
                  <c:v>0</c:v>
                </c:pt>
                <c:pt idx="2">
                  <c:v>0</c:v>
                </c:pt>
                <c:pt idx="3">
                  <c:v>3</c:v>
                </c:pt>
                <c:pt idx="4">
                  <c:v>0</c:v>
                </c:pt>
                <c:pt idx="5">
                  <c:v>3</c:v>
                </c:pt>
                <c:pt idx="6">
                  <c:v>2</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Sheet1!$B$2:$B$13</c:f>
              <c:numCache>
                <c:formatCode>General</c:formatCode>
                <c:ptCount val="12"/>
                <c:pt idx="0">
                  <c:v>10</c:v>
                </c:pt>
                <c:pt idx="1">
                  <c:v>20</c:v>
                </c:pt>
                <c:pt idx="2">
                  <c:v>8</c:v>
                </c:pt>
                <c:pt idx="3">
                  <c:v>14</c:v>
                </c:pt>
                <c:pt idx="4">
                  <c:v>10</c:v>
                </c:pt>
                <c:pt idx="5">
                  <c:v>11</c:v>
                </c:pt>
                <c:pt idx="6">
                  <c:v>5</c:v>
                </c:pt>
                <c:pt idx="7">
                  <c:v>3</c:v>
                </c:pt>
                <c:pt idx="8">
                  <c:v>0</c:v>
                </c:pt>
                <c:pt idx="9">
                  <c:v>9</c:v>
                </c:pt>
                <c:pt idx="10">
                  <c:v>2</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Sheet1!$C$2:$C$13</c:f>
              <c:numCache>
                <c:formatCode>General</c:formatCode>
                <c:ptCount val="12"/>
                <c:pt idx="0">
                  <c:v>20</c:v>
                </c:pt>
                <c:pt idx="1">
                  <c:v>9</c:v>
                </c:pt>
                <c:pt idx="2">
                  <c:v>10</c:v>
                </c:pt>
                <c:pt idx="3">
                  <c:v>0</c:v>
                </c:pt>
                <c:pt idx="4">
                  <c:v>2</c:v>
                </c:pt>
                <c:pt idx="5">
                  <c:v>3</c:v>
                </c:pt>
                <c:pt idx="6">
                  <c:v>0</c:v>
                </c:pt>
                <c:pt idx="7">
                  <c:v>3</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Sheet1!$D$2:$D$13</c:f>
              <c:numCache>
                <c:formatCode>General</c:formatCode>
                <c:ptCount val="12"/>
                <c:pt idx="0">
                  <c:v>10</c:v>
                </c:pt>
                <c:pt idx="1">
                  <c:v>6</c:v>
                </c:pt>
                <c:pt idx="2">
                  <c:v>5</c:v>
                </c:pt>
                <c:pt idx="3">
                  <c:v>3</c:v>
                </c:pt>
                <c:pt idx="4">
                  <c:v>2</c:v>
                </c:pt>
                <c:pt idx="5">
                  <c:v>0</c:v>
                </c:pt>
                <c:pt idx="6">
                  <c:v>0</c:v>
                </c:pt>
                <c:pt idx="7">
                  <c:v>3</c:v>
                </c:pt>
                <c:pt idx="8">
                  <c:v>0</c:v>
                </c:pt>
                <c:pt idx="9">
                  <c:v>0</c:v>
                </c:pt>
                <c:pt idx="10">
                  <c:v>0</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Sheet1!$E$2:$E$13</c:f>
              <c:numCache>
                <c:formatCode>General</c:formatCode>
                <c:ptCount val="12"/>
                <c:pt idx="0">
                  <c:v>0</c:v>
                </c:pt>
                <c:pt idx="1">
                  <c:v>3</c:v>
                </c:pt>
                <c:pt idx="2">
                  <c:v>5</c:v>
                </c:pt>
                <c:pt idx="3">
                  <c:v>3</c:v>
                </c:pt>
                <c:pt idx="4">
                  <c:v>0</c:v>
                </c:pt>
                <c:pt idx="5">
                  <c:v>3</c:v>
                </c:pt>
                <c:pt idx="6">
                  <c:v>2</c:v>
                </c:pt>
                <c:pt idx="7">
                  <c:v>0</c:v>
                </c:pt>
                <c:pt idx="8">
                  <c:v>2</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Sheet1!$F$2:$F$13</c:f>
              <c:numCache>
                <c:formatCode>General</c:formatCode>
                <c:ptCount val="12"/>
                <c:pt idx="0">
                  <c:v>0</c:v>
                </c:pt>
                <c:pt idx="1">
                  <c:v>6</c:v>
                </c:pt>
                <c:pt idx="2">
                  <c:v>5</c:v>
                </c:pt>
                <c:pt idx="3">
                  <c:v>0</c:v>
                </c:pt>
                <c:pt idx="4">
                  <c:v>0</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Sheet1!$B$2:$B$4</c:f>
              <c:numCache>
                <c:formatCode>General</c:formatCode>
                <c:ptCount val="3"/>
                <c:pt idx="0">
                  <c:v>18</c:v>
                </c:pt>
                <c:pt idx="1">
                  <c:v>19</c:v>
                </c:pt>
                <c:pt idx="2">
                  <c:v>7</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Sheet1!$C$2:$C$4</c:f>
              <c:numCache>
                <c:formatCode>General</c:formatCode>
                <c:ptCount val="3"/>
                <c:pt idx="0">
                  <c:v>19</c:v>
                </c:pt>
                <c:pt idx="1">
                  <c:v>9</c:v>
                </c:pt>
                <c:pt idx="2">
                  <c:v>2</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Sheet1!$D$2:$D$4</c:f>
              <c:numCache>
                <c:formatCode>General</c:formatCode>
                <c:ptCount val="3"/>
                <c:pt idx="0">
                  <c:v>5</c:v>
                </c:pt>
                <c:pt idx="1">
                  <c:v>7</c:v>
                </c:pt>
                <c:pt idx="2">
                  <c:v>2</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Sheet1!$E$2:$E$4</c:f>
              <c:numCache>
                <c:formatCode>General</c:formatCode>
                <c:ptCount val="3"/>
                <c:pt idx="0">
                  <c:v>5</c:v>
                </c:pt>
                <c:pt idx="1">
                  <c:v>2</c:v>
                </c:pt>
                <c:pt idx="2">
                  <c:v>1</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Sheet1!$F$2:$F$4</c:f>
              <c:numCache>
                <c:formatCode>General</c:formatCode>
                <c:ptCount val="3"/>
                <c:pt idx="0">
                  <c:v>1</c:v>
                </c:pt>
                <c:pt idx="1">
                  <c:v>2</c:v>
                </c:pt>
                <c:pt idx="2">
                  <c:v>1</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Sheet1!$B$2:$B$7</c:f>
              <c:numCache>
                <c:formatCode>General</c:formatCode>
                <c:ptCount val="6"/>
                <c:pt idx="0">
                  <c:v>33</c:v>
                </c:pt>
                <c:pt idx="1">
                  <c:v>32</c:v>
                </c:pt>
                <c:pt idx="2">
                  <c:v>25</c:v>
                </c:pt>
                <c:pt idx="3">
                  <c:v>18</c:v>
                </c:pt>
                <c:pt idx="4">
                  <c:v>16</c:v>
                </c:pt>
                <c:pt idx="5">
                  <c:v>8</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Sheet1!$C$2:$C$7</c:f>
              <c:numCache>
                <c:formatCode>General</c:formatCode>
                <c:ptCount val="6"/>
                <c:pt idx="0">
                  <c:v>21</c:v>
                </c:pt>
                <c:pt idx="1">
                  <c:v>19</c:v>
                </c:pt>
                <c:pt idx="2">
                  <c:v>22</c:v>
                </c:pt>
                <c:pt idx="3">
                  <c:v>6</c:v>
                </c:pt>
                <c:pt idx="4">
                  <c:v>8</c:v>
                </c:pt>
                <c:pt idx="5">
                  <c:v>14</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Sheet1!$D$2:$D$7</c:f>
              <c:numCache>
                <c:formatCode>General</c:formatCode>
                <c:ptCount val="6"/>
                <c:pt idx="0">
                  <c:v>8</c:v>
                </c:pt>
                <c:pt idx="1">
                  <c:v>9</c:v>
                </c:pt>
                <c:pt idx="2">
                  <c:v>9</c:v>
                </c:pt>
                <c:pt idx="3">
                  <c:v>7</c:v>
                </c:pt>
                <c:pt idx="4">
                  <c:v>5</c:v>
                </c:pt>
                <c:pt idx="5">
                  <c:v>4</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Sheet1!$E$2:$E$7</c:f>
              <c:numCache>
                <c:formatCode>General</c:formatCode>
                <c:ptCount val="6"/>
                <c:pt idx="0">
                  <c:v>6</c:v>
                </c:pt>
                <c:pt idx="1">
                  <c:v>4</c:v>
                </c:pt>
                <c:pt idx="2">
                  <c:v>5</c:v>
                </c:pt>
                <c:pt idx="3">
                  <c:v>3</c:v>
                </c:pt>
                <c:pt idx="4">
                  <c:v>3</c:v>
                </c:pt>
                <c:pt idx="5">
                  <c:v>3</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Sheet1!$F$2:$F$7</c:f>
              <c:numCache>
                <c:formatCode>General</c:formatCode>
                <c:ptCount val="6"/>
                <c:pt idx="0">
                  <c:v>3</c:v>
                </c:pt>
                <c:pt idx="1">
                  <c:v>2</c:v>
                </c:pt>
                <c:pt idx="2">
                  <c:v>4</c:v>
                </c:pt>
                <c:pt idx="3">
                  <c:v>2</c:v>
                </c:pt>
                <c:pt idx="4">
                  <c:v>1</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36.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8932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barrier mix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04672"/>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6099048"/>
            <a:ext cx="11188598" cy="3200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71032"/>
            <a:ext cx="11188598" cy="43891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Region sample sizes — Top 100: US n=14, Canada n=13, Europe n=7, Australia n=4, Singapore n=2. Large: US n=20, Canada n=5, Europe n=5, Australia n=3, Singapore n=2. Australia and Singapore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607161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0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08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Region sample sizes — Top 50: US n=7, Canada n=6, Europe n=1, Australia n=1. Large: US n=3, Canada n=6, Europe n=1 (no Australia; neither tier has Singapore respondents). Europe and Australia cells are extremely thin — each is a single UK/Australian respondent — shown for completeness, not statistical reliability. Large includes 1 respondent (Canada) reclassified from their employer description elsewhere in the survey (see the sector x tier slide).</a:t>
            </a:r>
            <a:endParaRPr lang="en-US" sz="850" dirty="0"/>
          </a:p>
        </p:txBody>
      </p:sp>
      <p:sp>
        <p:nvSpPr>
          <p:cNvPr id="10" name="Text 7"/>
          <p:cNvSpPr txBox="1"/>
          <p:nvPr/>
        </p:nvSpPr>
        <p:spPr>
          <a:xfrm>
            <a:off x="502006" y="6071616"/>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25</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the regional pattern is thin but directionally consistent with the tier-level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Looking ahead, Insurance's regional pattern shifts further toward AI and process redesign in both tiers.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today; Large institutions show a more even regional spread.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AI's three-year lead holds across nearly every region and tier in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leans even more toward fixing existing gaps.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Canada stands out for prioritizing Open Banking well above its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 shown is each region's share of the full 100-respondent sample who placed the option anywhere in their top 3, so segments sum to the overall figure in each category label (bars don't sum to 100%).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2026-09-25T18:48:23Z</dcterms:created>
  <dcterms:modified xsi:type="dcterms:W3CDTF">2026-09-25T18:48:23Z</dcterms:modified>
</cp:coreProperties>
</file>