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6.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7.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8.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(US &amp; Canada only, 56%)</c:v>
                  </c:pt>
                  <c:pt idx="2">
                    <c:v>ID verification / prevention — Banking (51%)</c:v>
                  </c:pt>
                  <c:pt idx="3">
                    <c:v>ID verification / prevention — Insurance (US &amp; Canada only, 44%)</c:v>
                  </c:pt>
                  <c:pt idx="4">
                    <c:v>Fraud detection technology — Banking (48%)</c:v>
                  </c:pt>
                  <c:pt idx="5">
                    <c:v>Fraud detection technology — Insurance (US &amp; Canada only, 36%)</c:v>
                  </c:pt>
                  <c:pt idx="6">
                    <c:v>3rd-party intel / consortium — Banking (43%)</c:v>
                  </c:pt>
                  <c:pt idx="7">
                    <c:v>3rd-party intel / consortium — Insurance (US &amp; Canada only, 40%)</c:v>
                  </c:pt>
                </c:lvl>
              </c:multiLvlStrCache>
            </c:multiLvlStrRef>
          </c:cat>
          <c:val>
            <c:numRef>
              <c:f>Sheet1!$B$2:$B$9</c:f>
              <c:numCache>
                <c:formatCode>General</c:formatCode>
                <c:ptCount val="8"/>
                <c:pt idx="0">
                  <c:v>23</c:v>
                </c:pt>
                <c:pt idx="1">
                  <c:v>20</c:v>
                </c:pt>
                <c:pt idx="2">
                  <c:v>24</c:v>
                </c:pt>
                <c:pt idx="3">
                  <c:v>24</c:v>
                </c:pt>
                <c:pt idx="4">
                  <c:v>21</c:v>
                </c:pt>
                <c:pt idx="5">
                  <c:v>8</c:v>
                </c:pt>
                <c:pt idx="6">
                  <c:v>12</c:v>
                </c:pt>
                <c:pt idx="7">
                  <c:v>20</c:v>
                </c:pt>
              </c:numCache>
            </c:numRef>
          </c:val>
        </c:ser>
        <c:ser>
          <c:idx val="1"/>
          <c:order val="1"/>
          <c:tx>
            <c:strRef>
              <c:f>Sheet1!$C$1</c:f>
              <c:strCache>
                <c:ptCount val="1"/>
                <c:pt idx="0">
                  <c:v>Canada</c:v>
                </c:pt>
              </c:strCache>
            </c:strRef>
          </c:tx>
          <c:spPr>
            <a:solidFill>
              <a:srgbClr val="43B02A"/>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(US &amp; Canada only, 56%)</c:v>
                  </c:pt>
                  <c:pt idx="2">
                    <c:v>ID verification / prevention — Banking (51%)</c:v>
                  </c:pt>
                  <c:pt idx="3">
                    <c:v>ID verification / prevention — Insurance (US &amp; Canada only, 44%)</c:v>
                  </c:pt>
                  <c:pt idx="4">
                    <c:v>Fraud detection technology — Banking (48%)</c:v>
                  </c:pt>
                  <c:pt idx="5">
                    <c:v>Fraud detection technology — Insurance (US &amp; Canada only, 36%)</c:v>
                  </c:pt>
                  <c:pt idx="6">
                    <c:v>3rd-party intel / consortium — Banking (43%)</c:v>
                  </c:pt>
                  <c:pt idx="7">
                    <c:v>3rd-party intel / consortium — Insurance (US &amp; Canada only, 40%)</c:v>
                  </c:pt>
                </c:lvl>
              </c:multiLvlStrCache>
            </c:multiLvlStrRef>
          </c:cat>
          <c:val>
            <c:numRef>
              <c:f>Sheet1!$C$2:$C$9</c:f>
              <c:numCache>
                <c:formatCode>General</c:formatCode>
                <c:ptCount val="8"/>
                <c:pt idx="0">
                  <c:v>16</c:v>
                </c:pt>
                <c:pt idx="1">
                  <c:v>36</c:v>
                </c:pt>
                <c:pt idx="2">
                  <c:v>13</c:v>
                </c:pt>
                <c:pt idx="3">
                  <c:v>20</c:v>
                </c:pt>
                <c:pt idx="4">
                  <c:v>12</c:v>
                </c:pt>
                <c:pt idx="5">
                  <c:v>28</c:v>
                </c:pt>
                <c:pt idx="6">
                  <c:v>15</c:v>
                </c:pt>
                <c:pt idx="7">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(US &amp; Canada only, 56%)</c:v>
                  </c:pt>
                  <c:pt idx="2">
                    <c:v>ID verification / prevention — Banking (51%)</c:v>
                  </c:pt>
                  <c:pt idx="3">
                    <c:v>ID verification / prevention — Insurance (US &amp; Canada only, 44%)</c:v>
                  </c:pt>
                  <c:pt idx="4">
                    <c:v>Fraud detection technology — Banking (48%)</c:v>
                  </c:pt>
                  <c:pt idx="5">
                    <c:v>Fraud detection technology — Insurance (US &amp; Canada only, 36%)</c:v>
                  </c:pt>
                  <c:pt idx="6">
                    <c:v>3rd-party intel / consortium — Banking (43%)</c:v>
                  </c:pt>
                  <c:pt idx="7">
                    <c:v>3rd-party intel / consortium — Insurance (US &amp; Canada only, 40%)</c:v>
                  </c:pt>
                </c:lvl>
              </c:multiLvlStrCache>
            </c:multiLvlStrRef>
          </c:cat>
          <c:val>
            <c:numRef>
              <c:f>Sheet1!$D$2:$D$9</c:f>
              <c:numCache>
                <c:formatCode>General</c:formatCode>
                <c:ptCount val="8"/>
                <c:pt idx="0">
                  <c:v>5</c:v>
                </c:pt>
                <c:pt idx="1">
                  <c:v>0</c:v>
                </c:pt>
                <c:pt idx="2">
                  <c:v>8</c:v>
                </c:pt>
                <c:pt idx="3">
                  <c:v>0</c:v>
                </c:pt>
                <c:pt idx="4">
                  <c:v>8</c:v>
                </c:pt>
                <c:pt idx="5">
                  <c:v>0</c:v>
                </c:pt>
                <c:pt idx="6">
                  <c:v>7</c:v>
                </c:pt>
                <c:pt idx="7">
                  <c:v>0</c:v>
                </c:pt>
              </c:numCache>
            </c:numRef>
          </c:val>
        </c:ser>
        <c:ser>
          <c:idx val="3"/>
          <c:order val="3"/>
          <c:tx>
            <c:strRef>
              <c:f>Sheet1!$E$1</c:f>
              <c:strCache>
                <c:ptCount val="1"/>
                <c:pt idx="0">
                  <c:v>Australia</c:v>
                </c:pt>
              </c:strCache>
            </c:strRef>
          </c:tx>
          <c:spPr>
            <a:solidFill>
              <a:srgbClr val="0D8390"/>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(US &amp; Canada only, 56%)</c:v>
                  </c:pt>
                  <c:pt idx="2">
                    <c:v>ID verification / prevention — Banking (51%)</c:v>
                  </c:pt>
                  <c:pt idx="3">
                    <c:v>ID verification / prevention — Insurance (US &amp; Canada only, 44%)</c:v>
                  </c:pt>
                  <c:pt idx="4">
                    <c:v>Fraud detection technology — Banking (48%)</c:v>
                  </c:pt>
                  <c:pt idx="5">
                    <c:v>Fraud detection technology — Insurance (US &amp; Canada only, 36%)</c:v>
                  </c:pt>
                  <c:pt idx="6">
                    <c:v>3rd-party intel / consortium — Banking (43%)</c:v>
                  </c:pt>
                  <c:pt idx="7">
                    <c:v>3rd-party intel / consortium — Insurance (US &amp; Canada only, 40%)</c:v>
                  </c:pt>
                </c:lvl>
              </c:multiLvlStrCache>
            </c:multiLvlStrRef>
          </c:cat>
          <c:val>
            <c:numRef>
              <c:f>Sheet1!$E$2:$E$9</c:f>
              <c:numCache>
                <c:formatCode>General</c:formatCode>
                <c:ptCount val="8"/>
                <c:pt idx="0">
                  <c:v>3</c:v>
                </c:pt>
                <c:pt idx="1">
                  <c:v>0</c:v>
                </c:pt>
                <c:pt idx="2">
                  <c:v>3</c:v>
                </c:pt>
                <c:pt idx="3">
                  <c:v>0</c:v>
                </c:pt>
                <c:pt idx="4">
                  <c:v>4</c:v>
                </c:pt>
                <c:pt idx="5">
                  <c:v>0</c:v>
                </c:pt>
                <c:pt idx="6">
                  <c:v>7</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(US &amp; Canada only, 56%)</c:v>
                  </c:pt>
                  <c:pt idx="2">
                    <c:v>ID verification / prevention — Banking (51%)</c:v>
                  </c:pt>
                  <c:pt idx="3">
                    <c:v>ID verification / prevention — Insurance (US &amp; Canada only, 44%)</c:v>
                  </c:pt>
                  <c:pt idx="4">
                    <c:v>Fraud detection technology — Banking (48%)</c:v>
                  </c:pt>
                  <c:pt idx="5">
                    <c:v>Fraud detection technology — Insurance (US &amp; Canada only, 36%)</c:v>
                  </c:pt>
                  <c:pt idx="6">
                    <c:v>3rd-party intel / consortium — Banking (43%)</c:v>
                  </c:pt>
                  <c:pt idx="7">
                    <c:v>3rd-party intel / consortium — Insurance (US &amp; Canada only, 40%)</c:v>
                  </c:pt>
                </c:lvl>
              </c:multiLvlStrCache>
            </c:multiLvlStrRef>
          </c:cat>
          <c:val>
            <c:numRef>
              <c:f>Sheet1!$F$2:$F$9</c:f>
              <c:numCache>
                <c:formatCode>General</c:formatCode>
                <c:ptCount val="8"/>
                <c:pt idx="0">
                  <c:v>3</c:v>
                </c:pt>
                <c:pt idx="1">
                  <c:v>0</c:v>
                </c:pt>
                <c:pt idx="2">
                  <c:v>3</c:v>
                </c:pt>
                <c:pt idx="3">
                  <c:v>0</c:v>
                </c:pt>
                <c:pt idx="4">
                  <c:v>3</c:v>
                </c:pt>
                <c:pt idx="5">
                  <c:v>0</c:v>
                </c:pt>
                <c:pt idx="6">
                  <c:v>3</c:v>
                </c:pt>
                <c:pt idx="7">
                  <c:v>0</c:v>
                </c:pt>
              </c:numCache>
            </c:numRef>
          </c:val>
        </c:ser>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mix of obstacles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6692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8000"/>
              </a:lnSpc>
              <a:buNone/>
            </a:pPr>
            <a:r>
              <a:rPr lang="en-US" sz="850" dirty="0">
                <a:solidFill>
                  <a:srgbClr val="53565A"/>
                </a:solidFill>
                <a:latin typeface="Calibri" pitchFamily="34" charset="0"/>
                <a:ea typeface="Calibri" pitchFamily="34" charset="-122"/>
                <a:cs typeface="Calibri" pitchFamily="34" charset="-120"/>
              </a:rPr>
              <a:t>The % in each Banking category label is the full sector-level figure; stacked region segments are rounded to the nearest whole percent and may sum to within ±1pt of that total. Banking/Australia (n=7) and Banking/Singapore (n=4) are thin samples shown directionally. Insurance bars reflect only its United States and Canada respondents (n=22 of 25) — UK (n=2), Australia (n=1), and Singapore (n=0) are excluded here for insufficient individual sample size, so Insurance's stacked totals run below the full-sample figures shown on the previous slide (64%, 48%, 40%, 44%).</a:t>
            </a:r>
            <a:endParaRPr lang="en-US" sz="850" dirty="0"/>
          </a:p>
        </p:txBody>
      </p:sp>
      <p:sp>
        <p:nvSpPr>
          <p:cNvPr id="10" name="Text 7"/>
          <p:cNvSpPr txBox="1"/>
          <p:nvPr/>
        </p:nvSpPr>
        <p:spPr>
          <a:xfrm>
            <a:off x="502006" y="5897880"/>
            <a:ext cx="11188598" cy="3200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13</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2026-09-25T15:54:37Z</dcterms:created>
  <dcterms:modified xsi:type="dcterms:W3CDTF">2026-09-25T15:54:37Z</dcterms:modified>
</cp:coreProperties>
</file>