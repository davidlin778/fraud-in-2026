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5.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8.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9.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6.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4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42.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57.xml" ContentType="application/vnd.openxmlformats-officedocument.drawingml.chart+xml"/>
  <Override PartName="/ppt/charts/chart58.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59.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60.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0.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75.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charts/chart76.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charts/chart77.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charts/chart78.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charts/chart79.xml" ContentType="application/vnd.openxmlformats-officedocument.drawingml.chart+xml"/>
  <Override PartName="/ppt/charts/chart80.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0.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charts/chart91.xml" ContentType="application/vnd.openxmlformats-officedocument.drawingml.chart+xml"/>
  <Override PartName="/ppt/charts/chart92.xml" ContentType="application/vnd.openxmlformats-officedocument.drawingml.chart+xml"/>
  <Override PartName="/ppt/slideMasters/slideMaster44.xml" ContentType="application/vnd.openxmlformats-officedocument.presentationml.slideMaster+xml"/>
  <Override PartName="/ppt/slides/slide44.xml" ContentType="application/vnd.openxmlformats-officedocument.presentationml.slide+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charts/chart100.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charts/chart101.xml" ContentType="application/vnd.openxmlformats-officedocument.drawingml.chart+xml"/>
  <Override PartName="/ppt/charts/chart102.xml" ContentType="application/vnd.openxmlformats-officedocument.drawingml.chart+xml"/>
  <Override PartName="/ppt/slideMasters/slideMaster48.xml" ContentType="application/vnd.openxmlformats-officedocument.presentationml.slideMaster+xml"/>
  <Override PartName="/ppt/slides/slide48.xml" ContentType="application/vnd.openxmlformats-officedocument.presentationml.slide+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slideMasters/slideMaster50.xml" ContentType="application/vnd.openxmlformats-officedocument.presentationml.slideMaster+xml"/>
  <Override PartName="/ppt/slides/slide50.xml" ContentType="application/vnd.openxmlformats-officedocument.presentationml.slide+xml"/>
  <Override PartName="/ppt/charts/chart110.xml" ContentType="application/vnd.openxmlformats-officedocument.drawingml.chart+xml"/>
  <Override PartName="/ppt/charts/chart111.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charts/chart122.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charts/chart123.xml" ContentType="application/vnd.openxmlformats-officedocument.drawingml.chart+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charts/chart128.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charts/chart129.xml" ContentType="application/vnd.openxmlformats-officedocument.drawingml.chart+xml"/>
  <Override PartName="/ppt/slideMasters/slideMaster58.xml" ContentType="application/vnd.openxmlformats-officedocument.presentationml.slideMaster+xml"/>
  <Override PartName="/ppt/slides/slide58.xml" ContentType="application/vnd.openxmlformats-officedocument.presentationml.slide+xml"/>
  <Override PartName="/ppt/charts/chart130.xml" ContentType="application/vnd.openxmlformats-officedocument.drawingml.chart+xml"/>
  <Override PartName="/ppt/slideMasters/slideMaster59.xml" ContentType="application/vnd.openxmlformats-officedocument.presentationml.slideMaster+xml"/>
  <Override PartName="/ppt/slides/slide59.xml" ContentType="application/vnd.openxmlformats-officedocument.presentationml.slide+xml"/>
  <Override PartName="/ppt/charts/chart131.xml" ContentType="application/vnd.openxmlformats-officedocument.drawingml.chart+xml"/>
  <Override PartName="/ppt/slideMasters/slideMaster60.xml" ContentType="application/vnd.openxmlformats-officedocument.presentationml.slideMaster+xml"/>
  <Override PartName="/ppt/slides/slide60.xml" ContentType="application/vnd.openxmlformats-officedocument.presentationml.slide+xml"/>
  <Override PartName="/ppt/charts/chart132.xml" ContentType="application/vnd.openxmlformats-officedocument.drawingml.chart+xml"/>
  <Override PartName="/ppt/charts/chart133.xml" ContentType="application/vnd.openxmlformats-officedocument.drawingml.chart+xml"/>
  <Override PartName="/ppt/charts/chart134.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Relationships xmlns="http://schemas.openxmlformats.org/package/2006/relationships"><Relationship Id="rId1" Type="http://schemas.openxmlformats.org/officeDocument/2006/relationships/package" Target="../embeddings/Microsoft_Excel_Worksheet41.xlsx"/></Relationships>
</file>

<file path=ppt/charts/_rels/chart42.xml.rels><?xml version="1.0" encoding="UTF-8" standalone="yes"?><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Relationships xmlns="http://schemas.openxmlformats.org/package/2006/relationships"><Relationship Id="rId1" Type="http://schemas.openxmlformats.org/officeDocument/2006/relationships/package" Target="../embeddings/Microsoft_Excel_Worksheet43.xlsx"/></Relationships>
</file>

<file path=ppt/charts/_rels/chart44.xml.rels><?xml version="1.0" encoding="UTF-8" standalone="yes"?><Relationships xmlns="http://schemas.openxmlformats.org/package/2006/relationships"><Relationship Id="rId1" Type="http://schemas.openxmlformats.org/officeDocument/2006/relationships/package" Target="../embeddings/Microsoft_Excel_Worksheet44.xlsx"/></Relationships>
</file>

<file path=ppt/charts/_rels/chart45.xml.rels><?xml version="1.0" encoding="UTF-8" standalone="yes"?><Relationships xmlns="http://schemas.openxmlformats.org/package/2006/relationships"><Relationship Id="rId1" Type="http://schemas.openxmlformats.org/officeDocument/2006/relationships/package" Target="../embeddings/Microsoft_Excel_Worksheet45.xlsx"/></Relationships>
</file>

<file path=ppt/charts/_rels/chart46.xml.rels><?xml version="1.0" encoding="UTF-8" standalone="yes"?><Relationships xmlns="http://schemas.openxmlformats.org/package/2006/relationships"><Relationship Id="rId1" Type="http://schemas.openxmlformats.org/officeDocument/2006/relationships/package" Target="../embeddings/Microsoft_Excel_Worksheet46.xlsx"/></Relationships>
</file>

<file path=ppt/charts/_rels/chart47.xml.rels><?xml version="1.0" encoding="UTF-8" standalone="yes"?><Relationships xmlns="http://schemas.openxmlformats.org/package/2006/relationships"><Relationship Id="rId1" Type="http://schemas.openxmlformats.org/officeDocument/2006/relationships/package" Target="../embeddings/Microsoft_Excel_Worksheet47.xlsx"/></Relationships>
</file>

<file path=ppt/charts/_rels/chart48.xml.rels><?xml version="1.0" encoding="UTF-8" standalone="yes"?><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Relationships xmlns="http://schemas.openxmlformats.org/package/2006/relationships"><Relationship Id="rId1" Type="http://schemas.openxmlformats.org/officeDocument/2006/relationships/package" Target="../embeddings/Microsoft_Excel_Worksheet52.xlsx"/></Relationships>
</file>

<file path=ppt/charts/_rels/chart53.xml.rels><?xml version="1.0" encoding="UTF-8" standalone="yes"?><Relationships xmlns="http://schemas.openxmlformats.org/package/2006/relationships"><Relationship Id="rId1" Type="http://schemas.openxmlformats.org/officeDocument/2006/relationships/package" Target="../embeddings/Microsoft_Excel_Worksheet53.xlsx"/></Relationships>
</file>

<file path=ppt/charts/_rels/chart54.xml.rels><?xml version="1.0" encoding="UTF-8" standalone="yes"?><Relationships xmlns="http://schemas.openxmlformats.org/package/2006/relationships"><Relationship Id="rId1" Type="http://schemas.openxmlformats.org/officeDocument/2006/relationships/package" Target="../embeddings/Microsoft_Excel_Worksheet54.xlsx"/></Relationships>
</file>

<file path=ppt/charts/_rels/chart55.xml.rels><?xml version="1.0" encoding="UTF-8" standalone="yes"?><Relationships xmlns="http://schemas.openxmlformats.org/package/2006/relationships"><Relationship Id="rId1" Type="http://schemas.openxmlformats.org/officeDocument/2006/relationships/package" Target="../embeddings/Microsoft_Excel_Worksheet55.xlsx"/></Relationships>
</file>

<file path=ppt/charts/_rels/chart56.xml.rels><?xml version="1.0" encoding="UTF-8" standalone="yes"?><Relationships xmlns="http://schemas.openxmlformats.org/package/2006/relationships"><Relationship Id="rId1" Type="http://schemas.openxmlformats.org/officeDocument/2006/relationships/package" Target="../embeddings/Microsoft_Excel_Worksheet56.xlsx"/></Relationships>
</file>

<file path=ppt/charts/_rels/chart57.xml.rels><?xml version="1.0" encoding="UTF-8" standalone="yes"?><Relationships xmlns="http://schemas.openxmlformats.org/package/2006/relationships"><Relationship Id="rId1" Type="http://schemas.openxmlformats.org/officeDocument/2006/relationships/package" Target="../embeddings/Microsoft_Excel_Worksheet57.xlsx"/></Relationships>
</file>

<file path=ppt/charts/_rels/chart58.xml.rels><?xml version="1.0" encoding="UTF-8" standalone="yes"?><Relationships xmlns="http://schemas.openxmlformats.org/package/2006/relationships"><Relationship Id="rId1" Type="http://schemas.openxmlformats.org/officeDocument/2006/relationships/package" Target="../embeddings/Microsoft_Excel_Worksheet58.xlsx"/></Relationships>
</file>

<file path=ppt/charts/_rels/chart59.xml.rels><?xml version="1.0" encoding="UTF-8" standalone="yes"?><Relationships xmlns="http://schemas.openxmlformats.org/package/2006/relationships"><Relationship Id="rId1" Type="http://schemas.openxmlformats.org/officeDocument/2006/relationships/package" Target="../embeddings/Microsoft_Excel_Worksheet59.xlsx"/></Relationships>
</file>

<file path=ppt/charts/_rels/chart60.xml.rels><?xml version="1.0" encoding="UTF-8" standalone="yes"?><Relationships xmlns="http://schemas.openxmlformats.org/package/2006/relationships"><Relationship Id="rId1" Type="http://schemas.openxmlformats.org/officeDocument/2006/relationships/package" Target="../embeddings/Microsoft_Excel_Worksheet60.xlsx"/></Relationships>
</file>

<file path=ppt/charts/_rels/chart61.xml.rels><?xml version="1.0" encoding="UTF-8" standalone="yes"?><Relationships xmlns="http://schemas.openxmlformats.org/package/2006/relationships"><Relationship Id="rId1" Type="http://schemas.openxmlformats.org/officeDocument/2006/relationships/package" Target="../embeddings/Microsoft_Excel_Worksheet61.xlsx"/></Relationships>
</file>

<file path=ppt/charts/_rels/chart62.xml.rels><?xml version="1.0" encoding="UTF-8" standalone="yes"?><Relationships xmlns="http://schemas.openxmlformats.org/package/2006/relationships"><Relationship Id="rId1" Type="http://schemas.openxmlformats.org/officeDocument/2006/relationships/package" Target="../embeddings/Microsoft_Excel_Worksheet62.xlsx"/></Relationships>
</file>

<file path=ppt/charts/_rels/chart63.xml.rels><?xml version="1.0" encoding="UTF-8" standalone="yes"?><Relationships xmlns="http://schemas.openxmlformats.org/package/2006/relationships"><Relationship Id="rId1" Type="http://schemas.openxmlformats.org/officeDocument/2006/relationships/package" Target="../embeddings/Microsoft_Excel_Worksheet63.xlsx"/></Relationships>
</file>

<file path=ppt/charts/_rels/chart64.xml.rels><?xml version="1.0" encoding="UTF-8" standalone="yes"?><Relationships xmlns="http://schemas.openxmlformats.org/package/2006/relationships"><Relationship Id="rId1" Type="http://schemas.openxmlformats.org/officeDocument/2006/relationships/package" Target="../embeddings/Microsoft_Excel_Worksheet64.xlsx"/></Relationships>
</file>

<file path=ppt/charts/_rels/chart65.xml.rels><?xml version="1.0" encoding="UTF-8" standalone="yes"?><Relationships xmlns="http://schemas.openxmlformats.org/package/2006/relationships"><Relationship Id="rId1" Type="http://schemas.openxmlformats.org/officeDocument/2006/relationships/package" Target="../embeddings/Microsoft_Excel_Worksheet65.xlsx"/></Relationships>
</file>

<file path=ppt/charts/_rels/chart66.xml.rels><?xml version="1.0" encoding="UTF-8" standalone="yes"?><Relationships xmlns="http://schemas.openxmlformats.org/package/2006/relationships"><Relationship Id="rId1" Type="http://schemas.openxmlformats.org/officeDocument/2006/relationships/package" Target="../embeddings/Microsoft_Excel_Worksheet66.xlsx"/></Relationships>
</file>

<file path=ppt/charts/_rels/chart67.xml.rels><?xml version="1.0" encoding="UTF-8" standalone="yes"?><Relationships xmlns="http://schemas.openxmlformats.org/package/2006/relationships"><Relationship Id="rId1" Type="http://schemas.openxmlformats.org/officeDocument/2006/relationships/package" Target="../embeddings/Microsoft_Excel_Worksheet67.xlsx"/></Relationships>
</file>

<file path=ppt/charts/_rels/chart68.xml.rels><?xml version="1.0" encoding="UTF-8" standalone="yes"?><Relationships xmlns="http://schemas.openxmlformats.org/package/2006/relationships"><Relationship Id="rId1" Type="http://schemas.openxmlformats.org/officeDocument/2006/relationships/package" Target="../embeddings/Microsoft_Excel_Worksheet68.xlsx"/></Relationships>
</file>

<file path=ppt/charts/_rels/chart69.xml.rels><?xml version="1.0" encoding="UTF-8" standalone="yes"?><Relationships xmlns="http://schemas.openxmlformats.org/package/2006/relationships"><Relationship Id="rId1" Type="http://schemas.openxmlformats.org/officeDocument/2006/relationships/package" Target="../embeddings/Microsoft_Excel_Worksheet69.xlsx"/></Relationships>
</file>

<file path=ppt/charts/_rels/chart70.xml.rels><?xml version="1.0" encoding="UTF-8" standalone="yes"?><Relationships xmlns="http://schemas.openxmlformats.org/package/2006/relationships"><Relationship Id="rId1" Type="http://schemas.openxmlformats.org/officeDocument/2006/relationships/package" Target="../embeddings/Microsoft_Excel_Worksheet70.xlsx"/></Relationships>
</file>

<file path=ppt/charts/_rels/chart71.xml.rels><?xml version="1.0" encoding="UTF-8" standalone="yes"?><Relationships xmlns="http://schemas.openxmlformats.org/package/2006/relationships"><Relationship Id="rId1" Type="http://schemas.openxmlformats.org/officeDocument/2006/relationships/package" Target="../embeddings/Microsoft_Excel_Worksheet71.xlsx"/></Relationships>
</file>

<file path=ppt/charts/_rels/chart72.xml.rels><?xml version="1.0" encoding="UTF-8" standalone="yes"?><Relationships xmlns="http://schemas.openxmlformats.org/package/2006/relationships"><Relationship Id="rId1" Type="http://schemas.openxmlformats.org/officeDocument/2006/relationships/package" Target="../embeddings/Microsoft_Excel_Worksheet72.xlsx"/></Relationships>
</file>

<file path=ppt/charts/_rels/chart73.xml.rels><?xml version="1.0" encoding="UTF-8" standalone="yes"?><Relationships xmlns="http://schemas.openxmlformats.org/package/2006/relationships"><Relationship Id="rId1" Type="http://schemas.openxmlformats.org/officeDocument/2006/relationships/package" Target="../embeddings/Microsoft_Excel_Worksheet73.xlsx"/></Relationships>
</file>

<file path=ppt/charts/_rels/chart74.xml.rels><?xml version="1.0" encoding="UTF-8" standalone="yes"?><Relationships xmlns="http://schemas.openxmlformats.org/package/2006/relationships"><Relationship Id="rId1" Type="http://schemas.openxmlformats.org/officeDocument/2006/relationships/package" Target="../embeddings/Microsoft_Excel_Worksheet74.xlsx"/></Relationships>
</file>

<file path=ppt/charts/_rels/chart75.xml.rels><?xml version="1.0" encoding="UTF-8" standalone="yes"?><Relationships xmlns="http://schemas.openxmlformats.org/package/2006/relationships"><Relationship Id="rId1" Type="http://schemas.openxmlformats.org/officeDocument/2006/relationships/package" Target="../embeddings/Microsoft_Excel_Worksheet75.xlsx"/></Relationships>
</file>

<file path=ppt/charts/_rels/chart76.xml.rels><?xml version="1.0" encoding="UTF-8" standalone="yes"?><Relationships xmlns="http://schemas.openxmlformats.org/package/2006/relationships"><Relationship Id="rId1" Type="http://schemas.openxmlformats.org/officeDocument/2006/relationships/package" Target="../embeddings/Microsoft_Excel_Worksheet76.xlsx"/></Relationships>
</file>

<file path=ppt/charts/_rels/chart77.xml.rels><?xml version="1.0" encoding="UTF-8" standalone="yes"?><Relationships xmlns="http://schemas.openxmlformats.org/package/2006/relationships"><Relationship Id="rId1" Type="http://schemas.openxmlformats.org/officeDocument/2006/relationships/package" Target="../embeddings/Microsoft_Excel_Worksheet77.xlsx"/></Relationships>
</file>

<file path=ppt/charts/_rels/chart78.xml.rels><?xml version="1.0" encoding="UTF-8" standalone="yes"?><Relationships xmlns="http://schemas.openxmlformats.org/package/2006/relationships"><Relationship Id="rId1" Type="http://schemas.openxmlformats.org/officeDocument/2006/relationships/package" Target="../embeddings/Microsoft_Excel_Worksheet78.xlsx"/></Relationships>
</file>

<file path=ppt/charts/_rels/chart79.xml.rels><?xml version="1.0" encoding="UTF-8" standalone="yes"?><Relationships xmlns="http://schemas.openxmlformats.org/package/2006/relationships"><Relationship Id="rId1" Type="http://schemas.openxmlformats.org/officeDocument/2006/relationships/package" Target="../embeddings/Microsoft_Excel_Worksheet79.xlsx"/></Relationships>
</file>

<file path=ppt/charts/_rels/chart80.xml.rels><?xml version="1.0" encoding="UTF-8" standalone="yes"?><Relationships xmlns="http://schemas.openxmlformats.org/package/2006/relationships"><Relationship Id="rId1" Type="http://schemas.openxmlformats.org/officeDocument/2006/relationships/package" Target="../embeddings/Microsoft_Excel_Worksheet80.xlsx"/></Relationships>
</file>

<file path=ppt/charts/_rels/chart81.xml.rels><?xml version="1.0" encoding="UTF-8" standalone="yes"?><Relationships xmlns="http://schemas.openxmlformats.org/package/2006/relationships"><Relationship Id="rId1" Type="http://schemas.openxmlformats.org/officeDocument/2006/relationships/package" Target="../embeddings/Microsoft_Excel_Worksheet81.xlsx"/></Relationships>
</file>

<file path=ppt/charts/_rels/chart82.xml.rels><?xml version="1.0" encoding="UTF-8" standalone="yes"?><Relationships xmlns="http://schemas.openxmlformats.org/package/2006/relationships"><Relationship Id="rId1" Type="http://schemas.openxmlformats.org/officeDocument/2006/relationships/package" Target="../embeddings/Microsoft_Excel_Worksheet82.xlsx"/></Relationships>
</file>

<file path=ppt/charts/_rels/chart83.xml.rels><?xml version="1.0" encoding="UTF-8" standalone="yes"?><Relationships xmlns="http://schemas.openxmlformats.org/package/2006/relationships"><Relationship Id="rId1" Type="http://schemas.openxmlformats.org/officeDocument/2006/relationships/package" Target="../embeddings/Microsoft_Excel_Worksheet83.xlsx"/></Relationships>
</file>

<file path=ppt/charts/_rels/chart84.xml.rels><?xml version="1.0" encoding="UTF-8" standalone="yes"?><Relationships xmlns="http://schemas.openxmlformats.org/package/2006/relationships"><Relationship Id="rId1" Type="http://schemas.openxmlformats.org/officeDocument/2006/relationships/package" Target="../embeddings/Microsoft_Excel_Worksheet84.xlsx"/></Relationships>
</file>

<file path=ppt/charts/_rels/chart85.xml.rels><?xml version="1.0" encoding="UTF-8" standalone="yes"?><Relationships xmlns="http://schemas.openxmlformats.org/package/2006/relationships"><Relationship Id="rId1" Type="http://schemas.openxmlformats.org/officeDocument/2006/relationships/package" Target="../embeddings/Microsoft_Excel_Worksheet85.xlsx"/></Relationships>
</file>

<file path=ppt/charts/_rels/chart86.xml.rels><?xml version="1.0" encoding="UTF-8" standalone="yes"?><Relationships xmlns="http://schemas.openxmlformats.org/package/2006/relationships"><Relationship Id="rId1" Type="http://schemas.openxmlformats.org/officeDocument/2006/relationships/package" Target="../embeddings/Microsoft_Excel_Worksheet86.xlsx"/></Relationships>
</file>

<file path=ppt/charts/_rels/chart87.xml.rels><?xml version="1.0" encoding="UTF-8" standalone="yes"?><Relationships xmlns="http://schemas.openxmlformats.org/package/2006/relationships"><Relationship Id="rId1" Type="http://schemas.openxmlformats.org/officeDocument/2006/relationships/package" Target="../embeddings/Microsoft_Excel_Worksheet87.xlsx"/></Relationships>
</file>

<file path=ppt/charts/_rels/chart88.xml.rels><?xml version="1.0" encoding="UTF-8" standalone="yes"?><Relationships xmlns="http://schemas.openxmlformats.org/package/2006/relationships"><Relationship Id="rId1" Type="http://schemas.openxmlformats.org/officeDocument/2006/relationships/package" Target="../embeddings/Microsoft_Excel_Worksheet88.xlsx"/></Relationships>
</file>

<file path=ppt/charts/_rels/chart89.xml.rels><?xml version="1.0" encoding="UTF-8" standalone="yes"?><Relationships xmlns="http://schemas.openxmlformats.org/package/2006/relationships"><Relationship Id="rId1" Type="http://schemas.openxmlformats.org/officeDocument/2006/relationships/package" Target="../embeddings/Microsoft_Excel_Worksheet89.xlsx"/></Relationships>
</file>

<file path=ppt/charts/_rels/chart90.xml.rels><?xml version="1.0" encoding="UTF-8" standalone="yes"?><Relationships xmlns="http://schemas.openxmlformats.org/package/2006/relationships"><Relationship Id="rId1" Type="http://schemas.openxmlformats.org/officeDocument/2006/relationships/package" Target="../embeddings/Microsoft_Excel_Worksheet90.xlsx"/></Relationships>
</file>

<file path=ppt/charts/_rels/chart91.xml.rels><?xml version="1.0" encoding="UTF-8" standalone="yes"?><Relationships xmlns="http://schemas.openxmlformats.org/package/2006/relationships"><Relationship Id="rId1" Type="http://schemas.openxmlformats.org/officeDocument/2006/relationships/package" Target="../embeddings/Microsoft_Excel_Worksheet91.xlsx"/></Relationships>
</file>

<file path=ppt/charts/_rels/chart92.xml.rels><?xml version="1.0" encoding="UTF-8" standalone="yes"?><Relationships xmlns="http://schemas.openxmlformats.org/package/2006/relationships"><Relationship Id="rId1" Type="http://schemas.openxmlformats.org/officeDocument/2006/relationships/package" Target="../embeddings/Microsoft_Excel_Worksheet92.xlsx"/></Relationships>
</file>

<file path=ppt/charts/_rels/chart93.xml.rels><?xml version="1.0" encoding="UTF-8" standalone="yes"?><Relationships xmlns="http://schemas.openxmlformats.org/package/2006/relationships"><Relationship Id="rId1" Type="http://schemas.openxmlformats.org/officeDocument/2006/relationships/package" Target="../embeddings/Microsoft_Excel_Worksheet93.xlsx"/></Relationships>
</file>

<file path=ppt/charts/_rels/chart94.xml.rels><?xml version="1.0" encoding="UTF-8" standalone="yes"?><Relationships xmlns="http://schemas.openxmlformats.org/package/2006/relationships"><Relationship Id="rId1" Type="http://schemas.openxmlformats.org/officeDocument/2006/relationships/package" Target="../embeddings/Microsoft_Excel_Worksheet94.xlsx"/></Relationships>
</file>

<file path=ppt/charts/_rels/chart95.xml.rels><?xml version="1.0" encoding="UTF-8" standalone="yes"?><Relationships xmlns="http://schemas.openxmlformats.org/package/2006/relationships"><Relationship Id="rId1" Type="http://schemas.openxmlformats.org/officeDocument/2006/relationships/package" Target="../embeddings/Microsoft_Excel_Worksheet95.xlsx"/></Relationships>
</file>

<file path=ppt/charts/_rels/chart96.xml.rels><?xml version="1.0" encoding="UTF-8" standalone="yes"?><Relationships xmlns="http://schemas.openxmlformats.org/package/2006/relationships"><Relationship Id="rId1" Type="http://schemas.openxmlformats.org/officeDocument/2006/relationships/package" Target="../embeddings/Microsoft_Excel_Worksheet96.xlsx"/></Relationships>
</file>

<file path=ppt/charts/_rels/chart97.xml.rels><?xml version="1.0" encoding="UTF-8" standalone="yes"?><Relationships xmlns="http://schemas.openxmlformats.org/package/2006/relationships"><Relationship Id="rId1" Type="http://schemas.openxmlformats.org/officeDocument/2006/relationships/package" Target="../embeddings/Microsoft_Excel_Worksheet97.xlsx"/></Relationships>
</file>

<file path=ppt/charts/_rels/chart98.xml.rels><?xml version="1.0" encoding="UTF-8" standalone="yes"?><Relationships xmlns="http://schemas.openxmlformats.org/package/2006/relationships"><Relationship Id="rId1" Type="http://schemas.openxmlformats.org/officeDocument/2006/relationships/package" Target="../embeddings/Microsoft_Excel_Worksheet98.xlsx"/></Relationships>
</file>

<file path=ppt/charts/_rels/chart99.xml.rels><?xml version="1.0" encoding="UTF-8" standalone="yes"?><Relationships xmlns="http://schemas.openxmlformats.org/package/2006/relationships"><Relationship Id="rId1" Type="http://schemas.openxmlformats.org/officeDocument/2006/relationships/package" Target="../embeddings/Microsoft_Excel_Worksheet99.xlsx"/></Relationships>
</file>

<file path=ppt/charts/_rels/chart100.xml.rels><?xml version="1.0" encoding="UTF-8" standalone="yes"?><Relationships xmlns="http://schemas.openxmlformats.org/package/2006/relationships"><Relationship Id="rId1" Type="http://schemas.openxmlformats.org/officeDocument/2006/relationships/package" Target="../embeddings/Microsoft_Excel_Worksheet100.xlsx"/></Relationships>
</file>

<file path=ppt/charts/_rels/chart101.xml.rels><?xml version="1.0" encoding="UTF-8" standalone="yes"?><Relationships xmlns="http://schemas.openxmlformats.org/package/2006/relationships"><Relationship Id="rId1" Type="http://schemas.openxmlformats.org/officeDocument/2006/relationships/package" Target="../embeddings/Microsoft_Excel_Worksheet101.xlsx"/></Relationships>
</file>

<file path=ppt/charts/_rels/chart102.xml.rels><?xml version="1.0" encoding="UTF-8" standalone="yes"?><Relationships xmlns="http://schemas.openxmlformats.org/package/2006/relationships"><Relationship Id="rId1" Type="http://schemas.openxmlformats.org/officeDocument/2006/relationships/package" Target="../embeddings/Microsoft_Excel_Worksheet102.xlsx"/></Relationships>
</file>

<file path=ppt/charts/_rels/chart103.xml.rels><?xml version="1.0" encoding="UTF-8" standalone="yes"?><Relationships xmlns="http://schemas.openxmlformats.org/package/2006/relationships"><Relationship Id="rId1" Type="http://schemas.openxmlformats.org/officeDocument/2006/relationships/package" Target="../embeddings/Microsoft_Excel_Worksheet103.xlsx"/></Relationships>
</file>

<file path=ppt/charts/_rels/chart104.xml.rels><?xml version="1.0" encoding="UTF-8" standalone="yes"?><Relationships xmlns="http://schemas.openxmlformats.org/package/2006/relationships"><Relationship Id="rId1" Type="http://schemas.openxmlformats.org/officeDocument/2006/relationships/package" Target="../embeddings/Microsoft_Excel_Worksheet104.xlsx"/></Relationships>
</file>

<file path=ppt/charts/_rels/chart105.xml.rels><?xml version="1.0" encoding="UTF-8" standalone="yes"?><Relationships xmlns="http://schemas.openxmlformats.org/package/2006/relationships"><Relationship Id="rId1" Type="http://schemas.openxmlformats.org/officeDocument/2006/relationships/package" Target="../embeddings/Microsoft_Excel_Worksheet105.xlsx"/></Relationships>
</file>

<file path=ppt/charts/_rels/chart106.xml.rels><?xml version="1.0" encoding="UTF-8" standalone="yes"?><Relationships xmlns="http://schemas.openxmlformats.org/package/2006/relationships"><Relationship Id="rId1" Type="http://schemas.openxmlformats.org/officeDocument/2006/relationships/package" Target="../embeddings/Microsoft_Excel_Worksheet106.xlsx"/></Relationships>
</file>

<file path=ppt/charts/_rels/chart107.xml.rels><?xml version="1.0" encoding="UTF-8" standalone="yes"?><Relationships xmlns="http://schemas.openxmlformats.org/package/2006/relationships"><Relationship Id="rId1" Type="http://schemas.openxmlformats.org/officeDocument/2006/relationships/package" Target="../embeddings/Microsoft_Excel_Worksheet107.xlsx"/></Relationships>
</file>

<file path=ppt/charts/_rels/chart108.xml.rels><?xml version="1.0" encoding="UTF-8" standalone="yes"?><Relationships xmlns="http://schemas.openxmlformats.org/package/2006/relationships"><Relationship Id="rId1" Type="http://schemas.openxmlformats.org/officeDocument/2006/relationships/package" Target="../embeddings/Microsoft_Excel_Worksheet108.xlsx"/></Relationships>
</file>

<file path=ppt/charts/_rels/chart109.xml.rels><?xml version="1.0" encoding="UTF-8" standalone="yes"?><Relationships xmlns="http://schemas.openxmlformats.org/package/2006/relationships"><Relationship Id="rId1" Type="http://schemas.openxmlformats.org/officeDocument/2006/relationships/package" Target="../embeddings/Microsoft_Excel_Worksheet109.xlsx"/></Relationships>
</file>

<file path=ppt/charts/_rels/chart110.xml.rels><?xml version="1.0" encoding="UTF-8" standalone="yes"?><Relationships xmlns="http://schemas.openxmlformats.org/package/2006/relationships"><Relationship Id="rId1" Type="http://schemas.openxmlformats.org/officeDocument/2006/relationships/package" Target="../embeddings/Microsoft_Excel_Worksheet110.xlsx"/></Relationships>
</file>

<file path=ppt/charts/_rels/chart111.xml.rels><?xml version="1.0" encoding="UTF-8" standalone="yes"?><Relationships xmlns="http://schemas.openxmlformats.org/package/2006/relationships"><Relationship Id="rId1" Type="http://schemas.openxmlformats.org/officeDocument/2006/relationships/package" Target="../embeddings/Microsoft_Excel_Worksheet111.xlsx"/></Relationships>
</file>

<file path=ppt/charts/_rels/chart112.xml.rels><?xml version="1.0" encoding="UTF-8" standalone="yes"?><Relationships xmlns="http://schemas.openxmlformats.org/package/2006/relationships"><Relationship Id="rId1" Type="http://schemas.openxmlformats.org/officeDocument/2006/relationships/package" Target="../embeddings/Microsoft_Excel_Worksheet112.xlsx"/></Relationships>
</file>

<file path=ppt/charts/_rels/chart113.xml.rels><?xml version="1.0" encoding="UTF-8" standalone="yes"?><Relationships xmlns="http://schemas.openxmlformats.org/package/2006/relationships"><Relationship Id="rId1" Type="http://schemas.openxmlformats.org/officeDocument/2006/relationships/package" Target="../embeddings/Microsoft_Excel_Worksheet113.xlsx"/></Relationships>
</file>

<file path=ppt/charts/_rels/chart114.xml.rels><?xml version="1.0" encoding="UTF-8" standalone="yes"?><Relationships xmlns="http://schemas.openxmlformats.org/package/2006/relationships"><Relationship Id="rId1" Type="http://schemas.openxmlformats.org/officeDocument/2006/relationships/package" Target="../embeddings/Microsoft_Excel_Worksheet114.xlsx"/></Relationships>
</file>

<file path=ppt/charts/_rels/chart115.xml.rels><?xml version="1.0" encoding="UTF-8" standalone="yes"?><Relationships xmlns="http://schemas.openxmlformats.org/package/2006/relationships"><Relationship Id="rId1" Type="http://schemas.openxmlformats.org/officeDocument/2006/relationships/package" Target="../embeddings/Microsoft_Excel_Worksheet115.xlsx"/></Relationships>
</file>

<file path=ppt/charts/_rels/chart116.xml.rels><?xml version="1.0" encoding="UTF-8" standalone="yes"?><Relationships xmlns="http://schemas.openxmlformats.org/package/2006/relationships"><Relationship Id="rId1" Type="http://schemas.openxmlformats.org/officeDocument/2006/relationships/package" Target="../embeddings/Microsoft_Excel_Worksheet116.xlsx"/></Relationships>
</file>

<file path=ppt/charts/_rels/chart117.xml.rels><?xml version="1.0" encoding="UTF-8" standalone="yes"?><Relationships xmlns="http://schemas.openxmlformats.org/package/2006/relationships"><Relationship Id="rId1" Type="http://schemas.openxmlformats.org/officeDocument/2006/relationships/package" Target="../embeddings/Microsoft_Excel_Worksheet117.xlsx"/></Relationships>
</file>

<file path=ppt/charts/_rels/chart118.xml.rels><?xml version="1.0" encoding="UTF-8" standalone="yes"?><Relationships xmlns="http://schemas.openxmlformats.org/package/2006/relationships"><Relationship Id="rId1" Type="http://schemas.openxmlformats.org/officeDocument/2006/relationships/package" Target="../embeddings/Microsoft_Excel_Worksheet118.xlsx"/></Relationships>
</file>

<file path=ppt/charts/_rels/chart119.xml.rels><?xml version="1.0" encoding="UTF-8" standalone="yes"?><Relationships xmlns="http://schemas.openxmlformats.org/package/2006/relationships"><Relationship Id="rId1" Type="http://schemas.openxmlformats.org/officeDocument/2006/relationships/package" Target="../embeddings/Microsoft_Excel_Worksheet119.xlsx"/></Relationships>
</file>

<file path=ppt/charts/_rels/chart120.xml.rels><?xml version="1.0" encoding="UTF-8" standalone="yes"?><Relationships xmlns="http://schemas.openxmlformats.org/package/2006/relationships"><Relationship Id="rId1" Type="http://schemas.openxmlformats.org/officeDocument/2006/relationships/package" Target="../embeddings/Microsoft_Excel_Worksheet120.xlsx"/></Relationships>
</file>

<file path=ppt/charts/_rels/chart121.xml.rels><?xml version="1.0" encoding="UTF-8" standalone="yes"?><Relationships xmlns="http://schemas.openxmlformats.org/package/2006/relationships"><Relationship Id="rId1" Type="http://schemas.openxmlformats.org/officeDocument/2006/relationships/package" Target="../embeddings/Microsoft_Excel_Worksheet121.xlsx"/></Relationships>
</file>

<file path=ppt/charts/_rels/chart122.xml.rels><?xml version="1.0" encoding="UTF-8" standalone="yes"?><Relationships xmlns="http://schemas.openxmlformats.org/package/2006/relationships"><Relationship Id="rId1" Type="http://schemas.openxmlformats.org/officeDocument/2006/relationships/package" Target="../embeddings/Microsoft_Excel_Worksheet122.xlsx"/></Relationships>
</file>

<file path=ppt/charts/_rels/chart123.xml.rels><?xml version="1.0" encoding="UTF-8" standalone="yes"?><Relationships xmlns="http://schemas.openxmlformats.org/package/2006/relationships"><Relationship Id="rId1" Type="http://schemas.openxmlformats.org/officeDocument/2006/relationships/package" Target="../embeddings/Microsoft_Excel_Worksheet123.xlsx"/></Relationships>
</file>

<file path=ppt/charts/_rels/chart124.xml.rels><?xml version="1.0" encoding="UTF-8" standalone="yes"?><Relationships xmlns="http://schemas.openxmlformats.org/package/2006/relationships"><Relationship Id="rId1" Type="http://schemas.openxmlformats.org/officeDocument/2006/relationships/package" Target="../embeddings/Microsoft_Excel_Worksheet124.xlsx"/></Relationships>
</file>

<file path=ppt/charts/_rels/chart125.xml.rels><?xml version="1.0" encoding="UTF-8" standalone="yes"?><Relationships xmlns="http://schemas.openxmlformats.org/package/2006/relationships"><Relationship Id="rId1" Type="http://schemas.openxmlformats.org/officeDocument/2006/relationships/package" Target="../embeddings/Microsoft_Excel_Worksheet125.xlsx"/></Relationships>
</file>

<file path=ppt/charts/_rels/chart126.xml.rels><?xml version="1.0" encoding="UTF-8" standalone="yes"?><Relationships xmlns="http://schemas.openxmlformats.org/package/2006/relationships"><Relationship Id="rId1" Type="http://schemas.openxmlformats.org/officeDocument/2006/relationships/package" Target="../embeddings/Microsoft_Excel_Worksheet126.xlsx"/></Relationships>
</file>

<file path=ppt/charts/_rels/chart127.xml.rels><?xml version="1.0" encoding="UTF-8" standalone="yes"?><Relationships xmlns="http://schemas.openxmlformats.org/package/2006/relationships"><Relationship Id="rId1" Type="http://schemas.openxmlformats.org/officeDocument/2006/relationships/package" Target="../embeddings/Microsoft_Excel_Worksheet127.xlsx"/></Relationships>
</file>

<file path=ppt/charts/_rels/chart128.xml.rels><?xml version="1.0" encoding="UTF-8" standalone="yes"?><Relationships xmlns="http://schemas.openxmlformats.org/package/2006/relationships"><Relationship Id="rId1" Type="http://schemas.openxmlformats.org/officeDocument/2006/relationships/package" Target="../embeddings/Microsoft_Excel_Worksheet128.xlsx"/></Relationships>
</file>

<file path=ppt/charts/_rels/chart129.xml.rels><?xml version="1.0" encoding="UTF-8" standalone="yes"?><Relationships xmlns="http://schemas.openxmlformats.org/package/2006/relationships"><Relationship Id="rId1" Type="http://schemas.openxmlformats.org/officeDocument/2006/relationships/package" Target="../embeddings/Microsoft_Excel_Worksheet129.xlsx"/></Relationships>
</file>

<file path=ppt/charts/_rels/chart130.xml.rels><?xml version="1.0" encoding="UTF-8" standalone="yes"?><Relationships xmlns="http://schemas.openxmlformats.org/package/2006/relationships"><Relationship Id="rId1" Type="http://schemas.openxmlformats.org/officeDocument/2006/relationships/package" Target="../embeddings/Microsoft_Excel_Worksheet130.xlsx"/></Relationships>
</file>

<file path=ppt/charts/_rels/chart131.xml.rels><?xml version="1.0" encoding="UTF-8" standalone="yes"?><Relationships xmlns="http://schemas.openxmlformats.org/package/2006/relationships"><Relationship Id="rId1" Type="http://schemas.openxmlformats.org/officeDocument/2006/relationships/package" Target="../embeddings/Microsoft_Excel_Worksheet131.xlsx"/></Relationships>
</file>

<file path=ppt/charts/_rels/chart132.xml.rels><?xml version="1.0" encoding="UTF-8" standalone="yes"?><Relationships xmlns="http://schemas.openxmlformats.org/package/2006/relationships"><Relationship Id="rId1" Type="http://schemas.openxmlformats.org/officeDocument/2006/relationships/package" Target="../embeddings/Microsoft_Excel_Worksheet132.xlsx"/></Relationships>
</file>

<file path=ppt/charts/_rels/chart133.xml.rels><?xml version="1.0" encoding="UTF-8" standalone="yes"?><Relationships xmlns="http://schemas.openxmlformats.org/package/2006/relationships"><Relationship Id="rId1" Type="http://schemas.openxmlformats.org/officeDocument/2006/relationships/package" Target="../embeddings/Microsoft_Excel_Worksheet133.xlsx"/></Relationships>
</file>

<file path=ppt/charts/_rels/chart134.xml.rels><?xml version="1.0" encoding="UTF-8" standalone="yes"?><Relationships xmlns="http://schemas.openxmlformats.org/package/2006/relationships"><Relationship Id="rId1" Type="http://schemas.openxmlformats.org/officeDocument/2006/relationships/package" Target="../embeddings/Microsoft_Excel_Worksheet134.xlsx"/></Relationships>
</file>

<file path=ppt/charts/_rels/chart135.xml.rels><?xml version="1.0" encoding="UTF-8" standalone="yes"?><Relationships xmlns="http://schemas.openxmlformats.org/package/2006/relationships"><Relationship Id="rId1" Type="http://schemas.openxmlformats.org/officeDocument/2006/relationships/package" Target="../embeddings/Microsoft_Excel_Worksheet135.xlsx"/></Relationships>
</file>

<file path=ppt/charts/_rels/chart136.xml.rels><?xml version="1.0" encoding="UTF-8" standalone="yes"?><Relationships xmlns="http://schemas.openxmlformats.org/package/2006/relationships"><Relationship Id="rId1" Type="http://schemas.openxmlformats.org/officeDocument/2006/relationships/package" Target="../embeddings/Microsoft_Excel_Worksheet13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Banking (n=75)</c:v>
                </c:pt>
              </c:strCache>
            </c:strRef>
          </c:tx>
          <c:spPr>
            <a:solidFill>
              <a:srgbClr val="86BC25"/>
            </a:solidFill>
            <a:effectLst/>
          </c:spPr>
          <c:invertIfNegative val="0"/>
          <c:dLbls>
            <c:numFmt formatCode="0&quot;%&quot;"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United States</c:v>
                  </c:pt>
                  <c:pt idx="1">
                    <c:v>Canada</c:v>
                  </c:pt>
                  <c:pt idx="2">
                    <c:v>United Kingdom</c:v>
                  </c:pt>
                  <c:pt idx="3">
                    <c:v>Australia</c:v>
                  </c:pt>
                  <c:pt idx="4">
                    <c:v>Singapore</c:v>
                  </c:pt>
                  <c:pt idx="5">
                    <c:v>EU</c:v>
                  </c:pt>
                </c:lvl>
              </c:multiLvlStrCache>
            </c:multiLvlStrRef>
          </c:cat>
          <c:val>
            <c:numRef>
              <c:f>Sheet1!$B$2:$B$7</c:f>
              <c:numCache>
                <c:formatCode>General</c:formatCode>
                <c:ptCount val="6"/>
                <c:pt idx="0">
                  <c:v>45</c:v>
                </c:pt>
                <c:pt idx="1">
                  <c:v>24</c:v>
                </c:pt>
                <c:pt idx="2">
                  <c:v>12</c:v>
                </c:pt>
                <c:pt idx="3">
                  <c:v>9</c:v>
                </c:pt>
                <c:pt idx="4">
                  <c:v>5</c:v>
                </c:pt>
                <c:pt idx="5">
                  <c:v>4</c:v>
                </c:pt>
              </c:numCache>
            </c:numRef>
          </c:val>
        </c:ser>
        <c:ser>
          <c:idx val="1"/>
          <c:order val="1"/>
          <c:tx>
            <c:strRef>
              <c:f>Sheet1!$C$1</c:f>
              <c:strCache>
                <c:ptCount val="1"/>
                <c:pt idx="0">
                  <c:v>Insurance (n=25)</c:v>
                </c:pt>
              </c:strCache>
            </c:strRef>
          </c:tx>
          <c:spPr>
            <a:solidFill>
              <a:srgbClr val="046A38"/>
            </a:solidFill>
            <a:effectLst/>
          </c:spPr>
          <c:invertIfNegative val="0"/>
          <c:dLbls>
            <c:numFmt formatCode="0&quot;%&quot;"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United States</c:v>
                  </c:pt>
                  <c:pt idx="1">
                    <c:v>Canada</c:v>
                  </c:pt>
                  <c:pt idx="2">
                    <c:v>United Kingdom</c:v>
                  </c:pt>
                  <c:pt idx="3">
                    <c:v>Australia</c:v>
                  </c:pt>
                  <c:pt idx="4">
                    <c:v>Singapore</c:v>
                  </c:pt>
                  <c:pt idx="5">
                    <c:v>EU</c:v>
                  </c:pt>
                </c:lvl>
              </c:multiLvlStrCache>
            </c:multiLvlStrRef>
          </c:cat>
          <c:val>
            <c:numRef>
              <c:f>Sheet1!$C$2:$C$7</c:f>
              <c:numCache>
                <c:formatCode>General</c:formatCode>
                <c:ptCount val="6"/>
                <c:pt idx="0">
                  <c:v>40</c:v>
                </c:pt>
                <c:pt idx="1">
                  <c:v>48</c:v>
                </c:pt>
                <c:pt idx="2">
                  <c:v>8</c:v>
                </c:pt>
                <c:pt idx="3">
                  <c:v>4</c:v>
                </c:pt>
                <c:pt idx="4">
                  <c:v>0</c:v>
                </c:pt>
                <c:pt idx="5">
                  <c:v>0</c:v>
                </c:pt>
              </c:numCache>
            </c:numRef>
          </c:val>
        </c:ser>
        <c:dLbls>
          <c:numFmt formatCode="0&quot;%&quot;"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Banking (n=75)</c:v>
                </c:pt>
              </c:strCache>
            </c:strRef>
          </c:tx>
          <c:spPr>
            <a:solidFill>
              <a:srgbClr val="86BC25"/>
            </a:solidFill>
            <a:effectLst/>
          </c:spPr>
          <c:invertIfNegative val="0"/>
          <c:dLbls>
            <c:numFmt formatCode="0&quot;%&quot;"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Fraud Operations</c:v>
                  </c:pt>
                  <c:pt idx="1">
                    <c:v>Fraud Analytics/Intelligence</c:v>
                  </c:pt>
                  <c:pt idx="2">
                    <c:v>Fraud Strategy &amp; Transformation</c:v>
                  </c:pt>
                  <c:pt idx="3">
                    <c:v>Fraud Risk &amp; Governance</c:v>
                  </c:pt>
                  <c:pt idx="4">
                    <c:v>Fraud Investigations Unit</c:v>
                  </c:pt>
                  <c:pt idx="5">
                    <c:v>Special Investigations Unit</c:v>
                  </c:pt>
                </c:lvl>
              </c:multiLvlStrCache>
            </c:multiLvlStrRef>
          </c:cat>
          <c:val>
            <c:numRef>
              <c:f>Sheet1!$B$2:$B$7</c:f>
              <c:numCache>
                <c:formatCode>General</c:formatCode>
                <c:ptCount val="6"/>
                <c:pt idx="0">
                  <c:v>27</c:v>
                </c:pt>
                <c:pt idx="1">
                  <c:v>20</c:v>
                </c:pt>
                <c:pt idx="2">
                  <c:v>20</c:v>
                </c:pt>
                <c:pt idx="3">
                  <c:v>19</c:v>
                </c:pt>
                <c:pt idx="4">
                  <c:v>8</c:v>
                </c:pt>
                <c:pt idx="5">
                  <c:v>7</c:v>
                </c:pt>
              </c:numCache>
            </c:numRef>
          </c:val>
        </c:ser>
        <c:ser>
          <c:idx val="1"/>
          <c:order val="1"/>
          <c:tx>
            <c:strRef>
              <c:f>Sheet1!$C$1</c:f>
              <c:strCache>
                <c:ptCount val="1"/>
                <c:pt idx="0">
                  <c:v>Insurance (n=25)</c:v>
                </c:pt>
              </c:strCache>
            </c:strRef>
          </c:tx>
          <c:spPr>
            <a:solidFill>
              <a:srgbClr val="046A38"/>
            </a:solidFill>
            <a:effectLst/>
          </c:spPr>
          <c:invertIfNegative val="0"/>
          <c:dLbls>
            <c:numFmt formatCode="0&quot;%&quot;"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Fraud Operations</c:v>
                  </c:pt>
                  <c:pt idx="1">
                    <c:v>Fraud Analytics/Intelligence</c:v>
                  </c:pt>
                  <c:pt idx="2">
                    <c:v>Fraud Strategy &amp; Transformation</c:v>
                  </c:pt>
                  <c:pt idx="3">
                    <c:v>Fraud Risk &amp; Governance</c:v>
                  </c:pt>
                  <c:pt idx="4">
                    <c:v>Fraud Investigations Unit</c:v>
                  </c:pt>
                  <c:pt idx="5">
                    <c:v>Special Investigations Unit</c:v>
                  </c:pt>
                </c:lvl>
              </c:multiLvlStrCache>
            </c:multiLvlStrRef>
          </c:cat>
          <c:val>
            <c:numRef>
              <c:f>Sheet1!$C$2:$C$7</c:f>
              <c:numCache>
                <c:formatCode>General</c:formatCode>
                <c:ptCount val="6"/>
                <c:pt idx="0">
                  <c:v>20</c:v>
                </c:pt>
                <c:pt idx="1">
                  <c:v>8</c:v>
                </c:pt>
                <c:pt idx="2">
                  <c:v>12</c:v>
                </c:pt>
                <c:pt idx="3">
                  <c:v>32</c:v>
                </c:pt>
                <c:pt idx="4">
                  <c:v>12</c:v>
                </c:pt>
                <c:pt idx="5">
                  <c:v>16</c:v>
                </c:pt>
              </c:numCache>
            </c:numRef>
          </c:val>
        </c:ser>
        <c:dLbls>
          <c:numFmt formatCode="0&quot;%&quot;"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Banking</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Top 100 Financial Institution (n=40)</c:v>
                  </c:pt>
                  <c:pt idx="1">
                    <c:v>Large Financial Institution — outside Top 100; &gt;20,000 FTE (n=35)</c:v>
                  </c:pt>
                </c:lvl>
              </c:multiLvlStrCache>
            </c:multiLvlStrRef>
          </c:cat>
          <c:val>
            <c:numRef>
              <c:f>Sheet1!$B$2:$B$3</c:f>
              <c:numCache>
                <c:formatCode>General</c:formatCode>
                <c:ptCount val="2"/>
                <c:pt idx="0">
                  <c:v>53</c:v>
                </c:pt>
                <c:pt idx="1">
                  <c:v>47</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Banking</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United States (n=34)</c:v>
                  </c:pt>
                  <c:pt idx="1">
                    <c:v>Canada (n=18)</c:v>
                  </c:pt>
                  <c:pt idx="2">
                    <c:v>Europe — EU + UK (n=12)</c:v>
                  </c:pt>
                  <c:pt idx="3">
                    <c:v>Australia (n=7)</c:v>
                  </c:pt>
                  <c:pt idx="4">
                    <c:v>Singapore (n=4)</c:v>
                  </c:pt>
                </c:lvl>
              </c:multiLvlStrCache>
            </c:multiLvlStrRef>
          </c:cat>
          <c:val>
            <c:numRef>
              <c:f>Sheet1!$B$2:$B$6</c:f>
              <c:numCache>
                <c:formatCode>General</c:formatCode>
                <c:ptCount val="5"/>
                <c:pt idx="0">
                  <c:v>45</c:v>
                </c:pt>
                <c:pt idx="1">
                  <c:v>24</c:v>
                </c:pt>
                <c:pt idx="2">
                  <c:v>16</c:v>
                </c:pt>
                <c:pt idx="3">
                  <c:v>9</c:v>
                </c:pt>
                <c:pt idx="4">
                  <c:v>5</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United States</c:v>
                </c:pt>
              </c:strCache>
            </c:strRef>
          </c:tx>
          <c:spPr>
            <a:solidFill>
              <a:srgbClr val="86BC25"/>
            </a:solidFill>
            <a:effectLst/>
          </c:spPr>
          <c:invertIfNegative val="0"/>
          <c:dLbls>
            <c:numFmt formatCode="0&quot;%&quot;;-0&quot;%&quot;;;@"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Top 100 (n=40)</c:v>
                  </c:pt>
                  <c:pt idx="1">
                    <c:v>Large Financial Institution (n=35)</c:v>
                  </c:pt>
                </c:lvl>
              </c:multiLvlStrCache>
            </c:multiLvlStrRef>
          </c:cat>
          <c:val>
            <c:numRef>
              <c:f>Sheet1!$B$2:$B$3</c:f>
              <c:numCache>
                <c:formatCode>General</c:formatCode>
                <c:ptCount val="2"/>
                <c:pt idx="0">
                  <c:v>35</c:v>
                </c:pt>
                <c:pt idx="1">
                  <c:v>57</c:v>
                </c:pt>
              </c:numCache>
            </c:numRef>
          </c:val>
        </c:ser>
        <c:ser>
          <c:idx val="1"/>
          <c:order val="1"/>
          <c:tx>
            <c:strRef>
              <c:f>Sheet1!$C$1</c:f>
              <c:strCache>
                <c:ptCount val="1"/>
                <c:pt idx="0">
                  <c:v>Canada</c:v>
                </c:pt>
              </c:strCache>
            </c:strRef>
          </c:tx>
          <c:spPr>
            <a:solidFill>
              <a:srgbClr val="43B02A"/>
            </a:solidFill>
            <a:effectLst/>
          </c:spPr>
          <c:invertIfNegative val="0"/>
          <c:dLbls>
            <c:numFmt formatCode="0&quot;%&quot;;-0&quot;%&quot;;;@"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Top 100 (n=40)</c:v>
                  </c:pt>
                  <c:pt idx="1">
                    <c:v>Large Financial Institution (n=35)</c:v>
                  </c:pt>
                </c:lvl>
              </c:multiLvlStrCache>
            </c:multiLvlStrRef>
          </c:cat>
          <c:val>
            <c:numRef>
              <c:f>Sheet1!$C$2:$C$3</c:f>
              <c:numCache>
                <c:formatCode>General</c:formatCode>
                <c:ptCount val="2"/>
                <c:pt idx="0">
                  <c:v>32</c:v>
                </c:pt>
                <c:pt idx="1">
                  <c:v>14</c:v>
                </c:pt>
              </c:numCache>
            </c:numRef>
          </c:val>
        </c:ser>
        <c:ser>
          <c:idx val="2"/>
          <c:order val="2"/>
          <c:tx>
            <c:strRef>
              <c:f>Sheet1!$D$1</c:f>
              <c:strCache>
                <c:ptCount val="1"/>
                <c:pt idx="0">
                  <c:v>Europe (EU + UK)</c:v>
                </c:pt>
              </c:strCache>
            </c:strRef>
          </c:tx>
          <c:spPr>
            <a:solidFill>
              <a:srgbClr val="046A38"/>
            </a:solidFill>
            <a:effectLst/>
          </c:spPr>
          <c:invertIfNegative val="0"/>
          <c:dLbls>
            <c:numFmt formatCode="0&quot;%&quot;;-0&quot;%&quot;;;@"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Top 100 (n=40)</c:v>
                  </c:pt>
                  <c:pt idx="1">
                    <c:v>Large Financial Institution (n=35)</c:v>
                  </c:pt>
                </c:lvl>
              </c:multiLvlStrCache>
            </c:multiLvlStrRef>
          </c:cat>
          <c:val>
            <c:numRef>
              <c:f>Sheet1!$D$2:$D$3</c:f>
              <c:numCache>
                <c:formatCode>General</c:formatCode>
                <c:ptCount val="2"/>
                <c:pt idx="0">
                  <c:v>18</c:v>
                </c:pt>
                <c:pt idx="1">
                  <c:v>14</c:v>
                </c:pt>
              </c:numCache>
            </c:numRef>
          </c:val>
        </c:ser>
        <c:ser>
          <c:idx val="3"/>
          <c:order val="3"/>
          <c:tx>
            <c:strRef>
              <c:f>Sheet1!$E$1</c:f>
              <c:strCache>
                <c:ptCount val="1"/>
                <c:pt idx="0">
                  <c:v>Australia</c:v>
                </c:pt>
              </c:strCache>
            </c:strRef>
          </c:tx>
          <c:spPr>
            <a:solidFill>
              <a:srgbClr val="0D8390"/>
            </a:solidFill>
            <a:effectLst/>
          </c:spPr>
          <c:invertIfNegative val="0"/>
          <c:dLbls>
            <c:numFmt formatCode="0&quot;%&quot;;-0&quot;%&quot;;;@"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Top 100 (n=40)</c:v>
                  </c:pt>
                  <c:pt idx="1">
                    <c:v>Large Financial Institution (n=35)</c:v>
                  </c:pt>
                </c:lvl>
              </c:multiLvlStrCache>
            </c:multiLvlStrRef>
          </c:cat>
          <c:val>
            <c:numRef>
              <c:f>Sheet1!$E$2:$E$3</c:f>
              <c:numCache>
                <c:formatCode>General</c:formatCode>
                <c:ptCount val="2"/>
                <c:pt idx="0">
                  <c:v>10</c:v>
                </c:pt>
                <c:pt idx="1">
                  <c:v>9</c:v>
                </c:pt>
              </c:numCache>
            </c:numRef>
          </c:val>
        </c:ser>
        <c:ser>
          <c:idx val="4"/>
          <c:order val="4"/>
          <c:tx>
            <c:strRef>
              <c:f>Sheet1!$F$1</c:f>
              <c:strCache>
                <c:ptCount val="1"/>
                <c:pt idx="0">
                  <c:v>Singapore</c:v>
                </c:pt>
              </c:strCache>
            </c:strRef>
          </c:tx>
          <c:spPr>
            <a:solidFill>
              <a:srgbClr val="53565A"/>
            </a:solidFill>
            <a:effectLst/>
          </c:spPr>
          <c:invertIfNegative val="0"/>
          <c:dLbls>
            <c:numFmt formatCode="0&quot;%&quot;;-0&quot;%&quot;;;@"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Top 100 (n=40)</c:v>
                  </c:pt>
                  <c:pt idx="1">
                    <c:v>Large Financial Institution (n=35)</c:v>
                  </c:pt>
                </c:lvl>
              </c:multiLvlStrCache>
            </c:multiLvlStrRef>
          </c:cat>
          <c:val>
            <c:numRef>
              <c:f>Sheet1!$F$2:$F$3</c:f>
              <c:numCache>
                <c:formatCode>General</c:formatCode>
                <c:ptCount val="2"/>
                <c:pt idx="0">
                  <c:v>5</c:v>
                </c:pt>
                <c:pt idx="1">
                  <c:v>6</c:v>
                </c:pt>
              </c:numCache>
            </c:numRef>
          </c:val>
        </c:ser>
        <c:dLbls>
          <c:numFmt formatCode="0&quot;%&quot;;-0&quot;%&quot;;;@"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Insurance</c:v>
                </c:pt>
              </c:strCache>
            </c:strRef>
          </c:tx>
          <c:spPr>
            <a:solidFill>
              <a:srgbClr val="046A38"/>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Top 50 Global Insurance Carrier (n=15)</c:v>
                  </c:pt>
                  <c:pt idx="1">
                    <c:v>Large Insurance Carrier — outside Top 100; &gt;15,000 FTE (n=10)</c:v>
                  </c:pt>
                </c:lvl>
              </c:multiLvlStrCache>
            </c:multiLvlStrRef>
          </c:cat>
          <c:val>
            <c:numRef>
              <c:f>Sheet1!$B$2:$B$3</c:f>
              <c:numCache>
                <c:formatCode>General</c:formatCode>
                <c:ptCount val="2"/>
                <c:pt idx="0">
                  <c:v>60</c:v>
                </c:pt>
                <c:pt idx="1">
                  <c:v>40</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Insurance</c:v>
                </c:pt>
              </c:strCache>
            </c:strRef>
          </c:tx>
          <c:spPr>
            <a:solidFill>
              <a:srgbClr val="046A38"/>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United States (n=10)</c:v>
                  </c:pt>
                  <c:pt idx="1">
                    <c:v>Canada (n=12)</c:v>
                  </c:pt>
                  <c:pt idx="2">
                    <c:v>Europe — EU + UK (n=2)</c:v>
                  </c:pt>
                  <c:pt idx="3">
                    <c:v>Australia (n=1)</c:v>
                  </c:pt>
                </c:lvl>
              </c:multiLvlStrCache>
            </c:multiLvlStrRef>
          </c:cat>
          <c:val>
            <c:numRef>
              <c:f>Sheet1!$B$2:$B$5</c:f>
              <c:numCache>
                <c:formatCode>General</c:formatCode>
                <c:ptCount val="4"/>
                <c:pt idx="0">
                  <c:v>40</c:v>
                </c:pt>
                <c:pt idx="1">
                  <c:v>48</c:v>
                </c:pt>
                <c:pt idx="2">
                  <c:v>8</c:v>
                </c:pt>
                <c:pt idx="3">
                  <c:v>4</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United States</c:v>
                </c:pt>
              </c:strCache>
            </c:strRef>
          </c:tx>
          <c:spPr>
            <a:solidFill>
              <a:srgbClr val="046A38"/>
            </a:solidFill>
            <a:effectLst/>
          </c:spPr>
          <c:invertIfNegative val="0"/>
          <c:dLbls>
            <c:numFmt formatCode="0&quot;%&quot;;-0&quot;%&quot;;;@"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Top 50 (n=15)</c:v>
                  </c:pt>
                  <c:pt idx="1">
                    <c:v>Large Insurance Carrier (n=10)</c:v>
                  </c:pt>
                </c:lvl>
              </c:multiLvlStrCache>
            </c:multiLvlStrRef>
          </c:cat>
          <c:val>
            <c:numRef>
              <c:f>Sheet1!$B$2:$B$3</c:f>
              <c:numCache>
                <c:formatCode>General</c:formatCode>
                <c:ptCount val="2"/>
                <c:pt idx="0">
                  <c:v>47</c:v>
                </c:pt>
                <c:pt idx="1">
                  <c:v>30</c:v>
                </c:pt>
              </c:numCache>
            </c:numRef>
          </c:val>
        </c:ser>
        <c:ser>
          <c:idx val="1"/>
          <c:order val="1"/>
          <c:tx>
            <c:strRef>
              <c:f>Sheet1!$C$1</c:f>
              <c:strCache>
                <c:ptCount val="1"/>
                <c:pt idx="0">
                  <c:v>Canada</c:v>
                </c:pt>
              </c:strCache>
            </c:strRef>
          </c:tx>
          <c:spPr>
            <a:solidFill>
              <a:srgbClr val="43B02A"/>
            </a:solidFill>
            <a:effectLst/>
          </c:spPr>
          <c:invertIfNegative val="0"/>
          <c:dLbls>
            <c:numFmt formatCode="0&quot;%&quot;;-0&quot;%&quot;;;@"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Top 50 (n=15)</c:v>
                  </c:pt>
                  <c:pt idx="1">
                    <c:v>Large Insurance Carrier (n=10)</c:v>
                  </c:pt>
                </c:lvl>
              </c:multiLvlStrCache>
            </c:multiLvlStrRef>
          </c:cat>
          <c:val>
            <c:numRef>
              <c:f>Sheet1!$C$2:$C$3</c:f>
              <c:numCache>
                <c:formatCode>General</c:formatCode>
                <c:ptCount val="2"/>
                <c:pt idx="0">
                  <c:v>40</c:v>
                </c:pt>
                <c:pt idx="1">
                  <c:v>60</c:v>
                </c:pt>
              </c:numCache>
            </c:numRef>
          </c:val>
        </c:ser>
        <c:ser>
          <c:idx val="2"/>
          <c:order val="2"/>
          <c:tx>
            <c:strRef>
              <c:f>Sheet1!$D$1</c:f>
              <c:strCache>
                <c:ptCount val="1"/>
                <c:pt idx="0">
                  <c:v>Europe (EU + UK)</c:v>
                </c:pt>
              </c:strCache>
            </c:strRef>
          </c:tx>
          <c:spPr>
            <a:solidFill>
              <a:srgbClr val="0D8390"/>
            </a:solidFill>
            <a:effectLst/>
          </c:spPr>
          <c:invertIfNegative val="0"/>
          <c:dLbls>
            <c:numFmt formatCode="0&quot;%&quot;;-0&quot;%&quot;;;@"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Top 50 (n=15)</c:v>
                  </c:pt>
                  <c:pt idx="1">
                    <c:v>Large Insurance Carrier (n=10)</c:v>
                  </c:pt>
                </c:lvl>
              </c:multiLvlStrCache>
            </c:multiLvlStrRef>
          </c:cat>
          <c:val>
            <c:numRef>
              <c:f>Sheet1!$D$2:$D$3</c:f>
              <c:numCache>
                <c:formatCode>General</c:formatCode>
                <c:ptCount val="2"/>
                <c:pt idx="0">
                  <c:v>7</c:v>
                </c:pt>
                <c:pt idx="1">
                  <c:v>10</c:v>
                </c:pt>
              </c:numCache>
            </c:numRef>
          </c:val>
        </c:ser>
        <c:ser>
          <c:idx val="3"/>
          <c:order val="3"/>
          <c:tx>
            <c:strRef>
              <c:f>Sheet1!$E$1</c:f>
              <c:strCache>
                <c:ptCount val="1"/>
                <c:pt idx="0">
                  <c:v>Australia</c:v>
                </c:pt>
              </c:strCache>
            </c:strRef>
          </c:tx>
          <c:spPr>
            <a:solidFill>
              <a:srgbClr val="53565A"/>
            </a:solidFill>
            <a:effectLst/>
          </c:spPr>
          <c:invertIfNegative val="0"/>
          <c:dLbls>
            <c:numFmt formatCode="0&quot;%&quot;;-0&quot;%&quot;;;@"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Top 50 (n=15)</c:v>
                  </c:pt>
                  <c:pt idx="1">
                    <c:v>Large Insurance Carrier (n=10)</c:v>
                  </c:pt>
                </c:lvl>
              </c:multiLvlStrCache>
            </c:multiLvlStrRef>
          </c:cat>
          <c:val>
            <c:numRef>
              <c:f>Sheet1!$E$2:$E$3</c:f>
              <c:numCache>
                <c:formatCode>General</c:formatCode>
                <c:ptCount val="2"/>
                <c:pt idx="0">
                  <c:v>7</c:v>
                </c:pt>
                <c:pt idx="1">
                  <c:v>0</c:v>
                </c:pt>
              </c:numCache>
            </c:numRef>
          </c:val>
        </c:ser>
        <c:dLbls>
          <c:numFmt formatCode="0&quot;%&quot;;-0&quot;%&quot;;;@"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Greatest Increase in AI/Deepfake Vulnerability</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Digital onboarding, KYC &amp; identity verification</c:v>
                  </c:pt>
                  <c:pt idx="1">
                    <c:v>Payment, wire &amp; transaction approvals</c:v>
                  </c:pt>
                  <c:pt idx="2">
                    <c:v>Claims, underwriting &amp; lending review</c:v>
                  </c:pt>
                  <c:pt idx="3">
                    <c:v>Contact center / phone-based authentication</c:v>
                  </c:pt>
                  <c:pt idx="4">
                    <c:v>Executive / employee / broker impersonation</c:v>
                  </c:pt>
                  <c:pt idx="5">
                    <c:v>Video meetings &amp; remote advisory</c:v>
                  </c:pt>
                </c:lvl>
              </c:multiLvlStrCache>
            </c:multiLvlStrRef>
          </c:cat>
          <c:val>
            <c:numRef>
              <c:f>Sheet1!$B$2:$B$7</c:f>
              <c:numCache>
                <c:formatCode>General</c:formatCode>
                <c:ptCount val="6"/>
                <c:pt idx="0">
                  <c:v>70</c:v>
                </c:pt>
                <c:pt idx="1">
                  <c:v>64</c:v>
                </c:pt>
                <c:pt idx="2">
                  <c:v>53</c:v>
                </c:pt>
                <c:pt idx="3">
                  <c:v>52</c:v>
                </c:pt>
                <c:pt idx="4">
                  <c:v>43</c:v>
                </c:pt>
                <c:pt idx="5">
                  <c:v>15</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Banking</c:v>
                </c:pt>
              </c:strCache>
            </c:strRef>
          </c:tx>
          <c:spPr>
            <a:solidFill>
              <a:srgbClr val="86BC25"/>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Digital onboarding &amp; KYC</c:v>
                  </c:pt>
                  <c:pt idx="1">
                    <c:v>Payment / wire approvals</c:v>
                  </c:pt>
                  <c:pt idx="2">
                    <c:v>Claims &amp; underwriting review</c:v>
                  </c:pt>
                  <c:pt idx="3">
                    <c:v>Contact center / phone auth</c:v>
                  </c:pt>
                  <c:pt idx="4">
                    <c:v>Exec / employee impersonation</c:v>
                  </c:pt>
                  <c:pt idx="5">
                    <c:v>Video meetings &amp; remote advisory</c:v>
                  </c:pt>
                </c:lvl>
              </c:multiLvlStrCache>
            </c:multiLvlStrRef>
          </c:cat>
          <c:val>
            <c:numRef>
              <c:f>Sheet1!$B$2:$B$7</c:f>
              <c:numCache>
                <c:formatCode>General</c:formatCode>
                <c:ptCount val="6"/>
                <c:pt idx="0">
                  <c:v>73</c:v>
                </c:pt>
                <c:pt idx="1">
                  <c:v>73</c:v>
                </c:pt>
                <c:pt idx="2">
                  <c:v>48</c:v>
                </c:pt>
                <c:pt idx="3">
                  <c:v>47</c:v>
                </c:pt>
                <c:pt idx="4">
                  <c:v>40</c:v>
                </c:pt>
                <c:pt idx="5">
                  <c:v>15</c:v>
                </c:pt>
              </c:numCache>
            </c:numRef>
          </c:val>
        </c:ser>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Insurance</c:v>
                </c:pt>
              </c:strCache>
            </c:strRef>
          </c:tx>
          <c:spPr>
            <a:solidFill>
              <a:srgbClr val="046A38"/>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Contact center / phone auth</c:v>
                  </c:pt>
                  <c:pt idx="1">
                    <c:v>Claims &amp; underwriting review</c:v>
                  </c:pt>
                  <c:pt idx="2">
                    <c:v>Exec / employee impersonation</c:v>
                  </c:pt>
                  <c:pt idx="3">
                    <c:v>Digital onboarding &amp; KYC</c:v>
                  </c:pt>
                  <c:pt idx="4">
                    <c:v>Payment / wire approvals</c:v>
                  </c:pt>
                  <c:pt idx="5">
                    <c:v>Video meetings &amp; remote advisory</c:v>
                  </c:pt>
                </c:lvl>
              </c:multiLvlStrCache>
            </c:multiLvlStrRef>
          </c:cat>
          <c:val>
            <c:numRef>
              <c:f>Sheet1!$B$2:$B$7</c:f>
              <c:numCache>
                <c:formatCode>General</c:formatCode>
                <c:ptCount val="6"/>
                <c:pt idx="0">
                  <c:v>72</c:v>
                </c:pt>
                <c:pt idx="1">
                  <c:v>64</c:v>
                </c:pt>
                <c:pt idx="2">
                  <c:v>60</c:v>
                </c:pt>
                <c:pt idx="3">
                  <c:v>52</c:v>
                </c:pt>
                <c:pt idx="4">
                  <c:v>36</c:v>
                </c:pt>
                <c:pt idx="5">
                  <c:v>16</c:v>
                </c:pt>
              </c:numCache>
            </c:numRef>
          </c:val>
        </c:ser>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Key Obstacles to Managing AI-Driven Fraud Risk</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Limited staff awareness &amp; training</c:v>
                  </c:pt>
                  <c:pt idx="1">
                    <c:v>Insufficient identity verification / prevention capability</c:v>
                  </c:pt>
                  <c:pt idx="2">
                    <c:v>Lack of fraud detection technology</c:v>
                  </c:pt>
                  <c:pt idx="3">
                    <c:v>Limited 3rd-party intel / consortium data</c:v>
                  </c:pt>
                </c:lvl>
              </c:multiLvlStrCache>
            </c:multiLvlStrRef>
          </c:cat>
          <c:val>
            <c:numRef>
              <c:f>Sheet1!$B$2:$B$5</c:f>
              <c:numCache>
                <c:formatCode>General</c:formatCode>
                <c:ptCount val="4"/>
                <c:pt idx="0">
                  <c:v>53</c:v>
                </c:pt>
                <c:pt idx="1">
                  <c:v>50</c:v>
                </c:pt>
                <c:pt idx="2">
                  <c:v>46</c:v>
                </c:pt>
                <c:pt idx="3">
                  <c:v>43</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Banking (n=75)</c:v>
                </c:pt>
              </c:strCache>
            </c:strRef>
          </c:tx>
          <c:spPr>
            <a:solidFill>
              <a:srgbClr val="86BC25"/>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Limited staff awareness &amp; training</c:v>
                  </c:pt>
                  <c:pt idx="1">
                    <c:v>Insufficient ID verification / prevention</c:v>
                  </c:pt>
                  <c:pt idx="2">
                    <c:v>Lack of fraud detection technology</c:v>
                  </c:pt>
                  <c:pt idx="3">
                    <c:v>Limited 3rd-party intel / consortium data</c:v>
                  </c:pt>
                </c:lvl>
              </c:multiLvlStrCache>
            </c:multiLvlStrRef>
          </c:cat>
          <c:val>
            <c:numRef>
              <c:f>Sheet1!$B$2:$B$5</c:f>
              <c:numCache>
                <c:formatCode>General</c:formatCode>
                <c:ptCount val="4"/>
                <c:pt idx="0">
                  <c:v>49</c:v>
                </c:pt>
                <c:pt idx="1">
                  <c:v>51</c:v>
                </c:pt>
                <c:pt idx="2">
                  <c:v>48</c:v>
                </c:pt>
                <c:pt idx="3">
                  <c:v>43</c:v>
                </c:pt>
              </c:numCache>
            </c:numRef>
          </c:val>
        </c:ser>
        <c:ser>
          <c:idx val="1"/>
          <c:order val="1"/>
          <c:tx>
            <c:strRef>
              <c:f>Sheet1!$C$1</c:f>
              <c:strCache>
                <c:ptCount val="1"/>
                <c:pt idx="0">
                  <c:v>Insurance (n=25)</c:v>
                </c:pt>
              </c:strCache>
            </c:strRef>
          </c:tx>
          <c:spPr>
            <a:solidFill>
              <a:srgbClr val="046A38"/>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Limited staff awareness &amp; training</c:v>
                  </c:pt>
                  <c:pt idx="1">
                    <c:v>Insufficient ID verification / prevention</c:v>
                  </c:pt>
                  <c:pt idx="2">
                    <c:v>Lack of fraud detection technology</c:v>
                  </c:pt>
                  <c:pt idx="3">
                    <c:v>Limited 3rd-party intel / consortium data</c:v>
                  </c:pt>
                </c:lvl>
              </c:multiLvlStrCache>
            </c:multiLvlStrRef>
          </c:cat>
          <c:val>
            <c:numRef>
              <c:f>Sheet1!$C$2:$C$5</c:f>
              <c:numCache>
                <c:formatCode>General</c:formatCode>
                <c:ptCount val="4"/>
                <c:pt idx="0">
                  <c:v>64</c:v>
                </c:pt>
                <c:pt idx="1">
                  <c:v>48</c:v>
                </c:pt>
                <c:pt idx="2">
                  <c:v>40</c:v>
                </c:pt>
                <c:pt idx="3">
                  <c:v>44</c:v>
                </c:pt>
              </c:numCache>
            </c:numRef>
          </c:val>
        </c:ser>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United States</c:v>
                </c:pt>
              </c:strCache>
            </c:strRef>
          </c:tx>
          <c:spPr>
            <a:solidFill>
              <a:srgbClr val="86BC25"/>
            </a:solidFill>
            <a:effectLst/>
          </c:spPr>
          <c:invertIfNegative val="0"/>
          <c:dLbls>
            <c:numFmt formatCode="0&quot;%&quot;;-0&quot;%&quot;;;@" sourceLinked="0"/>
            <c:txPr>
              <a:bodyPr/>
              <a:lstStyle/>
              <a:p>
                <a:pPr>
                  <a:defRPr b="0" i="0" strike="noStrike" sz="600" u="none">
                    <a:solidFill>
                      <a:srgbClr val="FFFFF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Staff awareness &amp; training — Banking (49%)</c:v>
                  </c:pt>
                  <c:pt idx="1">
                    <c:v>Staff awareness &amp; training — Insurance (64%)</c:v>
                  </c:pt>
                  <c:pt idx="2">
                    <c:v>ID verification / prevention — Banking (51%)</c:v>
                  </c:pt>
                  <c:pt idx="3">
                    <c:v>ID verification / prevention — Insurance (48%)</c:v>
                  </c:pt>
                  <c:pt idx="4">
                    <c:v>Fraud detection technology — Banking (48%)</c:v>
                  </c:pt>
                  <c:pt idx="5">
                    <c:v>Fraud detection technology — Insurance (40%)</c:v>
                  </c:pt>
                  <c:pt idx="6">
                    <c:v>3rd-party intel / consortium — Banking (43%)</c:v>
                  </c:pt>
                  <c:pt idx="7">
                    <c:v>3rd-party intel / consortium — Insurance (44%)</c:v>
                  </c:pt>
                </c:lvl>
              </c:multiLvlStrCache>
            </c:multiLvlStrRef>
          </c:cat>
          <c:val>
            <c:numRef>
              <c:f>Sheet1!$B$2:$B$9</c:f>
              <c:numCache>
                <c:formatCode>General</c:formatCode>
                <c:ptCount val="8"/>
                <c:pt idx="0">
                  <c:v>23</c:v>
                </c:pt>
                <c:pt idx="1">
                  <c:v>20</c:v>
                </c:pt>
                <c:pt idx="2">
                  <c:v>24</c:v>
                </c:pt>
                <c:pt idx="3">
                  <c:v>24</c:v>
                </c:pt>
                <c:pt idx="4">
                  <c:v>21</c:v>
                </c:pt>
                <c:pt idx="5">
                  <c:v>8</c:v>
                </c:pt>
                <c:pt idx="6">
                  <c:v>12</c:v>
                </c:pt>
                <c:pt idx="7">
                  <c:v>20</c:v>
                </c:pt>
              </c:numCache>
            </c:numRef>
          </c:val>
        </c:ser>
        <c:ser>
          <c:idx val="1"/>
          <c:order val="1"/>
          <c:tx>
            <c:strRef>
              <c:f>Sheet1!$C$1</c:f>
              <c:strCache>
                <c:ptCount val="1"/>
                <c:pt idx="0">
                  <c:v>Canada</c:v>
                </c:pt>
              </c:strCache>
            </c:strRef>
          </c:tx>
          <c:spPr>
            <a:solidFill>
              <a:srgbClr val="43B02A"/>
            </a:solidFill>
            <a:effectLst/>
          </c:spPr>
          <c:invertIfNegative val="0"/>
          <c:dLbls>
            <c:numFmt formatCode="0&quot;%&quot;;-0&quot;%&quot;;;@" sourceLinked="0"/>
            <c:txPr>
              <a:bodyPr/>
              <a:lstStyle/>
              <a:p>
                <a:pPr>
                  <a:defRPr b="0" i="0" strike="noStrike" sz="600" u="none">
                    <a:solidFill>
                      <a:srgbClr val="FFFFF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Staff awareness &amp; training — Banking (49%)</c:v>
                  </c:pt>
                  <c:pt idx="1">
                    <c:v>Staff awareness &amp; training — Insurance (64%)</c:v>
                  </c:pt>
                  <c:pt idx="2">
                    <c:v>ID verification / prevention — Banking (51%)</c:v>
                  </c:pt>
                  <c:pt idx="3">
                    <c:v>ID verification / prevention — Insurance (48%)</c:v>
                  </c:pt>
                  <c:pt idx="4">
                    <c:v>Fraud detection technology — Banking (48%)</c:v>
                  </c:pt>
                  <c:pt idx="5">
                    <c:v>Fraud detection technology — Insurance (40%)</c:v>
                  </c:pt>
                  <c:pt idx="6">
                    <c:v>3rd-party intel / consortium — Banking (43%)</c:v>
                  </c:pt>
                  <c:pt idx="7">
                    <c:v>3rd-party intel / consortium — Insurance (44%)</c:v>
                  </c:pt>
                </c:lvl>
              </c:multiLvlStrCache>
            </c:multiLvlStrRef>
          </c:cat>
          <c:val>
            <c:numRef>
              <c:f>Sheet1!$C$2:$C$9</c:f>
              <c:numCache>
                <c:formatCode>General</c:formatCode>
                <c:ptCount val="8"/>
                <c:pt idx="0">
                  <c:v>16</c:v>
                </c:pt>
                <c:pt idx="1">
                  <c:v>36</c:v>
                </c:pt>
                <c:pt idx="2">
                  <c:v>13</c:v>
                </c:pt>
                <c:pt idx="3">
                  <c:v>20</c:v>
                </c:pt>
                <c:pt idx="4">
                  <c:v>12</c:v>
                </c:pt>
                <c:pt idx="5">
                  <c:v>28</c:v>
                </c:pt>
                <c:pt idx="6">
                  <c:v>15</c:v>
                </c:pt>
                <c:pt idx="7">
                  <c:v>20</c:v>
                </c:pt>
              </c:numCache>
            </c:numRef>
          </c:val>
        </c:ser>
        <c:ser>
          <c:idx val="2"/>
          <c:order val="2"/>
          <c:tx>
            <c:strRef>
              <c:f>Sheet1!$D$1</c:f>
              <c:strCache>
                <c:ptCount val="1"/>
                <c:pt idx="0">
                  <c:v>Europe (EU + UK)</c:v>
                </c:pt>
              </c:strCache>
            </c:strRef>
          </c:tx>
          <c:spPr>
            <a:solidFill>
              <a:srgbClr val="046A38"/>
            </a:solidFill>
            <a:effectLst/>
          </c:spPr>
          <c:invertIfNegative val="0"/>
          <c:dLbls>
            <c:numFmt formatCode="0&quot;%&quot;;-0&quot;%&quot;;;@" sourceLinked="0"/>
            <c:txPr>
              <a:bodyPr/>
              <a:lstStyle/>
              <a:p>
                <a:pPr>
                  <a:defRPr b="0" i="0" strike="noStrike" sz="600" u="none">
                    <a:solidFill>
                      <a:srgbClr val="FFFFF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Staff awareness &amp; training — Banking (49%)</c:v>
                  </c:pt>
                  <c:pt idx="1">
                    <c:v>Staff awareness &amp; training — Insurance (64%)</c:v>
                  </c:pt>
                  <c:pt idx="2">
                    <c:v>ID verification / prevention — Banking (51%)</c:v>
                  </c:pt>
                  <c:pt idx="3">
                    <c:v>ID verification / prevention — Insurance (48%)</c:v>
                  </c:pt>
                  <c:pt idx="4">
                    <c:v>Fraud detection technology — Banking (48%)</c:v>
                  </c:pt>
                  <c:pt idx="5">
                    <c:v>Fraud detection technology — Insurance (40%)</c:v>
                  </c:pt>
                  <c:pt idx="6">
                    <c:v>3rd-party intel / consortium — Banking (43%)</c:v>
                  </c:pt>
                  <c:pt idx="7">
                    <c:v>3rd-party intel / consortium — Insurance (44%)</c:v>
                  </c:pt>
                </c:lvl>
              </c:multiLvlStrCache>
            </c:multiLvlStrRef>
          </c:cat>
          <c:val>
            <c:numRef>
              <c:f>Sheet1!$D$2:$D$9</c:f>
              <c:numCache>
                <c:formatCode>General</c:formatCode>
                <c:ptCount val="8"/>
                <c:pt idx="0">
                  <c:v>5</c:v>
                </c:pt>
                <c:pt idx="1">
                  <c:v>4</c:v>
                </c:pt>
                <c:pt idx="2">
                  <c:v>8</c:v>
                </c:pt>
                <c:pt idx="3">
                  <c:v>4</c:v>
                </c:pt>
                <c:pt idx="4">
                  <c:v>8</c:v>
                </c:pt>
                <c:pt idx="5">
                  <c:v>0</c:v>
                </c:pt>
                <c:pt idx="6">
                  <c:v>7</c:v>
                </c:pt>
                <c:pt idx="7">
                  <c:v>4</c:v>
                </c:pt>
              </c:numCache>
            </c:numRef>
          </c:val>
        </c:ser>
        <c:ser>
          <c:idx val="3"/>
          <c:order val="3"/>
          <c:tx>
            <c:strRef>
              <c:f>Sheet1!$E$1</c:f>
              <c:strCache>
                <c:ptCount val="1"/>
                <c:pt idx="0">
                  <c:v>Australia</c:v>
                </c:pt>
              </c:strCache>
            </c:strRef>
          </c:tx>
          <c:spPr>
            <a:solidFill>
              <a:srgbClr val="0D8390"/>
            </a:solidFill>
            <a:effectLst/>
          </c:spPr>
          <c:invertIfNegative val="0"/>
          <c:dLbls>
            <c:numFmt formatCode="0&quot;%&quot;;-0&quot;%&quot;;;@" sourceLinked="0"/>
            <c:txPr>
              <a:bodyPr/>
              <a:lstStyle/>
              <a:p>
                <a:pPr>
                  <a:defRPr b="0" i="0" strike="noStrike" sz="600" u="none">
                    <a:solidFill>
                      <a:srgbClr val="FFFFF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Staff awareness &amp; training — Banking (49%)</c:v>
                  </c:pt>
                  <c:pt idx="1">
                    <c:v>Staff awareness &amp; training — Insurance (64%)</c:v>
                  </c:pt>
                  <c:pt idx="2">
                    <c:v>ID verification / prevention — Banking (51%)</c:v>
                  </c:pt>
                  <c:pt idx="3">
                    <c:v>ID verification / prevention — Insurance (48%)</c:v>
                  </c:pt>
                  <c:pt idx="4">
                    <c:v>Fraud detection technology — Banking (48%)</c:v>
                  </c:pt>
                  <c:pt idx="5">
                    <c:v>Fraud detection technology — Insurance (40%)</c:v>
                  </c:pt>
                  <c:pt idx="6">
                    <c:v>3rd-party intel / consortium — Banking (43%)</c:v>
                  </c:pt>
                  <c:pt idx="7">
                    <c:v>3rd-party intel / consortium — Insurance (44%)</c:v>
                  </c:pt>
                </c:lvl>
              </c:multiLvlStrCache>
            </c:multiLvlStrRef>
          </c:cat>
          <c:val>
            <c:numRef>
              <c:f>Sheet1!$E$2:$E$9</c:f>
              <c:numCache>
                <c:formatCode>General</c:formatCode>
                <c:ptCount val="8"/>
                <c:pt idx="0">
                  <c:v>3</c:v>
                </c:pt>
                <c:pt idx="1">
                  <c:v>4</c:v>
                </c:pt>
                <c:pt idx="2">
                  <c:v>3</c:v>
                </c:pt>
                <c:pt idx="3">
                  <c:v>0</c:v>
                </c:pt>
                <c:pt idx="4">
                  <c:v>4</c:v>
                </c:pt>
                <c:pt idx="5">
                  <c:v>4</c:v>
                </c:pt>
                <c:pt idx="6">
                  <c:v>7</c:v>
                </c:pt>
                <c:pt idx="7">
                  <c:v>0</c:v>
                </c:pt>
              </c:numCache>
            </c:numRef>
          </c:val>
        </c:ser>
        <c:ser>
          <c:idx val="4"/>
          <c:order val="4"/>
          <c:tx>
            <c:strRef>
              <c:f>Sheet1!$F$1</c:f>
              <c:strCache>
                <c:ptCount val="1"/>
                <c:pt idx="0">
                  <c:v>Singapore</c:v>
                </c:pt>
              </c:strCache>
            </c:strRef>
          </c:tx>
          <c:spPr>
            <a:solidFill>
              <a:srgbClr val="53565A"/>
            </a:solidFill>
            <a:effectLst/>
          </c:spPr>
          <c:invertIfNegative val="0"/>
          <c:dLbls>
            <c:numFmt formatCode="0&quot;%&quot;;-0&quot;%&quot;;;@" sourceLinked="0"/>
            <c:txPr>
              <a:bodyPr/>
              <a:lstStyle/>
              <a:p>
                <a:pPr>
                  <a:defRPr b="0" i="0" strike="noStrike" sz="600" u="none">
                    <a:solidFill>
                      <a:srgbClr val="FFFFF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Staff awareness &amp; training — Banking (49%)</c:v>
                  </c:pt>
                  <c:pt idx="1">
                    <c:v>Staff awareness &amp; training — Insurance (64%)</c:v>
                  </c:pt>
                  <c:pt idx="2">
                    <c:v>ID verification / prevention — Banking (51%)</c:v>
                  </c:pt>
                  <c:pt idx="3">
                    <c:v>ID verification / prevention — Insurance (48%)</c:v>
                  </c:pt>
                  <c:pt idx="4">
                    <c:v>Fraud detection technology — Banking (48%)</c:v>
                  </c:pt>
                  <c:pt idx="5">
                    <c:v>Fraud detection technology — Insurance (40%)</c:v>
                  </c:pt>
                  <c:pt idx="6">
                    <c:v>3rd-party intel / consortium — Banking (43%)</c:v>
                  </c:pt>
                  <c:pt idx="7">
                    <c:v>3rd-party intel / consortium — Insurance (44%)</c:v>
                  </c:pt>
                </c:lvl>
              </c:multiLvlStrCache>
            </c:multiLvlStrRef>
          </c:cat>
          <c:val>
            <c:numRef>
              <c:f>Sheet1!$F$2:$F$9</c:f>
              <c:numCache>
                <c:formatCode>General</c:formatCode>
                <c:ptCount val="8"/>
                <c:pt idx="0">
                  <c:v>3</c:v>
                </c:pt>
                <c:pt idx="1">
                  <c:v>0</c:v>
                </c:pt>
                <c:pt idx="2">
                  <c:v>3</c:v>
                </c:pt>
                <c:pt idx="3">
                  <c:v>0</c:v>
                </c:pt>
                <c:pt idx="4">
                  <c:v>3</c:v>
                </c:pt>
                <c:pt idx="5">
                  <c:v>0</c:v>
                </c:pt>
                <c:pt idx="6">
                  <c:v>3</c:v>
                </c:pt>
                <c:pt idx="7">
                  <c:v>0</c:v>
                </c:pt>
              </c:numCache>
            </c:numRef>
          </c:val>
        </c:ser>
        <c:dLbls>
          <c:numFmt formatCode="0&quot;%&quot;;-0&quot;%&quot;;;@" sourceLinked="0"/>
          <c:txPr>
            <a:bodyPr/>
            <a:lstStyle/>
            <a:p>
              <a:pPr>
                <a:defRPr b="0" i="0" strike="noStrike" sz="600" u="none">
                  <a:solidFill>
                    <a:srgbClr val="FFFFFF"/>
                  </a:solidFill>
                  <a:latin typeface="Arial"/>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50">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United States</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Staff training</c:v>
                  </c:pt>
                  <c:pt idx="1">
                    <c:v>ID verification</c:v>
                  </c:pt>
                  <c:pt idx="2">
                    <c:v>Detection tech</c:v>
                  </c:pt>
                  <c:pt idx="3">
                    <c:v>3rd-party intel</c:v>
                  </c:pt>
                </c:lvl>
              </c:multiLvlStrCache>
            </c:multiLvlStrRef>
          </c:cat>
          <c:val>
            <c:numRef>
              <c:f>Sheet1!$B$2:$B$5</c:f>
              <c:numCache>
                <c:formatCode>General</c:formatCode>
                <c:ptCount val="4"/>
                <c:pt idx="0">
                  <c:v>50</c:v>
                </c:pt>
                <c:pt idx="1">
                  <c:v>53</c:v>
                </c:pt>
                <c:pt idx="2">
                  <c:v>47</c:v>
                </c:pt>
                <c:pt idx="3">
                  <c:v>26</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Canada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Staff training</c:v>
                  </c:pt>
                  <c:pt idx="1">
                    <c:v>ID verification</c:v>
                  </c:pt>
                  <c:pt idx="2">
                    <c:v>Detection tech</c:v>
                  </c:pt>
                  <c:pt idx="3">
                    <c:v>3rd-party intel</c:v>
                  </c:pt>
                </c:lvl>
              </c:multiLvlStrCache>
            </c:multiLvlStrRef>
          </c:cat>
          <c:val>
            <c:numRef>
              <c:f>Sheet1!$B$2:$B$5</c:f>
              <c:numCache>
                <c:formatCode>General</c:formatCode>
                <c:ptCount val="4"/>
                <c:pt idx="0">
                  <c:v>67</c:v>
                </c:pt>
                <c:pt idx="1">
                  <c:v>56</c:v>
                </c:pt>
                <c:pt idx="2">
                  <c:v>50</c:v>
                </c:pt>
                <c:pt idx="3">
                  <c:v>61</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Europe (EU + UK)</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Staff training</c:v>
                  </c:pt>
                  <c:pt idx="1">
                    <c:v>ID verification</c:v>
                  </c:pt>
                  <c:pt idx="2">
                    <c:v>Detection tech</c:v>
                  </c:pt>
                  <c:pt idx="3">
                    <c:v>3rd-party intel</c:v>
                  </c:pt>
                </c:lvl>
              </c:multiLvlStrCache>
            </c:multiLvlStrRef>
          </c:cat>
          <c:val>
            <c:numRef>
              <c:f>Sheet1!$B$2:$B$5</c:f>
              <c:numCache>
                <c:formatCode>General</c:formatCode>
                <c:ptCount val="4"/>
                <c:pt idx="0">
                  <c:v>33</c:v>
                </c:pt>
                <c:pt idx="1">
                  <c:v>50</c:v>
                </c:pt>
                <c:pt idx="2">
                  <c:v>50</c:v>
                </c:pt>
                <c:pt idx="3">
                  <c:v>42</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Australia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Staff training</c:v>
                  </c:pt>
                  <c:pt idx="1">
                    <c:v>ID verification</c:v>
                  </c:pt>
                  <c:pt idx="2">
                    <c:v>Detection tech</c:v>
                  </c:pt>
                  <c:pt idx="3">
                    <c:v>3rd-party intel</c:v>
                  </c:pt>
                </c:lvl>
              </c:multiLvlStrCache>
            </c:multiLvlStrRef>
          </c:cat>
          <c:val>
            <c:numRef>
              <c:f>Sheet1!$B$2:$B$5</c:f>
              <c:numCache>
                <c:formatCode>General</c:formatCode>
                <c:ptCount val="4"/>
                <c:pt idx="0">
                  <c:v>29</c:v>
                </c:pt>
                <c:pt idx="1">
                  <c:v>29</c:v>
                </c:pt>
                <c:pt idx="2">
                  <c:v>43</c:v>
                </c:pt>
                <c:pt idx="3">
                  <c:v>71</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Singapore</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Staff training</c:v>
                  </c:pt>
                  <c:pt idx="1">
                    <c:v>ID verification</c:v>
                  </c:pt>
                  <c:pt idx="2">
                    <c:v>Detection tech</c:v>
                  </c:pt>
                  <c:pt idx="3">
                    <c:v>3rd-party intel</c:v>
                  </c:pt>
                </c:lvl>
              </c:multiLvlStrCache>
            </c:multiLvlStrRef>
          </c:cat>
          <c:val>
            <c:numRef>
              <c:f>Sheet1!$B$2:$B$5</c:f>
              <c:numCache>
                <c:formatCode>General</c:formatCode>
                <c:ptCount val="4"/>
                <c:pt idx="0">
                  <c:v>50</c:v>
                </c:pt>
                <c:pt idx="1">
                  <c:v>50</c:v>
                </c:pt>
                <c:pt idx="2">
                  <c:v>50</c:v>
                </c:pt>
                <c:pt idx="3">
                  <c:v>50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United States</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Staff training</c:v>
                  </c:pt>
                  <c:pt idx="1">
                    <c:v>ID verification</c:v>
                  </c:pt>
                  <c:pt idx="2">
                    <c:v>Detection tech</c:v>
                  </c:pt>
                  <c:pt idx="3">
                    <c:v>3rd-party intel</c:v>
                  </c:pt>
                </c:lvl>
              </c:multiLvlStrCache>
            </c:multiLvlStrRef>
          </c:cat>
          <c:val>
            <c:numRef>
              <c:f>Sheet1!$B$2:$B$5</c:f>
              <c:numCache>
                <c:formatCode>General</c:formatCode>
                <c:ptCount val="4"/>
                <c:pt idx="0">
                  <c:v>50</c:v>
                </c:pt>
                <c:pt idx="1">
                  <c:v>60</c:v>
                </c:pt>
                <c:pt idx="2">
                  <c:v>20</c:v>
                </c:pt>
                <c:pt idx="3">
                  <c:v>50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Canada</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Staff training</c:v>
                  </c:pt>
                  <c:pt idx="1">
                    <c:v>ID verification</c:v>
                  </c:pt>
                  <c:pt idx="2">
                    <c:v>Detection tech</c:v>
                  </c:pt>
                  <c:pt idx="3">
                    <c:v>3rd-party intel</c:v>
                  </c:pt>
                </c:lvl>
              </c:multiLvlStrCache>
            </c:multiLvlStrRef>
          </c:cat>
          <c:val>
            <c:numRef>
              <c:f>Sheet1!$B$2:$B$5</c:f>
              <c:numCache>
                <c:formatCode>General</c:formatCode>
                <c:ptCount val="4"/>
                <c:pt idx="0">
                  <c:v>75</c:v>
                </c:pt>
                <c:pt idx="1">
                  <c:v>42</c:v>
                </c:pt>
                <c:pt idx="2">
                  <c:v>58</c:v>
                </c:pt>
                <c:pt idx="3">
                  <c:v>42</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Europe (EU + UK)</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Staff training</c:v>
                  </c:pt>
                  <c:pt idx="1">
                    <c:v>ID verification</c:v>
                  </c:pt>
                  <c:pt idx="2">
                    <c:v>Detection tech</c:v>
                  </c:pt>
                  <c:pt idx="3">
                    <c:v>3rd-party intel</c:v>
                  </c:pt>
                </c:lvl>
              </c:multiLvlStrCache>
            </c:multiLvlStrRef>
          </c:cat>
          <c:val>
            <c:numRef>
              <c:f>Sheet1!$B$2:$B$5</c:f>
              <c:numCache>
                <c:formatCode>General</c:formatCode>
                <c:ptCount val="4"/>
                <c:pt idx="0">
                  <c:v>50</c:v>
                </c:pt>
                <c:pt idx="1">
                  <c:v>50</c:v>
                </c:pt>
                <c:pt idx="2">
                  <c:v>0</c:v>
                </c:pt>
                <c:pt idx="3">
                  <c:v>50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Australia</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Staff training</c:v>
                  </c:pt>
                  <c:pt idx="1">
                    <c:v>ID verification</c:v>
                  </c:pt>
                  <c:pt idx="2">
                    <c:v>Detection tech</c:v>
                  </c:pt>
                  <c:pt idx="3">
                    <c:v>3rd-party intel</c:v>
                  </c:pt>
                </c:lvl>
              </c:multiLvlStrCache>
            </c:multiLvlStrRef>
          </c:cat>
          <c:val>
            <c:numRef>
              <c:f>Sheet1!$B$2:$B$5</c:f>
              <c:numCache>
                <c:formatCode>General</c:formatCode>
                <c:ptCount val="4"/>
                <c:pt idx="0">
                  <c:v>100</c:v>
                </c:pt>
                <c:pt idx="1">
                  <c:v>0</c:v>
                </c:pt>
                <c:pt idx="2">
                  <c:v>100</c:v>
                </c:pt>
                <c:pt idx="3">
                  <c:v>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 100 Financial Institution (n=40)</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Staff training</c:v>
                  </c:pt>
                  <c:pt idx="1">
                    <c:v>ID verification</c:v>
                  </c:pt>
                  <c:pt idx="2">
                    <c:v>Detection tech</c:v>
                  </c:pt>
                  <c:pt idx="3">
                    <c:v>3rd-party intel</c:v>
                  </c:pt>
                </c:lvl>
              </c:multiLvlStrCache>
            </c:multiLvlStrRef>
          </c:cat>
          <c:val>
            <c:numRef>
              <c:f>Sheet1!$B$2:$B$5</c:f>
              <c:numCache>
                <c:formatCode>General</c:formatCode>
                <c:ptCount val="4"/>
                <c:pt idx="0">
                  <c:v>57</c:v>
                </c:pt>
                <c:pt idx="1">
                  <c:v>43</c:v>
                </c:pt>
                <c:pt idx="2">
                  <c:v>50</c:v>
                </c:pt>
                <c:pt idx="3">
                  <c:v>38</c:v>
                </c:pt>
              </c:numCache>
            </c:numRef>
          </c:val>
        </c:ser>
        <c:ser>
          <c:idx val="1"/>
          <c:order val="1"/>
          <c:tx>
            <c:strRef>
              <c:f>Sheet1!$C$1</c:f>
              <c:strCache>
                <c:ptCount val="1"/>
                <c:pt idx="0">
                  <c:v>Large Financial Institution (n=35)</c:v>
                </c:pt>
              </c:strCache>
            </c:strRef>
          </c:tx>
          <c:spPr>
            <a:solidFill>
              <a:srgbClr val="046A38"/>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Staff training</c:v>
                  </c:pt>
                  <c:pt idx="1">
                    <c:v>ID verification</c:v>
                  </c:pt>
                  <c:pt idx="2">
                    <c:v>Detection tech</c:v>
                  </c:pt>
                  <c:pt idx="3">
                    <c:v>3rd-party intel</c:v>
                  </c:pt>
                </c:lvl>
              </c:multiLvlStrCache>
            </c:multiLvlStrRef>
          </c:cat>
          <c:val>
            <c:numRef>
              <c:f>Sheet1!$C$2:$C$5</c:f>
              <c:numCache>
                <c:formatCode>General</c:formatCode>
                <c:ptCount val="4"/>
                <c:pt idx="0">
                  <c:v>40</c:v>
                </c:pt>
                <c:pt idx="1">
                  <c:v>60</c:v>
                </c:pt>
                <c:pt idx="2">
                  <c:v>46</c:v>
                </c:pt>
                <c:pt idx="3">
                  <c:v>49</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 50 Global Insurance Carrier (n=15)</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Staff training</c:v>
                  </c:pt>
                  <c:pt idx="1">
                    <c:v>ID verification</c:v>
                  </c:pt>
                  <c:pt idx="2">
                    <c:v>Detection tech</c:v>
                  </c:pt>
                  <c:pt idx="3">
                    <c:v>3rd-party intel</c:v>
                  </c:pt>
                </c:lvl>
              </c:multiLvlStrCache>
            </c:multiLvlStrRef>
          </c:cat>
          <c:val>
            <c:numRef>
              <c:f>Sheet1!$B$2:$B$5</c:f>
              <c:numCache>
                <c:formatCode>General</c:formatCode>
                <c:ptCount val="4"/>
                <c:pt idx="0">
                  <c:v>60</c:v>
                </c:pt>
                <c:pt idx="1">
                  <c:v>60</c:v>
                </c:pt>
                <c:pt idx="2">
                  <c:v>27</c:v>
                </c:pt>
                <c:pt idx="3">
                  <c:v>40</c:v>
                </c:pt>
              </c:numCache>
            </c:numRef>
          </c:val>
        </c:ser>
        <c:ser>
          <c:idx val="1"/>
          <c:order val="1"/>
          <c:tx>
            <c:strRef>
              <c:f>Sheet1!$C$1</c:f>
              <c:strCache>
                <c:ptCount val="1"/>
                <c:pt idx="0">
                  <c:v>Large Insurance Carrier (n=10)</c:v>
                </c:pt>
              </c:strCache>
            </c:strRef>
          </c:tx>
          <c:spPr>
            <a:solidFill>
              <a:srgbClr val="046A38"/>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Staff training</c:v>
                  </c:pt>
                  <c:pt idx="1">
                    <c:v>ID verification</c:v>
                  </c:pt>
                  <c:pt idx="2">
                    <c:v>Detection tech</c:v>
                  </c:pt>
                  <c:pt idx="3">
                    <c:v>3rd-party intel</c:v>
                  </c:pt>
                </c:lvl>
              </c:multiLvlStrCache>
            </c:multiLvlStrRef>
          </c:cat>
          <c:val>
            <c:numRef>
              <c:f>Sheet1!$C$2:$C$5</c:f>
              <c:numCache>
                <c:formatCode>General</c:formatCode>
                <c:ptCount val="4"/>
                <c:pt idx="0">
                  <c:v>70</c:v>
                </c:pt>
                <c:pt idx="1">
                  <c:v>30</c:v>
                </c:pt>
                <c:pt idx="2">
                  <c:v>60</c:v>
                </c:pt>
                <c:pt idx="3">
                  <c:v>50</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Biggest Barriers to Effective Information Sharing</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Limited data standardization &amp; poor quality</c:v>
                  </c:pt>
                  <c:pt idx="1">
                    <c:v>Legal, privacy or regulatory constraints</c:v>
                  </c:pt>
                  <c:pt idx="2">
                    <c:v>Lack of external industry participation</c:v>
                  </c:pt>
                  <c:pt idx="3">
                    <c:v>Insufficient budget or resources</c:v>
                  </c:pt>
                  <c:pt idx="4">
                    <c:v>Difficulty demonstrating ROI</c:v>
                  </c:pt>
                  <c:pt idx="5">
                    <c:v>Unclear internal ownership / governance</c:v>
                  </c:pt>
                </c:lvl>
              </c:multiLvlStrCache>
            </c:multiLvlStrRef>
          </c:cat>
          <c:val>
            <c:numRef>
              <c:f>Sheet1!$B$2:$B$7</c:f>
              <c:numCache>
                <c:formatCode>General</c:formatCode>
                <c:ptCount val="6"/>
                <c:pt idx="0">
                  <c:v>77</c:v>
                </c:pt>
                <c:pt idx="1">
                  <c:v>73</c:v>
                </c:pt>
                <c:pt idx="2">
                  <c:v>60</c:v>
                </c:pt>
                <c:pt idx="3">
                  <c:v>36</c:v>
                </c:pt>
                <c:pt idx="4">
                  <c:v>27</c:v>
                </c:pt>
                <c:pt idx="5">
                  <c:v>26</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United States</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Data quality</c:v>
                  </c:pt>
                  <c:pt idx="1">
                    <c:v>Legal/regulatory</c:v>
                  </c:pt>
                  <c:pt idx="2">
                    <c:v>External particip.</c:v>
                  </c:pt>
                  <c:pt idx="3">
                    <c:v>Budget</c:v>
                  </c:pt>
                  <c:pt idx="4">
                    <c:v>ROI</c:v>
                  </c:pt>
                  <c:pt idx="5">
                    <c:v>Ownership</c:v>
                  </c:pt>
                </c:lvl>
              </c:multiLvlStrCache>
            </c:multiLvlStrRef>
          </c:cat>
          <c:val>
            <c:numRef>
              <c:f>Sheet1!$B$2:$B$7</c:f>
              <c:numCache>
                <c:formatCode>General</c:formatCode>
                <c:ptCount val="6"/>
                <c:pt idx="0">
                  <c:v>77</c:v>
                </c:pt>
                <c:pt idx="1">
                  <c:v>80</c:v>
                </c:pt>
                <c:pt idx="2">
                  <c:v>66</c:v>
                </c:pt>
                <c:pt idx="3">
                  <c:v>36</c:v>
                </c:pt>
                <c:pt idx="4">
                  <c:v>16</c:v>
                </c:pt>
                <c:pt idx="5">
                  <c:v>25</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Canada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Data quality</c:v>
                  </c:pt>
                  <c:pt idx="1">
                    <c:v>Legal/regulatory</c:v>
                  </c:pt>
                  <c:pt idx="2">
                    <c:v>External particip.</c:v>
                  </c:pt>
                  <c:pt idx="3">
                    <c:v>Budget</c:v>
                  </c:pt>
                  <c:pt idx="4">
                    <c:v>ROI</c:v>
                  </c:pt>
                  <c:pt idx="5">
                    <c:v>Ownership</c:v>
                  </c:pt>
                </c:lvl>
              </c:multiLvlStrCache>
            </c:multiLvlStrRef>
          </c:cat>
          <c:val>
            <c:numRef>
              <c:f>Sheet1!$B$2:$B$7</c:f>
              <c:numCache>
                <c:formatCode>General</c:formatCode>
                <c:ptCount val="6"/>
                <c:pt idx="0">
                  <c:v>77</c:v>
                </c:pt>
                <c:pt idx="1">
                  <c:v>63</c:v>
                </c:pt>
                <c:pt idx="2">
                  <c:v>57</c:v>
                </c:pt>
                <c:pt idx="3">
                  <c:v>30</c:v>
                </c:pt>
                <c:pt idx="4">
                  <c:v>33</c:v>
                </c:pt>
                <c:pt idx="5">
                  <c:v>37</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Europe (EU + UK)</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Data quality</c:v>
                  </c:pt>
                  <c:pt idx="1">
                    <c:v>Legal/regulatory</c:v>
                  </c:pt>
                  <c:pt idx="2">
                    <c:v>External particip.</c:v>
                  </c:pt>
                  <c:pt idx="3">
                    <c:v>Budget</c:v>
                  </c:pt>
                  <c:pt idx="4">
                    <c:v>ROI</c:v>
                  </c:pt>
                  <c:pt idx="5">
                    <c:v>Ownership</c:v>
                  </c:pt>
                </c:lvl>
              </c:multiLvlStrCache>
            </c:multiLvlStrRef>
          </c:cat>
          <c:val>
            <c:numRef>
              <c:f>Sheet1!$B$2:$B$7</c:f>
              <c:numCache>
                <c:formatCode>General</c:formatCode>
                <c:ptCount val="6"/>
                <c:pt idx="0">
                  <c:v>71</c:v>
                </c:pt>
                <c:pt idx="1">
                  <c:v>64</c:v>
                </c:pt>
                <c:pt idx="2">
                  <c:v>57</c:v>
                </c:pt>
                <c:pt idx="3">
                  <c:v>43</c:v>
                </c:pt>
                <c:pt idx="4">
                  <c:v>50</c:v>
                </c:pt>
                <c:pt idx="5">
                  <c:v>14</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Australia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Data quality</c:v>
                  </c:pt>
                  <c:pt idx="1">
                    <c:v>Legal/regulatory</c:v>
                  </c:pt>
                  <c:pt idx="2">
                    <c:v>External particip.</c:v>
                  </c:pt>
                  <c:pt idx="3">
                    <c:v>Budget</c:v>
                  </c:pt>
                  <c:pt idx="4">
                    <c:v>ROI</c:v>
                  </c:pt>
                  <c:pt idx="5">
                    <c:v>Ownership</c:v>
                  </c:pt>
                </c:lvl>
              </c:multiLvlStrCache>
            </c:multiLvlStrRef>
          </c:cat>
          <c:val>
            <c:numRef>
              <c:f>Sheet1!$B$2:$B$7</c:f>
              <c:numCache>
                <c:formatCode>General</c:formatCode>
                <c:ptCount val="6"/>
                <c:pt idx="0">
                  <c:v>75</c:v>
                </c:pt>
                <c:pt idx="1">
                  <c:v>100</c:v>
                </c:pt>
                <c:pt idx="2">
                  <c:v>50</c:v>
                </c:pt>
                <c:pt idx="3">
                  <c:v>50</c:v>
                </c:pt>
                <c:pt idx="4">
                  <c:v>12</c:v>
                </c:pt>
                <c:pt idx="5">
                  <c:v>12</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Singapore</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Data quality</c:v>
                  </c:pt>
                  <c:pt idx="1">
                    <c:v>Legal/regulatory</c:v>
                  </c:pt>
                  <c:pt idx="2">
                    <c:v>External particip.</c:v>
                  </c:pt>
                  <c:pt idx="3">
                    <c:v>Budget</c:v>
                  </c:pt>
                  <c:pt idx="4">
                    <c:v>ROI</c:v>
                  </c:pt>
                  <c:pt idx="5">
                    <c:v>Ownership</c:v>
                  </c:pt>
                </c:lvl>
              </c:multiLvlStrCache>
            </c:multiLvlStrRef>
          </c:cat>
          <c:val>
            <c:numRef>
              <c:f>Sheet1!$B$2:$B$7</c:f>
              <c:numCache>
                <c:formatCode>General</c:formatCode>
                <c:ptCount val="6"/>
                <c:pt idx="0">
                  <c:v>100</c:v>
                </c:pt>
                <c:pt idx="1">
                  <c:v>50</c:v>
                </c:pt>
                <c:pt idx="2">
                  <c:v>50</c:v>
                </c:pt>
                <c:pt idx="3">
                  <c:v>25</c:v>
                </c:pt>
                <c:pt idx="4">
                  <c:v>50</c:v>
                </c:pt>
                <c:pt idx="5">
                  <c:v>25</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United States</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Data quality</c:v>
                  </c:pt>
                  <c:pt idx="1">
                    <c:v>Legal/regulatory</c:v>
                  </c:pt>
                  <c:pt idx="2">
                    <c:v>External particip.</c:v>
                  </c:pt>
                  <c:pt idx="3">
                    <c:v>Budget</c:v>
                  </c:pt>
                  <c:pt idx="4">
                    <c:v>ROI</c:v>
                  </c:pt>
                  <c:pt idx="5">
                    <c:v>Ownership</c:v>
                  </c:pt>
                </c:lvl>
              </c:multiLvlStrCache>
            </c:multiLvlStrRef>
          </c:cat>
          <c:val>
            <c:numRef>
              <c:f>Sheet1!$B$2:$B$7</c:f>
              <c:numCache>
                <c:formatCode>General</c:formatCode>
                <c:ptCount val="6"/>
                <c:pt idx="0">
                  <c:v>74</c:v>
                </c:pt>
                <c:pt idx="1">
                  <c:v>74</c:v>
                </c:pt>
                <c:pt idx="2">
                  <c:v>74</c:v>
                </c:pt>
                <c:pt idx="3">
                  <c:v>35</c:v>
                </c:pt>
                <c:pt idx="4">
                  <c:v>18</c:v>
                </c:pt>
                <c:pt idx="5">
                  <c:v>26</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Canada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Data quality</c:v>
                  </c:pt>
                  <c:pt idx="1">
                    <c:v>Legal/regulatory</c:v>
                  </c:pt>
                  <c:pt idx="2">
                    <c:v>External particip.</c:v>
                  </c:pt>
                  <c:pt idx="3">
                    <c:v>Budget</c:v>
                  </c:pt>
                  <c:pt idx="4">
                    <c:v>ROI</c:v>
                  </c:pt>
                  <c:pt idx="5">
                    <c:v>Ownership</c:v>
                  </c:pt>
                </c:lvl>
              </c:multiLvlStrCache>
            </c:multiLvlStrRef>
          </c:cat>
          <c:val>
            <c:numRef>
              <c:f>Sheet1!$B$2:$B$7</c:f>
              <c:numCache>
                <c:formatCode>General</c:formatCode>
                <c:ptCount val="6"/>
                <c:pt idx="0">
                  <c:v>72</c:v>
                </c:pt>
                <c:pt idx="1">
                  <c:v>72</c:v>
                </c:pt>
                <c:pt idx="2">
                  <c:v>61</c:v>
                </c:pt>
                <c:pt idx="3">
                  <c:v>28</c:v>
                </c:pt>
                <c:pt idx="4">
                  <c:v>39</c:v>
                </c:pt>
                <c:pt idx="5">
                  <c:v>28</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Europe (EU + UK)</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Data quality</c:v>
                  </c:pt>
                  <c:pt idx="1">
                    <c:v>Legal/regulatory</c:v>
                  </c:pt>
                  <c:pt idx="2">
                    <c:v>External particip.</c:v>
                  </c:pt>
                  <c:pt idx="3">
                    <c:v>Budget</c:v>
                  </c:pt>
                  <c:pt idx="4">
                    <c:v>ROI</c:v>
                  </c:pt>
                  <c:pt idx="5">
                    <c:v>Ownership</c:v>
                  </c:pt>
                </c:lvl>
              </c:multiLvlStrCache>
            </c:multiLvlStrRef>
          </c:cat>
          <c:val>
            <c:numRef>
              <c:f>Sheet1!$B$2:$B$7</c:f>
              <c:numCache>
                <c:formatCode>General</c:formatCode>
                <c:ptCount val="6"/>
                <c:pt idx="0">
                  <c:v>67</c:v>
                </c:pt>
                <c:pt idx="1">
                  <c:v>67</c:v>
                </c:pt>
                <c:pt idx="2">
                  <c:v>58</c:v>
                </c:pt>
                <c:pt idx="3">
                  <c:v>42</c:v>
                </c:pt>
                <c:pt idx="4">
                  <c:v>58</c:v>
                </c:pt>
                <c:pt idx="5">
                  <c:v>8</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Australia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Data quality</c:v>
                  </c:pt>
                  <c:pt idx="1">
                    <c:v>Legal/regulatory</c:v>
                  </c:pt>
                  <c:pt idx="2">
                    <c:v>External particip.</c:v>
                  </c:pt>
                  <c:pt idx="3">
                    <c:v>Budget</c:v>
                  </c:pt>
                  <c:pt idx="4">
                    <c:v>ROI</c:v>
                  </c:pt>
                  <c:pt idx="5">
                    <c:v>Ownership</c:v>
                  </c:pt>
                </c:lvl>
              </c:multiLvlStrCache>
            </c:multiLvlStrRef>
          </c:cat>
          <c:val>
            <c:numRef>
              <c:f>Sheet1!$B$2:$B$7</c:f>
              <c:numCache>
                <c:formatCode>General</c:formatCode>
                <c:ptCount val="6"/>
                <c:pt idx="0">
                  <c:v>71</c:v>
                </c:pt>
                <c:pt idx="1">
                  <c:v>100</c:v>
                </c:pt>
                <c:pt idx="2">
                  <c:v>43</c:v>
                </c:pt>
                <c:pt idx="3">
                  <c:v>57</c:v>
                </c:pt>
                <c:pt idx="4">
                  <c:v>14</c:v>
                </c:pt>
                <c:pt idx="5">
                  <c:v>14</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Singapore</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Data quality</c:v>
                  </c:pt>
                  <c:pt idx="1">
                    <c:v>Legal/regulatory</c:v>
                  </c:pt>
                  <c:pt idx="2">
                    <c:v>External particip.</c:v>
                  </c:pt>
                  <c:pt idx="3">
                    <c:v>Budget</c:v>
                  </c:pt>
                  <c:pt idx="4">
                    <c:v>ROI</c:v>
                  </c:pt>
                  <c:pt idx="5">
                    <c:v>Ownership</c:v>
                  </c:pt>
                </c:lvl>
              </c:multiLvlStrCache>
            </c:multiLvlStrRef>
          </c:cat>
          <c:val>
            <c:numRef>
              <c:f>Sheet1!$B$2:$B$7</c:f>
              <c:numCache>
                <c:formatCode>General</c:formatCode>
                <c:ptCount val="6"/>
                <c:pt idx="0">
                  <c:v>100</c:v>
                </c:pt>
                <c:pt idx="1">
                  <c:v>50</c:v>
                </c:pt>
                <c:pt idx="2">
                  <c:v>50</c:v>
                </c:pt>
                <c:pt idx="3">
                  <c:v>25</c:v>
                </c:pt>
                <c:pt idx="4">
                  <c:v>50</c:v>
                </c:pt>
                <c:pt idx="5">
                  <c:v>25</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United States</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Data quality</c:v>
                  </c:pt>
                  <c:pt idx="1">
                    <c:v>Legal/regulatory</c:v>
                  </c:pt>
                  <c:pt idx="2">
                    <c:v>External particip.</c:v>
                  </c:pt>
                  <c:pt idx="3">
                    <c:v>Budget</c:v>
                  </c:pt>
                  <c:pt idx="4">
                    <c:v>ROI</c:v>
                  </c:pt>
                  <c:pt idx="5">
                    <c:v>Ownership</c:v>
                  </c:pt>
                </c:lvl>
              </c:multiLvlStrCache>
            </c:multiLvlStrRef>
          </c:cat>
          <c:val>
            <c:numRef>
              <c:f>Sheet1!$B$2:$B$7</c:f>
              <c:numCache>
                <c:formatCode>General</c:formatCode>
                <c:ptCount val="6"/>
                <c:pt idx="0">
                  <c:v>90</c:v>
                </c:pt>
                <c:pt idx="1">
                  <c:v>100</c:v>
                </c:pt>
                <c:pt idx="2">
                  <c:v>40</c:v>
                </c:pt>
                <c:pt idx="3">
                  <c:v>40</c:v>
                </c:pt>
                <c:pt idx="4">
                  <c:v>10</c:v>
                </c:pt>
                <c:pt idx="5">
                  <c:v>20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Canada</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Data quality</c:v>
                  </c:pt>
                  <c:pt idx="1">
                    <c:v>Legal/regulatory</c:v>
                  </c:pt>
                  <c:pt idx="2">
                    <c:v>External particip.</c:v>
                  </c:pt>
                  <c:pt idx="3">
                    <c:v>Budget</c:v>
                  </c:pt>
                  <c:pt idx="4">
                    <c:v>ROI</c:v>
                  </c:pt>
                  <c:pt idx="5">
                    <c:v>Ownership</c:v>
                  </c:pt>
                </c:lvl>
              </c:multiLvlStrCache>
            </c:multiLvlStrRef>
          </c:cat>
          <c:val>
            <c:numRef>
              <c:f>Sheet1!$B$2:$B$7</c:f>
              <c:numCache>
                <c:formatCode>General</c:formatCode>
                <c:ptCount val="6"/>
                <c:pt idx="0">
                  <c:v>83</c:v>
                </c:pt>
                <c:pt idx="1">
                  <c:v>50</c:v>
                </c:pt>
                <c:pt idx="2">
                  <c:v>50</c:v>
                </c:pt>
                <c:pt idx="3">
                  <c:v>33</c:v>
                </c:pt>
                <c:pt idx="4">
                  <c:v>25</c:v>
                </c:pt>
                <c:pt idx="5">
                  <c:v>50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Europe (EU + UK)</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Data quality</c:v>
                  </c:pt>
                  <c:pt idx="1">
                    <c:v>Legal/regulatory</c:v>
                  </c:pt>
                  <c:pt idx="2">
                    <c:v>External particip.</c:v>
                  </c:pt>
                  <c:pt idx="3">
                    <c:v>Budget</c:v>
                  </c:pt>
                  <c:pt idx="4">
                    <c:v>ROI</c:v>
                  </c:pt>
                  <c:pt idx="5">
                    <c:v>Ownership</c:v>
                  </c:pt>
                </c:lvl>
              </c:multiLvlStrCache>
            </c:multiLvlStrRef>
          </c:cat>
          <c:val>
            <c:numRef>
              <c:f>Sheet1!$B$2:$B$7</c:f>
              <c:numCache>
                <c:formatCode>General</c:formatCode>
                <c:ptCount val="6"/>
                <c:pt idx="0">
                  <c:v>100</c:v>
                </c:pt>
                <c:pt idx="1">
                  <c:v>50</c:v>
                </c:pt>
                <c:pt idx="2">
                  <c:v>50</c:v>
                </c:pt>
                <c:pt idx="3">
                  <c:v>50</c:v>
                </c:pt>
                <c:pt idx="4">
                  <c:v>0</c:v>
                </c:pt>
                <c:pt idx="5">
                  <c:v>50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Australia</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Data quality</c:v>
                  </c:pt>
                  <c:pt idx="1">
                    <c:v>Legal/regulatory</c:v>
                  </c:pt>
                  <c:pt idx="2">
                    <c:v>External particip.</c:v>
                  </c:pt>
                  <c:pt idx="3">
                    <c:v>Budget</c:v>
                  </c:pt>
                  <c:pt idx="4">
                    <c:v>ROI</c:v>
                  </c:pt>
                  <c:pt idx="5">
                    <c:v>Ownership</c:v>
                  </c:pt>
                </c:lvl>
              </c:multiLvlStrCache>
            </c:multiLvlStrRef>
          </c:cat>
          <c:val>
            <c:numRef>
              <c:f>Sheet1!$B$2:$B$7</c:f>
              <c:numCache>
                <c:formatCode>General</c:formatCode>
                <c:ptCount val="6"/>
                <c:pt idx="0">
                  <c:v>100</c:v>
                </c:pt>
                <c:pt idx="1">
                  <c:v>100</c:v>
                </c:pt>
                <c:pt idx="2">
                  <c:v>100</c:v>
                </c:pt>
                <c:pt idx="3">
                  <c:v>0</c:v>
                </c:pt>
                <c:pt idx="4">
                  <c:v>0</c:v>
                </c:pt>
                <c:pt idx="5">
                  <c:v>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Government Action With the Greatest Impact on Info Sharing</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Centralized fraud info-sharing platform / utility</c:v>
                  </c:pt>
                  <c:pt idx="1">
                    <c:v>Clearer legal &amp; regulatory frameworks</c:v>
                  </c:pt>
                  <c:pt idx="2">
                    <c:v>Common data standards &amp; definitions</c:v>
                  </c:pt>
                  <c:pt idx="3">
                    <c:v>Greater public-private collaboration</c:v>
                  </c:pt>
                  <c:pt idx="4">
                    <c:v>Prioritized industry use cases</c:v>
                  </c:pt>
                  <c:pt idx="5">
                    <c:v>Funding or incentives</c:v>
                  </c:pt>
                </c:lvl>
              </c:multiLvlStrCache>
            </c:multiLvlStrRef>
          </c:cat>
          <c:val>
            <c:numRef>
              <c:f>Sheet1!$B$2:$B$7</c:f>
              <c:numCache>
                <c:formatCode>General</c:formatCode>
                <c:ptCount val="6"/>
                <c:pt idx="0">
                  <c:v>35</c:v>
                </c:pt>
                <c:pt idx="1">
                  <c:v>26</c:v>
                </c:pt>
                <c:pt idx="2">
                  <c:v>14</c:v>
                </c:pt>
                <c:pt idx="3">
                  <c:v>13</c:v>
                </c:pt>
                <c:pt idx="4">
                  <c:v>9</c:v>
                </c:pt>
                <c:pt idx="5">
                  <c:v>3</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Banking (n=75)</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Centralized fraud info-sharing platform / utility</c:v>
                  </c:pt>
                  <c:pt idx="1">
                    <c:v>Clearer legal &amp; regulatory frameworks</c:v>
                  </c:pt>
                  <c:pt idx="2">
                    <c:v>Common data standards &amp; definitions</c:v>
                  </c:pt>
                  <c:pt idx="3">
                    <c:v>Greater public-private collaboration</c:v>
                  </c:pt>
                  <c:pt idx="4">
                    <c:v>Prioritized industry use cases</c:v>
                  </c:pt>
                  <c:pt idx="5">
                    <c:v>Funding or incentives</c:v>
                  </c:pt>
                </c:lvl>
              </c:multiLvlStrCache>
            </c:multiLvlStrRef>
          </c:cat>
          <c:val>
            <c:numRef>
              <c:f>Sheet1!$B$2:$B$7</c:f>
              <c:numCache>
                <c:formatCode>General</c:formatCode>
                <c:ptCount val="6"/>
                <c:pt idx="0">
                  <c:v>39</c:v>
                </c:pt>
                <c:pt idx="1">
                  <c:v>25</c:v>
                </c:pt>
                <c:pt idx="2">
                  <c:v>12</c:v>
                </c:pt>
                <c:pt idx="3">
                  <c:v>12</c:v>
                </c:pt>
                <c:pt idx="4">
                  <c:v>8</c:v>
                </c:pt>
                <c:pt idx="5">
                  <c:v>4</c:v>
                </c:pt>
              </c:numCache>
            </c:numRef>
          </c:val>
        </c:ser>
        <c:ser>
          <c:idx val="1"/>
          <c:order val="1"/>
          <c:tx>
            <c:strRef>
              <c:f>Sheet1!$C$1</c:f>
              <c:strCache>
                <c:ptCount val="1"/>
                <c:pt idx="0">
                  <c:v>Insurance (n=25)</c:v>
                </c:pt>
              </c:strCache>
            </c:strRef>
          </c:tx>
          <c:spPr>
            <a:solidFill>
              <a:srgbClr val="046A38"/>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Centralized fraud info-sharing platform / utility</c:v>
                  </c:pt>
                  <c:pt idx="1">
                    <c:v>Clearer legal &amp; regulatory frameworks</c:v>
                  </c:pt>
                  <c:pt idx="2">
                    <c:v>Common data standards &amp; definitions</c:v>
                  </c:pt>
                  <c:pt idx="3">
                    <c:v>Greater public-private collaboration</c:v>
                  </c:pt>
                  <c:pt idx="4">
                    <c:v>Prioritized industry use cases</c:v>
                  </c:pt>
                  <c:pt idx="5">
                    <c:v>Funding or incentives</c:v>
                  </c:pt>
                </c:lvl>
              </c:multiLvlStrCache>
            </c:multiLvlStrRef>
          </c:cat>
          <c:val>
            <c:numRef>
              <c:f>Sheet1!$C$2:$C$7</c:f>
              <c:numCache>
                <c:formatCode>General</c:formatCode>
                <c:ptCount val="6"/>
                <c:pt idx="0">
                  <c:v>24</c:v>
                </c:pt>
                <c:pt idx="1">
                  <c:v>28</c:v>
                </c:pt>
                <c:pt idx="2">
                  <c:v>20</c:v>
                </c:pt>
                <c:pt idx="3">
                  <c:v>16</c:v>
                </c:pt>
                <c:pt idx="4">
                  <c:v>12</c:v>
                </c:pt>
                <c:pt idx="5">
                  <c:v>0</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United States</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Platform/utility</c:v>
                  </c:pt>
                  <c:pt idx="1">
                    <c:v>Legal/regulatory</c:v>
                  </c:pt>
                  <c:pt idx="2">
                    <c:v>Data standards</c:v>
                  </c:pt>
                  <c:pt idx="3">
                    <c:v>Public-private collab.</c:v>
                  </c:pt>
                  <c:pt idx="4">
                    <c:v>Use cases</c:v>
                  </c:pt>
                  <c:pt idx="5">
                    <c:v>Funding</c:v>
                  </c:pt>
                </c:lvl>
              </c:multiLvlStrCache>
            </c:multiLvlStrRef>
          </c:cat>
          <c:val>
            <c:numRef>
              <c:f>Sheet1!$B$2:$B$7</c:f>
              <c:numCache>
                <c:formatCode>General</c:formatCode>
                <c:ptCount val="6"/>
                <c:pt idx="0">
                  <c:v>36</c:v>
                </c:pt>
                <c:pt idx="1">
                  <c:v>16</c:v>
                </c:pt>
                <c:pt idx="2">
                  <c:v>18</c:v>
                </c:pt>
                <c:pt idx="3">
                  <c:v>20</c:v>
                </c:pt>
                <c:pt idx="4">
                  <c:v>5</c:v>
                </c:pt>
                <c:pt idx="5">
                  <c:v>5</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Canada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Platform/utility</c:v>
                  </c:pt>
                  <c:pt idx="1">
                    <c:v>Legal/regulatory</c:v>
                  </c:pt>
                  <c:pt idx="2">
                    <c:v>Data standards</c:v>
                  </c:pt>
                  <c:pt idx="3">
                    <c:v>Public-private collab.</c:v>
                  </c:pt>
                  <c:pt idx="4">
                    <c:v>Use cases</c:v>
                  </c:pt>
                  <c:pt idx="5">
                    <c:v>Funding</c:v>
                  </c:pt>
                </c:lvl>
              </c:multiLvlStrCache>
            </c:multiLvlStrRef>
          </c:cat>
          <c:val>
            <c:numRef>
              <c:f>Sheet1!$B$2:$B$7</c:f>
              <c:numCache>
                <c:formatCode>General</c:formatCode>
                <c:ptCount val="6"/>
                <c:pt idx="0">
                  <c:v>33</c:v>
                </c:pt>
                <c:pt idx="1">
                  <c:v>40</c:v>
                </c:pt>
                <c:pt idx="2">
                  <c:v>7</c:v>
                </c:pt>
                <c:pt idx="3">
                  <c:v>7</c:v>
                </c:pt>
                <c:pt idx="4">
                  <c:v>13</c:v>
                </c:pt>
                <c:pt idx="5">
                  <c:v>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Europe (EU + UK)</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Platform/utility</c:v>
                  </c:pt>
                  <c:pt idx="1">
                    <c:v>Legal/regulatory</c:v>
                  </c:pt>
                  <c:pt idx="2">
                    <c:v>Data standards</c:v>
                  </c:pt>
                  <c:pt idx="3">
                    <c:v>Public-private collab.</c:v>
                  </c:pt>
                  <c:pt idx="4">
                    <c:v>Use cases</c:v>
                  </c:pt>
                  <c:pt idx="5">
                    <c:v>Funding</c:v>
                  </c:pt>
                </c:lvl>
              </c:multiLvlStrCache>
            </c:multiLvlStrRef>
          </c:cat>
          <c:val>
            <c:numRef>
              <c:f>Sheet1!$B$2:$B$7</c:f>
              <c:numCache>
                <c:formatCode>General</c:formatCode>
                <c:ptCount val="6"/>
                <c:pt idx="0">
                  <c:v>36</c:v>
                </c:pt>
                <c:pt idx="1">
                  <c:v>29</c:v>
                </c:pt>
                <c:pt idx="2">
                  <c:v>14</c:v>
                </c:pt>
                <c:pt idx="3">
                  <c:v>7</c:v>
                </c:pt>
                <c:pt idx="4">
                  <c:v>7</c:v>
                </c:pt>
                <c:pt idx="5">
                  <c:v>7</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Australia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Platform/utility</c:v>
                  </c:pt>
                  <c:pt idx="1">
                    <c:v>Legal/regulatory</c:v>
                  </c:pt>
                  <c:pt idx="2">
                    <c:v>Data standards</c:v>
                  </c:pt>
                  <c:pt idx="3">
                    <c:v>Public-private collab.</c:v>
                  </c:pt>
                  <c:pt idx="4">
                    <c:v>Use cases</c:v>
                  </c:pt>
                  <c:pt idx="5">
                    <c:v>Funding</c:v>
                  </c:pt>
                </c:lvl>
              </c:multiLvlStrCache>
            </c:multiLvlStrRef>
          </c:cat>
          <c:val>
            <c:numRef>
              <c:f>Sheet1!$B$2:$B$7</c:f>
              <c:numCache>
                <c:formatCode>General</c:formatCode>
                <c:ptCount val="6"/>
                <c:pt idx="0">
                  <c:v>25</c:v>
                </c:pt>
                <c:pt idx="1">
                  <c:v>38</c:v>
                </c:pt>
                <c:pt idx="2">
                  <c:v>0</c:v>
                </c:pt>
                <c:pt idx="3">
                  <c:v>12</c:v>
                </c:pt>
                <c:pt idx="4">
                  <c:v>25</c:v>
                </c:pt>
                <c:pt idx="5">
                  <c:v>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Singapore</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Platform/utility</c:v>
                  </c:pt>
                  <c:pt idx="1">
                    <c:v>Legal/regulatory</c:v>
                  </c:pt>
                  <c:pt idx="2">
                    <c:v>Data standards</c:v>
                  </c:pt>
                  <c:pt idx="3">
                    <c:v>Public-private collab.</c:v>
                  </c:pt>
                  <c:pt idx="4">
                    <c:v>Use cases</c:v>
                  </c:pt>
                  <c:pt idx="5">
                    <c:v>Funding</c:v>
                  </c:pt>
                </c:lvl>
              </c:multiLvlStrCache>
            </c:multiLvlStrRef>
          </c:cat>
          <c:val>
            <c:numRef>
              <c:f>Sheet1!$B$2:$B$7</c:f>
              <c:numCache>
                <c:formatCode>General</c:formatCode>
                <c:ptCount val="6"/>
                <c:pt idx="0">
                  <c:v>50</c:v>
                </c:pt>
                <c:pt idx="1">
                  <c:v>0</c:v>
                </c:pt>
                <c:pt idx="2">
                  <c:v>50</c:v>
                </c:pt>
                <c:pt idx="3">
                  <c:v>0</c:v>
                </c:pt>
                <c:pt idx="4">
                  <c:v>0</c:v>
                </c:pt>
                <c:pt idx="5">
                  <c:v>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United States</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Platform/utility</c:v>
                  </c:pt>
                  <c:pt idx="1">
                    <c:v>Legal/regulatory</c:v>
                  </c:pt>
                  <c:pt idx="2">
                    <c:v>Data standards</c:v>
                  </c:pt>
                  <c:pt idx="3">
                    <c:v>Public-private collab.</c:v>
                  </c:pt>
                  <c:pt idx="4">
                    <c:v>Use cases</c:v>
                  </c:pt>
                  <c:pt idx="5">
                    <c:v>Funding</c:v>
                  </c:pt>
                </c:lvl>
              </c:multiLvlStrCache>
            </c:multiLvlStrRef>
          </c:cat>
          <c:val>
            <c:numRef>
              <c:f>Sheet1!$B$2:$B$7</c:f>
              <c:numCache>
                <c:formatCode>General</c:formatCode>
                <c:ptCount val="6"/>
                <c:pt idx="0">
                  <c:v>38</c:v>
                </c:pt>
                <c:pt idx="1">
                  <c:v>18</c:v>
                </c:pt>
                <c:pt idx="2">
                  <c:v>15</c:v>
                </c:pt>
                <c:pt idx="3">
                  <c:v>21</c:v>
                </c:pt>
                <c:pt idx="4">
                  <c:v>3</c:v>
                </c:pt>
                <c:pt idx="5">
                  <c:v>6</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Canada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Platform/utility</c:v>
                  </c:pt>
                  <c:pt idx="1">
                    <c:v>Legal/regulatory</c:v>
                  </c:pt>
                  <c:pt idx="2">
                    <c:v>Data standards</c:v>
                  </c:pt>
                  <c:pt idx="3">
                    <c:v>Public-private collab.</c:v>
                  </c:pt>
                  <c:pt idx="4">
                    <c:v>Use cases</c:v>
                  </c:pt>
                  <c:pt idx="5">
                    <c:v>Funding</c:v>
                  </c:pt>
                </c:lvl>
              </c:multiLvlStrCache>
            </c:multiLvlStrRef>
          </c:cat>
          <c:val>
            <c:numRef>
              <c:f>Sheet1!$B$2:$B$7</c:f>
              <c:numCache>
                <c:formatCode>General</c:formatCode>
                <c:ptCount val="6"/>
                <c:pt idx="0">
                  <c:v>39</c:v>
                </c:pt>
                <c:pt idx="1">
                  <c:v>39</c:v>
                </c:pt>
                <c:pt idx="2">
                  <c:v>0</c:v>
                </c:pt>
                <c:pt idx="3">
                  <c:v>6</c:v>
                </c:pt>
                <c:pt idx="4">
                  <c:v>17</c:v>
                </c:pt>
                <c:pt idx="5">
                  <c:v>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Europe (EU + UK)</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Platform/utility</c:v>
                  </c:pt>
                  <c:pt idx="1">
                    <c:v>Legal/regulatory</c:v>
                  </c:pt>
                  <c:pt idx="2">
                    <c:v>Data standards</c:v>
                  </c:pt>
                  <c:pt idx="3">
                    <c:v>Public-private collab.</c:v>
                  </c:pt>
                  <c:pt idx="4">
                    <c:v>Use cases</c:v>
                  </c:pt>
                  <c:pt idx="5">
                    <c:v>Funding</c:v>
                  </c:pt>
                </c:lvl>
              </c:multiLvlStrCache>
            </c:multiLvlStrRef>
          </c:cat>
          <c:val>
            <c:numRef>
              <c:f>Sheet1!$B$2:$B$7</c:f>
              <c:numCache>
                <c:formatCode>General</c:formatCode>
                <c:ptCount val="6"/>
                <c:pt idx="0">
                  <c:v>42</c:v>
                </c:pt>
                <c:pt idx="1">
                  <c:v>33</c:v>
                </c:pt>
                <c:pt idx="2">
                  <c:v>17</c:v>
                </c:pt>
                <c:pt idx="3">
                  <c:v>0</c:v>
                </c:pt>
                <c:pt idx="4">
                  <c:v>0</c:v>
                </c:pt>
                <c:pt idx="5">
                  <c:v>8</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Australia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Platform/utility</c:v>
                  </c:pt>
                  <c:pt idx="1">
                    <c:v>Legal/regulatory</c:v>
                  </c:pt>
                  <c:pt idx="2">
                    <c:v>Data standards</c:v>
                  </c:pt>
                  <c:pt idx="3">
                    <c:v>Public-private collab.</c:v>
                  </c:pt>
                  <c:pt idx="4">
                    <c:v>Use cases</c:v>
                  </c:pt>
                  <c:pt idx="5">
                    <c:v>Funding</c:v>
                  </c:pt>
                </c:lvl>
              </c:multiLvlStrCache>
            </c:multiLvlStrRef>
          </c:cat>
          <c:val>
            <c:numRef>
              <c:f>Sheet1!$B$2:$B$7</c:f>
              <c:numCache>
                <c:formatCode>General</c:formatCode>
                <c:ptCount val="6"/>
                <c:pt idx="0">
                  <c:v>29</c:v>
                </c:pt>
                <c:pt idx="1">
                  <c:v>29</c:v>
                </c:pt>
                <c:pt idx="2">
                  <c:v>0</c:v>
                </c:pt>
                <c:pt idx="3">
                  <c:v>14</c:v>
                </c:pt>
                <c:pt idx="4">
                  <c:v>29</c:v>
                </c:pt>
                <c:pt idx="5">
                  <c:v>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Singapore</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Platform/utility</c:v>
                  </c:pt>
                  <c:pt idx="1">
                    <c:v>Legal/regulatory</c:v>
                  </c:pt>
                  <c:pt idx="2">
                    <c:v>Data standards</c:v>
                  </c:pt>
                  <c:pt idx="3">
                    <c:v>Public-private collab.</c:v>
                  </c:pt>
                  <c:pt idx="4">
                    <c:v>Use cases</c:v>
                  </c:pt>
                  <c:pt idx="5">
                    <c:v>Funding</c:v>
                  </c:pt>
                </c:lvl>
              </c:multiLvlStrCache>
            </c:multiLvlStrRef>
          </c:cat>
          <c:val>
            <c:numRef>
              <c:f>Sheet1!$B$2:$B$7</c:f>
              <c:numCache>
                <c:formatCode>General</c:formatCode>
                <c:ptCount val="6"/>
                <c:pt idx="0">
                  <c:v>50</c:v>
                </c:pt>
                <c:pt idx="1">
                  <c:v>0</c:v>
                </c:pt>
                <c:pt idx="2">
                  <c:v>50</c:v>
                </c:pt>
                <c:pt idx="3">
                  <c:v>0</c:v>
                </c:pt>
                <c:pt idx="4">
                  <c:v>0</c:v>
                </c:pt>
                <c:pt idx="5">
                  <c:v>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United States</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Platform/utility</c:v>
                  </c:pt>
                  <c:pt idx="1">
                    <c:v>Legal/regulatory</c:v>
                  </c:pt>
                  <c:pt idx="2">
                    <c:v>Data standards</c:v>
                  </c:pt>
                  <c:pt idx="3">
                    <c:v>Public-private collab.</c:v>
                  </c:pt>
                  <c:pt idx="4">
                    <c:v>Use cases</c:v>
                  </c:pt>
                  <c:pt idx="5">
                    <c:v>Funding</c:v>
                  </c:pt>
                </c:lvl>
              </c:multiLvlStrCache>
            </c:multiLvlStrRef>
          </c:cat>
          <c:val>
            <c:numRef>
              <c:f>Sheet1!$B$2:$B$7</c:f>
              <c:numCache>
                <c:formatCode>General</c:formatCode>
                <c:ptCount val="6"/>
                <c:pt idx="0">
                  <c:v>30</c:v>
                </c:pt>
                <c:pt idx="1">
                  <c:v>10</c:v>
                </c:pt>
                <c:pt idx="2">
                  <c:v>30</c:v>
                </c:pt>
                <c:pt idx="3">
                  <c:v>20</c:v>
                </c:pt>
                <c:pt idx="4">
                  <c:v>10</c:v>
                </c:pt>
                <c:pt idx="5">
                  <c:v>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Canada</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Platform/utility</c:v>
                  </c:pt>
                  <c:pt idx="1">
                    <c:v>Legal/regulatory</c:v>
                  </c:pt>
                  <c:pt idx="2">
                    <c:v>Data standards</c:v>
                  </c:pt>
                  <c:pt idx="3">
                    <c:v>Public-private collab.</c:v>
                  </c:pt>
                  <c:pt idx="4">
                    <c:v>Use cases</c:v>
                  </c:pt>
                  <c:pt idx="5">
                    <c:v>Funding</c:v>
                  </c:pt>
                </c:lvl>
              </c:multiLvlStrCache>
            </c:multiLvlStrRef>
          </c:cat>
          <c:val>
            <c:numRef>
              <c:f>Sheet1!$B$2:$B$7</c:f>
              <c:numCache>
                <c:formatCode>General</c:formatCode>
                <c:ptCount val="6"/>
                <c:pt idx="0">
                  <c:v>25</c:v>
                </c:pt>
                <c:pt idx="1">
                  <c:v>42</c:v>
                </c:pt>
                <c:pt idx="2">
                  <c:v>17</c:v>
                </c:pt>
                <c:pt idx="3">
                  <c:v>8</c:v>
                </c:pt>
                <c:pt idx="4">
                  <c:v>8</c:v>
                </c:pt>
                <c:pt idx="5">
                  <c:v>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Europe (EU + UK)</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Platform/utility</c:v>
                  </c:pt>
                  <c:pt idx="1">
                    <c:v>Legal/regulatory</c:v>
                  </c:pt>
                  <c:pt idx="2">
                    <c:v>Data standards</c:v>
                  </c:pt>
                  <c:pt idx="3">
                    <c:v>Public-private collab.</c:v>
                  </c:pt>
                  <c:pt idx="4">
                    <c:v>Use cases</c:v>
                  </c:pt>
                  <c:pt idx="5">
                    <c:v>Funding</c:v>
                  </c:pt>
                </c:lvl>
              </c:multiLvlStrCache>
            </c:multiLvlStrRef>
          </c:cat>
          <c:val>
            <c:numRef>
              <c:f>Sheet1!$B$2:$B$7</c:f>
              <c:numCache>
                <c:formatCode>General</c:formatCode>
                <c:ptCount val="6"/>
                <c:pt idx="0">
                  <c:v>0</c:v>
                </c:pt>
                <c:pt idx="1">
                  <c:v>0</c:v>
                </c:pt>
                <c:pt idx="2">
                  <c:v>0</c:v>
                </c:pt>
                <c:pt idx="3">
                  <c:v>50</c:v>
                </c:pt>
                <c:pt idx="4">
                  <c:v>50</c:v>
                </c:pt>
                <c:pt idx="5">
                  <c:v>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Australia</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Platform/utility</c:v>
                  </c:pt>
                  <c:pt idx="1">
                    <c:v>Legal/regulatory</c:v>
                  </c:pt>
                  <c:pt idx="2">
                    <c:v>Data standards</c:v>
                  </c:pt>
                  <c:pt idx="3">
                    <c:v>Public-private collab.</c:v>
                  </c:pt>
                  <c:pt idx="4">
                    <c:v>Use cases</c:v>
                  </c:pt>
                  <c:pt idx="5">
                    <c:v>Funding</c:v>
                  </c:pt>
                </c:lvl>
              </c:multiLvlStrCache>
            </c:multiLvlStrRef>
          </c:cat>
          <c:val>
            <c:numRef>
              <c:f>Sheet1!$B$2:$B$7</c:f>
              <c:numCache>
                <c:formatCode>General</c:formatCode>
                <c:ptCount val="6"/>
                <c:pt idx="0">
                  <c:v>0</c:v>
                </c:pt>
                <c:pt idx="1">
                  <c:v>100</c:v>
                </c:pt>
                <c:pt idx="2">
                  <c:v>0</c:v>
                </c:pt>
                <c:pt idx="3">
                  <c:v>0</c:v>
                </c:pt>
                <c:pt idx="4">
                  <c:v>0</c:v>
                </c:pt>
                <c:pt idx="5">
                  <c:v>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Banking</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Fintech partners</c:v>
                  </c:pt>
                  <c:pt idx="1">
                    <c:v>Business &amp; commercial clients</c:v>
                  </c:pt>
                  <c:pt idx="2">
                    <c:v>Dealers &amp; indirect lending partners</c:v>
                  </c:pt>
                  <c:pt idx="3">
                    <c:v>Mortgage brokers</c:v>
                  </c:pt>
                  <c:pt idx="4">
                    <c:v>Merchants</c:v>
                  </c:pt>
                  <c:pt idx="5">
                    <c:v>Appraisers</c:v>
                  </c:pt>
                </c:lvl>
              </c:multiLvlStrCache>
            </c:multiLvlStrRef>
          </c:cat>
          <c:val>
            <c:numRef>
              <c:f>Sheet1!$B$2:$B$7</c:f>
              <c:numCache>
                <c:formatCode>General</c:formatCode>
                <c:ptCount val="6"/>
                <c:pt idx="0">
                  <c:v>28</c:v>
                </c:pt>
                <c:pt idx="1">
                  <c:v>24</c:v>
                </c:pt>
                <c:pt idx="2">
                  <c:v>20</c:v>
                </c:pt>
                <c:pt idx="3">
                  <c:v>16</c:v>
                </c:pt>
                <c:pt idx="4">
                  <c:v>7</c:v>
                </c:pt>
                <c:pt idx="5">
                  <c:v>4</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Insurance</c:v>
                </c:pt>
              </c:strCache>
            </c:strRef>
          </c:tx>
          <c:spPr>
            <a:solidFill>
              <a:srgbClr val="046A38"/>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Health care providers</c:v>
                  </c:pt>
                  <c:pt idx="1">
                    <c:v>Automotive service providers</c:v>
                  </c:pt>
                  <c:pt idx="2">
                    <c:v>Brokers &amp; distribution partners</c:v>
                  </c:pt>
                  <c:pt idx="3">
                    <c:v>Third-party administrators (TPAs)</c:v>
                  </c:pt>
                  <c:pt idx="4">
                    <c:v>Property claims service providers</c:v>
                  </c:pt>
                  <c:pt idx="5">
                    <c:v>Legal representatives &amp; paralegals</c:v>
                  </c:pt>
                </c:lvl>
              </c:multiLvlStrCache>
            </c:multiLvlStrRef>
          </c:cat>
          <c:val>
            <c:numRef>
              <c:f>Sheet1!$B$2:$B$7</c:f>
              <c:numCache>
                <c:formatCode>General</c:formatCode>
                <c:ptCount val="6"/>
                <c:pt idx="0">
                  <c:v>40</c:v>
                </c:pt>
                <c:pt idx="1">
                  <c:v>16</c:v>
                </c:pt>
                <c:pt idx="2">
                  <c:v>16</c:v>
                </c:pt>
                <c:pt idx="3">
                  <c:v>12</c:v>
                </c:pt>
                <c:pt idx="4">
                  <c:v>12</c:v>
                </c:pt>
                <c:pt idx="5">
                  <c:v>4</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Strategy Expected to Most Reduce Third-Party Risk</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Increase info sharing &amp; intelligence</c:v>
                  </c:pt>
                  <c:pt idx="1">
                    <c:v>Enhance ongoing monitoring &amp; detection</c:v>
                  </c:pt>
                  <c:pt idx="2">
                    <c:v>Strengthen onboarding verification &amp; due diligence</c:v>
                  </c:pt>
                  <c:pt idx="3">
                    <c:v>Strengthen 3rd-party oversight &amp; accountability</c:v>
                  </c:pt>
                </c:lvl>
              </c:multiLvlStrCache>
            </c:multiLvlStrRef>
          </c:cat>
          <c:val>
            <c:numRef>
              <c:f>Sheet1!$B$2:$B$5</c:f>
              <c:numCache>
                <c:formatCode>General</c:formatCode>
                <c:ptCount val="4"/>
                <c:pt idx="0">
                  <c:v>30</c:v>
                </c:pt>
                <c:pt idx="1">
                  <c:v>27</c:v>
                </c:pt>
                <c:pt idx="2">
                  <c:v>23</c:v>
                </c:pt>
                <c:pt idx="3">
                  <c:v>19</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Banking (n=75)</c:v>
                </c:pt>
              </c:strCache>
            </c:strRef>
          </c:tx>
          <c:spPr>
            <a:solidFill>
              <a:srgbClr val="86BC25"/>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Increase info sharing &amp; intelligence</c:v>
                  </c:pt>
                  <c:pt idx="1">
                    <c:v>Enhance ongoing monitoring &amp; detection</c:v>
                  </c:pt>
                  <c:pt idx="2">
                    <c:v>Strengthen onboarding verification &amp; due diligence</c:v>
                  </c:pt>
                  <c:pt idx="3">
                    <c:v>Strengthen 3rd-party oversight &amp; accountability</c:v>
                  </c:pt>
                </c:lvl>
              </c:multiLvlStrCache>
            </c:multiLvlStrRef>
          </c:cat>
          <c:val>
            <c:numRef>
              <c:f>Sheet1!$B$2:$B$5</c:f>
              <c:numCache>
                <c:formatCode>General</c:formatCode>
                <c:ptCount val="4"/>
                <c:pt idx="0">
                  <c:v>33</c:v>
                </c:pt>
                <c:pt idx="1">
                  <c:v>25</c:v>
                </c:pt>
                <c:pt idx="2">
                  <c:v>23</c:v>
                </c:pt>
                <c:pt idx="3">
                  <c:v>17</c:v>
                </c:pt>
              </c:numCache>
            </c:numRef>
          </c:val>
        </c:ser>
        <c:ser>
          <c:idx val="1"/>
          <c:order val="1"/>
          <c:tx>
            <c:strRef>
              <c:f>Sheet1!$C$1</c:f>
              <c:strCache>
                <c:ptCount val="1"/>
                <c:pt idx="0">
                  <c:v>Insurance (n=25)</c:v>
                </c:pt>
              </c:strCache>
            </c:strRef>
          </c:tx>
          <c:spPr>
            <a:solidFill>
              <a:srgbClr val="046A38"/>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Increase info sharing &amp; intelligence</c:v>
                  </c:pt>
                  <c:pt idx="1">
                    <c:v>Enhance ongoing monitoring &amp; detection</c:v>
                  </c:pt>
                  <c:pt idx="2">
                    <c:v>Strengthen onboarding verification &amp; due diligence</c:v>
                  </c:pt>
                  <c:pt idx="3">
                    <c:v>Strengthen 3rd-party oversight &amp; accountability</c:v>
                  </c:pt>
                </c:lvl>
              </c:multiLvlStrCache>
            </c:multiLvlStrRef>
          </c:cat>
          <c:val>
            <c:numRef>
              <c:f>Sheet1!$C$2:$C$5</c:f>
              <c:numCache>
                <c:formatCode>General</c:formatCode>
                <c:ptCount val="4"/>
                <c:pt idx="0">
                  <c:v>20</c:v>
                </c:pt>
                <c:pt idx="1">
                  <c:v>32</c:v>
                </c:pt>
                <c:pt idx="2">
                  <c:v>24</c:v>
                </c:pt>
                <c:pt idx="3">
                  <c:v>24</c:v>
                </c:pt>
              </c:numCache>
            </c:numRef>
          </c:val>
        </c:ser>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United States</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Sheet1!$B$2:$B$5</c:f>
              <c:numCache>
                <c:formatCode>General</c:formatCode>
                <c:ptCount val="4"/>
                <c:pt idx="0">
                  <c:v>27</c:v>
                </c:pt>
                <c:pt idx="1">
                  <c:v>30</c:v>
                </c:pt>
                <c:pt idx="2">
                  <c:v>25</c:v>
                </c:pt>
                <c:pt idx="3">
                  <c:v>16</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Canada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Sheet1!$B$2:$B$5</c:f>
              <c:numCache>
                <c:formatCode>General</c:formatCode>
                <c:ptCount val="4"/>
                <c:pt idx="0">
                  <c:v>33</c:v>
                </c:pt>
                <c:pt idx="1">
                  <c:v>27</c:v>
                </c:pt>
                <c:pt idx="2">
                  <c:v>17</c:v>
                </c:pt>
                <c:pt idx="3">
                  <c:v>23</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Europe (EU + UK)</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Sheet1!$B$2:$B$5</c:f>
              <c:numCache>
                <c:formatCode>General</c:formatCode>
                <c:ptCount val="4"/>
                <c:pt idx="0">
                  <c:v>36</c:v>
                </c:pt>
                <c:pt idx="1">
                  <c:v>21</c:v>
                </c:pt>
                <c:pt idx="2">
                  <c:v>29</c:v>
                </c:pt>
                <c:pt idx="3">
                  <c:v>14</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Australia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Sheet1!$B$2:$B$5</c:f>
              <c:numCache>
                <c:formatCode>General</c:formatCode>
                <c:ptCount val="4"/>
                <c:pt idx="0">
                  <c:v>25</c:v>
                </c:pt>
                <c:pt idx="1">
                  <c:v>25</c:v>
                </c:pt>
                <c:pt idx="2">
                  <c:v>38</c:v>
                </c:pt>
                <c:pt idx="3">
                  <c:v>12</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Singapore</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Sheet1!$B$2:$B$5</c:f>
              <c:numCache>
                <c:formatCode>General</c:formatCode>
                <c:ptCount val="4"/>
                <c:pt idx="0">
                  <c:v>25</c:v>
                </c:pt>
                <c:pt idx="1">
                  <c:v>25</c:v>
                </c:pt>
                <c:pt idx="2">
                  <c:v>0</c:v>
                </c:pt>
                <c:pt idx="3">
                  <c:v>50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United States</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Sheet1!$B$2:$B$5</c:f>
              <c:numCache>
                <c:formatCode>General</c:formatCode>
                <c:ptCount val="4"/>
                <c:pt idx="0">
                  <c:v>29</c:v>
                </c:pt>
                <c:pt idx="1">
                  <c:v>26</c:v>
                </c:pt>
                <c:pt idx="2">
                  <c:v>24</c:v>
                </c:pt>
                <c:pt idx="3">
                  <c:v>18</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Canada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Sheet1!$B$2:$B$5</c:f>
              <c:numCache>
                <c:formatCode>General</c:formatCode>
                <c:ptCount val="4"/>
                <c:pt idx="0">
                  <c:v>39</c:v>
                </c:pt>
                <c:pt idx="1">
                  <c:v>28</c:v>
                </c:pt>
                <c:pt idx="2">
                  <c:v>17</c:v>
                </c:pt>
                <c:pt idx="3">
                  <c:v>17</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Europe (EU + UK)</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Sheet1!$B$2:$B$5</c:f>
              <c:numCache>
                <c:formatCode>General</c:formatCode>
                <c:ptCount val="4"/>
                <c:pt idx="0">
                  <c:v>42</c:v>
                </c:pt>
                <c:pt idx="1">
                  <c:v>17</c:v>
                </c:pt>
                <c:pt idx="2">
                  <c:v>33</c:v>
                </c:pt>
                <c:pt idx="3">
                  <c:v>8</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Australia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Sheet1!$B$2:$B$5</c:f>
              <c:numCache>
                <c:formatCode>General</c:formatCode>
                <c:ptCount val="4"/>
                <c:pt idx="0">
                  <c:v>29</c:v>
                </c:pt>
                <c:pt idx="1">
                  <c:v>29</c:v>
                </c:pt>
                <c:pt idx="2">
                  <c:v>29</c:v>
                </c:pt>
                <c:pt idx="3">
                  <c:v>14</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Singapore</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Sheet1!$B$2:$B$5</c:f>
              <c:numCache>
                <c:formatCode>General</c:formatCode>
                <c:ptCount val="4"/>
                <c:pt idx="0">
                  <c:v>25</c:v>
                </c:pt>
                <c:pt idx="1">
                  <c:v>25</c:v>
                </c:pt>
                <c:pt idx="2">
                  <c:v>0</c:v>
                </c:pt>
                <c:pt idx="3">
                  <c:v>50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United States</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Sheet1!$B$2:$B$5</c:f>
              <c:numCache>
                <c:formatCode>General</c:formatCode>
                <c:ptCount val="4"/>
                <c:pt idx="0">
                  <c:v>20</c:v>
                </c:pt>
                <c:pt idx="1">
                  <c:v>40</c:v>
                </c:pt>
                <c:pt idx="2">
                  <c:v>30</c:v>
                </c:pt>
                <c:pt idx="3">
                  <c:v>10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Canada</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Sheet1!$B$2:$B$5</c:f>
              <c:numCache>
                <c:formatCode>General</c:formatCode>
                <c:ptCount val="4"/>
                <c:pt idx="0">
                  <c:v>25</c:v>
                </c:pt>
                <c:pt idx="1">
                  <c:v>25</c:v>
                </c:pt>
                <c:pt idx="2">
                  <c:v>17</c:v>
                </c:pt>
                <c:pt idx="3">
                  <c:v>33</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Europe (EU + UK)</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Sheet1!$B$2:$B$5</c:f>
              <c:numCache>
                <c:formatCode>General</c:formatCode>
                <c:ptCount val="4"/>
                <c:pt idx="0">
                  <c:v>0</c:v>
                </c:pt>
                <c:pt idx="1">
                  <c:v>50</c:v>
                </c:pt>
                <c:pt idx="2">
                  <c:v>0</c:v>
                </c:pt>
                <c:pt idx="3">
                  <c:v>50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Australia</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Sheet1!$B$2:$B$5</c:f>
              <c:numCache>
                <c:formatCode>General</c:formatCode>
                <c:ptCount val="4"/>
                <c:pt idx="0">
                  <c:v>0</c:v>
                </c:pt>
                <c:pt idx="1">
                  <c:v>0</c:v>
                </c:pt>
                <c:pt idx="2">
                  <c:v>100</c:v>
                </c:pt>
                <c:pt idx="3">
                  <c:v>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 100 Financial Institution (n=40)</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Sheet1!$B$2:$B$5</c:f>
              <c:numCache>
                <c:formatCode>General</c:formatCode>
                <c:ptCount val="4"/>
                <c:pt idx="0">
                  <c:v>30</c:v>
                </c:pt>
                <c:pt idx="1">
                  <c:v>28</c:v>
                </c:pt>
                <c:pt idx="2">
                  <c:v>18</c:v>
                </c:pt>
                <c:pt idx="3">
                  <c:v>22</c:v>
                </c:pt>
              </c:numCache>
            </c:numRef>
          </c:val>
        </c:ser>
        <c:ser>
          <c:idx val="1"/>
          <c:order val="1"/>
          <c:tx>
            <c:strRef>
              <c:f>Sheet1!$C$1</c:f>
              <c:strCache>
                <c:ptCount val="1"/>
                <c:pt idx="0">
                  <c:v>Large Financial Institution (n=35)</c:v>
                </c:pt>
              </c:strCache>
            </c:strRef>
          </c:tx>
          <c:spPr>
            <a:solidFill>
              <a:srgbClr val="046A38"/>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Sheet1!$C$2:$C$5</c:f>
              <c:numCache>
                <c:formatCode>General</c:formatCode>
                <c:ptCount val="4"/>
                <c:pt idx="0">
                  <c:v>37</c:v>
                </c:pt>
                <c:pt idx="1">
                  <c:v>23</c:v>
                </c:pt>
                <c:pt idx="2">
                  <c:v>29</c:v>
                </c:pt>
                <c:pt idx="3">
                  <c:v>11</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 50 Global Insurance Carrier (n=15)</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Sheet1!$B$2:$B$5</c:f>
              <c:numCache>
                <c:formatCode>General</c:formatCode>
                <c:ptCount val="4"/>
                <c:pt idx="0">
                  <c:v>20</c:v>
                </c:pt>
                <c:pt idx="1">
                  <c:v>40</c:v>
                </c:pt>
                <c:pt idx="2">
                  <c:v>20</c:v>
                </c:pt>
                <c:pt idx="3">
                  <c:v>20</c:v>
                </c:pt>
              </c:numCache>
            </c:numRef>
          </c:val>
        </c:ser>
        <c:ser>
          <c:idx val="1"/>
          <c:order val="1"/>
          <c:tx>
            <c:strRef>
              <c:f>Sheet1!$C$1</c:f>
              <c:strCache>
                <c:ptCount val="1"/>
                <c:pt idx="0">
                  <c:v>Large Insurance Carrier (n=10)</c:v>
                </c:pt>
              </c:strCache>
            </c:strRef>
          </c:tx>
          <c:spPr>
            <a:solidFill>
              <a:srgbClr val="046A38"/>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Info sharing &amp; intel</c:v>
                  </c:pt>
                  <c:pt idx="1">
                    <c:v>Ongoing monitoring</c:v>
                  </c:pt>
                  <c:pt idx="2">
                    <c:v>Onboarding verification</c:v>
                  </c:pt>
                  <c:pt idx="3">
                    <c:v>3rd-party oversight</c:v>
                  </c:pt>
                </c:lvl>
              </c:multiLvlStrCache>
            </c:multiLvlStrRef>
          </c:cat>
          <c:val>
            <c:numRef>
              <c:f>Sheet1!$C$2:$C$5</c:f>
              <c:numCache>
                <c:formatCode>General</c:formatCode>
                <c:ptCount val="4"/>
                <c:pt idx="0">
                  <c:v>20</c:v>
                </c:pt>
                <c:pt idx="1">
                  <c:v>20</c:v>
                </c:pt>
                <c:pt idx="2">
                  <c:v>30</c:v>
                </c:pt>
                <c:pt idx="3">
                  <c:v>30</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Self-Reported Fraud Program Maturity — Combined</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1</c:v>
                </c:pt>
                <c:pt idx="1">
                  <c:v>5</c:v>
                </c:pt>
                <c:pt idx="2">
                  <c:v>12</c:v>
                </c:pt>
                <c:pt idx="3">
                  <c:v>44</c:v>
                </c:pt>
                <c:pt idx="4">
                  <c:v>38</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Banking (n=75)</c:v>
                </c:pt>
              </c:strCache>
            </c:strRef>
          </c:tx>
          <c:spPr>
            <a:solidFill>
              <a:srgbClr val="86BC25"/>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5</c:v>
                </c:pt>
                <c:pt idx="2">
                  <c:v>9</c:v>
                </c:pt>
                <c:pt idx="3">
                  <c:v>48</c:v>
                </c:pt>
                <c:pt idx="4">
                  <c:v>37</c:v>
                </c:pt>
              </c:numCache>
            </c:numRef>
          </c:val>
        </c:ser>
        <c:ser>
          <c:idx val="1"/>
          <c:order val="1"/>
          <c:tx>
            <c:strRef>
              <c:f>Sheet1!$C$1</c:f>
              <c:strCache>
                <c:ptCount val="1"/>
                <c:pt idx="0">
                  <c:v>Insurance (n=25)</c:v>
                </c:pt>
              </c:strCache>
            </c:strRef>
          </c:tx>
          <c:spPr>
            <a:solidFill>
              <a:srgbClr val="046A38"/>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Sheet1!$C$2:$C$6</c:f>
              <c:numCache>
                <c:formatCode>General</c:formatCode>
                <c:ptCount val="5"/>
                <c:pt idx="0">
                  <c:v>4</c:v>
                </c:pt>
                <c:pt idx="1">
                  <c:v>4</c:v>
                </c:pt>
                <c:pt idx="2">
                  <c:v>20</c:v>
                </c:pt>
                <c:pt idx="3">
                  <c:v>32</c:v>
                </c:pt>
                <c:pt idx="4">
                  <c:v>40</c:v>
                </c:pt>
              </c:numCache>
            </c:numRef>
          </c:val>
        </c:ser>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 100 Financial Institution (n=40)</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0</c:v>
                </c:pt>
                <c:pt idx="2">
                  <c:v>8</c:v>
                </c:pt>
                <c:pt idx="3">
                  <c:v>45</c:v>
                </c:pt>
                <c:pt idx="4">
                  <c:v>48</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Large Financial Institution (n=35)</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11</c:v>
                </c:pt>
                <c:pt idx="2">
                  <c:v>11</c:v>
                </c:pt>
                <c:pt idx="3">
                  <c:v>51</c:v>
                </c:pt>
                <c:pt idx="4">
                  <c:v>26</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United States</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0</c:v>
                </c:pt>
                <c:pt idx="2">
                  <c:v>7</c:v>
                </c:pt>
                <c:pt idx="3">
                  <c:v>36</c:v>
                </c:pt>
                <c:pt idx="4">
                  <c:v>57</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Canada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0</c:v>
                </c:pt>
                <c:pt idx="2">
                  <c:v>8</c:v>
                </c:pt>
                <c:pt idx="3">
                  <c:v>62</c:v>
                </c:pt>
                <c:pt idx="4">
                  <c:v>31</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Europe (EU + UK)</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0</c:v>
                </c:pt>
                <c:pt idx="2">
                  <c:v>14</c:v>
                </c:pt>
                <c:pt idx="3">
                  <c:v>29</c:v>
                </c:pt>
                <c:pt idx="4">
                  <c:v>57</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Australia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0</c:v>
                </c:pt>
                <c:pt idx="2">
                  <c:v>0</c:v>
                </c:pt>
                <c:pt idx="3">
                  <c:v>25</c:v>
                </c:pt>
                <c:pt idx="4">
                  <c:v>75</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Singapore</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0</c:v>
                </c:pt>
                <c:pt idx="2">
                  <c:v>0</c:v>
                </c:pt>
                <c:pt idx="3">
                  <c:v>100</c:v>
                </c:pt>
                <c:pt idx="4">
                  <c:v>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United States</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5</c:v>
                </c:pt>
                <c:pt idx="2">
                  <c:v>10</c:v>
                </c:pt>
                <c:pt idx="3">
                  <c:v>60</c:v>
                </c:pt>
                <c:pt idx="4">
                  <c:v>25</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Canada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40</c:v>
                </c:pt>
                <c:pt idx="2">
                  <c:v>20</c:v>
                </c:pt>
                <c:pt idx="3">
                  <c:v>0</c:v>
                </c:pt>
                <c:pt idx="4">
                  <c:v>40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Europe (EU + UK)</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20</c:v>
                </c:pt>
                <c:pt idx="2">
                  <c:v>0</c:v>
                </c:pt>
                <c:pt idx="3">
                  <c:v>80</c:v>
                </c:pt>
                <c:pt idx="4">
                  <c:v>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Australia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0</c:v>
                </c:pt>
                <c:pt idx="2">
                  <c:v>0</c:v>
                </c:pt>
                <c:pt idx="3">
                  <c:v>67</c:v>
                </c:pt>
                <c:pt idx="4">
                  <c:v>33</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9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Singapore</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0</c:v>
                </c:pt>
                <c:pt idx="2">
                  <c:v>50</c:v>
                </c:pt>
                <c:pt idx="3">
                  <c:v>0</c:v>
                </c:pt>
                <c:pt idx="4">
                  <c:v>50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9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 50 Global Insurance Carrier (n=15)</c:v>
                </c:pt>
              </c:strCache>
            </c:strRef>
          </c:tx>
          <c:spPr>
            <a:solidFill>
              <a:srgbClr val="046A38"/>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7</c:v>
                </c:pt>
                <c:pt idx="2">
                  <c:v>13</c:v>
                </c:pt>
                <c:pt idx="3">
                  <c:v>33</c:v>
                </c:pt>
                <c:pt idx="4">
                  <c:v>47</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9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Large Insurance Carrier (n=10)</c:v>
                </c:pt>
              </c:strCache>
            </c:strRef>
          </c:tx>
          <c:spPr>
            <a:solidFill>
              <a:srgbClr val="046A38"/>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10</c:v>
                </c:pt>
                <c:pt idx="1">
                  <c:v>0</c:v>
                </c:pt>
                <c:pt idx="2">
                  <c:v>30</c:v>
                </c:pt>
                <c:pt idx="3">
                  <c:v>30</c:v>
                </c:pt>
                <c:pt idx="4">
                  <c:v>30</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9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United States</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0</c:v>
                </c:pt>
                <c:pt idx="2">
                  <c:v>14</c:v>
                </c:pt>
                <c:pt idx="3">
                  <c:v>57</c:v>
                </c:pt>
                <c:pt idx="4">
                  <c:v>29</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9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Canada</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17</c:v>
                </c:pt>
                <c:pt idx="2">
                  <c:v>17</c:v>
                </c:pt>
                <c:pt idx="3">
                  <c:v>17</c:v>
                </c:pt>
                <c:pt idx="4">
                  <c:v>50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9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Europe (EU + UK)</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0</c:v>
                </c:pt>
                <c:pt idx="2">
                  <c:v>0</c:v>
                </c:pt>
                <c:pt idx="3">
                  <c:v>0</c:v>
                </c:pt>
                <c:pt idx="4">
                  <c:v>100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9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Australia</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0</c:v>
                </c:pt>
                <c:pt idx="2">
                  <c:v>0</c:v>
                </c:pt>
                <c:pt idx="3">
                  <c:v>0</c:v>
                </c:pt>
                <c:pt idx="4">
                  <c:v>100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9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United States</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0</c:v>
                </c:pt>
                <c:pt idx="2">
                  <c:v>33</c:v>
                </c:pt>
                <c:pt idx="3">
                  <c:v>67</c:v>
                </c:pt>
                <c:pt idx="4">
                  <c:v>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9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Canada</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17</c:v>
                </c:pt>
                <c:pt idx="1">
                  <c:v>0</c:v>
                </c:pt>
                <c:pt idx="2">
                  <c:v>33</c:v>
                </c:pt>
                <c:pt idx="3">
                  <c:v>17</c:v>
                </c:pt>
                <c:pt idx="4">
                  <c:v>33</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9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Europe (EU + UK)</c:v>
                </c:pt>
              </c:strCache>
            </c:strRef>
          </c:tx>
          <c:spPr>
            <a:solidFill>
              <a:srgbClr val="046A38"/>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0</c:v>
                </c:pt>
                <c:pt idx="1">
                  <c:v>0</c:v>
                </c:pt>
                <c:pt idx="2">
                  <c:v>0</c:v>
                </c:pt>
                <c:pt idx="3">
                  <c:v>0</c:v>
                </c:pt>
                <c:pt idx="4">
                  <c:v>100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0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Current approach</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AI-enabled tools augmentation</c:v>
                  </c:pt>
                  <c:pt idx="1">
                    <c:v>Automating workflows</c:v>
                  </c:pt>
                  <c:pt idx="2">
                    <c:v>Redesigning processes &amp; playbooks</c:v>
                  </c:pt>
                  <c:pt idx="3">
                    <c:v>Outsourcing</c:v>
                  </c:pt>
                  <c:pt idx="4">
                    <c:v>Hiring / workforce expansion</c:v>
                  </c:pt>
                  <c:pt idx="5">
                    <c:v>Combination of approaches</c:v>
                  </c:pt>
                </c:lvl>
              </c:multiLvlStrCache>
            </c:multiLvlStrRef>
          </c:cat>
          <c:val>
            <c:numRef>
              <c:f>Sheet1!$B$2:$B$7</c:f>
              <c:numCache>
                <c:formatCode>General</c:formatCode>
                <c:ptCount val="6"/>
                <c:pt idx="0">
                  <c:v>34</c:v>
                </c:pt>
                <c:pt idx="1">
                  <c:v>29</c:v>
                </c:pt>
                <c:pt idx="2">
                  <c:v>10</c:v>
                </c:pt>
                <c:pt idx="3">
                  <c:v>10</c:v>
                </c:pt>
                <c:pt idx="4">
                  <c:v>10</c:v>
                </c:pt>
                <c:pt idx="5">
                  <c:v>7</c:v>
                </c:pt>
              </c:numCache>
            </c:numRef>
          </c:val>
        </c:ser>
        <c:ser>
          <c:idx val="1"/>
          <c:order val="1"/>
          <c:tx>
            <c:strRef>
              <c:f>Sheet1!$C$1</c:f>
              <c:strCache>
                <c:ptCount val="1"/>
                <c:pt idx="0">
                  <c:v>3-year focus</c:v>
                </c:pt>
              </c:strCache>
            </c:strRef>
          </c:tx>
          <c:spPr>
            <a:solidFill>
              <a:srgbClr val="046A38"/>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AI-enabled tools augmentation</c:v>
                  </c:pt>
                  <c:pt idx="1">
                    <c:v>Automating workflows</c:v>
                  </c:pt>
                  <c:pt idx="2">
                    <c:v>Redesigning processes &amp; playbooks</c:v>
                  </c:pt>
                  <c:pt idx="3">
                    <c:v>Outsourcing</c:v>
                  </c:pt>
                  <c:pt idx="4">
                    <c:v>Hiring / workforce expansion</c:v>
                  </c:pt>
                  <c:pt idx="5">
                    <c:v>Combination of approaches</c:v>
                  </c:pt>
                </c:lvl>
              </c:multiLvlStrCache>
            </c:multiLvlStrRef>
          </c:cat>
          <c:val>
            <c:numRef>
              <c:f>Sheet1!$C$2:$C$7</c:f>
              <c:numCache>
                <c:formatCode>General</c:formatCode>
                <c:ptCount val="6"/>
                <c:pt idx="0">
                  <c:v>41</c:v>
                </c:pt>
                <c:pt idx="1">
                  <c:v>27</c:v>
                </c:pt>
                <c:pt idx="2">
                  <c:v>18</c:v>
                </c:pt>
                <c:pt idx="3">
                  <c:v>7</c:v>
                </c:pt>
                <c:pt idx="4">
                  <c:v>5</c:v>
                </c:pt>
                <c:pt idx="5">
                  <c:v>2</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10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Today</c:v>
                </c:pt>
              </c:strCache>
            </c:strRef>
          </c:tx>
          <c:spPr>
            <a:solidFill>
              <a:srgbClr val="86BC25"/>
            </a:solidFill>
            <a:effectLst/>
          </c:spPr>
          <c:invertIfNegative val="0"/>
          <c:dLbls>
            <c:numFmt formatCode="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AI-enabled tools</c:v>
                  </c:pt>
                  <c:pt idx="1">
                    <c:v>Automating workflows</c:v>
                  </c:pt>
                  <c:pt idx="2">
                    <c:v>Redesigning processes</c:v>
                  </c:pt>
                  <c:pt idx="3">
                    <c:v>Outsourcing</c:v>
                  </c:pt>
                  <c:pt idx="4">
                    <c:v>Hiring / workforce</c:v>
                  </c:pt>
                  <c:pt idx="5">
                    <c:v>Combination</c:v>
                  </c:pt>
                </c:lvl>
              </c:multiLvlStrCache>
            </c:multiLvlStrRef>
          </c:cat>
          <c:val>
            <c:numRef>
              <c:f>Sheet1!$B$2:$B$7</c:f>
              <c:numCache>
                <c:formatCode>General</c:formatCode>
                <c:ptCount val="6"/>
                <c:pt idx="0">
                  <c:v>47</c:v>
                </c:pt>
                <c:pt idx="1">
                  <c:v>33</c:v>
                </c:pt>
                <c:pt idx="2">
                  <c:v>7</c:v>
                </c:pt>
                <c:pt idx="3">
                  <c:v>7</c:v>
                </c:pt>
                <c:pt idx="4">
                  <c:v>7</c:v>
                </c:pt>
                <c:pt idx="5">
                  <c:v>0</c:v>
                </c:pt>
              </c:numCache>
            </c:numRef>
          </c:val>
        </c:ser>
        <c:ser>
          <c:idx val="1"/>
          <c:order val="1"/>
          <c:tx>
            <c:strRef>
              <c:f>Sheet1!$C$1</c:f>
              <c:strCache>
                <c:ptCount val="1"/>
                <c:pt idx="0">
                  <c:v>3-Year Focus</c:v>
                </c:pt>
              </c:strCache>
            </c:strRef>
          </c:tx>
          <c:spPr>
            <a:solidFill>
              <a:srgbClr val="046A38"/>
            </a:solidFill>
            <a:effectLst/>
          </c:spPr>
          <c:invertIfNegative val="0"/>
          <c:dLbls>
            <c:numFmt formatCode="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AI-enabled tools</c:v>
                  </c:pt>
                  <c:pt idx="1">
                    <c:v>Automating workflows</c:v>
                  </c:pt>
                  <c:pt idx="2">
                    <c:v>Redesigning processes</c:v>
                  </c:pt>
                  <c:pt idx="3">
                    <c:v>Outsourcing</c:v>
                  </c:pt>
                  <c:pt idx="4">
                    <c:v>Hiring / workforce</c:v>
                  </c:pt>
                  <c:pt idx="5">
                    <c:v>Combination</c:v>
                  </c:pt>
                </c:lvl>
              </c:multiLvlStrCache>
            </c:multiLvlStrRef>
          </c:cat>
          <c:val>
            <c:numRef>
              <c:f>Sheet1!$C$2:$C$7</c:f>
              <c:numCache>
                <c:formatCode>General</c:formatCode>
                <c:ptCount val="6"/>
                <c:pt idx="0">
                  <c:v>40</c:v>
                </c:pt>
                <c:pt idx="1">
                  <c:v>27</c:v>
                </c:pt>
                <c:pt idx="2">
                  <c:v>27</c:v>
                </c:pt>
                <c:pt idx="3">
                  <c:v>7</c:v>
                </c:pt>
                <c:pt idx="4">
                  <c:v>0</c:v>
                </c:pt>
                <c:pt idx="5">
                  <c:v>0</c:v>
                </c:pt>
              </c:numCache>
            </c:numRef>
          </c:val>
        </c:ser>
        <c:dLbls>
          <c:numFmt formatCode="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10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Today</c:v>
                </c:pt>
              </c:strCache>
            </c:strRef>
          </c:tx>
          <c:spPr>
            <a:solidFill>
              <a:srgbClr val="86BC25"/>
            </a:solidFill>
            <a:effectLst/>
          </c:spPr>
          <c:invertIfNegative val="0"/>
          <c:dLbls>
            <c:numFmt formatCode="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AI-enabled tools</c:v>
                  </c:pt>
                  <c:pt idx="1">
                    <c:v>Automating workflows</c:v>
                  </c:pt>
                  <c:pt idx="2">
                    <c:v>Redesigning processes</c:v>
                  </c:pt>
                  <c:pt idx="3">
                    <c:v>Outsourcing</c:v>
                  </c:pt>
                  <c:pt idx="4">
                    <c:v>Hiring / workforce</c:v>
                  </c:pt>
                  <c:pt idx="5">
                    <c:v>Combination</c:v>
                  </c:pt>
                </c:lvl>
              </c:multiLvlStrCache>
            </c:multiLvlStrRef>
          </c:cat>
          <c:val>
            <c:numRef>
              <c:f>Sheet1!$B$2:$B$7</c:f>
              <c:numCache>
                <c:formatCode>General</c:formatCode>
                <c:ptCount val="6"/>
                <c:pt idx="0">
                  <c:v>10</c:v>
                </c:pt>
                <c:pt idx="1">
                  <c:v>20</c:v>
                </c:pt>
                <c:pt idx="2">
                  <c:v>20</c:v>
                </c:pt>
                <c:pt idx="3">
                  <c:v>30</c:v>
                </c:pt>
                <c:pt idx="4">
                  <c:v>20</c:v>
                </c:pt>
                <c:pt idx="5">
                  <c:v>0</c:v>
                </c:pt>
              </c:numCache>
            </c:numRef>
          </c:val>
        </c:ser>
        <c:ser>
          <c:idx val="1"/>
          <c:order val="1"/>
          <c:tx>
            <c:strRef>
              <c:f>Sheet1!$C$1</c:f>
              <c:strCache>
                <c:ptCount val="1"/>
                <c:pt idx="0">
                  <c:v>3-Year Focus</c:v>
                </c:pt>
              </c:strCache>
            </c:strRef>
          </c:tx>
          <c:spPr>
            <a:solidFill>
              <a:srgbClr val="046A38"/>
            </a:solidFill>
            <a:effectLst/>
          </c:spPr>
          <c:invertIfNegative val="0"/>
          <c:dLbls>
            <c:numFmt formatCode="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AI-enabled tools</c:v>
                  </c:pt>
                  <c:pt idx="1">
                    <c:v>Automating workflows</c:v>
                  </c:pt>
                  <c:pt idx="2">
                    <c:v>Redesigning processes</c:v>
                  </c:pt>
                  <c:pt idx="3">
                    <c:v>Outsourcing</c:v>
                  </c:pt>
                  <c:pt idx="4">
                    <c:v>Hiring / workforce</c:v>
                  </c:pt>
                  <c:pt idx="5">
                    <c:v>Combination</c:v>
                  </c:pt>
                </c:lvl>
              </c:multiLvlStrCache>
            </c:multiLvlStrRef>
          </c:cat>
          <c:val>
            <c:numRef>
              <c:f>Sheet1!$C$2:$C$7</c:f>
              <c:numCache>
                <c:formatCode>General</c:formatCode>
                <c:ptCount val="6"/>
                <c:pt idx="0">
                  <c:v>40</c:v>
                </c:pt>
                <c:pt idx="1">
                  <c:v>30</c:v>
                </c:pt>
                <c:pt idx="2">
                  <c:v>20</c:v>
                </c:pt>
                <c:pt idx="3">
                  <c:v>0</c:v>
                </c:pt>
                <c:pt idx="4">
                  <c:v>10</c:v>
                </c:pt>
                <c:pt idx="5">
                  <c:v>0</c:v>
                </c:pt>
              </c:numCache>
            </c:numRef>
          </c:val>
        </c:ser>
        <c:dLbls>
          <c:numFmt formatCode="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10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 (Q8)</c:v>
                </c:pt>
              </c:strCache>
            </c:strRef>
          </c:tx>
          <c:spPr>
            <a:solidFill>
              <a:srgbClr val="86BC25"/>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Sheet1!$B$2:$B$7</c:f>
              <c:numCache>
                <c:formatCode>General</c:formatCode>
                <c:ptCount val="6"/>
                <c:pt idx="0">
                  <c:v>43</c:v>
                </c:pt>
                <c:pt idx="1">
                  <c:v>57</c:v>
                </c:pt>
                <c:pt idx="2">
                  <c:v>0</c:v>
                </c:pt>
                <c:pt idx="3">
                  <c:v>0</c:v>
                </c:pt>
                <c:pt idx="4">
                  <c:v>0</c:v>
                </c:pt>
                <c:pt idx="5">
                  <c:v>0</c:v>
                </c:pt>
              </c:numCache>
            </c:numRef>
          </c:val>
        </c:ser>
        <c:ser>
          <c:idx val="1"/>
          <c:order val="1"/>
          <c:tx>
            <c:strRef>
              <c:f>Sheet1!$C$1</c:f>
              <c:strCache>
                <c:ptCount val="1"/>
                <c:pt idx="0">
                  <c:v>3-Year Focus (Q9)</c:v>
                </c:pt>
              </c:strCache>
            </c:strRef>
          </c:tx>
          <c:spPr>
            <a:solidFill>
              <a:srgbClr val="046A38"/>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Sheet1!$C$2:$C$7</c:f>
              <c:numCache>
                <c:formatCode>General</c:formatCode>
                <c:ptCount val="6"/>
                <c:pt idx="0">
                  <c:v>57</c:v>
                </c:pt>
                <c:pt idx="1">
                  <c:v>14</c:v>
                </c:pt>
                <c:pt idx="2">
                  <c:v>14</c:v>
                </c:pt>
                <c:pt idx="3">
                  <c:v>14</c:v>
                </c:pt>
                <c:pt idx="4">
                  <c:v>0</c:v>
                </c:pt>
                <c:pt idx="5">
                  <c:v>0</c:v>
                </c:pt>
              </c:numCache>
            </c:numRef>
          </c:val>
        </c:ser>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400000"/>
          <a:lstStyle/>
          <a:p>
            <a:pPr>
              <a:defRPr sz="5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0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 (Q8)</c:v>
                </c:pt>
              </c:strCache>
            </c:strRef>
          </c:tx>
          <c:spPr>
            <a:solidFill>
              <a:srgbClr val="86BC25"/>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Sheet1!$B$2:$B$7</c:f>
              <c:numCache>
                <c:formatCode>General</c:formatCode>
                <c:ptCount val="6"/>
                <c:pt idx="0">
                  <c:v>50</c:v>
                </c:pt>
                <c:pt idx="1">
                  <c:v>17</c:v>
                </c:pt>
                <c:pt idx="2">
                  <c:v>17</c:v>
                </c:pt>
                <c:pt idx="3">
                  <c:v>17</c:v>
                </c:pt>
                <c:pt idx="4">
                  <c:v>0</c:v>
                </c:pt>
                <c:pt idx="5">
                  <c:v>0</c:v>
                </c:pt>
              </c:numCache>
            </c:numRef>
          </c:val>
        </c:ser>
        <c:ser>
          <c:idx val="1"/>
          <c:order val="1"/>
          <c:tx>
            <c:strRef>
              <c:f>Sheet1!$C$1</c:f>
              <c:strCache>
                <c:ptCount val="1"/>
                <c:pt idx="0">
                  <c:v>3-Year Focus (Q9)</c:v>
                </c:pt>
              </c:strCache>
            </c:strRef>
          </c:tx>
          <c:spPr>
            <a:solidFill>
              <a:srgbClr val="046A38"/>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Sheet1!$C$2:$C$7</c:f>
              <c:numCache>
                <c:formatCode>General</c:formatCode>
                <c:ptCount val="6"/>
                <c:pt idx="0">
                  <c:v>33</c:v>
                </c:pt>
                <c:pt idx="1">
                  <c:v>50</c:v>
                </c:pt>
                <c:pt idx="2">
                  <c:v>17</c:v>
                </c:pt>
                <c:pt idx="3">
                  <c:v>0</c:v>
                </c:pt>
                <c:pt idx="4">
                  <c:v>0</c:v>
                </c:pt>
                <c:pt idx="5">
                  <c:v>0</c:v>
                </c:pt>
              </c:numCache>
            </c:numRef>
          </c:val>
        </c:ser>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400000"/>
          <a:lstStyle/>
          <a:p>
            <a:pPr>
              <a:defRPr sz="5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0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 (Q8)</c:v>
                </c:pt>
              </c:strCache>
            </c:strRef>
          </c:tx>
          <c:spPr>
            <a:solidFill>
              <a:srgbClr val="86BC25"/>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Sheet1!$B$2:$B$7</c:f>
              <c:numCache>
                <c:formatCode>General</c:formatCode>
                <c:ptCount val="6"/>
                <c:pt idx="0">
                  <c:v>100</c:v>
                </c:pt>
                <c:pt idx="1">
                  <c:v>0</c:v>
                </c:pt>
                <c:pt idx="2">
                  <c:v>0</c:v>
                </c:pt>
                <c:pt idx="3">
                  <c:v>0</c:v>
                </c:pt>
                <c:pt idx="4">
                  <c:v>0</c:v>
                </c:pt>
                <c:pt idx="5">
                  <c:v>0</c:v>
                </c:pt>
              </c:numCache>
            </c:numRef>
          </c:val>
        </c:ser>
        <c:ser>
          <c:idx val="1"/>
          <c:order val="1"/>
          <c:tx>
            <c:strRef>
              <c:f>Sheet1!$C$1</c:f>
              <c:strCache>
                <c:ptCount val="1"/>
                <c:pt idx="0">
                  <c:v>3-Year Focus (Q9)</c:v>
                </c:pt>
              </c:strCache>
            </c:strRef>
          </c:tx>
          <c:spPr>
            <a:solidFill>
              <a:srgbClr val="046A38"/>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Sheet1!$C$2:$C$7</c:f>
              <c:numCache>
                <c:formatCode>General</c:formatCode>
                <c:ptCount val="6"/>
                <c:pt idx="0">
                  <c:v>0</c:v>
                </c:pt>
                <c:pt idx="1">
                  <c:v>0</c:v>
                </c:pt>
                <c:pt idx="2">
                  <c:v>100</c:v>
                </c:pt>
                <c:pt idx="3">
                  <c:v>0</c:v>
                </c:pt>
                <c:pt idx="4">
                  <c:v>0</c:v>
                </c:pt>
                <c:pt idx="5">
                  <c:v>0</c:v>
                </c:pt>
              </c:numCache>
            </c:numRef>
          </c:val>
        </c:ser>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400000"/>
          <a:lstStyle/>
          <a:p>
            <a:pPr>
              <a:defRPr sz="5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0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 (Q8)</c:v>
                </c:pt>
              </c:strCache>
            </c:strRef>
          </c:tx>
          <c:spPr>
            <a:solidFill>
              <a:srgbClr val="86BC25"/>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Sheet1!$B$2:$B$7</c:f>
              <c:numCache>
                <c:formatCode>General</c:formatCode>
                <c:ptCount val="6"/>
                <c:pt idx="0">
                  <c:v>0</c:v>
                </c:pt>
                <c:pt idx="1">
                  <c:v>0</c:v>
                </c:pt>
                <c:pt idx="2">
                  <c:v>0</c:v>
                </c:pt>
                <c:pt idx="3">
                  <c:v>0</c:v>
                </c:pt>
                <c:pt idx="4">
                  <c:v>100</c:v>
                </c:pt>
                <c:pt idx="5">
                  <c:v>0</c:v>
                </c:pt>
              </c:numCache>
            </c:numRef>
          </c:val>
        </c:ser>
        <c:ser>
          <c:idx val="1"/>
          <c:order val="1"/>
          <c:tx>
            <c:strRef>
              <c:f>Sheet1!$C$1</c:f>
              <c:strCache>
                <c:ptCount val="1"/>
                <c:pt idx="0">
                  <c:v>3-Year Focus (Q9)</c:v>
                </c:pt>
              </c:strCache>
            </c:strRef>
          </c:tx>
          <c:spPr>
            <a:solidFill>
              <a:srgbClr val="046A38"/>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Sheet1!$C$2:$C$7</c:f>
              <c:numCache>
                <c:formatCode>General</c:formatCode>
                <c:ptCount val="6"/>
                <c:pt idx="0">
                  <c:v>0</c:v>
                </c:pt>
                <c:pt idx="1">
                  <c:v>0</c:v>
                </c:pt>
                <c:pt idx="2">
                  <c:v>100</c:v>
                </c:pt>
                <c:pt idx="3">
                  <c:v>0</c:v>
                </c:pt>
                <c:pt idx="4">
                  <c:v>0</c:v>
                </c:pt>
                <c:pt idx="5">
                  <c:v>0</c:v>
                </c:pt>
              </c:numCache>
            </c:numRef>
          </c:val>
        </c:ser>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400000"/>
          <a:lstStyle/>
          <a:p>
            <a:pPr>
              <a:defRPr sz="5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0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 (Q8)</c:v>
                </c:pt>
              </c:strCache>
            </c:strRef>
          </c:tx>
          <c:spPr>
            <a:solidFill>
              <a:srgbClr val="86BC25"/>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Sheet1!$B$2:$B$7</c:f>
              <c:numCache>
                <c:formatCode>General</c:formatCode>
                <c:ptCount val="6"/>
                <c:pt idx="0">
                  <c:v>0</c:v>
                </c:pt>
                <c:pt idx="1">
                  <c:v>0</c:v>
                </c:pt>
                <c:pt idx="2">
                  <c:v>67</c:v>
                </c:pt>
                <c:pt idx="3">
                  <c:v>0</c:v>
                </c:pt>
                <c:pt idx="4">
                  <c:v>33</c:v>
                </c:pt>
                <c:pt idx="5">
                  <c:v>0</c:v>
                </c:pt>
              </c:numCache>
            </c:numRef>
          </c:val>
        </c:ser>
        <c:ser>
          <c:idx val="1"/>
          <c:order val="1"/>
          <c:tx>
            <c:strRef>
              <c:f>Sheet1!$C$1</c:f>
              <c:strCache>
                <c:ptCount val="1"/>
                <c:pt idx="0">
                  <c:v>3-Year Focus (Q9)</c:v>
                </c:pt>
              </c:strCache>
            </c:strRef>
          </c:tx>
          <c:spPr>
            <a:solidFill>
              <a:srgbClr val="046A38"/>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Sheet1!$C$2:$C$7</c:f>
              <c:numCache>
                <c:formatCode>General</c:formatCode>
                <c:ptCount val="6"/>
                <c:pt idx="0">
                  <c:v>33</c:v>
                </c:pt>
                <c:pt idx="1">
                  <c:v>67</c:v>
                </c:pt>
                <c:pt idx="2">
                  <c:v>0</c:v>
                </c:pt>
                <c:pt idx="3">
                  <c:v>0</c:v>
                </c:pt>
                <c:pt idx="4">
                  <c:v>0</c:v>
                </c:pt>
                <c:pt idx="5">
                  <c:v>0</c:v>
                </c:pt>
              </c:numCache>
            </c:numRef>
          </c:val>
        </c:ser>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400000"/>
          <a:lstStyle/>
          <a:p>
            <a:pPr>
              <a:defRPr sz="5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0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 (Q8)</c:v>
                </c:pt>
              </c:strCache>
            </c:strRef>
          </c:tx>
          <c:spPr>
            <a:solidFill>
              <a:srgbClr val="86BC25"/>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Sheet1!$B$2:$B$7</c:f>
              <c:numCache>
                <c:formatCode>General</c:formatCode>
                <c:ptCount val="6"/>
                <c:pt idx="0">
                  <c:v>17</c:v>
                </c:pt>
                <c:pt idx="1">
                  <c:v>33</c:v>
                </c:pt>
                <c:pt idx="2">
                  <c:v>0</c:v>
                </c:pt>
                <c:pt idx="3">
                  <c:v>33</c:v>
                </c:pt>
                <c:pt idx="4">
                  <c:v>17</c:v>
                </c:pt>
                <c:pt idx="5">
                  <c:v>0</c:v>
                </c:pt>
              </c:numCache>
            </c:numRef>
          </c:val>
        </c:ser>
        <c:ser>
          <c:idx val="1"/>
          <c:order val="1"/>
          <c:tx>
            <c:strRef>
              <c:f>Sheet1!$C$1</c:f>
              <c:strCache>
                <c:ptCount val="1"/>
                <c:pt idx="0">
                  <c:v>3-Year Focus (Q9)</c:v>
                </c:pt>
              </c:strCache>
            </c:strRef>
          </c:tx>
          <c:spPr>
            <a:solidFill>
              <a:srgbClr val="046A38"/>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Sheet1!$C$2:$C$7</c:f>
              <c:numCache>
                <c:formatCode>General</c:formatCode>
                <c:ptCount val="6"/>
                <c:pt idx="0">
                  <c:v>50</c:v>
                </c:pt>
                <c:pt idx="1">
                  <c:v>17</c:v>
                </c:pt>
                <c:pt idx="2">
                  <c:v>33</c:v>
                </c:pt>
                <c:pt idx="3">
                  <c:v>0</c:v>
                </c:pt>
                <c:pt idx="4">
                  <c:v>0</c:v>
                </c:pt>
                <c:pt idx="5">
                  <c:v>0</c:v>
                </c:pt>
              </c:numCache>
            </c:numRef>
          </c:val>
        </c:ser>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400000"/>
          <a:lstStyle/>
          <a:p>
            <a:pPr>
              <a:defRPr sz="5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0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 (Q8)</c:v>
                </c:pt>
              </c:strCache>
            </c:strRef>
          </c:tx>
          <c:spPr>
            <a:solidFill>
              <a:srgbClr val="86BC25"/>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Sheet1!$B$2:$B$7</c:f>
              <c:numCache>
                <c:formatCode>General</c:formatCode>
                <c:ptCount val="6"/>
                <c:pt idx="0">
                  <c:v>0</c:v>
                </c:pt>
                <c:pt idx="1">
                  <c:v>0</c:v>
                </c:pt>
                <c:pt idx="2">
                  <c:v>0</c:v>
                </c:pt>
                <c:pt idx="3">
                  <c:v>100</c:v>
                </c:pt>
                <c:pt idx="4">
                  <c:v>0</c:v>
                </c:pt>
                <c:pt idx="5">
                  <c:v>0</c:v>
                </c:pt>
              </c:numCache>
            </c:numRef>
          </c:val>
        </c:ser>
        <c:ser>
          <c:idx val="1"/>
          <c:order val="1"/>
          <c:tx>
            <c:strRef>
              <c:f>Sheet1!$C$1</c:f>
              <c:strCache>
                <c:ptCount val="1"/>
                <c:pt idx="0">
                  <c:v>3-Year Focus (Q9)</c:v>
                </c:pt>
              </c:strCache>
            </c:strRef>
          </c:tx>
          <c:spPr>
            <a:solidFill>
              <a:srgbClr val="046A38"/>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Sheet1!$C$2:$C$7</c:f>
              <c:numCache>
                <c:formatCode>General</c:formatCode>
                <c:ptCount val="6"/>
                <c:pt idx="0">
                  <c:v>0</c:v>
                </c:pt>
                <c:pt idx="1">
                  <c:v>0</c:v>
                </c:pt>
                <c:pt idx="2">
                  <c:v>0</c:v>
                </c:pt>
                <c:pt idx="3">
                  <c:v>0</c:v>
                </c:pt>
                <c:pt idx="4">
                  <c:v>100</c:v>
                </c:pt>
                <c:pt idx="5">
                  <c:v>0</c:v>
                </c:pt>
              </c:numCache>
            </c:numRef>
          </c:val>
        </c:ser>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400000"/>
          <a:lstStyle/>
          <a:p>
            <a:pPr>
              <a:defRPr sz="5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Today</c:v>
                </c:pt>
              </c:strCache>
            </c:strRef>
          </c:tx>
          <c:spPr>
            <a:solidFill>
              <a:srgbClr val="86BC25"/>
            </a:solidFill>
            <a:effectLst/>
          </c:spPr>
          <c:invertIfNegative val="0"/>
          <c:dLbls>
            <c:numFmt formatCode="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AI-enabled tools</c:v>
                  </c:pt>
                  <c:pt idx="1">
                    <c:v>Automating workflows</c:v>
                  </c:pt>
                  <c:pt idx="2">
                    <c:v>Redesigning processes</c:v>
                  </c:pt>
                  <c:pt idx="3">
                    <c:v>Outsourcing</c:v>
                  </c:pt>
                  <c:pt idx="4">
                    <c:v>Hiring / workforce</c:v>
                  </c:pt>
                  <c:pt idx="5">
                    <c:v>Combination</c:v>
                  </c:pt>
                </c:lvl>
              </c:multiLvlStrCache>
            </c:multiLvlStrRef>
          </c:cat>
          <c:val>
            <c:numRef>
              <c:f>Sheet1!$B$2:$B$7</c:f>
              <c:numCache>
                <c:formatCode>General</c:formatCode>
                <c:ptCount val="6"/>
                <c:pt idx="0">
                  <c:v>35</c:v>
                </c:pt>
                <c:pt idx="1">
                  <c:v>32</c:v>
                </c:pt>
                <c:pt idx="2">
                  <c:v>8</c:v>
                </c:pt>
                <c:pt idx="3">
                  <c:v>5</c:v>
                </c:pt>
                <c:pt idx="4">
                  <c:v>5</c:v>
                </c:pt>
                <c:pt idx="5">
                  <c:v>15</c:v>
                </c:pt>
              </c:numCache>
            </c:numRef>
          </c:val>
        </c:ser>
        <c:ser>
          <c:idx val="1"/>
          <c:order val="1"/>
          <c:tx>
            <c:strRef>
              <c:f>Sheet1!$C$1</c:f>
              <c:strCache>
                <c:ptCount val="1"/>
                <c:pt idx="0">
                  <c:v>3-Year Focus</c:v>
                </c:pt>
              </c:strCache>
            </c:strRef>
          </c:tx>
          <c:spPr>
            <a:solidFill>
              <a:srgbClr val="046A38"/>
            </a:solidFill>
            <a:effectLst/>
          </c:spPr>
          <c:invertIfNegative val="0"/>
          <c:dLbls>
            <c:numFmt formatCode="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AI-enabled tools</c:v>
                  </c:pt>
                  <c:pt idx="1">
                    <c:v>Automating workflows</c:v>
                  </c:pt>
                  <c:pt idx="2">
                    <c:v>Redesigning processes</c:v>
                  </c:pt>
                  <c:pt idx="3">
                    <c:v>Outsourcing</c:v>
                  </c:pt>
                  <c:pt idx="4">
                    <c:v>Hiring / workforce</c:v>
                  </c:pt>
                  <c:pt idx="5">
                    <c:v>Combination</c:v>
                  </c:pt>
                </c:lvl>
              </c:multiLvlStrCache>
            </c:multiLvlStrRef>
          </c:cat>
          <c:val>
            <c:numRef>
              <c:f>Sheet1!$C$2:$C$7</c:f>
              <c:numCache>
                <c:formatCode>General</c:formatCode>
                <c:ptCount val="6"/>
                <c:pt idx="0">
                  <c:v>40</c:v>
                </c:pt>
                <c:pt idx="1">
                  <c:v>32</c:v>
                </c:pt>
                <c:pt idx="2">
                  <c:v>15</c:v>
                </c:pt>
                <c:pt idx="3">
                  <c:v>8</c:v>
                </c:pt>
                <c:pt idx="4">
                  <c:v>2</c:v>
                </c:pt>
                <c:pt idx="5">
                  <c:v>2</c:v>
                </c:pt>
              </c:numCache>
            </c:numRef>
          </c:val>
        </c:ser>
        <c:dLbls>
          <c:numFmt formatCode="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1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Today</c:v>
                </c:pt>
              </c:strCache>
            </c:strRef>
          </c:tx>
          <c:spPr>
            <a:solidFill>
              <a:srgbClr val="86BC25"/>
            </a:solidFill>
            <a:effectLst/>
          </c:spPr>
          <c:invertIfNegative val="0"/>
          <c:dLbls>
            <c:numFmt formatCode="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AI-enabled tools</c:v>
                  </c:pt>
                  <c:pt idx="1">
                    <c:v>Automating workflows</c:v>
                  </c:pt>
                  <c:pt idx="2">
                    <c:v>Redesigning processes</c:v>
                  </c:pt>
                  <c:pt idx="3">
                    <c:v>Outsourcing</c:v>
                  </c:pt>
                  <c:pt idx="4">
                    <c:v>Hiring / workforce</c:v>
                  </c:pt>
                  <c:pt idx="5">
                    <c:v>Combination</c:v>
                  </c:pt>
                </c:lvl>
              </c:multiLvlStrCache>
            </c:multiLvlStrRef>
          </c:cat>
          <c:val>
            <c:numRef>
              <c:f>Sheet1!$B$2:$B$7</c:f>
              <c:numCache>
                <c:formatCode>General</c:formatCode>
                <c:ptCount val="6"/>
                <c:pt idx="0">
                  <c:v>34</c:v>
                </c:pt>
                <c:pt idx="1">
                  <c:v>26</c:v>
                </c:pt>
                <c:pt idx="2">
                  <c:v>11</c:v>
                </c:pt>
                <c:pt idx="3">
                  <c:v>11</c:v>
                </c:pt>
                <c:pt idx="4">
                  <c:v>14</c:v>
                </c:pt>
                <c:pt idx="5">
                  <c:v>3</c:v>
                </c:pt>
              </c:numCache>
            </c:numRef>
          </c:val>
        </c:ser>
        <c:ser>
          <c:idx val="1"/>
          <c:order val="1"/>
          <c:tx>
            <c:strRef>
              <c:f>Sheet1!$C$1</c:f>
              <c:strCache>
                <c:ptCount val="1"/>
                <c:pt idx="0">
                  <c:v>3-Year Focus</c:v>
                </c:pt>
              </c:strCache>
            </c:strRef>
          </c:tx>
          <c:spPr>
            <a:solidFill>
              <a:srgbClr val="046A38"/>
            </a:solidFill>
            <a:effectLst/>
          </c:spPr>
          <c:invertIfNegative val="0"/>
          <c:dLbls>
            <c:numFmt formatCode="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AI-enabled tools</c:v>
                  </c:pt>
                  <c:pt idx="1">
                    <c:v>Automating workflows</c:v>
                  </c:pt>
                  <c:pt idx="2">
                    <c:v>Redesigning processes</c:v>
                  </c:pt>
                  <c:pt idx="3">
                    <c:v>Outsourcing</c:v>
                  </c:pt>
                  <c:pt idx="4">
                    <c:v>Hiring / workforce</c:v>
                  </c:pt>
                  <c:pt idx="5">
                    <c:v>Combination</c:v>
                  </c:pt>
                </c:lvl>
              </c:multiLvlStrCache>
            </c:multiLvlStrRef>
          </c:cat>
          <c:val>
            <c:numRef>
              <c:f>Sheet1!$C$2:$C$7</c:f>
              <c:numCache>
                <c:formatCode>General</c:formatCode>
                <c:ptCount val="6"/>
                <c:pt idx="0">
                  <c:v>43</c:v>
                </c:pt>
                <c:pt idx="1">
                  <c:v>20</c:v>
                </c:pt>
                <c:pt idx="2">
                  <c:v>17</c:v>
                </c:pt>
                <c:pt idx="3">
                  <c:v>9</c:v>
                </c:pt>
                <c:pt idx="4">
                  <c:v>9</c:v>
                </c:pt>
                <c:pt idx="5">
                  <c:v>3</c:v>
                </c:pt>
              </c:numCache>
            </c:numRef>
          </c:val>
        </c:ser>
        <c:dLbls>
          <c:numFmt formatCode="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1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 (Q8)</c:v>
                </c:pt>
              </c:strCache>
            </c:strRef>
          </c:tx>
          <c:spPr>
            <a:solidFill>
              <a:srgbClr val="86BC25"/>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Sheet1!$B$2:$B$7</c:f>
              <c:numCache>
                <c:formatCode>General</c:formatCode>
                <c:ptCount val="6"/>
                <c:pt idx="0">
                  <c:v>57</c:v>
                </c:pt>
                <c:pt idx="1">
                  <c:v>29</c:v>
                </c:pt>
                <c:pt idx="2">
                  <c:v>0</c:v>
                </c:pt>
                <c:pt idx="3">
                  <c:v>0</c:v>
                </c:pt>
                <c:pt idx="4">
                  <c:v>0</c:v>
                </c:pt>
                <c:pt idx="5">
                  <c:v>14</c:v>
                </c:pt>
              </c:numCache>
            </c:numRef>
          </c:val>
        </c:ser>
        <c:ser>
          <c:idx val="1"/>
          <c:order val="1"/>
          <c:tx>
            <c:strRef>
              <c:f>Sheet1!$C$1</c:f>
              <c:strCache>
                <c:ptCount val="1"/>
                <c:pt idx="0">
                  <c:v>3-Year Focus (Q9)</c:v>
                </c:pt>
              </c:strCache>
            </c:strRef>
          </c:tx>
          <c:spPr>
            <a:solidFill>
              <a:srgbClr val="046A38"/>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Sheet1!$C$2:$C$7</c:f>
              <c:numCache>
                <c:formatCode>General</c:formatCode>
                <c:ptCount val="6"/>
                <c:pt idx="0">
                  <c:v>29</c:v>
                </c:pt>
                <c:pt idx="1">
                  <c:v>21</c:v>
                </c:pt>
                <c:pt idx="2">
                  <c:v>29</c:v>
                </c:pt>
                <c:pt idx="3">
                  <c:v>14</c:v>
                </c:pt>
                <c:pt idx="4">
                  <c:v>0</c:v>
                </c:pt>
                <c:pt idx="5">
                  <c:v>7</c:v>
                </c:pt>
              </c:numCache>
            </c:numRef>
          </c:val>
        </c:ser>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400000"/>
          <a:lstStyle/>
          <a:p>
            <a:pPr>
              <a:defRPr sz="5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 (Q8)</c:v>
                </c:pt>
              </c:strCache>
            </c:strRef>
          </c:tx>
          <c:spPr>
            <a:solidFill>
              <a:srgbClr val="86BC25"/>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Sheet1!$B$2:$B$7</c:f>
              <c:numCache>
                <c:formatCode>General</c:formatCode>
                <c:ptCount val="6"/>
                <c:pt idx="0">
                  <c:v>15</c:v>
                </c:pt>
                <c:pt idx="1">
                  <c:v>38</c:v>
                </c:pt>
                <c:pt idx="2">
                  <c:v>8</c:v>
                </c:pt>
                <c:pt idx="3">
                  <c:v>8</c:v>
                </c:pt>
                <c:pt idx="4">
                  <c:v>8</c:v>
                </c:pt>
                <c:pt idx="5">
                  <c:v>23</c:v>
                </c:pt>
              </c:numCache>
            </c:numRef>
          </c:val>
        </c:ser>
        <c:ser>
          <c:idx val="1"/>
          <c:order val="1"/>
          <c:tx>
            <c:strRef>
              <c:f>Sheet1!$C$1</c:f>
              <c:strCache>
                <c:ptCount val="1"/>
                <c:pt idx="0">
                  <c:v>3-Year Focus (Q9)</c:v>
                </c:pt>
              </c:strCache>
            </c:strRef>
          </c:tx>
          <c:spPr>
            <a:solidFill>
              <a:srgbClr val="046A38"/>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Sheet1!$C$2:$C$7</c:f>
              <c:numCache>
                <c:formatCode>General</c:formatCode>
                <c:ptCount val="6"/>
                <c:pt idx="0">
                  <c:v>62</c:v>
                </c:pt>
                <c:pt idx="1">
                  <c:v>31</c:v>
                </c:pt>
                <c:pt idx="2">
                  <c:v>8</c:v>
                </c:pt>
                <c:pt idx="3">
                  <c:v>0</c:v>
                </c:pt>
                <c:pt idx="4">
                  <c:v>0</c:v>
                </c:pt>
                <c:pt idx="5">
                  <c:v>0</c:v>
                </c:pt>
              </c:numCache>
            </c:numRef>
          </c:val>
        </c:ser>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400000"/>
          <a:lstStyle/>
          <a:p>
            <a:pPr>
              <a:defRPr sz="5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 (Q8)</c:v>
                </c:pt>
              </c:strCache>
            </c:strRef>
          </c:tx>
          <c:spPr>
            <a:solidFill>
              <a:srgbClr val="86BC25"/>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Sheet1!$B$2:$B$7</c:f>
              <c:numCache>
                <c:formatCode>General</c:formatCode>
                <c:ptCount val="6"/>
                <c:pt idx="0">
                  <c:v>29</c:v>
                </c:pt>
                <c:pt idx="1">
                  <c:v>29</c:v>
                </c:pt>
                <c:pt idx="2">
                  <c:v>14</c:v>
                </c:pt>
                <c:pt idx="3">
                  <c:v>0</c:v>
                </c:pt>
                <c:pt idx="4">
                  <c:v>14</c:v>
                </c:pt>
                <c:pt idx="5">
                  <c:v>14</c:v>
                </c:pt>
              </c:numCache>
            </c:numRef>
          </c:val>
        </c:ser>
        <c:ser>
          <c:idx val="1"/>
          <c:order val="1"/>
          <c:tx>
            <c:strRef>
              <c:f>Sheet1!$C$1</c:f>
              <c:strCache>
                <c:ptCount val="1"/>
                <c:pt idx="0">
                  <c:v>3-Year Focus (Q9)</c:v>
                </c:pt>
              </c:strCache>
            </c:strRef>
          </c:tx>
          <c:spPr>
            <a:solidFill>
              <a:srgbClr val="046A38"/>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Sheet1!$C$2:$C$7</c:f>
              <c:numCache>
                <c:formatCode>General</c:formatCode>
                <c:ptCount val="6"/>
                <c:pt idx="0">
                  <c:v>57</c:v>
                </c:pt>
                <c:pt idx="1">
                  <c:v>29</c:v>
                </c:pt>
                <c:pt idx="2">
                  <c:v>14</c:v>
                </c:pt>
                <c:pt idx="3">
                  <c:v>0</c:v>
                </c:pt>
                <c:pt idx="4">
                  <c:v>0</c:v>
                </c:pt>
                <c:pt idx="5">
                  <c:v>0</c:v>
                </c:pt>
              </c:numCache>
            </c:numRef>
          </c:val>
        </c:ser>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400000"/>
          <a:lstStyle/>
          <a:p>
            <a:pPr>
              <a:defRPr sz="5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 (Q8)</c:v>
                </c:pt>
              </c:strCache>
            </c:strRef>
          </c:tx>
          <c:spPr>
            <a:solidFill>
              <a:srgbClr val="86BC25"/>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Sheet1!$B$2:$B$7</c:f>
              <c:numCache>
                <c:formatCode>General</c:formatCode>
                <c:ptCount val="6"/>
                <c:pt idx="0">
                  <c:v>25</c:v>
                </c:pt>
                <c:pt idx="1">
                  <c:v>50</c:v>
                </c:pt>
                <c:pt idx="2">
                  <c:v>25</c:v>
                </c:pt>
                <c:pt idx="3">
                  <c:v>0</c:v>
                </c:pt>
                <c:pt idx="4">
                  <c:v>0</c:v>
                </c:pt>
                <c:pt idx="5">
                  <c:v>0</c:v>
                </c:pt>
              </c:numCache>
            </c:numRef>
          </c:val>
        </c:ser>
        <c:ser>
          <c:idx val="1"/>
          <c:order val="1"/>
          <c:tx>
            <c:strRef>
              <c:f>Sheet1!$C$1</c:f>
              <c:strCache>
                <c:ptCount val="1"/>
                <c:pt idx="0">
                  <c:v>3-Year Focus (Q9)</c:v>
                </c:pt>
              </c:strCache>
            </c:strRef>
          </c:tx>
          <c:spPr>
            <a:solidFill>
              <a:srgbClr val="046A38"/>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Sheet1!$C$2:$C$7</c:f>
              <c:numCache>
                <c:formatCode>General</c:formatCode>
                <c:ptCount val="6"/>
                <c:pt idx="0">
                  <c:v>0</c:v>
                </c:pt>
                <c:pt idx="1">
                  <c:v>50</c:v>
                </c:pt>
                <c:pt idx="2">
                  <c:v>0</c:v>
                </c:pt>
                <c:pt idx="3">
                  <c:v>25</c:v>
                </c:pt>
                <c:pt idx="4">
                  <c:v>25</c:v>
                </c:pt>
                <c:pt idx="5">
                  <c:v>0</c:v>
                </c:pt>
              </c:numCache>
            </c:numRef>
          </c:val>
        </c:ser>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400000"/>
          <a:lstStyle/>
          <a:p>
            <a:pPr>
              <a:defRPr sz="5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 (Q8)</c:v>
                </c:pt>
              </c:strCache>
            </c:strRef>
          </c:tx>
          <c:spPr>
            <a:solidFill>
              <a:srgbClr val="86BC25"/>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Sheet1!$B$2:$B$7</c:f>
              <c:numCache>
                <c:formatCode>General</c:formatCode>
                <c:ptCount val="6"/>
                <c:pt idx="0">
                  <c:v>50</c:v>
                </c:pt>
                <c:pt idx="1">
                  <c:v>0</c:v>
                </c:pt>
                <c:pt idx="2">
                  <c:v>0</c:v>
                </c:pt>
                <c:pt idx="3">
                  <c:v>50</c:v>
                </c:pt>
                <c:pt idx="4">
                  <c:v>0</c:v>
                </c:pt>
                <c:pt idx="5">
                  <c:v>0</c:v>
                </c:pt>
              </c:numCache>
            </c:numRef>
          </c:val>
        </c:ser>
        <c:ser>
          <c:idx val="1"/>
          <c:order val="1"/>
          <c:tx>
            <c:strRef>
              <c:f>Sheet1!$C$1</c:f>
              <c:strCache>
                <c:ptCount val="1"/>
                <c:pt idx="0">
                  <c:v>3-Year Focus (Q9)</c:v>
                </c:pt>
              </c:strCache>
            </c:strRef>
          </c:tx>
          <c:spPr>
            <a:solidFill>
              <a:srgbClr val="046A38"/>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Sheet1!$C$2:$C$7</c:f>
              <c:numCache>
                <c:formatCode>General</c:formatCode>
                <c:ptCount val="6"/>
                <c:pt idx="0">
                  <c:v>0</c:v>
                </c:pt>
                <c:pt idx="1">
                  <c:v>100</c:v>
                </c:pt>
                <c:pt idx="2">
                  <c:v>0</c:v>
                </c:pt>
                <c:pt idx="3">
                  <c:v>0</c:v>
                </c:pt>
                <c:pt idx="4">
                  <c:v>0</c:v>
                </c:pt>
                <c:pt idx="5">
                  <c:v>0</c:v>
                </c:pt>
              </c:numCache>
            </c:numRef>
          </c:val>
        </c:ser>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400000"/>
          <a:lstStyle/>
          <a:p>
            <a:pPr>
              <a:defRPr sz="5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 (Q8)</c:v>
                </c:pt>
              </c:strCache>
            </c:strRef>
          </c:tx>
          <c:spPr>
            <a:solidFill>
              <a:srgbClr val="86BC25"/>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Sheet1!$B$2:$B$7</c:f>
              <c:numCache>
                <c:formatCode>General</c:formatCode>
                <c:ptCount val="6"/>
                <c:pt idx="0">
                  <c:v>30</c:v>
                </c:pt>
                <c:pt idx="1">
                  <c:v>20</c:v>
                </c:pt>
                <c:pt idx="2">
                  <c:v>10</c:v>
                </c:pt>
                <c:pt idx="3">
                  <c:v>15</c:v>
                </c:pt>
                <c:pt idx="4">
                  <c:v>25</c:v>
                </c:pt>
                <c:pt idx="5">
                  <c:v>0</c:v>
                </c:pt>
              </c:numCache>
            </c:numRef>
          </c:val>
        </c:ser>
        <c:ser>
          <c:idx val="1"/>
          <c:order val="1"/>
          <c:tx>
            <c:strRef>
              <c:f>Sheet1!$C$1</c:f>
              <c:strCache>
                <c:ptCount val="1"/>
                <c:pt idx="0">
                  <c:v>3-Year Focus (Q9)</c:v>
                </c:pt>
              </c:strCache>
            </c:strRef>
          </c:tx>
          <c:spPr>
            <a:solidFill>
              <a:srgbClr val="046A38"/>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Sheet1!$C$2:$C$7</c:f>
              <c:numCache>
                <c:formatCode>General</c:formatCode>
                <c:ptCount val="6"/>
                <c:pt idx="0">
                  <c:v>35</c:v>
                </c:pt>
                <c:pt idx="1">
                  <c:v>25</c:v>
                </c:pt>
                <c:pt idx="2">
                  <c:v>20</c:v>
                </c:pt>
                <c:pt idx="3">
                  <c:v>5</c:v>
                </c:pt>
                <c:pt idx="4">
                  <c:v>15</c:v>
                </c:pt>
                <c:pt idx="5">
                  <c:v>0</c:v>
                </c:pt>
              </c:numCache>
            </c:numRef>
          </c:val>
        </c:ser>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400000"/>
          <a:lstStyle/>
          <a:p>
            <a:pPr>
              <a:defRPr sz="5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 (Q8)</c:v>
                </c:pt>
              </c:strCache>
            </c:strRef>
          </c:tx>
          <c:spPr>
            <a:solidFill>
              <a:srgbClr val="86BC25"/>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Sheet1!$B$2:$B$7</c:f>
              <c:numCache>
                <c:formatCode>General</c:formatCode>
                <c:ptCount val="6"/>
                <c:pt idx="0">
                  <c:v>40</c:v>
                </c:pt>
                <c:pt idx="1">
                  <c:v>60</c:v>
                </c:pt>
                <c:pt idx="2">
                  <c:v>0</c:v>
                </c:pt>
                <c:pt idx="3">
                  <c:v>0</c:v>
                </c:pt>
                <c:pt idx="4">
                  <c:v>0</c:v>
                </c:pt>
                <c:pt idx="5">
                  <c:v>0</c:v>
                </c:pt>
              </c:numCache>
            </c:numRef>
          </c:val>
        </c:ser>
        <c:ser>
          <c:idx val="1"/>
          <c:order val="1"/>
          <c:tx>
            <c:strRef>
              <c:f>Sheet1!$C$1</c:f>
              <c:strCache>
                <c:ptCount val="1"/>
                <c:pt idx="0">
                  <c:v>3-Year Focus (Q9)</c:v>
                </c:pt>
              </c:strCache>
            </c:strRef>
          </c:tx>
          <c:spPr>
            <a:solidFill>
              <a:srgbClr val="046A38"/>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Sheet1!$C$2:$C$7</c:f>
              <c:numCache>
                <c:formatCode>General</c:formatCode>
                <c:ptCount val="6"/>
                <c:pt idx="0">
                  <c:v>60</c:v>
                </c:pt>
                <c:pt idx="1">
                  <c:v>0</c:v>
                </c:pt>
                <c:pt idx="2">
                  <c:v>20</c:v>
                </c:pt>
                <c:pt idx="3">
                  <c:v>20</c:v>
                </c:pt>
                <c:pt idx="4">
                  <c:v>0</c:v>
                </c:pt>
                <c:pt idx="5">
                  <c:v>0</c:v>
                </c:pt>
              </c:numCache>
            </c:numRef>
          </c:val>
        </c:ser>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400000"/>
          <a:lstStyle/>
          <a:p>
            <a:pPr>
              <a:defRPr sz="5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 (Q8)</c:v>
                </c:pt>
              </c:strCache>
            </c:strRef>
          </c:tx>
          <c:spPr>
            <a:solidFill>
              <a:srgbClr val="86BC25"/>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Sheet1!$B$2:$B$7</c:f>
              <c:numCache>
                <c:formatCode>General</c:formatCode>
                <c:ptCount val="6"/>
                <c:pt idx="0">
                  <c:v>40</c:v>
                </c:pt>
                <c:pt idx="1">
                  <c:v>20</c:v>
                </c:pt>
                <c:pt idx="2">
                  <c:v>20</c:v>
                </c:pt>
                <c:pt idx="3">
                  <c:v>0</c:v>
                </c:pt>
                <c:pt idx="4">
                  <c:v>0</c:v>
                </c:pt>
                <c:pt idx="5">
                  <c:v>20</c:v>
                </c:pt>
              </c:numCache>
            </c:numRef>
          </c:val>
        </c:ser>
        <c:ser>
          <c:idx val="1"/>
          <c:order val="1"/>
          <c:tx>
            <c:strRef>
              <c:f>Sheet1!$C$1</c:f>
              <c:strCache>
                <c:ptCount val="1"/>
                <c:pt idx="0">
                  <c:v>3-Year Focus (Q9)</c:v>
                </c:pt>
              </c:strCache>
            </c:strRef>
          </c:tx>
          <c:spPr>
            <a:solidFill>
              <a:srgbClr val="046A38"/>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Sheet1!$C$2:$C$7</c:f>
              <c:numCache>
                <c:formatCode>General</c:formatCode>
                <c:ptCount val="6"/>
                <c:pt idx="0">
                  <c:v>40</c:v>
                </c:pt>
                <c:pt idx="1">
                  <c:v>20</c:v>
                </c:pt>
                <c:pt idx="2">
                  <c:v>0</c:v>
                </c:pt>
                <c:pt idx="3">
                  <c:v>20</c:v>
                </c:pt>
                <c:pt idx="4">
                  <c:v>0</c:v>
                </c:pt>
                <c:pt idx="5">
                  <c:v>20</c:v>
                </c:pt>
              </c:numCache>
            </c:numRef>
          </c:val>
        </c:ser>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400000"/>
          <a:lstStyle/>
          <a:p>
            <a:pPr>
              <a:defRPr sz="5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 (Q8)</c:v>
                </c:pt>
              </c:strCache>
            </c:strRef>
          </c:tx>
          <c:spPr>
            <a:solidFill>
              <a:srgbClr val="86BC25"/>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Sheet1!$B$2:$B$7</c:f>
              <c:numCache>
                <c:formatCode>General</c:formatCode>
                <c:ptCount val="6"/>
                <c:pt idx="0">
                  <c:v>67</c:v>
                </c:pt>
                <c:pt idx="1">
                  <c:v>0</c:v>
                </c:pt>
                <c:pt idx="2">
                  <c:v>0</c:v>
                </c:pt>
                <c:pt idx="3">
                  <c:v>33</c:v>
                </c:pt>
                <c:pt idx="4">
                  <c:v>0</c:v>
                </c:pt>
                <c:pt idx="5">
                  <c:v>0</c:v>
                </c:pt>
              </c:numCache>
            </c:numRef>
          </c:val>
        </c:ser>
        <c:ser>
          <c:idx val="1"/>
          <c:order val="1"/>
          <c:tx>
            <c:strRef>
              <c:f>Sheet1!$C$1</c:f>
              <c:strCache>
                <c:ptCount val="1"/>
                <c:pt idx="0">
                  <c:v>3-Year Focus (Q9)</c:v>
                </c:pt>
              </c:strCache>
            </c:strRef>
          </c:tx>
          <c:spPr>
            <a:solidFill>
              <a:srgbClr val="046A38"/>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Sheet1!$C$2:$C$7</c:f>
              <c:numCache>
                <c:formatCode>General</c:formatCode>
                <c:ptCount val="6"/>
                <c:pt idx="0">
                  <c:v>33</c:v>
                </c:pt>
                <c:pt idx="1">
                  <c:v>33</c:v>
                </c:pt>
                <c:pt idx="2">
                  <c:v>33</c:v>
                </c:pt>
                <c:pt idx="3">
                  <c:v>0</c:v>
                </c:pt>
                <c:pt idx="4">
                  <c:v>0</c:v>
                </c:pt>
                <c:pt idx="5">
                  <c:v>0</c:v>
                </c:pt>
              </c:numCache>
            </c:numRef>
          </c:val>
        </c:ser>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400000"/>
          <a:lstStyle/>
          <a:p>
            <a:pPr>
              <a:defRPr sz="5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 (Q8)</c:v>
                </c:pt>
              </c:strCache>
            </c:strRef>
          </c:tx>
          <c:spPr>
            <a:solidFill>
              <a:srgbClr val="86BC25"/>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Sheet1!$B$2:$B$7</c:f>
              <c:numCache>
                <c:formatCode>General</c:formatCode>
                <c:ptCount val="6"/>
                <c:pt idx="0">
                  <c:v>0</c:v>
                </c:pt>
                <c:pt idx="1">
                  <c:v>50</c:v>
                </c:pt>
                <c:pt idx="2">
                  <c:v>50</c:v>
                </c:pt>
                <c:pt idx="3">
                  <c:v>0</c:v>
                </c:pt>
                <c:pt idx="4">
                  <c:v>0</c:v>
                </c:pt>
                <c:pt idx="5">
                  <c:v>0</c:v>
                </c:pt>
              </c:numCache>
            </c:numRef>
          </c:val>
        </c:ser>
        <c:ser>
          <c:idx val="1"/>
          <c:order val="1"/>
          <c:tx>
            <c:strRef>
              <c:f>Sheet1!$C$1</c:f>
              <c:strCache>
                <c:ptCount val="1"/>
                <c:pt idx="0">
                  <c:v>3-Year Focus (Q9)</c:v>
                </c:pt>
              </c:strCache>
            </c:strRef>
          </c:tx>
          <c:spPr>
            <a:solidFill>
              <a:srgbClr val="046A38"/>
            </a:solidFill>
            <a:effectLst/>
          </c:spPr>
          <c:invertIfNegative val="0"/>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c:v>
                  </c:pt>
                  <c:pt idx="1">
                    <c:v>Automate</c:v>
                  </c:pt>
                  <c:pt idx="2">
                    <c:v>Redesign</c:v>
                  </c:pt>
                  <c:pt idx="3">
                    <c:v>Outsource</c:v>
                  </c:pt>
                  <c:pt idx="4">
                    <c:v>Hire</c:v>
                  </c:pt>
                  <c:pt idx="5">
                    <c:v>Combo</c:v>
                  </c:pt>
                </c:lvl>
              </c:multiLvlStrCache>
            </c:multiLvlStrRef>
          </c:cat>
          <c:val>
            <c:numRef>
              <c:f>Sheet1!$C$2:$C$7</c:f>
              <c:numCache>
                <c:formatCode>General</c:formatCode>
                <c:ptCount val="6"/>
                <c:pt idx="0">
                  <c:v>100</c:v>
                </c:pt>
                <c:pt idx="1">
                  <c:v>0</c:v>
                </c:pt>
                <c:pt idx="2">
                  <c:v>0</c:v>
                </c:pt>
                <c:pt idx="3">
                  <c:v>0</c:v>
                </c:pt>
                <c:pt idx="4">
                  <c:v>0</c:v>
                </c:pt>
                <c:pt idx="5">
                  <c:v>0</c:v>
                </c:pt>
              </c:numCache>
            </c:numRef>
          </c:val>
        </c:ser>
        <c:dLbls>
          <c:numFmt formatCode="0&quot;%&quot;" sourceLinked="0"/>
          <c:txPr>
            <a:bodyPr/>
            <a:lstStyle/>
            <a:p>
              <a:pPr>
                <a:defRPr b="0" i="0" strike="noStrike" sz="5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400000"/>
          <a:lstStyle/>
          <a:p>
            <a:pPr>
              <a:defRPr sz="5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Fraud Investment Relative to Regulatory Requirements</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Investing to remediate existing compliance gaps</c:v>
                  </c:pt>
                  <c:pt idx="1">
                    <c:v>Investing to meet upcoming / draft regulations</c:v>
                  </c:pt>
                  <c:pt idx="2">
                    <c:v>Regulation not a primary driver</c:v>
                  </c:pt>
                </c:lvl>
              </c:multiLvlStrCache>
            </c:multiLvlStrRef>
          </c:cat>
          <c:val>
            <c:numRef>
              <c:f>Sheet1!$B$2:$B$4</c:f>
              <c:numCache>
                <c:formatCode>General</c:formatCode>
                <c:ptCount val="3"/>
                <c:pt idx="0">
                  <c:v>48</c:v>
                </c:pt>
                <c:pt idx="1">
                  <c:v>39</c:v>
                </c:pt>
                <c:pt idx="2">
                  <c:v>13</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United States</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Remediate gaps</c:v>
                  </c:pt>
                  <c:pt idx="1">
                    <c:v>Meet upcoming regs</c:v>
                  </c:pt>
                  <c:pt idx="2">
                    <c:v>Not primary driver</c:v>
                  </c:pt>
                </c:lvl>
              </c:multiLvlStrCache>
            </c:multiLvlStrRef>
          </c:cat>
          <c:val>
            <c:numRef>
              <c:f>Sheet1!$B$2:$B$4</c:f>
              <c:numCache>
                <c:formatCode>General</c:formatCode>
                <c:ptCount val="3"/>
                <c:pt idx="0">
                  <c:v>41</c:v>
                </c:pt>
                <c:pt idx="1">
                  <c:v>43</c:v>
                </c:pt>
                <c:pt idx="2">
                  <c:v>16</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Canada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Remediate gaps</c:v>
                  </c:pt>
                  <c:pt idx="1">
                    <c:v>Meet upcoming regs</c:v>
                  </c:pt>
                  <c:pt idx="2">
                    <c:v>Not primary driver</c:v>
                  </c:pt>
                </c:lvl>
              </c:multiLvlStrCache>
            </c:multiLvlStrRef>
          </c:cat>
          <c:val>
            <c:numRef>
              <c:f>Sheet1!$B$2:$B$4</c:f>
              <c:numCache>
                <c:formatCode>General</c:formatCode>
                <c:ptCount val="3"/>
                <c:pt idx="0">
                  <c:v>63</c:v>
                </c:pt>
                <c:pt idx="1">
                  <c:v>30</c:v>
                </c:pt>
                <c:pt idx="2">
                  <c:v>7</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Europe (EU + UK)</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Remediate gaps</c:v>
                  </c:pt>
                  <c:pt idx="1">
                    <c:v>Meet upcoming regs</c:v>
                  </c:pt>
                  <c:pt idx="2">
                    <c:v>Not primary driver</c:v>
                  </c:pt>
                </c:lvl>
              </c:multiLvlStrCache>
            </c:multiLvlStrRef>
          </c:cat>
          <c:val>
            <c:numRef>
              <c:f>Sheet1!$B$2:$B$4</c:f>
              <c:numCache>
                <c:formatCode>General</c:formatCode>
                <c:ptCount val="3"/>
                <c:pt idx="0">
                  <c:v>36</c:v>
                </c:pt>
                <c:pt idx="1">
                  <c:v>50</c:v>
                </c:pt>
                <c:pt idx="2">
                  <c:v>14</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Australia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Remediate gaps</c:v>
                  </c:pt>
                  <c:pt idx="1">
                    <c:v>Meet upcoming regs</c:v>
                  </c:pt>
                  <c:pt idx="2">
                    <c:v>Not primary driver</c:v>
                  </c:pt>
                </c:lvl>
              </c:multiLvlStrCache>
            </c:multiLvlStrRef>
          </c:cat>
          <c:val>
            <c:numRef>
              <c:f>Sheet1!$B$2:$B$4</c:f>
              <c:numCache>
                <c:formatCode>General</c:formatCode>
                <c:ptCount val="3"/>
                <c:pt idx="0">
                  <c:v>63</c:v>
                </c:pt>
                <c:pt idx="1">
                  <c:v>25</c:v>
                </c:pt>
                <c:pt idx="2">
                  <c:v>13</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Singapore</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Remediate gaps</c:v>
                  </c:pt>
                  <c:pt idx="1">
                    <c:v>Meet upcoming regs</c:v>
                  </c:pt>
                  <c:pt idx="2">
                    <c:v>Not primary driver</c:v>
                  </c:pt>
                </c:lvl>
              </c:multiLvlStrCache>
            </c:multiLvlStrRef>
          </c:cat>
          <c:val>
            <c:numRef>
              <c:f>Sheet1!$B$2:$B$4</c:f>
              <c:numCache>
                <c:formatCode>General</c:formatCode>
                <c:ptCount val="3"/>
                <c:pt idx="0">
                  <c:v>25</c:v>
                </c:pt>
                <c:pt idx="1">
                  <c:v>50</c:v>
                </c:pt>
                <c:pt idx="2">
                  <c:v>25</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 50 Global Insurance Carrier (n=15)</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Investing to remediate existing compliance gaps</c:v>
                  </c:pt>
                  <c:pt idx="1">
                    <c:v>Investing to meet upcoming / draft regulations</c:v>
                  </c:pt>
                  <c:pt idx="2">
                    <c:v>Regulation not a primary driver</c:v>
                  </c:pt>
                </c:lvl>
              </c:multiLvlStrCache>
            </c:multiLvlStrRef>
          </c:cat>
          <c:val>
            <c:numRef>
              <c:f>Sheet1!$B$2:$B$4</c:f>
              <c:numCache>
                <c:formatCode>General</c:formatCode>
                <c:ptCount val="3"/>
                <c:pt idx="0">
                  <c:v>33</c:v>
                </c:pt>
                <c:pt idx="1">
                  <c:v>47</c:v>
                </c:pt>
                <c:pt idx="2">
                  <c:v>20</c:v>
                </c:pt>
              </c:numCache>
            </c:numRef>
          </c:val>
        </c:ser>
        <c:ser>
          <c:idx val="1"/>
          <c:order val="1"/>
          <c:tx>
            <c:strRef>
              <c:f>Sheet1!$C$1</c:f>
              <c:strCache>
                <c:ptCount val="1"/>
                <c:pt idx="0">
                  <c:v>Large Insurance Carrier (n=10)</c:v>
                </c:pt>
              </c:strCache>
            </c:strRef>
          </c:tx>
          <c:spPr>
            <a:solidFill>
              <a:srgbClr val="046A38"/>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Investing to remediate existing compliance gaps</c:v>
                  </c:pt>
                  <c:pt idx="1">
                    <c:v>Investing to meet upcoming / draft regulations</c:v>
                  </c:pt>
                  <c:pt idx="2">
                    <c:v>Regulation not a primary driver</c:v>
                  </c:pt>
                </c:lvl>
              </c:multiLvlStrCache>
            </c:multiLvlStrRef>
          </c:cat>
          <c:val>
            <c:numRef>
              <c:f>Sheet1!$C$2:$C$4</c:f>
              <c:numCache>
                <c:formatCode>General</c:formatCode>
                <c:ptCount val="3"/>
                <c:pt idx="0">
                  <c:v>70</c:v>
                </c:pt>
                <c:pt idx="1">
                  <c:v>30</c:v>
                </c:pt>
                <c:pt idx="2">
                  <c:v>0</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1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 100 Financial Institution (n=40)</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Investing to remediate existing compliance gaps</c:v>
                  </c:pt>
                  <c:pt idx="1">
                    <c:v>Investing to meet upcoming / draft regulations</c:v>
                  </c:pt>
                  <c:pt idx="2">
                    <c:v>Regulation not a primary driver</c:v>
                  </c:pt>
                </c:lvl>
              </c:multiLvlStrCache>
            </c:multiLvlStrRef>
          </c:cat>
          <c:val>
            <c:numRef>
              <c:f>Sheet1!$B$2:$B$4</c:f>
              <c:numCache>
                <c:formatCode>General</c:formatCode>
                <c:ptCount val="3"/>
                <c:pt idx="0">
                  <c:v>42</c:v>
                </c:pt>
                <c:pt idx="1">
                  <c:v>48</c:v>
                </c:pt>
                <c:pt idx="2">
                  <c:v>10</c:v>
                </c:pt>
              </c:numCache>
            </c:numRef>
          </c:val>
        </c:ser>
        <c:ser>
          <c:idx val="1"/>
          <c:order val="1"/>
          <c:tx>
            <c:strRef>
              <c:f>Sheet1!$C$1</c:f>
              <c:strCache>
                <c:ptCount val="1"/>
                <c:pt idx="0">
                  <c:v>Large Financial Institution (n=35)</c:v>
                </c:pt>
              </c:strCache>
            </c:strRef>
          </c:tx>
          <c:spPr>
            <a:solidFill>
              <a:srgbClr val="046A38"/>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Investing to remediate existing compliance gaps</c:v>
                  </c:pt>
                  <c:pt idx="1">
                    <c:v>Investing to meet upcoming / draft regulations</c:v>
                  </c:pt>
                  <c:pt idx="2">
                    <c:v>Regulation not a primary driver</c:v>
                  </c:pt>
                </c:lvl>
              </c:multiLvlStrCache>
            </c:multiLvlStrRef>
          </c:cat>
          <c:val>
            <c:numRef>
              <c:f>Sheet1!$C$2:$C$4</c:f>
              <c:numCache>
                <c:formatCode>General</c:formatCode>
                <c:ptCount val="3"/>
                <c:pt idx="0">
                  <c:v>54</c:v>
                </c:pt>
                <c:pt idx="1">
                  <c:v>29</c:v>
                </c:pt>
                <c:pt idx="2">
                  <c:v>17</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1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Upcoming Regulatory / Market Change With Greatest Expected Impact</c:v>
                </c:pt>
              </c:strCache>
            </c:strRef>
          </c:tx>
          <c:spPr>
            <a:solidFill>
              <a:srgbClr val="86BC25"/>
            </a:solidFill>
            <a:effectLst/>
          </c:spPr>
          <c:invertIfNegative val="0"/>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Customer identity, authentication &amp; digital trust</c:v>
                  </c:pt>
                  <c:pt idx="1">
                    <c:v>Privacy, data-sharing &amp; AI governance requirements</c:v>
                  </c:pt>
                  <c:pt idx="2">
                    <c:v>Payment innovation (RTP, stablecoins, agentic payments)</c:v>
                  </c:pt>
                  <c:pt idx="3">
                    <c:v>Liability &amp; reimbursement changes</c:v>
                  </c:pt>
                  <c:pt idx="4">
                    <c:v>AML modernization initiatives</c:v>
                  </c:pt>
                  <c:pt idx="5">
                    <c:v>Open Banking / consumer-driven initiatives</c:v>
                  </c:pt>
                </c:lvl>
              </c:multiLvlStrCache>
            </c:multiLvlStrRef>
          </c:cat>
          <c:val>
            <c:numRef>
              <c:f>Sheet1!$B$2:$B$7</c:f>
              <c:numCache>
                <c:formatCode>General</c:formatCode>
                <c:ptCount val="6"/>
                <c:pt idx="0">
                  <c:v>71</c:v>
                </c:pt>
                <c:pt idx="1">
                  <c:v>66</c:v>
                </c:pt>
                <c:pt idx="2">
                  <c:v>65</c:v>
                </c:pt>
                <c:pt idx="3">
                  <c:v>36</c:v>
                </c:pt>
                <c:pt idx="4">
                  <c:v>33</c:v>
                </c:pt>
                <c:pt idx="5">
                  <c:v>29</c:v>
                </c:pt>
              </c:numCache>
            </c:numRef>
          </c:val>
        </c:ser>
        <c:dLbls>
          <c:numFmt formatCode="0&quot;%&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Banking (n=75)</c:v>
                </c:pt>
              </c:strCache>
            </c:strRef>
          </c:tx>
          <c:spPr>
            <a:solidFill>
              <a:srgbClr val="86BC25"/>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Identity &amp; auth</c:v>
                  </c:pt>
                  <c:pt idx="1">
                    <c:v>Privacy &amp; AI gov.</c:v>
                  </c:pt>
                  <c:pt idx="2">
                    <c:v>Payment innovation</c:v>
                  </c:pt>
                  <c:pt idx="3">
                    <c:v>Liability changes</c:v>
                  </c:pt>
                  <c:pt idx="4">
                    <c:v>AML modernization</c:v>
                  </c:pt>
                  <c:pt idx="5">
                    <c:v>Open Banking</c:v>
                  </c:pt>
                </c:lvl>
              </c:multiLvlStrCache>
            </c:multiLvlStrRef>
          </c:cat>
          <c:val>
            <c:numRef>
              <c:f>Sheet1!$B$2:$B$7</c:f>
              <c:numCache>
                <c:formatCode>General</c:formatCode>
                <c:ptCount val="6"/>
                <c:pt idx="0">
                  <c:v>72</c:v>
                </c:pt>
                <c:pt idx="1">
                  <c:v>68</c:v>
                </c:pt>
                <c:pt idx="2">
                  <c:v>61</c:v>
                </c:pt>
                <c:pt idx="3">
                  <c:v>31</c:v>
                </c:pt>
                <c:pt idx="4">
                  <c:v>36</c:v>
                </c:pt>
                <c:pt idx="5">
                  <c:v>32</c:v>
                </c:pt>
              </c:numCache>
            </c:numRef>
          </c:val>
        </c:ser>
        <c:ser>
          <c:idx val="1"/>
          <c:order val="1"/>
          <c:tx>
            <c:strRef>
              <c:f>Sheet1!$C$1</c:f>
              <c:strCache>
                <c:ptCount val="1"/>
                <c:pt idx="0">
                  <c:v>Insurance (n=25)</c:v>
                </c:pt>
              </c:strCache>
            </c:strRef>
          </c:tx>
          <c:spPr>
            <a:solidFill>
              <a:srgbClr val="046A38"/>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Identity &amp; auth</c:v>
                  </c:pt>
                  <c:pt idx="1">
                    <c:v>Privacy &amp; AI gov.</c:v>
                  </c:pt>
                  <c:pt idx="2">
                    <c:v>Payment innovation</c:v>
                  </c:pt>
                  <c:pt idx="3">
                    <c:v>Liability changes</c:v>
                  </c:pt>
                  <c:pt idx="4">
                    <c:v>AML modernization</c:v>
                  </c:pt>
                  <c:pt idx="5">
                    <c:v>Open Banking</c:v>
                  </c:pt>
                </c:lvl>
              </c:multiLvlStrCache>
            </c:multiLvlStrRef>
          </c:cat>
          <c:val>
            <c:numRef>
              <c:f>Sheet1!$C$2:$C$7</c:f>
              <c:numCache>
                <c:formatCode>General</c:formatCode>
                <c:ptCount val="6"/>
                <c:pt idx="0">
                  <c:v>68</c:v>
                </c:pt>
                <c:pt idx="1">
                  <c:v>60</c:v>
                </c:pt>
                <c:pt idx="2">
                  <c:v>76</c:v>
                </c:pt>
                <c:pt idx="3">
                  <c:v>52</c:v>
                </c:pt>
                <c:pt idx="4">
                  <c:v>24</c:v>
                </c:pt>
                <c:pt idx="5">
                  <c:v>20</c:v>
                </c:pt>
              </c:numCache>
            </c:numRef>
          </c:val>
        </c:ser>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1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United States</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Identity &amp; auth</c:v>
                  </c:pt>
                  <c:pt idx="1">
                    <c:v>Privacy &amp; AI gov.</c:v>
                  </c:pt>
                  <c:pt idx="2">
                    <c:v>Payment innovation</c:v>
                  </c:pt>
                  <c:pt idx="3">
                    <c:v>Liability changes</c:v>
                  </c:pt>
                  <c:pt idx="4">
                    <c:v>AML modernization</c:v>
                  </c:pt>
                  <c:pt idx="5">
                    <c:v>Open Banking</c:v>
                  </c:pt>
                </c:lvl>
              </c:multiLvlStrCache>
            </c:multiLvlStrRef>
          </c:cat>
          <c:val>
            <c:numRef>
              <c:f>Sheet1!$B$2:$B$7</c:f>
              <c:numCache>
                <c:formatCode>General</c:formatCode>
                <c:ptCount val="6"/>
                <c:pt idx="0">
                  <c:v>75</c:v>
                </c:pt>
                <c:pt idx="1">
                  <c:v>73</c:v>
                </c:pt>
                <c:pt idx="2">
                  <c:v>57</c:v>
                </c:pt>
                <c:pt idx="3">
                  <c:v>41</c:v>
                </c:pt>
                <c:pt idx="4">
                  <c:v>36</c:v>
                </c:pt>
                <c:pt idx="5">
                  <c:v>18</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Canada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Identity &amp; auth</c:v>
                  </c:pt>
                  <c:pt idx="1">
                    <c:v>Privacy &amp; AI gov.</c:v>
                  </c:pt>
                  <c:pt idx="2">
                    <c:v>Payment innovation</c:v>
                  </c:pt>
                  <c:pt idx="3">
                    <c:v>Liability changes</c:v>
                  </c:pt>
                  <c:pt idx="4">
                    <c:v>AML modernization</c:v>
                  </c:pt>
                  <c:pt idx="5">
                    <c:v>Open Banking</c:v>
                  </c:pt>
                </c:lvl>
              </c:multiLvlStrCache>
            </c:multiLvlStrRef>
          </c:cat>
          <c:val>
            <c:numRef>
              <c:f>Sheet1!$B$2:$B$7</c:f>
              <c:numCache>
                <c:formatCode>General</c:formatCode>
                <c:ptCount val="6"/>
                <c:pt idx="0">
                  <c:v>70</c:v>
                </c:pt>
                <c:pt idx="1">
                  <c:v>63</c:v>
                </c:pt>
                <c:pt idx="2">
                  <c:v>73</c:v>
                </c:pt>
                <c:pt idx="3">
                  <c:v>20</c:v>
                </c:pt>
                <c:pt idx="4">
                  <c:v>27</c:v>
                </c:pt>
                <c:pt idx="5">
                  <c:v>47</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Europe (EU + UK)</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Identity &amp; auth</c:v>
                  </c:pt>
                  <c:pt idx="1">
                    <c:v>Privacy &amp; AI gov.</c:v>
                  </c:pt>
                  <c:pt idx="2">
                    <c:v>Payment innovation</c:v>
                  </c:pt>
                  <c:pt idx="3">
                    <c:v>Liability changes</c:v>
                  </c:pt>
                  <c:pt idx="4">
                    <c:v>AML modernization</c:v>
                  </c:pt>
                  <c:pt idx="5">
                    <c:v>Open Banking</c:v>
                  </c:pt>
                </c:lvl>
              </c:multiLvlStrCache>
            </c:multiLvlStrRef>
          </c:cat>
          <c:val>
            <c:numRef>
              <c:f>Sheet1!$B$2:$B$7</c:f>
              <c:numCache>
                <c:formatCode>General</c:formatCode>
                <c:ptCount val="6"/>
                <c:pt idx="0">
                  <c:v>57</c:v>
                </c:pt>
                <c:pt idx="1">
                  <c:v>64</c:v>
                </c:pt>
                <c:pt idx="2">
                  <c:v>64</c:v>
                </c:pt>
                <c:pt idx="3">
                  <c:v>50</c:v>
                </c:pt>
                <c:pt idx="4">
                  <c:v>36</c:v>
                </c:pt>
                <c:pt idx="5">
                  <c:v>29</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Australia</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Identity &amp; auth</c:v>
                  </c:pt>
                  <c:pt idx="1">
                    <c:v>Privacy &amp; AI gov.</c:v>
                  </c:pt>
                  <c:pt idx="2">
                    <c:v>Payment innovation</c:v>
                  </c:pt>
                  <c:pt idx="3">
                    <c:v>Liability changes</c:v>
                  </c:pt>
                  <c:pt idx="4">
                    <c:v>AML modernization</c:v>
                  </c:pt>
                  <c:pt idx="5">
                    <c:v>Open Banking</c:v>
                  </c:pt>
                </c:lvl>
              </c:multiLvlStrCache>
            </c:multiLvlStrRef>
          </c:cat>
          <c:val>
            <c:numRef>
              <c:f>Sheet1!$B$2:$B$7</c:f>
              <c:numCache>
                <c:formatCode>General</c:formatCode>
                <c:ptCount val="6"/>
                <c:pt idx="0">
                  <c:v>75</c:v>
                </c:pt>
                <c:pt idx="1">
                  <c:v>50</c:v>
                </c:pt>
                <c:pt idx="2">
                  <c:v>63</c:v>
                </c:pt>
                <c:pt idx="3">
                  <c:v>38</c:v>
                </c:pt>
                <c:pt idx="4">
                  <c:v>38</c:v>
                </c:pt>
                <c:pt idx="5">
                  <c:v>38</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1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Singapore</c:v>
                </c:pt>
              </c:strCache>
            </c:strRef>
          </c:tx>
          <c:spPr>
            <a:solidFill>
              <a:srgbClr val="86BC25"/>
            </a:solidFill>
            <a:effectLst/>
          </c:spPr>
          <c:invertIfNegative val="0"/>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Identity &amp; auth</c:v>
                  </c:pt>
                  <c:pt idx="1">
                    <c:v>Privacy &amp; AI gov.</c:v>
                  </c:pt>
                  <c:pt idx="2">
                    <c:v>Payment innovation</c:v>
                  </c:pt>
                  <c:pt idx="3">
                    <c:v>Liability changes</c:v>
                  </c:pt>
                  <c:pt idx="4">
                    <c:v>AML modernization</c:v>
                  </c:pt>
                  <c:pt idx="5">
                    <c:v>Open Banking</c:v>
                  </c:pt>
                </c:lvl>
              </c:multiLvlStrCache>
            </c:multiLvlStrRef>
          </c:cat>
          <c:val>
            <c:numRef>
              <c:f>Sheet1!$B$2:$B$7</c:f>
              <c:numCache>
                <c:formatCode>General</c:formatCode>
                <c:ptCount val="6"/>
                <c:pt idx="0">
                  <c:v>75</c:v>
                </c:pt>
                <c:pt idx="1">
                  <c:v>50</c:v>
                </c:pt>
                <c:pt idx="2">
                  <c:v>100</c:v>
                </c:pt>
                <c:pt idx="3">
                  <c:v>50</c:v>
                </c:pt>
                <c:pt idx="4">
                  <c:v>25</c:v>
                </c:pt>
                <c:pt idx="5">
                  <c:v>0</c:v>
                </c:pt>
              </c:numCache>
            </c:numRef>
          </c:val>
        </c:ser>
        <c:dLbls>
          <c:numFmt formatCode="0&quot;%&quot;"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00000"/>
          <a:lstStyle/>
          <a:p>
            <a:pPr>
              <a:defRPr sz="65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chart" Target="/ppt/charts/chart16.xml"/><Relationship Id="rId3" Type="http://schemas.openxmlformats.org/officeDocument/2006/relationships/chart" Target="/ppt/charts/chart17.xml"/><Relationship Id="rId4" Type="http://schemas.openxmlformats.org/officeDocument/2006/relationships/chart" Target="/ppt/charts/chart18.xml"/><Relationship Id="rId5" Type="http://schemas.openxmlformats.org/officeDocument/2006/relationships/chart" Target="/ppt/charts/chart19.xml"/><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chart" Target="/ppt/charts/chart21.xml"/><Relationship Id="rId3" Type="http://schemas.openxmlformats.org/officeDocument/2006/relationships/chart" Target="/ppt/charts/chart22.xml"/><Relationship Id="rId4" Type="http://schemas.openxmlformats.org/officeDocument/2006/relationships/chart" Target="/ppt/charts/chart23.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chart" Target="/ppt/charts/chart28.xml"/><Relationship Id="rId3" Type="http://schemas.openxmlformats.org/officeDocument/2006/relationships/chart" Target="/ppt/charts/chart29.xml"/><Relationship Id="rId4" Type="http://schemas.openxmlformats.org/officeDocument/2006/relationships/chart" Target="/ppt/charts/chart30.xml"/><Relationship Id="rId5" Type="http://schemas.openxmlformats.org/officeDocument/2006/relationships/chart" Target="/ppt/charts/chart31.xml"/><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chart" Target="/ppt/charts/chart33.xml"/><Relationship Id="rId3" Type="http://schemas.openxmlformats.org/officeDocument/2006/relationships/chart" Target="/ppt/charts/chart34.xml"/><Relationship Id="rId4" Type="http://schemas.openxmlformats.org/officeDocument/2006/relationships/chart" Target="/ppt/charts/chart35.xml"/><Relationship Id="rId5" Type="http://schemas.openxmlformats.org/officeDocument/2006/relationships/chart" Target="/ppt/charts/chart36.xml"/><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37.xml"/><Relationship Id="rId2" Type="http://schemas.openxmlformats.org/officeDocument/2006/relationships/chart" Target="/ppt/charts/chart38.xml"/><Relationship Id="rId3" Type="http://schemas.openxmlformats.org/officeDocument/2006/relationships/chart" Target="/ppt/charts/chart39.xml"/><Relationship Id="rId4" Type="http://schemas.openxmlformats.org/officeDocument/2006/relationships/chart" Target="/ppt/charts/chart40.xml"/><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41.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42.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43.xml"/><Relationship Id="rId2" Type="http://schemas.openxmlformats.org/officeDocument/2006/relationships/chart" Target="/ppt/charts/chart44.xml"/><Relationship Id="rId3" Type="http://schemas.openxmlformats.org/officeDocument/2006/relationships/chart" Target="/ppt/charts/chart45.xml"/><Relationship Id="rId4" Type="http://schemas.openxmlformats.org/officeDocument/2006/relationships/chart" Target="/ppt/charts/chart46.xml"/><Relationship Id="rId5" Type="http://schemas.openxmlformats.org/officeDocument/2006/relationships/chart" Target="/ppt/charts/chart47.xml"/><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48.xml"/><Relationship Id="rId2" Type="http://schemas.openxmlformats.org/officeDocument/2006/relationships/chart" Target="/ppt/charts/chart49.xml"/><Relationship Id="rId3" Type="http://schemas.openxmlformats.org/officeDocument/2006/relationships/chart" Target="/ppt/charts/chart50.xml"/><Relationship Id="rId4" Type="http://schemas.openxmlformats.org/officeDocument/2006/relationships/chart" Target="/ppt/charts/chart51.xml"/><Relationship Id="rId5" Type="http://schemas.openxmlformats.org/officeDocument/2006/relationships/chart" Target="/ppt/charts/chart52.xml"/><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53.xml"/><Relationship Id="rId2" Type="http://schemas.openxmlformats.org/officeDocument/2006/relationships/chart" Target="/ppt/charts/chart54.xml"/><Relationship Id="rId3" Type="http://schemas.openxmlformats.org/officeDocument/2006/relationships/chart" Target="/ppt/charts/chart55.xml"/><Relationship Id="rId4" Type="http://schemas.openxmlformats.org/officeDocument/2006/relationships/chart" Target="/ppt/charts/chart56.xm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57.xml"/><Relationship Id="rId2" Type="http://schemas.openxmlformats.org/officeDocument/2006/relationships/chart" Target="/ppt/charts/chart58.xml"/><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59.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60.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61.xml"/><Relationship Id="rId2" Type="http://schemas.openxmlformats.org/officeDocument/2006/relationships/chart" Target="/ppt/charts/chart62.xml"/><Relationship Id="rId3" Type="http://schemas.openxmlformats.org/officeDocument/2006/relationships/chart" Target="/ppt/charts/chart63.xml"/><Relationship Id="rId4" Type="http://schemas.openxmlformats.org/officeDocument/2006/relationships/chart" Target="/ppt/charts/chart64.xml"/><Relationship Id="rId5" Type="http://schemas.openxmlformats.org/officeDocument/2006/relationships/chart" Target="/ppt/charts/chart65.xml"/><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66.xml"/><Relationship Id="rId2" Type="http://schemas.openxmlformats.org/officeDocument/2006/relationships/chart" Target="/ppt/charts/chart67.xml"/><Relationship Id="rId3" Type="http://schemas.openxmlformats.org/officeDocument/2006/relationships/chart" Target="/ppt/charts/chart68.xml"/><Relationship Id="rId4" Type="http://schemas.openxmlformats.org/officeDocument/2006/relationships/chart" Target="/ppt/charts/chart69.xml"/><Relationship Id="rId5" Type="http://schemas.openxmlformats.org/officeDocument/2006/relationships/chart" Target="/ppt/charts/chart70.xml"/><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71.xml"/><Relationship Id="rId2" Type="http://schemas.openxmlformats.org/officeDocument/2006/relationships/chart" Target="/ppt/charts/chart72.xml"/><Relationship Id="rId3" Type="http://schemas.openxmlformats.org/officeDocument/2006/relationships/chart" Target="/ppt/charts/chart73.xml"/><Relationship Id="rId4" Type="http://schemas.openxmlformats.org/officeDocument/2006/relationships/chart" Target="/ppt/charts/chart74.xml"/><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75.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76.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77.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78.xml"/><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79.xml"/><Relationship Id="rId2" Type="http://schemas.openxmlformats.org/officeDocument/2006/relationships/chart" Target="/ppt/charts/chart80.xml"/><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81.xml"/><Relationship Id="rId2" Type="http://schemas.openxmlformats.org/officeDocument/2006/relationships/chart" Target="/ppt/charts/chart82.xml"/><Relationship Id="rId3" Type="http://schemas.openxmlformats.org/officeDocument/2006/relationships/chart" Target="/ppt/charts/chart83.xml"/><Relationship Id="rId4" Type="http://schemas.openxmlformats.org/officeDocument/2006/relationships/chart" Target="/ppt/charts/chart84.xml"/><Relationship Id="rId5" Type="http://schemas.openxmlformats.org/officeDocument/2006/relationships/chart" Target="/ppt/charts/chart85.xml"/><Relationship Id="rId6" Type="http://schemas.openxmlformats.org/officeDocument/2006/relationships/slideLayout" Target="../slideLayouts/slideLayout1.xml"/><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86.xml"/><Relationship Id="rId2" Type="http://schemas.openxmlformats.org/officeDocument/2006/relationships/chart" Target="/ppt/charts/chart87.xml"/><Relationship Id="rId3" Type="http://schemas.openxmlformats.org/officeDocument/2006/relationships/chart" Target="/ppt/charts/chart88.xml"/><Relationship Id="rId4" Type="http://schemas.openxmlformats.org/officeDocument/2006/relationships/chart" Target="/ppt/charts/chart89.xml"/><Relationship Id="rId5" Type="http://schemas.openxmlformats.org/officeDocument/2006/relationships/chart" Target="/ppt/charts/chart90.xml"/><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chart" Target="/ppt/charts/chart91.xml"/><Relationship Id="rId2" Type="http://schemas.openxmlformats.org/officeDocument/2006/relationships/chart" Target="/ppt/charts/chart92.xml"/><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93.xml"/><Relationship Id="rId2" Type="http://schemas.openxmlformats.org/officeDocument/2006/relationships/chart" Target="/ppt/charts/chart94.xml"/><Relationship Id="rId3" Type="http://schemas.openxmlformats.org/officeDocument/2006/relationships/chart" Target="/ppt/charts/chart95.xml"/><Relationship Id="rId4" Type="http://schemas.openxmlformats.org/officeDocument/2006/relationships/chart" Target="/ppt/charts/chart96.xml"/><Relationship Id="rId5" Type="http://schemas.openxmlformats.org/officeDocument/2006/relationships/slideLayout" Target="../slideLayouts/slideLayout1.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97.xml"/><Relationship Id="rId2" Type="http://schemas.openxmlformats.org/officeDocument/2006/relationships/chart" Target="/ppt/charts/chart98.xml"/><Relationship Id="rId3" Type="http://schemas.openxmlformats.org/officeDocument/2006/relationships/chart" Target="/ppt/charts/chart99.xml"/><Relationship Id="rId4" Type="http://schemas.openxmlformats.org/officeDocument/2006/relationships/slideLayout" Target="../slideLayouts/slideLayout1.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100.xml"/><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ppt/charts/chart101.xml"/><Relationship Id="rId2" Type="http://schemas.openxmlformats.org/officeDocument/2006/relationships/chart" Target="/ppt/charts/chart102.xml"/><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103.xml"/><Relationship Id="rId2" Type="http://schemas.openxmlformats.org/officeDocument/2006/relationships/chart" Target="/ppt/charts/chart104.xml"/><Relationship Id="rId3" Type="http://schemas.openxmlformats.org/officeDocument/2006/relationships/chart" Target="/ppt/charts/chart105.xml"/><Relationship Id="rId4" Type="http://schemas.openxmlformats.org/officeDocument/2006/relationships/chart" Target="/ppt/charts/chart106.xml"/><Relationship Id="rId5" Type="http://schemas.openxmlformats.org/officeDocument/2006/relationships/slideLayout" Target="../slideLayouts/slideLayout1.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chart" Target="/ppt/charts/chart107.xml"/><Relationship Id="rId2" Type="http://schemas.openxmlformats.org/officeDocument/2006/relationships/chart" Target="/ppt/charts/chart108.xml"/><Relationship Id="rId3" Type="http://schemas.openxmlformats.org/officeDocument/2006/relationships/chart" Target="/ppt/charts/chart109.xml"/><Relationship Id="rId4" Type="http://schemas.openxmlformats.org/officeDocument/2006/relationships/slideLayout" Target="../slideLayouts/slideLayout1.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110.xml"/><Relationship Id="rId2" Type="http://schemas.openxmlformats.org/officeDocument/2006/relationships/chart" Target="/ppt/charts/chart111.xml"/><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112.xml"/><Relationship Id="rId2" Type="http://schemas.openxmlformats.org/officeDocument/2006/relationships/chart" Target="/ppt/charts/chart113.xml"/><Relationship Id="rId3" Type="http://schemas.openxmlformats.org/officeDocument/2006/relationships/chart" Target="/ppt/charts/chart114.xml"/><Relationship Id="rId4" Type="http://schemas.openxmlformats.org/officeDocument/2006/relationships/chart" Target="/ppt/charts/chart115.xml"/><Relationship Id="rId5" Type="http://schemas.openxmlformats.org/officeDocument/2006/relationships/chart" Target="/ppt/charts/chart116.xml"/><Relationship Id="rId6" Type="http://schemas.openxmlformats.org/officeDocument/2006/relationships/slideLayout" Target="../slideLayouts/slideLayout1.xml"/><Relationship Id="rId7"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chart" Target="/ppt/charts/chart117.xml"/><Relationship Id="rId2" Type="http://schemas.openxmlformats.org/officeDocument/2006/relationships/chart" Target="/ppt/charts/chart118.xml"/><Relationship Id="rId3" Type="http://schemas.openxmlformats.org/officeDocument/2006/relationships/chart" Target="/ppt/charts/chart119.xml"/><Relationship Id="rId4" Type="http://schemas.openxmlformats.org/officeDocument/2006/relationships/chart" Target="/ppt/charts/chart120.xml"/><Relationship Id="rId5" Type="http://schemas.openxmlformats.org/officeDocument/2006/relationships/chart" Target="/ppt/charts/chart121.xml"/><Relationship Id="rId6" Type="http://schemas.openxmlformats.org/officeDocument/2006/relationships/slideLayout" Target="../slideLayouts/slideLayout1.xml"/><Relationship Id="rId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122.xml"/><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123.xml"/><Relationship Id="rId2" Type="http://schemas.openxmlformats.org/officeDocument/2006/relationships/chart" Target="/ppt/charts/chart124.xml"/><Relationship Id="rId3" Type="http://schemas.openxmlformats.org/officeDocument/2006/relationships/chart" Target="/ppt/charts/chart125.xml"/><Relationship Id="rId4" Type="http://schemas.openxmlformats.org/officeDocument/2006/relationships/chart" Target="/ppt/charts/chart126.xml"/><Relationship Id="rId5" Type="http://schemas.openxmlformats.org/officeDocument/2006/relationships/chart" Target="/ppt/charts/chart127.xml"/><Relationship Id="rId6" Type="http://schemas.openxmlformats.org/officeDocument/2006/relationships/slideLayout" Target="../slideLayouts/slideLayout1.xml"/><Relationship Id="rId7"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128.xml"/><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chart" Target="/ppt/charts/chart129.xml"/><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chart" Target="/ppt/charts/chart130.xml"/><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chart" Target="/ppt/charts/chart131.xml"/><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chart" Target="/ppt/charts/chart132.xml"/><Relationship Id="rId2" Type="http://schemas.openxmlformats.org/officeDocument/2006/relationships/chart" Target="/ppt/charts/chart133.xml"/><Relationship Id="rId3" Type="http://schemas.openxmlformats.org/officeDocument/2006/relationships/chart" Target="/ppt/charts/chart134.xml"/><Relationship Id="rId4" Type="http://schemas.openxmlformats.org/officeDocument/2006/relationships/chart" Target="/ppt/charts/chart135.xml"/><Relationship Id="rId5" Type="http://schemas.openxmlformats.org/officeDocument/2006/relationships/chart" Target="/ppt/charts/chart136.xml"/><Relationship Id="rId6" Type="http://schemas.openxmlformats.org/officeDocument/2006/relationships/slideLayout" Target="../slideLayouts/slideLayout1.xml"/><Relationship Id="rId7"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607"/>
        </a:solidFill>
      </p:bgPr>
    </p:bg>
    <p:spTree>
      <p:nvGrpSpPr>
        <p:cNvPr id="1" name=""/>
        <p:cNvGrpSpPr/>
        <p:nvPr/>
      </p:nvGrpSpPr>
      <p:grpSpPr>
        <a:xfrm>
          <a:off x="0" y="0"/>
          <a:ext cx="0" cy="0"/>
          <a:chOff x="0" y="0"/>
          <a:chExt cx="0" cy="0"/>
        </a:xfrm>
      </p:grpSpPr>
      <p:sp>
        <p:nvSpPr>
          <p:cNvPr id="2" name="Text 0"/>
          <p:cNvSpPr txBox="1"/>
          <p:nvPr/>
        </p:nvSpPr>
        <p:spPr>
          <a:xfrm>
            <a:off x="502006" y="457200"/>
            <a:ext cx="1417320" cy="27432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Deloitte</a:t>
            </a:r>
            <a:endParaRPr lang="en-US" sz="1600" dirty="0"/>
          </a:p>
        </p:txBody>
      </p:sp>
      <p:sp>
        <p:nvSpPr>
          <p:cNvPr id="3" name="Shape 1"/>
          <p:cNvSpPr/>
          <p:nvPr/>
        </p:nvSpPr>
        <p:spPr>
          <a:xfrm>
            <a:off x="1800454" y="598932"/>
            <a:ext cx="82296" cy="82296"/>
          </a:xfrm>
          <a:prstGeom prst="ellipse">
            <a:avLst/>
          </a:prstGeom>
          <a:solidFill>
            <a:srgbClr val="86BC25"/>
          </a:solidFill>
          <a:ln/>
        </p:spPr>
      </p:sp>
      <p:sp>
        <p:nvSpPr>
          <p:cNvPr id="4" name="Shape 2"/>
          <p:cNvSpPr/>
          <p:nvPr/>
        </p:nvSpPr>
        <p:spPr>
          <a:xfrm>
            <a:off x="3392424" y="731520"/>
            <a:ext cx="5404104" cy="5404104"/>
          </a:xfrm>
          <a:prstGeom prst="rect">
            <a:avLst/>
          </a:prstGeom>
          <a:solidFill>
            <a:srgbClr val="0B1C14"/>
          </a:solidFill>
          <a:ln w="9525">
            <a:solidFill>
              <a:srgbClr val="86BC25"/>
            </a:solidFill>
            <a:prstDash val="solid"/>
          </a:ln>
        </p:spPr>
      </p:sp>
      <p:sp>
        <p:nvSpPr>
          <p:cNvPr id="5" name="Shape 3"/>
          <p:cNvSpPr/>
          <p:nvPr/>
        </p:nvSpPr>
        <p:spPr>
          <a:xfrm>
            <a:off x="3392424" y="731520"/>
            <a:ext cx="5404104" cy="5404104"/>
          </a:xfrm>
          <a:prstGeom prst="rect">
            <a:avLst/>
          </a:prstGeom>
          <a:ln w="12700">
            <a:solidFill>
              <a:srgbClr val="86BC25"/>
            </a:solidFill>
            <a:prstDash val="dash"/>
          </a:ln>
        </p:spPr>
      </p:sp>
      <p:sp>
        <p:nvSpPr>
          <p:cNvPr id="6" name="Shape 4"/>
          <p:cNvSpPr/>
          <p:nvPr/>
        </p:nvSpPr>
        <p:spPr>
          <a:xfrm>
            <a:off x="3776472" y="1115568"/>
            <a:ext cx="4636008" cy="4636008"/>
          </a:xfrm>
          <a:prstGeom prst="rect">
            <a:avLst/>
          </a:prstGeom>
          <a:ln w="12700">
            <a:solidFill>
              <a:srgbClr val="0D8390"/>
            </a:solidFill>
            <a:prstDash val="dash"/>
          </a:ln>
        </p:spPr>
      </p:sp>
      <p:sp>
        <p:nvSpPr>
          <p:cNvPr id="7" name="Shape 5"/>
          <p:cNvSpPr/>
          <p:nvPr/>
        </p:nvSpPr>
        <p:spPr>
          <a:xfrm>
            <a:off x="4160520" y="1499616"/>
            <a:ext cx="3867912" cy="3867912"/>
          </a:xfrm>
          <a:prstGeom prst="rect">
            <a:avLst/>
          </a:prstGeom>
          <a:ln w="12700">
            <a:solidFill>
              <a:srgbClr val="86BC25"/>
            </a:solidFill>
            <a:prstDash val="dash"/>
          </a:ln>
        </p:spPr>
      </p:sp>
      <p:sp>
        <p:nvSpPr>
          <p:cNvPr id="8" name="Shape 6"/>
          <p:cNvSpPr/>
          <p:nvPr/>
        </p:nvSpPr>
        <p:spPr>
          <a:xfrm>
            <a:off x="4544568" y="1883664"/>
            <a:ext cx="3099816" cy="3099816"/>
          </a:xfrm>
          <a:prstGeom prst="rect">
            <a:avLst/>
          </a:prstGeom>
          <a:ln w="12700">
            <a:solidFill>
              <a:srgbClr val="0D8390"/>
            </a:solidFill>
            <a:prstDash val="dash"/>
          </a:ln>
        </p:spPr>
      </p:sp>
      <p:sp>
        <p:nvSpPr>
          <p:cNvPr id="9" name="Shape 7"/>
          <p:cNvSpPr/>
          <p:nvPr/>
        </p:nvSpPr>
        <p:spPr>
          <a:xfrm>
            <a:off x="4928616" y="2267712"/>
            <a:ext cx="2331720" cy="2331720"/>
          </a:xfrm>
          <a:prstGeom prst="rect">
            <a:avLst/>
          </a:prstGeom>
          <a:ln w="12700">
            <a:solidFill>
              <a:srgbClr val="86BC25"/>
            </a:solidFill>
            <a:prstDash val="dash"/>
          </a:ln>
        </p:spPr>
      </p:sp>
      <p:sp>
        <p:nvSpPr>
          <p:cNvPr id="10" name="Shape 8"/>
          <p:cNvSpPr/>
          <p:nvPr/>
        </p:nvSpPr>
        <p:spPr>
          <a:xfrm>
            <a:off x="5312664" y="2651760"/>
            <a:ext cx="1563624" cy="1563624"/>
          </a:xfrm>
          <a:prstGeom prst="rect">
            <a:avLst/>
          </a:prstGeom>
          <a:ln w="12700">
            <a:solidFill>
              <a:srgbClr val="0D8390"/>
            </a:solidFill>
            <a:prstDash val="dash"/>
          </a:ln>
        </p:spPr>
      </p:sp>
      <p:sp>
        <p:nvSpPr>
          <p:cNvPr id="11" name="Text 9"/>
          <p:cNvSpPr txBox="1"/>
          <p:nvPr/>
        </p:nvSpPr>
        <p:spPr>
          <a:xfrm>
            <a:off x="3392424" y="2656332"/>
            <a:ext cx="5404104" cy="777240"/>
          </a:xfrm>
          <a:prstGeom prst="rect">
            <a:avLst/>
          </a:prstGeom>
          <a:noFill/>
          <a:ln/>
        </p:spPr>
        <p:txBody>
          <a:bodyPr wrap="square" rtlCol="0" anchor="ctr"/>
          <a:lstStyle/>
          <a:p>
            <a:pPr algn="ctr" indent="0" marL="0">
              <a:buNone/>
            </a:pPr>
            <a:r>
              <a:rPr lang="en-US" sz="5400" b="1" dirty="0">
                <a:solidFill>
                  <a:srgbClr val="86BC25"/>
                </a:solidFill>
                <a:latin typeface="Calibri" pitchFamily="34" charset="0"/>
                <a:ea typeface="Calibri" pitchFamily="34" charset="-122"/>
                <a:cs typeface="Calibri" pitchFamily="34" charset="-120"/>
              </a:rPr>
              <a:t>100</a:t>
            </a:r>
            <a:endParaRPr lang="en-US" sz="5400" dirty="0"/>
          </a:p>
        </p:txBody>
      </p:sp>
      <p:sp>
        <p:nvSpPr>
          <p:cNvPr id="12" name="Text 10"/>
          <p:cNvSpPr txBox="1"/>
          <p:nvPr/>
        </p:nvSpPr>
        <p:spPr>
          <a:xfrm>
            <a:off x="3392424" y="3451860"/>
            <a:ext cx="5404104"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FRAUD LEADERS SURVEYED</a:t>
            </a:r>
            <a:endParaRPr lang="en-US" sz="1400" dirty="0"/>
          </a:p>
        </p:txBody>
      </p:sp>
      <p:sp>
        <p:nvSpPr>
          <p:cNvPr id="13" name="Text 11"/>
          <p:cNvSpPr txBox="1"/>
          <p:nvPr/>
        </p:nvSpPr>
        <p:spPr>
          <a:xfrm>
            <a:off x="502006" y="4901184"/>
            <a:ext cx="9601200" cy="896112"/>
          </a:xfrm>
          <a:prstGeom prst="rect">
            <a:avLst/>
          </a:prstGeom>
          <a:noFill/>
          <a:ln/>
        </p:spPr>
        <p:txBody>
          <a:bodyPr wrap="square" lIns="0" tIns="0" rIns="0" bIns="0" rtlCol="0" anchor="t"/>
          <a:lstStyle/>
          <a:p>
            <a:pPr algn="l" indent="0" marL="0">
              <a:buNone/>
            </a:pPr>
            <a:r>
              <a:rPr lang="en-US" sz="2800" b="1" dirty="0">
                <a:solidFill>
                  <a:srgbClr val="FFFFFF"/>
                </a:solidFill>
                <a:latin typeface="Calibri" pitchFamily="34" charset="0"/>
                <a:ea typeface="Calibri" pitchFamily="34" charset="-122"/>
                <a:cs typeface="Calibri" pitchFamily="34" charset="-120"/>
              </a:rPr>
              <a:t>Fraud in 2026: Full Survey Results</a:t>
            </a:r>
            <a:endParaRPr lang="en-US" sz="2800" dirty="0"/>
          </a:p>
        </p:txBody>
      </p:sp>
      <p:sp>
        <p:nvSpPr>
          <p:cNvPr id="14" name="Text 12"/>
          <p:cNvSpPr txBox="1"/>
          <p:nvPr/>
        </p:nvSpPr>
        <p:spPr>
          <a:xfrm>
            <a:off x="502006" y="5870448"/>
            <a:ext cx="9601200" cy="685800"/>
          </a:xfrm>
          <a:prstGeom prst="rect">
            <a:avLst/>
          </a:prstGeom>
          <a:noFill/>
          <a:ln/>
        </p:spPr>
        <p:txBody>
          <a:bodyPr wrap="square" lIns="0" tIns="0" rIns="0" bIns="0" rtlCol="0" anchor="t"/>
          <a:lstStyle/>
          <a:p>
            <a:pPr algn="l" indent="0" marL="0">
              <a:buNone/>
            </a:pPr>
            <a:r>
              <a:rPr lang="en-US" sz="1600" dirty="0">
                <a:solidFill>
                  <a:srgbClr val="FFFFFF"/>
                </a:solidFill>
                <a:latin typeface="Calibri" pitchFamily="34" charset="0"/>
                <a:ea typeface="Calibri" pitchFamily="34" charset="-122"/>
                <a:cs typeface="Calibri" pitchFamily="34" charset="-120"/>
              </a:rPr>
              <a:t>Banking &amp; Insurance Fraud Landscape Survey — n=100, fielding complete
</a:t>
            </a:r>
            <a:pPr algn="l" indent="0" marL="0">
              <a:buNone/>
            </a:pPr>
            <a:r>
              <a:rPr lang="en-US" sz="1250" dirty="0">
                <a:solidFill>
                  <a:srgbClr val="D0D0CE"/>
                </a:solidFill>
                <a:latin typeface="Calibri" pitchFamily="34" charset="0"/>
                <a:ea typeface="Calibri" pitchFamily="34" charset="-122"/>
                <a:cs typeface="Calibri" pitchFamily="34" charset="-120"/>
              </a:rPr>
              <a:t>A Deloitte Perspective  ·  Fielded via GLG for the D.fend Fin Crime Forum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ctr"/>
          <a:lstStyle/>
          <a:p>
            <a:pPr indent="0" marL="0">
              <a:buNone/>
            </a:pPr>
            <a:r>
              <a:rPr lang="en-US" sz="1900" b="1" dirty="0">
                <a:solidFill>
                  <a:srgbClr val="000000"/>
                </a:solidFill>
                <a:latin typeface="Calibri" pitchFamily="34" charset="0"/>
                <a:ea typeface="Calibri" pitchFamily="34" charset="-122"/>
                <a:cs typeface="Calibri" pitchFamily="34" charset="-120"/>
              </a:rPr>
              <a:t>Table of Contents</a:t>
            </a:r>
            <a:endParaRPr lang="en-US" sz="1900" dirty="0"/>
          </a:p>
        </p:txBody>
      </p:sp>
      <p:sp>
        <p:nvSpPr>
          <p:cNvPr id="3" name="Text 1"/>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1</a:t>
            </a:r>
            <a:endParaRPr lang="en-US" sz="900" dirty="0"/>
          </a:p>
        </p:txBody>
      </p:sp>
      <p:sp>
        <p:nvSpPr>
          <p:cNvPr id="4" name="Shape 2"/>
          <p:cNvSpPr/>
          <p:nvPr/>
        </p:nvSpPr>
        <p:spPr>
          <a:xfrm>
            <a:off x="498348" y="1508760"/>
            <a:ext cx="7772400" cy="548640"/>
          </a:xfrm>
          <a:prstGeom prst="rect">
            <a:avLst/>
          </a:prstGeom>
          <a:solidFill>
            <a:srgbClr val="F2F2F2"/>
          </a:solidFill>
          <a:ln/>
        </p:spPr>
      </p:sp>
      <p:sp>
        <p:nvSpPr>
          <p:cNvPr id="5" name="Shape 3"/>
          <p:cNvSpPr/>
          <p:nvPr/>
        </p:nvSpPr>
        <p:spPr>
          <a:xfrm>
            <a:off x="589788" y="1581912"/>
            <a:ext cx="402336" cy="402336"/>
          </a:xfrm>
          <a:prstGeom prst="rect">
            <a:avLst/>
          </a:prstGeom>
          <a:solidFill>
            <a:srgbClr val="86BC25"/>
          </a:solidFill>
          <a:ln/>
        </p:spPr>
      </p:sp>
      <p:sp>
        <p:nvSpPr>
          <p:cNvPr id="6" name="Text 4"/>
          <p:cNvSpPr txBox="1"/>
          <p:nvPr/>
        </p:nvSpPr>
        <p:spPr>
          <a:xfrm>
            <a:off x="589788" y="1581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7" name="Text 5"/>
          <p:cNvSpPr txBox="1"/>
          <p:nvPr/>
        </p:nvSpPr>
        <p:spPr>
          <a:xfrm>
            <a:off x="1138428" y="1508760"/>
            <a:ext cx="6995160" cy="548640"/>
          </a:xfrm>
          <a:prstGeom prst="rect">
            <a:avLst/>
          </a:prstGeom>
          <a:noFill/>
          <a:ln/>
        </p:spPr>
        <p:txBody>
          <a:bodyPr wrap="square" lIns="0" tIns="0" rIns="0" bIns="0" rtlCol="0" anchor="ctr"/>
          <a:lstStyle/>
          <a:p>
            <a:pPr algn="l" indent="0" marL="0">
              <a:buNone/>
            </a:pPr>
            <a:r>
              <a:rPr lang="en-US" sz="1400" b="1" dirty="0">
                <a:solidFill>
                  <a:srgbClr val="000000"/>
                </a:solidFill>
                <a:latin typeface="Calibri" pitchFamily="34" charset="0"/>
                <a:ea typeface="Calibri" pitchFamily="34" charset="-122"/>
                <a:cs typeface="Calibri" pitchFamily="34" charset="-120"/>
              </a:rPr>
              <a:t>Methodology &amp; Respondent Profile</a:t>
            </a:r>
            <a:endParaRPr lang="en-US" sz="1400" dirty="0"/>
          </a:p>
        </p:txBody>
      </p:sp>
      <p:sp>
        <p:nvSpPr>
          <p:cNvPr id="8" name="Shape 6"/>
          <p:cNvSpPr/>
          <p:nvPr/>
        </p:nvSpPr>
        <p:spPr>
          <a:xfrm>
            <a:off x="498348" y="2185416"/>
            <a:ext cx="7772400" cy="548640"/>
          </a:xfrm>
          <a:prstGeom prst="rect">
            <a:avLst/>
          </a:prstGeom>
          <a:solidFill>
            <a:srgbClr val="F2F2F2"/>
          </a:solidFill>
          <a:ln/>
        </p:spPr>
      </p:sp>
      <p:sp>
        <p:nvSpPr>
          <p:cNvPr id="9" name="Shape 7"/>
          <p:cNvSpPr/>
          <p:nvPr/>
        </p:nvSpPr>
        <p:spPr>
          <a:xfrm>
            <a:off x="589788" y="2258568"/>
            <a:ext cx="402336" cy="402336"/>
          </a:xfrm>
          <a:prstGeom prst="rect">
            <a:avLst/>
          </a:prstGeom>
          <a:solidFill>
            <a:srgbClr val="86BC25"/>
          </a:solidFill>
          <a:ln/>
        </p:spPr>
      </p:sp>
      <p:sp>
        <p:nvSpPr>
          <p:cNvPr id="10" name="Text 8"/>
          <p:cNvSpPr txBox="1"/>
          <p:nvPr/>
        </p:nvSpPr>
        <p:spPr>
          <a:xfrm>
            <a:off x="589788" y="22585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1138428" y="2185416"/>
            <a:ext cx="6995160" cy="548640"/>
          </a:xfrm>
          <a:prstGeom prst="rect">
            <a:avLst/>
          </a:prstGeom>
          <a:noFill/>
          <a:ln/>
        </p:spPr>
        <p:txBody>
          <a:bodyPr wrap="square" lIns="0" tIns="0" rIns="0" bIns="0" rtlCol="0" anchor="ctr"/>
          <a:lstStyle/>
          <a:p>
            <a:pPr algn="l" indent="0" marL="0">
              <a:buNone/>
            </a:pPr>
            <a:r>
              <a:rPr lang="en-US" sz="1400" b="1" dirty="0">
                <a:solidFill>
                  <a:srgbClr val="000000"/>
                </a:solidFill>
                <a:latin typeface="Calibri" pitchFamily="34" charset="0"/>
                <a:ea typeface="Calibri" pitchFamily="34" charset="-122"/>
                <a:cs typeface="Calibri" pitchFamily="34" charset="-120"/>
              </a:rPr>
              <a:t>Deepfake &amp; Emerging AI Risk</a:t>
            </a:r>
            <a:endParaRPr lang="en-US" sz="1400" dirty="0"/>
          </a:p>
        </p:txBody>
      </p:sp>
      <p:sp>
        <p:nvSpPr>
          <p:cNvPr id="12" name="Shape 10"/>
          <p:cNvSpPr/>
          <p:nvPr/>
        </p:nvSpPr>
        <p:spPr>
          <a:xfrm>
            <a:off x="498348" y="2862072"/>
            <a:ext cx="7772400" cy="548640"/>
          </a:xfrm>
          <a:prstGeom prst="rect">
            <a:avLst/>
          </a:prstGeom>
          <a:solidFill>
            <a:srgbClr val="F2F2F2"/>
          </a:solidFill>
          <a:ln/>
        </p:spPr>
      </p:sp>
      <p:sp>
        <p:nvSpPr>
          <p:cNvPr id="13" name="Shape 11"/>
          <p:cNvSpPr/>
          <p:nvPr/>
        </p:nvSpPr>
        <p:spPr>
          <a:xfrm>
            <a:off x="589788" y="2935224"/>
            <a:ext cx="402336" cy="402336"/>
          </a:xfrm>
          <a:prstGeom prst="rect">
            <a:avLst/>
          </a:prstGeom>
          <a:solidFill>
            <a:srgbClr val="86BC25"/>
          </a:solidFill>
          <a:ln/>
        </p:spPr>
      </p:sp>
      <p:sp>
        <p:nvSpPr>
          <p:cNvPr id="14" name="Text 12"/>
          <p:cNvSpPr txBox="1"/>
          <p:nvPr/>
        </p:nvSpPr>
        <p:spPr>
          <a:xfrm>
            <a:off x="589788" y="29352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1138428" y="2862072"/>
            <a:ext cx="6995160" cy="548640"/>
          </a:xfrm>
          <a:prstGeom prst="rect">
            <a:avLst/>
          </a:prstGeom>
          <a:noFill/>
          <a:ln/>
        </p:spPr>
        <p:txBody>
          <a:bodyPr wrap="square" lIns="0" tIns="0" rIns="0" bIns="0" rtlCol="0" anchor="ctr"/>
          <a:lstStyle/>
          <a:p>
            <a:pPr algn="l" indent="0" marL="0">
              <a:buNone/>
            </a:pPr>
            <a:r>
              <a:rPr lang="en-US" sz="1400" b="1" dirty="0">
                <a:solidFill>
                  <a:srgbClr val="000000"/>
                </a:solidFill>
                <a:latin typeface="Calibri" pitchFamily="34" charset="0"/>
                <a:ea typeface="Calibri" pitchFamily="34" charset="-122"/>
                <a:cs typeface="Calibri" pitchFamily="34" charset="-120"/>
              </a:rPr>
              <a:t>Fraud Information Sharing</a:t>
            </a:r>
            <a:endParaRPr lang="en-US" sz="1400" dirty="0"/>
          </a:p>
        </p:txBody>
      </p:sp>
      <p:sp>
        <p:nvSpPr>
          <p:cNvPr id="16" name="Shape 14"/>
          <p:cNvSpPr/>
          <p:nvPr/>
        </p:nvSpPr>
        <p:spPr>
          <a:xfrm>
            <a:off x="498348" y="3538728"/>
            <a:ext cx="7772400" cy="548640"/>
          </a:xfrm>
          <a:prstGeom prst="rect">
            <a:avLst/>
          </a:prstGeom>
          <a:solidFill>
            <a:srgbClr val="F2F2F2"/>
          </a:solidFill>
          <a:ln/>
        </p:spPr>
      </p:sp>
      <p:sp>
        <p:nvSpPr>
          <p:cNvPr id="17" name="Shape 15"/>
          <p:cNvSpPr/>
          <p:nvPr/>
        </p:nvSpPr>
        <p:spPr>
          <a:xfrm>
            <a:off x="589788" y="3611880"/>
            <a:ext cx="402336" cy="402336"/>
          </a:xfrm>
          <a:prstGeom prst="rect">
            <a:avLst/>
          </a:prstGeom>
          <a:solidFill>
            <a:srgbClr val="86BC25"/>
          </a:solidFill>
          <a:ln/>
        </p:spPr>
      </p:sp>
      <p:sp>
        <p:nvSpPr>
          <p:cNvPr id="18" name="Text 16"/>
          <p:cNvSpPr txBox="1"/>
          <p:nvPr/>
        </p:nvSpPr>
        <p:spPr>
          <a:xfrm>
            <a:off x="589788"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138428" y="3538728"/>
            <a:ext cx="6995160" cy="548640"/>
          </a:xfrm>
          <a:prstGeom prst="rect">
            <a:avLst/>
          </a:prstGeom>
          <a:noFill/>
          <a:ln/>
        </p:spPr>
        <p:txBody>
          <a:bodyPr wrap="square" lIns="0" tIns="0" rIns="0" bIns="0" rtlCol="0" anchor="ctr"/>
          <a:lstStyle/>
          <a:p>
            <a:pPr algn="l" indent="0" marL="0">
              <a:buNone/>
            </a:pPr>
            <a:r>
              <a:rPr lang="en-US" sz="1400" b="1" dirty="0">
                <a:solidFill>
                  <a:srgbClr val="000000"/>
                </a:solidFill>
                <a:latin typeface="Calibri" pitchFamily="34" charset="0"/>
                <a:ea typeface="Calibri" pitchFamily="34" charset="-122"/>
                <a:cs typeface="Calibri" pitchFamily="34" charset="-120"/>
              </a:rPr>
              <a:t>Third-Party Fraud Risk</a:t>
            </a:r>
            <a:endParaRPr lang="en-US" sz="1400" dirty="0"/>
          </a:p>
        </p:txBody>
      </p:sp>
      <p:sp>
        <p:nvSpPr>
          <p:cNvPr id="20" name="Shape 18"/>
          <p:cNvSpPr/>
          <p:nvPr/>
        </p:nvSpPr>
        <p:spPr>
          <a:xfrm>
            <a:off x="498348" y="4215384"/>
            <a:ext cx="7772400" cy="548640"/>
          </a:xfrm>
          <a:prstGeom prst="rect">
            <a:avLst/>
          </a:prstGeom>
          <a:solidFill>
            <a:srgbClr val="F2F2F2"/>
          </a:solidFill>
          <a:ln/>
        </p:spPr>
      </p:sp>
      <p:sp>
        <p:nvSpPr>
          <p:cNvPr id="21" name="Shape 19"/>
          <p:cNvSpPr/>
          <p:nvPr/>
        </p:nvSpPr>
        <p:spPr>
          <a:xfrm>
            <a:off x="589788" y="4288536"/>
            <a:ext cx="402336" cy="402336"/>
          </a:xfrm>
          <a:prstGeom prst="rect">
            <a:avLst/>
          </a:prstGeom>
          <a:solidFill>
            <a:srgbClr val="86BC25"/>
          </a:solidFill>
          <a:ln/>
        </p:spPr>
      </p:sp>
      <p:sp>
        <p:nvSpPr>
          <p:cNvPr id="22" name="Text 20"/>
          <p:cNvSpPr txBox="1"/>
          <p:nvPr/>
        </p:nvSpPr>
        <p:spPr>
          <a:xfrm>
            <a:off x="589788" y="4288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1138428" y="4215384"/>
            <a:ext cx="6995160" cy="548640"/>
          </a:xfrm>
          <a:prstGeom prst="rect">
            <a:avLst/>
          </a:prstGeom>
          <a:noFill/>
          <a:ln/>
        </p:spPr>
        <p:txBody>
          <a:bodyPr wrap="square" lIns="0" tIns="0" rIns="0" bIns="0" rtlCol="0" anchor="ctr"/>
          <a:lstStyle/>
          <a:p>
            <a:pPr algn="l" indent="0" marL="0">
              <a:buNone/>
            </a:pPr>
            <a:r>
              <a:rPr lang="en-US" sz="1400" b="1" dirty="0">
                <a:solidFill>
                  <a:srgbClr val="000000"/>
                </a:solidFill>
                <a:latin typeface="Calibri" pitchFamily="34" charset="0"/>
                <a:ea typeface="Calibri" pitchFamily="34" charset="-122"/>
                <a:cs typeface="Calibri" pitchFamily="34" charset="-120"/>
              </a:rPr>
              <a:t>Operating Model Transformation</a:t>
            </a:r>
            <a:endParaRPr lang="en-US" sz="1400" dirty="0"/>
          </a:p>
        </p:txBody>
      </p:sp>
      <p:sp>
        <p:nvSpPr>
          <p:cNvPr id="24" name="Shape 22"/>
          <p:cNvSpPr/>
          <p:nvPr/>
        </p:nvSpPr>
        <p:spPr>
          <a:xfrm>
            <a:off x="498348" y="4892040"/>
            <a:ext cx="7772400" cy="548640"/>
          </a:xfrm>
          <a:prstGeom prst="rect">
            <a:avLst/>
          </a:prstGeom>
          <a:solidFill>
            <a:srgbClr val="F2F2F2"/>
          </a:solidFill>
          <a:ln/>
        </p:spPr>
      </p:sp>
      <p:sp>
        <p:nvSpPr>
          <p:cNvPr id="25" name="Shape 23"/>
          <p:cNvSpPr/>
          <p:nvPr/>
        </p:nvSpPr>
        <p:spPr>
          <a:xfrm>
            <a:off x="589788" y="4965192"/>
            <a:ext cx="402336" cy="402336"/>
          </a:xfrm>
          <a:prstGeom prst="rect">
            <a:avLst/>
          </a:prstGeom>
          <a:solidFill>
            <a:srgbClr val="86BC25"/>
          </a:solidFill>
          <a:ln/>
        </p:spPr>
      </p:sp>
      <p:sp>
        <p:nvSpPr>
          <p:cNvPr id="26" name="Text 24"/>
          <p:cNvSpPr txBox="1"/>
          <p:nvPr/>
        </p:nvSpPr>
        <p:spPr>
          <a:xfrm>
            <a:off x="589788" y="4965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1138428" y="4892040"/>
            <a:ext cx="6995160" cy="548640"/>
          </a:xfrm>
          <a:prstGeom prst="rect">
            <a:avLst/>
          </a:prstGeom>
          <a:noFill/>
          <a:ln/>
        </p:spPr>
        <p:txBody>
          <a:bodyPr wrap="square" lIns="0" tIns="0" rIns="0" bIns="0" rtlCol="0" anchor="ctr"/>
          <a:lstStyle/>
          <a:p>
            <a:pPr algn="l" indent="0" marL="0">
              <a:buNone/>
            </a:pPr>
            <a:r>
              <a:rPr lang="en-US" sz="1400" b="1" dirty="0">
                <a:solidFill>
                  <a:srgbClr val="000000"/>
                </a:solidFill>
                <a:latin typeface="Calibri" pitchFamily="34" charset="0"/>
                <a:ea typeface="Calibri" pitchFamily="34" charset="-122"/>
                <a:cs typeface="Calibri" pitchFamily="34" charset="-120"/>
              </a:rPr>
              <a:t>Regulatory &amp; Market Change</a:t>
            </a:r>
            <a:endParaRPr lang="en-US" sz="1400" dirty="0"/>
          </a:p>
        </p:txBody>
      </p:sp>
      <p:sp>
        <p:nvSpPr>
          <p:cNvPr id="28" name="Shape 26"/>
          <p:cNvSpPr/>
          <p:nvPr/>
        </p:nvSpPr>
        <p:spPr>
          <a:xfrm>
            <a:off x="498348" y="5568696"/>
            <a:ext cx="7772400" cy="548640"/>
          </a:xfrm>
          <a:prstGeom prst="rect">
            <a:avLst/>
          </a:prstGeom>
          <a:solidFill>
            <a:srgbClr val="F2F2F2"/>
          </a:solidFill>
          <a:ln/>
        </p:spPr>
      </p:sp>
      <p:sp>
        <p:nvSpPr>
          <p:cNvPr id="29" name="Shape 27"/>
          <p:cNvSpPr/>
          <p:nvPr/>
        </p:nvSpPr>
        <p:spPr>
          <a:xfrm>
            <a:off x="589788" y="5641848"/>
            <a:ext cx="402336" cy="402336"/>
          </a:xfrm>
          <a:prstGeom prst="rect">
            <a:avLst/>
          </a:prstGeom>
          <a:solidFill>
            <a:srgbClr val="86BC25"/>
          </a:solidFill>
          <a:ln/>
        </p:spPr>
      </p:sp>
      <p:sp>
        <p:nvSpPr>
          <p:cNvPr id="30" name="Text 28"/>
          <p:cNvSpPr txBox="1"/>
          <p:nvPr/>
        </p:nvSpPr>
        <p:spPr>
          <a:xfrm>
            <a:off x="589788" y="5641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9"/>
          <p:cNvSpPr txBox="1"/>
          <p:nvPr/>
        </p:nvSpPr>
        <p:spPr>
          <a:xfrm>
            <a:off x="1138428" y="5568696"/>
            <a:ext cx="6995160" cy="548640"/>
          </a:xfrm>
          <a:prstGeom prst="rect">
            <a:avLst/>
          </a:prstGeom>
          <a:noFill/>
          <a:ln/>
        </p:spPr>
        <p:txBody>
          <a:bodyPr wrap="square" lIns="0" tIns="0" rIns="0" bIns="0" rtlCol="0" anchor="ctr"/>
          <a:lstStyle/>
          <a:p>
            <a:pPr algn="l" indent="0" marL="0">
              <a:buNone/>
            </a:pPr>
            <a:r>
              <a:rPr lang="en-US" sz="1400" b="1" dirty="0">
                <a:solidFill>
                  <a:srgbClr val="000000"/>
                </a:solidFill>
                <a:latin typeface="Calibri" pitchFamily="34" charset="0"/>
                <a:ea typeface="Calibri" pitchFamily="34" charset="-122"/>
                <a:cs typeface="Calibri" pitchFamily="34" charset="-120"/>
              </a:rPr>
              <a:t>Looking Ahead Three Years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Methodology &amp; Respondent Profile</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Fielded via GLG among senior fraud leaders at banks and insurers globally — fielding closed at exactly the target sample size and mix.</a:t>
            </a:r>
            <a:endParaRPr lang="en-US" sz="1350" dirty="0"/>
          </a:p>
        </p:txBody>
      </p:sp>
      <p:sp>
        <p:nvSpPr>
          <p:cNvPr id="4" name="Text 2"/>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502006" y="1335024"/>
            <a:ext cx="2514600" cy="914400"/>
          </a:xfrm>
          <a:prstGeom prst="rect">
            <a:avLst/>
          </a:prstGeom>
          <a:solidFill>
            <a:srgbClr val="F2F2F2"/>
          </a:solidFill>
          <a:ln/>
        </p:spPr>
      </p:sp>
      <p:sp>
        <p:nvSpPr>
          <p:cNvPr id="6" name="Text 4"/>
          <p:cNvSpPr txBox="1"/>
          <p:nvPr/>
        </p:nvSpPr>
        <p:spPr>
          <a:xfrm>
            <a:off x="502006" y="1426464"/>
            <a:ext cx="2514600" cy="438912"/>
          </a:xfrm>
          <a:prstGeom prst="rect">
            <a:avLst/>
          </a:prstGeom>
          <a:noFill/>
          <a:ln/>
        </p:spPr>
        <p:txBody>
          <a:bodyPr wrap="square" rtlCol="0" anchor="ctr"/>
          <a:lstStyle/>
          <a:p>
            <a:pPr algn="ctr" indent="0" marL="0">
              <a:buNone/>
            </a:pPr>
            <a:r>
              <a:rPr lang="en-US" sz="2200" b="1" dirty="0">
                <a:solidFill>
                  <a:srgbClr val="046A38"/>
                </a:solidFill>
                <a:latin typeface="Calibri" pitchFamily="34" charset="0"/>
                <a:ea typeface="Calibri" pitchFamily="34" charset="-122"/>
                <a:cs typeface="Calibri" pitchFamily="34" charset="-120"/>
              </a:rPr>
              <a:t>100</a:t>
            </a:r>
            <a:endParaRPr lang="en-US" sz="2200" dirty="0"/>
          </a:p>
        </p:txBody>
      </p:sp>
      <p:sp>
        <p:nvSpPr>
          <p:cNvPr id="7" name="Text 5"/>
          <p:cNvSpPr txBox="1"/>
          <p:nvPr/>
        </p:nvSpPr>
        <p:spPr>
          <a:xfrm>
            <a:off x="502006" y="1865376"/>
            <a:ext cx="2514600" cy="329184"/>
          </a:xfrm>
          <a:prstGeom prst="rect">
            <a:avLst/>
          </a:prstGeom>
          <a:noFill/>
          <a:ln/>
        </p:spPr>
        <p:txBody>
          <a:bodyPr wrap="square" rtlCol="0" anchor="ctr"/>
          <a:lstStyle/>
          <a:p>
            <a:pPr algn="ctr" indent="0" marL="0">
              <a:buNone/>
            </a:pPr>
            <a:r>
              <a:rPr lang="en-US" sz="1000" dirty="0">
                <a:solidFill>
                  <a:srgbClr val="53565A"/>
                </a:solidFill>
                <a:latin typeface="Calibri" pitchFamily="34" charset="0"/>
                <a:ea typeface="Calibri" pitchFamily="34" charset="-122"/>
                <a:cs typeface="Calibri" pitchFamily="34" charset="-120"/>
              </a:rPr>
              <a:t>Qualified respondents</a:t>
            </a:r>
            <a:endParaRPr lang="en-US" sz="1000" dirty="0"/>
          </a:p>
        </p:txBody>
      </p:sp>
      <p:sp>
        <p:nvSpPr>
          <p:cNvPr id="8" name="Shape 6"/>
          <p:cNvSpPr/>
          <p:nvPr/>
        </p:nvSpPr>
        <p:spPr>
          <a:xfrm>
            <a:off x="3336646" y="1335024"/>
            <a:ext cx="2514600" cy="914400"/>
          </a:xfrm>
          <a:prstGeom prst="rect">
            <a:avLst/>
          </a:prstGeom>
          <a:solidFill>
            <a:srgbClr val="F2F2F2"/>
          </a:solidFill>
          <a:ln/>
        </p:spPr>
      </p:sp>
      <p:sp>
        <p:nvSpPr>
          <p:cNvPr id="9" name="Text 7"/>
          <p:cNvSpPr txBox="1"/>
          <p:nvPr/>
        </p:nvSpPr>
        <p:spPr>
          <a:xfrm>
            <a:off x="3336646" y="1426464"/>
            <a:ext cx="2514600" cy="438912"/>
          </a:xfrm>
          <a:prstGeom prst="rect">
            <a:avLst/>
          </a:prstGeom>
          <a:noFill/>
          <a:ln/>
        </p:spPr>
        <p:txBody>
          <a:bodyPr wrap="square" rtlCol="0" anchor="ctr"/>
          <a:lstStyle/>
          <a:p>
            <a:pPr algn="ctr" indent="0" marL="0">
              <a:buNone/>
            </a:pPr>
            <a:r>
              <a:rPr lang="en-US" sz="2200" b="1" dirty="0">
                <a:solidFill>
                  <a:srgbClr val="046A38"/>
                </a:solidFill>
                <a:latin typeface="Calibri" pitchFamily="34" charset="0"/>
                <a:ea typeface="Calibri" pitchFamily="34" charset="-122"/>
                <a:cs typeface="Calibri" pitchFamily="34" charset="-120"/>
              </a:rPr>
              <a:t>75 / 25</a:t>
            </a:r>
            <a:endParaRPr lang="en-US" sz="2200" dirty="0"/>
          </a:p>
        </p:txBody>
      </p:sp>
      <p:sp>
        <p:nvSpPr>
          <p:cNvPr id="10" name="Text 8"/>
          <p:cNvSpPr txBox="1"/>
          <p:nvPr/>
        </p:nvSpPr>
        <p:spPr>
          <a:xfrm>
            <a:off x="3336646" y="1865376"/>
            <a:ext cx="2514600" cy="329184"/>
          </a:xfrm>
          <a:prstGeom prst="rect">
            <a:avLst/>
          </a:prstGeom>
          <a:noFill/>
          <a:ln/>
        </p:spPr>
        <p:txBody>
          <a:bodyPr wrap="square" rtlCol="0" anchor="ctr"/>
          <a:lstStyle/>
          <a:p>
            <a:pPr algn="ctr" indent="0" marL="0">
              <a:buNone/>
            </a:pPr>
            <a:r>
              <a:rPr lang="en-US" sz="1000" dirty="0">
                <a:solidFill>
                  <a:srgbClr val="53565A"/>
                </a:solidFill>
                <a:latin typeface="Calibri" pitchFamily="34" charset="0"/>
                <a:ea typeface="Calibri" pitchFamily="34" charset="-122"/>
                <a:cs typeface="Calibri" pitchFamily="34" charset="-120"/>
              </a:rPr>
              <a:t>% Banking / Insurance</a:t>
            </a:r>
            <a:endParaRPr lang="en-US" sz="1000" dirty="0"/>
          </a:p>
        </p:txBody>
      </p:sp>
      <p:sp>
        <p:nvSpPr>
          <p:cNvPr id="11" name="Shape 9"/>
          <p:cNvSpPr/>
          <p:nvPr/>
        </p:nvSpPr>
        <p:spPr>
          <a:xfrm>
            <a:off x="6171286" y="1335024"/>
            <a:ext cx="2514600" cy="914400"/>
          </a:xfrm>
          <a:prstGeom prst="rect">
            <a:avLst/>
          </a:prstGeom>
          <a:solidFill>
            <a:srgbClr val="F2F2F2"/>
          </a:solidFill>
          <a:ln/>
        </p:spPr>
      </p:sp>
      <p:sp>
        <p:nvSpPr>
          <p:cNvPr id="12" name="Text 10"/>
          <p:cNvSpPr txBox="1"/>
          <p:nvPr/>
        </p:nvSpPr>
        <p:spPr>
          <a:xfrm>
            <a:off x="6171286" y="1426464"/>
            <a:ext cx="2514600" cy="438912"/>
          </a:xfrm>
          <a:prstGeom prst="rect">
            <a:avLst/>
          </a:prstGeom>
          <a:noFill/>
          <a:ln/>
        </p:spPr>
        <p:txBody>
          <a:bodyPr wrap="square" rtlCol="0" anchor="ctr"/>
          <a:lstStyle/>
          <a:p>
            <a:pPr algn="ctr" indent="0" marL="0">
              <a:buNone/>
            </a:pPr>
            <a:r>
              <a:rPr lang="en-US" sz="2200" b="1" dirty="0">
                <a:solidFill>
                  <a:srgbClr val="046A38"/>
                </a:solidFill>
                <a:latin typeface="Calibri" pitchFamily="34" charset="0"/>
                <a:ea typeface="Calibri" pitchFamily="34" charset="-122"/>
                <a:cs typeface="Calibri" pitchFamily="34" charset="-120"/>
              </a:rPr>
              <a:t>76%</a:t>
            </a:r>
            <a:endParaRPr lang="en-US" sz="2200" dirty="0"/>
          </a:p>
        </p:txBody>
      </p:sp>
      <p:sp>
        <p:nvSpPr>
          <p:cNvPr id="13" name="Text 11"/>
          <p:cNvSpPr txBox="1"/>
          <p:nvPr/>
        </p:nvSpPr>
        <p:spPr>
          <a:xfrm>
            <a:off x="6171286" y="1865376"/>
            <a:ext cx="2514600" cy="329184"/>
          </a:xfrm>
          <a:prstGeom prst="rect">
            <a:avLst/>
          </a:prstGeom>
          <a:noFill/>
          <a:ln/>
        </p:spPr>
        <p:txBody>
          <a:bodyPr wrap="square" rtlCol="0" anchor="ctr"/>
          <a:lstStyle/>
          <a:p>
            <a:pPr algn="ctr" indent="0" marL="0">
              <a:buNone/>
            </a:pPr>
            <a:r>
              <a:rPr lang="en-US" sz="1000" dirty="0">
                <a:solidFill>
                  <a:srgbClr val="53565A"/>
                </a:solidFill>
                <a:latin typeface="Calibri" pitchFamily="34" charset="0"/>
                <a:ea typeface="Calibri" pitchFamily="34" charset="-122"/>
                <a:cs typeface="Calibri" pitchFamily="34" charset="-120"/>
              </a:rPr>
              <a:t>Director-level or above</a:t>
            </a:r>
            <a:endParaRPr lang="en-US" sz="1000" dirty="0"/>
          </a:p>
        </p:txBody>
      </p:sp>
      <p:sp>
        <p:nvSpPr>
          <p:cNvPr id="14" name="Shape 12"/>
          <p:cNvSpPr/>
          <p:nvPr/>
        </p:nvSpPr>
        <p:spPr>
          <a:xfrm>
            <a:off x="9005926" y="1335024"/>
            <a:ext cx="2514600" cy="914400"/>
          </a:xfrm>
          <a:prstGeom prst="rect">
            <a:avLst/>
          </a:prstGeom>
          <a:solidFill>
            <a:srgbClr val="F2F2F2"/>
          </a:solidFill>
          <a:ln/>
        </p:spPr>
      </p:sp>
      <p:sp>
        <p:nvSpPr>
          <p:cNvPr id="15" name="Text 13"/>
          <p:cNvSpPr txBox="1"/>
          <p:nvPr/>
        </p:nvSpPr>
        <p:spPr>
          <a:xfrm>
            <a:off x="9005926" y="1426464"/>
            <a:ext cx="2514600" cy="438912"/>
          </a:xfrm>
          <a:prstGeom prst="rect">
            <a:avLst/>
          </a:prstGeom>
          <a:noFill/>
          <a:ln/>
        </p:spPr>
        <p:txBody>
          <a:bodyPr wrap="square" rtlCol="0" anchor="ctr"/>
          <a:lstStyle/>
          <a:p>
            <a:pPr algn="ctr" indent="0" marL="0">
              <a:buNone/>
            </a:pPr>
            <a:r>
              <a:rPr lang="en-US" sz="2200" b="1" dirty="0">
                <a:solidFill>
                  <a:srgbClr val="046A38"/>
                </a:solidFill>
                <a:latin typeface="Calibri" pitchFamily="34" charset="0"/>
                <a:ea typeface="Calibri" pitchFamily="34" charset="-122"/>
                <a:cs typeface="Calibri" pitchFamily="34" charset="-120"/>
              </a:rPr>
              <a:t>100%</a:t>
            </a:r>
            <a:endParaRPr lang="en-US" sz="2200" dirty="0"/>
          </a:p>
        </p:txBody>
      </p:sp>
      <p:sp>
        <p:nvSpPr>
          <p:cNvPr id="16" name="Text 14"/>
          <p:cNvSpPr txBox="1"/>
          <p:nvPr/>
        </p:nvSpPr>
        <p:spPr>
          <a:xfrm>
            <a:off x="9005926" y="1865376"/>
            <a:ext cx="2514600" cy="329184"/>
          </a:xfrm>
          <a:prstGeom prst="rect">
            <a:avLst/>
          </a:prstGeom>
          <a:noFill/>
          <a:ln/>
        </p:spPr>
        <p:txBody>
          <a:bodyPr wrap="square" rtlCol="0" anchor="ctr"/>
          <a:lstStyle/>
          <a:p>
            <a:pPr algn="ctr" indent="0" marL="0">
              <a:buNone/>
            </a:pPr>
            <a:r>
              <a:rPr lang="en-US" sz="1000" dirty="0">
                <a:solidFill>
                  <a:srgbClr val="53565A"/>
                </a:solidFill>
                <a:latin typeface="Calibri" pitchFamily="34" charset="0"/>
                <a:ea typeface="Calibri" pitchFamily="34" charset="-122"/>
                <a:cs typeface="Calibri" pitchFamily="34" charset="-120"/>
              </a:rPr>
              <a:t>Answered the open-end</a:t>
            </a:r>
            <a:endParaRPr lang="en-US" sz="1000" dirty="0"/>
          </a:p>
        </p:txBody>
      </p:sp>
      <p:sp>
        <p:nvSpPr>
          <p:cNvPr id="17" name="Text 15"/>
          <p:cNvSpPr txBox="1"/>
          <p:nvPr/>
        </p:nvSpPr>
        <p:spPr>
          <a:xfrm>
            <a:off x="502006" y="2304288"/>
            <a:ext cx="5486400" cy="292608"/>
          </a:xfrm>
          <a:prstGeom prst="rect">
            <a:avLst/>
          </a:prstGeom>
          <a:noFill/>
          <a:ln/>
        </p:spPr>
        <p:txBody>
          <a:bodyPr wrap="square" rtlCol="0" anchor="ctr"/>
          <a:lstStyle/>
          <a:p>
            <a:pPr indent="0" marL="0">
              <a:buNone/>
            </a:pPr>
            <a:r>
              <a:rPr lang="en-US" sz="900" b="1" dirty="0">
                <a:solidFill>
                  <a:srgbClr val="046A38"/>
                </a:solidFill>
                <a:latin typeface="IBM Plex Mono" pitchFamily="34" charset="0"/>
                <a:ea typeface="IBM Plex Mono" pitchFamily="34" charset="-122"/>
                <a:cs typeface="IBM Plex Mono" pitchFamily="34" charset="-120"/>
              </a:rPr>
              <a:t>S6  </a:t>
            </a:r>
            <a:pPr indent="0" marL="0">
              <a:buNone/>
            </a:pPr>
            <a:r>
              <a:rPr lang="en-US" sz="950" i="1" dirty="0">
                <a:solidFill>
                  <a:srgbClr val="575757"/>
                </a:solidFill>
                <a:latin typeface="Calibri" pitchFamily="34" charset="0"/>
                <a:ea typeface="Calibri" pitchFamily="34" charset="-122"/>
                <a:cs typeface="Calibri" pitchFamily="34" charset="-120"/>
              </a:rPr>
              <a:t>“Which market best describes your primary area of responsibility for fraud risk management?”</a:t>
            </a:r>
            <a:endParaRPr lang="en-US" sz="900" dirty="0"/>
          </a:p>
        </p:txBody>
      </p:sp>
      <p:graphicFrame>
        <p:nvGraphicFramePr>
          <p:cNvPr id="18" name="Chart 0" descr=""/>
          <p:cNvGraphicFramePr/>
          <p:nvPr/>
        </p:nvGraphicFramePr>
        <p:xfrm>
          <a:off x="502006" y="2615184"/>
          <a:ext cx="5486400" cy="288036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6172200" y="2304288"/>
            <a:ext cx="5486400" cy="292608"/>
          </a:xfrm>
          <a:prstGeom prst="rect">
            <a:avLst/>
          </a:prstGeom>
          <a:noFill/>
          <a:ln/>
        </p:spPr>
        <p:txBody>
          <a:bodyPr wrap="square" rtlCol="0" anchor="ctr"/>
          <a:lstStyle/>
          <a:p>
            <a:pPr indent="0" marL="0">
              <a:buNone/>
            </a:pPr>
            <a:r>
              <a:rPr lang="en-US" sz="900" b="1" dirty="0">
                <a:solidFill>
                  <a:srgbClr val="046A38"/>
                </a:solidFill>
                <a:latin typeface="IBM Plex Mono" pitchFamily="34" charset="0"/>
                <a:ea typeface="IBM Plex Mono" pitchFamily="34" charset="-122"/>
                <a:cs typeface="IBM Plex Mono" pitchFamily="34" charset="-120"/>
              </a:rPr>
              <a:t>S4  </a:t>
            </a:r>
            <a:pPr indent="0" marL="0">
              <a:buNone/>
            </a:pPr>
            <a:r>
              <a:rPr lang="en-US" sz="950" i="1" dirty="0">
                <a:solidFill>
                  <a:srgbClr val="575757"/>
                </a:solidFill>
                <a:latin typeface="Calibri" pitchFamily="34" charset="0"/>
                <a:ea typeface="Calibri" pitchFamily="34" charset="-122"/>
                <a:cs typeface="Calibri" pitchFamily="34" charset="-120"/>
              </a:rPr>
              <a:t>“Which of the following best describes your department within your organization?”</a:t>
            </a:r>
            <a:endParaRPr lang="en-US" sz="900" dirty="0"/>
          </a:p>
        </p:txBody>
      </p:sp>
      <p:graphicFrame>
        <p:nvGraphicFramePr>
          <p:cNvPr id="20" name="Chart 1" descr=""/>
          <p:cNvGraphicFramePr/>
          <p:nvPr/>
        </p:nvGraphicFramePr>
        <p:xfrm>
          <a:off x="6172200" y="2615184"/>
          <a:ext cx="5486400" cy="288036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Banking Respondent Profile — Institution Tier and Geography</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The Banking sample skews slightly toward Top 100 institutions and is anchored in the United States and Canada.</a:t>
            </a:r>
            <a:endParaRPr lang="en-US" sz="1350" dirty="0"/>
          </a:p>
        </p:txBody>
      </p:sp>
      <p:sp>
        <p:nvSpPr>
          <p:cNvPr id="4" name="Text 2"/>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3</a:t>
            </a:r>
            <a:endParaRPr lang="en-US" sz="900" dirty="0"/>
          </a:p>
        </p:txBody>
      </p:sp>
      <p:sp>
        <p:nvSpPr>
          <p:cNvPr id="5" name="Text 3"/>
          <p:cNvSpPr txBox="1"/>
          <p:nvPr/>
        </p:nvSpPr>
        <p:spPr>
          <a:xfrm>
            <a:off x="502006" y="1965960"/>
            <a:ext cx="5486400" cy="256032"/>
          </a:xfrm>
          <a:prstGeom prst="rect">
            <a:avLst/>
          </a:prstGeom>
          <a:noFill/>
          <a:ln/>
        </p:spPr>
        <p:txBody>
          <a:bodyPr wrap="square"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Institution Tier (n=75)</a:t>
            </a:r>
            <a:endParaRPr lang="en-US" sz="1150" dirty="0"/>
          </a:p>
        </p:txBody>
      </p:sp>
      <p:graphicFrame>
        <p:nvGraphicFramePr>
          <p:cNvPr id="6" name="Chart 0" descr=""/>
          <p:cNvGraphicFramePr/>
          <p:nvPr/>
        </p:nvGraphicFramePr>
        <p:xfrm>
          <a:off x="502006" y="2267712"/>
          <a:ext cx="5486400" cy="27432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6172200" y="1965960"/>
            <a:ext cx="5486400" cy="256032"/>
          </a:xfrm>
          <a:prstGeom prst="rect">
            <a:avLst/>
          </a:prstGeom>
          <a:noFill/>
          <a:ln/>
        </p:spPr>
        <p:txBody>
          <a:bodyPr wrap="square"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Geography (n=75)</a:t>
            </a:r>
            <a:endParaRPr lang="en-US" sz="1150" dirty="0"/>
          </a:p>
        </p:txBody>
      </p:sp>
      <p:graphicFrame>
        <p:nvGraphicFramePr>
          <p:cNvPr id="8" name="Chart 1" descr=""/>
          <p:cNvGraphicFramePr/>
          <p:nvPr/>
        </p:nvGraphicFramePr>
        <p:xfrm>
          <a:off x="6172200" y="2267712"/>
          <a:ext cx="5486400" cy="2743200"/>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502006" y="5120640"/>
            <a:ext cx="11188598" cy="0"/>
          </a:xfrm>
          <a:prstGeom prst="line">
            <a:avLst/>
          </a:prstGeom>
          <a:noFill/>
          <a:ln w="9525">
            <a:solidFill>
              <a:srgbClr val="D0D0CE"/>
            </a:solidFill>
            <a:prstDash val="solid"/>
          </a:ln>
        </p:spPr>
      </p:sp>
      <p:sp>
        <p:nvSpPr>
          <p:cNvPr id="10" name="Text 6"/>
          <p:cNvSpPr txBox="1"/>
          <p:nvPr/>
        </p:nvSpPr>
        <p:spPr>
          <a:xfrm>
            <a:off x="502006" y="5193792"/>
            <a:ext cx="11188598" cy="548640"/>
          </a:xfrm>
          <a:prstGeom prst="rect">
            <a:avLst/>
          </a:prstGeom>
          <a:noFill/>
          <a:ln/>
        </p:spPr>
        <p:txBody>
          <a:bodyPr wrap="square" lIns="0" tIns="0" rIns="0" bIns="0" rtlCol="0" anchor="t"/>
          <a:lstStyle/>
          <a:p>
            <a:pPr algn="l" indent="0" marL="0">
              <a:lnSpc>
                <a:spcPct val="115000"/>
              </a:lnSpc>
              <a:buNone/>
            </a:pPr>
            <a:r>
              <a:rPr lang="en-US" sz="850" b="1" dirty="0">
                <a:solidFill>
                  <a:srgbClr val="53565A"/>
                </a:solidFill>
                <a:latin typeface="Calibri" pitchFamily="34" charset="0"/>
                <a:ea typeface="Calibri" pitchFamily="34" charset="-122"/>
                <a:cs typeface="Calibri" pitchFamily="34" charset="-120"/>
              </a:rPr>
              <a:t>n=75. </a:t>
            </a:r>
            <a:pPr algn="l" indent="0" marL="0">
              <a:lnSpc>
                <a:spcPct val="115000"/>
              </a:lnSpc>
              <a:buNone/>
            </a:pPr>
            <a:r>
              <a:rPr lang="en-US" sz="850" dirty="0">
                <a:solidFill>
                  <a:srgbClr val="53565A"/>
                </a:solidFill>
                <a:latin typeface="Calibri" pitchFamily="34" charset="0"/>
                <a:ea typeface="Calibri" pitchFamily="34" charset="-122"/>
                <a:cs typeface="Calibri" pitchFamily="34" charset="-120"/>
              </a:rPr>
              <a:t>Institution tier based on newS8, and includes 5 respondents reclassified as Top 100 from their employer description elsewhere in the survey (Top 100 is n=40 = 35 direct + 5 reclassified; Large is n=35). Geography based on S6, with Europe combining EU and UK respondents (n=12: 9 UK, 3 EU). Percentages may not sum to exactly 100% due to rounding.</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Banking — Geography by Institution Tier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Top 100 institutions are more evenly spread across regions; Large institutions are disproportionately U.S.-based.</a:t>
            </a:r>
            <a:endParaRPr lang="en-US" sz="1350" dirty="0"/>
          </a:p>
        </p:txBody>
      </p:sp>
      <p:sp>
        <p:nvSpPr>
          <p:cNvPr id="4" name="Text 2"/>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4</a:t>
            </a:r>
            <a:endParaRPr lang="en-US" sz="900" dirty="0"/>
          </a:p>
        </p:txBody>
      </p:sp>
      <p:graphicFrame>
        <p:nvGraphicFramePr>
          <p:cNvPr id="5"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02006" y="5202936"/>
            <a:ext cx="11188598" cy="0"/>
          </a:xfrm>
          <a:prstGeom prst="line">
            <a:avLst/>
          </a:prstGeom>
          <a:noFill/>
          <a:ln w="9525">
            <a:solidFill>
              <a:srgbClr val="D0D0CE"/>
            </a:solidFill>
            <a:prstDash val="solid"/>
          </a:ln>
        </p:spPr>
      </p:sp>
      <p:sp>
        <p:nvSpPr>
          <p:cNvPr id="7" name="Text 4"/>
          <p:cNvSpPr txBox="1"/>
          <p:nvPr/>
        </p:nvSpPr>
        <p:spPr>
          <a:xfrm>
            <a:off x="502006" y="5276088"/>
            <a:ext cx="11188598" cy="685800"/>
          </a:xfrm>
          <a:prstGeom prst="rect">
            <a:avLst/>
          </a:prstGeom>
          <a:noFill/>
          <a:ln/>
        </p:spPr>
        <p:txBody>
          <a:bodyPr wrap="square" lIns="0" tIns="0" rIns="0" bIns="0" rtlCol="0" anchor="t"/>
          <a:lstStyle/>
          <a:p>
            <a:pPr algn="l" indent="0" marL="0">
              <a:lnSpc>
                <a:spcPct val="115000"/>
              </a:lnSpc>
              <a:buNone/>
            </a:pPr>
            <a:r>
              <a:rPr lang="en-US" sz="850" b="1" dirty="0">
                <a:solidFill>
                  <a:srgbClr val="53565A"/>
                </a:solidFill>
                <a:latin typeface="Calibri" pitchFamily="34" charset="0"/>
                <a:ea typeface="Calibri" pitchFamily="34" charset="-122"/>
                <a:cs typeface="Calibri" pitchFamily="34" charset="-120"/>
              </a:rPr>
              <a:t>n=75. </a:t>
            </a:r>
            <a:pPr algn="l" indent="0" marL="0">
              <a:lnSpc>
                <a:spcPct val="115000"/>
              </a:lnSpc>
              <a:buNone/>
            </a:pPr>
            <a:r>
              <a:rPr lang="en-US" sz="850" dirty="0">
                <a:solidFill>
                  <a:srgbClr val="53565A"/>
                </a:solidFill>
                <a:latin typeface="Calibri" pitchFamily="34" charset="0"/>
                <a:ea typeface="Calibri" pitchFamily="34" charset="-122"/>
                <a:cs typeface="Calibri" pitchFamily="34" charset="-120"/>
              </a:rPr>
              <a:t>Percentages are each region's share of that tier (Top 100 or Large), so each bar sums to ~100% and may not sum exactly due to rounding. Region counts — Top 100: US n=14, Canada n=13, Europe n=7, Australia n=4, Singapore n=2. Large: US n=20, Canada n=5, Europe n=5, Australia n=3, Singapore n=2. Top 100 includes 5 respondents reclassified from their employer description elsewhere in the survey (see the Banking sample profile slide).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Insurance Respondent Profile — Institution Tier and Geography</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The Insurance sample leans Top 50 carriers and is concentrated in the United States and Canada, with a thin tail across the UK and Australia.</a:t>
            </a:r>
            <a:endParaRPr lang="en-US" sz="1350" dirty="0"/>
          </a:p>
        </p:txBody>
      </p:sp>
      <p:sp>
        <p:nvSpPr>
          <p:cNvPr id="4" name="Text 2"/>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5</a:t>
            </a:r>
            <a:endParaRPr lang="en-US" sz="900" dirty="0"/>
          </a:p>
        </p:txBody>
      </p:sp>
      <p:sp>
        <p:nvSpPr>
          <p:cNvPr id="5" name="Text 3"/>
          <p:cNvSpPr txBox="1"/>
          <p:nvPr/>
        </p:nvSpPr>
        <p:spPr>
          <a:xfrm>
            <a:off x="502006" y="1965960"/>
            <a:ext cx="5486400" cy="256032"/>
          </a:xfrm>
          <a:prstGeom prst="rect">
            <a:avLst/>
          </a:prstGeom>
          <a:noFill/>
          <a:ln/>
        </p:spPr>
        <p:txBody>
          <a:bodyPr wrap="square"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Institution Tier (n=25)</a:t>
            </a:r>
            <a:endParaRPr lang="en-US" sz="1150" dirty="0"/>
          </a:p>
        </p:txBody>
      </p:sp>
      <p:graphicFrame>
        <p:nvGraphicFramePr>
          <p:cNvPr id="6" name="Chart 0" descr=""/>
          <p:cNvGraphicFramePr/>
          <p:nvPr/>
        </p:nvGraphicFramePr>
        <p:xfrm>
          <a:off x="502006" y="2267712"/>
          <a:ext cx="5486400" cy="27432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6172200" y="1965960"/>
            <a:ext cx="5486400" cy="256032"/>
          </a:xfrm>
          <a:prstGeom prst="rect">
            <a:avLst/>
          </a:prstGeom>
          <a:noFill/>
          <a:ln/>
        </p:spPr>
        <p:txBody>
          <a:bodyPr wrap="square"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Geography (n=25)</a:t>
            </a:r>
            <a:endParaRPr lang="en-US" sz="1150" dirty="0"/>
          </a:p>
        </p:txBody>
      </p:sp>
      <p:graphicFrame>
        <p:nvGraphicFramePr>
          <p:cNvPr id="8" name="Chart 1" descr=""/>
          <p:cNvGraphicFramePr/>
          <p:nvPr/>
        </p:nvGraphicFramePr>
        <p:xfrm>
          <a:off x="6172200" y="2267712"/>
          <a:ext cx="5486400" cy="2743200"/>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502006" y="5120640"/>
            <a:ext cx="11188598" cy="0"/>
          </a:xfrm>
          <a:prstGeom prst="line">
            <a:avLst/>
          </a:prstGeom>
          <a:noFill/>
          <a:ln w="9525">
            <a:solidFill>
              <a:srgbClr val="D0D0CE"/>
            </a:solidFill>
            <a:prstDash val="solid"/>
          </a:ln>
        </p:spPr>
      </p:sp>
      <p:sp>
        <p:nvSpPr>
          <p:cNvPr id="10" name="Text 6"/>
          <p:cNvSpPr txBox="1"/>
          <p:nvPr/>
        </p:nvSpPr>
        <p:spPr>
          <a:xfrm>
            <a:off x="502006" y="5193792"/>
            <a:ext cx="11188598" cy="658368"/>
          </a:xfrm>
          <a:prstGeom prst="rect">
            <a:avLst/>
          </a:prstGeom>
          <a:noFill/>
          <a:ln/>
        </p:spPr>
        <p:txBody>
          <a:bodyPr wrap="square" lIns="0" tIns="0" rIns="0" bIns="0" rtlCol="0" anchor="t"/>
          <a:lstStyle/>
          <a:p>
            <a:pPr algn="l" indent="0" marL="0">
              <a:lnSpc>
                <a:spcPct val="112000"/>
              </a:lnSpc>
              <a:buNone/>
            </a:pPr>
            <a:r>
              <a:rPr lang="en-US" sz="850" b="1" dirty="0">
                <a:solidFill>
                  <a:srgbClr val="53565A"/>
                </a:solidFill>
                <a:latin typeface="Calibri" pitchFamily="34" charset="0"/>
                <a:ea typeface="Calibri" pitchFamily="34" charset="-122"/>
                <a:cs typeface="Calibri" pitchFamily="34" charset="-120"/>
              </a:rPr>
              <a:t>n=25. </a:t>
            </a:r>
            <a:pPr algn="l" indent="0" marL="0">
              <a:lnSpc>
                <a:spcPct val="112000"/>
              </a:lnSpc>
              <a:buNone/>
            </a:pPr>
            <a:r>
              <a:rPr lang="en-US" sz="850" dirty="0">
                <a:solidFill>
                  <a:srgbClr val="53565A"/>
                </a:solidFill>
                <a:latin typeface="Calibri" pitchFamily="34" charset="0"/>
                <a:ea typeface="Calibri" pitchFamily="34" charset="-122"/>
                <a:cs typeface="Calibri" pitchFamily="34" charset="-120"/>
              </a:rPr>
              <a:t>Institution tier based on S9, and includes 1 respondent reclassified as Large Insurance Carrier from their employer description elsewhere in the survey (Large is n=10 = 9 direct + 1 reclassified; Top 50 is n=15). Geography based on S6, with Europe combining EU and UK respondents (n=2, both UK); Insurance had zero Singapore respondents, so that category is omitted rather than shown at 0%. Australia (n=1) and Europe (n=2) are thin samples and should be read directionally.</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Insurance — Geography by Institution Tier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Large carriers are almost entirely U.S. and Canada-based; Top 50 carriers carry the sample's thin UK and Australia representation.</a:t>
            </a:r>
            <a:endParaRPr lang="en-US" sz="1350" dirty="0"/>
          </a:p>
        </p:txBody>
      </p:sp>
      <p:sp>
        <p:nvSpPr>
          <p:cNvPr id="4" name="Text 2"/>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6</a:t>
            </a:r>
            <a:endParaRPr lang="en-US" sz="900" dirty="0"/>
          </a:p>
        </p:txBody>
      </p:sp>
      <p:graphicFrame>
        <p:nvGraphicFramePr>
          <p:cNvPr id="5"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02006" y="5202936"/>
            <a:ext cx="11188598" cy="0"/>
          </a:xfrm>
          <a:prstGeom prst="line">
            <a:avLst/>
          </a:prstGeom>
          <a:noFill/>
          <a:ln w="9525">
            <a:solidFill>
              <a:srgbClr val="D0D0CE"/>
            </a:solidFill>
            <a:prstDash val="solid"/>
          </a:ln>
        </p:spPr>
      </p:sp>
      <p:sp>
        <p:nvSpPr>
          <p:cNvPr id="7" name="Text 4"/>
          <p:cNvSpPr txBox="1"/>
          <p:nvPr/>
        </p:nvSpPr>
        <p:spPr>
          <a:xfrm>
            <a:off x="502006" y="5276088"/>
            <a:ext cx="11188598" cy="685800"/>
          </a:xfrm>
          <a:prstGeom prst="rect">
            <a:avLst/>
          </a:prstGeom>
          <a:noFill/>
          <a:ln/>
        </p:spPr>
        <p:txBody>
          <a:bodyPr wrap="square" lIns="0" tIns="0" rIns="0" bIns="0" rtlCol="0" anchor="t"/>
          <a:lstStyle/>
          <a:p>
            <a:pPr algn="l" indent="0" marL="0">
              <a:lnSpc>
                <a:spcPct val="115000"/>
              </a:lnSpc>
              <a:buNone/>
            </a:pPr>
            <a:r>
              <a:rPr lang="en-US" sz="850" b="1" dirty="0">
                <a:solidFill>
                  <a:srgbClr val="53565A"/>
                </a:solidFill>
                <a:latin typeface="Calibri" pitchFamily="34" charset="0"/>
                <a:ea typeface="Calibri" pitchFamily="34" charset="-122"/>
                <a:cs typeface="Calibri" pitchFamily="34" charset="-120"/>
              </a:rPr>
              <a:t>n=25. </a:t>
            </a:r>
            <a:pPr algn="l" indent="0" marL="0">
              <a:lnSpc>
                <a:spcPct val="115000"/>
              </a:lnSpc>
              <a:buNone/>
            </a:pPr>
            <a:r>
              <a:rPr lang="en-US" sz="850" dirty="0">
                <a:solidFill>
                  <a:srgbClr val="53565A"/>
                </a:solidFill>
                <a:latin typeface="Calibri" pitchFamily="34" charset="0"/>
                <a:ea typeface="Calibri" pitchFamily="34" charset="-122"/>
                <a:cs typeface="Calibri" pitchFamily="34" charset="-120"/>
              </a:rPr>
              <a:t>Percentages are each region's share of that tier (Top 50 or Large), so each bar sums to ~100% and may not sum exactly due to rounding. Region counts — Top 50: US n=7, Canada n=6, Europe n=1, Australia n=1. Large: US n=3, Canada n=6, Europe n=1, Australia n=0. Neither tier has Singapore respondents. Large includes 1 respondent (Canada) reclassified from their employer description elsewhere in the survey (see the Insurance sample profile slide).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86BC25"/>
        </a:solidFill>
      </p:bgPr>
    </p:bg>
    <p:spTree>
      <p:nvGrpSpPr>
        <p:cNvPr id="1" name=""/>
        <p:cNvGrpSpPr/>
        <p:nvPr/>
      </p:nvGrpSpPr>
      <p:grpSpPr>
        <a:xfrm>
          <a:off x="0" y="0"/>
          <a:ext cx="0" cy="0"/>
          <a:chOff x="0" y="0"/>
          <a:chExt cx="0" cy="0"/>
        </a:xfrm>
      </p:grpSpPr>
      <p:sp>
        <p:nvSpPr>
          <p:cNvPr id="2" name="Text 0"/>
          <p:cNvSpPr txBox="1"/>
          <p:nvPr/>
        </p:nvSpPr>
        <p:spPr>
          <a:xfrm>
            <a:off x="502920" y="1699870"/>
            <a:ext cx="10415016" cy="1591970"/>
          </a:xfrm>
          <a:prstGeom prst="rect">
            <a:avLst/>
          </a:prstGeom>
          <a:noFill/>
          <a:ln/>
        </p:spPr>
        <p:txBody>
          <a:bodyPr wrap="square" lIns="0" tIns="0" rIns="0" bIns="0" rtlCol="0" anchor="b"/>
          <a:lstStyle/>
          <a:p>
            <a:pPr algn="l" indent="0" marL="0">
              <a:buNone/>
            </a:pPr>
            <a:r>
              <a:rPr lang="en-US" sz="3600" b="1" dirty="0">
                <a:solidFill>
                  <a:srgbClr val="FFFFFF"/>
                </a:solidFill>
                <a:latin typeface="Calibri" pitchFamily="34" charset="0"/>
                <a:ea typeface="Calibri" pitchFamily="34" charset="-122"/>
                <a:cs typeface="Calibri" pitchFamily="34" charset="-120"/>
              </a:rPr>
              <a:t>1. Deepfake &amp; Emerging AI Risk</a:t>
            </a:r>
            <a:endParaRPr lang="en-US" sz="3600" dirty="0"/>
          </a:p>
        </p:txBody>
      </p:sp>
      <p:sp>
        <p:nvSpPr>
          <p:cNvPr id="3" name="Text 1"/>
          <p:cNvSpPr txBox="1"/>
          <p:nvPr/>
        </p:nvSpPr>
        <p:spPr>
          <a:xfrm>
            <a:off x="502920" y="3423514"/>
            <a:ext cx="10415016" cy="1563624"/>
          </a:xfrm>
          <a:prstGeom prst="rect">
            <a:avLst/>
          </a:prstGeom>
          <a:noFill/>
          <a:ln/>
        </p:spPr>
        <p:txBody>
          <a:bodyPr wrap="square" lIns="0" tIns="0" rIns="0" bIns="0" rtlCol="0" anchor="t"/>
          <a:lstStyle/>
          <a:p>
            <a:pPr algn="l" indent="0" marL="0">
              <a:lnSpc>
                <a:spcPct val="110000"/>
              </a:lnSpc>
              <a:buNone/>
            </a:pPr>
            <a:r>
              <a:rPr lang="en-US" sz="1600" dirty="0">
                <a:solidFill>
                  <a:srgbClr val="FFFFFF"/>
                </a:solidFill>
                <a:latin typeface="Calibri" pitchFamily="34" charset="0"/>
                <a:ea typeface="Calibri" pitchFamily="34" charset="-122"/>
                <a:cs typeface="Calibri" pitchFamily="34" charset="-120"/>
              </a:rPr>
              <a:t>Where AI-driven fraud vulnerability is concentrated, and what's standing in the way of managing it.</a:t>
            </a:r>
            <a:endParaRPr lang="en-US" sz="1600" dirty="0"/>
          </a:p>
        </p:txBody>
      </p:sp>
      <p:sp>
        <p:nvSpPr>
          <p:cNvPr id="4" name="Text 2"/>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Greatest Increase in AI/Deepfake Vulnerability</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AI-driven fraud is hitting identity checks the hardest — onboarding and payments, not the areas fraud teams traditionally focus on.</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Q2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area of your organization has experienced the greatest increase in vulnerability to fraud enabled by deepfakes and other advanced or frontier AI capabilities over the past 12 months?”</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8</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Ranked top 3 — shown as % of respondents who placed the option anywhere in their top 3 (not mutually exclusive; bars don't sum to 100%).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“Contact center / phone-based authentication”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“Digital onboarding, KYC, and identity verification”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“Claims, underwriting, lending, or application review”</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“Payment, wire, or transaction approvals”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“Video meetings and remote advisory interactions”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“Executive, employee, broker, or advisor impersonation”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Where the Risk Concentrates — By Sector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The overall #1 area masks a real split: Banking's top exposure is an exact tie between onboarding/KYC and payment/wire, while Insurance's is contact center and claims.</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Q2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area of your organization has experienced the greatest increase in vulnerability to fraud enabled by deepfakes and other advanced or frontier AI capabilities over the past 12 months? (Banking vs. Insurance, % selecting in top 3)”</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9</a:t>
            </a:r>
            <a:endParaRPr lang="en-US" sz="900" dirty="0"/>
          </a:p>
        </p:txBody>
      </p:sp>
      <p:sp>
        <p:nvSpPr>
          <p:cNvPr id="7" name="Text 5"/>
          <p:cNvSpPr txBox="1"/>
          <p:nvPr/>
        </p:nvSpPr>
        <p:spPr>
          <a:xfrm>
            <a:off x="502006" y="1965960"/>
            <a:ext cx="5486400" cy="256032"/>
          </a:xfrm>
          <a:prstGeom prst="rect">
            <a:avLst/>
          </a:prstGeom>
          <a:noFill/>
          <a:ln/>
        </p:spPr>
        <p:txBody>
          <a:bodyPr wrap="square"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Banking (n=75) — ranked</a:t>
            </a:r>
            <a:endParaRPr lang="en-US" sz="1150" dirty="0"/>
          </a:p>
        </p:txBody>
      </p:sp>
      <p:graphicFrame>
        <p:nvGraphicFramePr>
          <p:cNvPr id="8" name="Chart 0" descr=""/>
          <p:cNvGraphicFramePr/>
          <p:nvPr/>
        </p:nvGraphicFramePr>
        <p:xfrm>
          <a:off x="502006" y="2267712"/>
          <a:ext cx="5486400" cy="27432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72200" y="1965960"/>
            <a:ext cx="5486400" cy="256032"/>
          </a:xfrm>
          <a:prstGeom prst="rect">
            <a:avLst/>
          </a:prstGeom>
          <a:noFill/>
          <a:ln/>
        </p:spPr>
        <p:txBody>
          <a:bodyPr wrap="square"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Insurance (n=25) — ranked</a:t>
            </a:r>
            <a:endParaRPr lang="en-US" sz="1150" dirty="0"/>
          </a:p>
        </p:txBody>
      </p:sp>
      <p:graphicFrame>
        <p:nvGraphicFramePr>
          <p:cNvPr id="10" name="Chart 1" descr=""/>
          <p:cNvGraphicFramePr/>
          <p:nvPr/>
        </p:nvGraphicFramePr>
        <p:xfrm>
          <a:off x="6172200" y="2267712"/>
          <a:ext cx="5486400" cy="274320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502006" y="5166360"/>
            <a:ext cx="11188598" cy="502920"/>
          </a:xfrm>
          <a:prstGeom prst="roundRect">
            <a:avLst>
              <a:gd name="adj" fmla="val 9091"/>
            </a:avLst>
          </a:prstGeom>
          <a:solidFill>
            <a:srgbClr val="F2F2F2"/>
          </a:solidFill>
          <a:ln/>
        </p:spPr>
      </p:sp>
      <p:sp>
        <p:nvSpPr>
          <p:cNvPr id="12" name="Text 8"/>
          <p:cNvSpPr txBox="1"/>
          <p:nvPr/>
        </p:nvSpPr>
        <p:spPr>
          <a:xfrm>
            <a:off x="639166" y="5166360"/>
            <a:ext cx="10914278" cy="502920"/>
          </a:xfrm>
          <a:prstGeom prst="rect">
            <a:avLst/>
          </a:prstGeom>
          <a:noFill/>
          <a:ln/>
        </p:spPr>
        <p:txBody>
          <a:bodyPr wrap="square" rtlCol="0" anchor="ctr"/>
          <a:lstStyle/>
          <a:p>
            <a:pPr indent="0" marL="0">
              <a:lnSpc>
                <a:spcPct val="110000"/>
              </a:lnSpc>
              <a:buNone/>
            </a:pPr>
            <a:r>
              <a:rPr lang="en-US" sz="900" i="1" dirty="0">
                <a:solidFill>
                  <a:srgbClr val="53565A"/>
                </a:solidFill>
                <a:latin typeface="Calibri" pitchFamily="34" charset="0"/>
                <a:ea typeface="Calibri" pitchFamily="34" charset="-122"/>
                <a:cs typeface="Calibri" pitchFamily="34" charset="-120"/>
              </a:rPr>
              <a:t>Each panel is sorted independently. Values are % of that segment's respondents who placed the option anywhere in their top 3 (not mutually exclusive). Banking n=75, Insurance n=25 — bases differ, so compare rank order and share within each segment, not raw counts. Banking's top two areas are tied at 73%.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Key Obstacles to Managing AI-Driven Fraud Risk</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The bigger problem is untrained staff and identity-verification gaps, not a single missing tool.</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Q3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“What are the key obstacles to managing fraud risks created or amplified by advanced and frontier AI capabilities (e.g., deepfakes, synthetic identities, AI-enabled impersonation, and autonomous AI agents)?”</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10</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Select all that apply — bars do not sum to 100%.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“Insufficient identity verification or prevention capabilities in the existing environment”</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“Lack of fraud detection technology in the existing environment”</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“Limited or no available 3rd party fraud intelligence and/or consortium information”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“Limited staff awareness and training on deepfake-related fraud risk”</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Obstacles to Managing AI-Driven Fraud Risk — By Sector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Insurance leans hardest on the training gap (64%); Banking is more evenly split across all four obstacles.</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Q3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“What are the key obstacles to managing fraud risks created or amplified by advanced and frontier AI capabilities? (Banking vs. Insurance)”</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11</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Select all that apply — bars do not sum to 100%.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“Insufficient identity verification or prevention capabilities in the existing environment”</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“Lack of fraud detection technology in the existing environment”</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“Limited or no available 3rd party fraud intelligence and/or consortium information”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“Limited staff awareness and training on deepfake-related fraud risk”</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Obstacles to Managing AI-Driven Fraud Risk — By Sector and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Within each sector, the mix of obstacles shifts somewhat by region — though several regional cells are thin and should be read directionally, not precisely.</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Q3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“What are the key obstacles to managing fraud risks created or amplified by advanced and frontier AI capabilities? (Banking vs. Insurance, further broken down by region)”</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12</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676656"/>
          </a:xfrm>
          <a:prstGeom prst="rect">
            <a:avLst/>
          </a:prstGeom>
          <a:noFill/>
          <a:ln/>
        </p:spPr>
        <p:txBody>
          <a:bodyPr wrap="square" lIns="0" tIns="0" rIns="0" bIns="0" rtlCol="0" anchor="t"/>
          <a:lstStyle/>
          <a:p>
            <a:pPr algn="l" indent="0" marL="0">
              <a:lnSpc>
                <a:spcPct val="115000"/>
              </a:lnSpc>
              <a:buNone/>
            </a:pPr>
            <a:r>
              <a:rPr lang="en-US" sz="850" b="1" dirty="0">
                <a:solidFill>
                  <a:srgbClr val="53565A"/>
                </a:solidFill>
                <a:latin typeface="Calibri" pitchFamily="34" charset="0"/>
                <a:ea typeface="Calibri" pitchFamily="34" charset="-122"/>
                <a:cs typeface="Calibri" pitchFamily="34" charset="-120"/>
              </a:rPr>
              <a:t>Select all that apply — figures don't sum to 100%. </a:t>
            </a:r>
            <a:pPr algn="l" indent="0" marL="0">
              <a:lnSpc>
                <a:spcPct val="115000"/>
              </a:lnSpc>
              <a:buNone/>
            </a:pPr>
            <a:r>
              <a:rPr lang="en-US" sz="850" dirty="0">
                <a:solidFill>
                  <a:srgbClr val="53565A"/>
                </a:solidFill>
                <a:latin typeface="Calibri" pitchFamily="34" charset="0"/>
                <a:ea typeface="Calibri" pitchFamily="34" charset="-122"/>
                <a:cs typeface="Calibri" pitchFamily="34" charset="-120"/>
              </a:rPr>
              <a:t>The % in each category label is the full sector-level figure; stacked region segments are rounded to the nearest whole percent and may sum to within ±1pt of that total. Region sample sizes — Banking: US n=34, Canada n=18, Europe n=12, Australia n=7, Singapore n=4. Insurance: US n=10, Canada n=12, Europe n=2 (both United Kingdom), Australia n=1, Singapore n=0. Banking/Australia, Banking/Singapore, and all Insurance cells outside US/Canada are thin samples and should be read directionally, not precisely.</a:t>
            </a:r>
            <a:endParaRPr lang="en-US" sz="850" dirty="0"/>
          </a:p>
        </p:txBody>
      </p:sp>
      <p:sp>
        <p:nvSpPr>
          <p:cNvPr id="10" name="Text 7"/>
          <p:cNvSpPr txBox="1"/>
          <p:nvPr/>
        </p:nvSpPr>
        <p:spPr>
          <a:xfrm>
            <a:off x="502006" y="5989320"/>
            <a:ext cx="11188598" cy="320040"/>
          </a:xfrm>
          <a:prstGeom prst="rect">
            <a:avLst/>
          </a:prstGeom>
          <a:noFill/>
          <a:ln/>
        </p:spPr>
        <p:txBody>
          <a:bodyPr wrap="square" lIns="0" tIns="0" rIns="0" bIns="0" rtlCol="0" anchor="t"/>
          <a:lstStyle/>
          <a:p>
            <a:pPr algn="l" indent="0" marL="0">
              <a:lnSpc>
                <a:spcPct val="115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5000"/>
              </a:lnSpc>
              <a:buNone/>
            </a:pPr>
            <a:r>
              <a:rPr lang="en-US" sz="850" i="1" dirty="0">
                <a:solidFill>
                  <a:srgbClr val="53565A"/>
                </a:solidFill>
                <a:latin typeface="Calibri" pitchFamily="34" charset="0"/>
                <a:ea typeface="Calibri" pitchFamily="34" charset="-122"/>
                <a:cs typeface="Calibri" pitchFamily="34" charset="-120"/>
              </a:rPr>
              <a:t>“Insufficient identity verification or prevention capabilities in the existing environment” · “Lack of fraud detection technology in the existing environment” · “Limited or no available 3rd party fraud intelligence and/or consortium information” · “Limited staff awareness and training on deepfake-related fraud risk”</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Obstacles to Managing AI-Driven Fraud Risk — Banking,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Staff training and ID verification lead in most Banking markets, but Australia stands apart, citing 3rd-party intel gaps as its biggest obstacle by far.</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Q3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“What are the key obstacles to managing fraud risks created or amplified by advanced and frontier AI capabilities? (Banking only, by region)”</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13</a:t>
            </a:r>
            <a:endParaRPr lang="en-US" sz="900" dirty="0"/>
          </a:p>
        </p:txBody>
      </p:sp>
      <p:sp>
        <p:nvSpPr>
          <p:cNvPr id="7" name="Text 5"/>
          <p:cNvSpPr txBox="1"/>
          <p:nvPr/>
        </p:nvSpPr>
        <p:spPr>
          <a:xfrm>
            <a:off x="502006"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(n=34)</a:t>
            </a:r>
            <a:endParaRPr lang="en-US" sz="1050" dirty="0"/>
          </a:p>
        </p:txBody>
      </p:sp>
      <p:graphicFrame>
        <p:nvGraphicFramePr>
          <p:cNvPr id="8" name="Chart 0" descr=""/>
          <p:cNvGraphicFramePr/>
          <p:nvPr/>
        </p:nvGraphicFramePr>
        <p:xfrm>
          <a:off x="502006" y="2157984"/>
          <a:ext cx="3595421"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298594"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(n=18)</a:t>
            </a:r>
            <a:endParaRPr lang="en-US" sz="1050" dirty="0"/>
          </a:p>
        </p:txBody>
      </p:sp>
      <p:graphicFrame>
        <p:nvGraphicFramePr>
          <p:cNvPr id="10" name="Chart 1" descr=""/>
          <p:cNvGraphicFramePr/>
          <p:nvPr/>
        </p:nvGraphicFramePr>
        <p:xfrm>
          <a:off x="4298594" y="2157984"/>
          <a:ext cx="3595421"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8095183"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(n=12)</a:t>
            </a:r>
            <a:endParaRPr lang="en-US" sz="1050" dirty="0"/>
          </a:p>
        </p:txBody>
      </p:sp>
      <p:graphicFrame>
        <p:nvGraphicFramePr>
          <p:cNvPr id="12" name="Chart 2" descr=""/>
          <p:cNvGraphicFramePr/>
          <p:nvPr/>
        </p:nvGraphicFramePr>
        <p:xfrm>
          <a:off x="8095183" y="2157984"/>
          <a:ext cx="3595421"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502006"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(n=7)</a:t>
            </a:r>
            <a:endParaRPr lang="en-US" sz="1050" dirty="0"/>
          </a:p>
        </p:txBody>
      </p:sp>
      <p:graphicFrame>
        <p:nvGraphicFramePr>
          <p:cNvPr id="14" name="Chart 3" descr=""/>
          <p:cNvGraphicFramePr/>
          <p:nvPr/>
        </p:nvGraphicFramePr>
        <p:xfrm>
          <a:off x="502006" y="4087368"/>
          <a:ext cx="3595421" cy="1490472"/>
        </p:xfrm>
        <a:graphic xmlns:a="http://schemas.openxmlformats.org/drawingml/2006/main">
          <a:graphicData uri="http://schemas.openxmlformats.org/drawingml/2006/chart">
            <c:chart xmlns:c="http://schemas.openxmlformats.org/drawingml/2006/chart" r:id="rId4"/>
          </a:graphicData>
        </a:graphic>
      </p:graphicFrame>
      <p:sp>
        <p:nvSpPr>
          <p:cNvPr id="15" name="Text 9"/>
          <p:cNvSpPr txBox="1"/>
          <p:nvPr/>
        </p:nvSpPr>
        <p:spPr>
          <a:xfrm>
            <a:off x="4298594"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Singapore (n=4)</a:t>
            </a:r>
            <a:endParaRPr lang="en-US" sz="1050" dirty="0"/>
          </a:p>
        </p:txBody>
      </p:sp>
      <p:graphicFrame>
        <p:nvGraphicFramePr>
          <p:cNvPr id="16" name="Chart 4" descr=""/>
          <p:cNvGraphicFramePr/>
          <p:nvPr/>
        </p:nvGraphicFramePr>
        <p:xfrm>
          <a:off x="4298594" y="4087368"/>
          <a:ext cx="3595421" cy="1490472"/>
        </p:xfrm>
        <a:graphic xmlns:a="http://schemas.openxmlformats.org/drawingml/2006/main">
          <a:graphicData uri="http://schemas.openxmlformats.org/drawingml/2006/chart">
            <c:chart xmlns:c="http://schemas.openxmlformats.org/drawingml/2006/chart" r:id="rId5"/>
          </a:graphicData>
        </a:graphic>
      </p:graphicFrame>
      <p:sp>
        <p:nvSpPr>
          <p:cNvPr id="17" name="Shape 10"/>
          <p:cNvSpPr/>
          <p:nvPr/>
        </p:nvSpPr>
        <p:spPr>
          <a:xfrm>
            <a:off x="502006" y="5669280"/>
            <a:ext cx="11188598" cy="0"/>
          </a:xfrm>
          <a:prstGeom prst="line">
            <a:avLst/>
          </a:prstGeom>
          <a:noFill/>
          <a:ln w="9525">
            <a:solidFill>
              <a:srgbClr val="D0D0CE"/>
            </a:solidFill>
            <a:prstDash val="solid"/>
          </a:ln>
        </p:spPr>
      </p:sp>
      <p:sp>
        <p:nvSpPr>
          <p:cNvPr id="18" name="Text 11"/>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Select all that apply — figures don't sum to 100%.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Banking region sample sizes: US n=34, Canada n=18, Europe n=12, Australia n=7, Singapore n=4. Australia and Singapore are thin samples and should be read directionally, not precisely.</a:t>
            </a:r>
            <a:endParaRPr lang="en-US" sz="850" dirty="0"/>
          </a:p>
        </p:txBody>
      </p:sp>
      <p:sp>
        <p:nvSpPr>
          <p:cNvPr id="19" name="Text 12"/>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“Insufficient identity verification or prevention capabilities in the existing environment”  ·  “Lack of fraud detection technology in the existing environment”  ·  “Limited or no available 3rd party fraud intelligence and/or consortium information”  ·  “Limited staff awareness and training on deepfake-related fraud risk”</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Obstacles to Managing AI-Driven Fraud Risk — Insurance,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Canadian insurers cite staff training well above every other market; U.S. carriers are the only ones where detection technology ranks lowest.</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Q3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“What are the key obstacles to managing fraud risks created or amplified by advanced and frontier AI capabilities? (Insurance only, by region)”</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14</a:t>
            </a:r>
            <a:endParaRPr lang="en-US" sz="900" dirty="0"/>
          </a:p>
        </p:txBody>
      </p:sp>
      <p:sp>
        <p:nvSpPr>
          <p:cNvPr id="7" name="Text 5"/>
          <p:cNvSpPr txBox="1"/>
          <p:nvPr/>
        </p:nvSpPr>
        <p:spPr>
          <a:xfrm>
            <a:off x="502006" y="1920240"/>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(n=10)</a:t>
            </a:r>
            <a:endParaRPr lang="en-US" sz="1050" dirty="0"/>
          </a:p>
        </p:txBody>
      </p:sp>
      <p:graphicFrame>
        <p:nvGraphicFramePr>
          <p:cNvPr id="8" name="Chart 0" descr=""/>
          <p:cNvGraphicFramePr/>
          <p:nvPr/>
        </p:nvGraphicFramePr>
        <p:xfrm>
          <a:off x="502006" y="2157984"/>
          <a:ext cx="5493715"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96889" y="1920240"/>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(n=12)</a:t>
            </a:r>
            <a:endParaRPr lang="en-US" sz="1050" dirty="0"/>
          </a:p>
        </p:txBody>
      </p:sp>
      <p:graphicFrame>
        <p:nvGraphicFramePr>
          <p:cNvPr id="10" name="Chart 1" descr=""/>
          <p:cNvGraphicFramePr/>
          <p:nvPr/>
        </p:nvGraphicFramePr>
        <p:xfrm>
          <a:off x="6196889" y="2157984"/>
          <a:ext cx="5493715"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502006" y="3849624"/>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(n=2)</a:t>
            </a:r>
            <a:endParaRPr lang="en-US" sz="1050" dirty="0"/>
          </a:p>
        </p:txBody>
      </p:sp>
      <p:graphicFrame>
        <p:nvGraphicFramePr>
          <p:cNvPr id="12" name="Chart 2" descr=""/>
          <p:cNvGraphicFramePr/>
          <p:nvPr/>
        </p:nvGraphicFramePr>
        <p:xfrm>
          <a:off x="502006" y="4087368"/>
          <a:ext cx="5493715"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6196889" y="3849624"/>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(n=1)</a:t>
            </a:r>
            <a:endParaRPr lang="en-US" sz="1050" dirty="0"/>
          </a:p>
        </p:txBody>
      </p:sp>
      <p:graphicFrame>
        <p:nvGraphicFramePr>
          <p:cNvPr id="14" name="Chart 3" descr=""/>
          <p:cNvGraphicFramePr/>
          <p:nvPr/>
        </p:nvGraphicFramePr>
        <p:xfrm>
          <a:off x="6196889" y="4087368"/>
          <a:ext cx="5493715" cy="1490472"/>
        </p:xfrm>
        <a:graphic xmlns:a="http://schemas.openxmlformats.org/drawingml/2006/main">
          <a:graphicData uri="http://schemas.openxmlformats.org/drawingml/2006/chart">
            <c:chart xmlns:c="http://schemas.openxmlformats.org/drawingml/2006/chart" r:id="rId4"/>
          </a:graphicData>
        </a:graphic>
      </p:graphicFrame>
      <p:sp>
        <p:nvSpPr>
          <p:cNvPr id="15" name="Shape 9"/>
          <p:cNvSpPr/>
          <p:nvPr/>
        </p:nvSpPr>
        <p:spPr>
          <a:xfrm>
            <a:off x="502006" y="5669280"/>
            <a:ext cx="11188598" cy="0"/>
          </a:xfrm>
          <a:prstGeom prst="line">
            <a:avLst/>
          </a:prstGeom>
          <a:noFill/>
          <a:ln w="9525">
            <a:solidFill>
              <a:srgbClr val="D0D0CE"/>
            </a:solidFill>
            <a:prstDash val="solid"/>
          </a:ln>
        </p:spPr>
      </p:sp>
      <p:sp>
        <p:nvSpPr>
          <p:cNvPr id="16" name="Text 10"/>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Select all that apply — figures don't sum to 100%.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Insurance region sample sizes: US n=10, Canada n=12, Europe n=2 (both United Kingdom), Australia n=1. Insurance had zero Singapore respondents, so that panel is omitted. Europe and Australia are extremely thin (1–2 respondents) and shown for completeness, not statistical reliability.</a:t>
            </a:r>
            <a:endParaRPr lang="en-US" sz="850" dirty="0"/>
          </a:p>
        </p:txBody>
      </p:sp>
      <p:sp>
        <p:nvSpPr>
          <p:cNvPr id="17" name="Text 11"/>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“Insufficient identity verification or prevention capabilities in the existing environment”  ·  “Lack of fraud detection technology in the existing environment”  ·  “Limited or no available 3rd party fraud intelligence and/or consortium information”  ·  “Limited staff awareness and training on deepfake-related fraud risk”</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Obstacles to Managing AI-Driven Fraud Risk — Banking, by Institution Tier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Top 100 institutions lean hardest on the training gap; Large institutions cite identity-verification gaps most, and training least of the four.</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Q3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“What are the key obstacles to managing fraud risks created or amplified by advanced and frontier AI capabilities? (Banking only, by institution tier)”</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15</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Select all that apply — figures don't sum to 100%. Institution tier based on newS8; 5 respondents who did not directly answer were classified as Top 100 from their employer description elsewhere in the survey (Top 100 is n=40 = 35 direct + 5 reclassified).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“Insufficient identity verification or prevention capabilities in the existing environment”</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“Lack of fraud detection technology in the existing environment”</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“Limited or no available 3rd party fraud intelligence and/or consortium information”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“Limited staff awareness and training on deepfake-related fraud risk”</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Obstacles to Managing AI-Driven Fraud Risk — Insurance, by Institution Tier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Top 50 carriers split evenly between training and ID-verification gaps; Large carriers lean hardest on training, but also cite detection technology far more.</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Q3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“What are the key obstacles to managing fraud risks created or amplified by advanced and frontier AI capabilities? (Insurance only, by institution tier)”</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16</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Select all that apply — figures don't sum to 100%. Institution tier based on S9; 1 respondent who did not directly answer was classified as Large Insurance Carrier from their employer description elsewhere in the survey (Large is n=10 = 9 direct + 1 reclassified).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“Insufficient identity verification or prevention capabilities in the existing environment”</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“Lack of fraud detection technology in the existing environment”</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“Limited or no available 3rd party fraud intelligence and/or consortium information”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“Limited staff awareness and training on deepfake-related fraud risk”</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86BC25"/>
        </a:solidFill>
      </p:bgPr>
    </p:bg>
    <p:spTree>
      <p:nvGrpSpPr>
        <p:cNvPr id="1" name=""/>
        <p:cNvGrpSpPr/>
        <p:nvPr/>
      </p:nvGrpSpPr>
      <p:grpSpPr>
        <a:xfrm>
          <a:off x="0" y="0"/>
          <a:ext cx="0" cy="0"/>
          <a:chOff x="0" y="0"/>
          <a:chExt cx="0" cy="0"/>
        </a:xfrm>
      </p:grpSpPr>
      <p:sp>
        <p:nvSpPr>
          <p:cNvPr id="2" name="Text 0"/>
          <p:cNvSpPr txBox="1"/>
          <p:nvPr/>
        </p:nvSpPr>
        <p:spPr>
          <a:xfrm>
            <a:off x="502920" y="1699870"/>
            <a:ext cx="10415016" cy="1591970"/>
          </a:xfrm>
          <a:prstGeom prst="rect">
            <a:avLst/>
          </a:prstGeom>
          <a:noFill/>
          <a:ln/>
        </p:spPr>
        <p:txBody>
          <a:bodyPr wrap="square" lIns="0" tIns="0" rIns="0" bIns="0" rtlCol="0" anchor="b"/>
          <a:lstStyle/>
          <a:p>
            <a:pPr algn="l" indent="0" marL="0">
              <a:buNone/>
            </a:pPr>
            <a:r>
              <a:rPr lang="en-US" sz="3600" b="1" dirty="0">
                <a:solidFill>
                  <a:srgbClr val="FFFFFF"/>
                </a:solidFill>
                <a:latin typeface="Calibri" pitchFamily="34" charset="0"/>
                <a:ea typeface="Calibri" pitchFamily="34" charset="-122"/>
                <a:cs typeface="Calibri" pitchFamily="34" charset="-120"/>
              </a:rPr>
              <a:t>2. Fraud Information Sharing</a:t>
            </a:r>
            <a:endParaRPr lang="en-US" sz="3600" dirty="0"/>
          </a:p>
        </p:txBody>
      </p:sp>
      <p:sp>
        <p:nvSpPr>
          <p:cNvPr id="3" name="Text 1"/>
          <p:cNvSpPr txBox="1"/>
          <p:nvPr/>
        </p:nvSpPr>
        <p:spPr>
          <a:xfrm>
            <a:off x="502920" y="3423514"/>
            <a:ext cx="10415016" cy="1563624"/>
          </a:xfrm>
          <a:prstGeom prst="rect">
            <a:avLst/>
          </a:prstGeom>
          <a:noFill/>
          <a:ln/>
        </p:spPr>
        <p:txBody>
          <a:bodyPr wrap="square" lIns="0" tIns="0" rIns="0" bIns="0" rtlCol="0" anchor="t"/>
          <a:lstStyle/>
          <a:p>
            <a:pPr algn="l" indent="0" marL="0">
              <a:lnSpc>
                <a:spcPct val="110000"/>
              </a:lnSpc>
              <a:buNone/>
            </a:pPr>
            <a:r>
              <a:rPr lang="en-US" sz="1600" dirty="0">
                <a:solidFill>
                  <a:srgbClr val="FFFFFF"/>
                </a:solidFill>
                <a:latin typeface="Calibri" pitchFamily="34" charset="0"/>
                <a:ea typeface="Calibri" pitchFamily="34" charset="-122"/>
                <a:cs typeface="Calibri" pitchFamily="34" charset="-120"/>
              </a:rPr>
              <a:t>What's blocking industry-wide information sharing, and what leaders want government to do about it.</a:t>
            </a:r>
            <a:endParaRPr lang="en-US" sz="1600" dirty="0"/>
          </a:p>
        </p:txBody>
      </p:sp>
      <p:sp>
        <p:nvSpPr>
          <p:cNvPr id="4" name="Text 2"/>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Biggest Barriers to Effective Information Sharing</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What's blocking sharing is structural — messy, inconsistent data even more than legal rules — not unwillingness.</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Q5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“What are the biggest barriers to enable effective fraud information sharing?”</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18</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Ranked top 3 — shown as % of respondents who placed the option anywhere in their top 3 (not mutually exclusive; bars don't sum to 100%).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“Legal, privacy, or regulatory constraints”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“Limited data standardization, poor quality, and different definitions”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“Insufficient budget or resource investment”</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“Lack of external industry participation or collaboration”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“Unclear internal ownership or governance”</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“Difficulty demonstrating ROI or business value”</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Biggest Barriers to Effective Information Sharing —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Legal/regulatory concern runs hottest in Australia; every market still names data quality among its top two barriers.</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Q5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“What are the biggest barriers to enable effective fraud information sharing? (by region, all respondents)”</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19</a:t>
            </a:r>
            <a:endParaRPr lang="en-US" sz="900" dirty="0"/>
          </a:p>
        </p:txBody>
      </p:sp>
      <p:sp>
        <p:nvSpPr>
          <p:cNvPr id="7" name="Text 5"/>
          <p:cNvSpPr txBox="1"/>
          <p:nvPr/>
        </p:nvSpPr>
        <p:spPr>
          <a:xfrm>
            <a:off x="502006"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(n=44)</a:t>
            </a:r>
            <a:endParaRPr lang="en-US" sz="1050" dirty="0"/>
          </a:p>
        </p:txBody>
      </p:sp>
      <p:graphicFrame>
        <p:nvGraphicFramePr>
          <p:cNvPr id="8" name="Chart 0" descr=""/>
          <p:cNvGraphicFramePr/>
          <p:nvPr/>
        </p:nvGraphicFramePr>
        <p:xfrm>
          <a:off x="502006" y="2157984"/>
          <a:ext cx="3595421"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298594"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(n=30)</a:t>
            </a:r>
            <a:endParaRPr lang="en-US" sz="1050" dirty="0"/>
          </a:p>
        </p:txBody>
      </p:sp>
      <p:graphicFrame>
        <p:nvGraphicFramePr>
          <p:cNvPr id="10" name="Chart 1" descr=""/>
          <p:cNvGraphicFramePr/>
          <p:nvPr/>
        </p:nvGraphicFramePr>
        <p:xfrm>
          <a:off x="4298594" y="2157984"/>
          <a:ext cx="3595421"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8095183"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(n=14)</a:t>
            </a:r>
            <a:endParaRPr lang="en-US" sz="1050" dirty="0"/>
          </a:p>
        </p:txBody>
      </p:sp>
      <p:graphicFrame>
        <p:nvGraphicFramePr>
          <p:cNvPr id="12" name="Chart 2" descr=""/>
          <p:cNvGraphicFramePr/>
          <p:nvPr/>
        </p:nvGraphicFramePr>
        <p:xfrm>
          <a:off x="8095183" y="2157984"/>
          <a:ext cx="3595421"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502006"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(n=8)</a:t>
            </a:r>
            <a:endParaRPr lang="en-US" sz="1050" dirty="0"/>
          </a:p>
        </p:txBody>
      </p:sp>
      <p:graphicFrame>
        <p:nvGraphicFramePr>
          <p:cNvPr id="14" name="Chart 3" descr=""/>
          <p:cNvGraphicFramePr/>
          <p:nvPr/>
        </p:nvGraphicFramePr>
        <p:xfrm>
          <a:off x="502006" y="4087368"/>
          <a:ext cx="3595421" cy="1490472"/>
        </p:xfrm>
        <a:graphic xmlns:a="http://schemas.openxmlformats.org/drawingml/2006/main">
          <a:graphicData uri="http://schemas.openxmlformats.org/drawingml/2006/chart">
            <c:chart xmlns:c="http://schemas.openxmlformats.org/drawingml/2006/chart" r:id="rId4"/>
          </a:graphicData>
        </a:graphic>
      </p:graphicFrame>
      <p:sp>
        <p:nvSpPr>
          <p:cNvPr id="15" name="Text 9"/>
          <p:cNvSpPr txBox="1"/>
          <p:nvPr/>
        </p:nvSpPr>
        <p:spPr>
          <a:xfrm>
            <a:off x="4298594"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Singapore (n=4)</a:t>
            </a:r>
            <a:endParaRPr lang="en-US" sz="1050" dirty="0"/>
          </a:p>
        </p:txBody>
      </p:sp>
      <p:graphicFrame>
        <p:nvGraphicFramePr>
          <p:cNvPr id="16" name="Chart 4" descr=""/>
          <p:cNvGraphicFramePr/>
          <p:nvPr/>
        </p:nvGraphicFramePr>
        <p:xfrm>
          <a:off x="4298594" y="4087368"/>
          <a:ext cx="3595421" cy="1490472"/>
        </p:xfrm>
        <a:graphic xmlns:a="http://schemas.openxmlformats.org/drawingml/2006/main">
          <a:graphicData uri="http://schemas.openxmlformats.org/drawingml/2006/chart">
            <c:chart xmlns:c="http://schemas.openxmlformats.org/drawingml/2006/chart" r:id="rId5"/>
          </a:graphicData>
        </a:graphic>
      </p:graphicFrame>
      <p:sp>
        <p:nvSpPr>
          <p:cNvPr id="17" name="Shape 10"/>
          <p:cNvSpPr/>
          <p:nvPr/>
        </p:nvSpPr>
        <p:spPr>
          <a:xfrm>
            <a:off x="502006" y="5669280"/>
            <a:ext cx="11188598" cy="0"/>
          </a:xfrm>
          <a:prstGeom prst="line">
            <a:avLst/>
          </a:prstGeom>
          <a:noFill/>
          <a:ln w="9525">
            <a:solidFill>
              <a:srgbClr val="D0D0CE"/>
            </a:solidFill>
            <a:prstDash val="solid"/>
          </a:ln>
        </p:spPr>
      </p:sp>
      <p:sp>
        <p:nvSpPr>
          <p:cNvPr id="18" name="Text 11"/>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Ranked top 3 — figures don't sum to 100%.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Region sample sizes: US n=44, Canada n=30, Europe n=14, Australia n=8, Singapore n=4. Australia and Singapore are thin samples and should be read directionally, not precisely.</a:t>
            </a:r>
            <a:endParaRPr lang="en-US" sz="850" dirty="0"/>
          </a:p>
        </p:txBody>
      </p:sp>
      <p:sp>
        <p:nvSpPr>
          <p:cNvPr id="19" name="Text 12"/>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“Legal, privacy, or regulatory constraints”  ·  “Limited data standardization, poor quality, and different definitions”  ·  “Insufficient budget or resource investment”  ·  “Lack of external industry participation or collaboration”  ·  “Unclear internal ownership or governance”  ·  “Difficulty demonstrating ROI or business value”</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Barriers to Effective Information Sharing — Banking,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The mix shifts by region: legal/regulatory concern peaks in Australia and data quality in Singapore, but both are thin cells.</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Q5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“What are the biggest barriers to enable effective fraud information sharing? (Banking only, by region)”</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20</a:t>
            </a:r>
            <a:endParaRPr lang="en-US" sz="900" dirty="0"/>
          </a:p>
        </p:txBody>
      </p:sp>
      <p:sp>
        <p:nvSpPr>
          <p:cNvPr id="7" name="Text 5"/>
          <p:cNvSpPr txBox="1"/>
          <p:nvPr/>
        </p:nvSpPr>
        <p:spPr>
          <a:xfrm>
            <a:off x="502006"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(n=34)</a:t>
            </a:r>
            <a:endParaRPr lang="en-US" sz="1050" dirty="0"/>
          </a:p>
        </p:txBody>
      </p:sp>
      <p:graphicFrame>
        <p:nvGraphicFramePr>
          <p:cNvPr id="8" name="Chart 0" descr=""/>
          <p:cNvGraphicFramePr/>
          <p:nvPr/>
        </p:nvGraphicFramePr>
        <p:xfrm>
          <a:off x="502006" y="2157984"/>
          <a:ext cx="3595421"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298594"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(n=18)</a:t>
            </a:r>
            <a:endParaRPr lang="en-US" sz="1050" dirty="0"/>
          </a:p>
        </p:txBody>
      </p:sp>
      <p:graphicFrame>
        <p:nvGraphicFramePr>
          <p:cNvPr id="10" name="Chart 1" descr=""/>
          <p:cNvGraphicFramePr/>
          <p:nvPr/>
        </p:nvGraphicFramePr>
        <p:xfrm>
          <a:off x="4298594" y="2157984"/>
          <a:ext cx="3595421"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8095183"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(n=12)</a:t>
            </a:r>
            <a:endParaRPr lang="en-US" sz="1050" dirty="0"/>
          </a:p>
        </p:txBody>
      </p:sp>
      <p:graphicFrame>
        <p:nvGraphicFramePr>
          <p:cNvPr id="12" name="Chart 2" descr=""/>
          <p:cNvGraphicFramePr/>
          <p:nvPr/>
        </p:nvGraphicFramePr>
        <p:xfrm>
          <a:off x="8095183" y="2157984"/>
          <a:ext cx="3595421"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502006"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(n=7)</a:t>
            </a:r>
            <a:endParaRPr lang="en-US" sz="1050" dirty="0"/>
          </a:p>
        </p:txBody>
      </p:sp>
      <p:graphicFrame>
        <p:nvGraphicFramePr>
          <p:cNvPr id="14" name="Chart 3" descr=""/>
          <p:cNvGraphicFramePr/>
          <p:nvPr/>
        </p:nvGraphicFramePr>
        <p:xfrm>
          <a:off x="502006" y="4087368"/>
          <a:ext cx="3595421" cy="1490472"/>
        </p:xfrm>
        <a:graphic xmlns:a="http://schemas.openxmlformats.org/drawingml/2006/main">
          <a:graphicData uri="http://schemas.openxmlformats.org/drawingml/2006/chart">
            <c:chart xmlns:c="http://schemas.openxmlformats.org/drawingml/2006/chart" r:id="rId4"/>
          </a:graphicData>
        </a:graphic>
      </p:graphicFrame>
      <p:sp>
        <p:nvSpPr>
          <p:cNvPr id="15" name="Text 9"/>
          <p:cNvSpPr txBox="1"/>
          <p:nvPr/>
        </p:nvSpPr>
        <p:spPr>
          <a:xfrm>
            <a:off x="4298594"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Singapore (n=4)</a:t>
            </a:r>
            <a:endParaRPr lang="en-US" sz="1050" dirty="0"/>
          </a:p>
        </p:txBody>
      </p:sp>
      <p:graphicFrame>
        <p:nvGraphicFramePr>
          <p:cNvPr id="16" name="Chart 4" descr=""/>
          <p:cNvGraphicFramePr/>
          <p:nvPr/>
        </p:nvGraphicFramePr>
        <p:xfrm>
          <a:off x="4298594" y="4087368"/>
          <a:ext cx="3595421" cy="1490472"/>
        </p:xfrm>
        <a:graphic xmlns:a="http://schemas.openxmlformats.org/drawingml/2006/main">
          <a:graphicData uri="http://schemas.openxmlformats.org/drawingml/2006/chart">
            <c:chart xmlns:c="http://schemas.openxmlformats.org/drawingml/2006/chart" r:id="rId5"/>
          </a:graphicData>
        </a:graphic>
      </p:graphicFrame>
      <p:sp>
        <p:nvSpPr>
          <p:cNvPr id="17" name="Shape 10"/>
          <p:cNvSpPr/>
          <p:nvPr/>
        </p:nvSpPr>
        <p:spPr>
          <a:xfrm>
            <a:off x="502006" y="5669280"/>
            <a:ext cx="11188598" cy="0"/>
          </a:xfrm>
          <a:prstGeom prst="line">
            <a:avLst/>
          </a:prstGeom>
          <a:noFill/>
          <a:ln w="9525">
            <a:solidFill>
              <a:srgbClr val="D0D0CE"/>
            </a:solidFill>
            <a:prstDash val="solid"/>
          </a:ln>
        </p:spPr>
      </p:sp>
      <p:sp>
        <p:nvSpPr>
          <p:cNvPr id="18" name="Text 11"/>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Ranked top 3 — figures don't sum to 100%.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Banking region sample sizes: US n=34, Canada n=18, Europe n=12, Australia n=7, Singapore n=4. Australia and Singapore are thin samples and should be read directionally, not precisely.</a:t>
            </a:r>
            <a:endParaRPr lang="en-US" sz="850" dirty="0"/>
          </a:p>
        </p:txBody>
      </p:sp>
      <p:sp>
        <p:nvSpPr>
          <p:cNvPr id="19" name="Text 12"/>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“Legal, privacy, or regulatory constraints”  ·  “Limited data standardization, poor quality, and different definitions”  ·  “Insufficient budget or resource investment”  ·  “Lack of external industry participation or collaboration”  ·  “Unclear internal ownership or governance”  ·  “Difficulty demonstrating ROI or business value”</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Barriers to Effective Information Sharing — Insurance,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U.S. carriers cite legal/regulatory constraints almost universally; Canada spreads more evenly across all six barriers.</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Q5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“What are the biggest barriers to enable effective fraud information sharing? (Insurance only, by region)”</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21</a:t>
            </a:r>
            <a:endParaRPr lang="en-US" sz="900" dirty="0"/>
          </a:p>
        </p:txBody>
      </p:sp>
      <p:sp>
        <p:nvSpPr>
          <p:cNvPr id="7" name="Text 5"/>
          <p:cNvSpPr txBox="1"/>
          <p:nvPr/>
        </p:nvSpPr>
        <p:spPr>
          <a:xfrm>
            <a:off x="502006" y="1920240"/>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(n=10)</a:t>
            </a:r>
            <a:endParaRPr lang="en-US" sz="1050" dirty="0"/>
          </a:p>
        </p:txBody>
      </p:sp>
      <p:graphicFrame>
        <p:nvGraphicFramePr>
          <p:cNvPr id="8" name="Chart 0" descr=""/>
          <p:cNvGraphicFramePr/>
          <p:nvPr/>
        </p:nvGraphicFramePr>
        <p:xfrm>
          <a:off x="502006" y="2157984"/>
          <a:ext cx="5493715"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96889" y="1920240"/>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(n=12)</a:t>
            </a:r>
            <a:endParaRPr lang="en-US" sz="1050" dirty="0"/>
          </a:p>
        </p:txBody>
      </p:sp>
      <p:graphicFrame>
        <p:nvGraphicFramePr>
          <p:cNvPr id="10" name="Chart 1" descr=""/>
          <p:cNvGraphicFramePr/>
          <p:nvPr/>
        </p:nvGraphicFramePr>
        <p:xfrm>
          <a:off x="6196889" y="2157984"/>
          <a:ext cx="5493715"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502006" y="3849624"/>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(n=2)</a:t>
            </a:r>
            <a:endParaRPr lang="en-US" sz="1050" dirty="0"/>
          </a:p>
        </p:txBody>
      </p:sp>
      <p:graphicFrame>
        <p:nvGraphicFramePr>
          <p:cNvPr id="12" name="Chart 2" descr=""/>
          <p:cNvGraphicFramePr/>
          <p:nvPr/>
        </p:nvGraphicFramePr>
        <p:xfrm>
          <a:off x="502006" y="4087368"/>
          <a:ext cx="5493715"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6196889" y="3849624"/>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(n=1)</a:t>
            </a:r>
            <a:endParaRPr lang="en-US" sz="1050" dirty="0"/>
          </a:p>
        </p:txBody>
      </p:sp>
      <p:graphicFrame>
        <p:nvGraphicFramePr>
          <p:cNvPr id="14" name="Chart 3" descr=""/>
          <p:cNvGraphicFramePr/>
          <p:nvPr/>
        </p:nvGraphicFramePr>
        <p:xfrm>
          <a:off x="6196889" y="4087368"/>
          <a:ext cx="5493715" cy="1490472"/>
        </p:xfrm>
        <a:graphic xmlns:a="http://schemas.openxmlformats.org/drawingml/2006/main">
          <a:graphicData uri="http://schemas.openxmlformats.org/drawingml/2006/chart">
            <c:chart xmlns:c="http://schemas.openxmlformats.org/drawingml/2006/chart" r:id="rId4"/>
          </a:graphicData>
        </a:graphic>
      </p:graphicFrame>
      <p:sp>
        <p:nvSpPr>
          <p:cNvPr id="15" name="Shape 9"/>
          <p:cNvSpPr/>
          <p:nvPr/>
        </p:nvSpPr>
        <p:spPr>
          <a:xfrm>
            <a:off x="502006" y="5669280"/>
            <a:ext cx="11188598" cy="0"/>
          </a:xfrm>
          <a:prstGeom prst="line">
            <a:avLst/>
          </a:prstGeom>
          <a:noFill/>
          <a:ln w="9525">
            <a:solidFill>
              <a:srgbClr val="D0D0CE"/>
            </a:solidFill>
            <a:prstDash val="solid"/>
          </a:ln>
        </p:spPr>
      </p:sp>
      <p:sp>
        <p:nvSpPr>
          <p:cNvPr id="16" name="Text 10"/>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Ranked top 3 — figures don't sum to 100%.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Insurance region sample sizes: US n=10, Canada n=12, Europe n=2 (both United Kingdom), Australia n=1. Insurance had zero Singapore respondents, so that panel is omitted. Europe and Australia are extremely thin (1–2 respondents) and shown for completeness, not statistical reliability.</a:t>
            </a:r>
            <a:endParaRPr lang="en-US" sz="850" dirty="0"/>
          </a:p>
        </p:txBody>
      </p:sp>
      <p:sp>
        <p:nvSpPr>
          <p:cNvPr id="17" name="Text 11"/>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“Legal, privacy, or regulatory constraints”  ·  “Limited data standardization, poor quality, and different definitions”  ·  “Insufficient budget or resource investment”  ·  “Lack of external industry participation or collaboration”  ·  “Unclear internal ownership or governance”  ·  “Difficulty demonstrating ROI or business value”</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Government Action With the Greatest Impact on Info Sharing</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Leaders want government to build shared infrastructure, not just pass new laws.</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Q4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“What government action would have or has had the greatest impact on enabling more effective fraud information sharing?”</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22</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Single select.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“Establish clearer legal and regulatory frameworks for information sharing”</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“Develop common data standards and definitions”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“Create a centralized fraud information-sharing platform or utility”</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“Facilitate greater public-private collaboration and coordination”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“Provide funding or incentives to support participation”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“Identify and prioritize industry use cases for fraud information sharing”</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Top Government Action for Info Sharing — By Sector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Banking leans hardest on a centralized platform or utility; Insurance is more evenly split, with data standards ranking twice as high as it does for Banking.</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Q4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“What government action would have or has had the greatest impact on enabling more effective fraud information sharing? (Banking vs. Insurance)”</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23</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Single select.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“Establish clearer legal and regulatory frameworks for information sharing”</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“Develop common data standards and definitions”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“Create a centralized fraud information-sharing platform or utility”</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“Facilitate greater public-private collaboration and coordination”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“Provide funding or incentives to support participation”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“Identify and prioritize industry use cases for fraud information sharing”</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Top Government Action for Info Sharing —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A centralized platform or utility remains a leading choice in almost every market, though priorities shift somewhat by region.</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Q4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“What government action would have or has had the greatest impact on enabling more effective fraud information sharing? (by region, all respondents)”</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24</a:t>
            </a:r>
            <a:endParaRPr lang="en-US" sz="900" dirty="0"/>
          </a:p>
        </p:txBody>
      </p:sp>
      <p:sp>
        <p:nvSpPr>
          <p:cNvPr id="7" name="Text 5"/>
          <p:cNvSpPr txBox="1"/>
          <p:nvPr/>
        </p:nvSpPr>
        <p:spPr>
          <a:xfrm>
            <a:off x="502006"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(n=44)</a:t>
            </a:r>
            <a:endParaRPr lang="en-US" sz="1050" dirty="0"/>
          </a:p>
        </p:txBody>
      </p:sp>
      <p:graphicFrame>
        <p:nvGraphicFramePr>
          <p:cNvPr id="8" name="Chart 0" descr=""/>
          <p:cNvGraphicFramePr/>
          <p:nvPr/>
        </p:nvGraphicFramePr>
        <p:xfrm>
          <a:off x="502006" y="2157984"/>
          <a:ext cx="3595421"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298594"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(n=30)</a:t>
            </a:r>
            <a:endParaRPr lang="en-US" sz="1050" dirty="0"/>
          </a:p>
        </p:txBody>
      </p:sp>
      <p:graphicFrame>
        <p:nvGraphicFramePr>
          <p:cNvPr id="10" name="Chart 1" descr=""/>
          <p:cNvGraphicFramePr/>
          <p:nvPr/>
        </p:nvGraphicFramePr>
        <p:xfrm>
          <a:off x="4298594" y="2157984"/>
          <a:ext cx="3595421"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8095183"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(n=14)</a:t>
            </a:r>
            <a:endParaRPr lang="en-US" sz="1050" dirty="0"/>
          </a:p>
        </p:txBody>
      </p:sp>
      <p:graphicFrame>
        <p:nvGraphicFramePr>
          <p:cNvPr id="12" name="Chart 2" descr=""/>
          <p:cNvGraphicFramePr/>
          <p:nvPr/>
        </p:nvGraphicFramePr>
        <p:xfrm>
          <a:off x="8095183" y="2157984"/>
          <a:ext cx="3595421"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502006"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(n=8)</a:t>
            </a:r>
            <a:endParaRPr lang="en-US" sz="1050" dirty="0"/>
          </a:p>
        </p:txBody>
      </p:sp>
      <p:graphicFrame>
        <p:nvGraphicFramePr>
          <p:cNvPr id="14" name="Chart 3" descr=""/>
          <p:cNvGraphicFramePr/>
          <p:nvPr/>
        </p:nvGraphicFramePr>
        <p:xfrm>
          <a:off x="502006" y="4087368"/>
          <a:ext cx="3595421" cy="1490472"/>
        </p:xfrm>
        <a:graphic xmlns:a="http://schemas.openxmlformats.org/drawingml/2006/main">
          <a:graphicData uri="http://schemas.openxmlformats.org/drawingml/2006/chart">
            <c:chart xmlns:c="http://schemas.openxmlformats.org/drawingml/2006/chart" r:id="rId4"/>
          </a:graphicData>
        </a:graphic>
      </p:graphicFrame>
      <p:sp>
        <p:nvSpPr>
          <p:cNvPr id="15" name="Text 9"/>
          <p:cNvSpPr txBox="1"/>
          <p:nvPr/>
        </p:nvSpPr>
        <p:spPr>
          <a:xfrm>
            <a:off x="4298594"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Singapore (n=4)</a:t>
            </a:r>
            <a:endParaRPr lang="en-US" sz="1050" dirty="0"/>
          </a:p>
        </p:txBody>
      </p:sp>
      <p:graphicFrame>
        <p:nvGraphicFramePr>
          <p:cNvPr id="16" name="Chart 4" descr=""/>
          <p:cNvGraphicFramePr/>
          <p:nvPr/>
        </p:nvGraphicFramePr>
        <p:xfrm>
          <a:off x="4298594" y="4087368"/>
          <a:ext cx="3595421" cy="1490472"/>
        </p:xfrm>
        <a:graphic xmlns:a="http://schemas.openxmlformats.org/drawingml/2006/main">
          <a:graphicData uri="http://schemas.openxmlformats.org/drawingml/2006/chart">
            <c:chart xmlns:c="http://schemas.openxmlformats.org/drawingml/2006/chart" r:id="rId5"/>
          </a:graphicData>
        </a:graphic>
      </p:graphicFrame>
      <p:sp>
        <p:nvSpPr>
          <p:cNvPr id="17" name="Shape 10"/>
          <p:cNvSpPr/>
          <p:nvPr/>
        </p:nvSpPr>
        <p:spPr>
          <a:xfrm>
            <a:off x="502006" y="5669280"/>
            <a:ext cx="11188598" cy="0"/>
          </a:xfrm>
          <a:prstGeom prst="line">
            <a:avLst/>
          </a:prstGeom>
          <a:noFill/>
          <a:ln w="9525">
            <a:solidFill>
              <a:srgbClr val="D0D0CE"/>
            </a:solidFill>
            <a:prstDash val="solid"/>
          </a:ln>
        </p:spPr>
      </p:sp>
      <p:sp>
        <p:nvSpPr>
          <p:cNvPr id="18" name="Text 11"/>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Single select.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Region sample sizes: US n=44, Canada n=30, Europe n=14, Australia n=8, Singapore n=4. Australia and Singapore are thin samples and should be read directionally, not precisely.</a:t>
            </a:r>
            <a:endParaRPr lang="en-US" sz="850" dirty="0"/>
          </a:p>
        </p:txBody>
      </p:sp>
      <p:sp>
        <p:nvSpPr>
          <p:cNvPr id="19" name="Text 12"/>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“Establish clearer legal and regulatory frameworks for information sharing”  ·  “Develop common data standards and definitions”  ·  “Create a centralized fraud information-sharing platform or utility”  ·  “Facilitate greater public-private collaboration and coordination”  ·  “Provide funding or incentives to support participation”  ·  “Identify and prioritize industry use cases for fraud information sharing”</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Top Government Action for Info Sharing — Banking,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A centralized platform or utility leads in most markets, but Canada ties it with legal/regulatory reform and Singapore ties it with data standards.</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Q4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“What government action would have or has had the greatest impact on enabling more effective fraud information sharing? (Banking only, by region)”</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25</a:t>
            </a:r>
            <a:endParaRPr lang="en-US" sz="900" dirty="0"/>
          </a:p>
        </p:txBody>
      </p:sp>
      <p:sp>
        <p:nvSpPr>
          <p:cNvPr id="7" name="Text 5"/>
          <p:cNvSpPr txBox="1"/>
          <p:nvPr/>
        </p:nvSpPr>
        <p:spPr>
          <a:xfrm>
            <a:off x="502006"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(n=34)</a:t>
            </a:r>
            <a:endParaRPr lang="en-US" sz="1050" dirty="0"/>
          </a:p>
        </p:txBody>
      </p:sp>
      <p:graphicFrame>
        <p:nvGraphicFramePr>
          <p:cNvPr id="8" name="Chart 0" descr=""/>
          <p:cNvGraphicFramePr/>
          <p:nvPr/>
        </p:nvGraphicFramePr>
        <p:xfrm>
          <a:off x="502006" y="2157984"/>
          <a:ext cx="3595421"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298594"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(n=18)</a:t>
            </a:r>
            <a:endParaRPr lang="en-US" sz="1050" dirty="0"/>
          </a:p>
        </p:txBody>
      </p:sp>
      <p:graphicFrame>
        <p:nvGraphicFramePr>
          <p:cNvPr id="10" name="Chart 1" descr=""/>
          <p:cNvGraphicFramePr/>
          <p:nvPr/>
        </p:nvGraphicFramePr>
        <p:xfrm>
          <a:off x="4298594" y="2157984"/>
          <a:ext cx="3595421"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8095183"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(n=12)</a:t>
            </a:r>
            <a:endParaRPr lang="en-US" sz="1050" dirty="0"/>
          </a:p>
        </p:txBody>
      </p:sp>
      <p:graphicFrame>
        <p:nvGraphicFramePr>
          <p:cNvPr id="12" name="Chart 2" descr=""/>
          <p:cNvGraphicFramePr/>
          <p:nvPr/>
        </p:nvGraphicFramePr>
        <p:xfrm>
          <a:off x="8095183" y="2157984"/>
          <a:ext cx="3595421"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502006"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(n=7)</a:t>
            </a:r>
            <a:endParaRPr lang="en-US" sz="1050" dirty="0"/>
          </a:p>
        </p:txBody>
      </p:sp>
      <p:graphicFrame>
        <p:nvGraphicFramePr>
          <p:cNvPr id="14" name="Chart 3" descr=""/>
          <p:cNvGraphicFramePr/>
          <p:nvPr/>
        </p:nvGraphicFramePr>
        <p:xfrm>
          <a:off x="502006" y="4087368"/>
          <a:ext cx="3595421" cy="1490472"/>
        </p:xfrm>
        <a:graphic xmlns:a="http://schemas.openxmlformats.org/drawingml/2006/main">
          <a:graphicData uri="http://schemas.openxmlformats.org/drawingml/2006/chart">
            <c:chart xmlns:c="http://schemas.openxmlformats.org/drawingml/2006/chart" r:id="rId4"/>
          </a:graphicData>
        </a:graphic>
      </p:graphicFrame>
      <p:sp>
        <p:nvSpPr>
          <p:cNvPr id="15" name="Text 9"/>
          <p:cNvSpPr txBox="1"/>
          <p:nvPr/>
        </p:nvSpPr>
        <p:spPr>
          <a:xfrm>
            <a:off x="4298594"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Singapore (n=4)</a:t>
            </a:r>
            <a:endParaRPr lang="en-US" sz="1050" dirty="0"/>
          </a:p>
        </p:txBody>
      </p:sp>
      <p:graphicFrame>
        <p:nvGraphicFramePr>
          <p:cNvPr id="16" name="Chart 4" descr=""/>
          <p:cNvGraphicFramePr/>
          <p:nvPr/>
        </p:nvGraphicFramePr>
        <p:xfrm>
          <a:off x="4298594" y="4087368"/>
          <a:ext cx="3595421" cy="1490472"/>
        </p:xfrm>
        <a:graphic xmlns:a="http://schemas.openxmlformats.org/drawingml/2006/main">
          <a:graphicData uri="http://schemas.openxmlformats.org/drawingml/2006/chart">
            <c:chart xmlns:c="http://schemas.openxmlformats.org/drawingml/2006/chart" r:id="rId5"/>
          </a:graphicData>
        </a:graphic>
      </p:graphicFrame>
      <p:sp>
        <p:nvSpPr>
          <p:cNvPr id="17" name="Shape 10"/>
          <p:cNvSpPr/>
          <p:nvPr/>
        </p:nvSpPr>
        <p:spPr>
          <a:xfrm>
            <a:off x="502006" y="5669280"/>
            <a:ext cx="11188598" cy="0"/>
          </a:xfrm>
          <a:prstGeom prst="line">
            <a:avLst/>
          </a:prstGeom>
          <a:noFill/>
          <a:ln w="9525">
            <a:solidFill>
              <a:srgbClr val="D0D0CE"/>
            </a:solidFill>
            <a:prstDash val="solid"/>
          </a:ln>
        </p:spPr>
      </p:sp>
      <p:sp>
        <p:nvSpPr>
          <p:cNvPr id="18" name="Text 11"/>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Single select.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Banking region sample sizes: US n=34, Canada n=18, Europe n=12, Australia n=7, Singapore n=4. Australia and Singapore are thin samples and should be read directionally, not precisely.</a:t>
            </a:r>
            <a:endParaRPr lang="en-US" sz="850" dirty="0"/>
          </a:p>
        </p:txBody>
      </p:sp>
      <p:sp>
        <p:nvSpPr>
          <p:cNvPr id="19" name="Text 12"/>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“Establish clearer legal and regulatory frameworks for information sharing”  ·  “Develop common data standards and definitions”  ·  “Create a centralized fraud information-sharing platform or utility”  ·  “Facilitate greater public-private collaboration and coordination”  ·  “Provide funding or incentives to support participation”  ·  “Identify and prioritize industry use cases for fraud information sharing”</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Top Government Action for Info Sharing — Insurance,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U.S. and Canadian carriers split between platform infrastructure and legal reform; Europe and Australia's cells are too thin to generalize.</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Q4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“What government action would have or has had the greatest impact on enabling more effective fraud information sharing? (Insurance only, by region)”</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26</a:t>
            </a:r>
            <a:endParaRPr lang="en-US" sz="900" dirty="0"/>
          </a:p>
        </p:txBody>
      </p:sp>
      <p:sp>
        <p:nvSpPr>
          <p:cNvPr id="7" name="Text 5"/>
          <p:cNvSpPr txBox="1"/>
          <p:nvPr/>
        </p:nvSpPr>
        <p:spPr>
          <a:xfrm>
            <a:off x="502006" y="1920240"/>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(n=10)</a:t>
            </a:r>
            <a:endParaRPr lang="en-US" sz="1050" dirty="0"/>
          </a:p>
        </p:txBody>
      </p:sp>
      <p:graphicFrame>
        <p:nvGraphicFramePr>
          <p:cNvPr id="8" name="Chart 0" descr=""/>
          <p:cNvGraphicFramePr/>
          <p:nvPr/>
        </p:nvGraphicFramePr>
        <p:xfrm>
          <a:off x="502006" y="2157984"/>
          <a:ext cx="5493715"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96889" y="1920240"/>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(n=12)</a:t>
            </a:r>
            <a:endParaRPr lang="en-US" sz="1050" dirty="0"/>
          </a:p>
        </p:txBody>
      </p:sp>
      <p:graphicFrame>
        <p:nvGraphicFramePr>
          <p:cNvPr id="10" name="Chart 1" descr=""/>
          <p:cNvGraphicFramePr/>
          <p:nvPr/>
        </p:nvGraphicFramePr>
        <p:xfrm>
          <a:off x="6196889" y="2157984"/>
          <a:ext cx="5493715"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502006" y="3849624"/>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(n=2)</a:t>
            </a:r>
            <a:endParaRPr lang="en-US" sz="1050" dirty="0"/>
          </a:p>
        </p:txBody>
      </p:sp>
      <p:graphicFrame>
        <p:nvGraphicFramePr>
          <p:cNvPr id="12" name="Chart 2" descr=""/>
          <p:cNvGraphicFramePr/>
          <p:nvPr/>
        </p:nvGraphicFramePr>
        <p:xfrm>
          <a:off x="502006" y="4087368"/>
          <a:ext cx="5493715"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6196889" y="3849624"/>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(n=1)</a:t>
            </a:r>
            <a:endParaRPr lang="en-US" sz="1050" dirty="0"/>
          </a:p>
        </p:txBody>
      </p:sp>
      <p:graphicFrame>
        <p:nvGraphicFramePr>
          <p:cNvPr id="14" name="Chart 3" descr=""/>
          <p:cNvGraphicFramePr/>
          <p:nvPr/>
        </p:nvGraphicFramePr>
        <p:xfrm>
          <a:off x="6196889" y="4087368"/>
          <a:ext cx="5493715" cy="1490472"/>
        </p:xfrm>
        <a:graphic xmlns:a="http://schemas.openxmlformats.org/drawingml/2006/main">
          <a:graphicData uri="http://schemas.openxmlformats.org/drawingml/2006/chart">
            <c:chart xmlns:c="http://schemas.openxmlformats.org/drawingml/2006/chart" r:id="rId4"/>
          </a:graphicData>
        </a:graphic>
      </p:graphicFrame>
      <p:sp>
        <p:nvSpPr>
          <p:cNvPr id="15" name="Shape 9"/>
          <p:cNvSpPr/>
          <p:nvPr/>
        </p:nvSpPr>
        <p:spPr>
          <a:xfrm>
            <a:off x="502006" y="5669280"/>
            <a:ext cx="11188598" cy="0"/>
          </a:xfrm>
          <a:prstGeom prst="line">
            <a:avLst/>
          </a:prstGeom>
          <a:noFill/>
          <a:ln w="9525">
            <a:solidFill>
              <a:srgbClr val="D0D0CE"/>
            </a:solidFill>
            <a:prstDash val="solid"/>
          </a:ln>
        </p:spPr>
      </p:sp>
      <p:sp>
        <p:nvSpPr>
          <p:cNvPr id="16" name="Text 10"/>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Single select.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Insurance region sample sizes: US n=10, Canada n=12, Europe n=2 (both United Kingdom), Australia n=1. Insurance had zero Singapore respondents, so that panel is omitted. Europe and Australia are extremely thin (1–2 respondents) and shown for completeness, not statistical reliability.</a:t>
            </a:r>
            <a:endParaRPr lang="en-US" sz="850" dirty="0"/>
          </a:p>
        </p:txBody>
      </p:sp>
      <p:sp>
        <p:nvSpPr>
          <p:cNvPr id="17" name="Text 11"/>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“Establish clearer legal and regulatory frameworks for information sharing”  ·  “Develop common data standards and definitions”  ·  “Create a centralized fraud information-sharing platform or utility”  ·  “Facilitate greater public-private collaboration and coordination”  ·  “Provide funding or incentives to support participation”  ·  “Identify and prioritize industry use cases for fraud information sharing”</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86BC25"/>
        </a:solidFill>
      </p:bgPr>
    </p:bg>
    <p:spTree>
      <p:nvGrpSpPr>
        <p:cNvPr id="1" name=""/>
        <p:cNvGrpSpPr/>
        <p:nvPr/>
      </p:nvGrpSpPr>
      <p:grpSpPr>
        <a:xfrm>
          <a:off x="0" y="0"/>
          <a:ext cx="0" cy="0"/>
          <a:chOff x="0" y="0"/>
          <a:chExt cx="0" cy="0"/>
        </a:xfrm>
      </p:grpSpPr>
      <p:sp>
        <p:nvSpPr>
          <p:cNvPr id="2" name="Text 0"/>
          <p:cNvSpPr txBox="1"/>
          <p:nvPr/>
        </p:nvSpPr>
        <p:spPr>
          <a:xfrm>
            <a:off x="502920" y="1699870"/>
            <a:ext cx="10415016" cy="1591970"/>
          </a:xfrm>
          <a:prstGeom prst="rect">
            <a:avLst/>
          </a:prstGeom>
          <a:noFill/>
          <a:ln/>
        </p:spPr>
        <p:txBody>
          <a:bodyPr wrap="square" lIns="0" tIns="0" rIns="0" bIns="0" rtlCol="0" anchor="b"/>
          <a:lstStyle/>
          <a:p>
            <a:pPr algn="l" indent="0" marL="0">
              <a:buNone/>
            </a:pPr>
            <a:r>
              <a:rPr lang="en-US" sz="3600" b="1" dirty="0">
                <a:solidFill>
                  <a:srgbClr val="FFFFFF"/>
                </a:solidFill>
                <a:latin typeface="Calibri" pitchFamily="34" charset="0"/>
                <a:ea typeface="Calibri" pitchFamily="34" charset="-122"/>
                <a:cs typeface="Calibri" pitchFamily="34" charset="-120"/>
              </a:rPr>
              <a:t>3. Third-Party Fraud Risk</a:t>
            </a:r>
            <a:endParaRPr lang="en-US" sz="3600" dirty="0"/>
          </a:p>
        </p:txBody>
      </p:sp>
      <p:sp>
        <p:nvSpPr>
          <p:cNvPr id="3" name="Text 1"/>
          <p:cNvSpPr txBox="1"/>
          <p:nvPr/>
        </p:nvSpPr>
        <p:spPr>
          <a:xfrm>
            <a:off x="502920" y="3423514"/>
            <a:ext cx="10415016" cy="1563624"/>
          </a:xfrm>
          <a:prstGeom prst="rect">
            <a:avLst/>
          </a:prstGeom>
          <a:noFill/>
          <a:ln/>
        </p:spPr>
        <p:txBody>
          <a:bodyPr wrap="square" lIns="0" tIns="0" rIns="0" bIns="0" rtlCol="0" anchor="t"/>
          <a:lstStyle/>
          <a:p>
            <a:pPr algn="l" indent="0" marL="0">
              <a:lnSpc>
                <a:spcPct val="110000"/>
              </a:lnSpc>
              <a:buNone/>
            </a:pPr>
            <a:r>
              <a:rPr lang="en-US" sz="1600" dirty="0">
                <a:solidFill>
                  <a:srgbClr val="FFFFFF"/>
                </a:solidFill>
                <a:latin typeface="Calibri" pitchFamily="34" charset="0"/>
                <a:ea typeface="Calibri" pitchFamily="34" charset="-122"/>
                <a:cs typeface="Calibri" pitchFamily="34" charset="-120"/>
              </a:rPr>
              <a:t>Which external parties present the greatest exposure — and it splits sharply by sector.</a:t>
            </a:r>
            <a:endParaRPr lang="en-US" sz="1600" dirty="0"/>
          </a:p>
        </p:txBody>
      </p:sp>
      <p:sp>
        <p:nvSpPr>
          <p:cNvPr id="4" name="Text 2"/>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Greatest Third-Party Fraud Risk Exposure, by Sector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Banks and insurers face very different third-party risks — one fix won't work for both.</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Q6a / Q6b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external party currently presents the greatest fraud risk exposure to your organization? (asked separately of Banking and Insurance respondents)”</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28</a:t>
            </a:r>
            <a:endParaRPr lang="en-US" sz="900" dirty="0"/>
          </a:p>
        </p:txBody>
      </p:sp>
      <p:sp>
        <p:nvSpPr>
          <p:cNvPr id="7" name="Text 5"/>
          <p:cNvSpPr txBox="1"/>
          <p:nvPr/>
        </p:nvSpPr>
        <p:spPr>
          <a:xfrm>
            <a:off x="502006" y="1965960"/>
            <a:ext cx="5486400" cy="256032"/>
          </a:xfrm>
          <a:prstGeom prst="rect">
            <a:avLst/>
          </a:prstGeom>
          <a:noFill/>
          <a:ln/>
        </p:spPr>
        <p:txBody>
          <a:bodyPr wrap="square"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Banking (n=75)</a:t>
            </a:r>
            <a:endParaRPr lang="en-US" sz="1150" dirty="0"/>
          </a:p>
        </p:txBody>
      </p:sp>
      <p:graphicFrame>
        <p:nvGraphicFramePr>
          <p:cNvPr id="8" name="Chart 0" descr=""/>
          <p:cNvGraphicFramePr/>
          <p:nvPr/>
        </p:nvGraphicFramePr>
        <p:xfrm>
          <a:off x="502006" y="2267712"/>
          <a:ext cx="5486400" cy="27432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72200" y="1965960"/>
            <a:ext cx="5486400" cy="256032"/>
          </a:xfrm>
          <a:prstGeom prst="rect">
            <a:avLst/>
          </a:prstGeom>
          <a:noFill/>
          <a:ln/>
        </p:spPr>
        <p:txBody>
          <a:bodyPr wrap="square"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Insurance (n=25)</a:t>
            </a:r>
            <a:endParaRPr lang="en-US" sz="1150" dirty="0"/>
          </a:p>
        </p:txBody>
      </p:sp>
      <p:graphicFrame>
        <p:nvGraphicFramePr>
          <p:cNvPr id="10" name="Chart 1" descr=""/>
          <p:cNvGraphicFramePr/>
          <p:nvPr/>
        </p:nvGraphicFramePr>
        <p:xfrm>
          <a:off x="6172200" y="2267712"/>
          <a:ext cx="5486400" cy="274320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502006" y="5120640"/>
            <a:ext cx="11188598" cy="0"/>
          </a:xfrm>
          <a:prstGeom prst="line">
            <a:avLst/>
          </a:prstGeom>
          <a:noFill/>
          <a:ln w="9525">
            <a:solidFill>
              <a:srgbClr val="D0D0CE"/>
            </a:solidFill>
            <a:prstDash val="solid"/>
          </a:ln>
        </p:spPr>
      </p:sp>
      <p:sp>
        <p:nvSpPr>
          <p:cNvPr id="12" name="Text 8"/>
          <p:cNvSpPr txBox="1"/>
          <p:nvPr/>
        </p:nvSpPr>
        <p:spPr>
          <a:xfrm>
            <a:off x="502006" y="5193792"/>
            <a:ext cx="11188598" cy="914400"/>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 </a:t>
            </a:r>
            <a:pPr algn="l" indent="0" marL="0">
              <a:lnSpc>
                <a:spcPct val="118000"/>
              </a:lnSpc>
              <a:buNone/>
            </a:pPr>
            <a:r>
              <a:rPr lang="en-US" sz="850" b="1" dirty="0">
                <a:solidFill>
                  <a:srgbClr val="046A38"/>
                </a:solidFill>
                <a:latin typeface="Calibri" pitchFamily="34" charset="0"/>
                <a:ea typeface="Calibri" pitchFamily="34" charset="-122"/>
                <a:cs typeface="Calibri" pitchFamily="34" charset="-120"/>
              </a:rPr>
              <a:t>Q6a Banking: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Mortgage brokers · Merchants · Fintech Partners · Dealers &amp; Indirect Lending Partners · Business &amp; Commercial Clients · Appraisers</a:t>
            </a:r>
            <a:pPr algn="l" indent="0" marL="0">
              <a:lnSpc>
                <a:spcPct val="118000"/>
              </a:lnSpc>
              <a:buNone/>
            </a:pPr>
            <a:r>
              <a:rPr lang="en-US" sz="850" b="1" dirty="0">
                <a:solidFill>
                  <a:srgbClr val="046A38"/>
                </a:solidFill>
                <a:latin typeface="Calibri" pitchFamily="34" charset="0"/>
                <a:ea typeface="Calibri" pitchFamily="34" charset="-122"/>
                <a:cs typeface="Calibri" pitchFamily="34" charset="-120"/>
              </a:rPr>
              <a:t>  ·  Q6b Insurance: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Brokers and distribution partners · Health care providers · Automotive service providers · Legal representatives and paralegals · Third-party administrators (TPAs) · Property claims service providers</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Strategy Expected to Most Reduce Third-Party Risk</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Leaders would rather get smarter about spotting risk than tighten the front door.</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Q7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strategy is expected to have the greatest impact on reducing third-party fraud risk over the next three years?”</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29</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Single select.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“Strengthen onboarding verification and due diligence controls”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“Enhance ongoing monitoring and detection (e.g., surveillance, analytics, anomaly detection)”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“Increase information sharing and intelligence across onboarding and ongoing monitoring”</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“Strengthen third-party oversight and accountability (e.g., annual review, standards, performance monitoring)”</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Strategy to Reduce Third-Party Risk — By Sector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Banking leans toward intelligence-sharing; Insurance is split evenly between monitoring and oversight.</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Q7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strategy is expected to have the greatest impact on reducing third-party fraud risk over the next three years? (Banking vs. Insurance)”</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30</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Single select.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“Strengthen onboarding verification and due diligence controls”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“Enhance ongoing monitoring and detection (e.g., surveillance, analytics, anomaly detection)”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“Increase information sharing and intelligence across onboarding and ongoing monitoring”</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“Strengthen third-party oversight and accountability (e.g., annual review, standards, performance monitoring)”</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Strategy to Reduce Third-Party Risk —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Information sharing tops the list in Canada and Europe, but onboarding verification leads in Australia and oversight dominates in Singapore.</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Q7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strategy is expected to have the greatest impact on reducing third-party fraud risk over the next three years? (by region, all respondents)”</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31</a:t>
            </a:r>
            <a:endParaRPr lang="en-US" sz="900" dirty="0"/>
          </a:p>
        </p:txBody>
      </p:sp>
      <p:sp>
        <p:nvSpPr>
          <p:cNvPr id="7" name="Text 5"/>
          <p:cNvSpPr txBox="1"/>
          <p:nvPr/>
        </p:nvSpPr>
        <p:spPr>
          <a:xfrm>
            <a:off x="502006"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(n=44)</a:t>
            </a:r>
            <a:endParaRPr lang="en-US" sz="1050" dirty="0"/>
          </a:p>
        </p:txBody>
      </p:sp>
      <p:graphicFrame>
        <p:nvGraphicFramePr>
          <p:cNvPr id="8" name="Chart 0" descr=""/>
          <p:cNvGraphicFramePr/>
          <p:nvPr/>
        </p:nvGraphicFramePr>
        <p:xfrm>
          <a:off x="502006" y="2157984"/>
          <a:ext cx="3595421"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298594"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(n=30)</a:t>
            </a:r>
            <a:endParaRPr lang="en-US" sz="1050" dirty="0"/>
          </a:p>
        </p:txBody>
      </p:sp>
      <p:graphicFrame>
        <p:nvGraphicFramePr>
          <p:cNvPr id="10" name="Chart 1" descr=""/>
          <p:cNvGraphicFramePr/>
          <p:nvPr/>
        </p:nvGraphicFramePr>
        <p:xfrm>
          <a:off x="4298594" y="2157984"/>
          <a:ext cx="3595421"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8095183"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(n=14)</a:t>
            </a:r>
            <a:endParaRPr lang="en-US" sz="1050" dirty="0"/>
          </a:p>
        </p:txBody>
      </p:sp>
      <p:graphicFrame>
        <p:nvGraphicFramePr>
          <p:cNvPr id="12" name="Chart 2" descr=""/>
          <p:cNvGraphicFramePr/>
          <p:nvPr/>
        </p:nvGraphicFramePr>
        <p:xfrm>
          <a:off x="8095183" y="2157984"/>
          <a:ext cx="3595421"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502006"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(n=8)</a:t>
            </a:r>
            <a:endParaRPr lang="en-US" sz="1050" dirty="0"/>
          </a:p>
        </p:txBody>
      </p:sp>
      <p:graphicFrame>
        <p:nvGraphicFramePr>
          <p:cNvPr id="14" name="Chart 3" descr=""/>
          <p:cNvGraphicFramePr/>
          <p:nvPr/>
        </p:nvGraphicFramePr>
        <p:xfrm>
          <a:off x="502006" y="4087368"/>
          <a:ext cx="3595421" cy="1490472"/>
        </p:xfrm>
        <a:graphic xmlns:a="http://schemas.openxmlformats.org/drawingml/2006/main">
          <a:graphicData uri="http://schemas.openxmlformats.org/drawingml/2006/chart">
            <c:chart xmlns:c="http://schemas.openxmlformats.org/drawingml/2006/chart" r:id="rId4"/>
          </a:graphicData>
        </a:graphic>
      </p:graphicFrame>
      <p:sp>
        <p:nvSpPr>
          <p:cNvPr id="15" name="Text 9"/>
          <p:cNvSpPr txBox="1"/>
          <p:nvPr/>
        </p:nvSpPr>
        <p:spPr>
          <a:xfrm>
            <a:off x="4298594"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Singapore (n=4)</a:t>
            </a:r>
            <a:endParaRPr lang="en-US" sz="1050" dirty="0"/>
          </a:p>
        </p:txBody>
      </p:sp>
      <p:graphicFrame>
        <p:nvGraphicFramePr>
          <p:cNvPr id="16" name="Chart 4" descr=""/>
          <p:cNvGraphicFramePr/>
          <p:nvPr/>
        </p:nvGraphicFramePr>
        <p:xfrm>
          <a:off x="4298594" y="4087368"/>
          <a:ext cx="3595421" cy="1490472"/>
        </p:xfrm>
        <a:graphic xmlns:a="http://schemas.openxmlformats.org/drawingml/2006/main">
          <a:graphicData uri="http://schemas.openxmlformats.org/drawingml/2006/chart">
            <c:chart xmlns:c="http://schemas.openxmlformats.org/drawingml/2006/chart" r:id="rId5"/>
          </a:graphicData>
        </a:graphic>
      </p:graphicFrame>
      <p:sp>
        <p:nvSpPr>
          <p:cNvPr id="17" name="Shape 10"/>
          <p:cNvSpPr/>
          <p:nvPr/>
        </p:nvSpPr>
        <p:spPr>
          <a:xfrm>
            <a:off x="502006" y="5669280"/>
            <a:ext cx="11188598" cy="0"/>
          </a:xfrm>
          <a:prstGeom prst="line">
            <a:avLst/>
          </a:prstGeom>
          <a:noFill/>
          <a:ln w="9525">
            <a:solidFill>
              <a:srgbClr val="D0D0CE"/>
            </a:solidFill>
            <a:prstDash val="solid"/>
          </a:ln>
        </p:spPr>
      </p:sp>
      <p:sp>
        <p:nvSpPr>
          <p:cNvPr id="18" name="Text 11"/>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Single select.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Region sample sizes: US n=44, Canada n=30, Europe n=14, Australia n=8, Singapore n=4. Australia and Singapore are thin samples and should be read directionally, not precisely. A small share of "Other" responses (write-ins) are omitted, so figures may not sum to exactly 100%.</a:t>
            </a:r>
            <a:endParaRPr lang="en-US" sz="850" dirty="0"/>
          </a:p>
        </p:txBody>
      </p:sp>
      <p:sp>
        <p:nvSpPr>
          <p:cNvPr id="19" name="Text 12"/>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“Strengthen onboarding verification and due diligence controls”  ·  “Enhance ongoing monitoring and detection (e.g., surveillance, analytics, anomaly detection)”  ·  “Increase information sharing and intelligence across onboarding and ongoing monitoring”  ·  “Strengthen third-party oversight and accountability (e.g., annual review, standards, performance monitoring)”</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Strategy to Reduce Third-Party Risk — Banking,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Information sharing leads across most Banking markets, but Singapore banks lean hardest on third-party oversight instead.</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Q7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strategy is expected to have the greatest impact on reducing third-party fraud risk over the next three years? (Banking only, by region)”</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32</a:t>
            </a:r>
            <a:endParaRPr lang="en-US" sz="900" dirty="0"/>
          </a:p>
        </p:txBody>
      </p:sp>
      <p:sp>
        <p:nvSpPr>
          <p:cNvPr id="7" name="Text 5"/>
          <p:cNvSpPr txBox="1"/>
          <p:nvPr/>
        </p:nvSpPr>
        <p:spPr>
          <a:xfrm>
            <a:off x="502006"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(n=34)</a:t>
            </a:r>
            <a:endParaRPr lang="en-US" sz="1050" dirty="0"/>
          </a:p>
        </p:txBody>
      </p:sp>
      <p:graphicFrame>
        <p:nvGraphicFramePr>
          <p:cNvPr id="8" name="Chart 0" descr=""/>
          <p:cNvGraphicFramePr/>
          <p:nvPr/>
        </p:nvGraphicFramePr>
        <p:xfrm>
          <a:off x="502006" y="2157984"/>
          <a:ext cx="3595421"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298594"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(n=18)</a:t>
            </a:r>
            <a:endParaRPr lang="en-US" sz="1050" dirty="0"/>
          </a:p>
        </p:txBody>
      </p:sp>
      <p:graphicFrame>
        <p:nvGraphicFramePr>
          <p:cNvPr id="10" name="Chart 1" descr=""/>
          <p:cNvGraphicFramePr/>
          <p:nvPr/>
        </p:nvGraphicFramePr>
        <p:xfrm>
          <a:off x="4298594" y="2157984"/>
          <a:ext cx="3595421"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8095183"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(n=12)</a:t>
            </a:r>
            <a:endParaRPr lang="en-US" sz="1050" dirty="0"/>
          </a:p>
        </p:txBody>
      </p:sp>
      <p:graphicFrame>
        <p:nvGraphicFramePr>
          <p:cNvPr id="12" name="Chart 2" descr=""/>
          <p:cNvGraphicFramePr/>
          <p:nvPr/>
        </p:nvGraphicFramePr>
        <p:xfrm>
          <a:off x="8095183" y="2157984"/>
          <a:ext cx="3595421"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502006"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(n=7)</a:t>
            </a:r>
            <a:endParaRPr lang="en-US" sz="1050" dirty="0"/>
          </a:p>
        </p:txBody>
      </p:sp>
      <p:graphicFrame>
        <p:nvGraphicFramePr>
          <p:cNvPr id="14" name="Chart 3" descr=""/>
          <p:cNvGraphicFramePr/>
          <p:nvPr/>
        </p:nvGraphicFramePr>
        <p:xfrm>
          <a:off x="502006" y="4087368"/>
          <a:ext cx="3595421" cy="1490472"/>
        </p:xfrm>
        <a:graphic xmlns:a="http://schemas.openxmlformats.org/drawingml/2006/main">
          <a:graphicData uri="http://schemas.openxmlformats.org/drawingml/2006/chart">
            <c:chart xmlns:c="http://schemas.openxmlformats.org/drawingml/2006/chart" r:id="rId4"/>
          </a:graphicData>
        </a:graphic>
      </p:graphicFrame>
      <p:sp>
        <p:nvSpPr>
          <p:cNvPr id="15" name="Text 9"/>
          <p:cNvSpPr txBox="1"/>
          <p:nvPr/>
        </p:nvSpPr>
        <p:spPr>
          <a:xfrm>
            <a:off x="4298594"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Singapore (n=4)</a:t>
            </a:r>
            <a:endParaRPr lang="en-US" sz="1050" dirty="0"/>
          </a:p>
        </p:txBody>
      </p:sp>
      <p:graphicFrame>
        <p:nvGraphicFramePr>
          <p:cNvPr id="16" name="Chart 4" descr=""/>
          <p:cNvGraphicFramePr/>
          <p:nvPr/>
        </p:nvGraphicFramePr>
        <p:xfrm>
          <a:off x="4298594" y="4087368"/>
          <a:ext cx="3595421" cy="1490472"/>
        </p:xfrm>
        <a:graphic xmlns:a="http://schemas.openxmlformats.org/drawingml/2006/main">
          <a:graphicData uri="http://schemas.openxmlformats.org/drawingml/2006/chart">
            <c:chart xmlns:c="http://schemas.openxmlformats.org/drawingml/2006/chart" r:id="rId5"/>
          </a:graphicData>
        </a:graphic>
      </p:graphicFrame>
      <p:sp>
        <p:nvSpPr>
          <p:cNvPr id="17" name="Shape 10"/>
          <p:cNvSpPr/>
          <p:nvPr/>
        </p:nvSpPr>
        <p:spPr>
          <a:xfrm>
            <a:off x="502006" y="5669280"/>
            <a:ext cx="11188598" cy="0"/>
          </a:xfrm>
          <a:prstGeom prst="line">
            <a:avLst/>
          </a:prstGeom>
          <a:noFill/>
          <a:ln w="9525">
            <a:solidFill>
              <a:srgbClr val="D0D0CE"/>
            </a:solidFill>
            <a:prstDash val="solid"/>
          </a:ln>
        </p:spPr>
      </p:sp>
      <p:sp>
        <p:nvSpPr>
          <p:cNvPr id="18" name="Text 11"/>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Single select.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Banking region sample sizes: US n=34, Canada n=18, Europe n=12, Australia n=7, Singapore n=4. Australia and Singapore are thin samples and should be read directionally, not precisely. A small share of "Other" responses (write-ins) are omitted, so figures may not sum to exactly 100%.</a:t>
            </a:r>
            <a:endParaRPr lang="en-US" sz="850" dirty="0"/>
          </a:p>
        </p:txBody>
      </p:sp>
      <p:sp>
        <p:nvSpPr>
          <p:cNvPr id="19" name="Text 12"/>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“Strengthen onboarding verification and due diligence controls”  ·  “Enhance ongoing monitoring and detection (e.g., surveillance, analytics, anomaly detection)”  ·  “Increase information sharing and intelligence across onboarding and ongoing monitoring”  ·  “Strengthen third-party oversight and accountability (e.g., annual review, standards, performance monitoring)”</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Strategy to Reduce Third-Party Risk — Insurance,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U.S. carriers lean on ongoing monitoring; Canadian carriers lean hardest on third-party oversight of any Insurance market.</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Q7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strategy is expected to have the greatest impact on reducing third-party fraud risk over the next three years? (Insurance only, by region)”</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33</a:t>
            </a:r>
            <a:endParaRPr lang="en-US" sz="900" dirty="0"/>
          </a:p>
        </p:txBody>
      </p:sp>
      <p:sp>
        <p:nvSpPr>
          <p:cNvPr id="7" name="Text 5"/>
          <p:cNvSpPr txBox="1"/>
          <p:nvPr/>
        </p:nvSpPr>
        <p:spPr>
          <a:xfrm>
            <a:off x="502006" y="1920240"/>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(n=10)</a:t>
            </a:r>
            <a:endParaRPr lang="en-US" sz="1050" dirty="0"/>
          </a:p>
        </p:txBody>
      </p:sp>
      <p:graphicFrame>
        <p:nvGraphicFramePr>
          <p:cNvPr id="8" name="Chart 0" descr=""/>
          <p:cNvGraphicFramePr/>
          <p:nvPr/>
        </p:nvGraphicFramePr>
        <p:xfrm>
          <a:off x="502006" y="2157984"/>
          <a:ext cx="5493715"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96889" y="1920240"/>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(n=12)</a:t>
            </a:r>
            <a:endParaRPr lang="en-US" sz="1050" dirty="0"/>
          </a:p>
        </p:txBody>
      </p:sp>
      <p:graphicFrame>
        <p:nvGraphicFramePr>
          <p:cNvPr id="10" name="Chart 1" descr=""/>
          <p:cNvGraphicFramePr/>
          <p:nvPr/>
        </p:nvGraphicFramePr>
        <p:xfrm>
          <a:off x="6196889" y="2157984"/>
          <a:ext cx="5493715"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502006" y="3849624"/>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(n=2)</a:t>
            </a:r>
            <a:endParaRPr lang="en-US" sz="1050" dirty="0"/>
          </a:p>
        </p:txBody>
      </p:sp>
      <p:graphicFrame>
        <p:nvGraphicFramePr>
          <p:cNvPr id="12" name="Chart 2" descr=""/>
          <p:cNvGraphicFramePr/>
          <p:nvPr/>
        </p:nvGraphicFramePr>
        <p:xfrm>
          <a:off x="502006" y="4087368"/>
          <a:ext cx="5493715"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6196889" y="3849624"/>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(n=1)</a:t>
            </a:r>
            <a:endParaRPr lang="en-US" sz="1050" dirty="0"/>
          </a:p>
        </p:txBody>
      </p:sp>
      <p:graphicFrame>
        <p:nvGraphicFramePr>
          <p:cNvPr id="14" name="Chart 3" descr=""/>
          <p:cNvGraphicFramePr/>
          <p:nvPr/>
        </p:nvGraphicFramePr>
        <p:xfrm>
          <a:off x="6196889" y="4087368"/>
          <a:ext cx="5493715" cy="1490472"/>
        </p:xfrm>
        <a:graphic xmlns:a="http://schemas.openxmlformats.org/drawingml/2006/main">
          <a:graphicData uri="http://schemas.openxmlformats.org/drawingml/2006/chart">
            <c:chart xmlns:c="http://schemas.openxmlformats.org/drawingml/2006/chart" r:id="rId4"/>
          </a:graphicData>
        </a:graphic>
      </p:graphicFrame>
      <p:sp>
        <p:nvSpPr>
          <p:cNvPr id="15" name="Shape 9"/>
          <p:cNvSpPr/>
          <p:nvPr/>
        </p:nvSpPr>
        <p:spPr>
          <a:xfrm>
            <a:off x="502006" y="5669280"/>
            <a:ext cx="11188598" cy="0"/>
          </a:xfrm>
          <a:prstGeom prst="line">
            <a:avLst/>
          </a:prstGeom>
          <a:noFill/>
          <a:ln w="9525">
            <a:solidFill>
              <a:srgbClr val="D0D0CE"/>
            </a:solidFill>
            <a:prstDash val="solid"/>
          </a:ln>
        </p:spPr>
      </p:sp>
      <p:sp>
        <p:nvSpPr>
          <p:cNvPr id="16" name="Text 10"/>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Single select.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Insurance region sample sizes: US n=10, Canada n=12, Europe n=2 (both United Kingdom), Australia n=1. Insurance had zero Singapore respondents, so that panel is omitted. Europe and Australia are extremely thin (1–2 respondents) and shown for completeness, not statistical reliability.</a:t>
            </a:r>
            <a:endParaRPr lang="en-US" sz="850" dirty="0"/>
          </a:p>
        </p:txBody>
      </p:sp>
      <p:sp>
        <p:nvSpPr>
          <p:cNvPr id="17" name="Text 11"/>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“Strengthen onboarding verification and due diligence controls”  ·  “Enhance ongoing monitoring and detection (e.g., surveillance, analytics, anomaly detection)”  ·  “Increase information sharing and intelligence across onboarding and ongoing monitoring”  ·  “Strengthen third-party oversight and accountability (e.g., annual review, standards, performance monitoring)”</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Strategy to Reduce Third-Party Risk — Banking, by Institution Tier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Large Financial Institutions lean harder on information sharing and onboarding controls; Top 100 institutions lean relatively more on third-party oversight.</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Q7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strategy is expected to have the greatest impact on reducing third-party fraud risk over the next three years? (Banking only, by institution tier)”</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34</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Single select. Institution tier based on newS8; 5 respondents who did not directly answer were classified as Top 100 from their employer description elsewhere in the survey (Top 100 is n=40 = 35 direct + 5 reclassified).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“Strengthen onboarding verification and due diligence controls”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“Enhance ongoing monitoring and detection (e.g., surveillance, analytics, anomaly detection)”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“Increase information sharing and intelligence across onboarding and ongoing monitoring”</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“Strengthen third-party oversight and accountability (e.g., annual review, standards, performance monitoring)”</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Strategy to Reduce Third-Party Risk — Insurance, by Institution Tier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Top 50 carriers lean hardest on ongoing monitoring; Large carriers split more evenly toward onboarding controls and third-party oversight.</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Q7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strategy is expected to have the greatest impact on reducing third-party fraud risk over the next three years? (Insurance only, by institution tier)”</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35</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Single select. Institution tier based on S9; 1 respondent who did not directly answer was classified as Large Insurance Carrier from their employer description elsewhere in the survey (Large is n=10 = 9 direct + 1 reclassified).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“Strengthen onboarding verification and due diligence controls”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“Enhance ongoing monitoring and detection (e.g., surveillance, analytics, anomaly detection)”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“Increase information sharing and intelligence across onboarding and ongoing monitoring”</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“Strengthen third-party oversight and accountability (e.g., annual review, standards, performance monitoring)”</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86BC25"/>
        </a:solidFill>
      </p:bgPr>
    </p:bg>
    <p:spTree>
      <p:nvGrpSpPr>
        <p:cNvPr id="1" name=""/>
        <p:cNvGrpSpPr/>
        <p:nvPr/>
      </p:nvGrpSpPr>
      <p:grpSpPr>
        <a:xfrm>
          <a:off x="0" y="0"/>
          <a:ext cx="0" cy="0"/>
          <a:chOff x="0" y="0"/>
          <a:chExt cx="0" cy="0"/>
        </a:xfrm>
      </p:grpSpPr>
      <p:sp>
        <p:nvSpPr>
          <p:cNvPr id="2" name="Text 0"/>
          <p:cNvSpPr txBox="1"/>
          <p:nvPr/>
        </p:nvSpPr>
        <p:spPr>
          <a:xfrm>
            <a:off x="502920" y="1699870"/>
            <a:ext cx="10415016" cy="1591970"/>
          </a:xfrm>
          <a:prstGeom prst="rect">
            <a:avLst/>
          </a:prstGeom>
          <a:noFill/>
          <a:ln/>
        </p:spPr>
        <p:txBody>
          <a:bodyPr wrap="square" lIns="0" tIns="0" rIns="0" bIns="0" rtlCol="0" anchor="b"/>
          <a:lstStyle/>
          <a:p>
            <a:pPr algn="l" indent="0" marL="0">
              <a:buNone/>
            </a:pPr>
            <a:r>
              <a:rPr lang="en-US" sz="3600" b="1" dirty="0">
                <a:solidFill>
                  <a:srgbClr val="FFFFFF"/>
                </a:solidFill>
                <a:latin typeface="Calibri" pitchFamily="34" charset="0"/>
                <a:ea typeface="Calibri" pitchFamily="34" charset="-122"/>
                <a:cs typeface="Calibri" pitchFamily="34" charset="-120"/>
              </a:rPr>
              <a:t>4. Operating Model Transformation</a:t>
            </a:r>
            <a:endParaRPr lang="en-US" sz="3600" dirty="0"/>
          </a:p>
        </p:txBody>
      </p:sp>
      <p:sp>
        <p:nvSpPr>
          <p:cNvPr id="3" name="Text 1"/>
          <p:cNvSpPr txBox="1"/>
          <p:nvPr/>
        </p:nvSpPr>
        <p:spPr>
          <a:xfrm>
            <a:off x="502920" y="3423514"/>
            <a:ext cx="10415016" cy="1563624"/>
          </a:xfrm>
          <a:prstGeom prst="rect">
            <a:avLst/>
          </a:prstGeom>
          <a:noFill/>
          <a:ln/>
        </p:spPr>
        <p:txBody>
          <a:bodyPr wrap="square" lIns="0" tIns="0" rIns="0" bIns="0" rtlCol="0" anchor="t"/>
          <a:lstStyle/>
          <a:p>
            <a:pPr algn="l" indent="0" marL="0">
              <a:lnSpc>
                <a:spcPct val="110000"/>
              </a:lnSpc>
              <a:buNone/>
            </a:pPr>
            <a:r>
              <a:rPr lang="en-US" sz="1600" dirty="0">
                <a:solidFill>
                  <a:srgbClr val="FFFFFF"/>
                </a:solidFill>
                <a:latin typeface="Calibri" pitchFamily="34" charset="0"/>
                <a:ea typeface="Calibri" pitchFamily="34" charset="-122"/>
                <a:cs typeface="Calibri" pitchFamily="34" charset="-120"/>
              </a:rPr>
              <a:t>Self-reported program maturity, and how the mix of scaling levers shifts over the next 3 years.</a:t>
            </a:r>
            <a:endParaRPr lang="en-US" sz="1600" dirty="0"/>
          </a:p>
        </p:txBody>
      </p:sp>
      <p:sp>
        <p:nvSpPr>
          <p:cNvPr id="4" name="Text 2"/>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Self-Reported Fraud Program Maturity — Combined</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82% of respondents self-rate their fraud program as “Integrated” or “Advanced” — reactive and foundational programs are now the exception.</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Q1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describes the current maturity of your organization's fraud program? (all respondents, Banking + Insurance combined)”</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37</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Single select · low → high maturity.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“Reactive: Primarily incident-driven”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“Foundational: Controls established within individual business units”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“Managed: Enterprise standards and governance are in place”</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“Integrated: Data, analytics, and operations are integrated across major fraud types”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“Advanced: Predictive intelligence and ecosystem collaboration are embedded”</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Self-Reported Fraud Program Maturity — By Sector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82% self-rate “Integrated” or “Advanced” overall — but Banking clusters at Integrated while Insurance skews further, to Advanced.</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Q1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describes the current maturity of your organization's fraud program? (Banking vs. Insurance)”</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38</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Single select · low → high maturity.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“Reactive: Primarily incident-driven”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“Foundational: Controls established within individual business units”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“Managed: Enterprise standards and governance are in place”</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“Integrated: Data, analytics, and operations are integrated across major fraud types”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“Advanced: Predictive intelligence and ecosystem collaboration are embedded”</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Fraud Program Maturity — Banking, by Institution Tier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Top 100 institutions skew further toward Advanced; Large institutions cluster more heavily at Integrated.</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Q1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describes the current maturity of your organization's fraud program? (further broken down by institution tier)”</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39</a:t>
            </a:r>
            <a:endParaRPr lang="en-US" sz="900" dirty="0"/>
          </a:p>
        </p:txBody>
      </p:sp>
      <p:sp>
        <p:nvSpPr>
          <p:cNvPr id="7" name="Text 5"/>
          <p:cNvSpPr txBox="1"/>
          <p:nvPr/>
        </p:nvSpPr>
        <p:spPr>
          <a:xfrm>
            <a:off x="502006" y="1965960"/>
            <a:ext cx="5486400" cy="256032"/>
          </a:xfrm>
          <a:prstGeom prst="rect">
            <a:avLst/>
          </a:prstGeom>
          <a:noFill/>
          <a:ln/>
        </p:spPr>
        <p:txBody>
          <a:bodyPr wrap="square"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Top 100 Financial Institution (n=40)</a:t>
            </a:r>
            <a:endParaRPr lang="en-US" sz="1150" dirty="0"/>
          </a:p>
        </p:txBody>
      </p:sp>
      <p:graphicFrame>
        <p:nvGraphicFramePr>
          <p:cNvPr id="8" name="Chart 0" descr=""/>
          <p:cNvGraphicFramePr/>
          <p:nvPr/>
        </p:nvGraphicFramePr>
        <p:xfrm>
          <a:off x="502006" y="2267712"/>
          <a:ext cx="5486400" cy="28346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72200" y="1965960"/>
            <a:ext cx="5486400" cy="256032"/>
          </a:xfrm>
          <a:prstGeom prst="rect">
            <a:avLst/>
          </a:prstGeom>
          <a:noFill/>
          <a:ln/>
        </p:spPr>
        <p:txBody>
          <a:bodyPr wrap="square"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Large Financial Institution (n=35)</a:t>
            </a:r>
            <a:endParaRPr lang="en-US" sz="1150" dirty="0"/>
          </a:p>
        </p:txBody>
      </p:sp>
      <p:graphicFrame>
        <p:nvGraphicFramePr>
          <p:cNvPr id="10" name="Chart 1" descr=""/>
          <p:cNvGraphicFramePr/>
          <p:nvPr/>
        </p:nvGraphicFramePr>
        <p:xfrm>
          <a:off x="6172200" y="2267712"/>
          <a:ext cx="5486400" cy="283464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502006" y="5230368"/>
            <a:ext cx="11188598" cy="0"/>
          </a:xfrm>
          <a:prstGeom prst="line">
            <a:avLst/>
          </a:prstGeom>
          <a:noFill/>
          <a:ln w="9525">
            <a:solidFill>
              <a:srgbClr val="D0D0CE"/>
            </a:solidFill>
            <a:prstDash val="solid"/>
          </a:ln>
        </p:spPr>
      </p:sp>
      <p:sp>
        <p:nvSpPr>
          <p:cNvPr id="12" name="Text 8"/>
          <p:cNvSpPr txBox="1"/>
          <p:nvPr/>
        </p:nvSpPr>
        <p:spPr>
          <a:xfrm>
            <a:off x="502006" y="5303520"/>
            <a:ext cx="11188598" cy="777240"/>
          </a:xfrm>
          <a:prstGeom prst="rect">
            <a:avLst/>
          </a:prstGeom>
          <a:noFill/>
          <a:ln/>
        </p:spPr>
        <p:txBody>
          <a:bodyPr wrap="square" lIns="0" tIns="0" rIns="0" bIns="0" rtlCol="0" anchor="t"/>
          <a:lstStyle/>
          <a:p>
            <a:pPr algn="l" indent="0" marL="0">
              <a:lnSpc>
                <a:spcPct val="115000"/>
              </a:lnSpc>
              <a:buNone/>
            </a:pPr>
            <a:r>
              <a:rPr lang="en-US" sz="850" b="1" dirty="0">
                <a:solidFill>
                  <a:srgbClr val="53565A"/>
                </a:solidFill>
                <a:latin typeface="Calibri" pitchFamily="34" charset="0"/>
                <a:ea typeface="Calibri" pitchFamily="34" charset="-122"/>
                <a:cs typeface="Calibri" pitchFamily="34" charset="-120"/>
              </a:rPr>
              <a:t>Single select · low → high maturity. </a:t>
            </a:r>
            <a:pPr algn="l" indent="0" marL="0">
              <a:lnSpc>
                <a:spcPct val="115000"/>
              </a:lnSpc>
              <a:buNone/>
            </a:pPr>
            <a:r>
              <a:rPr lang="en-US" sz="850" dirty="0">
                <a:solidFill>
                  <a:srgbClr val="53565A"/>
                </a:solidFill>
                <a:latin typeface="Calibri" pitchFamily="34" charset="0"/>
                <a:ea typeface="Calibri" pitchFamily="34" charset="-122"/>
                <a:cs typeface="Calibri" pitchFamily="34" charset="-120"/>
              </a:rPr>
              <a:t>Institution tier is based on newS8, including 5 respondents reclassified as Top 100 from their employer description elsewhere in the survey (Top 100 is n=40 = 35 direct + 5 reclassified; Large is n=35). Response options as fielded: </a:t>
            </a:r>
            <a:pPr algn="l" indent="0" marL="0">
              <a:lnSpc>
                <a:spcPct val="115000"/>
              </a:lnSpc>
              <a:buNone/>
            </a:pPr>
            <a:r>
              <a:rPr lang="en-US" sz="850" i="1" dirty="0">
                <a:solidFill>
                  <a:srgbClr val="53565A"/>
                </a:solidFill>
                <a:latin typeface="Calibri" pitchFamily="34" charset="0"/>
                <a:ea typeface="Calibri" pitchFamily="34" charset="-122"/>
                <a:cs typeface="Calibri" pitchFamily="34" charset="-120"/>
              </a:rPr>
              <a:t>“Reactive: Primarily incident-driven”  ·  “Foundational: Controls established within individual business units”  ·  “Managed: Enterprise standards and governance are in place”  ·  “Integrated: Data, analytics, and operations are integrated across major fraud types”  ·  “Advanced: Predictive intelligence and ecosystem collaboration are embedded”</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Fraud Program Maturity — Top 100 Financial Institutions,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Top 100 institutions in Australia self-rate most advanced; Canada's Top 100 cluster is the only market that skews toward Integrated over Advanced.</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Q1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describes the current maturity of your organization's fraud program? (Top 100 Financial Institutions only, by region)”</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40</a:t>
            </a:r>
            <a:endParaRPr lang="en-US" sz="900" dirty="0"/>
          </a:p>
        </p:txBody>
      </p:sp>
      <p:sp>
        <p:nvSpPr>
          <p:cNvPr id="7" name="Text 5"/>
          <p:cNvSpPr txBox="1"/>
          <p:nvPr/>
        </p:nvSpPr>
        <p:spPr>
          <a:xfrm>
            <a:off x="502006"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(n=14)</a:t>
            </a:r>
            <a:endParaRPr lang="en-US" sz="1050" dirty="0"/>
          </a:p>
        </p:txBody>
      </p:sp>
      <p:graphicFrame>
        <p:nvGraphicFramePr>
          <p:cNvPr id="8" name="Chart 0" descr=""/>
          <p:cNvGraphicFramePr/>
          <p:nvPr/>
        </p:nvGraphicFramePr>
        <p:xfrm>
          <a:off x="502006" y="2157984"/>
          <a:ext cx="3595421"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298594"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(n=13)</a:t>
            </a:r>
            <a:endParaRPr lang="en-US" sz="1050" dirty="0"/>
          </a:p>
        </p:txBody>
      </p:sp>
      <p:graphicFrame>
        <p:nvGraphicFramePr>
          <p:cNvPr id="10" name="Chart 1" descr=""/>
          <p:cNvGraphicFramePr/>
          <p:nvPr/>
        </p:nvGraphicFramePr>
        <p:xfrm>
          <a:off x="4298594" y="2157984"/>
          <a:ext cx="3595421"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8095183"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(n=7)</a:t>
            </a:r>
            <a:endParaRPr lang="en-US" sz="1050" dirty="0"/>
          </a:p>
        </p:txBody>
      </p:sp>
      <p:graphicFrame>
        <p:nvGraphicFramePr>
          <p:cNvPr id="12" name="Chart 2" descr=""/>
          <p:cNvGraphicFramePr/>
          <p:nvPr/>
        </p:nvGraphicFramePr>
        <p:xfrm>
          <a:off x="8095183" y="2157984"/>
          <a:ext cx="3595421"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502006"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(n=4)</a:t>
            </a:r>
            <a:endParaRPr lang="en-US" sz="1050" dirty="0"/>
          </a:p>
        </p:txBody>
      </p:sp>
      <p:graphicFrame>
        <p:nvGraphicFramePr>
          <p:cNvPr id="14" name="Chart 3" descr=""/>
          <p:cNvGraphicFramePr/>
          <p:nvPr/>
        </p:nvGraphicFramePr>
        <p:xfrm>
          <a:off x="502006" y="4087368"/>
          <a:ext cx="3595421" cy="1490472"/>
        </p:xfrm>
        <a:graphic xmlns:a="http://schemas.openxmlformats.org/drawingml/2006/main">
          <a:graphicData uri="http://schemas.openxmlformats.org/drawingml/2006/chart">
            <c:chart xmlns:c="http://schemas.openxmlformats.org/drawingml/2006/chart" r:id="rId4"/>
          </a:graphicData>
        </a:graphic>
      </p:graphicFrame>
      <p:sp>
        <p:nvSpPr>
          <p:cNvPr id="15" name="Text 9"/>
          <p:cNvSpPr txBox="1"/>
          <p:nvPr/>
        </p:nvSpPr>
        <p:spPr>
          <a:xfrm>
            <a:off x="4298594"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Singapore (n=2)</a:t>
            </a:r>
            <a:endParaRPr lang="en-US" sz="1050" dirty="0"/>
          </a:p>
        </p:txBody>
      </p:sp>
      <p:graphicFrame>
        <p:nvGraphicFramePr>
          <p:cNvPr id="16" name="Chart 4" descr=""/>
          <p:cNvGraphicFramePr/>
          <p:nvPr/>
        </p:nvGraphicFramePr>
        <p:xfrm>
          <a:off x="4298594" y="4087368"/>
          <a:ext cx="3595421" cy="1490472"/>
        </p:xfrm>
        <a:graphic xmlns:a="http://schemas.openxmlformats.org/drawingml/2006/main">
          <a:graphicData uri="http://schemas.openxmlformats.org/drawingml/2006/chart">
            <c:chart xmlns:c="http://schemas.openxmlformats.org/drawingml/2006/chart" r:id="rId5"/>
          </a:graphicData>
        </a:graphic>
      </p:graphicFrame>
      <p:sp>
        <p:nvSpPr>
          <p:cNvPr id="17" name="Shape 10"/>
          <p:cNvSpPr/>
          <p:nvPr/>
        </p:nvSpPr>
        <p:spPr>
          <a:xfrm>
            <a:off x="502006" y="5669280"/>
            <a:ext cx="11188598" cy="0"/>
          </a:xfrm>
          <a:prstGeom prst="line">
            <a:avLst/>
          </a:prstGeom>
          <a:noFill/>
          <a:ln w="9525">
            <a:solidFill>
              <a:srgbClr val="D0D0CE"/>
            </a:solidFill>
            <a:prstDash val="solid"/>
          </a:ln>
        </p:spPr>
      </p:sp>
      <p:sp>
        <p:nvSpPr>
          <p:cNvPr id="18" name="Text 11"/>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Single select · low → high maturity.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Top 100 region sample sizes: US n=14, Canada n=13, Europe n=7, Australia n=4, Singapore n=2. Australia and Singapore are thin samples and should be read directionally, not precisely. Includes 5 respondents reclassified as Top 100 from their employer description elsewhere in the survey.</a:t>
            </a:r>
            <a:endParaRPr lang="en-US" sz="850" dirty="0"/>
          </a:p>
        </p:txBody>
      </p:sp>
      <p:sp>
        <p:nvSpPr>
          <p:cNvPr id="19" name="Text 12"/>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“Reactive: Primarily incident-driven”  ·  “Foundational: Controls established within individual business units”  ·  “Managed: Enterprise standards and governance are in place”  ·  “Integrated: Data, analytics, and operations are integrated across major fraud types”  ·  “Advanced: Predictive intelligence and ecosystem collaboration are embedded”</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Fraud Program Maturity — Large Financial Institutions,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Large institutions in Canada and Singapore split toward the maturity extremes; the U.S. and Europe cluster at Integrated.</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Q1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describes the current maturity of your organization's fraud program? (Large Financial Institutions only, by region)”</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41</a:t>
            </a:r>
            <a:endParaRPr lang="en-US" sz="900" dirty="0"/>
          </a:p>
        </p:txBody>
      </p:sp>
      <p:sp>
        <p:nvSpPr>
          <p:cNvPr id="7" name="Text 5"/>
          <p:cNvSpPr txBox="1"/>
          <p:nvPr/>
        </p:nvSpPr>
        <p:spPr>
          <a:xfrm>
            <a:off x="502006"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(n=20)</a:t>
            </a:r>
            <a:endParaRPr lang="en-US" sz="1050" dirty="0"/>
          </a:p>
        </p:txBody>
      </p:sp>
      <p:graphicFrame>
        <p:nvGraphicFramePr>
          <p:cNvPr id="8" name="Chart 0" descr=""/>
          <p:cNvGraphicFramePr/>
          <p:nvPr/>
        </p:nvGraphicFramePr>
        <p:xfrm>
          <a:off x="502006" y="2157984"/>
          <a:ext cx="3595421"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298594"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(n=5)</a:t>
            </a:r>
            <a:endParaRPr lang="en-US" sz="1050" dirty="0"/>
          </a:p>
        </p:txBody>
      </p:sp>
      <p:graphicFrame>
        <p:nvGraphicFramePr>
          <p:cNvPr id="10" name="Chart 1" descr=""/>
          <p:cNvGraphicFramePr/>
          <p:nvPr/>
        </p:nvGraphicFramePr>
        <p:xfrm>
          <a:off x="4298594" y="2157984"/>
          <a:ext cx="3595421"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8095183"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(n=5)</a:t>
            </a:r>
            <a:endParaRPr lang="en-US" sz="1050" dirty="0"/>
          </a:p>
        </p:txBody>
      </p:sp>
      <p:graphicFrame>
        <p:nvGraphicFramePr>
          <p:cNvPr id="12" name="Chart 2" descr=""/>
          <p:cNvGraphicFramePr/>
          <p:nvPr/>
        </p:nvGraphicFramePr>
        <p:xfrm>
          <a:off x="8095183" y="2157984"/>
          <a:ext cx="3595421"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502006"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(n=3)</a:t>
            </a:r>
            <a:endParaRPr lang="en-US" sz="1050" dirty="0"/>
          </a:p>
        </p:txBody>
      </p:sp>
      <p:graphicFrame>
        <p:nvGraphicFramePr>
          <p:cNvPr id="14" name="Chart 3" descr=""/>
          <p:cNvGraphicFramePr/>
          <p:nvPr/>
        </p:nvGraphicFramePr>
        <p:xfrm>
          <a:off x="502006" y="4087368"/>
          <a:ext cx="3595421" cy="1490472"/>
        </p:xfrm>
        <a:graphic xmlns:a="http://schemas.openxmlformats.org/drawingml/2006/main">
          <a:graphicData uri="http://schemas.openxmlformats.org/drawingml/2006/chart">
            <c:chart xmlns:c="http://schemas.openxmlformats.org/drawingml/2006/chart" r:id="rId4"/>
          </a:graphicData>
        </a:graphic>
      </p:graphicFrame>
      <p:sp>
        <p:nvSpPr>
          <p:cNvPr id="15" name="Text 9"/>
          <p:cNvSpPr txBox="1"/>
          <p:nvPr/>
        </p:nvSpPr>
        <p:spPr>
          <a:xfrm>
            <a:off x="4298594"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Singapore (n=2)</a:t>
            </a:r>
            <a:endParaRPr lang="en-US" sz="1050" dirty="0"/>
          </a:p>
        </p:txBody>
      </p:sp>
      <p:graphicFrame>
        <p:nvGraphicFramePr>
          <p:cNvPr id="16" name="Chart 4" descr=""/>
          <p:cNvGraphicFramePr/>
          <p:nvPr/>
        </p:nvGraphicFramePr>
        <p:xfrm>
          <a:off x="4298594" y="4087368"/>
          <a:ext cx="3595421" cy="1490472"/>
        </p:xfrm>
        <a:graphic xmlns:a="http://schemas.openxmlformats.org/drawingml/2006/main">
          <a:graphicData uri="http://schemas.openxmlformats.org/drawingml/2006/chart">
            <c:chart xmlns:c="http://schemas.openxmlformats.org/drawingml/2006/chart" r:id="rId5"/>
          </a:graphicData>
        </a:graphic>
      </p:graphicFrame>
      <p:sp>
        <p:nvSpPr>
          <p:cNvPr id="17" name="Shape 10"/>
          <p:cNvSpPr/>
          <p:nvPr/>
        </p:nvSpPr>
        <p:spPr>
          <a:xfrm>
            <a:off x="502006" y="5669280"/>
            <a:ext cx="11188598" cy="0"/>
          </a:xfrm>
          <a:prstGeom prst="line">
            <a:avLst/>
          </a:prstGeom>
          <a:noFill/>
          <a:ln w="9525">
            <a:solidFill>
              <a:srgbClr val="D0D0CE"/>
            </a:solidFill>
            <a:prstDash val="solid"/>
          </a:ln>
        </p:spPr>
      </p:sp>
      <p:sp>
        <p:nvSpPr>
          <p:cNvPr id="18" name="Text 11"/>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Single select · low → high maturity.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Large Financial Institution region sample sizes: US n=20, Canada n=5, Europe n=5, Australia n=3, Singapore n=2. Canada, Europe, Australia, and Singapore are thin samples and should be read directionally, not precisely.</a:t>
            </a:r>
            <a:endParaRPr lang="en-US" sz="850" dirty="0"/>
          </a:p>
        </p:txBody>
      </p:sp>
      <p:sp>
        <p:nvSpPr>
          <p:cNvPr id="19" name="Text 12"/>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“Reactive: Primarily incident-driven”  ·  “Foundational: Controls established within individual business units”  ·  “Managed: Enterprise standards and governance are in place”  ·  “Integrated: Data, analytics, and operations are integrated across major fraud types”  ·  “Advanced: Predictive intelligence and ecosystem collaboration are embedded”</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Fraud Program Maturity — Insurance, by Institution Tier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Top 50 carriers skew toward Advanced; Large carriers spread more evenly across the maturity curve, including the only Reactive responses in Insurance.</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Q1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describes the current maturity of your organization's fraud program? (further broken down by institution tier)”</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42</a:t>
            </a:r>
            <a:endParaRPr lang="en-US" sz="900" dirty="0"/>
          </a:p>
        </p:txBody>
      </p:sp>
      <p:sp>
        <p:nvSpPr>
          <p:cNvPr id="7" name="Text 5"/>
          <p:cNvSpPr txBox="1"/>
          <p:nvPr/>
        </p:nvSpPr>
        <p:spPr>
          <a:xfrm>
            <a:off x="502006" y="1965960"/>
            <a:ext cx="5486400" cy="256032"/>
          </a:xfrm>
          <a:prstGeom prst="rect">
            <a:avLst/>
          </a:prstGeom>
          <a:noFill/>
          <a:ln/>
        </p:spPr>
        <p:txBody>
          <a:bodyPr wrap="square"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Top 50 Global Insurance Carrier (n=15)</a:t>
            </a:r>
            <a:endParaRPr lang="en-US" sz="1150" dirty="0"/>
          </a:p>
        </p:txBody>
      </p:sp>
      <p:graphicFrame>
        <p:nvGraphicFramePr>
          <p:cNvPr id="8" name="Chart 0" descr=""/>
          <p:cNvGraphicFramePr/>
          <p:nvPr/>
        </p:nvGraphicFramePr>
        <p:xfrm>
          <a:off x="502006" y="2267712"/>
          <a:ext cx="5486400" cy="28346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72200" y="1965960"/>
            <a:ext cx="5486400" cy="256032"/>
          </a:xfrm>
          <a:prstGeom prst="rect">
            <a:avLst/>
          </a:prstGeom>
          <a:noFill/>
          <a:ln/>
        </p:spPr>
        <p:txBody>
          <a:bodyPr wrap="square"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Large Insurance Carrier (n=10)</a:t>
            </a:r>
            <a:endParaRPr lang="en-US" sz="1150" dirty="0"/>
          </a:p>
        </p:txBody>
      </p:sp>
      <p:graphicFrame>
        <p:nvGraphicFramePr>
          <p:cNvPr id="10" name="Chart 1" descr=""/>
          <p:cNvGraphicFramePr/>
          <p:nvPr/>
        </p:nvGraphicFramePr>
        <p:xfrm>
          <a:off x="6172200" y="2267712"/>
          <a:ext cx="5486400" cy="283464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502006" y="5230368"/>
            <a:ext cx="11188598" cy="0"/>
          </a:xfrm>
          <a:prstGeom prst="line">
            <a:avLst/>
          </a:prstGeom>
          <a:noFill/>
          <a:ln w="9525">
            <a:solidFill>
              <a:srgbClr val="D0D0CE"/>
            </a:solidFill>
            <a:prstDash val="solid"/>
          </a:ln>
        </p:spPr>
      </p:sp>
      <p:sp>
        <p:nvSpPr>
          <p:cNvPr id="12" name="Text 8"/>
          <p:cNvSpPr txBox="1"/>
          <p:nvPr/>
        </p:nvSpPr>
        <p:spPr>
          <a:xfrm>
            <a:off x="502006" y="5303520"/>
            <a:ext cx="11188598" cy="777240"/>
          </a:xfrm>
          <a:prstGeom prst="rect">
            <a:avLst/>
          </a:prstGeom>
          <a:noFill/>
          <a:ln/>
        </p:spPr>
        <p:txBody>
          <a:bodyPr wrap="square" lIns="0" tIns="0" rIns="0" bIns="0" rtlCol="0" anchor="t"/>
          <a:lstStyle/>
          <a:p>
            <a:pPr algn="l" indent="0" marL="0">
              <a:lnSpc>
                <a:spcPct val="115000"/>
              </a:lnSpc>
              <a:buNone/>
            </a:pPr>
            <a:r>
              <a:rPr lang="en-US" sz="850" b="1" dirty="0">
                <a:solidFill>
                  <a:srgbClr val="53565A"/>
                </a:solidFill>
                <a:latin typeface="Calibri" pitchFamily="34" charset="0"/>
                <a:ea typeface="Calibri" pitchFamily="34" charset="-122"/>
                <a:cs typeface="Calibri" pitchFamily="34" charset="-120"/>
              </a:rPr>
              <a:t>Single select · low → high maturity. </a:t>
            </a:r>
            <a:pPr algn="l" indent="0" marL="0">
              <a:lnSpc>
                <a:spcPct val="115000"/>
              </a:lnSpc>
              <a:buNone/>
            </a:pPr>
            <a:r>
              <a:rPr lang="en-US" sz="850" dirty="0">
                <a:solidFill>
                  <a:srgbClr val="53565A"/>
                </a:solidFill>
                <a:latin typeface="Calibri" pitchFamily="34" charset="0"/>
                <a:ea typeface="Calibri" pitchFamily="34" charset="-122"/>
                <a:cs typeface="Calibri" pitchFamily="34" charset="-120"/>
              </a:rPr>
              <a:t>Institution tier is based on S9, including 1 respondent reclassified as Large Insurance Carrier from their employer description elsewhere in the survey (Large is n=10 = 9 direct + 1 reclassified; Top 50 is n=15). Response options as fielded: </a:t>
            </a:r>
            <a:pPr algn="l" indent="0" marL="0">
              <a:lnSpc>
                <a:spcPct val="115000"/>
              </a:lnSpc>
              <a:buNone/>
            </a:pPr>
            <a:r>
              <a:rPr lang="en-US" sz="850" i="1" dirty="0">
                <a:solidFill>
                  <a:srgbClr val="53565A"/>
                </a:solidFill>
                <a:latin typeface="Calibri" pitchFamily="34" charset="0"/>
                <a:ea typeface="Calibri" pitchFamily="34" charset="-122"/>
                <a:cs typeface="Calibri" pitchFamily="34" charset="-120"/>
              </a:rPr>
              <a:t>“Reactive: Primarily incident-driven”  ·  “Foundational: Controls established within individual business units”  ·  “Managed: Enterprise standards and governance are in place”  ·  “Integrated: Data, analytics, and operations are integrated across major fraud types”  ·  “Advanced: Predictive intelligence and ecosystem collaboration are embedded”</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Fraud Program Maturity — Top 50 Insurance Carriers,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Top 50 carriers in the U.S. and Canada lean Advanced or Integrated; Europe and Australia's single respondents each self-rate Advanced.</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Q1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describes the current maturity of your organization's fraud program? (Top 50 Insurance Carriers only, by region)”</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43</a:t>
            </a:r>
            <a:endParaRPr lang="en-US" sz="900" dirty="0"/>
          </a:p>
        </p:txBody>
      </p:sp>
      <p:sp>
        <p:nvSpPr>
          <p:cNvPr id="7" name="Text 5"/>
          <p:cNvSpPr txBox="1"/>
          <p:nvPr/>
        </p:nvSpPr>
        <p:spPr>
          <a:xfrm>
            <a:off x="502006" y="1920240"/>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(n=7)</a:t>
            </a:r>
            <a:endParaRPr lang="en-US" sz="1050" dirty="0"/>
          </a:p>
        </p:txBody>
      </p:sp>
      <p:graphicFrame>
        <p:nvGraphicFramePr>
          <p:cNvPr id="8" name="Chart 0" descr=""/>
          <p:cNvGraphicFramePr/>
          <p:nvPr/>
        </p:nvGraphicFramePr>
        <p:xfrm>
          <a:off x="502006" y="2157984"/>
          <a:ext cx="5493715"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96889" y="1920240"/>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(n=6)</a:t>
            </a:r>
            <a:endParaRPr lang="en-US" sz="1050" dirty="0"/>
          </a:p>
        </p:txBody>
      </p:sp>
      <p:graphicFrame>
        <p:nvGraphicFramePr>
          <p:cNvPr id="10" name="Chart 1" descr=""/>
          <p:cNvGraphicFramePr/>
          <p:nvPr/>
        </p:nvGraphicFramePr>
        <p:xfrm>
          <a:off x="6196889" y="2157984"/>
          <a:ext cx="5493715"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502006" y="3849624"/>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(n=1)</a:t>
            </a:r>
            <a:endParaRPr lang="en-US" sz="1050" dirty="0"/>
          </a:p>
        </p:txBody>
      </p:sp>
      <p:graphicFrame>
        <p:nvGraphicFramePr>
          <p:cNvPr id="12" name="Chart 2" descr=""/>
          <p:cNvGraphicFramePr/>
          <p:nvPr/>
        </p:nvGraphicFramePr>
        <p:xfrm>
          <a:off x="502006" y="4087368"/>
          <a:ext cx="5493715"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6196889" y="3849624"/>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(n=1)</a:t>
            </a:r>
            <a:endParaRPr lang="en-US" sz="1050" dirty="0"/>
          </a:p>
        </p:txBody>
      </p:sp>
      <p:graphicFrame>
        <p:nvGraphicFramePr>
          <p:cNvPr id="14" name="Chart 3" descr=""/>
          <p:cNvGraphicFramePr/>
          <p:nvPr/>
        </p:nvGraphicFramePr>
        <p:xfrm>
          <a:off x="6196889" y="4087368"/>
          <a:ext cx="5493715" cy="1490472"/>
        </p:xfrm>
        <a:graphic xmlns:a="http://schemas.openxmlformats.org/drawingml/2006/main">
          <a:graphicData uri="http://schemas.openxmlformats.org/drawingml/2006/chart">
            <c:chart xmlns:c="http://schemas.openxmlformats.org/drawingml/2006/chart" r:id="rId4"/>
          </a:graphicData>
        </a:graphic>
      </p:graphicFrame>
      <p:sp>
        <p:nvSpPr>
          <p:cNvPr id="15" name="Shape 9"/>
          <p:cNvSpPr/>
          <p:nvPr/>
        </p:nvSpPr>
        <p:spPr>
          <a:xfrm>
            <a:off x="502006" y="5669280"/>
            <a:ext cx="11188598" cy="0"/>
          </a:xfrm>
          <a:prstGeom prst="line">
            <a:avLst/>
          </a:prstGeom>
          <a:noFill/>
          <a:ln w="9525">
            <a:solidFill>
              <a:srgbClr val="D0D0CE"/>
            </a:solidFill>
            <a:prstDash val="solid"/>
          </a:ln>
        </p:spPr>
      </p:sp>
      <p:sp>
        <p:nvSpPr>
          <p:cNvPr id="16" name="Text 10"/>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Single select · low → high maturity.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Top 50 Insurance Carrier region sample sizes: US n=7, Canada n=6, Europe n=1 (United Kingdom), Australia n=1. Neither tier has Singapore respondents. Europe and Australia are single respondents shown for completeness, not statistical reliability.</a:t>
            </a:r>
            <a:endParaRPr lang="en-US" sz="850" dirty="0"/>
          </a:p>
        </p:txBody>
      </p:sp>
      <p:sp>
        <p:nvSpPr>
          <p:cNvPr id="17" name="Text 11"/>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“Reactive: Primarily incident-driven”  ·  “Foundational: Controls established within individual business units”  ·  “Managed: Enterprise standards and governance are in place”  ·  “Integrated: Data, analytics, and operations are integrated across major fraud types”  ·  “Advanced: Predictive intelligence and ecosystem collaboration are embedded”</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Fraud Program Maturity — Large Insurance Carriers,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Large carriers in Canada include the only Reactive response in Insurance; the U.S. and Europe cluster at Integrated or above.</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Q1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describes the current maturity of your organization's fraud program? (Large Insurance Carriers only, by region)”</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44</a:t>
            </a:r>
            <a:endParaRPr lang="en-US" sz="900" dirty="0"/>
          </a:p>
        </p:txBody>
      </p:sp>
      <p:sp>
        <p:nvSpPr>
          <p:cNvPr id="7" name="Text 5"/>
          <p:cNvSpPr txBox="1"/>
          <p:nvPr/>
        </p:nvSpPr>
        <p:spPr>
          <a:xfrm>
            <a:off x="502006" y="1920240"/>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(n=3)</a:t>
            </a:r>
            <a:endParaRPr lang="en-US" sz="1050" dirty="0"/>
          </a:p>
        </p:txBody>
      </p:sp>
      <p:graphicFrame>
        <p:nvGraphicFramePr>
          <p:cNvPr id="8" name="Chart 0" descr=""/>
          <p:cNvGraphicFramePr/>
          <p:nvPr/>
        </p:nvGraphicFramePr>
        <p:xfrm>
          <a:off x="502006" y="2157984"/>
          <a:ext cx="5493715"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96889" y="1920240"/>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(n=6)</a:t>
            </a:r>
            <a:endParaRPr lang="en-US" sz="1050" dirty="0"/>
          </a:p>
        </p:txBody>
      </p:sp>
      <p:graphicFrame>
        <p:nvGraphicFramePr>
          <p:cNvPr id="10" name="Chart 1" descr=""/>
          <p:cNvGraphicFramePr/>
          <p:nvPr/>
        </p:nvGraphicFramePr>
        <p:xfrm>
          <a:off x="6196889" y="2157984"/>
          <a:ext cx="5493715"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502006" y="3849624"/>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(n=1)</a:t>
            </a:r>
            <a:endParaRPr lang="en-US" sz="1050" dirty="0"/>
          </a:p>
        </p:txBody>
      </p:sp>
      <p:graphicFrame>
        <p:nvGraphicFramePr>
          <p:cNvPr id="12" name="Chart 2" descr=""/>
          <p:cNvGraphicFramePr/>
          <p:nvPr/>
        </p:nvGraphicFramePr>
        <p:xfrm>
          <a:off x="502006" y="4087368"/>
          <a:ext cx="5493715" cy="1490472"/>
        </p:xfrm>
        <a:graphic xmlns:a="http://schemas.openxmlformats.org/drawingml/2006/main">
          <a:graphicData uri="http://schemas.openxmlformats.org/drawingml/2006/chart">
            <c:chart xmlns:c="http://schemas.openxmlformats.org/drawingml/2006/chart" r:id="rId3"/>
          </a:graphicData>
        </a:graphic>
      </p:graphicFrame>
      <p:sp>
        <p:nvSpPr>
          <p:cNvPr id="13" name="Shape 8"/>
          <p:cNvSpPr/>
          <p:nvPr/>
        </p:nvSpPr>
        <p:spPr>
          <a:xfrm>
            <a:off x="502006" y="5669280"/>
            <a:ext cx="11188598" cy="0"/>
          </a:xfrm>
          <a:prstGeom prst="line">
            <a:avLst/>
          </a:prstGeom>
          <a:noFill/>
          <a:ln w="9525">
            <a:solidFill>
              <a:srgbClr val="D0D0CE"/>
            </a:solidFill>
            <a:prstDash val="solid"/>
          </a:ln>
        </p:spPr>
      </p:sp>
      <p:sp>
        <p:nvSpPr>
          <p:cNvPr id="14" name="Text 9"/>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Single select · low → high maturity.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Large Insurance Carrier region sample sizes: US n=3, Canada n=6, Europe n=1 (United Kingdom). No Australia or Singapore respondents in this tier. Europe is a single respondent shown for completeness, not statistical reliability. Includes 1 respondent (Canada) reclassified from their employer description elsewhere in the survey.</a:t>
            </a:r>
            <a:endParaRPr lang="en-US" sz="850" dirty="0"/>
          </a:p>
        </p:txBody>
      </p:sp>
      <p:sp>
        <p:nvSpPr>
          <p:cNvPr id="15" name="Text 10"/>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“Reactive: Primarily incident-driven”  ·  “Foundational: Controls established within individual business units”  ·  “Managed: Enterprise standards and governance are in place”  ·  “Integrated: Data, analytics, and operations are integrated across major fraud types”  ·  “Advanced: Predictive intelligence and ecosystem collaboration are embedded”</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Scaling Approach — Today vs. 3-Year Focus</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AI is already the top way fraud teams scale, and its lead is only growing.</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Q8 / Q9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describes your current approach to scaling fraud/investigations operations as fraud volume and complexity increases? / Which area do you expect will receive the greatest focus for operations transformation over the next three years?”</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45</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Single select, asked twice.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“Adding capacity through hiring full-time employees and workforce expansion”</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“Adding capacity through outsourcing arrangements (e.g., contractors)”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“Automating workflows and minimizing manual activities”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“Augmenting existing capacity with AI-enabled tools”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“Redesigning operation processes and playbooks across the lifecycle”</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“Pursuing a combination of the above approaches”</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Scaling Approach — Insurance, by Institution Tier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Top 50 carriers are already leaning hardest on AI; Large carriers still split their effort more evenly, notably toward outsourcing today.</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Q8 / Q9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describes your current approach to scaling fraud/investigations operations? / Which area do you expect will receive the greatest focus over the next three years? (Today vs. 3-Year Focus)”</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46</a:t>
            </a:r>
            <a:endParaRPr lang="en-US" sz="900" dirty="0"/>
          </a:p>
        </p:txBody>
      </p:sp>
      <p:sp>
        <p:nvSpPr>
          <p:cNvPr id="7" name="Text 5"/>
          <p:cNvSpPr txBox="1"/>
          <p:nvPr/>
        </p:nvSpPr>
        <p:spPr>
          <a:xfrm>
            <a:off x="502006" y="1965960"/>
            <a:ext cx="5486400" cy="237744"/>
          </a:xfrm>
          <a:prstGeom prst="rect">
            <a:avLst/>
          </a:prstGeom>
          <a:noFill/>
          <a:ln/>
        </p:spPr>
        <p:txBody>
          <a:bodyPr wrap="square"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Top 50 Insurance Carrier (n=15)</a:t>
            </a:r>
            <a:endParaRPr lang="en-US" sz="1150" dirty="0"/>
          </a:p>
        </p:txBody>
      </p:sp>
      <p:graphicFrame>
        <p:nvGraphicFramePr>
          <p:cNvPr id="8" name="Chart 0" descr=""/>
          <p:cNvGraphicFramePr/>
          <p:nvPr/>
        </p:nvGraphicFramePr>
        <p:xfrm>
          <a:off x="502006" y="2240280"/>
          <a:ext cx="5486400" cy="28346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72200" y="1965960"/>
            <a:ext cx="5486400" cy="237744"/>
          </a:xfrm>
          <a:prstGeom prst="rect">
            <a:avLst/>
          </a:prstGeom>
          <a:noFill/>
          <a:ln/>
        </p:spPr>
        <p:txBody>
          <a:bodyPr wrap="square"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Large Insurance Carrier (n=10)</a:t>
            </a:r>
            <a:endParaRPr lang="en-US" sz="1150" dirty="0"/>
          </a:p>
        </p:txBody>
      </p:sp>
      <p:graphicFrame>
        <p:nvGraphicFramePr>
          <p:cNvPr id="10" name="Chart 1" descr=""/>
          <p:cNvGraphicFramePr/>
          <p:nvPr/>
        </p:nvGraphicFramePr>
        <p:xfrm>
          <a:off x="6172200" y="2240280"/>
          <a:ext cx="5486400" cy="283464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502006" y="5202936"/>
            <a:ext cx="11188598" cy="0"/>
          </a:xfrm>
          <a:prstGeom prst="line">
            <a:avLst/>
          </a:prstGeom>
          <a:noFill/>
          <a:ln w="9525">
            <a:solidFill>
              <a:srgbClr val="D0D0CE"/>
            </a:solidFill>
            <a:prstDash val="solid"/>
          </a:ln>
        </p:spPr>
      </p:sp>
      <p:sp>
        <p:nvSpPr>
          <p:cNvPr id="12" name="Text 8"/>
          <p:cNvSpPr txBox="1"/>
          <p:nvPr/>
        </p:nvSpPr>
        <p:spPr>
          <a:xfrm>
            <a:off x="502006" y="5276088"/>
            <a:ext cx="11188598" cy="777240"/>
          </a:xfrm>
          <a:prstGeom prst="rect">
            <a:avLst/>
          </a:prstGeom>
          <a:noFill/>
          <a:ln/>
        </p:spPr>
        <p:txBody>
          <a:bodyPr wrap="square" lIns="0" tIns="0" rIns="0" bIns="0" rtlCol="0" anchor="t"/>
          <a:lstStyle/>
          <a:p>
            <a:pPr algn="l" indent="0" marL="0">
              <a:lnSpc>
                <a:spcPct val="115000"/>
              </a:lnSpc>
              <a:buNone/>
            </a:pPr>
            <a:r>
              <a:rPr lang="en-US" sz="850" b="1" dirty="0">
                <a:solidFill>
                  <a:srgbClr val="53565A"/>
                </a:solidFill>
                <a:latin typeface="Calibri" pitchFamily="34" charset="0"/>
                <a:ea typeface="Calibri" pitchFamily="34" charset="-122"/>
                <a:cs typeface="Calibri" pitchFamily="34" charset="-120"/>
              </a:rPr>
              <a:t>Single select, asked twice. </a:t>
            </a:r>
            <a:pPr algn="l" indent="0" marL="0">
              <a:lnSpc>
                <a:spcPct val="115000"/>
              </a:lnSpc>
              <a:buNone/>
            </a:pPr>
            <a:r>
              <a:rPr lang="en-US" sz="850" dirty="0">
                <a:solidFill>
                  <a:srgbClr val="53565A"/>
                </a:solidFill>
                <a:latin typeface="Calibri" pitchFamily="34" charset="0"/>
                <a:ea typeface="Calibri" pitchFamily="34" charset="-122"/>
                <a:cs typeface="Calibri" pitchFamily="34" charset="-120"/>
              </a:rPr>
              <a:t>Institution tier is based on S9, including 1 respondent reclassified from their employer description elsewhere in the survey (see the Q1 sector x tier slide for detail). Response options as fielded: </a:t>
            </a:r>
            <a:pPr algn="l" indent="0" marL="0">
              <a:lnSpc>
                <a:spcPct val="115000"/>
              </a:lnSpc>
              <a:buNone/>
            </a:pPr>
            <a:r>
              <a:rPr lang="en-US" sz="850" i="1" dirty="0">
                <a:solidFill>
                  <a:srgbClr val="53565A"/>
                </a:solidFill>
                <a:latin typeface="Calibri" pitchFamily="34" charset="0"/>
                <a:ea typeface="Calibri" pitchFamily="34" charset="-122"/>
                <a:cs typeface="Calibri" pitchFamily="34" charset="-120"/>
              </a:rPr>
              <a:t>“Adding capacity through hiring full-time employees and workforce expansion”  ·  “Adding capacity through outsourcing arrangements (e.g., contractors)”  ·  “Automating workflows and minimizing manual activities”  ·  “Augmenting existing capacity with AI-enabled tools”  ·  “Redesigning operation processes and playbooks across the lifecycle”  ·  “Pursuing a combination of the above approaches”</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Scaling Approach — Top 50 Insurance Carriers,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Top 50 carriers in the U.S. lean hardest on automating workflows today; Canada and the U.S. converge on AI as the 3-year focus.</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Q8 / Q9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describes your current approach to scaling fraud/investigations operations? / Which area do you expect will receive the greatest focus over the next three years? (Insurance — Top 50 only, by region)”</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47</a:t>
            </a:r>
            <a:endParaRPr lang="en-US" sz="900" dirty="0"/>
          </a:p>
        </p:txBody>
      </p:sp>
      <p:sp>
        <p:nvSpPr>
          <p:cNvPr id="7" name="Text 5"/>
          <p:cNvSpPr txBox="1"/>
          <p:nvPr/>
        </p:nvSpPr>
        <p:spPr>
          <a:xfrm>
            <a:off x="502006" y="1920240"/>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(n=7)</a:t>
            </a:r>
            <a:endParaRPr lang="en-US" sz="1050" dirty="0"/>
          </a:p>
        </p:txBody>
      </p:sp>
      <p:graphicFrame>
        <p:nvGraphicFramePr>
          <p:cNvPr id="8" name="Chart 0" descr=""/>
          <p:cNvGraphicFramePr/>
          <p:nvPr/>
        </p:nvGraphicFramePr>
        <p:xfrm>
          <a:off x="502006" y="2157984"/>
          <a:ext cx="5493715"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96889" y="1920240"/>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(n=6)</a:t>
            </a:r>
            <a:endParaRPr lang="en-US" sz="1050" dirty="0"/>
          </a:p>
        </p:txBody>
      </p:sp>
      <p:graphicFrame>
        <p:nvGraphicFramePr>
          <p:cNvPr id="10" name="Chart 1" descr=""/>
          <p:cNvGraphicFramePr/>
          <p:nvPr/>
        </p:nvGraphicFramePr>
        <p:xfrm>
          <a:off x="6196889" y="2157984"/>
          <a:ext cx="5493715"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502006" y="3849624"/>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(n=1)</a:t>
            </a:r>
            <a:endParaRPr lang="en-US" sz="1050" dirty="0"/>
          </a:p>
        </p:txBody>
      </p:sp>
      <p:graphicFrame>
        <p:nvGraphicFramePr>
          <p:cNvPr id="12" name="Chart 2" descr=""/>
          <p:cNvGraphicFramePr/>
          <p:nvPr/>
        </p:nvGraphicFramePr>
        <p:xfrm>
          <a:off x="502006" y="4087368"/>
          <a:ext cx="5493715"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6196889" y="3849624"/>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(n=1)</a:t>
            </a:r>
            <a:endParaRPr lang="en-US" sz="1050" dirty="0"/>
          </a:p>
        </p:txBody>
      </p:sp>
      <p:graphicFrame>
        <p:nvGraphicFramePr>
          <p:cNvPr id="14" name="Chart 3" descr=""/>
          <p:cNvGraphicFramePr/>
          <p:nvPr/>
        </p:nvGraphicFramePr>
        <p:xfrm>
          <a:off x="6196889" y="4087368"/>
          <a:ext cx="5493715" cy="1490472"/>
        </p:xfrm>
        <a:graphic xmlns:a="http://schemas.openxmlformats.org/drawingml/2006/main">
          <a:graphicData uri="http://schemas.openxmlformats.org/drawingml/2006/chart">
            <c:chart xmlns:c="http://schemas.openxmlformats.org/drawingml/2006/chart" r:id="rId4"/>
          </a:graphicData>
        </a:graphic>
      </p:graphicFrame>
      <p:sp>
        <p:nvSpPr>
          <p:cNvPr id="15" name="Shape 9"/>
          <p:cNvSpPr/>
          <p:nvPr/>
        </p:nvSpPr>
        <p:spPr>
          <a:xfrm>
            <a:off x="502006" y="5669280"/>
            <a:ext cx="11188598" cy="0"/>
          </a:xfrm>
          <a:prstGeom prst="line">
            <a:avLst/>
          </a:prstGeom>
          <a:noFill/>
          <a:ln w="9525">
            <a:solidFill>
              <a:srgbClr val="D0D0CE"/>
            </a:solidFill>
            <a:prstDash val="solid"/>
          </a:ln>
        </p:spPr>
      </p:sp>
      <p:sp>
        <p:nvSpPr>
          <p:cNvPr id="16" name="Text 10"/>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Single select, asked twice.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Green bars = current approach (Q8); deep-green bars = 3-year focus (Q9). Top 50 region sample sizes: US n=7, Canada n=6, Europe n=1 (United Kingdom), Australia n=1. Neither tier has Singapore respondents. Europe and Australia are single respondents shown for completeness, not statistical reliability.</a:t>
            </a:r>
            <a:endParaRPr lang="en-US" sz="850" dirty="0"/>
          </a:p>
        </p:txBody>
      </p:sp>
      <p:sp>
        <p:nvSpPr>
          <p:cNvPr id="17" name="Text 11"/>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“Adding capacity through hiring full-time employees and workforce expansion”  ·  “Adding capacity through outsourcing arrangements (e.g., contractors)”  ·  “Automating workflows and minimizing manual activities”  ·  “Augmenting existing capacity with AI-enabled tools”  ·  “Redesigning operation processes and playbooks across the lifecycle”  ·  “Pursuing a combination of the above approaches”</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Scaling Approach — Large Insurance Carriers,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Large carriers in the U.S. lean on redesigning processes today but shift toward automating workflows over three years; Canada spreads more evenly across levers.</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Q8 / Q9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describes your current approach to scaling fraud/investigations operations? / Which area do you expect will receive the greatest focus over the next three years? (Insurance — Large only, by region)”</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48</a:t>
            </a:r>
            <a:endParaRPr lang="en-US" sz="900" dirty="0"/>
          </a:p>
        </p:txBody>
      </p:sp>
      <p:sp>
        <p:nvSpPr>
          <p:cNvPr id="7" name="Text 5"/>
          <p:cNvSpPr txBox="1"/>
          <p:nvPr/>
        </p:nvSpPr>
        <p:spPr>
          <a:xfrm>
            <a:off x="502006" y="1920240"/>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(n=3)</a:t>
            </a:r>
            <a:endParaRPr lang="en-US" sz="1050" dirty="0"/>
          </a:p>
        </p:txBody>
      </p:sp>
      <p:graphicFrame>
        <p:nvGraphicFramePr>
          <p:cNvPr id="8" name="Chart 0" descr=""/>
          <p:cNvGraphicFramePr/>
          <p:nvPr/>
        </p:nvGraphicFramePr>
        <p:xfrm>
          <a:off x="502006" y="2157984"/>
          <a:ext cx="5493715"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96889" y="1920240"/>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(n=6)</a:t>
            </a:r>
            <a:endParaRPr lang="en-US" sz="1050" dirty="0"/>
          </a:p>
        </p:txBody>
      </p:sp>
      <p:graphicFrame>
        <p:nvGraphicFramePr>
          <p:cNvPr id="10" name="Chart 1" descr=""/>
          <p:cNvGraphicFramePr/>
          <p:nvPr/>
        </p:nvGraphicFramePr>
        <p:xfrm>
          <a:off x="6196889" y="2157984"/>
          <a:ext cx="5493715"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502006" y="3849624"/>
            <a:ext cx="5493715"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(n=1)</a:t>
            </a:r>
            <a:endParaRPr lang="en-US" sz="1050" dirty="0"/>
          </a:p>
        </p:txBody>
      </p:sp>
      <p:graphicFrame>
        <p:nvGraphicFramePr>
          <p:cNvPr id="12" name="Chart 2" descr=""/>
          <p:cNvGraphicFramePr/>
          <p:nvPr/>
        </p:nvGraphicFramePr>
        <p:xfrm>
          <a:off x="502006" y="4087368"/>
          <a:ext cx="5493715" cy="1490472"/>
        </p:xfrm>
        <a:graphic xmlns:a="http://schemas.openxmlformats.org/drawingml/2006/main">
          <a:graphicData uri="http://schemas.openxmlformats.org/drawingml/2006/chart">
            <c:chart xmlns:c="http://schemas.openxmlformats.org/drawingml/2006/chart" r:id="rId3"/>
          </a:graphicData>
        </a:graphic>
      </p:graphicFrame>
      <p:sp>
        <p:nvSpPr>
          <p:cNvPr id="13" name="Shape 8"/>
          <p:cNvSpPr/>
          <p:nvPr/>
        </p:nvSpPr>
        <p:spPr>
          <a:xfrm>
            <a:off x="502006" y="5669280"/>
            <a:ext cx="11188598" cy="0"/>
          </a:xfrm>
          <a:prstGeom prst="line">
            <a:avLst/>
          </a:prstGeom>
          <a:noFill/>
          <a:ln w="9525">
            <a:solidFill>
              <a:srgbClr val="D0D0CE"/>
            </a:solidFill>
            <a:prstDash val="solid"/>
          </a:ln>
        </p:spPr>
      </p:sp>
      <p:sp>
        <p:nvSpPr>
          <p:cNvPr id="14" name="Text 9"/>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Single select, asked twice.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Green bars = current approach (Q8); deep-green bars = 3-year focus (Q9). Large Insurance Carrier region sample sizes: US n=3, Canada n=6, Europe n=1 (United Kingdom). No Australia or Singapore respondents in this tier. Europe is a single respondent shown for completeness, not statistical reliability.</a:t>
            </a:r>
            <a:endParaRPr lang="en-US" sz="850" dirty="0"/>
          </a:p>
        </p:txBody>
      </p:sp>
      <p:sp>
        <p:nvSpPr>
          <p:cNvPr id="15" name="Text 10"/>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“Adding capacity through hiring full-time employees and workforce expansion”  ·  “Adding capacity through outsourcing arrangements (e.g., contractors)”  ·  “Automating workflows and minimizing manual activities”  ·  “Augmenting existing capacity with AI-enabled tools”  ·  “Redesigning operation processes and playbooks across the lifecycle”  ·  “Pursuing a combination of the above approaches”</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Scaling Approach — Banking, by Institution Tier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Top 100 institutions already lean hardest on AI and automation; Large institutions rely more on hiring and outsourcing, today and in three years.</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Q8 / Q9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describes your current approach to scaling fraud/investigations operations? / Which area do you expect will receive the greatest focus over the next three years? (Today vs. 3-Year Focus)”</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49</a:t>
            </a:r>
            <a:endParaRPr lang="en-US" sz="900" dirty="0"/>
          </a:p>
        </p:txBody>
      </p:sp>
      <p:sp>
        <p:nvSpPr>
          <p:cNvPr id="7" name="Text 5"/>
          <p:cNvSpPr txBox="1"/>
          <p:nvPr/>
        </p:nvSpPr>
        <p:spPr>
          <a:xfrm>
            <a:off x="502006" y="1965960"/>
            <a:ext cx="5486400" cy="237744"/>
          </a:xfrm>
          <a:prstGeom prst="rect">
            <a:avLst/>
          </a:prstGeom>
          <a:noFill/>
          <a:ln/>
        </p:spPr>
        <p:txBody>
          <a:bodyPr wrap="square"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Top 100 Financial Institution (n=40)</a:t>
            </a:r>
            <a:endParaRPr lang="en-US" sz="1150" dirty="0"/>
          </a:p>
        </p:txBody>
      </p:sp>
      <p:graphicFrame>
        <p:nvGraphicFramePr>
          <p:cNvPr id="8" name="Chart 0" descr=""/>
          <p:cNvGraphicFramePr/>
          <p:nvPr/>
        </p:nvGraphicFramePr>
        <p:xfrm>
          <a:off x="502006" y="2240280"/>
          <a:ext cx="5486400" cy="28346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72200" y="1965960"/>
            <a:ext cx="5486400" cy="237744"/>
          </a:xfrm>
          <a:prstGeom prst="rect">
            <a:avLst/>
          </a:prstGeom>
          <a:noFill/>
          <a:ln/>
        </p:spPr>
        <p:txBody>
          <a:bodyPr wrap="square"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Large Financial Institution (n=35)</a:t>
            </a:r>
            <a:endParaRPr lang="en-US" sz="1150" dirty="0"/>
          </a:p>
        </p:txBody>
      </p:sp>
      <p:graphicFrame>
        <p:nvGraphicFramePr>
          <p:cNvPr id="10" name="Chart 1" descr=""/>
          <p:cNvGraphicFramePr/>
          <p:nvPr/>
        </p:nvGraphicFramePr>
        <p:xfrm>
          <a:off x="6172200" y="2240280"/>
          <a:ext cx="5486400" cy="283464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502006" y="5202936"/>
            <a:ext cx="11188598" cy="0"/>
          </a:xfrm>
          <a:prstGeom prst="line">
            <a:avLst/>
          </a:prstGeom>
          <a:noFill/>
          <a:ln w="9525">
            <a:solidFill>
              <a:srgbClr val="D0D0CE"/>
            </a:solidFill>
            <a:prstDash val="solid"/>
          </a:ln>
        </p:spPr>
      </p:sp>
      <p:sp>
        <p:nvSpPr>
          <p:cNvPr id="12" name="Text 8"/>
          <p:cNvSpPr txBox="1"/>
          <p:nvPr/>
        </p:nvSpPr>
        <p:spPr>
          <a:xfrm>
            <a:off x="502006" y="5276088"/>
            <a:ext cx="11188598" cy="777240"/>
          </a:xfrm>
          <a:prstGeom prst="rect">
            <a:avLst/>
          </a:prstGeom>
          <a:noFill/>
          <a:ln/>
        </p:spPr>
        <p:txBody>
          <a:bodyPr wrap="square" lIns="0" tIns="0" rIns="0" bIns="0" rtlCol="0" anchor="t"/>
          <a:lstStyle/>
          <a:p>
            <a:pPr algn="l" indent="0" marL="0">
              <a:lnSpc>
                <a:spcPct val="115000"/>
              </a:lnSpc>
              <a:buNone/>
            </a:pPr>
            <a:r>
              <a:rPr lang="en-US" sz="850" b="1" dirty="0">
                <a:solidFill>
                  <a:srgbClr val="53565A"/>
                </a:solidFill>
                <a:latin typeface="Calibri" pitchFamily="34" charset="0"/>
                <a:ea typeface="Calibri" pitchFamily="34" charset="-122"/>
                <a:cs typeface="Calibri" pitchFamily="34" charset="-120"/>
              </a:rPr>
              <a:t>Single select, asked twice. </a:t>
            </a:r>
            <a:pPr algn="l" indent="0" marL="0">
              <a:lnSpc>
                <a:spcPct val="115000"/>
              </a:lnSpc>
              <a:buNone/>
            </a:pPr>
            <a:r>
              <a:rPr lang="en-US" sz="850" dirty="0">
                <a:solidFill>
                  <a:srgbClr val="53565A"/>
                </a:solidFill>
                <a:latin typeface="Calibri" pitchFamily="34" charset="0"/>
                <a:ea typeface="Calibri" pitchFamily="34" charset="-122"/>
                <a:cs typeface="Calibri" pitchFamily="34" charset="-120"/>
              </a:rPr>
              <a:t>Institution tier is based on newS8, including 5 respondents reclassified from their employer description elsewhere in the survey (see the Q1 sector x tier slide for detail). Response options as fielded: </a:t>
            </a:r>
            <a:pPr algn="l" indent="0" marL="0">
              <a:lnSpc>
                <a:spcPct val="115000"/>
              </a:lnSpc>
              <a:buNone/>
            </a:pPr>
            <a:r>
              <a:rPr lang="en-US" sz="850" i="1" dirty="0">
                <a:solidFill>
                  <a:srgbClr val="53565A"/>
                </a:solidFill>
                <a:latin typeface="Calibri" pitchFamily="34" charset="0"/>
                <a:ea typeface="Calibri" pitchFamily="34" charset="-122"/>
                <a:cs typeface="Calibri" pitchFamily="34" charset="-120"/>
              </a:rPr>
              <a:t>“Adding capacity through hiring full-time employees and workforce expansion”  ·  “Adding capacity through outsourcing arrangements (e.g., contractors)”  ·  “Automating workflows and minimizing manual activities”  ·  “Augmenting existing capacity with AI-enabled tools”  ·  “Redesigning operation processes and playbooks across the lifecycle”  ·  “Pursuing a combination of the above approaches”</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Scaling Approach — Top 100 Financial Institutions,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Top 100 institutions in the U.S. lean hardest on AI both today and in three years; Canada shifts from automating workflows today toward AI over three years.</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Q8 / Q9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describes your current approach to scaling fraud/investigations operations? / Which area do you expect will receive the greatest focus over the next three years? (Banking — Top 100 only, by region)”</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50</a:t>
            </a:r>
            <a:endParaRPr lang="en-US" sz="900" dirty="0"/>
          </a:p>
        </p:txBody>
      </p:sp>
      <p:sp>
        <p:nvSpPr>
          <p:cNvPr id="7" name="Text 5"/>
          <p:cNvSpPr txBox="1"/>
          <p:nvPr/>
        </p:nvSpPr>
        <p:spPr>
          <a:xfrm>
            <a:off x="502006"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(n=14)</a:t>
            </a:r>
            <a:endParaRPr lang="en-US" sz="1050" dirty="0"/>
          </a:p>
        </p:txBody>
      </p:sp>
      <p:graphicFrame>
        <p:nvGraphicFramePr>
          <p:cNvPr id="8" name="Chart 0" descr=""/>
          <p:cNvGraphicFramePr/>
          <p:nvPr/>
        </p:nvGraphicFramePr>
        <p:xfrm>
          <a:off x="502006" y="2157984"/>
          <a:ext cx="3595421"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298594"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(n=13)</a:t>
            </a:r>
            <a:endParaRPr lang="en-US" sz="1050" dirty="0"/>
          </a:p>
        </p:txBody>
      </p:sp>
      <p:graphicFrame>
        <p:nvGraphicFramePr>
          <p:cNvPr id="10" name="Chart 1" descr=""/>
          <p:cNvGraphicFramePr/>
          <p:nvPr/>
        </p:nvGraphicFramePr>
        <p:xfrm>
          <a:off x="4298594" y="2157984"/>
          <a:ext cx="3595421"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8095183"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(n=7)</a:t>
            </a:r>
            <a:endParaRPr lang="en-US" sz="1050" dirty="0"/>
          </a:p>
        </p:txBody>
      </p:sp>
      <p:graphicFrame>
        <p:nvGraphicFramePr>
          <p:cNvPr id="12" name="Chart 2" descr=""/>
          <p:cNvGraphicFramePr/>
          <p:nvPr/>
        </p:nvGraphicFramePr>
        <p:xfrm>
          <a:off x="8095183" y="2157984"/>
          <a:ext cx="3595421"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502006"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(n=4)</a:t>
            </a:r>
            <a:endParaRPr lang="en-US" sz="1050" dirty="0"/>
          </a:p>
        </p:txBody>
      </p:sp>
      <p:graphicFrame>
        <p:nvGraphicFramePr>
          <p:cNvPr id="14" name="Chart 3" descr=""/>
          <p:cNvGraphicFramePr/>
          <p:nvPr/>
        </p:nvGraphicFramePr>
        <p:xfrm>
          <a:off x="502006" y="4087368"/>
          <a:ext cx="3595421" cy="1490472"/>
        </p:xfrm>
        <a:graphic xmlns:a="http://schemas.openxmlformats.org/drawingml/2006/main">
          <a:graphicData uri="http://schemas.openxmlformats.org/drawingml/2006/chart">
            <c:chart xmlns:c="http://schemas.openxmlformats.org/drawingml/2006/chart" r:id="rId4"/>
          </a:graphicData>
        </a:graphic>
      </p:graphicFrame>
      <p:sp>
        <p:nvSpPr>
          <p:cNvPr id="15" name="Text 9"/>
          <p:cNvSpPr txBox="1"/>
          <p:nvPr/>
        </p:nvSpPr>
        <p:spPr>
          <a:xfrm>
            <a:off x="4298594"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Singapore (n=2)</a:t>
            </a:r>
            <a:endParaRPr lang="en-US" sz="1050" dirty="0"/>
          </a:p>
        </p:txBody>
      </p:sp>
      <p:graphicFrame>
        <p:nvGraphicFramePr>
          <p:cNvPr id="16" name="Chart 4" descr=""/>
          <p:cNvGraphicFramePr/>
          <p:nvPr/>
        </p:nvGraphicFramePr>
        <p:xfrm>
          <a:off x="4298594" y="4087368"/>
          <a:ext cx="3595421" cy="1490472"/>
        </p:xfrm>
        <a:graphic xmlns:a="http://schemas.openxmlformats.org/drawingml/2006/main">
          <a:graphicData uri="http://schemas.openxmlformats.org/drawingml/2006/chart">
            <c:chart xmlns:c="http://schemas.openxmlformats.org/drawingml/2006/chart" r:id="rId5"/>
          </a:graphicData>
        </a:graphic>
      </p:graphicFrame>
      <p:sp>
        <p:nvSpPr>
          <p:cNvPr id="17" name="Shape 10"/>
          <p:cNvSpPr/>
          <p:nvPr/>
        </p:nvSpPr>
        <p:spPr>
          <a:xfrm>
            <a:off x="502006" y="5669280"/>
            <a:ext cx="11188598" cy="0"/>
          </a:xfrm>
          <a:prstGeom prst="line">
            <a:avLst/>
          </a:prstGeom>
          <a:noFill/>
          <a:ln w="9525">
            <a:solidFill>
              <a:srgbClr val="D0D0CE"/>
            </a:solidFill>
            <a:prstDash val="solid"/>
          </a:ln>
        </p:spPr>
      </p:sp>
      <p:sp>
        <p:nvSpPr>
          <p:cNvPr id="18" name="Text 11"/>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Single select, asked twice.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Green bars = current approach (Q8); deep-green bars = 3-year focus (Q9). Top 100 region sample sizes: US n=14, Canada n=13, Europe n=7, Australia n=4, Singapore n=2. Australia and Singapore are thin samples and should be read directionally, not precisely.</a:t>
            </a:r>
            <a:endParaRPr lang="en-US" sz="850" dirty="0"/>
          </a:p>
        </p:txBody>
      </p:sp>
      <p:sp>
        <p:nvSpPr>
          <p:cNvPr id="19" name="Text 12"/>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“Adding capacity through hiring full-time employees and workforce expansion”  ·  “Adding capacity through outsourcing arrangements (e.g., contractors)”  ·  “Automating workflows and minimizing manual activities”  ·  “Augmenting existing capacity with AI-enabled tools”  ·  “Redesigning operation processes and playbooks across the lifecycle”  ·  “Pursuing a combination of the above approaches”</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Scaling Approach — Large Financial Institutions,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Large institutions in the U.S. and Canada both lean on AI, but Canada's three-year focus stays there while the U.S. shifts toward hiring.</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Q8 / Q9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describes your current approach to scaling fraud/investigations operations? / Which area do you expect will receive the greatest focus over the next three years? (Banking — Large only, by region)”</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51</a:t>
            </a:r>
            <a:endParaRPr lang="en-US" sz="900" dirty="0"/>
          </a:p>
        </p:txBody>
      </p:sp>
      <p:sp>
        <p:nvSpPr>
          <p:cNvPr id="7" name="Text 5"/>
          <p:cNvSpPr txBox="1"/>
          <p:nvPr/>
        </p:nvSpPr>
        <p:spPr>
          <a:xfrm>
            <a:off x="502006"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(n=20)</a:t>
            </a:r>
            <a:endParaRPr lang="en-US" sz="1050" dirty="0"/>
          </a:p>
        </p:txBody>
      </p:sp>
      <p:graphicFrame>
        <p:nvGraphicFramePr>
          <p:cNvPr id="8" name="Chart 0" descr=""/>
          <p:cNvGraphicFramePr/>
          <p:nvPr/>
        </p:nvGraphicFramePr>
        <p:xfrm>
          <a:off x="502006" y="2157984"/>
          <a:ext cx="3595421"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298594"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(n=5)</a:t>
            </a:r>
            <a:endParaRPr lang="en-US" sz="1050" dirty="0"/>
          </a:p>
        </p:txBody>
      </p:sp>
      <p:graphicFrame>
        <p:nvGraphicFramePr>
          <p:cNvPr id="10" name="Chart 1" descr=""/>
          <p:cNvGraphicFramePr/>
          <p:nvPr/>
        </p:nvGraphicFramePr>
        <p:xfrm>
          <a:off x="4298594" y="2157984"/>
          <a:ext cx="3595421"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8095183"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(n=5)</a:t>
            </a:r>
            <a:endParaRPr lang="en-US" sz="1050" dirty="0"/>
          </a:p>
        </p:txBody>
      </p:sp>
      <p:graphicFrame>
        <p:nvGraphicFramePr>
          <p:cNvPr id="12" name="Chart 2" descr=""/>
          <p:cNvGraphicFramePr/>
          <p:nvPr/>
        </p:nvGraphicFramePr>
        <p:xfrm>
          <a:off x="8095183" y="2157984"/>
          <a:ext cx="3595421"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502006"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(n=3)</a:t>
            </a:r>
            <a:endParaRPr lang="en-US" sz="1050" dirty="0"/>
          </a:p>
        </p:txBody>
      </p:sp>
      <p:graphicFrame>
        <p:nvGraphicFramePr>
          <p:cNvPr id="14" name="Chart 3" descr=""/>
          <p:cNvGraphicFramePr/>
          <p:nvPr/>
        </p:nvGraphicFramePr>
        <p:xfrm>
          <a:off x="502006" y="4087368"/>
          <a:ext cx="3595421" cy="1490472"/>
        </p:xfrm>
        <a:graphic xmlns:a="http://schemas.openxmlformats.org/drawingml/2006/main">
          <a:graphicData uri="http://schemas.openxmlformats.org/drawingml/2006/chart">
            <c:chart xmlns:c="http://schemas.openxmlformats.org/drawingml/2006/chart" r:id="rId4"/>
          </a:graphicData>
        </a:graphic>
      </p:graphicFrame>
      <p:sp>
        <p:nvSpPr>
          <p:cNvPr id="15" name="Text 9"/>
          <p:cNvSpPr txBox="1"/>
          <p:nvPr/>
        </p:nvSpPr>
        <p:spPr>
          <a:xfrm>
            <a:off x="4298594"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Singapore (n=2)</a:t>
            </a:r>
            <a:endParaRPr lang="en-US" sz="1050" dirty="0"/>
          </a:p>
        </p:txBody>
      </p:sp>
      <p:graphicFrame>
        <p:nvGraphicFramePr>
          <p:cNvPr id="16" name="Chart 4" descr=""/>
          <p:cNvGraphicFramePr/>
          <p:nvPr/>
        </p:nvGraphicFramePr>
        <p:xfrm>
          <a:off x="4298594" y="4087368"/>
          <a:ext cx="3595421" cy="1490472"/>
        </p:xfrm>
        <a:graphic xmlns:a="http://schemas.openxmlformats.org/drawingml/2006/main">
          <a:graphicData uri="http://schemas.openxmlformats.org/drawingml/2006/chart">
            <c:chart xmlns:c="http://schemas.openxmlformats.org/drawingml/2006/chart" r:id="rId5"/>
          </a:graphicData>
        </a:graphic>
      </p:graphicFrame>
      <p:sp>
        <p:nvSpPr>
          <p:cNvPr id="17" name="Shape 10"/>
          <p:cNvSpPr/>
          <p:nvPr/>
        </p:nvSpPr>
        <p:spPr>
          <a:xfrm>
            <a:off x="502006" y="5669280"/>
            <a:ext cx="11188598" cy="0"/>
          </a:xfrm>
          <a:prstGeom prst="line">
            <a:avLst/>
          </a:prstGeom>
          <a:noFill/>
          <a:ln w="9525">
            <a:solidFill>
              <a:srgbClr val="D0D0CE"/>
            </a:solidFill>
            <a:prstDash val="solid"/>
          </a:ln>
        </p:spPr>
      </p:sp>
      <p:sp>
        <p:nvSpPr>
          <p:cNvPr id="18" name="Text 11"/>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Single select, asked twice.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Green bars = current approach (Q8); deep-green bars = 3-year focus (Q9). Large Financial Institution region sample sizes: US n=20, Canada n=5, Europe n=5, Australia n=3, Singapore n=2. Canada, Europe, Australia, and Singapore are thin samples and should be read directionally, not precisely.</a:t>
            </a:r>
            <a:endParaRPr lang="en-US" sz="850" dirty="0"/>
          </a:p>
        </p:txBody>
      </p:sp>
      <p:sp>
        <p:nvSpPr>
          <p:cNvPr id="19" name="Text 12"/>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“Adding capacity through hiring full-time employees and workforce expansion”  ·  “Adding capacity through outsourcing arrangements (e.g., contractors)”  ·  “Automating workflows and minimizing manual activities”  ·  “Augmenting existing capacity with AI-enabled tools”  ·  “Redesigning operation processes and playbooks across the lifecycle”  ·  “Pursuing a combination of the above approaches”</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86BC25"/>
        </a:solidFill>
      </p:bgPr>
    </p:bg>
    <p:spTree>
      <p:nvGrpSpPr>
        <p:cNvPr id="1" name=""/>
        <p:cNvGrpSpPr/>
        <p:nvPr/>
      </p:nvGrpSpPr>
      <p:grpSpPr>
        <a:xfrm>
          <a:off x="0" y="0"/>
          <a:ext cx="0" cy="0"/>
          <a:chOff x="0" y="0"/>
          <a:chExt cx="0" cy="0"/>
        </a:xfrm>
      </p:grpSpPr>
      <p:sp>
        <p:nvSpPr>
          <p:cNvPr id="2" name="Text 0"/>
          <p:cNvSpPr txBox="1"/>
          <p:nvPr/>
        </p:nvSpPr>
        <p:spPr>
          <a:xfrm>
            <a:off x="502920" y="1699870"/>
            <a:ext cx="10415016" cy="1591970"/>
          </a:xfrm>
          <a:prstGeom prst="rect">
            <a:avLst/>
          </a:prstGeom>
          <a:noFill/>
          <a:ln/>
        </p:spPr>
        <p:txBody>
          <a:bodyPr wrap="square" lIns="0" tIns="0" rIns="0" bIns="0" rtlCol="0" anchor="b"/>
          <a:lstStyle/>
          <a:p>
            <a:pPr algn="l" indent="0" marL="0">
              <a:buNone/>
            </a:pPr>
            <a:r>
              <a:rPr lang="en-US" sz="3600" b="1" dirty="0">
                <a:solidFill>
                  <a:srgbClr val="FFFFFF"/>
                </a:solidFill>
                <a:latin typeface="Calibri" pitchFamily="34" charset="0"/>
                <a:ea typeface="Calibri" pitchFamily="34" charset="-122"/>
                <a:cs typeface="Calibri" pitchFamily="34" charset="-120"/>
              </a:rPr>
              <a:t>5. Regulatory &amp; Market Change</a:t>
            </a:r>
            <a:endParaRPr lang="en-US" sz="3600" dirty="0"/>
          </a:p>
        </p:txBody>
      </p:sp>
      <p:sp>
        <p:nvSpPr>
          <p:cNvPr id="3" name="Text 1"/>
          <p:cNvSpPr txBox="1"/>
          <p:nvPr/>
        </p:nvSpPr>
        <p:spPr>
          <a:xfrm>
            <a:off x="502920" y="3423514"/>
            <a:ext cx="10415016" cy="1563624"/>
          </a:xfrm>
          <a:prstGeom prst="rect">
            <a:avLst/>
          </a:prstGeom>
          <a:noFill/>
          <a:ln/>
        </p:spPr>
        <p:txBody>
          <a:bodyPr wrap="square" lIns="0" tIns="0" rIns="0" bIns="0" rtlCol="0" anchor="t"/>
          <a:lstStyle/>
          <a:p>
            <a:pPr algn="l" indent="0" marL="0">
              <a:lnSpc>
                <a:spcPct val="110000"/>
              </a:lnSpc>
              <a:buNone/>
            </a:pPr>
            <a:r>
              <a:rPr lang="en-US" sz="1600" dirty="0">
                <a:solidFill>
                  <a:srgbClr val="FFFFFF"/>
                </a:solidFill>
                <a:latin typeface="Calibri" pitchFamily="34" charset="0"/>
                <a:ea typeface="Calibri" pitchFamily="34" charset="-122"/>
                <a:cs typeface="Calibri" pitchFamily="34" charset="-120"/>
              </a:rPr>
              <a:t>Where fraud investment is really going, and the disruption leaders see coming next.</a:t>
            </a:r>
            <a:endParaRPr lang="en-US" sz="1600" dirty="0"/>
          </a:p>
        </p:txBody>
      </p:sp>
      <p:sp>
        <p:nvSpPr>
          <p:cNvPr id="4" name="Text 2"/>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Fraud Investment Relative to Regulatory Requirements</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Most fraud spending today is about fixing past problems, not getting ahead of new ones.</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Q10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reflects how your organization is allocating fraud-related investment in response to regulatory and compliance requirements?”</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53</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Single select.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“Primarily investing to meet upcoming and draft regulatory requirements”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“Primarily investing to remediate existing compliance and control gaps”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“Regulatory requirements are not a primary driver of fraud-related investment”</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Fraud Investment Relative to Regulatory Requirements —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The remediation-first pattern holds broadly across markets, though Canada and Australia lean hardest toward fixing existing gaps while Europe and Singapore lean toward upcoming rules.</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Q10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reflects how your organization is allocating fraud-related investment in response to regulatory and compliance requirements? (by region, all respondents)”</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54</a:t>
            </a:r>
            <a:endParaRPr lang="en-US" sz="900" dirty="0"/>
          </a:p>
        </p:txBody>
      </p:sp>
      <p:sp>
        <p:nvSpPr>
          <p:cNvPr id="7" name="Text 5"/>
          <p:cNvSpPr txBox="1"/>
          <p:nvPr/>
        </p:nvSpPr>
        <p:spPr>
          <a:xfrm>
            <a:off x="502006"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(n=44)</a:t>
            </a:r>
            <a:endParaRPr lang="en-US" sz="1050" dirty="0"/>
          </a:p>
        </p:txBody>
      </p:sp>
      <p:graphicFrame>
        <p:nvGraphicFramePr>
          <p:cNvPr id="8" name="Chart 0" descr=""/>
          <p:cNvGraphicFramePr/>
          <p:nvPr/>
        </p:nvGraphicFramePr>
        <p:xfrm>
          <a:off x="502006" y="2157984"/>
          <a:ext cx="3595421"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298594"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(n=30)</a:t>
            </a:r>
            <a:endParaRPr lang="en-US" sz="1050" dirty="0"/>
          </a:p>
        </p:txBody>
      </p:sp>
      <p:graphicFrame>
        <p:nvGraphicFramePr>
          <p:cNvPr id="10" name="Chart 1" descr=""/>
          <p:cNvGraphicFramePr/>
          <p:nvPr/>
        </p:nvGraphicFramePr>
        <p:xfrm>
          <a:off x="4298594" y="2157984"/>
          <a:ext cx="3595421"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8095183"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(n=14)</a:t>
            </a:r>
            <a:endParaRPr lang="en-US" sz="1050" dirty="0"/>
          </a:p>
        </p:txBody>
      </p:sp>
      <p:graphicFrame>
        <p:nvGraphicFramePr>
          <p:cNvPr id="12" name="Chart 2" descr=""/>
          <p:cNvGraphicFramePr/>
          <p:nvPr/>
        </p:nvGraphicFramePr>
        <p:xfrm>
          <a:off x="8095183" y="2157984"/>
          <a:ext cx="3595421"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502006"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(n=8)</a:t>
            </a:r>
            <a:endParaRPr lang="en-US" sz="1050" dirty="0"/>
          </a:p>
        </p:txBody>
      </p:sp>
      <p:graphicFrame>
        <p:nvGraphicFramePr>
          <p:cNvPr id="14" name="Chart 3" descr=""/>
          <p:cNvGraphicFramePr/>
          <p:nvPr/>
        </p:nvGraphicFramePr>
        <p:xfrm>
          <a:off x="502006" y="4087368"/>
          <a:ext cx="3595421" cy="1490472"/>
        </p:xfrm>
        <a:graphic xmlns:a="http://schemas.openxmlformats.org/drawingml/2006/main">
          <a:graphicData uri="http://schemas.openxmlformats.org/drawingml/2006/chart">
            <c:chart xmlns:c="http://schemas.openxmlformats.org/drawingml/2006/chart" r:id="rId4"/>
          </a:graphicData>
        </a:graphic>
      </p:graphicFrame>
      <p:sp>
        <p:nvSpPr>
          <p:cNvPr id="15" name="Text 9"/>
          <p:cNvSpPr txBox="1"/>
          <p:nvPr/>
        </p:nvSpPr>
        <p:spPr>
          <a:xfrm>
            <a:off x="4298594"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Singapore (n=4)</a:t>
            </a:r>
            <a:endParaRPr lang="en-US" sz="1050" dirty="0"/>
          </a:p>
        </p:txBody>
      </p:sp>
      <p:graphicFrame>
        <p:nvGraphicFramePr>
          <p:cNvPr id="16" name="Chart 4" descr=""/>
          <p:cNvGraphicFramePr/>
          <p:nvPr/>
        </p:nvGraphicFramePr>
        <p:xfrm>
          <a:off x="4298594" y="4087368"/>
          <a:ext cx="3595421" cy="1490472"/>
        </p:xfrm>
        <a:graphic xmlns:a="http://schemas.openxmlformats.org/drawingml/2006/main">
          <a:graphicData uri="http://schemas.openxmlformats.org/drawingml/2006/chart">
            <c:chart xmlns:c="http://schemas.openxmlformats.org/drawingml/2006/chart" r:id="rId5"/>
          </a:graphicData>
        </a:graphic>
      </p:graphicFrame>
      <p:sp>
        <p:nvSpPr>
          <p:cNvPr id="17" name="Shape 10"/>
          <p:cNvSpPr/>
          <p:nvPr/>
        </p:nvSpPr>
        <p:spPr>
          <a:xfrm>
            <a:off x="502006" y="5669280"/>
            <a:ext cx="11188598" cy="0"/>
          </a:xfrm>
          <a:prstGeom prst="line">
            <a:avLst/>
          </a:prstGeom>
          <a:noFill/>
          <a:ln w="9525">
            <a:solidFill>
              <a:srgbClr val="D0D0CE"/>
            </a:solidFill>
            <a:prstDash val="solid"/>
          </a:ln>
        </p:spPr>
      </p:sp>
      <p:sp>
        <p:nvSpPr>
          <p:cNvPr id="18" name="Text 11"/>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Single select.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Region sample sizes: US n=44, Canada n=30, Europe n=14, Australia n=8, Singapore n=4. Australia and Singapore are thin samples and should be read directionally, not precisely.</a:t>
            </a:r>
            <a:endParaRPr lang="en-US" sz="850" dirty="0"/>
          </a:p>
        </p:txBody>
      </p:sp>
      <p:sp>
        <p:nvSpPr>
          <p:cNvPr id="19" name="Text 12"/>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“Primarily investing to meet upcoming and draft regulatory requirements”  ·  “Primarily investing to remediate existing compliance and control gaps”  ·  “Regulatory requirements are not a primary driver of fraud-related investment”</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Regulatory Investment Focus — Insurance, by Institution Tier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Large Insurance Carriers lean hardest into remediation; Top 50 carriers split more evenly toward getting ahead of upcoming rules.</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Q10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reflects how your organization is allocating fraud-related investment in response to regulatory and compliance requirements? (Insurance only, by institution tier)”</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55</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Single select. Institution tier based on S9; 1 respondent who did not directly answer was classified as Large Insurance Carrier from their employer description elsewhere in the survey (Large is n=10 = 9 direct + 1 reclassified).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“Primarily investing to meet upcoming and draft regulatory requirements”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“Primarily investing to remediate existing compliance and control gaps”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“Regulatory requirements are not a primary driver of fraud-related investment”</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Regulatory Investment Focus — Banking, by Institution Tier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Large Financial Institutions skew further toward remediation than Top 100 banks, who are closer to an even split.</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Q10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statement best reflects how your organization is allocating fraud-related investment in response to regulatory and compliance requirements? (Banking only, by institution tier)”</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56</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Single select. Institution tier based on newS8; 5 respondents who did not directly answer were classified as Top 100 from their employer description elsewhere in the survey (Top 100 is n=40 = 35 direct + 5 reclassified).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“Primarily investing to meet upcoming and draft regulatory requirements”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“Primarily investing to remediate existing compliance and control gaps”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“Regulatory requirements are not a primary driver of fraud-related investment”</a:t>
            </a:r>
            <a:endParaRPr lang="en-US" sz="8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Upcoming Regulatory / Market Change With Greatest Expected Impact</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Identity and authentication tops a close three-way race for the next big disruption.</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Q11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upcoming regulatory or market changes is expected to have the greatest impact on your fraud program?”</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57</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Ranked top 3 — shown as % of respondents who placed the option anywhere in their top 3 (not mutually exclusive; bars don't sum to 100%).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“Payment innovation and adoption (e.g., real-time payments, stable coins, agentic payments)”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“Liability and reimbursement changes”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“Open Banking / Consumer-driven banking initiatives”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“AML related modernization initiatives”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“Privacy, data-sharing requirements, and AI governance requirements”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“Customer identity, authentication, and digital trust expectations”</a:t>
            </a:r>
            <a:endParaRPr lang="en-US" sz="8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Upcoming Regulatory / Market Change — By Sector</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Insurance leans far more heavily on payment innovation and liability changes than Banking; Banking leans relatively more on AML modernization and Open Banking.</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Q11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upcoming regulatory or market changes is expected to have the greatest impact on your fraud program? (Banking vs. Insurance)”</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58</a:t>
            </a:r>
            <a:endParaRPr lang="en-US" sz="900" dirty="0"/>
          </a:p>
        </p:txBody>
      </p:sp>
      <p:graphicFrame>
        <p:nvGraphicFramePr>
          <p:cNvPr id="7" name="Chart 0" descr=""/>
          <p:cNvGraphicFramePr/>
          <p:nvPr/>
        </p:nvGraphicFramePr>
        <p:xfrm>
          <a:off x="502006" y="2011680"/>
          <a:ext cx="11188598"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006" y="5202936"/>
            <a:ext cx="11188598" cy="0"/>
          </a:xfrm>
          <a:prstGeom prst="line">
            <a:avLst/>
          </a:prstGeom>
          <a:noFill/>
          <a:ln w="9525">
            <a:solidFill>
              <a:srgbClr val="D0D0CE"/>
            </a:solidFill>
            <a:prstDash val="solid"/>
          </a:ln>
        </p:spPr>
      </p:sp>
      <p:sp>
        <p:nvSpPr>
          <p:cNvPr id="9" name="Text 6"/>
          <p:cNvSpPr txBox="1"/>
          <p:nvPr/>
        </p:nvSpPr>
        <p:spPr>
          <a:xfrm>
            <a:off x="502006" y="5276088"/>
            <a:ext cx="11188598" cy="886968"/>
          </a:xfrm>
          <a:prstGeom prst="rect">
            <a:avLst/>
          </a:prstGeom>
          <a:noFill/>
          <a:ln/>
        </p:spPr>
        <p:txBody>
          <a:bodyPr wrap="square" lIns="0" tIns="0" rIns="0" bIns="0" rtlCol="0" anchor="t"/>
          <a:lstStyle/>
          <a:p>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Ranked top 3 — figures don't sum to 100%.  </a:t>
            </a:r>
            <a:pPr algn="l" indent="0" marL="0">
              <a:lnSpc>
                <a:spcPct val="118000"/>
              </a:lnSpc>
              <a:buNone/>
            </a:pPr>
            <a:r>
              <a:rPr lang="en-US" sz="850" b="1" dirty="0">
                <a:solidFill>
                  <a:srgbClr val="53565A"/>
                </a:solidFill>
                <a:latin typeface="Calibri" pitchFamily="34" charset="0"/>
                <a:ea typeface="Calibri" pitchFamily="34" charset="-122"/>
                <a:cs typeface="Calibri" pitchFamily="34" charset="-120"/>
              </a:rPr>
              <a:t>Response options as fielded: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“Payment innovation and adoption (e.g., real-time payments, stable coins, agentic payments)”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“Liability and reimbursement changes”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“Open Banking / Consumer-driven banking initiatives”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“AML related modernization initiatives”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“Privacy, data-sharing requirements, and AI governance requirements”</a:t>
            </a:r>
            <a:pPr algn="l" indent="0" marL="0">
              <a:lnSpc>
                <a:spcPct val="118000"/>
              </a:lnSpc>
              <a:buNone/>
            </a:pPr>
            <a:r>
              <a:rPr lang="en-US" sz="850" dirty="0">
                <a:solidFill>
                  <a:srgbClr val="D0D0CE"/>
                </a:solidFill>
                <a:latin typeface="Calibri" pitchFamily="34" charset="0"/>
                <a:ea typeface="Calibri" pitchFamily="34" charset="-122"/>
                <a:cs typeface="Calibri" pitchFamily="34" charset="-120"/>
              </a:rPr>
              <a:t>  ·  </a:t>
            </a:r>
            <a:pPr algn="l" indent="0" marL="0">
              <a:lnSpc>
                <a:spcPct val="118000"/>
              </a:lnSpc>
              <a:buNone/>
            </a:pPr>
            <a:r>
              <a:rPr lang="en-US" sz="850" i="1" dirty="0">
                <a:solidFill>
                  <a:srgbClr val="53565A"/>
                </a:solidFill>
                <a:latin typeface="Calibri" pitchFamily="34" charset="0"/>
                <a:ea typeface="Calibri" pitchFamily="34" charset="-122"/>
                <a:cs typeface="Calibri" pitchFamily="34" charset="-120"/>
              </a:rPr>
              <a:t>“Customer identity, authentication, and digital trust expectations”</a:t>
            </a:r>
            <a:endParaRPr lang="en-US" sz="8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Upcoming Regulatory / Market Change — By Region</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Identity and privacy concerns dominate across every market; Singapore and Canada stand out for prioritizing payment innovation and Open Banking well above their peers.</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Q11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“Which upcoming regulatory or market changes is expected to have the greatest impact on your fraud program? (by region, all respondents)”</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59</a:t>
            </a:r>
            <a:endParaRPr lang="en-US" sz="900" dirty="0"/>
          </a:p>
        </p:txBody>
      </p:sp>
      <p:sp>
        <p:nvSpPr>
          <p:cNvPr id="7" name="Text 5"/>
          <p:cNvSpPr txBox="1"/>
          <p:nvPr/>
        </p:nvSpPr>
        <p:spPr>
          <a:xfrm>
            <a:off x="502006"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United States (n=44)</a:t>
            </a:r>
            <a:endParaRPr lang="en-US" sz="1050" dirty="0"/>
          </a:p>
        </p:txBody>
      </p:sp>
      <p:graphicFrame>
        <p:nvGraphicFramePr>
          <p:cNvPr id="8" name="Chart 0" descr=""/>
          <p:cNvGraphicFramePr/>
          <p:nvPr/>
        </p:nvGraphicFramePr>
        <p:xfrm>
          <a:off x="502006" y="2157984"/>
          <a:ext cx="3595421" cy="1490472"/>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298594"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Canada (n=30)</a:t>
            </a:r>
            <a:endParaRPr lang="en-US" sz="1050" dirty="0"/>
          </a:p>
        </p:txBody>
      </p:sp>
      <p:graphicFrame>
        <p:nvGraphicFramePr>
          <p:cNvPr id="10" name="Chart 1" descr=""/>
          <p:cNvGraphicFramePr/>
          <p:nvPr/>
        </p:nvGraphicFramePr>
        <p:xfrm>
          <a:off x="4298594" y="2157984"/>
          <a:ext cx="3595421" cy="1490472"/>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8095183" y="1920240"/>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Europe (EU + UK) (n=14)</a:t>
            </a:r>
            <a:endParaRPr lang="en-US" sz="1050" dirty="0"/>
          </a:p>
        </p:txBody>
      </p:sp>
      <p:graphicFrame>
        <p:nvGraphicFramePr>
          <p:cNvPr id="12" name="Chart 2" descr=""/>
          <p:cNvGraphicFramePr/>
          <p:nvPr/>
        </p:nvGraphicFramePr>
        <p:xfrm>
          <a:off x="8095183" y="2157984"/>
          <a:ext cx="3595421" cy="1490472"/>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502006"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Australia (n=8)</a:t>
            </a:r>
            <a:endParaRPr lang="en-US" sz="1050" dirty="0"/>
          </a:p>
        </p:txBody>
      </p:sp>
      <p:graphicFrame>
        <p:nvGraphicFramePr>
          <p:cNvPr id="14" name="Chart 3" descr=""/>
          <p:cNvGraphicFramePr/>
          <p:nvPr/>
        </p:nvGraphicFramePr>
        <p:xfrm>
          <a:off x="502006" y="4087368"/>
          <a:ext cx="3595421" cy="1490472"/>
        </p:xfrm>
        <a:graphic xmlns:a="http://schemas.openxmlformats.org/drawingml/2006/main">
          <a:graphicData uri="http://schemas.openxmlformats.org/drawingml/2006/chart">
            <c:chart xmlns:c="http://schemas.openxmlformats.org/drawingml/2006/chart" r:id="rId4"/>
          </a:graphicData>
        </a:graphic>
      </p:graphicFrame>
      <p:sp>
        <p:nvSpPr>
          <p:cNvPr id="15" name="Text 9"/>
          <p:cNvSpPr txBox="1"/>
          <p:nvPr/>
        </p:nvSpPr>
        <p:spPr>
          <a:xfrm>
            <a:off x="4298594" y="3849624"/>
            <a:ext cx="3595421"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Singapore (n=4)</a:t>
            </a:r>
            <a:endParaRPr lang="en-US" sz="1050" dirty="0"/>
          </a:p>
        </p:txBody>
      </p:sp>
      <p:graphicFrame>
        <p:nvGraphicFramePr>
          <p:cNvPr id="16" name="Chart 4" descr=""/>
          <p:cNvGraphicFramePr/>
          <p:nvPr/>
        </p:nvGraphicFramePr>
        <p:xfrm>
          <a:off x="4298594" y="4087368"/>
          <a:ext cx="3595421" cy="1490472"/>
        </p:xfrm>
        <a:graphic xmlns:a="http://schemas.openxmlformats.org/drawingml/2006/main">
          <a:graphicData uri="http://schemas.openxmlformats.org/drawingml/2006/chart">
            <c:chart xmlns:c="http://schemas.openxmlformats.org/drawingml/2006/chart" r:id="rId5"/>
          </a:graphicData>
        </a:graphic>
      </p:graphicFrame>
      <p:sp>
        <p:nvSpPr>
          <p:cNvPr id="17" name="Shape 10"/>
          <p:cNvSpPr/>
          <p:nvPr/>
        </p:nvSpPr>
        <p:spPr>
          <a:xfrm>
            <a:off x="502006" y="5669280"/>
            <a:ext cx="11188598" cy="0"/>
          </a:xfrm>
          <a:prstGeom prst="line">
            <a:avLst/>
          </a:prstGeom>
          <a:noFill/>
          <a:ln w="9525">
            <a:solidFill>
              <a:srgbClr val="D0D0CE"/>
            </a:solidFill>
            <a:prstDash val="solid"/>
          </a:ln>
        </p:spPr>
      </p:sp>
      <p:sp>
        <p:nvSpPr>
          <p:cNvPr id="18" name="Text 11"/>
          <p:cNvSpPr txBox="1"/>
          <p:nvPr/>
        </p:nvSpPr>
        <p:spPr>
          <a:xfrm>
            <a:off x="502006" y="5724144"/>
            <a:ext cx="11188598" cy="329184"/>
          </a:xfrm>
          <a:prstGeom prst="rect">
            <a:avLst/>
          </a:prstGeom>
          <a:noFill/>
          <a:ln/>
        </p:spPr>
        <p:txBody>
          <a:bodyPr wrap="square" lIns="0" tIns="0" rIns="0" bIns="0" rtlCol="0" anchor="t"/>
          <a:lstStyle/>
          <a:p>
            <a:pPr algn="l" indent="0" marL="0">
              <a:lnSpc>
                <a:spcPct val="110000"/>
              </a:lnSpc>
              <a:buNone/>
            </a:pPr>
            <a:r>
              <a:rPr lang="en-US" sz="850" b="1" dirty="0">
                <a:solidFill>
                  <a:srgbClr val="53565A"/>
                </a:solidFill>
                <a:latin typeface="Calibri" pitchFamily="34" charset="0"/>
                <a:ea typeface="Calibri" pitchFamily="34" charset="-122"/>
                <a:cs typeface="Calibri" pitchFamily="34" charset="-120"/>
              </a:rPr>
              <a:t>Ranked top 3 — figures don't sum to 100%. </a:t>
            </a:r>
            <a:pPr algn="l" indent="0" marL="0">
              <a:lnSpc>
                <a:spcPct val="110000"/>
              </a:lnSpc>
              <a:buNone/>
            </a:pPr>
            <a:r>
              <a:rPr lang="en-US" sz="850" dirty="0">
                <a:solidFill>
                  <a:srgbClr val="53565A"/>
                </a:solidFill>
                <a:latin typeface="Calibri" pitchFamily="34" charset="0"/>
                <a:ea typeface="Calibri" pitchFamily="34" charset="-122"/>
                <a:cs typeface="Calibri" pitchFamily="34" charset="-120"/>
              </a:rPr>
              <a:t>Region sample sizes: US n=44, Canada n=30, Europe n=14, Australia n=8, Singapore n=4. Australia and Singapore are thin samples and should be read directionally, not precisely.</a:t>
            </a:r>
            <a:endParaRPr lang="en-US" sz="850" dirty="0"/>
          </a:p>
        </p:txBody>
      </p:sp>
      <p:sp>
        <p:nvSpPr>
          <p:cNvPr id="19" name="Text 12"/>
          <p:cNvSpPr txBox="1"/>
          <p:nvPr/>
        </p:nvSpPr>
        <p:spPr>
          <a:xfrm>
            <a:off x="502006" y="6053328"/>
            <a:ext cx="11188598" cy="384048"/>
          </a:xfrm>
          <a:prstGeom prst="rect">
            <a:avLst/>
          </a:prstGeom>
          <a:noFill/>
          <a:ln/>
        </p:spPr>
        <p:txBody>
          <a:bodyPr wrap="square" lIns="0" tIns="0" rIns="0" bIns="0" rtlCol="0" anchor="t"/>
          <a:lstStyle/>
          <a:p>
            <a:pPr algn="l" indent="0" marL="0">
              <a:lnSpc>
                <a:spcPct val="108000"/>
              </a:lnSpc>
              <a:buNone/>
            </a:pPr>
            <a:r>
              <a:rPr lang="en-US" sz="800" b="1" dirty="0">
                <a:solidFill>
                  <a:srgbClr val="53565A"/>
                </a:solidFill>
                <a:latin typeface="Calibri" pitchFamily="34" charset="0"/>
                <a:ea typeface="Calibri" pitchFamily="34" charset="-122"/>
                <a:cs typeface="Calibri" pitchFamily="34" charset="-120"/>
              </a:rPr>
              <a:t>Response options as fielded: </a:t>
            </a:r>
            <a:pPr algn="l" indent="0" marL="0">
              <a:lnSpc>
                <a:spcPct val="108000"/>
              </a:lnSpc>
              <a:buNone/>
            </a:pPr>
            <a:r>
              <a:rPr lang="en-US" sz="750" i="1" dirty="0">
                <a:solidFill>
                  <a:srgbClr val="53565A"/>
                </a:solidFill>
                <a:latin typeface="Calibri" pitchFamily="34" charset="0"/>
                <a:ea typeface="Calibri" pitchFamily="34" charset="-122"/>
                <a:cs typeface="Calibri" pitchFamily="34" charset="-120"/>
              </a:rPr>
              <a:t>“Payment innovation and adoption (e.g., real-time payments, stable coins, agentic payments)”  ·  “Liability and reimbursement changes”  ·  “Open Banking / Consumer-driven banking initiatives”  ·  “AML related modernization initiatives”  ·  “Privacy, data-sharing requirements, and AI governance requirements”  ·  “Customer identity, authentication, and digital trust expectations”</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86BC25"/>
        </a:solidFill>
      </p:bgPr>
    </p:bg>
    <p:spTree>
      <p:nvGrpSpPr>
        <p:cNvPr id="1" name=""/>
        <p:cNvGrpSpPr/>
        <p:nvPr/>
      </p:nvGrpSpPr>
      <p:grpSpPr>
        <a:xfrm>
          <a:off x="0" y="0"/>
          <a:ext cx="0" cy="0"/>
          <a:chOff x="0" y="0"/>
          <a:chExt cx="0" cy="0"/>
        </a:xfrm>
      </p:grpSpPr>
      <p:sp>
        <p:nvSpPr>
          <p:cNvPr id="2" name="Text 0"/>
          <p:cNvSpPr txBox="1"/>
          <p:nvPr/>
        </p:nvSpPr>
        <p:spPr>
          <a:xfrm>
            <a:off x="502920" y="1699870"/>
            <a:ext cx="10415016" cy="1591970"/>
          </a:xfrm>
          <a:prstGeom prst="rect">
            <a:avLst/>
          </a:prstGeom>
          <a:noFill/>
          <a:ln/>
        </p:spPr>
        <p:txBody>
          <a:bodyPr wrap="square" lIns="0" tIns="0" rIns="0" bIns="0" rtlCol="0" anchor="b"/>
          <a:lstStyle/>
          <a:p>
            <a:pPr algn="l" indent="0" marL="0">
              <a:buNone/>
            </a:pPr>
            <a:r>
              <a:rPr lang="en-US" sz="3600" b="1" dirty="0">
                <a:solidFill>
                  <a:srgbClr val="FFFFFF"/>
                </a:solidFill>
                <a:latin typeface="Calibri" pitchFamily="34" charset="0"/>
                <a:ea typeface="Calibri" pitchFamily="34" charset="-122"/>
                <a:cs typeface="Calibri" pitchFamily="34" charset="-120"/>
              </a:rPr>
              <a:t>6. Looking Ahead Three Years</a:t>
            </a:r>
            <a:endParaRPr lang="en-US" sz="3600" dirty="0"/>
          </a:p>
        </p:txBody>
      </p:sp>
      <p:sp>
        <p:nvSpPr>
          <p:cNvPr id="3" name="Text 1"/>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56032"/>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What Leaders Say, Unprompted</a:t>
            </a:r>
            <a:endParaRPr lang="en-US" sz="1900" dirty="0"/>
          </a:p>
        </p:txBody>
      </p:sp>
      <p:sp>
        <p:nvSpPr>
          <p:cNvPr id="3" name="Text 1"/>
          <p:cNvSpPr txBox="1"/>
          <p:nvPr/>
        </p:nvSpPr>
        <p:spPr>
          <a:xfrm>
            <a:off x="502006" y="585216"/>
            <a:ext cx="11188598" cy="713232"/>
          </a:xfrm>
          <a:prstGeom prst="rect">
            <a:avLst/>
          </a:prstGeom>
          <a:noFill/>
          <a:ln/>
        </p:spPr>
        <p:txBody>
          <a:bodyPr wrap="square" lIns="0" tIns="0" rIns="0" bIns="0" rtlCol="0" anchor="t"/>
          <a:lstStyle/>
          <a:p>
            <a:pPr algn="l" indent="0" marL="0">
              <a:lnSpc>
                <a:spcPct val="105000"/>
              </a:lnSpc>
              <a:buNone/>
            </a:pPr>
            <a:r>
              <a:rPr lang="en-US" sz="1350" b="1" dirty="0">
                <a:solidFill>
                  <a:srgbClr val="046A38"/>
                </a:solidFill>
                <a:latin typeface="Calibri" pitchFamily="34" charset="0"/>
                <a:ea typeface="Calibri" pitchFamily="34" charset="-122"/>
                <a:cs typeface="Calibri" pitchFamily="34" charset="-120"/>
              </a:rPr>
              <a:t>Left to answer in their own words, leaders converge on the same trend.</a:t>
            </a:r>
            <a:endParaRPr lang="en-US" sz="1350" dirty="0"/>
          </a:p>
        </p:txBody>
      </p:sp>
      <p:sp>
        <p:nvSpPr>
          <p:cNvPr id="4" name="Shape 2"/>
          <p:cNvSpPr/>
          <p:nvPr/>
        </p:nvSpPr>
        <p:spPr>
          <a:xfrm>
            <a:off x="502006" y="1335024"/>
            <a:ext cx="0" cy="512064"/>
          </a:xfrm>
          <a:prstGeom prst="line">
            <a:avLst/>
          </a:prstGeom>
          <a:noFill/>
          <a:ln w="25400">
            <a:solidFill>
              <a:srgbClr val="D0D0CE"/>
            </a:solidFill>
            <a:prstDash val="solid"/>
          </a:ln>
        </p:spPr>
      </p:sp>
      <p:sp>
        <p:nvSpPr>
          <p:cNvPr id="5" name="Text 3"/>
          <p:cNvSpPr txBox="1"/>
          <p:nvPr/>
        </p:nvSpPr>
        <p:spPr>
          <a:xfrm>
            <a:off x="648310" y="1335024"/>
            <a:ext cx="11042294" cy="512064"/>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Q12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“Looking ahead three years, what development do you believe will have the greatest impact on fraud risk management, and why? (open-ended)”</a:t>
            </a:r>
            <a:endParaRPr lang="en-US" sz="1000" dirty="0"/>
          </a:p>
        </p:txBody>
      </p:sp>
      <p:sp>
        <p:nvSpPr>
          <p:cNvPr id="6" name="Text 4"/>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61</a:t>
            </a:r>
            <a:endParaRPr lang="en-US" sz="900" dirty="0"/>
          </a:p>
        </p:txBody>
      </p:sp>
      <p:sp>
        <p:nvSpPr>
          <p:cNvPr id="7" name="Shape 5"/>
          <p:cNvSpPr/>
          <p:nvPr/>
        </p:nvSpPr>
        <p:spPr>
          <a:xfrm>
            <a:off x="502006" y="2011680"/>
            <a:ext cx="11188598" cy="914400"/>
          </a:xfrm>
          <a:prstGeom prst="roundRect">
            <a:avLst>
              <a:gd name="adj" fmla="val 6000"/>
            </a:avLst>
          </a:prstGeom>
          <a:solidFill>
            <a:srgbClr val="F2F2F2"/>
          </a:solidFill>
          <a:ln/>
        </p:spPr>
      </p:sp>
      <p:sp>
        <p:nvSpPr>
          <p:cNvPr id="8" name="Text 6"/>
          <p:cNvSpPr txBox="1"/>
          <p:nvPr/>
        </p:nvSpPr>
        <p:spPr>
          <a:xfrm>
            <a:off x="776326" y="2011680"/>
            <a:ext cx="2011680" cy="914400"/>
          </a:xfrm>
          <a:prstGeom prst="rect">
            <a:avLst/>
          </a:prstGeom>
          <a:noFill/>
          <a:ln/>
        </p:spPr>
        <p:txBody>
          <a:bodyPr wrap="square" rtlCol="0" anchor="ctr"/>
          <a:lstStyle/>
          <a:p>
            <a:pPr indent="0" marL="0">
              <a:buNone/>
            </a:pPr>
            <a:r>
              <a:rPr lang="en-US" sz="3000" b="1" dirty="0">
                <a:solidFill>
                  <a:srgbClr val="046A38"/>
                </a:solidFill>
                <a:latin typeface="Calibri" pitchFamily="34" charset="0"/>
                <a:ea typeface="Calibri" pitchFamily="34" charset="-122"/>
                <a:cs typeface="Calibri" pitchFamily="34" charset="-120"/>
              </a:rPr>
              <a:t>100/100</a:t>
            </a:r>
            <a:endParaRPr lang="en-US" sz="3000" dirty="0"/>
          </a:p>
        </p:txBody>
      </p:sp>
      <p:sp>
        <p:nvSpPr>
          <p:cNvPr id="9" name="Text 7"/>
          <p:cNvSpPr txBox="1"/>
          <p:nvPr/>
        </p:nvSpPr>
        <p:spPr>
          <a:xfrm>
            <a:off x="2970886" y="2057400"/>
            <a:ext cx="8445398" cy="822960"/>
          </a:xfrm>
          <a:prstGeom prst="rect">
            <a:avLst/>
          </a:prstGeom>
          <a:noFill/>
          <a:ln/>
        </p:spPr>
        <p:txBody>
          <a:bodyPr wrap="square" rtlCol="0" anchor="ctr"/>
          <a:lstStyle/>
          <a:p>
            <a:pPr indent="0" marL="0">
              <a:lnSpc>
                <a:spcPct val="110000"/>
              </a:lnSpc>
              <a:buNone/>
            </a:pPr>
            <a:r>
              <a:rPr lang="en-US" sz="1150" dirty="0">
                <a:solidFill>
                  <a:srgbClr val="53565A"/>
                </a:solidFill>
                <a:latin typeface="Calibri" pitchFamily="34" charset="0"/>
                <a:ea typeface="Calibri" pitchFamily="34" charset="-122"/>
                <a:cs typeface="Calibri" pitchFamily="34" charset="-120"/>
              </a:rPr>
              <a:t>respondents answered in their own words — a full response rate on an open text field. The dominant unprompted theme: the convergence of GenAI, synthetic identity, and real-time payments — the same thread running through every closed-ended question above.</a:t>
            </a:r>
            <a:endParaRPr lang="en-US" sz="1150" dirty="0"/>
          </a:p>
        </p:txBody>
      </p:sp>
      <p:sp>
        <p:nvSpPr>
          <p:cNvPr id="10" name="Shape 8"/>
          <p:cNvSpPr/>
          <p:nvPr/>
        </p:nvSpPr>
        <p:spPr>
          <a:xfrm>
            <a:off x="502006" y="3154680"/>
            <a:ext cx="5457139" cy="1600200"/>
          </a:xfrm>
          <a:prstGeom prst="roundRect">
            <a:avLst>
              <a:gd name="adj" fmla="val 2857"/>
            </a:avLst>
          </a:prstGeom>
          <a:solidFill>
            <a:srgbClr val="FFFFFF"/>
          </a:solidFill>
          <a:ln w="9525">
            <a:solidFill>
              <a:srgbClr val="D0D0CE"/>
            </a:solidFill>
            <a:prstDash val="solid"/>
          </a:ln>
        </p:spPr>
      </p:sp>
      <p:sp>
        <p:nvSpPr>
          <p:cNvPr id="11" name="Text 9"/>
          <p:cNvSpPr txBox="1"/>
          <p:nvPr/>
        </p:nvSpPr>
        <p:spPr>
          <a:xfrm>
            <a:off x="684886" y="3282696"/>
            <a:ext cx="5091379" cy="1143000"/>
          </a:xfrm>
          <a:prstGeom prst="rect">
            <a:avLst/>
          </a:prstGeom>
          <a:noFill/>
          <a:ln/>
        </p:spPr>
        <p:txBody>
          <a:bodyPr wrap="square" rtlCol="0" anchor="t"/>
          <a:lstStyle/>
          <a:p>
            <a:pPr indent="0" marL="0">
              <a:lnSpc>
                <a:spcPct val="112000"/>
              </a:lnSpc>
              <a:buNone/>
            </a:pPr>
            <a:r>
              <a:rPr lang="en-US" sz="1000" i="1" dirty="0">
                <a:solidFill>
                  <a:srgbClr val="000000"/>
                </a:solidFill>
                <a:latin typeface="Calibri" pitchFamily="34" charset="0"/>
                <a:ea typeface="Calibri" pitchFamily="34" charset="-122"/>
                <a:cs typeface="Calibri" pitchFamily="34" charset="-120"/>
              </a:rPr>
              <a:t>“The convergence of genAI, synthetic identities and real time digital identity verification. This will matter significantly because fraudsters will become AI-native, identity becomes the new battleground, fraud prevention will replace fraud detection, and the winners will use AI against AI.”</a:t>
            </a:r>
            <a:endParaRPr lang="en-US" sz="1000" dirty="0"/>
          </a:p>
        </p:txBody>
      </p:sp>
      <p:sp>
        <p:nvSpPr>
          <p:cNvPr id="12" name="Text 10"/>
          <p:cNvSpPr txBox="1"/>
          <p:nvPr/>
        </p:nvSpPr>
        <p:spPr>
          <a:xfrm>
            <a:off x="684886" y="4443984"/>
            <a:ext cx="5091379" cy="256032"/>
          </a:xfrm>
          <a:prstGeom prst="rect">
            <a:avLst/>
          </a:prstGeom>
          <a:noFill/>
          <a:ln/>
        </p:spPr>
        <p:txBody>
          <a:bodyPr wrap="square" rtlCol="0" anchor="ctr"/>
          <a:lstStyle/>
          <a:p>
            <a:pPr indent="0" marL="0">
              <a:buNone/>
            </a:pPr>
            <a:r>
              <a:rPr lang="en-US" sz="900" dirty="0">
                <a:solidFill>
                  <a:srgbClr val="53565A"/>
                </a:solidFill>
                <a:latin typeface="IBM Plex Mono" pitchFamily="34" charset="0"/>
                <a:ea typeface="IBM Plex Mono" pitchFamily="34" charset="-122"/>
                <a:cs typeface="IBM Plex Mono" pitchFamily="34" charset="-120"/>
              </a:rPr>
              <a:t>Director · Insurance</a:t>
            </a:r>
            <a:endParaRPr lang="en-US" sz="900" dirty="0"/>
          </a:p>
        </p:txBody>
      </p:sp>
      <p:sp>
        <p:nvSpPr>
          <p:cNvPr id="13" name="Shape 11"/>
          <p:cNvSpPr/>
          <p:nvPr/>
        </p:nvSpPr>
        <p:spPr>
          <a:xfrm>
            <a:off x="6233465" y="3154680"/>
            <a:ext cx="5457139" cy="1600200"/>
          </a:xfrm>
          <a:prstGeom prst="roundRect">
            <a:avLst>
              <a:gd name="adj" fmla="val 2857"/>
            </a:avLst>
          </a:prstGeom>
          <a:solidFill>
            <a:srgbClr val="FFFFFF"/>
          </a:solidFill>
          <a:ln w="9525">
            <a:solidFill>
              <a:srgbClr val="D0D0CE"/>
            </a:solidFill>
            <a:prstDash val="solid"/>
          </a:ln>
        </p:spPr>
      </p:sp>
      <p:sp>
        <p:nvSpPr>
          <p:cNvPr id="14" name="Text 12"/>
          <p:cNvSpPr txBox="1"/>
          <p:nvPr/>
        </p:nvSpPr>
        <p:spPr>
          <a:xfrm>
            <a:off x="6416345" y="3282696"/>
            <a:ext cx="5091379" cy="1143000"/>
          </a:xfrm>
          <a:prstGeom prst="rect">
            <a:avLst/>
          </a:prstGeom>
          <a:noFill/>
          <a:ln/>
        </p:spPr>
        <p:txBody>
          <a:bodyPr wrap="square" rtlCol="0" anchor="t"/>
          <a:lstStyle/>
          <a:p>
            <a:pPr indent="0" marL="0">
              <a:lnSpc>
                <a:spcPct val="112000"/>
              </a:lnSpc>
              <a:buNone/>
            </a:pPr>
            <a:r>
              <a:rPr lang="en-US" sz="1000" i="1" dirty="0">
                <a:solidFill>
                  <a:srgbClr val="000000"/>
                </a:solidFill>
                <a:latin typeface="Calibri" pitchFamily="34" charset="0"/>
                <a:ea typeface="Calibri" pitchFamily="34" charset="-122"/>
                <a:cs typeface="Calibri" pitchFamily="34" charset="-120"/>
              </a:rPr>
              <a:t>“The biggest development will be the convergence of GenAI, synthetic identity, and real-time payments. Fraud will become faster, more personalized, and harder to distinguish from legitimate customer behaviour.”</a:t>
            </a:r>
            <a:endParaRPr lang="en-US" sz="1000" dirty="0"/>
          </a:p>
        </p:txBody>
      </p:sp>
      <p:sp>
        <p:nvSpPr>
          <p:cNvPr id="15" name="Text 13"/>
          <p:cNvSpPr txBox="1"/>
          <p:nvPr/>
        </p:nvSpPr>
        <p:spPr>
          <a:xfrm>
            <a:off x="6416345" y="4443984"/>
            <a:ext cx="5091379" cy="256032"/>
          </a:xfrm>
          <a:prstGeom prst="rect">
            <a:avLst/>
          </a:prstGeom>
          <a:noFill/>
          <a:ln/>
        </p:spPr>
        <p:txBody>
          <a:bodyPr wrap="square" rtlCol="0" anchor="ctr"/>
          <a:lstStyle/>
          <a:p>
            <a:pPr indent="0" marL="0">
              <a:buNone/>
            </a:pPr>
            <a:r>
              <a:rPr lang="en-US" sz="900" dirty="0">
                <a:solidFill>
                  <a:srgbClr val="53565A"/>
                </a:solidFill>
                <a:latin typeface="IBM Plex Mono" pitchFamily="34" charset="0"/>
                <a:ea typeface="IBM Plex Mono" pitchFamily="34" charset="-122"/>
                <a:cs typeface="IBM Plex Mono" pitchFamily="34" charset="-120"/>
              </a:rPr>
              <a:t>C-level · Banking</a:t>
            </a:r>
            <a:endParaRPr lang="en-US" sz="900" dirty="0"/>
          </a:p>
        </p:txBody>
      </p:sp>
      <p:sp>
        <p:nvSpPr>
          <p:cNvPr id="16" name="Shape 14"/>
          <p:cNvSpPr/>
          <p:nvPr/>
        </p:nvSpPr>
        <p:spPr>
          <a:xfrm>
            <a:off x="502006" y="4937760"/>
            <a:ext cx="5457139" cy="1600200"/>
          </a:xfrm>
          <a:prstGeom prst="roundRect">
            <a:avLst>
              <a:gd name="adj" fmla="val 2857"/>
            </a:avLst>
          </a:prstGeom>
          <a:solidFill>
            <a:srgbClr val="FFFFFF"/>
          </a:solidFill>
          <a:ln w="9525">
            <a:solidFill>
              <a:srgbClr val="D0D0CE"/>
            </a:solidFill>
            <a:prstDash val="solid"/>
          </a:ln>
        </p:spPr>
      </p:sp>
      <p:sp>
        <p:nvSpPr>
          <p:cNvPr id="17" name="Text 15"/>
          <p:cNvSpPr txBox="1"/>
          <p:nvPr/>
        </p:nvSpPr>
        <p:spPr>
          <a:xfrm>
            <a:off x="684886" y="5065776"/>
            <a:ext cx="5091379" cy="1143000"/>
          </a:xfrm>
          <a:prstGeom prst="rect">
            <a:avLst/>
          </a:prstGeom>
          <a:noFill/>
          <a:ln/>
        </p:spPr>
        <p:txBody>
          <a:bodyPr wrap="square" rtlCol="0" anchor="t"/>
          <a:lstStyle/>
          <a:p>
            <a:pPr indent="0" marL="0">
              <a:lnSpc>
                <a:spcPct val="112000"/>
              </a:lnSpc>
              <a:buNone/>
            </a:pPr>
            <a:r>
              <a:rPr lang="en-US" sz="1000" i="1" dirty="0">
                <a:solidFill>
                  <a:srgbClr val="000000"/>
                </a:solidFill>
                <a:latin typeface="Calibri" pitchFamily="34" charset="0"/>
                <a:ea typeface="Calibri" pitchFamily="34" charset="-122"/>
                <a:cs typeface="Calibri" pitchFamily="34" charset="-120"/>
              </a:rPr>
              <a:t>“Companies are moving away from regular passwords towards decentralized digital credentials and biometric passkeys, as this would minimize phishing and account hacking.”</a:t>
            </a:r>
            <a:endParaRPr lang="en-US" sz="1000" dirty="0"/>
          </a:p>
        </p:txBody>
      </p:sp>
      <p:sp>
        <p:nvSpPr>
          <p:cNvPr id="18" name="Text 16"/>
          <p:cNvSpPr txBox="1"/>
          <p:nvPr/>
        </p:nvSpPr>
        <p:spPr>
          <a:xfrm>
            <a:off x="684886" y="6227064"/>
            <a:ext cx="5091379" cy="256032"/>
          </a:xfrm>
          <a:prstGeom prst="rect">
            <a:avLst/>
          </a:prstGeom>
          <a:noFill/>
          <a:ln/>
        </p:spPr>
        <p:txBody>
          <a:bodyPr wrap="square" rtlCol="0" anchor="ctr"/>
          <a:lstStyle/>
          <a:p>
            <a:pPr indent="0" marL="0">
              <a:buNone/>
            </a:pPr>
            <a:r>
              <a:rPr lang="en-US" sz="900" dirty="0">
                <a:solidFill>
                  <a:srgbClr val="53565A"/>
                </a:solidFill>
                <a:latin typeface="IBM Plex Mono" pitchFamily="34" charset="0"/>
                <a:ea typeface="IBM Plex Mono" pitchFamily="34" charset="-122"/>
                <a:cs typeface="IBM Plex Mono" pitchFamily="34" charset="-120"/>
              </a:rPr>
              <a:t>Senior Manager · Banking</a:t>
            </a:r>
            <a:endParaRPr lang="en-US" sz="900" dirty="0"/>
          </a:p>
        </p:txBody>
      </p:sp>
      <p:sp>
        <p:nvSpPr>
          <p:cNvPr id="19" name="Shape 17"/>
          <p:cNvSpPr/>
          <p:nvPr/>
        </p:nvSpPr>
        <p:spPr>
          <a:xfrm>
            <a:off x="6233465" y="4937760"/>
            <a:ext cx="5457139" cy="1600200"/>
          </a:xfrm>
          <a:prstGeom prst="roundRect">
            <a:avLst>
              <a:gd name="adj" fmla="val 2857"/>
            </a:avLst>
          </a:prstGeom>
          <a:solidFill>
            <a:srgbClr val="FFFFFF"/>
          </a:solidFill>
          <a:ln w="9525">
            <a:solidFill>
              <a:srgbClr val="D0D0CE"/>
            </a:solidFill>
            <a:prstDash val="solid"/>
          </a:ln>
        </p:spPr>
      </p:sp>
      <p:sp>
        <p:nvSpPr>
          <p:cNvPr id="20" name="Text 18"/>
          <p:cNvSpPr txBox="1"/>
          <p:nvPr/>
        </p:nvSpPr>
        <p:spPr>
          <a:xfrm>
            <a:off x="6416345" y="5065776"/>
            <a:ext cx="5091379" cy="1143000"/>
          </a:xfrm>
          <a:prstGeom prst="rect">
            <a:avLst/>
          </a:prstGeom>
          <a:noFill/>
          <a:ln/>
        </p:spPr>
        <p:txBody>
          <a:bodyPr wrap="square" rtlCol="0" anchor="t"/>
          <a:lstStyle/>
          <a:p>
            <a:pPr indent="0" marL="0">
              <a:lnSpc>
                <a:spcPct val="112000"/>
              </a:lnSpc>
              <a:buNone/>
            </a:pPr>
            <a:r>
              <a:rPr lang="en-US" sz="1000" i="1" dirty="0">
                <a:solidFill>
                  <a:srgbClr val="000000"/>
                </a:solidFill>
                <a:latin typeface="Calibri" pitchFamily="34" charset="0"/>
                <a:ea typeface="Calibri" pitchFamily="34" charset="-122"/>
                <a:cs typeface="Calibri" pitchFamily="34" charset="-120"/>
              </a:rPr>
              <a:t>“AI will shift fraud management from reactive investigation toward more predictive prevention, which should help us identify risks before losses occur.”</a:t>
            </a:r>
            <a:endParaRPr lang="en-US" sz="1000" dirty="0"/>
          </a:p>
        </p:txBody>
      </p:sp>
      <p:sp>
        <p:nvSpPr>
          <p:cNvPr id="21" name="Text 19"/>
          <p:cNvSpPr txBox="1"/>
          <p:nvPr/>
        </p:nvSpPr>
        <p:spPr>
          <a:xfrm>
            <a:off x="6416345" y="6227064"/>
            <a:ext cx="5091379" cy="256032"/>
          </a:xfrm>
          <a:prstGeom prst="rect">
            <a:avLst/>
          </a:prstGeom>
          <a:noFill/>
          <a:ln/>
        </p:spPr>
        <p:txBody>
          <a:bodyPr wrap="square" rtlCol="0" anchor="ctr"/>
          <a:lstStyle/>
          <a:p>
            <a:pPr indent="0" marL="0">
              <a:buNone/>
            </a:pPr>
            <a:r>
              <a:rPr lang="en-US" sz="900" dirty="0">
                <a:solidFill>
                  <a:srgbClr val="53565A"/>
                </a:solidFill>
                <a:latin typeface="IBM Plex Mono" pitchFamily="34" charset="0"/>
                <a:ea typeface="IBM Plex Mono" pitchFamily="34" charset="-122"/>
                <a:cs typeface="IBM Plex Mono" pitchFamily="34" charset="-120"/>
              </a:rPr>
              <a:t>VP · Banking</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50607"/>
        </a:solidFill>
      </p:bgPr>
    </p:bg>
    <p:spTree>
      <p:nvGrpSpPr>
        <p:cNvPr id="1" name=""/>
        <p:cNvGrpSpPr/>
        <p:nvPr/>
      </p:nvGrpSpPr>
      <p:grpSpPr>
        <a:xfrm>
          <a:off x="0" y="0"/>
          <a:ext cx="0" cy="0"/>
          <a:chOff x="0" y="0"/>
          <a:chExt cx="0" cy="0"/>
        </a:xfrm>
      </p:grpSpPr>
      <p:sp>
        <p:nvSpPr>
          <p:cNvPr id="2" name="Text 0"/>
          <p:cNvSpPr txBox="1"/>
          <p:nvPr/>
        </p:nvSpPr>
        <p:spPr>
          <a:xfrm>
            <a:off x="502006" y="457200"/>
            <a:ext cx="1417320" cy="27432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Deloitte</a:t>
            </a:r>
            <a:endParaRPr lang="en-US" sz="1600" dirty="0"/>
          </a:p>
        </p:txBody>
      </p:sp>
      <p:sp>
        <p:nvSpPr>
          <p:cNvPr id="3" name="Shape 1"/>
          <p:cNvSpPr/>
          <p:nvPr/>
        </p:nvSpPr>
        <p:spPr>
          <a:xfrm>
            <a:off x="1800454" y="598932"/>
            <a:ext cx="82296" cy="82296"/>
          </a:xfrm>
          <a:prstGeom prst="ellipse">
            <a:avLst/>
          </a:prstGeom>
          <a:solidFill>
            <a:srgbClr val="86BC25"/>
          </a:solidFill>
          <a:ln/>
        </p:spPr>
      </p:sp>
      <p:sp>
        <p:nvSpPr>
          <p:cNvPr id="4" name="Text 2"/>
          <p:cNvSpPr txBox="1"/>
          <p:nvPr/>
        </p:nvSpPr>
        <p:spPr>
          <a:xfrm>
            <a:off x="502006" y="4215384"/>
            <a:ext cx="8531352" cy="2167128"/>
          </a:xfrm>
          <a:prstGeom prst="rect">
            <a:avLst/>
          </a:prstGeom>
          <a:noFill/>
          <a:ln/>
        </p:spPr>
        <p:txBody>
          <a:bodyPr wrap="square" lIns="0" tIns="0" rIns="0" bIns="0" rtlCol="0" anchor="t"/>
          <a:lstStyle/>
          <a:p>
            <a:pPr algn="l" indent="0" marL="0">
              <a:lnSpc>
                <a:spcPct val="120000"/>
              </a:lnSpc>
              <a:buNone/>
            </a:pPr>
            <a:r>
              <a:rPr lang="en-US" sz="2800" b="1" dirty="0">
                <a:solidFill>
                  <a:srgbClr val="FFFFFF"/>
                </a:solidFill>
                <a:latin typeface="Calibri" pitchFamily="34" charset="0"/>
                <a:ea typeface="Calibri" pitchFamily="34" charset="-122"/>
                <a:cs typeface="Calibri" pitchFamily="34" charset="-120"/>
              </a:rPr>
              <a:t>Thank you
</a:t>
            </a:r>
            <a:endParaRPr lang="en-US" sz="2800" dirty="0"/>
          </a:p>
          <a:p>
            <a:pPr algn="l" indent="0" marL="0">
              <a:lnSpc>
                <a:spcPct val="120000"/>
              </a:lnSpc>
              <a:buNone/>
            </a:pPr>
            <a:r>
              <a:rPr lang="en-US" sz="1600" b="1" dirty="0">
                <a:solidFill>
                  <a:srgbClr val="86BC25"/>
                </a:solidFill>
                <a:latin typeface="Calibri" pitchFamily="34" charset="0"/>
                <a:ea typeface="Calibri" pitchFamily="34" charset="-122"/>
                <a:cs typeface="Calibri" pitchFamily="34" charset="-120"/>
              </a:rPr>
              <a:t>[Presenter Name]
</a:t>
            </a:r>
            <a:endParaRPr lang="en-US" sz="2800" dirty="0"/>
          </a:p>
          <a:p>
            <a:pPr algn="l" indent="0" marL="0">
              <a:lnSpc>
                <a:spcPct val="120000"/>
              </a:lnSpc>
              <a:buNone/>
            </a:pPr>
            <a:r>
              <a:rPr lang="en-US" sz="1300" dirty="0">
                <a:solidFill>
                  <a:srgbClr val="FFFFFF"/>
                </a:solidFill>
                <a:latin typeface="Calibri" pitchFamily="34" charset="0"/>
                <a:ea typeface="Calibri" pitchFamily="34" charset="-122"/>
                <a:cs typeface="Calibri" pitchFamily="34" charset="-120"/>
              </a:rPr>
              <a:t>[Title | Practice]
</a:t>
            </a:r>
            <a:endParaRPr lang="en-US" sz="2800" dirty="0"/>
          </a:p>
          <a:p>
            <a:pPr algn="l" indent="0" marL="0">
              <a:lnSpc>
                <a:spcPct val="120000"/>
              </a:lnSpc>
              <a:buNone/>
            </a:pPr>
            <a:r>
              <a:rPr lang="en-US" sz="1300" dirty="0">
                <a:solidFill>
                  <a:srgbClr val="D0D0CE"/>
                </a:solidFill>
                <a:latin typeface="Calibri" pitchFamily="34" charset="0"/>
                <a:ea typeface="Calibri" pitchFamily="34" charset="-122"/>
                <a:cs typeface="Calibri" pitchFamily="34" charset="-120"/>
              </a:rPr>
              <a:t>[email@deloitte.com]</a:t>
            </a:r>
            <a:endParaRPr lang="en-US" sz="2800" dirty="0"/>
          </a:p>
        </p:txBody>
      </p:sp>
      <p:sp>
        <p:nvSpPr>
          <p:cNvPr id="5" name="Shape 3"/>
          <p:cNvSpPr/>
          <p:nvPr/>
        </p:nvSpPr>
        <p:spPr>
          <a:xfrm>
            <a:off x="9372600" y="4215384"/>
            <a:ext cx="2322576" cy="1728216"/>
          </a:xfrm>
          <a:prstGeom prst="rect">
            <a:avLst/>
          </a:prstGeom>
          <a:solidFill>
            <a:srgbClr val="0B1C14"/>
          </a:solidFill>
          <a:ln w="9525">
            <a:solidFill>
              <a:srgbClr val="86BC25"/>
            </a:solidFill>
            <a:prstDash val="solid"/>
          </a:ln>
        </p:spPr>
      </p:sp>
      <p:sp>
        <p:nvSpPr>
          <p:cNvPr id="6" name="Text 4"/>
          <p:cNvSpPr txBox="1"/>
          <p:nvPr/>
        </p:nvSpPr>
        <p:spPr>
          <a:xfrm>
            <a:off x="9372600" y="4892040"/>
            <a:ext cx="2322576" cy="365760"/>
          </a:xfrm>
          <a:prstGeom prst="rect">
            <a:avLst/>
          </a:prstGeom>
          <a:noFill/>
          <a:ln/>
        </p:spPr>
        <p:txBody>
          <a:bodyPr wrap="square" rtlCol="0" anchor="ctr"/>
          <a:lstStyle/>
          <a:p>
            <a:pPr algn="ctr" indent="0" marL="0">
              <a:buNone/>
            </a:pPr>
            <a:r>
              <a:rPr lang="en-US" sz="1600" b="1" dirty="0">
                <a:solidFill>
                  <a:srgbClr val="86BC25"/>
                </a:solidFill>
                <a:latin typeface="Calibri" pitchFamily="34" charset="0"/>
                <a:ea typeface="Calibri" pitchFamily="34" charset="-122"/>
                <a:cs typeface="Calibri" pitchFamily="34" charset="-120"/>
              </a:rPr>
              <a:t>D.FEND</a:t>
            </a:r>
            <a:endParaRPr lang="en-US" sz="1600" dirty="0"/>
          </a:p>
        </p:txBody>
      </p:sp>
      <p:sp>
        <p:nvSpPr>
          <p:cNvPr id="7" name="Text 5"/>
          <p:cNvSpPr txBox="1"/>
          <p:nvPr/>
        </p:nvSpPr>
        <p:spPr>
          <a:xfrm>
            <a:off x="9370771" y="6016752"/>
            <a:ext cx="2322576" cy="365760"/>
          </a:xfrm>
          <a:prstGeom prst="rect">
            <a:avLst/>
          </a:prstGeom>
          <a:noFill/>
          <a:ln/>
        </p:spPr>
        <p:txBody>
          <a:bodyPr wrap="square" rtlCol="0" anchor="ctr"/>
          <a:lstStyle/>
          <a:p>
            <a:pPr algn="ctr" indent="0" marL="0">
              <a:buNone/>
            </a:pPr>
            <a:r>
              <a:rPr lang="en-US" sz="1000" i="1" dirty="0">
                <a:solidFill>
                  <a:srgbClr val="D0D0CE"/>
                </a:solidFill>
                <a:latin typeface="Calibri" pitchFamily="34" charset="0"/>
                <a:ea typeface="Calibri" pitchFamily="34" charset="-122"/>
                <a:cs typeface="Calibri" pitchFamily="34" charset="-120"/>
              </a:rPr>
              <a:t>Fin Crime Forum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2026-10-13T05:21:13Z</dcterms:created>
  <dcterms:modified xsi:type="dcterms:W3CDTF">2026-10-13T05:21:13Z</dcterms:modified>
</cp:coreProperties>
</file>