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Sheet1!$D$2:$D$9</c:f>
              <c:numCache>
                <c:formatCode>General</c:formatCode>
                <c:ptCount val="8"/>
                <c:pt idx="0">
                  <c:v>5</c:v>
                </c:pt>
                <c:pt idx="1">
                  <c:v>0</c:v>
                </c:pt>
                <c:pt idx="2">
                  <c:v>8</c:v>
                </c:pt>
                <c:pt idx="3">
                  <c:v>0</c:v>
                </c:pt>
                <c:pt idx="4">
                  <c:v>8</c:v>
                </c:pt>
                <c:pt idx="5">
                  <c:v>0</c:v>
                </c:pt>
                <c:pt idx="6">
                  <c:v>7</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Sheet1!$E$2:$E$9</c:f>
              <c:numCache>
                <c:formatCode>General</c:formatCode>
                <c:ptCount val="8"/>
                <c:pt idx="0">
                  <c:v>3</c:v>
                </c:pt>
                <c:pt idx="1">
                  <c:v>0</c:v>
                </c:pt>
                <c:pt idx="2">
                  <c:v>3</c:v>
                </c:pt>
                <c:pt idx="3">
                  <c:v>0</c:v>
                </c:pt>
                <c:pt idx="4">
                  <c:v>4</c:v>
                </c:pt>
                <c:pt idx="5">
                  <c:v>0</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Sheet1!$D$2:$D$13</c:f>
              <c:numCache>
                <c:formatCode>General</c:formatCode>
                <c:ptCount val="12"/>
                <c:pt idx="0">
                  <c:v>11</c:v>
                </c:pt>
                <c:pt idx="1">
                  <c:v>0</c:v>
                </c:pt>
                <c:pt idx="2">
                  <c:v>11</c:v>
                </c:pt>
                <c:pt idx="3">
                  <c:v>0</c:v>
                </c:pt>
                <c:pt idx="4">
                  <c:v>9</c:v>
                </c:pt>
                <c:pt idx="5">
                  <c:v>0</c:v>
                </c:pt>
                <c:pt idx="6">
                  <c:v>7</c:v>
                </c:pt>
                <c:pt idx="7">
                  <c:v>0</c:v>
                </c:pt>
                <c:pt idx="8">
                  <c:v>9</c:v>
                </c:pt>
                <c:pt idx="9">
                  <c:v>0</c:v>
                </c:pt>
                <c:pt idx="10">
                  <c:v>1</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Sheet1!$E$2:$E$13</c:f>
              <c:numCache>
                <c:formatCode>General</c:formatCode>
                <c:ptCount val="12"/>
                <c:pt idx="0">
                  <c:v>7</c:v>
                </c:pt>
                <c:pt idx="1">
                  <c:v>0</c:v>
                </c:pt>
                <c:pt idx="2">
                  <c:v>9</c:v>
                </c:pt>
                <c:pt idx="3">
                  <c:v>0</c:v>
                </c:pt>
                <c:pt idx="4">
                  <c:v>4</c:v>
                </c:pt>
                <c:pt idx="5">
                  <c:v>0</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Sheet1!$D$2:$D$9</c:f>
              <c:numCache>
                <c:formatCode>General</c:formatCode>
                <c:ptCount val="8"/>
                <c:pt idx="0">
                  <c:v>7</c:v>
                </c:pt>
                <c:pt idx="1">
                  <c:v>0</c:v>
                </c:pt>
                <c:pt idx="2">
                  <c:v>3</c:v>
                </c:pt>
                <c:pt idx="3">
                  <c:v>0</c:v>
                </c:pt>
                <c:pt idx="4">
                  <c:v>5</c:v>
                </c:pt>
                <c:pt idx="5">
                  <c:v>0</c:v>
                </c:pt>
                <c:pt idx="6">
                  <c:v>1</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Sheet1!$E$2:$E$9</c:f>
              <c:numCache>
                <c:formatCode>General</c:formatCode>
                <c:ptCount val="8"/>
                <c:pt idx="0">
                  <c:v>3</c:v>
                </c:pt>
                <c:pt idx="1">
                  <c:v>0</c:v>
                </c:pt>
                <c:pt idx="2">
                  <c:v>3</c:v>
                </c:pt>
                <c:pt idx="3">
                  <c:v>0</c:v>
                </c:pt>
                <c:pt idx="4">
                  <c:v>3</c:v>
                </c:pt>
                <c:pt idx="5">
                  <c:v>0</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 Top 50 Insurance)</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(outside Top 100 / Top 50)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(US &amp; Canada only, 0%)</c:v>
                  </c:pt>
                  <c:pt idx="1">
                    <c:v>Reactive — Large (US &amp; Canada only, 10%)</c:v>
                  </c:pt>
                  <c:pt idx="2">
                    <c:v>Foundational — Top 50 (US &amp; Canada only, 7%)</c:v>
                  </c:pt>
                  <c:pt idx="3">
                    <c:v>Foundational — Large (US &amp; Canada only, 0%)</c:v>
                  </c:pt>
                  <c:pt idx="4">
                    <c:v>Managed — Top 50 (US &amp; Canada only, 14%)</c:v>
                  </c:pt>
                  <c:pt idx="5">
                    <c:v>Managed — Large (US &amp; Canada only, 30%)</c:v>
                  </c:pt>
                  <c:pt idx="6">
                    <c:v>Integrated — Top 50 (US &amp; Canada only, 34%)</c:v>
                  </c:pt>
                  <c:pt idx="7">
                    <c:v>Integrated — Large (US &amp; Canada only, 30%)</c:v>
                  </c:pt>
                  <c:pt idx="8">
                    <c:v>Advanced — Top 50 (US &amp; Canada only, 33%)</c:v>
                  </c:pt>
                  <c:pt idx="9">
                    <c:v>Advanced — Large (US &amp; Canada only, 20%)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(US &amp; Canada only, 0%)</c:v>
                  </c:pt>
                  <c:pt idx="1">
                    <c:v>Reactive — Large (US &amp; Canada only, 10%)</c:v>
                  </c:pt>
                  <c:pt idx="2">
                    <c:v>Foundational — Top 50 (US &amp; Canada only, 7%)</c:v>
                  </c:pt>
                  <c:pt idx="3">
                    <c:v>Foundational — Large (US &amp; Canada only, 0%)</c:v>
                  </c:pt>
                  <c:pt idx="4">
                    <c:v>Managed — Top 50 (US &amp; Canada only, 14%)</c:v>
                  </c:pt>
                  <c:pt idx="5">
                    <c:v>Managed — Large (US &amp; Canada only, 30%)</c:v>
                  </c:pt>
                  <c:pt idx="6">
                    <c:v>Integrated — Top 50 (US &amp; Canada only, 34%)</c:v>
                  </c:pt>
                  <c:pt idx="7">
                    <c:v>Integrated — Large (US &amp; Canada only, 30%)</c:v>
                  </c:pt>
                  <c:pt idx="8">
                    <c:v>Advanced — Top 50 (US &amp; Canada only, 33%)</c:v>
                  </c:pt>
                  <c:pt idx="9">
                    <c:v>Advanced — Large (US &amp; Canada only, 20%)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so Insurance's stacked totals run below the full-sample figures shown on the previous slide (64%, 48%, 40%, 44%).</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data standardization 88%, legal/privacy 72%, external participation 48%, budget/resources 36%, ROI 16%, ownership 36%.</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info sharing 20%, monitoring 32%, onboarding 24%, oversight 24%.</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Australia (n=4 Top 100 / n=3 Large) and Singapore (n=2 / n=2)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Bars reflect only United States and Canada respondents. Top 50 (n=15 full sample) excludes Europe (n=1) and Australia (n=1) here — shown totals are 13 of 15. Large (n=10 full sample, including 1 respondent reclassified from their employer description) excludes Europe (n=1) here — shown totals are 9 of 10. Full-sample tier totals (all regions) are: Top 50 — Reactive 0%, Foundational 7%, Managed 13%, Integrated 33%, Advanced 47%; Large — Reactive 10%, Foundational 0%, Managed 30%, Integrated 30%, Advanced 30%.</a:t>
            </a:r>
            <a:endParaRPr lang="en-US" sz="850" dirty="0"/>
          </a:p>
        </p:txBody>
      </p:sp>
      <p:sp>
        <p:nvSpPr>
          <p:cNvPr id="10" name="Text 7"/>
          <p:cNvSpPr txBox="1"/>
          <p:nvPr/>
        </p:nvSpPr>
        <p:spPr>
          <a:xfrm>
            <a:off x="502006" y="6080760"/>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2026-09-25T16:46:58Z</dcterms:created>
  <dcterms:modified xsi:type="dcterms:W3CDTF">2026-09-25T16:46:58Z</dcterms:modified>
</cp:coreProperties>
</file>