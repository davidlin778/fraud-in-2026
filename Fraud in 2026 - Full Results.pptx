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5.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6.xml" ContentType="application/vnd.openxmlformats-officedocument.drawingml.chart+xml"/>
  <Override PartName="/ppt/charts/chart7.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8.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9.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0.xml" ContentType="application/vnd.openxmlformats-officedocument.drawingml.chart+xml"/>
  <Override PartName="/ppt/charts/chart1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2.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3.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4.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15.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charts/chart19.xml" ContentType="application/vnd.openxmlformats-officedocument.drawingml.chart+xml"/>
  <Override PartName="/ppt/charts/chart20.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charts/chart21.xml" ContentType="application/vnd.openxmlformats-officedocument.drawingml.chart+xml"/>
  <Override PartName="/ppt/charts/chart22.xml" ContentType="application/vnd.openxmlformats-officedocument.drawingml.chart+xml"/>
  <Override PartName="/ppt/charts/chart23.xml" ContentType="application/vnd.openxmlformats-officedocument.drawingml.chart+xml"/>
  <Override PartName="/ppt/charts/chart24.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charts/chart25.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charts/chart26.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charts/chart27.xml" ContentType="application/vnd.openxmlformats-officedocument.drawingml.chart+xml"/>
  <Override PartName="/ppt/charts/chart28.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charts/chart29.xml" ContentType="application/vnd.openxmlformats-officedocument.drawingml.chart+xml"/>
  <Override PartName="/ppt/slideMasters/slideMaster23.xml" ContentType="application/vnd.openxmlformats-officedocument.presentationml.slideMaster+xml"/>
  <Override PartName="/ppt/slides/slide23.xml" ContentType="application/vnd.openxmlformats-officedocument.presentationml.slide+xml"/>
  <Override PartName="/ppt/charts/chart30.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charts/chart31.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charts/chart32.xml" ContentType="application/vnd.openxmlformats-officedocument.drawingml.chart+xml"/>
  <Override PartName="/ppt/slideMasters/slideMaster27.xml" ContentType="application/vnd.openxmlformats-officedocument.presentationml.slideMaster+xml"/>
  <Override PartName="/ppt/slides/slide27.xml" ContentType="application/vnd.openxmlformats-officedocument.presentationml.slide+xml"/>
  <Override PartName="/ppt/charts/chart33.xml" ContentType="application/vnd.openxmlformats-officedocument.drawingml.chart+xml"/>
  <Override PartName="/ppt/slideMasters/slideMaster28.xml" ContentType="application/vnd.openxmlformats-officedocument.presentationml.slideMaster+xml"/>
  <Override PartName="/ppt/slides/slide28.xml" ContentType="application/vnd.openxmlformats-officedocument.presentationml.slide+xml"/>
  <Override PartName="/ppt/charts/chart34.xml" ContentType="application/vnd.openxmlformats-officedocument.drawingml.chart+xml"/>
  <Override PartName="/ppt/slideMasters/slideMaster29.xml" ContentType="application/vnd.openxmlformats-officedocument.presentationml.slideMaster+xml"/>
  <Override PartName="/ppt/slides/slide29.xml" ContentType="application/vnd.openxmlformats-officedocument.presentationml.slide+xml"/>
  <Override PartName="/ppt/charts/chart35.xml" ContentType="application/vnd.openxmlformats-officedocument.drawingml.chart+xml"/>
  <Override PartName="/ppt/slideMasters/slideMaster30.xml" ContentType="application/vnd.openxmlformats-officedocument.presentationml.slideMaster+xml"/>
  <Override PartName="/ppt/slides/slide30.xml" ContentType="application/vnd.openxmlformats-officedocument.presentationml.slide+xml"/>
  <Override PartName="/ppt/charts/chart36.xml" ContentType="application/vnd.openxmlformats-officedocument.drawingml.chart+xml"/>
  <Override PartName="/ppt/slideMasters/slideMaster31.xml" ContentType="application/vnd.openxmlformats-officedocument.presentationml.slideMaster+xml"/>
  <Override PartName="/ppt/slides/slide31.xml" ContentType="application/vnd.openxmlformats-officedocument.presentationml.slide+xml"/>
  <Override PartName="/ppt/charts/chart37.xml" ContentType="application/vnd.openxmlformats-officedocument.drawingml.chart+xml"/>
  <Override PartName="/ppt/charts/chart38.xml" ContentType="application/vnd.openxmlformats-officedocument.drawingml.chart+xml"/>
  <Override PartName="/ppt/slideMasters/slideMaster32.xml" ContentType="application/vnd.openxmlformats-officedocument.presentationml.slideMaster+xml"/>
  <Override PartName="/ppt/slides/slide32.xml" ContentType="application/vnd.openxmlformats-officedocument.presentationml.slide+xml"/>
  <Override PartName="/ppt/charts/chart39.xml" ContentType="application/vnd.openxmlformats-officedocument.drawingml.chart+xml"/>
  <Override PartName="/ppt/slideMasters/slideMaster33.xml" ContentType="application/vnd.openxmlformats-officedocument.presentationml.slideMaster+xml"/>
  <Override PartName="/ppt/slides/slide33.xml" ContentType="application/vnd.openxmlformats-officedocument.presentationml.slide+xml"/>
  <Override PartName="/ppt/charts/chart40.xml" ContentType="application/vnd.openxmlformats-officedocument.drawingml.chart+xml"/>
  <Override PartName="/ppt/slideMasters/slideMaster34.xml" ContentType="application/vnd.openxmlformats-officedocument.presentationml.slideMaster+xml"/>
  <Override PartName="/ppt/slides/slide34.xml" ContentType="application/vnd.openxmlformats-officedocument.presentationml.slide+xml"/>
  <Override PartName="/ppt/charts/chart41.xml" ContentType="application/vnd.openxmlformats-officedocument.drawingml.chart+xml"/>
  <Override PartName="/ppt/charts/chart42.xml" ContentType="application/vnd.openxmlformats-officedocument.drawingml.chart+xml"/>
  <Override PartName="/ppt/slideMasters/slideMaster35.xml" ContentType="application/vnd.openxmlformats-officedocument.presentationml.slideMaster+xml"/>
  <Override PartName="/ppt/slides/slide35.xml" ContentType="application/vnd.openxmlformats-officedocument.presentationml.slide+xml"/>
  <Override PartName="/ppt/charts/chart43.xml" ContentType="application/vnd.openxmlformats-officedocument.drawingml.chart+xml"/>
  <Override PartName="/ppt/slideMasters/slideMaster36.xml" ContentType="application/vnd.openxmlformats-officedocument.presentationml.slideMaster+xml"/>
  <Override PartName="/ppt/slides/slide36.xml" ContentType="application/vnd.openxmlformats-officedocument.presentationml.slide+xml"/>
  <Override PartName="/ppt/charts/chart44.xml" ContentType="application/vnd.openxmlformats-officedocument.drawingml.chart+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charts/chart45.xml" ContentType="application/vnd.openxmlformats-officedocument.drawingml.chart+xml"/>
  <Override PartName="/ppt/slideMasters/slideMaster39.xml" ContentType="application/vnd.openxmlformats-officedocument.presentationml.slideMaster+xml"/>
  <Override PartName="/ppt/slides/slide39.xml" ContentType="application/vnd.openxmlformats-officedocument.presentationml.slide+xml"/>
  <Override PartName="/ppt/charts/chart46.xml" ContentType="application/vnd.openxmlformats-officedocument.drawingml.chart+xml"/>
  <Override PartName="/ppt/slideMasters/slideMaster40.xml" ContentType="application/vnd.openxmlformats-officedocument.presentationml.slideMaster+xml"/>
  <Override PartName="/ppt/slides/slide40.xml" ContentType="application/vnd.openxmlformats-officedocument.presentationml.slide+xml"/>
  <Override PartName="/ppt/charts/chart47.xml" ContentType="application/vnd.openxmlformats-officedocument.drawingml.chart+xml"/>
  <Override PartName="/ppt/slideMasters/slideMaster41.xml" ContentType="application/vnd.openxmlformats-officedocument.presentationml.slideMaster+xml"/>
  <Override PartName="/ppt/slides/slide41.xml" ContentType="application/vnd.openxmlformats-officedocument.presentationml.slide+xml"/>
  <Override PartName="/ppt/charts/chart48.xml" ContentType="application/vnd.openxmlformats-officedocument.drawingml.chart+xml"/>
  <Override PartName="/ppt/slideMasters/slideMaster42.xml" ContentType="application/vnd.openxmlformats-officedocument.presentationml.slideMaster+xml"/>
  <Override PartName="/ppt/slides/slide42.xml" ContentType="application/vnd.openxmlformats-officedocument.presentationml.slide+xml"/>
  <Override PartName="/ppt/charts/chart49.xml" ContentType="application/vnd.openxmlformats-officedocument.drawingml.chart+xml"/>
  <Override PartName="/ppt/slideMasters/slideMaster43.xml" ContentType="application/vnd.openxmlformats-officedocument.presentationml.slideMaster+xml"/>
  <Override PartName="/ppt/slides/slide43.xml" ContentType="application/vnd.openxmlformats-officedocument.presentationml.slide+xml"/>
  <Override PartName="/ppt/charts/chart50.xml" ContentType="application/vnd.openxmlformats-officedocument.drawingml.chart+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notesMasterIdLst>
    <p:notesMasterId r:id="rId4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Relationships xmlns="http://schemas.openxmlformats.org/package/2006/relationships"><Relationship Id="rId1" Type="http://schemas.openxmlformats.org/officeDocument/2006/relationships/package" Target="../embeddings/Microsoft_Excel_Worksheet35.xlsx"/></Relationships>
</file>

<file path=ppt/charts/_rels/chart36.xml.rels><?xml version="1.0" encoding="UTF-8" standalone="yes"?><Relationships xmlns="http://schemas.openxmlformats.org/package/2006/relationships"><Relationship Id="rId1" Type="http://schemas.openxmlformats.org/officeDocument/2006/relationships/package" Target="../embeddings/Microsoft_Excel_Worksheet36.xlsx"/></Relationships>
</file>

<file path=ppt/charts/_rels/chart37.xml.rels><?xml version="1.0" encoding="UTF-8" standalone="yes"?><Relationships xmlns="http://schemas.openxmlformats.org/package/2006/relationships"><Relationship Id="rId1" Type="http://schemas.openxmlformats.org/officeDocument/2006/relationships/package" Target="../embeddings/Microsoft_Excel_Worksheet37.xlsx"/></Relationships>
</file>

<file path=ppt/charts/_rels/chart38.xml.rels><?xml version="1.0" encoding="UTF-8" standalone="yes"?><Relationships xmlns="http://schemas.openxmlformats.org/package/2006/relationships"><Relationship Id="rId1" Type="http://schemas.openxmlformats.org/officeDocument/2006/relationships/package" Target="../embeddings/Microsoft_Excel_Worksheet38.xlsx"/></Relationships>
</file>

<file path=ppt/charts/_rels/chart39.xml.rels><?xml version="1.0" encoding="UTF-8" standalone="yes"?><Relationships xmlns="http://schemas.openxmlformats.org/package/2006/relationships"><Relationship Id="rId1" Type="http://schemas.openxmlformats.org/officeDocument/2006/relationships/package" Target="../embeddings/Microsoft_Excel_Worksheet39.xlsx"/></Relationships>
</file>

<file path=ppt/charts/_rels/chart40.xml.rels><?xml version="1.0" encoding="UTF-8" standalone="yes"?><Relationships xmlns="http://schemas.openxmlformats.org/package/2006/relationships"><Relationship Id="rId1" Type="http://schemas.openxmlformats.org/officeDocument/2006/relationships/package" Target="../embeddings/Microsoft_Excel_Worksheet40.xlsx"/></Relationships>
</file>

<file path=ppt/charts/_rels/chart41.xml.rels><?xml version="1.0" encoding="UTF-8" standalone="yes"?><Relationships xmlns="http://schemas.openxmlformats.org/package/2006/relationships"><Relationship Id="rId1" Type="http://schemas.openxmlformats.org/officeDocument/2006/relationships/package" Target="../embeddings/Microsoft_Excel_Worksheet41.xlsx"/></Relationships>
</file>

<file path=ppt/charts/_rels/chart42.xml.rels><?xml version="1.0" encoding="UTF-8" standalone="yes"?><Relationships xmlns="http://schemas.openxmlformats.org/package/2006/relationships"><Relationship Id="rId1" Type="http://schemas.openxmlformats.org/officeDocument/2006/relationships/package" Target="../embeddings/Microsoft_Excel_Worksheet42.xlsx"/></Relationships>
</file>

<file path=ppt/charts/_rels/chart43.xml.rels><?xml version="1.0" encoding="UTF-8" standalone="yes"?><Relationships xmlns="http://schemas.openxmlformats.org/package/2006/relationships"><Relationship Id="rId1" Type="http://schemas.openxmlformats.org/officeDocument/2006/relationships/package" Target="../embeddings/Microsoft_Excel_Worksheet43.xlsx"/></Relationships>
</file>

<file path=ppt/charts/_rels/chart44.xml.rels><?xml version="1.0" encoding="UTF-8" standalone="yes"?><Relationships xmlns="http://schemas.openxmlformats.org/package/2006/relationships"><Relationship Id="rId1" Type="http://schemas.openxmlformats.org/officeDocument/2006/relationships/package" Target="../embeddings/Microsoft_Excel_Worksheet44.xlsx"/></Relationships>
</file>

<file path=ppt/charts/_rels/chart45.xml.rels><?xml version="1.0" encoding="UTF-8" standalone="yes"?><Relationships xmlns="http://schemas.openxmlformats.org/package/2006/relationships"><Relationship Id="rId1" Type="http://schemas.openxmlformats.org/officeDocument/2006/relationships/package" Target="../embeddings/Microsoft_Excel_Worksheet45.xlsx"/></Relationships>
</file>

<file path=ppt/charts/_rels/chart46.xml.rels><?xml version="1.0" encoding="UTF-8" standalone="yes"?><Relationships xmlns="http://schemas.openxmlformats.org/package/2006/relationships"><Relationship Id="rId1" Type="http://schemas.openxmlformats.org/officeDocument/2006/relationships/package" Target="../embeddings/Microsoft_Excel_Worksheet46.xlsx"/></Relationships>
</file>

<file path=ppt/charts/_rels/chart47.xml.rels><?xml version="1.0" encoding="UTF-8" standalone="yes"?><Relationships xmlns="http://schemas.openxmlformats.org/package/2006/relationships"><Relationship Id="rId1" Type="http://schemas.openxmlformats.org/officeDocument/2006/relationships/package" Target="../embeddings/Microsoft_Excel_Worksheet47.xlsx"/></Relationships>
</file>

<file path=ppt/charts/_rels/chart48.xml.rels><?xml version="1.0" encoding="UTF-8" standalone="yes"?><Relationships xmlns="http://schemas.openxmlformats.org/package/2006/relationships"><Relationship Id="rId1" Type="http://schemas.openxmlformats.org/officeDocument/2006/relationships/package" Target="../embeddings/Microsoft_Excel_Worksheet48.xlsx"/></Relationships>
</file>

<file path=ppt/charts/_rels/chart49.xml.rels><?xml version="1.0" encoding="UTF-8" standalone="yes"?><Relationships xmlns="http://schemas.openxmlformats.org/package/2006/relationships"><Relationship Id="rId1" Type="http://schemas.openxmlformats.org/officeDocument/2006/relationships/package" Target="../embeddings/Microsoft_Excel_Worksheet49.xlsx"/></Relationships>
</file>

<file path=ppt/charts/_rels/chart50.xml.rels><?xml version="1.0" encoding="UTF-8" standalone="yes"?><Relationships xmlns="http://schemas.openxmlformats.org/package/2006/relationships"><Relationship Id="rId1" Type="http://schemas.openxmlformats.org/officeDocument/2006/relationships/package" Target="../embeddings/Microsoft_Excel_Worksheet50.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 (n=75)</c:v>
                </c:pt>
              </c:strCache>
            </c:strRef>
          </c:tx>
          <c:spPr>
            <a:solidFill>
              <a:srgbClr val="86BC25"/>
            </a:solidFill>
            <a:effectLst/>
          </c:spPr>
          <c:invertIfNegative val="0"/>
          <c:dLbls>
            <c:numFmt formatCode="0&quot;%&quot;" sourceLinked="0"/>
            <c:txPr>
              <a:bodyPr/>
              <a:lstStyle/>
              <a:p>
                <a:pPr>
                  <a:defRPr b="0" i="0" strike="noStrike" sz="8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United States</c:v>
                  </c:pt>
                  <c:pt idx="1">
                    <c:v>Canada</c:v>
                  </c:pt>
                  <c:pt idx="2">
                    <c:v>United Kingdom</c:v>
                  </c:pt>
                  <c:pt idx="3">
                    <c:v>Australia</c:v>
                  </c:pt>
                  <c:pt idx="4">
                    <c:v>Singapore</c:v>
                  </c:pt>
                  <c:pt idx="5">
                    <c:v>EU</c:v>
                  </c:pt>
                </c:lvl>
              </c:multiLvlStrCache>
            </c:multiLvlStrRef>
          </c:cat>
          <c:val>
            <c:numRef>
              <c:f>Sheet1!$B$2:$B$7</c:f>
              <c:numCache>
                <c:formatCode>General</c:formatCode>
                <c:ptCount val="6"/>
                <c:pt idx="0">
                  <c:v>45</c:v>
                </c:pt>
                <c:pt idx="1">
                  <c:v>24</c:v>
                </c:pt>
                <c:pt idx="2">
                  <c:v>12</c:v>
                </c:pt>
                <c:pt idx="3">
                  <c:v>9</c:v>
                </c:pt>
                <c:pt idx="4">
                  <c:v>5</c:v>
                </c:pt>
                <c:pt idx="5">
                  <c:v>4</c:v>
                </c:pt>
              </c:numCache>
            </c:numRef>
          </c:val>
        </c:ser>
        <c:ser>
          <c:idx val="1"/>
          <c:order val="1"/>
          <c:tx>
            <c:strRef>
              <c:f>Sheet1!$C$1</c:f>
              <c:strCache>
                <c:ptCount val="1"/>
                <c:pt idx="0">
                  <c:v>Insurance (n=25)</c:v>
                </c:pt>
              </c:strCache>
            </c:strRef>
          </c:tx>
          <c:spPr>
            <a:solidFill>
              <a:srgbClr val="046A38"/>
            </a:solidFill>
            <a:effectLst/>
          </c:spPr>
          <c:invertIfNegative val="0"/>
          <c:dLbls>
            <c:numFmt formatCode="0&quot;%&quot;" sourceLinked="0"/>
            <c:txPr>
              <a:bodyPr/>
              <a:lstStyle/>
              <a:p>
                <a:pPr>
                  <a:defRPr b="0" i="0" strike="noStrike" sz="8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United States</c:v>
                  </c:pt>
                  <c:pt idx="1">
                    <c:v>Canada</c:v>
                  </c:pt>
                  <c:pt idx="2">
                    <c:v>United Kingdom</c:v>
                  </c:pt>
                  <c:pt idx="3">
                    <c:v>Australia</c:v>
                  </c:pt>
                  <c:pt idx="4">
                    <c:v>Singapore</c:v>
                  </c:pt>
                  <c:pt idx="5">
                    <c:v>EU</c:v>
                  </c:pt>
                </c:lvl>
              </c:multiLvlStrCache>
            </c:multiLvlStrRef>
          </c:cat>
          <c:val>
            <c:numRef>
              <c:f>Sheet1!$C$2:$C$7</c:f>
              <c:numCache>
                <c:formatCode>General</c:formatCode>
                <c:ptCount val="6"/>
                <c:pt idx="0">
                  <c:v>40</c:v>
                </c:pt>
                <c:pt idx="1">
                  <c:v>48</c:v>
                </c:pt>
                <c:pt idx="2">
                  <c:v>8</c:v>
                </c:pt>
                <c:pt idx="3">
                  <c:v>4</c:v>
                </c:pt>
                <c:pt idx="4">
                  <c:v>0</c:v>
                </c:pt>
                <c:pt idx="5">
                  <c:v>0</c:v>
                </c:pt>
              </c:numCache>
            </c:numRef>
          </c:val>
        </c:ser>
        <c:dLbls>
          <c:numFmt formatCode="0&quot;%&quot;" sourceLinked="0"/>
          <c:txPr>
            <a:bodyPr/>
            <a:lstStyle/>
            <a:p>
              <a:pPr>
                <a:defRPr b="0" i="0" strike="noStrike" sz="85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 (n=75)</c:v>
                </c:pt>
              </c:strCache>
            </c:strRef>
          </c:tx>
          <c:spPr>
            <a:solidFill>
              <a:srgbClr val="86BC25"/>
            </a:solidFill>
            <a:effectLst/>
          </c:spPr>
          <c:invertIfNegative val="0"/>
          <c:dLbls>
            <c:numFmt formatCode="0&quot;%&quot;" sourceLinked="0"/>
            <c:txPr>
              <a:bodyPr/>
              <a:lstStyle/>
              <a:p>
                <a:pPr>
                  <a:defRPr b="0" i="0" strike="noStrike" sz="8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Fraud Operations</c:v>
                  </c:pt>
                  <c:pt idx="1">
                    <c:v>Fraud Analytics/Intelligence</c:v>
                  </c:pt>
                  <c:pt idx="2">
                    <c:v>Fraud Strategy &amp; Transformation</c:v>
                  </c:pt>
                  <c:pt idx="3">
                    <c:v>Fraud Risk &amp; Governance</c:v>
                  </c:pt>
                  <c:pt idx="4">
                    <c:v>Fraud Investigations Unit</c:v>
                  </c:pt>
                  <c:pt idx="5">
                    <c:v>Special Investigations Unit</c:v>
                  </c:pt>
                </c:lvl>
              </c:multiLvlStrCache>
            </c:multiLvlStrRef>
          </c:cat>
          <c:val>
            <c:numRef>
              <c:f>Sheet1!$B$2:$B$7</c:f>
              <c:numCache>
                <c:formatCode>General</c:formatCode>
                <c:ptCount val="6"/>
                <c:pt idx="0">
                  <c:v>27</c:v>
                </c:pt>
                <c:pt idx="1">
                  <c:v>20</c:v>
                </c:pt>
                <c:pt idx="2">
                  <c:v>20</c:v>
                </c:pt>
                <c:pt idx="3">
                  <c:v>19</c:v>
                </c:pt>
                <c:pt idx="4">
                  <c:v>8</c:v>
                </c:pt>
                <c:pt idx="5">
                  <c:v>7</c:v>
                </c:pt>
              </c:numCache>
            </c:numRef>
          </c:val>
        </c:ser>
        <c:ser>
          <c:idx val="1"/>
          <c:order val="1"/>
          <c:tx>
            <c:strRef>
              <c:f>Sheet1!$C$1</c:f>
              <c:strCache>
                <c:ptCount val="1"/>
                <c:pt idx="0">
                  <c:v>Insurance (n=25)</c:v>
                </c:pt>
              </c:strCache>
            </c:strRef>
          </c:tx>
          <c:spPr>
            <a:solidFill>
              <a:srgbClr val="046A38"/>
            </a:solidFill>
            <a:effectLst/>
          </c:spPr>
          <c:invertIfNegative val="0"/>
          <c:dLbls>
            <c:numFmt formatCode="0&quot;%&quot;" sourceLinked="0"/>
            <c:txPr>
              <a:bodyPr/>
              <a:lstStyle/>
              <a:p>
                <a:pPr>
                  <a:defRPr b="0" i="0" strike="noStrike" sz="8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Fraud Operations</c:v>
                  </c:pt>
                  <c:pt idx="1">
                    <c:v>Fraud Analytics/Intelligence</c:v>
                  </c:pt>
                  <c:pt idx="2">
                    <c:v>Fraud Strategy &amp; Transformation</c:v>
                  </c:pt>
                  <c:pt idx="3">
                    <c:v>Fraud Risk &amp; Governance</c:v>
                  </c:pt>
                  <c:pt idx="4">
                    <c:v>Fraud Investigations Unit</c:v>
                  </c:pt>
                  <c:pt idx="5">
                    <c:v>Special Investigations Unit</c:v>
                  </c:pt>
                </c:lvl>
              </c:multiLvlStrCache>
            </c:multiLvlStrRef>
          </c:cat>
          <c:val>
            <c:numRef>
              <c:f>Sheet1!$C$2:$C$7</c:f>
              <c:numCache>
                <c:formatCode>General</c:formatCode>
                <c:ptCount val="6"/>
                <c:pt idx="0">
                  <c:v>20</c:v>
                </c:pt>
                <c:pt idx="1">
                  <c:v>8</c:v>
                </c:pt>
                <c:pt idx="2">
                  <c:v>12</c:v>
                </c:pt>
                <c:pt idx="3">
                  <c:v>32</c:v>
                </c:pt>
                <c:pt idx="4">
                  <c:v>12</c:v>
                </c:pt>
                <c:pt idx="5">
                  <c:v>16</c:v>
                </c:pt>
              </c:numCache>
            </c:numRef>
          </c:val>
        </c:ser>
        <c:dLbls>
          <c:numFmt formatCode="0&quot;%&quot;" sourceLinked="0"/>
          <c:txPr>
            <a:bodyPr/>
            <a:lstStyle/>
            <a:p>
              <a:pPr>
                <a:defRPr b="0" i="0" strike="noStrike" sz="85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Sheet1!$A$2:$A$3</c:f>
              <c:multiLvlStrCache>
                <c:ptCount val="2"/>
                <c:lvl>
                  <c:pt idx="0">
                    <c:v>Top 100 Financial Institution (n=40)</c:v>
                  </c:pt>
                  <c:pt idx="1">
                    <c:v>Large Financial Institution — outside Top 100; &gt;20,000 FTE (n=35)</c:v>
                  </c:pt>
                </c:lvl>
              </c:multiLvlStrCache>
            </c:multiLvlStrRef>
          </c:cat>
          <c:val>
            <c:numRef>
              <c:f>Sheet1!$B$2:$B$3</c:f>
              <c:numCache>
                <c:formatCode>General</c:formatCode>
                <c:ptCount val="2"/>
                <c:pt idx="0">
                  <c:v>53</c:v>
                </c:pt>
                <c:pt idx="1">
                  <c:v>47</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United States (n=34)</c:v>
                  </c:pt>
                  <c:pt idx="1">
                    <c:v>Canada (n=18)</c:v>
                  </c:pt>
                  <c:pt idx="2">
                    <c:v>Europe — EU + UK (n=12)</c:v>
                  </c:pt>
                  <c:pt idx="3">
                    <c:v>Australia (n=7)</c:v>
                  </c:pt>
                  <c:pt idx="4">
                    <c:v>Singapore (n=4)</c:v>
                  </c:pt>
                </c:lvl>
              </c:multiLvlStrCache>
            </c:multiLvlStrRef>
          </c:cat>
          <c:val>
            <c:numRef>
              <c:f>Sheet1!$B$2:$B$6</c:f>
              <c:numCache>
                <c:formatCode>General</c:formatCode>
                <c:ptCount val="5"/>
                <c:pt idx="0">
                  <c:v>45</c:v>
                </c:pt>
                <c:pt idx="1">
                  <c:v>24</c:v>
                </c:pt>
                <c:pt idx="2">
                  <c:v>16</c:v>
                </c:pt>
                <c:pt idx="3">
                  <c:v>9</c:v>
                </c:pt>
                <c:pt idx="4">
                  <c:v>5</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86BC25"/>
            </a:solidFill>
            <a:effectLst/>
          </c:spPr>
          <c:invertIfNegative val="0"/>
          <c:dLbls>
            <c:numFmt formatCode="0&quot;%&quot;;-0&quot;%&quot;;;@" sourceLinked="0"/>
            <c:txPr>
              <a:bodyPr/>
              <a:lstStyle/>
              <a:p>
                <a:pPr>
                  <a:defRPr b="0" i="0" strike="noStrike" sz="900" u="none">
                    <a:solidFill>
                      <a:srgbClr val="FFFFFF"/>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Top 100 (n=40)</c:v>
                  </c:pt>
                  <c:pt idx="1">
                    <c:v>Large Financial Institution (n=35)</c:v>
                  </c:pt>
                </c:lvl>
              </c:multiLvlStrCache>
            </c:multiLvlStrRef>
          </c:cat>
          <c:val>
            <c:numRef>
              <c:f>Sheet1!$B$2:$B$3</c:f>
              <c:numCache>
                <c:formatCode>General</c:formatCode>
                <c:ptCount val="2"/>
                <c:pt idx="0">
                  <c:v>35</c:v>
                </c:pt>
                <c:pt idx="1">
                  <c:v>57</c:v>
                </c:pt>
              </c:numCache>
            </c:numRef>
          </c:val>
        </c:ser>
        <c:ser>
          <c:idx val="1"/>
          <c:order val="1"/>
          <c:tx>
            <c:strRef>
              <c:f>Sheet1!$C$1</c:f>
              <c:strCache>
                <c:ptCount val="1"/>
                <c:pt idx="0">
                  <c:v>Canada</c:v>
                </c:pt>
              </c:strCache>
            </c:strRef>
          </c:tx>
          <c:spPr>
            <a:solidFill>
              <a:srgbClr val="43B02A"/>
            </a:solidFill>
            <a:effectLst/>
          </c:spPr>
          <c:invertIfNegative val="0"/>
          <c:dLbls>
            <c:numFmt formatCode="0&quot;%&quot;;-0&quot;%&quot;;;@" sourceLinked="0"/>
            <c:txPr>
              <a:bodyPr/>
              <a:lstStyle/>
              <a:p>
                <a:pPr>
                  <a:defRPr b="0" i="0" strike="noStrike" sz="900" u="none">
                    <a:solidFill>
                      <a:srgbClr val="FFFFFF"/>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Top 100 (n=40)</c:v>
                  </c:pt>
                  <c:pt idx="1">
                    <c:v>Large Financial Institution (n=35)</c:v>
                  </c:pt>
                </c:lvl>
              </c:multiLvlStrCache>
            </c:multiLvlStrRef>
          </c:cat>
          <c:val>
            <c:numRef>
              <c:f>Sheet1!$C$2:$C$3</c:f>
              <c:numCache>
                <c:formatCode>General</c:formatCode>
                <c:ptCount val="2"/>
                <c:pt idx="0">
                  <c:v>32</c:v>
                </c:pt>
                <c:pt idx="1">
                  <c:v>14</c:v>
                </c:pt>
              </c:numCache>
            </c:numRef>
          </c:val>
        </c:ser>
        <c:ser>
          <c:idx val="2"/>
          <c:order val="2"/>
          <c:tx>
            <c:strRef>
              <c:f>Sheet1!$D$1</c:f>
              <c:strCache>
                <c:ptCount val="1"/>
                <c:pt idx="0">
                  <c:v>Europe (EU + UK)</c:v>
                </c:pt>
              </c:strCache>
            </c:strRef>
          </c:tx>
          <c:spPr>
            <a:solidFill>
              <a:srgbClr val="046A38"/>
            </a:solidFill>
            <a:effectLst/>
          </c:spPr>
          <c:invertIfNegative val="0"/>
          <c:dLbls>
            <c:numFmt formatCode="0&quot;%&quot;;-0&quot;%&quot;;;@" sourceLinked="0"/>
            <c:txPr>
              <a:bodyPr/>
              <a:lstStyle/>
              <a:p>
                <a:pPr>
                  <a:defRPr b="0" i="0" strike="noStrike" sz="900" u="none">
                    <a:solidFill>
                      <a:srgbClr val="FFFFFF"/>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Top 100 (n=40)</c:v>
                  </c:pt>
                  <c:pt idx="1">
                    <c:v>Large Financial Institution (n=35)</c:v>
                  </c:pt>
                </c:lvl>
              </c:multiLvlStrCache>
            </c:multiLvlStrRef>
          </c:cat>
          <c:val>
            <c:numRef>
              <c:f>Sheet1!$D$2:$D$3</c:f>
              <c:numCache>
                <c:formatCode>General</c:formatCode>
                <c:ptCount val="2"/>
                <c:pt idx="0">
                  <c:v>18</c:v>
                </c:pt>
                <c:pt idx="1">
                  <c:v>14</c:v>
                </c:pt>
              </c:numCache>
            </c:numRef>
          </c:val>
        </c:ser>
        <c:ser>
          <c:idx val="3"/>
          <c:order val="3"/>
          <c:tx>
            <c:strRef>
              <c:f>Sheet1!$E$1</c:f>
              <c:strCache>
                <c:ptCount val="1"/>
                <c:pt idx="0">
                  <c:v>Australia</c:v>
                </c:pt>
              </c:strCache>
            </c:strRef>
          </c:tx>
          <c:spPr>
            <a:solidFill>
              <a:srgbClr val="0D8390"/>
            </a:solidFill>
            <a:effectLst/>
          </c:spPr>
          <c:invertIfNegative val="0"/>
          <c:dLbls>
            <c:numFmt formatCode="0&quot;%&quot;;-0&quot;%&quot;;;@" sourceLinked="0"/>
            <c:txPr>
              <a:bodyPr/>
              <a:lstStyle/>
              <a:p>
                <a:pPr>
                  <a:defRPr b="0" i="0" strike="noStrike" sz="900" u="none">
                    <a:solidFill>
                      <a:srgbClr val="FFFFFF"/>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Top 100 (n=40)</c:v>
                  </c:pt>
                  <c:pt idx="1">
                    <c:v>Large Financial Institution (n=35)</c:v>
                  </c:pt>
                </c:lvl>
              </c:multiLvlStrCache>
            </c:multiLvlStrRef>
          </c:cat>
          <c:val>
            <c:numRef>
              <c:f>Sheet1!$E$2:$E$3</c:f>
              <c:numCache>
                <c:formatCode>General</c:formatCode>
                <c:ptCount val="2"/>
                <c:pt idx="0">
                  <c:v>10</c:v>
                </c:pt>
                <c:pt idx="1">
                  <c:v>9</c:v>
                </c:pt>
              </c:numCache>
            </c:numRef>
          </c:val>
        </c:ser>
        <c:ser>
          <c:idx val="4"/>
          <c:order val="4"/>
          <c:tx>
            <c:strRef>
              <c:f>Sheet1!$F$1</c:f>
              <c:strCache>
                <c:ptCount val="1"/>
                <c:pt idx="0">
                  <c:v>Singapore</c:v>
                </c:pt>
              </c:strCache>
            </c:strRef>
          </c:tx>
          <c:spPr>
            <a:solidFill>
              <a:srgbClr val="53565A"/>
            </a:solidFill>
            <a:effectLst/>
          </c:spPr>
          <c:invertIfNegative val="0"/>
          <c:dLbls>
            <c:numFmt formatCode="0&quot;%&quot;;-0&quot;%&quot;;;@" sourceLinked="0"/>
            <c:txPr>
              <a:bodyPr/>
              <a:lstStyle/>
              <a:p>
                <a:pPr>
                  <a:defRPr b="0" i="0" strike="noStrike" sz="900" u="none">
                    <a:solidFill>
                      <a:srgbClr val="FFFFFF"/>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Top 100 (n=40)</c:v>
                  </c:pt>
                  <c:pt idx="1">
                    <c:v>Large Financial Institution (n=35)</c:v>
                  </c:pt>
                </c:lvl>
              </c:multiLvlStrCache>
            </c:multiLvlStrRef>
          </c:cat>
          <c:val>
            <c:numRef>
              <c:f>Sheet1!$F$2:$F$3</c:f>
              <c:numCache>
                <c:formatCode>General</c:formatCode>
                <c:ptCount val="2"/>
                <c:pt idx="0">
                  <c:v>5</c:v>
                </c:pt>
                <c:pt idx="1">
                  <c:v>6</c:v>
                </c:pt>
              </c:numCache>
            </c:numRef>
          </c:val>
        </c:ser>
        <c:dLbls>
          <c:numFmt formatCode="0&quot;%&quot;;-0&quot;%&quot;;;@" sourceLinked="0"/>
          <c:txPr>
            <a:bodyPr/>
            <a:lstStyle/>
            <a:p>
              <a:pPr>
                <a:defRPr b="0" i="0" strike="noStrike" sz="9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1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Insurance</c:v>
                </c:pt>
              </c:strCache>
            </c:strRef>
          </c:tx>
          <c:spPr>
            <a:solidFill>
              <a:srgbClr val="046A38"/>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Sheet1!$A$2:$A$3</c:f>
              <c:multiLvlStrCache>
                <c:ptCount val="2"/>
                <c:lvl>
                  <c:pt idx="0">
                    <c:v>Top 50 Global Insurance Carrier (n=15)</c:v>
                  </c:pt>
                  <c:pt idx="1">
                    <c:v>Large Insurance Carrier — outside Top 100; &gt;15,000 FTE (n=10)</c:v>
                  </c:pt>
                </c:lvl>
              </c:multiLvlStrCache>
            </c:multiLvlStrRef>
          </c:cat>
          <c:val>
            <c:numRef>
              <c:f>Sheet1!$B$2:$B$3</c:f>
              <c:numCache>
                <c:formatCode>General</c:formatCode>
                <c:ptCount val="2"/>
                <c:pt idx="0">
                  <c:v>60</c:v>
                </c:pt>
                <c:pt idx="1">
                  <c:v>40</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Insurance</c:v>
                </c:pt>
              </c:strCache>
            </c:strRef>
          </c:tx>
          <c:spPr>
            <a:solidFill>
              <a:srgbClr val="046A38"/>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United States (n=10)</c:v>
                  </c:pt>
                  <c:pt idx="1">
                    <c:v>Canada (n=12)</c:v>
                  </c:pt>
                  <c:pt idx="2">
                    <c:v>Europe — EU + UK (n=2)</c:v>
                  </c:pt>
                  <c:pt idx="3">
                    <c:v>Australia (n=1)</c:v>
                  </c:pt>
                </c:lvl>
              </c:multiLvlStrCache>
            </c:multiLvlStrRef>
          </c:cat>
          <c:val>
            <c:numRef>
              <c:f>Sheet1!$B$2:$B$5</c:f>
              <c:numCache>
                <c:formatCode>General</c:formatCode>
                <c:ptCount val="4"/>
                <c:pt idx="0">
                  <c:v>40</c:v>
                </c:pt>
                <c:pt idx="1">
                  <c:v>48</c:v>
                </c:pt>
                <c:pt idx="2">
                  <c:v>8</c:v>
                </c:pt>
                <c:pt idx="3">
                  <c:v>4</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046A38"/>
            </a:solidFill>
            <a:effectLst/>
          </c:spPr>
          <c:invertIfNegative val="0"/>
          <c:dLbls>
            <c:numFmt formatCode="0&quot;%&quot;;-0&quot;%&quot;;;@" sourceLinked="0"/>
            <c:txPr>
              <a:bodyPr/>
              <a:lstStyle/>
              <a:p>
                <a:pPr>
                  <a:defRPr b="0" i="0" strike="noStrike" sz="900" u="none">
                    <a:solidFill>
                      <a:srgbClr val="FFFFFF"/>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Top 50 (n=15)</c:v>
                  </c:pt>
                  <c:pt idx="1">
                    <c:v>Large Insurance Carrier (n=10)</c:v>
                  </c:pt>
                </c:lvl>
              </c:multiLvlStrCache>
            </c:multiLvlStrRef>
          </c:cat>
          <c:val>
            <c:numRef>
              <c:f>Sheet1!$B$2:$B$3</c:f>
              <c:numCache>
                <c:formatCode>General</c:formatCode>
                <c:ptCount val="2"/>
                <c:pt idx="0">
                  <c:v>47</c:v>
                </c:pt>
                <c:pt idx="1">
                  <c:v>30</c:v>
                </c:pt>
              </c:numCache>
            </c:numRef>
          </c:val>
        </c:ser>
        <c:ser>
          <c:idx val="1"/>
          <c:order val="1"/>
          <c:tx>
            <c:strRef>
              <c:f>Sheet1!$C$1</c:f>
              <c:strCache>
                <c:ptCount val="1"/>
                <c:pt idx="0">
                  <c:v>Canada</c:v>
                </c:pt>
              </c:strCache>
            </c:strRef>
          </c:tx>
          <c:spPr>
            <a:solidFill>
              <a:srgbClr val="43B02A"/>
            </a:solidFill>
            <a:effectLst/>
          </c:spPr>
          <c:invertIfNegative val="0"/>
          <c:dLbls>
            <c:numFmt formatCode="0&quot;%&quot;;-0&quot;%&quot;;;@" sourceLinked="0"/>
            <c:txPr>
              <a:bodyPr/>
              <a:lstStyle/>
              <a:p>
                <a:pPr>
                  <a:defRPr b="0" i="0" strike="noStrike" sz="900" u="none">
                    <a:solidFill>
                      <a:srgbClr val="FFFFFF"/>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Top 50 (n=15)</c:v>
                  </c:pt>
                  <c:pt idx="1">
                    <c:v>Large Insurance Carrier (n=10)</c:v>
                  </c:pt>
                </c:lvl>
              </c:multiLvlStrCache>
            </c:multiLvlStrRef>
          </c:cat>
          <c:val>
            <c:numRef>
              <c:f>Sheet1!$C$2:$C$3</c:f>
              <c:numCache>
                <c:formatCode>General</c:formatCode>
                <c:ptCount val="2"/>
                <c:pt idx="0">
                  <c:v>40</c:v>
                </c:pt>
                <c:pt idx="1">
                  <c:v>60</c:v>
                </c:pt>
              </c:numCache>
            </c:numRef>
          </c:val>
        </c:ser>
        <c:ser>
          <c:idx val="2"/>
          <c:order val="2"/>
          <c:tx>
            <c:strRef>
              <c:f>Sheet1!$D$1</c:f>
              <c:strCache>
                <c:ptCount val="1"/>
                <c:pt idx="0">
                  <c:v>Europe (EU + UK)</c:v>
                </c:pt>
              </c:strCache>
            </c:strRef>
          </c:tx>
          <c:spPr>
            <a:solidFill>
              <a:srgbClr val="0D8390"/>
            </a:solidFill>
            <a:effectLst/>
          </c:spPr>
          <c:invertIfNegative val="0"/>
          <c:dLbls>
            <c:numFmt formatCode="0&quot;%&quot;;-0&quot;%&quot;;;@" sourceLinked="0"/>
            <c:txPr>
              <a:bodyPr/>
              <a:lstStyle/>
              <a:p>
                <a:pPr>
                  <a:defRPr b="0" i="0" strike="noStrike" sz="900" u="none">
                    <a:solidFill>
                      <a:srgbClr val="FFFFFF"/>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Top 50 (n=15)</c:v>
                  </c:pt>
                  <c:pt idx="1">
                    <c:v>Large Insurance Carrier (n=10)</c:v>
                  </c:pt>
                </c:lvl>
              </c:multiLvlStrCache>
            </c:multiLvlStrRef>
          </c:cat>
          <c:val>
            <c:numRef>
              <c:f>Sheet1!$D$2:$D$3</c:f>
              <c:numCache>
                <c:formatCode>General</c:formatCode>
                <c:ptCount val="2"/>
                <c:pt idx="0">
                  <c:v>7</c:v>
                </c:pt>
                <c:pt idx="1">
                  <c:v>10</c:v>
                </c:pt>
              </c:numCache>
            </c:numRef>
          </c:val>
        </c:ser>
        <c:ser>
          <c:idx val="3"/>
          <c:order val="3"/>
          <c:tx>
            <c:strRef>
              <c:f>Sheet1!$E$1</c:f>
              <c:strCache>
                <c:ptCount val="1"/>
                <c:pt idx="0">
                  <c:v>Australia</c:v>
                </c:pt>
              </c:strCache>
            </c:strRef>
          </c:tx>
          <c:spPr>
            <a:solidFill>
              <a:srgbClr val="53565A"/>
            </a:solidFill>
            <a:effectLst/>
          </c:spPr>
          <c:invertIfNegative val="0"/>
          <c:dLbls>
            <c:numFmt formatCode="0&quot;%&quot;;-0&quot;%&quot;;;@" sourceLinked="0"/>
            <c:txPr>
              <a:bodyPr/>
              <a:lstStyle/>
              <a:p>
                <a:pPr>
                  <a:defRPr b="0" i="0" strike="noStrike" sz="900" u="none">
                    <a:solidFill>
                      <a:srgbClr val="FFFFFF"/>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Top 50 (n=15)</c:v>
                  </c:pt>
                  <c:pt idx="1">
                    <c:v>Large Insurance Carrier (n=10)</c:v>
                  </c:pt>
                </c:lvl>
              </c:multiLvlStrCache>
            </c:multiLvlStrRef>
          </c:cat>
          <c:val>
            <c:numRef>
              <c:f>Sheet1!$E$2:$E$3</c:f>
              <c:numCache>
                <c:formatCode>General</c:formatCode>
                <c:ptCount val="2"/>
                <c:pt idx="0">
                  <c:v>7</c:v>
                </c:pt>
                <c:pt idx="1">
                  <c:v>0</c:v>
                </c:pt>
              </c:numCache>
            </c:numRef>
          </c:val>
        </c:ser>
        <c:dLbls>
          <c:numFmt formatCode="0&quot;%&quot;;-0&quot;%&quot;;;@" sourceLinked="0"/>
          <c:txPr>
            <a:bodyPr/>
            <a:lstStyle/>
            <a:p>
              <a:pPr>
                <a:defRPr b="0" i="0" strike="noStrike" sz="9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1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Greatest Increase in AI/Deepfake Vulnerability</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Digital onboarding, KYC &amp; identity verification</c:v>
                  </c:pt>
                  <c:pt idx="1">
                    <c:v>Payment, wire &amp; transaction approvals</c:v>
                  </c:pt>
                  <c:pt idx="2">
                    <c:v>Claims, underwriting &amp; lending review</c:v>
                  </c:pt>
                  <c:pt idx="3">
                    <c:v>Contact center / phone-based authentication</c:v>
                  </c:pt>
                  <c:pt idx="4">
                    <c:v>Executive / employee / broker impersonation</c:v>
                  </c:pt>
                  <c:pt idx="5">
                    <c:v>Video meetings &amp; remote advisory</c:v>
                  </c:pt>
                </c:lvl>
              </c:multiLvlStrCache>
            </c:multiLvlStrRef>
          </c:cat>
          <c:val>
            <c:numRef>
              <c:f>Sheet1!$B$2:$B$7</c:f>
              <c:numCache>
                <c:formatCode>General</c:formatCode>
                <c:ptCount val="6"/>
                <c:pt idx="0">
                  <c:v>70</c:v>
                </c:pt>
                <c:pt idx="1">
                  <c:v>64</c:v>
                </c:pt>
                <c:pt idx="2">
                  <c:v>53</c:v>
                </c:pt>
                <c:pt idx="3">
                  <c:v>52</c:v>
                </c:pt>
                <c:pt idx="4">
                  <c:v>43</c:v>
                </c:pt>
                <c:pt idx="5">
                  <c:v>15</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c:v>
                </c:pt>
              </c:strCache>
            </c:strRef>
          </c:tx>
          <c:spPr>
            <a:solidFill>
              <a:srgbClr val="86BC25"/>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Digital onboarding &amp; KYC</c:v>
                  </c:pt>
                  <c:pt idx="1">
                    <c:v>Payment / wire approvals</c:v>
                  </c:pt>
                  <c:pt idx="2">
                    <c:v>Claims &amp; underwriting review</c:v>
                  </c:pt>
                  <c:pt idx="3">
                    <c:v>Contact center / phone auth</c:v>
                  </c:pt>
                  <c:pt idx="4">
                    <c:v>Exec / employee impersonation</c:v>
                  </c:pt>
                  <c:pt idx="5">
                    <c:v>Video meetings &amp; remote advisory</c:v>
                  </c:pt>
                </c:lvl>
              </c:multiLvlStrCache>
            </c:multiLvlStrRef>
          </c:cat>
          <c:val>
            <c:numRef>
              <c:f>Sheet1!$B$2:$B$7</c:f>
              <c:numCache>
                <c:formatCode>General</c:formatCode>
                <c:ptCount val="6"/>
                <c:pt idx="0">
                  <c:v>73</c:v>
                </c:pt>
                <c:pt idx="1">
                  <c:v>73</c:v>
                </c:pt>
                <c:pt idx="2">
                  <c:v>48</c:v>
                </c:pt>
                <c:pt idx="3">
                  <c:v>47</c:v>
                </c:pt>
                <c:pt idx="4">
                  <c:v>40</c:v>
                </c:pt>
                <c:pt idx="5">
                  <c:v>15</c:v>
                </c:pt>
              </c:numCache>
            </c:numRef>
          </c:val>
        </c:ser>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Insurance</c:v>
                </c:pt>
              </c:strCache>
            </c:strRef>
          </c:tx>
          <c:spPr>
            <a:solidFill>
              <a:srgbClr val="046A38"/>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Contact center / phone auth</c:v>
                  </c:pt>
                  <c:pt idx="1">
                    <c:v>Claims &amp; underwriting review</c:v>
                  </c:pt>
                  <c:pt idx="2">
                    <c:v>Exec / employee impersonation</c:v>
                  </c:pt>
                  <c:pt idx="3">
                    <c:v>Digital onboarding &amp; KYC</c:v>
                  </c:pt>
                  <c:pt idx="4">
                    <c:v>Payment / wire approvals</c:v>
                  </c:pt>
                  <c:pt idx="5">
                    <c:v>Video meetings &amp; remote advisory</c:v>
                  </c:pt>
                </c:lvl>
              </c:multiLvlStrCache>
            </c:multiLvlStrRef>
          </c:cat>
          <c:val>
            <c:numRef>
              <c:f>Sheet1!$B$2:$B$7</c:f>
              <c:numCache>
                <c:formatCode>General</c:formatCode>
                <c:ptCount val="6"/>
                <c:pt idx="0">
                  <c:v>72</c:v>
                </c:pt>
                <c:pt idx="1">
                  <c:v>64</c:v>
                </c:pt>
                <c:pt idx="2">
                  <c:v>60</c:v>
                </c:pt>
                <c:pt idx="3">
                  <c:v>52</c:v>
                </c:pt>
                <c:pt idx="4">
                  <c:v>36</c:v>
                </c:pt>
                <c:pt idx="5">
                  <c:v>16</c:v>
                </c:pt>
              </c:numCache>
            </c:numRef>
          </c:val>
        </c:ser>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Key Obstacles to Managing AI-Driven Fraud Risk</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Limited staff awareness &amp; training</c:v>
                  </c:pt>
                  <c:pt idx="1">
                    <c:v>Insufficient identity verification / prevention capability</c:v>
                  </c:pt>
                  <c:pt idx="2">
                    <c:v>Lack of fraud detection technology</c:v>
                  </c:pt>
                  <c:pt idx="3">
                    <c:v>Limited 3rd-party intel / consortium data</c:v>
                  </c:pt>
                </c:lvl>
              </c:multiLvlStrCache>
            </c:multiLvlStrRef>
          </c:cat>
          <c:val>
            <c:numRef>
              <c:f>Sheet1!$B$2:$B$5</c:f>
              <c:numCache>
                <c:formatCode>General</c:formatCode>
                <c:ptCount val="4"/>
                <c:pt idx="0">
                  <c:v>53</c:v>
                </c:pt>
                <c:pt idx="1">
                  <c:v>50</c:v>
                </c:pt>
                <c:pt idx="2">
                  <c:v>46</c:v>
                </c:pt>
                <c:pt idx="3">
                  <c:v>43</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 (n=75)</c:v>
                </c:pt>
              </c:strCache>
            </c:strRef>
          </c:tx>
          <c:spPr>
            <a:solidFill>
              <a:srgbClr val="86BC25"/>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Limited staff awareness &amp; training</c:v>
                  </c:pt>
                  <c:pt idx="1">
                    <c:v>Insufficient ID verification / prevention</c:v>
                  </c:pt>
                  <c:pt idx="2">
                    <c:v>Lack of fraud detection technology</c:v>
                  </c:pt>
                  <c:pt idx="3">
                    <c:v>Limited 3rd-party intel / consortium data</c:v>
                  </c:pt>
                </c:lvl>
              </c:multiLvlStrCache>
            </c:multiLvlStrRef>
          </c:cat>
          <c:val>
            <c:numRef>
              <c:f>Sheet1!$B$2:$B$5</c:f>
              <c:numCache>
                <c:formatCode>General</c:formatCode>
                <c:ptCount val="4"/>
                <c:pt idx="0">
                  <c:v>49</c:v>
                </c:pt>
                <c:pt idx="1">
                  <c:v>51</c:v>
                </c:pt>
                <c:pt idx="2">
                  <c:v>48</c:v>
                </c:pt>
                <c:pt idx="3">
                  <c:v>43</c:v>
                </c:pt>
              </c:numCache>
            </c:numRef>
          </c:val>
        </c:ser>
        <c:ser>
          <c:idx val="1"/>
          <c:order val="1"/>
          <c:tx>
            <c:strRef>
              <c:f>Sheet1!$C$1</c:f>
              <c:strCache>
                <c:ptCount val="1"/>
                <c:pt idx="0">
                  <c:v>Insurance (n=25)</c:v>
                </c:pt>
              </c:strCache>
            </c:strRef>
          </c:tx>
          <c:spPr>
            <a:solidFill>
              <a:srgbClr val="046A38"/>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Limited staff awareness &amp; training</c:v>
                  </c:pt>
                  <c:pt idx="1">
                    <c:v>Insufficient ID verification / prevention</c:v>
                  </c:pt>
                  <c:pt idx="2">
                    <c:v>Lack of fraud detection technology</c:v>
                  </c:pt>
                  <c:pt idx="3">
                    <c:v>Limited 3rd-party intel / consortium data</c:v>
                  </c:pt>
                </c:lvl>
              </c:multiLvlStrCache>
            </c:multiLvlStrRef>
          </c:cat>
          <c:val>
            <c:numRef>
              <c:f>Sheet1!$C$2:$C$5</c:f>
              <c:numCache>
                <c:formatCode>General</c:formatCode>
                <c:ptCount val="4"/>
                <c:pt idx="0">
                  <c:v>64</c:v>
                </c:pt>
                <c:pt idx="1">
                  <c:v>48</c:v>
                </c:pt>
                <c:pt idx="2">
                  <c:v>40</c:v>
                </c:pt>
                <c:pt idx="3">
                  <c:v>44</c:v>
                </c:pt>
              </c:numCache>
            </c:numRef>
          </c:val>
        </c:ser>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86BC25"/>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Staff awareness &amp; training — Banking (49%)</c:v>
                  </c:pt>
                  <c:pt idx="1">
                    <c:v>Staff awareness &amp; training — Insurance (64%)</c:v>
                  </c:pt>
                  <c:pt idx="2">
                    <c:v>ID verification / prevention — Banking (51%)</c:v>
                  </c:pt>
                  <c:pt idx="3">
                    <c:v>ID verification / prevention — Insurance (48%)</c:v>
                  </c:pt>
                  <c:pt idx="4">
                    <c:v>Fraud detection technology — Banking (48%)</c:v>
                  </c:pt>
                  <c:pt idx="5">
                    <c:v>Fraud detection technology — Insurance (40%)</c:v>
                  </c:pt>
                  <c:pt idx="6">
                    <c:v>3rd-party intel / consortium — Banking (43%)</c:v>
                  </c:pt>
                  <c:pt idx="7">
                    <c:v>3rd-party intel / consortium — Insurance (44%)</c:v>
                  </c:pt>
                </c:lvl>
              </c:multiLvlStrCache>
            </c:multiLvlStrRef>
          </c:cat>
          <c:val>
            <c:numRef>
              <c:f>Sheet1!$B$2:$B$9</c:f>
              <c:numCache>
                <c:formatCode>General</c:formatCode>
                <c:ptCount val="8"/>
                <c:pt idx="0">
                  <c:v>23</c:v>
                </c:pt>
                <c:pt idx="1">
                  <c:v>20</c:v>
                </c:pt>
                <c:pt idx="2">
                  <c:v>24</c:v>
                </c:pt>
                <c:pt idx="3">
                  <c:v>24</c:v>
                </c:pt>
                <c:pt idx="4">
                  <c:v>21</c:v>
                </c:pt>
                <c:pt idx="5">
                  <c:v>8</c:v>
                </c:pt>
                <c:pt idx="6">
                  <c:v>12</c:v>
                </c:pt>
                <c:pt idx="7">
                  <c:v>20</c:v>
                </c:pt>
              </c:numCache>
            </c:numRef>
          </c:val>
        </c:ser>
        <c:ser>
          <c:idx val="1"/>
          <c:order val="1"/>
          <c:tx>
            <c:strRef>
              <c:f>Sheet1!$C$1</c:f>
              <c:strCache>
                <c:ptCount val="1"/>
                <c:pt idx="0">
                  <c:v>Canada</c:v>
                </c:pt>
              </c:strCache>
            </c:strRef>
          </c:tx>
          <c:spPr>
            <a:solidFill>
              <a:srgbClr val="43B02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Staff awareness &amp; training — Banking (49%)</c:v>
                  </c:pt>
                  <c:pt idx="1">
                    <c:v>Staff awareness &amp; training — Insurance (64%)</c:v>
                  </c:pt>
                  <c:pt idx="2">
                    <c:v>ID verification / prevention — Banking (51%)</c:v>
                  </c:pt>
                  <c:pt idx="3">
                    <c:v>ID verification / prevention — Insurance (48%)</c:v>
                  </c:pt>
                  <c:pt idx="4">
                    <c:v>Fraud detection technology — Banking (48%)</c:v>
                  </c:pt>
                  <c:pt idx="5">
                    <c:v>Fraud detection technology — Insurance (40%)</c:v>
                  </c:pt>
                  <c:pt idx="6">
                    <c:v>3rd-party intel / consortium — Banking (43%)</c:v>
                  </c:pt>
                  <c:pt idx="7">
                    <c:v>3rd-party intel / consortium — Insurance (44%)</c:v>
                  </c:pt>
                </c:lvl>
              </c:multiLvlStrCache>
            </c:multiLvlStrRef>
          </c:cat>
          <c:val>
            <c:numRef>
              <c:f>Sheet1!$C$2:$C$9</c:f>
              <c:numCache>
                <c:formatCode>General</c:formatCode>
                <c:ptCount val="8"/>
                <c:pt idx="0">
                  <c:v>16</c:v>
                </c:pt>
                <c:pt idx="1">
                  <c:v>36</c:v>
                </c:pt>
                <c:pt idx="2">
                  <c:v>13</c:v>
                </c:pt>
                <c:pt idx="3">
                  <c:v>20</c:v>
                </c:pt>
                <c:pt idx="4">
                  <c:v>12</c:v>
                </c:pt>
                <c:pt idx="5">
                  <c:v>28</c:v>
                </c:pt>
                <c:pt idx="6">
                  <c:v>15</c:v>
                </c:pt>
                <c:pt idx="7">
                  <c:v>20</c:v>
                </c:pt>
              </c:numCache>
            </c:numRef>
          </c:val>
        </c:ser>
        <c:ser>
          <c:idx val="2"/>
          <c:order val="2"/>
          <c:tx>
            <c:strRef>
              <c:f>Sheet1!$D$1</c:f>
              <c:strCache>
                <c:ptCount val="1"/>
                <c:pt idx="0">
                  <c:v>Europe (EU + UK)</c:v>
                </c:pt>
              </c:strCache>
            </c:strRef>
          </c:tx>
          <c:spPr>
            <a:solidFill>
              <a:srgbClr val="046A38"/>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Staff awareness &amp; training — Banking (49%)</c:v>
                  </c:pt>
                  <c:pt idx="1">
                    <c:v>Staff awareness &amp; training — Insurance (64%)</c:v>
                  </c:pt>
                  <c:pt idx="2">
                    <c:v>ID verification / prevention — Banking (51%)</c:v>
                  </c:pt>
                  <c:pt idx="3">
                    <c:v>ID verification / prevention — Insurance (48%)</c:v>
                  </c:pt>
                  <c:pt idx="4">
                    <c:v>Fraud detection technology — Banking (48%)</c:v>
                  </c:pt>
                  <c:pt idx="5">
                    <c:v>Fraud detection technology — Insurance (40%)</c:v>
                  </c:pt>
                  <c:pt idx="6">
                    <c:v>3rd-party intel / consortium — Banking (43%)</c:v>
                  </c:pt>
                  <c:pt idx="7">
                    <c:v>3rd-party intel / consortium — Insurance (44%)</c:v>
                  </c:pt>
                </c:lvl>
              </c:multiLvlStrCache>
            </c:multiLvlStrRef>
          </c:cat>
          <c:val>
            <c:numRef>
              <c:f>Sheet1!$D$2:$D$9</c:f>
              <c:numCache>
                <c:formatCode>General</c:formatCode>
                <c:ptCount val="8"/>
                <c:pt idx="0">
                  <c:v>5</c:v>
                </c:pt>
                <c:pt idx="1">
                  <c:v>4</c:v>
                </c:pt>
                <c:pt idx="2">
                  <c:v>8</c:v>
                </c:pt>
                <c:pt idx="3">
                  <c:v>4</c:v>
                </c:pt>
                <c:pt idx="4">
                  <c:v>8</c:v>
                </c:pt>
                <c:pt idx="5">
                  <c:v>0</c:v>
                </c:pt>
                <c:pt idx="6">
                  <c:v>7</c:v>
                </c:pt>
                <c:pt idx="7">
                  <c:v>4</c:v>
                </c:pt>
              </c:numCache>
            </c:numRef>
          </c:val>
        </c:ser>
        <c:ser>
          <c:idx val="3"/>
          <c:order val="3"/>
          <c:tx>
            <c:strRef>
              <c:f>Sheet1!$E$1</c:f>
              <c:strCache>
                <c:ptCount val="1"/>
                <c:pt idx="0">
                  <c:v>Australia</c:v>
                </c:pt>
              </c:strCache>
            </c:strRef>
          </c:tx>
          <c:spPr>
            <a:solidFill>
              <a:srgbClr val="0D8390"/>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Staff awareness &amp; training — Banking (49%)</c:v>
                  </c:pt>
                  <c:pt idx="1">
                    <c:v>Staff awareness &amp; training — Insurance (64%)</c:v>
                  </c:pt>
                  <c:pt idx="2">
                    <c:v>ID verification / prevention — Banking (51%)</c:v>
                  </c:pt>
                  <c:pt idx="3">
                    <c:v>ID verification / prevention — Insurance (48%)</c:v>
                  </c:pt>
                  <c:pt idx="4">
                    <c:v>Fraud detection technology — Banking (48%)</c:v>
                  </c:pt>
                  <c:pt idx="5">
                    <c:v>Fraud detection technology — Insurance (40%)</c:v>
                  </c:pt>
                  <c:pt idx="6">
                    <c:v>3rd-party intel / consortium — Banking (43%)</c:v>
                  </c:pt>
                  <c:pt idx="7">
                    <c:v>3rd-party intel / consortium — Insurance (44%)</c:v>
                  </c:pt>
                </c:lvl>
              </c:multiLvlStrCache>
            </c:multiLvlStrRef>
          </c:cat>
          <c:val>
            <c:numRef>
              <c:f>Sheet1!$E$2:$E$9</c:f>
              <c:numCache>
                <c:formatCode>General</c:formatCode>
                <c:ptCount val="8"/>
                <c:pt idx="0">
                  <c:v>3</c:v>
                </c:pt>
                <c:pt idx="1">
                  <c:v>4</c:v>
                </c:pt>
                <c:pt idx="2">
                  <c:v>3</c:v>
                </c:pt>
                <c:pt idx="3">
                  <c:v>0</c:v>
                </c:pt>
                <c:pt idx="4">
                  <c:v>4</c:v>
                </c:pt>
                <c:pt idx="5">
                  <c:v>4</c:v>
                </c:pt>
                <c:pt idx="6">
                  <c:v>7</c:v>
                </c:pt>
                <c:pt idx="7">
                  <c:v>0</c:v>
                </c:pt>
              </c:numCache>
            </c:numRef>
          </c:val>
        </c:ser>
        <c:ser>
          <c:idx val="4"/>
          <c:order val="4"/>
          <c:tx>
            <c:strRef>
              <c:f>Sheet1!$F$1</c:f>
              <c:strCache>
                <c:ptCount val="1"/>
                <c:pt idx="0">
                  <c:v>Singapore</c:v>
                </c:pt>
              </c:strCache>
            </c:strRef>
          </c:tx>
          <c:spPr>
            <a:solidFill>
              <a:srgbClr val="53565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Staff awareness &amp; training — Banking (49%)</c:v>
                  </c:pt>
                  <c:pt idx="1">
                    <c:v>Staff awareness &amp; training — Insurance (64%)</c:v>
                  </c:pt>
                  <c:pt idx="2">
                    <c:v>ID verification / prevention — Banking (51%)</c:v>
                  </c:pt>
                  <c:pt idx="3">
                    <c:v>ID verification / prevention — Insurance (48%)</c:v>
                  </c:pt>
                  <c:pt idx="4">
                    <c:v>Fraud detection technology — Banking (48%)</c:v>
                  </c:pt>
                  <c:pt idx="5">
                    <c:v>Fraud detection technology — Insurance (40%)</c:v>
                  </c:pt>
                  <c:pt idx="6">
                    <c:v>3rd-party intel / consortium — Banking (43%)</c:v>
                  </c:pt>
                  <c:pt idx="7">
                    <c:v>3rd-party intel / consortium — Insurance (44%)</c:v>
                  </c:pt>
                </c:lvl>
              </c:multiLvlStrCache>
            </c:multiLvlStrRef>
          </c:cat>
          <c:val>
            <c:numRef>
              <c:f>Sheet1!$F$2:$F$9</c:f>
              <c:numCache>
                <c:formatCode>General</c:formatCode>
                <c:ptCount val="8"/>
                <c:pt idx="0">
                  <c:v>3</c:v>
                </c:pt>
                <c:pt idx="1">
                  <c:v>0</c:v>
                </c:pt>
                <c:pt idx="2">
                  <c:v>3</c:v>
                </c:pt>
                <c:pt idx="3">
                  <c:v>0</c:v>
                </c:pt>
                <c:pt idx="4">
                  <c:v>3</c:v>
                </c:pt>
                <c:pt idx="5">
                  <c:v>0</c:v>
                </c:pt>
                <c:pt idx="6">
                  <c:v>3</c:v>
                </c:pt>
                <c:pt idx="7">
                  <c:v>0</c:v>
                </c:pt>
              </c:numCache>
            </c:numRef>
          </c:val>
        </c:ser>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8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750">      </a:defRPr>
          </a:pPr>
          <a:endParaRPr lang="en-US"/>
        </a:p>
      </c:txPr>
    </c:legend>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Biggest Barriers to Effective Information Sharing</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Limited data standardization &amp; poor quality</c:v>
                  </c:pt>
                  <c:pt idx="1">
                    <c:v>Legal, privacy or regulatory constraints</c:v>
                  </c:pt>
                  <c:pt idx="2">
                    <c:v>Lack of external industry participation</c:v>
                  </c:pt>
                  <c:pt idx="3">
                    <c:v>Insufficient budget or resources</c:v>
                  </c:pt>
                  <c:pt idx="4">
                    <c:v>Difficulty demonstrating ROI</c:v>
                  </c:pt>
                  <c:pt idx="5">
                    <c:v>Unclear internal ownership / governance</c:v>
                  </c:pt>
                </c:lvl>
              </c:multiLvlStrCache>
            </c:multiLvlStrRef>
          </c:cat>
          <c:val>
            <c:numRef>
              <c:f>Sheet1!$B$2:$B$7</c:f>
              <c:numCache>
                <c:formatCode>General</c:formatCode>
                <c:ptCount val="6"/>
                <c:pt idx="0">
                  <c:v>77</c:v>
                </c:pt>
                <c:pt idx="1">
                  <c:v>73</c:v>
                </c:pt>
                <c:pt idx="2">
                  <c:v>60</c:v>
                </c:pt>
                <c:pt idx="3">
                  <c:v>36</c:v>
                </c:pt>
                <c:pt idx="4">
                  <c:v>27</c:v>
                </c:pt>
                <c:pt idx="5">
                  <c:v>26</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United States</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Data quality</c:v>
                  </c:pt>
                  <c:pt idx="1">
                    <c:v>Legal/regulatory</c:v>
                  </c:pt>
                  <c:pt idx="2">
                    <c:v>External particip.</c:v>
                  </c:pt>
                  <c:pt idx="3">
                    <c:v>Budget</c:v>
                  </c:pt>
                  <c:pt idx="4">
                    <c:v>ROI</c:v>
                  </c:pt>
                  <c:pt idx="5">
                    <c:v>Ownership</c:v>
                  </c:pt>
                </c:lvl>
              </c:multiLvlStrCache>
            </c:multiLvlStrRef>
          </c:cat>
          <c:val>
            <c:numRef>
              <c:f>Sheet1!$B$2:$B$7</c:f>
              <c:numCache>
                <c:formatCode>General</c:formatCode>
                <c:ptCount val="6"/>
                <c:pt idx="0">
                  <c:v>74</c:v>
                </c:pt>
                <c:pt idx="1">
                  <c:v>74</c:v>
                </c:pt>
                <c:pt idx="2">
                  <c:v>74</c:v>
                </c:pt>
                <c:pt idx="3">
                  <c:v>35</c:v>
                </c:pt>
                <c:pt idx="4">
                  <c:v>18</c:v>
                </c:pt>
                <c:pt idx="5">
                  <c:v>26</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Canada</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Data quality</c:v>
                  </c:pt>
                  <c:pt idx="1">
                    <c:v>Legal/regulatory</c:v>
                  </c:pt>
                  <c:pt idx="2">
                    <c:v>External particip.</c:v>
                  </c:pt>
                  <c:pt idx="3">
                    <c:v>Budget</c:v>
                  </c:pt>
                  <c:pt idx="4">
                    <c:v>ROI</c:v>
                  </c:pt>
                  <c:pt idx="5">
                    <c:v>Ownership</c:v>
                  </c:pt>
                </c:lvl>
              </c:multiLvlStrCache>
            </c:multiLvlStrRef>
          </c:cat>
          <c:val>
            <c:numRef>
              <c:f>Sheet1!$B$2:$B$7</c:f>
              <c:numCache>
                <c:formatCode>General</c:formatCode>
                <c:ptCount val="6"/>
                <c:pt idx="0">
                  <c:v>72</c:v>
                </c:pt>
                <c:pt idx="1">
                  <c:v>72</c:v>
                </c:pt>
                <c:pt idx="2">
                  <c:v>61</c:v>
                </c:pt>
                <c:pt idx="3">
                  <c:v>28</c:v>
                </c:pt>
                <c:pt idx="4">
                  <c:v>39</c:v>
                </c:pt>
                <c:pt idx="5">
                  <c:v>28</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Europe (EU + UK)</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Data quality</c:v>
                  </c:pt>
                  <c:pt idx="1">
                    <c:v>Legal/regulatory</c:v>
                  </c:pt>
                  <c:pt idx="2">
                    <c:v>External particip.</c:v>
                  </c:pt>
                  <c:pt idx="3">
                    <c:v>Budget</c:v>
                  </c:pt>
                  <c:pt idx="4">
                    <c:v>ROI</c:v>
                  </c:pt>
                  <c:pt idx="5">
                    <c:v>Ownership</c:v>
                  </c:pt>
                </c:lvl>
              </c:multiLvlStrCache>
            </c:multiLvlStrRef>
          </c:cat>
          <c:val>
            <c:numRef>
              <c:f>Sheet1!$B$2:$B$7</c:f>
              <c:numCache>
                <c:formatCode>General</c:formatCode>
                <c:ptCount val="6"/>
                <c:pt idx="0">
                  <c:v>67</c:v>
                </c:pt>
                <c:pt idx="1">
                  <c:v>67</c:v>
                </c:pt>
                <c:pt idx="2">
                  <c:v>58</c:v>
                </c:pt>
                <c:pt idx="3">
                  <c:v>42</c:v>
                </c:pt>
                <c:pt idx="4">
                  <c:v>58</c:v>
                </c:pt>
                <c:pt idx="5">
                  <c:v>8</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Australia</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Data quality</c:v>
                  </c:pt>
                  <c:pt idx="1">
                    <c:v>Legal/regulatory</c:v>
                  </c:pt>
                  <c:pt idx="2">
                    <c:v>External particip.</c:v>
                  </c:pt>
                  <c:pt idx="3">
                    <c:v>Budget</c:v>
                  </c:pt>
                  <c:pt idx="4">
                    <c:v>ROI</c:v>
                  </c:pt>
                  <c:pt idx="5">
                    <c:v>Ownership</c:v>
                  </c:pt>
                </c:lvl>
              </c:multiLvlStrCache>
            </c:multiLvlStrRef>
          </c:cat>
          <c:val>
            <c:numRef>
              <c:f>Sheet1!$B$2:$B$7</c:f>
              <c:numCache>
                <c:formatCode>General</c:formatCode>
                <c:ptCount val="6"/>
                <c:pt idx="0">
                  <c:v>71</c:v>
                </c:pt>
                <c:pt idx="1">
                  <c:v>100</c:v>
                </c:pt>
                <c:pt idx="2">
                  <c:v>43</c:v>
                </c:pt>
                <c:pt idx="3">
                  <c:v>57</c:v>
                </c:pt>
                <c:pt idx="4">
                  <c:v>14</c:v>
                </c:pt>
                <c:pt idx="5">
                  <c:v>14</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Singapore</c:v>
                </c:pt>
              </c:strCache>
            </c:strRef>
          </c:tx>
          <c:spPr>
            <a:solidFill>
              <a:srgbClr val="86BC25"/>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Data quality</c:v>
                  </c:pt>
                  <c:pt idx="1">
                    <c:v>Legal/regulatory</c:v>
                  </c:pt>
                  <c:pt idx="2">
                    <c:v>External particip.</c:v>
                  </c:pt>
                  <c:pt idx="3">
                    <c:v>Budget</c:v>
                  </c:pt>
                  <c:pt idx="4">
                    <c:v>ROI</c:v>
                  </c:pt>
                  <c:pt idx="5">
                    <c:v>Ownership</c:v>
                  </c:pt>
                </c:lvl>
              </c:multiLvlStrCache>
            </c:multiLvlStrRef>
          </c:cat>
          <c:val>
            <c:numRef>
              <c:f>Sheet1!$B$2:$B$7</c:f>
              <c:numCache>
                <c:formatCode>General</c:formatCode>
                <c:ptCount val="6"/>
                <c:pt idx="0">
                  <c:v>100</c:v>
                </c:pt>
                <c:pt idx="1">
                  <c:v>50</c:v>
                </c:pt>
                <c:pt idx="2">
                  <c:v>50</c:v>
                </c:pt>
                <c:pt idx="3">
                  <c:v>25</c:v>
                </c:pt>
                <c:pt idx="4">
                  <c:v>50</c:v>
                </c:pt>
                <c:pt idx="5">
                  <c:v>25</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United States</c:v>
                </c:pt>
              </c:strCache>
            </c:strRef>
          </c:tx>
          <c:spPr>
            <a:solidFill>
              <a:srgbClr val="046A38"/>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Data quality</c:v>
                  </c:pt>
                  <c:pt idx="1">
                    <c:v>Legal/regulatory</c:v>
                  </c:pt>
                  <c:pt idx="2">
                    <c:v>External particip.</c:v>
                  </c:pt>
                  <c:pt idx="3">
                    <c:v>Budget</c:v>
                  </c:pt>
                  <c:pt idx="4">
                    <c:v>ROI</c:v>
                  </c:pt>
                  <c:pt idx="5">
                    <c:v>Ownership</c:v>
                  </c:pt>
                </c:lvl>
              </c:multiLvlStrCache>
            </c:multiLvlStrRef>
          </c:cat>
          <c:val>
            <c:numRef>
              <c:f>Sheet1!$B$2:$B$7</c:f>
              <c:numCache>
                <c:formatCode>General</c:formatCode>
                <c:ptCount val="6"/>
                <c:pt idx="0">
                  <c:v>90</c:v>
                </c:pt>
                <c:pt idx="1">
                  <c:v>100</c:v>
                </c:pt>
                <c:pt idx="2">
                  <c:v>40</c:v>
                </c:pt>
                <c:pt idx="3">
                  <c:v>40</c:v>
                </c:pt>
                <c:pt idx="4">
                  <c:v>10</c:v>
                </c:pt>
                <c:pt idx="5">
                  <c:v>20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Canada</c:v>
                </c:pt>
              </c:strCache>
            </c:strRef>
          </c:tx>
          <c:spPr>
            <a:solidFill>
              <a:srgbClr val="046A38"/>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Data quality</c:v>
                  </c:pt>
                  <c:pt idx="1">
                    <c:v>Legal/regulatory</c:v>
                  </c:pt>
                  <c:pt idx="2">
                    <c:v>External particip.</c:v>
                  </c:pt>
                  <c:pt idx="3">
                    <c:v>Budget</c:v>
                  </c:pt>
                  <c:pt idx="4">
                    <c:v>ROI</c:v>
                  </c:pt>
                  <c:pt idx="5">
                    <c:v>Ownership</c:v>
                  </c:pt>
                </c:lvl>
              </c:multiLvlStrCache>
            </c:multiLvlStrRef>
          </c:cat>
          <c:val>
            <c:numRef>
              <c:f>Sheet1!$B$2:$B$7</c:f>
              <c:numCache>
                <c:formatCode>General</c:formatCode>
                <c:ptCount val="6"/>
                <c:pt idx="0">
                  <c:v>83</c:v>
                </c:pt>
                <c:pt idx="1">
                  <c:v>50</c:v>
                </c:pt>
                <c:pt idx="2">
                  <c:v>50</c:v>
                </c:pt>
                <c:pt idx="3">
                  <c:v>33</c:v>
                </c:pt>
                <c:pt idx="4">
                  <c:v>25</c:v>
                </c:pt>
                <c:pt idx="5">
                  <c:v>50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Europe (EU + UK)</c:v>
                </c:pt>
              </c:strCache>
            </c:strRef>
          </c:tx>
          <c:spPr>
            <a:solidFill>
              <a:srgbClr val="046A38"/>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Data quality</c:v>
                  </c:pt>
                  <c:pt idx="1">
                    <c:v>Legal/regulatory</c:v>
                  </c:pt>
                  <c:pt idx="2">
                    <c:v>External particip.</c:v>
                  </c:pt>
                  <c:pt idx="3">
                    <c:v>Budget</c:v>
                  </c:pt>
                  <c:pt idx="4">
                    <c:v>ROI</c:v>
                  </c:pt>
                  <c:pt idx="5">
                    <c:v>Ownership</c:v>
                  </c:pt>
                </c:lvl>
              </c:multiLvlStrCache>
            </c:multiLvlStrRef>
          </c:cat>
          <c:val>
            <c:numRef>
              <c:f>Sheet1!$B$2:$B$7</c:f>
              <c:numCache>
                <c:formatCode>General</c:formatCode>
                <c:ptCount val="6"/>
                <c:pt idx="0">
                  <c:v>100</c:v>
                </c:pt>
                <c:pt idx="1">
                  <c:v>50</c:v>
                </c:pt>
                <c:pt idx="2">
                  <c:v>50</c:v>
                </c:pt>
                <c:pt idx="3">
                  <c:v>50</c:v>
                </c:pt>
                <c:pt idx="4">
                  <c:v>0</c:v>
                </c:pt>
                <c:pt idx="5">
                  <c:v>50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Australia</c:v>
                </c:pt>
              </c:strCache>
            </c:strRef>
          </c:tx>
          <c:spPr>
            <a:solidFill>
              <a:srgbClr val="046A38"/>
            </a:solidFill>
            <a:effectLst/>
          </c:spPr>
          <c:invertIfNegative val="0"/>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Data quality</c:v>
                  </c:pt>
                  <c:pt idx="1">
                    <c:v>Legal/regulatory</c:v>
                  </c:pt>
                  <c:pt idx="2">
                    <c:v>External particip.</c:v>
                  </c:pt>
                  <c:pt idx="3">
                    <c:v>Budget</c:v>
                  </c:pt>
                  <c:pt idx="4">
                    <c:v>ROI</c:v>
                  </c:pt>
                  <c:pt idx="5">
                    <c:v>Ownership</c:v>
                  </c:pt>
                </c:lvl>
              </c:multiLvlStrCache>
            </c:multiLvlStrRef>
          </c:cat>
          <c:val>
            <c:numRef>
              <c:f>Sheet1!$B$2:$B$7</c:f>
              <c:numCache>
                <c:formatCode>General</c:formatCode>
                <c:ptCount val="6"/>
                <c:pt idx="0">
                  <c:v>100</c:v>
                </c:pt>
                <c:pt idx="1">
                  <c:v>100</c:v>
                </c:pt>
                <c:pt idx="2">
                  <c:v>100</c:v>
                </c:pt>
                <c:pt idx="3">
                  <c:v>0</c:v>
                </c:pt>
                <c:pt idx="4">
                  <c:v>0</c:v>
                </c:pt>
                <c:pt idx="5">
                  <c:v>0</c:v>
                </c:pt>
              </c:numCache>
            </c:numRef>
          </c:val>
        </c:ser>
        <c:dLbls>
          <c:numFmt formatCode="0&quot;%&quot;" sourceLinked="0"/>
          <c:txPr>
            <a:bodyPr/>
            <a:lstStyle/>
            <a:p>
              <a:pPr>
                <a:defRPr b="0" i="0" strike="noStrike" sz="7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rot="-1800000"/>
          <a:lstStyle/>
          <a:p>
            <a:pPr>
              <a:defRPr sz="6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Government Action With the Greatest Impact on Info Sharing</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Centralized fraud info-sharing platform / utility</c:v>
                  </c:pt>
                  <c:pt idx="1">
                    <c:v>Clearer legal &amp; regulatory frameworks</c:v>
                  </c:pt>
                  <c:pt idx="2">
                    <c:v>Common data standards &amp; definitions</c:v>
                  </c:pt>
                  <c:pt idx="3">
                    <c:v>Greater public-private collaboration</c:v>
                  </c:pt>
                  <c:pt idx="4">
                    <c:v>Prioritized industry use cases</c:v>
                  </c:pt>
                  <c:pt idx="5">
                    <c:v>Funding or incentives</c:v>
                  </c:pt>
                </c:lvl>
              </c:multiLvlStrCache>
            </c:multiLvlStrRef>
          </c:cat>
          <c:val>
            <c:numRef>
              <c:f>Sheet1!$B$2:$B$7</c:f>
              <c:numCache>
                <c:formatCode>General</c:formatCode>
                <c:ptCount val="6"/>
                <c:pt idx="0">
                  <c:v>35</c:v>
                </c:pt>
                <c:pt idx="1">
                  <c:v>26</c:v>
                </c:pt>
                <c:pt idx="2">
                  <c:v>14</c:v>
                </c:pt>
                <c:pt idx="3">
                  <c:v>13</c:v>
                </c:pt>
                <c:pt idx="4">
                  <c:v>9</c:v>
                </c:pt>
                <c:pt idx="5">
                  <c:v>3</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 (n=44)</c:v>
                </c:pt>
              </c:strCache>
            </c:strRef>
          </c:tx>
          <c:spPr>
            <a:solidFill>
              <a:srgbClr val="86BC25"/>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Sheet1!$A$2:$A$7</c:f>
              <c:multiLvlStrCache>
                <c:ptCount val="6"/>
                <c:lvl>
                  <c:pt idx="0">
                    <c:v>Centralized fraud info-sharing platform / utility (35%)</c:v>
                  </c:pt>
                  <c:pt idx="1">
                    <c:v>Clearer legal &amp; regulatory frameworks (26%)</c:v>
                  </c:pt>
                  <c:pt idx="2">
                    <c:v>Common data standards &amp; definitions (14%)</c:v>
                  </c:pt>
                  <c:pt idx="3">
                    <c:v>Greater public-private collaboration (13%)</c:v>
                  </c:pt>
                  <c:pt idx="4">
                    <c:v>Prioritized industry use cases (9%)</c:v>
                  </c:pt>
                  <c:pt idx="5">
                    <c:v>Funding or incentives (3%)</c:v>
                  </c:pt>
                </c:lvl>
              </c:multiLvlStrCache>
            </c:multiLvlStrRef>
          </c:cat>
          <c:val>
            <c:numRef>
              <c:f>Sheet1!$B$2:$B$7</c:f>
              <c:numCache>
                <c:formatCode>General</c:formatCode>
                <c:ptCount val="6"/>
                <c:pt idx="0">
                  <c:v>16</c:v>
                </c:pt>
                <c:pt idx="1">
                  <c:v>7</c:v>
                </c:pt>
                <c:pt idx="2">
                  <c:v>8</c:v>
                </c:pt>
                <c:pt idx="3">
                  <c:v>9</c:v>
                </c:pt>
                <c:pt idx="4">
                  <c:v>2</c:v>
                </c:pt>
                <c:pt idx="5">
                  <c:v>2</c:v>
                </c:pt>
              </c:numCache>
            </c:numRef>
          </c:val>
        </c:ser>
        <c:ser>
          <c:idx val="1"/>
          <c:order val="1"/>
          <c:tx>
            <c:strRef>
              <c:f>Sheet1!$C$1</c:f>
              <c:strCache>
                <c:ptCount val="1"/>
                <c:pt idx="0">
                  <c:v>Canada (n=30)</c:v>
                </c:pt>
              </c:strCache>
            </c:strRef>
          </c:tx>
          <c:spPr>
            <a:solidFill>
              <a:srgbClr val="43B02A"/>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Sheet1!$A$2:$A$7</c:f>
              <c:multiLvlStrCache>
                <c:ptCount val="6"/>
                <c:lvl>
                  <c:pt idx="0">
                    <c:v>Centralized fraud info-sharing platform / utility (35%)</c:v>
                  </c:pt>
                  <c:pt idx="1">
                    <c:v>Clearer legal &amp; regulatory frameworks (26%)</c:v>
                  </c:pt>
                  <c:pt idx="2">
                    <c:v>Common data standards &amp; definitions (14%)</c:v>
                  </c:pt>
                  <c:pt idx="3">
                    <c:v>Greater public-private collaboration (13%)</c:v>
                  </c:pt>
                  <c:pt idx="4">
                    <c:v>Prioritized industry use cases (9%)</c:v>
                  </c:pt>
                  <c:pt idx="5">
                    <c:v>Funding or incentives (3%)</c:v>
                  </c:pt>
                </c:lvl>
              </c:multiLvlStrCache>
            </c:multiLvlStrRef>
          </c:cat>
          <c:val>
            <c:numRef>
              <c:f>Sheet1!$C$2:$C$7</c:f>
              <c:numCache>
                <c:formatCode>General</c:formatCode>
                <c:ptCount val="6"/>
                <c:pt idx="0">
                  <c:v>10</c:v>
                </c:pt>
                <c:pt idx="1">
                  <c:v>12</c:v>
                </c:pt>
                <c:pt idx="2">
                  <c:v>2</c:v>
                </c:pt>
                <c:pt idx="3">
                  <c:v>2</c:v>
                </c:pt>
                <c:pt idx="4">
                  <c:v>4</c:v>
                </c:pt>
                <c:pt idx="5">
                  <c:v>0</c:v>
                </c:pt>
              </c:numCache>
            </c:numRef>
          </c:val>
        </c:ser>
        <c:ser>
          <c:idx val="2"/>
          <c:order val="2"/>
          <c:tx>
            <c:strRef>
              <c:f>Sheet1!$D$1</c:f>
              <c:strCache>
                <c:ptCount val="1"/>
                <c:pt idx="0">
                  <c:v>Europe — EU+UK (n=14)</c:v>
                </c:pt>
              </c:strCache>
            </c:strRef>
          </c:tx>
          <c:spPr>
            <a:solidFill>
              <a:srgbClr val="046A38"/>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Sheet1!$A$2:$A$7</c:f>
              <c:multiLvlStrCache>
                <c:ptCount val="6"/>
                <c:lvl>
                  <c:pt idx="0">
                    <c:v>Centralized fraud info-sharing platform / utility (35%)</c:v>
                  </c:pt>
                  <c:pt idx="1">
                    <c:v>Clearer legal &amp; regulatory frameworks (26%)</c:v>
                  </c:pt>
                  <c:pt idx="2">
                    <c:v>Common data standards &amp; definitions (14%)</c:v>
                  </c:pt>
                  <c:pt idx="3">
                    <c:v>Greater public-private collaboration (13%)</c:v>
                  </c:pt>
                  <c:pt idx="4">
                    <c:v>Prioritized industry use cases (9%)</c:v>
                  </c:pt>
                  <c:pt idx="5">
                    <c:v>Funding or incentives (3%)</c:v>
                  </c:pt>
                </c:lvl>
              </c:multiLvlStrCache>
            </c:multiLvlStrRef>
          </c:cat>
          <c:val>
            <c:numRef>
              <c:f>Sheet1!$D$2:$D$7</c:f>
              <c:numCache>
                <c:formatCode>General</c:formatCode>
                <c:ptCount val="6"/>
                <c:pt idx="0">
                  <c:v>5</c:v>
                </c:pt>
                <c:pt idx="1">
                  <c:v>4</c:v>
                </c:pt>
                <c:pt idx="2">
                  <c:v>2</c:v>
                </c:pt>
                <c:pt idx="3">
                  <c:v>1</c:v>
                </c:pt>
                <c:pt idx="4">
                  <c:v>1</c:v>
                </c:pt>
                <c:pt idx="5">
                  <c:v>1</c:v>
                </c:pt>
              </c:numCache>
            </c:numRef>
          </c:val>
        </c:ser>
        <c:ser>
          <c:idx val="3"/>
          <c:order val="3"/>
          <c:tx>
            <c:strRef>
              <c:f>Sheet1!$E$1</c:f>
              <c:strCache>
                <c:ptCount val="1"/>
                <c:pt idx="0">
                  <c:v>Australia (n=8)</c:v>
                </c:pt>
              </c:strCache>
            </c:strRef>
          </c:tx>
          <c:spPr>
            <a:solidFill>
              <a:srgbClr val="0D8390"/>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Sheet1!$A$2:$A$7</c:f>
              <c:multiLvlStrCache>
                <c:ptCount val="6"/>
                <c:lvl>
                  <c:pt idx="0">
                    <c:v>Centralized fraud info-sharing platform / utility (35%)</c:v>
                  </c:pt>
                  <c:pt idx="1">
                    <c:v>Clearer legal &amp; regulatory frameworks (26%)</c:v>
                  </c:pt>
                  <c:pt idx="2">
                    <c:v>Common data standards &amp; definitions (14%)</c:v>
                  </c:pt>
                  <c:pt idx="3">
                    <c:v>Greater public-private collaboration (13%)</c:v>
                  </c:pt>
                  <c:pt idx="4">
                    <c:v>Prioritized industry use cases (9%)</c:v>
                  </c:pt>
                  <c:pt idx="5">
                    <c:v>Funding or incentives (3%)</c:v>
                  </c:pt>
                </c:lvl>
              </c:multiLvlStrCache>
            </c:multiLvlStrRef>
          </c:cat>
          <c:val>
            <c:numRef>
              <c:f>Sheet1!$E$2:$E$7</c:f>
              <c:numCache>
                <c:formatCode>General</c:formatCode>
                <c:ptCount val="6"/>
                <c:pt idx="0">
                  <c:v>2</c:v>
                </c:pt>
                <c:pt idx="1">
                  <c:v>3</c:v>
                </c:pt>
                <c:pt idx="2">
                  <c:v>0</c:v>
                </c:pt>
                <c:pt idx="3">
                  <c:v>1</c:v>
                </c:pt>
                <c:pt idx="4">
                  <c:v>2</c:v>
                </c:pt>
                <c:pt idx="5">
                  <c:v>0</c:v>
                </c:pt>
              </c:numCache>
            </c:numRef>
          </c:val>
        </c:ser>
        <c:ser>
          <c:idx val="4"/>
          <c:order val="4"/>
          <c:tx>
            <c:strRef>
              <c:f>Sheet1!$F$1</c:f>
              <c:strCache>
                <c:ptCount val="1"/>
                <c:pt idx="0">
                  <c:v>Singapore (n=4)</c:v>
                </c:pt>
              </c:strCache>
            </c:strRef>
          </c:tx>
          <c:spPr>
            <a:solidFill>
              <a:srgbClr val="53565A"/>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Sheet1!$A$2:$A$7</c:f>
              <c:multiLvlStrCache>
                <c:ptCount val="6"/>
                <c:lvl>
                  <c:pt idx="0">
                    <c:v>Centralized fraud info-sharing platform / utility (35%)</c:v>
                  </c:pt>
                  <c:pt idx="1">
                    <c:v>Clearer legal &amp; regulatory frameworks (26%)</c:v>
                  </c:pt>
                  <c:pt idx="2">
                    <c:v>Common data standards &amp; definitions (14%)</c:v>
                  </c:pt>
                  <c:pt idx="3">
                    <c:v>Greater public-private collaboration (13%)</c:v>
                  </c:pt>
                  <c:pt idx="4">
                    <c:v>Prioritized industry use cases (9%)</c:v>
                  </c:pt>
                  <c:pt idx="5">
                    <c:v>Funding or incentives (3%)</c:v>
                  </c:pt>
                </c:lvl>
              </c:multiLvlStrCache>
            </c:multiLvlStrRef>
          </c:cat>
          <c:val>
            <c:numRef>
              <c:f>Sheet1!$F$2:$F$7</c:f>
              <c:numCache>
                <c:formatCode>General</c:formatCode>
                <c:ptCount val="6"/>
                <c:pt idx="0">
                  <c:v>2</c:v>
                </c:pt>
                <c:pt idx="1">
                  <c:v>0</c:v>
                </c:pt>
                <c:pt idx="2">
                  <c:v>2</c:v>
                </c:pt>
                <c:pt idx="3">
                  <c:v>0</c:v>
                </c:pt>
                <c:pt idx="4">
                  <c:v>0</c:v>
                </c:pt>
                <c:pt idx="5">
                  <c:v>0</c:v>
                </c:pt>
              </c:numCache>
            </c:numRef>
          </c:val>
        </c:ser>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9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800">      </a:defRPr>
          </a:pPr>
          <a:endParaRPr lang="en-US"/>
        </a:p>
      </c:txPr>
    </c:legend>
    <c:plotVisOnly val="1"/>
    <c:dispBlanksAs val="span"/>
  </c:chart>
  <c:spPr>
    <a:no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Fintech partners</c:v>
                  </c:pt>
                  <c:pt idx="1">
                    <c:v>Business &amp; commercial clients</c:v>
                  </c:pt>
                  <c:pt idx="2">
                    <c:v>Dealers &amp; indirect lending partners</c:v>
                  </c:pt>
                  <c:pt idx="3">
                    <c:v>Mortgage brokers</c:v>
                  </c:pt>
                  <c:pt idx="4">
                    <c:v>Merchants</c:v>
                  </c:pt>
                  <c:pt idx="5">
                    <c:v>Appraisers</c:v>
                  </c:pt>
                </c:lvl>
              </c:multiLvlStrCache>
            </c:multiLvlStrRef>
          </c:cat>
          <c:val>
            <c:numRef>
              <c:f>Sheet1!$B$2:$B$7</c:f>
              <c:numCache>
                <c:formatCode>General</c:formatCode>
                <c:ptCount val="6"/>
                <c:pt idx="0">
                  <c:v>28</c:v>
                </c:pt>
                <c:pt idx="1">
                  <c:v>24</c:v>
                </c:pt>
                <c:pt idx="2">
                  <c:v>20</c:v>
                </c:pt>
                <c:pt idx="3">
                  <c:v>16</c:v>
                </c:pt>
                <c:pt idx="4">
                  <c:v>7</c:v>
                </c:pt>
                <c:pt idx="5">
                  <c:v>4</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Insurance</c:v>
                </c:pt>
              </c:strCache>
            </c:strRef>
          </c:tx>
          <c:spPr>
            <a:solidFill>
              <a:srgbClr val="046A38"/>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Health care providers</c:v>
                  </c:pt>
                  <c:pt idx="1">
                    <c:v>Automotive service providers</c:v>
                  </c:pt>
                  <c:pt idx="2">
                    <c:v>Brokers &amp; distribution partners</c:v>
                  </c:pt>
                  <c:pt idx="3">
                    <c:v>Third-party administrators (TPAs)</c:v>
                  </c:pt>
                  <c:pt idx="4">
                    <c:v>Property claims service providers</c:v>
                  </c:pt>
                  <c:pt idx="5">
                    <c:v>Legal representatives &amp; paralegals</c:v>
                  </c:pt>
                </c:lvl>
              </c:multiLvlStrCache>
            </c:multiLvlStrRef>
          </c:cat>
          <c:val>
            <c:numRef>
              <c:f>Sheet1!$B$2:$B$7</c:f>
              <c:numCache>
                <c:formatCode>General</c:formatCode>
                <c:ptCount val="6"/>
                <c:pt idx="0">
                  <c:v>40</c:v>
                </c:pt>
                <c:pt idx="1">
                  <c:v>16</c:v>
                </c:pt>
                <c:pt idx="2">
                  <c:v>16</c:v>
                </c:pt>
                <c:pt idx="3">
                  <c:v>12</c:v>
                </c:pt>
                <c:pt idx="4">
                  <c:v>12</c:v>
                </c:pt>
                <c:pt idx="5">
                  <c:v>4</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Strategy Expected to Most Reduce Third-Party Risk</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Increase info sharing &amp; intelligence</c:v>
                  </c:pt>
                  <c:pt idx="1">
                    <c:v>Enhance ongoing monitoring &amp; detection</c:v>
                  </c:pt>
                  <c:pt idx="2">
                    <c:v>Strengthen onboarding verification &amp; due diligence</c:v>
                  </c:pt>
                  <c:pt idx="3">
                    <c:v>Strengthen 3rd-party oversight &amp; accountability</c:v>
                  </c:pt>
                </c:lvl>
              </c:multiLvlStrCache>
            </c:multiLvlStrRef>
          </c:cat>
          <c:val>
            <c:numRef>
              <c:f>Sheet1!$B$2:$B$5</c:f>
              <c:numCache>
                <c:formatCode>General</c:formatCode>
                <c:ptCount val="4"/>
                <c:pt idx="0">
                  <c:v>30</c:v>
                </c:pt>
                <c:pt idx="1">
                  <c:v>27</c:v>
                </c:pt>
                <c:pt idx="2">
                  <c:v>23</c:v>
                </c:pt>
                <c:pt idx="3">
                  <c:v>19</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 (n=75)</c:v>
                </c:pt>
              </c:strCache>
            </c:strRef>
          </c:tx>
          <c:spPr>
            <a:solidFill>
              <a:srgbClr val="86BC25"/>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Increase info sharing &amp; intelligence</c:v>
                  </c:pt>
                  <c:pt idx="1">
                    <c:v>Enhance ongoing monitoring &amp; detection</c:v>
                  </c:pt>
                  <c:pt idx="2">
                    <c:v>Strengthen onboarding verification &amp; due diligence</c:v>
                  </c:pt>
                  <c:pt idx="3">
                    <c:v>Strengthen 3rd-party oversight &amp; accountability</c:v>
                  </c:pt>
                </c:lvl>
              </c:multiLvlStrCache>
            </c:multiLvlStrRef>
          </c:cat>
          <c:val>
            <c:numRef>
              <c:f>Sheet1!$B$2:$B$5</c:f>
              <c:numCache>
                <c:formatCode>General</c:formatCode>
                <c:ptCount val="4"/>
                <c:pt idx="0">
                  <c:v>33</c:v>
                </c:pt>
                <c:pt idx="1">
                  <c:v>25</c:v>
                </c:pt>
                <c:pt idx="2">
                  <c:v>23</c:v>
                </c:pt>
                <c:pt idx="3">
                  <c:v>17</c:v>
                </c:pt>
              </c:numCache>
            </c:numRef>
          </c:val>
        </c:ser>
        <c:ser>
          <c:idx val="1"/>
          <c:order val="1"/>
          <c:tx>
            <c:strRef>
              <c:f>Sheet1!$C$1</c:f>
              <c:strCache>
                <c:ptCount val="1"/>
                <c:pt idx="0">
                  <c:v>Insurance (n=25)</c:v>
                </c:pt>
              </c:strCache>
            </c:strRef>
          </c:tx>
          <c:spPr>
            <a:solidFill>
              <a:srgbClr val="046A38"/>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Increase info sharing &amp; intelligence</c:v>
                  </c:pt>
                  <c:pt idx="1">
                    <c:v>Enhance ongoing monitoring &amp; detection</c:v>
                  </c:pt>
                  <c:pt idx="2">
                    <c:v>Strengthen onboarding verification &amp; due diligence</c:v>
                  </c:pt>
                  <c:pt idx="3">
                    <c:v>Strengthen 3rd-party oversight &amp; accountability</c:v>
                  </c:pt>
                </c:lvl>
              </c:multiLvlStrCache>
            </c:multiLvlStrRef>
          </c:cat>
          <c:val>
            <c:numRef>
              <c:f>Sheet1!$C$2:$C$5</c:f>
              <c:numCache>
                <c:formatCode>General</c:formatCode>
                <c:ptCount val="4"/>
                <c:pt idx="0">
                  <c:v>20</c:v>
                </c:pt>
                <c:pt idx="1">
                  <c:v>32</c:v>
                </c:pt>
                <c:pt idx="2">
                  <c:v>24</c:v>
                </c:pt>
                <c:pt idx="3">
                  <c:v>24</c:v>
                </c:pt>
              </c:numCache>
            </c:numRef>
          </c:val>
        </c:ser>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86BC25"/>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Increase info sharing &amp; intelligence — Banking (33%)</c:v>
                  </c:pt>
                  <c:pt idx="1">
                    <c:v>Increase info sharing &amp; intelligence — Insurance (20%)</c:v>
                  </c:pt>
                  <c:pt idx="2">
                    <c:v>Enhance ongoing monitoring &amp; detection — Banking (25%)</c:v>
                  </c:pt>
                  <c:pt idx="3">
                    <c:v>Enhance ongoing monitoring &amp; detection — Insurance (32%)</c:v>
                  </c:pt>
                  <c:pt idx="4">
                    <c:v>Strengthen onboarding verification — Banking (23%)</c:v>
                  </c:pt>
                  <c:pt idx="5">
                    <c:v>Strengthen onboarding verification — Insurance (24%)</c:v>
                  </c:pt>
                  <c:pt idx="6">
                    <c:v>Strengthen 3rd-party oversight — Banking (17%)</c:v>
                  </c:pt>
                  <c:pt idx="7">
                    <c:v>Strengthen 3rd-party oversight — Insurance (24%)</c:v>
                  </c:pt>
                </c:lvl>
              </c:multiLvlStrCache>
            </c:multiLvlStrRef>
          </c:cat>
          <c:val>
            <c:numRef>
              <c:f>Sheet1!$B$2:$B$9</c:f>
              <c:numCache>
                <c:formatCode>General</c:formatCode>
                <c:ptCount val="8"/>
                <c:pt idx="0">
                  <c:v>13</c:v>
                </c:pt>
                <c:pt idx="1">
                  <c:v>8</c:v>
                </c:pt>
                <c:pt idx="2">
                  <c:v>12</c:v>
                </c:pt>
                <c:pt idx="3">
                  <c:v>16</c:v>
                </c:pt>
                <c:pt idx="4">
                  <c:v>11</c:v>
                </c:pt>
                <c:pt idx="5">
                  <c:v>12</c:v>
                </c:pt>
                <c:pt idx="6">
                  <c:v>8</c:v>
                </c:pt>
                <c:pt idx="7">
                  <c:v>4</c:v>
                </c:pt>
              </c:numCache>
            </c:numRef>
          </c:val>
        </c:ser>
        <c:ser>
          <c:idx val="1"/>
          <c:order val="1"/>
          <c:tx>
            <c:strRef>
              <c:f>Sheet1!$C$1</c:f>
              <c:strCache>
                <c:ptCount val="1"/>
                <c:pt idx="0">
                  <c:v>Canada</c:v>
                </c:pt>
              </c:strCache>
            </c:strRef>
          </c:tx>
          <c:spPr>
            <a:solidFill>
              <a:srgbClr val="43B02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Increase info sharing &amp; intelligence — Banking (33%)</c:v>
                  </c:pt>
                  <c:pt idx="1">
                    <c:v>Increase info sharing &amp; intelligence — Insurance (20%)</c:v>
                  </c:pt>
                  <c:pt idx="2">
                    <c:v>Enhance ongoing monitoring &amp; detection — Banking (25%)</c:v>
                  </c:pt>
                  <c:pt idx="3">
                    <c:v>Enhance ongoing monitoring &amp; detection — Insurance (32%)</c:v>
                  </c:pt>
                  <c:pt idx="4">
                    <c:v>Strengthen onboarding verification — Banking (23%)</c:v>
                  </c:pt>
                  <c:pt idx="5">
                    <c:v>Strengthen onboarding verification — Insurance (24%)</c:v>
                  </c:pt>
                  <c:pt idx="6">
                    <c:v>Strengthen 3rd-party oversight — Banking (17%)</c:v>
                  </c:pt>
                  <c:pt idx="7">
                    <c:v>Strengthen 3rd-party oversight — Insurance (24%)</c:v>
                  </c:pt>
                </c:lvl>
              </c:multiLvlStrCache>
            </c:multiLvlStrRef>
          </c:cat>
          <c:val>
            <c:numRef>
              <c:f>Sheet1!$C$2:$C$9</c:f>
              <c:numCache>
                <c:formatCode>General</c:formatCode>
                <c:ptCount val="8"/>
                <c:pt idx="0">
                  <c:v>9</c:v>
                </c:pt>
                <c:pt idx="1">
                  <c:v>12</c:v>
                </c:pt>
                <c:pt idx="2">
                  <c:v>7</c:v>
                </c:pt>
                <c:pt idx="3">
                  <c:v>12</c:v>
                </c:pt>
                <c:pt idx="4">
                  <c:v>4</c:v>
                </c:pt>
                <c:pt idx="5">
                  <c:v>8</c:v>
                </c:pt>
                <c:pt idx="6">
                  <c:v>4</c:v>
                </c:pt>
                <c:pt idx="7">
                  <c:v>16</c:v>
                </c:pt>
              </c:numCache>
            </c:numRef>
          </c:val>
        </c:ser>
        <c:ser>
          <c:idx val="2"/>
          <c:order val="2"/>
          <c:tx>
            <c:strRef>
              <c:f>Sheet1!$D$1</c:f>
              <c:strCache>
                <c:ptCount val="1"/>
                <c:pt idx="0">
                  <c:v>Europe (EU + UK)</c:v>
                </c:pt>
              </c:strCache>
            </c:strRef>
          </c:tx>
          <c:spPr>
            <a:solidFill>
              <a:srgbClr val="046A38"/>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Increase info sharing &amp; intelligence — Banking (33%)</c:v>
                  </c:pt>
                  <c:pt idx="1">
                    <c:v>Increase info sharing &amp; intelligence — Insurance (20%)</c:v>
                  </c:pt>
                  <c:pt idx="2">
                    <c:v>Enhance ongoing monitoring &amp; detection — Banking (25%)</c:v>
                  </c:pt>
                  <c:pt idx="3">
                    <c:v>Enhance ongoing monitoring &amp; detection — Insurance (32%)</c:v>
                  </c:pt>
                  <c:pt idx="4">
                    <c:v>Strengthen onboarding verification — Banking (23%)</c:v>
                  </c:pt>
                  <c:pt idx="5">
                    <c:v>Strengthen onboarding verification — Insurance (24%)</c:v>
                  </c:pt>
                  <c:pt idx="6">
                    <c:v>Strengthen 3rd-party oversight — Banking (17%)</c:v>
                  </c:pt>
                  <c:pt idx="7">
                    <c:v>Strengthen 3rd-party oversight — Insurance (24%)</c:v>
                  </c:pt>
                </c:lvl>
              </c:multiLvlStrCache>
            </c:multiLvlStrRef>
          </c:cat>
          <c:val>
            <c:numRef>
              <c:f>Sheet1!$D$2:$D$9</c:f>
              <c:numCache>
                <c:formatCode>General</c:formatCode>
                <c:ptCount val="8"/>
                <c:pt idx="0">
                  <c:v>7</c:v>
                </c:pt>
                <c:pt idx="1">
                  <c:v>0</c:v>
                </c:pt>
                <c:pt idx="2">
                  <c:v>3</c:v>
                </c:pt>
                <c:pt idx="3">
                  <c:v>4</c:v>
                </c:pt>
                <c:pt idx="4">
                  <c:v>5</c:v>
                </c:pt>
                <c:pt idx="5">
                  <c:v>0</c:v>
                </c:pt>
                <c:pt idx="6">
                  <c:v>1</c:v>
                </c:pt>
                <c:pt idx="7">
                  <c:v>4</c:v>
                </c:pt>
              </c:numCache>
            </c:numRef>
          </c:val>
        </c:ser>
        <c:ser>
          <c:idx val="3"/>
          <c:order val="3"/>
          <c:tx>
            <c:strRef>
              <c:f>Sheet1!$E$1</c:f>
              <c:strCache>
                <c:ptCount val="1"/>
                <c:pt idx="0">
                  <c:v>Australia</c:v>
                </c:pt>
              </c:strCache>
            </c:strRef>
          </c:tx>
          <c:spPr>
            <a:solidFill>
              <a:srgbClr val="0D8390"/>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Increase info sharing &amp; intelligence — Banking (33%)</c:v>
                  </c:pt>
                  <c:pt idx="1">
                    <c:v>Increase info sharing &amp; intelligence — Insurance (20%)</c:v>
                  </c:pt>
                  <c:pt idx="2">
                    <c:v>Enhance ongoing monitoring &amp; detection — Banking (25%)</c:v>
                  </c:pt>
                  <c:pt idx="3">
                    <c:v>Enhance ongoing monitoring &amp; detection — Insurance (32%)</c:v>
                  </c:pt>
                  <c:pt idx="4">
                    <c:v>Strengthen onboarding verification — Banking (23%)</c:v>
                  </c:pt>
                  <c:pt idx="5">
                    <c:v>Strengthen onboarding verification — Insurance (24%)</c:v>
                  </c:pt>
                  <c:pt idx="6">
                    <c:v>Strengthen 3rd-party oversight — Banking (17%)</c:v>
                  </c:pt>
                  <c:pt idx="7">
                    <c:v>Strengthen 3rd-party oversight — Insurance (24%)</c:v>
                  </c:pt>
                </c:lvl>
              </c:multiLvlStrCache>
            </c:multiLvlStrRef>
          </c:cat>
          <c:val>
            <c:numRef>
              <c:f>Sheet1!$E$2:$E$9</c:f>
              <c:numCache>
                <c:formatCode>General</c:formatCode>
                <c:ptCount val="8"/>
                <c:pt idx="0">
                  <c:v>3</c:v>
                </c:pt>
                <c:pt idx="1">
                  <c:v>0</c:v>
                </c:pt>
                <c:pt idx="2">
                  <c:v>3</c:v>
                </c:pt>
                <c:pt idx="3">
                  <c:v>0</c:v>
                </c:pt>
                <c:pt idx="4">
                  <c:v>3</c:v>
                </c:pt>
                <c:pt idx="5">
                  <c:v>4</c:v>
                </c:pt>
                <c:pt idx="6">
                  <c:v>1</c:v>
                </c:pt>
                <c:pt idx="7">
                  <c:v>0</c:v>
                </c:pt>
              </c:numCache>
            </c:numRef>
          </c:val>
        </c:ser>
        <c:ser>
          <c:idx val="4"/>
          <c:order val="4"/>
          <c:tx>
            <c:strRef>
              <c:f>Sheet1!$F$1</c:f>
              <c:strCache>
                <c:ptCount val="1"/>
                <c:pt idx="0">
                  <c:v>Singapore</c:v>
                </c:pt>
              </c:strCache>
            </c:strRef>
          </c:tx>
          <c:spPr>
            <a:solidFill>
              <a:srgbClr val="53565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Increase info sharing &amp; intelligence — Banking (33%)</c:v>
                  </c:pt>
                  <c:pt idx="1">
                    <c:v>Increase info sharing &amp; intelligence — Insurance (20%)</c:v>
                  </c:pt>
                  <c:pt idx="2">
                    <c:v>Enhance ongoing monitoring &amp; detection — Banking (25%)</c:v>
                  </c:pt>
                  <c:pt idx="3">
                    <c:v>Enhance ongoing monitoring &amp; detection — Insurance (32%)</c:v>
                  </c:pt>
                  <c:pt idx="4">
                    <c:v>Strengthen onboarding verification — Banking (23%)</c:v>
                  </c:pt>
                  <c:pt idx="5">
                    <c:v>Strengthen onboarding verification — Insurance (24%)</c:v>
                  </c:pt>
                  <c:pt idx="6">
                    <c:v>Strengthen 3rd-party oversight — Banking (17%)</c:v>
                  </c:pt>
                  <c:pt idx="7">
                    <c:v>Strengthen 3rd-party oversight — Insurance (24%)</c:v>
                  </c:pt>
                </c:lvl>
              </c:multiLvlStrCache>
            </c:multiLvlStrRef>
          </c:cat>
          <c:val>
            <c:numRef>
              <c:f>Sheet1!$F$2:$F$9</c:f>
              <c:numCache>
                <c:formatCode>General</c:formatCode>
                <c:ptCount val="8"/>
                <c:pt idx="0">
                  <c:v>1</c:v>
                </c:pt>
                <c:pt idx="1">
                  <c:v>0</c:v>
                </c:pt>
                <c:pt idx="2">
                  <c:v>1</c:v>
                </c:pt>
                <c:pt idx="3">
                  <c:v>0</c:v>
                </c:pt>
                <c:pt idx="4">
                  <c:v>0</c:v>
                </c:pt>
                <c:pt idx="5">
                  <c:v>0</c:v>
                </c:pt>
                <c:pt idx="6">
                  <c:v>3</c:v>
                </c:pt>
                <c:pt idx="7">
                  <c:v>0</c:v>
                </c:pt>
              </c:numCache>
            </c:numRef>
          </c:val>
        </c:ser>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8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750">      </a:defRPr>
          </a:pPr>
          <a:endParaRPr lang="en-US"/>
        </a:p>
      </c:txPr>
    </c:legend>
    <c:plotVisOnly val="1"/>
    <c:dispBlanksAs val="span"/>
  </c:chart>
  <c:spPr>
    <a:no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 (n=75)</c:v>
                </c:pt>
              </c:strCache>
            </c:strRef>
          </c:tx>
          <c:spPr>
            <a:solidFill>
              <a:srgbClr val="86BC25"/>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Reactive</c:v>
                  </c:pt>
                  <c:pt idx="1">
                    <c:v>Foundational</c:v>
                  </c:pt>
                  <c:pt idx="2">
                    <c:v>Managed</c:v>
                  </c:pt>
                  <c:pt idx="3">
                    <c:v>Integrated</c:v>
                  </c:pt>
                  <c:pt idx="4">
                    <c:v>Advanced</c:v>
                  </c:pt>
                </c:lvl>
              </c:multiLvlStrCache>
            </c:multiLvlStrRef>
          </c:cat>
          <c:val>
            <c:numRef>
              <c:f>Sheet1!$B$2:$B$6</c:f>
              <c:numCache>
                <c:formatCode>General</c:formatCode>
                <c:ptCount val="5"/>
                <c:pt idx="0">
                  <c:v>0</c:v>
                </c:pt>
                <c:pt idx="1">
                  <c:v>5</c:v>
                </c:pt>
                <c:pt idx="2">
                  <c:v>9</c:v>
                </c:pt>
                <c:pt idx="3">
                  <c:v>48</c:v>
                </c:pt>
                <c:pt idx="4">
                  <c:v>37</c:v>
                </c:pt>
              </c:numCache>
            </c:numRef>
          </c:val>
        </c:ser>
        <c:ser>
          <c:idx val="1"/>
          <c:order val="1"/>
          <c:tx>
            <c:strRef>
              <c:f>Sheet1!$C$1</c:f>
              <c:strCache>
                <c:ptCount val="1"/>
                <c:pt idx="0">
                  <c:v>Insurance (n=25)</c:v>
                </c:pt>
              </c:strCache>
            </c:strRef>
          </c:tx>
          <c:spPr>
            <a:solidFill>
              <a:srgbClr val="046A38"/>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Reactive</c:v>
                  </c:pt>
                  <c:pt idx="1">
                    <c:v>Foundational</c:v>
                  </c:pt>
                  <c:pt idx="2">
                    <c:v>Managed</c:v>
                  </c:pt>
                  <c:pt idx="3">
                    <c:v>Integrated</c:v>
                  </c:pt>
                  <c:pt idx="4">
                    <c:v>Advanced</c:v>
                  </c:pt>
                </c:lvl>
              </c:multiLvlStrCache>
            </c:multiLvlStrRef>
          </c:cat>
          <c:val>
            <c:numRef>
              <c:f>Sheet1!$C$2:$C$6</c:f>
              <c:numCache>
                <c:formatCode>General</c:formatCode>
                <c:ptCount val="5"/>
                <c:pt idx="0">
                  <c:v>4</c:v>
                </c:pt>
                <c:pt idx="1">
                  <c:v>4</c:v>
                </c:pt>
                <c:pt idx="2">
                  <c:v>20</c:v>
                </c:pt>
                <c:pt idx="3">
                  <c:v>32</c:v>
                </c:pt>
                <c:pt idx="4">
                  <c:v>40</c:v>
                </c:pt>
              </c:numCache>
            </c:numRef>
          </c:val>
        </c:ser>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Top tier (Top 100 Banking n=40 / Top 50 Insurance n=15)</c:v>
                </c:pt>
              </c:strCache>
            </c:strRef>
          </c:tx>
          <c:spPr>
            <a:solidFill>
              <a:srgbClr val="86BC25"/>
            </a:solidFill>
            <a:effectLst/>
          </c:spPr>
          <c:invertIfNegative val="0"/>
          <c:dLbls>
            <c:numFmt formatCode="0&quot;%&quot;;-0&quot;%&quot;;;@" sourceLinked="0"/>
            <c:txPr>
              <a:bodyPr/>
              <a:lstStyle/>
              <a:p>
                <a:pPr>
                  <a:defRPr b="0" i="0" strike="noStrike" sz="7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Banking (0%)</c:v>
                  </c:pt>
                  <c:pt idx="1">
                    <c:v>Reactive — Insurance (4%)</c:v>
                  </c:pt>
                  <c:pt idx="2">
                    <c:v>Foundational — Banking (5%)</c:v>
                  </c:pt>
                  <c:pt idx="3">
                    <c:v>Foundational — Insurance (4%)</c:v>
                  </c:pt>
                  <c:pt idx="4">
                    <c:v>Managed — Banking (9%)</c:v>
                  </c:pt>
                  <c:pt idx="5">
                    <c:v>Managed — Insurance (20%)</c:v>
                  </c:pt>
                  <c:pt idx="6">
                    <c:v>Integrated — Banking (48%)</c:v>
                  </c:pt>
                  <c:pt idx="7">
                    <c:v>Integrated — Insurance (32%)</c:v>
                  </c:pt>
                  <c:pt idx="8">
                    <c:v>Advanced — Banking (37%)</c:v>
                  </c:pt>
                  <c:pt idx="9">
                    <c:v>Advanced — Insurance (40%)</c:v>
                  </c:pt>
                </c:lvl>
              </c:multiLvlStrCache>
            </c:multiLvlStrRef>
          </c:cat>
          <c:val>
            <c:numRef>
              <c:f>Sheet1!$B$2:$B$11</c:f>
              <c:numCache>
                <c:formatCode>General</c:formatCode>
                <c:ptCount val="10"/>
                <c:pt idx="0">
                  <c:v>0</c:v>
                </c:pt>
                <c:pt idx="1">
                  <c:v>0</c:v>
                </c:pt>
                <c:pt idx="2">
                  <c:v>0</c:v>
                </c:pt>
                <c:pt idx="3">
                  <c:v>4</c:v>
                </c:pt>
                <c:pt idx="4">
                  <c:v>4</c:v>
                </c:pt>
                <c:pt idx="5">
                  <c:v>8</c:v>
                </c:pt>
                <c:pt idx="6">
                  <c:v>24</c:v>
                </c:pt>
                <c:pt idx="7">
                  <c:v>20</c:v>
                </c:pt>
                <c:pt idx="8">
                  <c:v>25</c:v>
                </c:pt>
                <c:pt idx="9">
                  <c:v>28</c:v>
                </c:pt>
              </c:numCache>
            </c:numRef>
          </c:val>
        </c:ser>
        <c:ser>
          <c:idx val="1"/>
          <c:order val="1"/>
          <c:tx>
            <c:strRef>
              <c:f>Sheet1!$C$1</c:f>
              <c:strCache>
                <c:ptCount val="1"/>
                <c:pt idx="0">
                  <c:v>Large institution (Banking n=35 / Insurance n=10)</c:v>
                </c:pt>
              </c:strCache>
            </c:strRef>
          </c:tx>
          <c:spPr>
            <a:solidFill>
              <a:srgbClr val="046A38"/>
            </a:solidFill>
            <a:effectLst/>
          </c:spPr>
          <c:invertIfNegative val="0"/>
          <c:dLbls>
            <c:numFmt formatCode="0&quot;%&quot;;-0&quot;%&quot;;;@" sourceLinked="0"/>
            <c:txPr>
              <a:bodyPr/>
              <a:lstStyle/>
              <a:p>
                <a:pPr>
                  <a:defRPr b="0" i="0" strike="noStrike" sz="7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Banking (0%)</c:v>
                  </c:pt>
                  <c:pt idx="1">
                    <c:v>Reactive — Insurance (4%)</c:v>
                  </c:pt>
                  <c:pt idx="2">
                    <c:v>Foundational — Banking (5%)</c:v>
                  </c:pt>
                  <c:pt idx="3">
                    <c:v>Foundational — Insurance (4%)</c:v>
                  </c:pt>
                  <c:pt idx="4">
                    <c:v>Managed — Banking (9%)</c:v>
                  </c:pt>
                  <c:pt idx="5">
                    <c:v>Managed — Insurance (20%)</c:v>
                  </c:pt>
                  <c:pt idx="6">
                    <c:v>Integrated — Banking (48%)</c:v>
                  </c:pt>
                  <c:pt idx="7">
                    <c:v>Integrated — Insurance (32%)</c:v>
                  </c:pt>
                  <c:pt idx="8">
                    <c:v>Advanced — Banking (37%)</c:v>
                  </c:pt>
                  <c:pt idx="9">
                    <c:v>Advanced — Insurance (40%)</c:v>
                  </c:pt>
                </c:lvl>
              </c:multiLvlStrCache>
            </c:multiLvlStrRef>
          </c:cat>
          <c:val>
            <c:numRef>
              <c:f>Sheet1!$C$2:$C$11</c:f>
              <c:numCache>
                <c:formatCode>General</c:formatCode>
                <c:ptCount val="10"/>
                <c:pt idx="0">
                  <c:v>0</c:v>
                </c:pt>
                <c:pt idx="1">
                  <c:v>4</c:v>
                </c:pt>
                <c:pt idx="2">
                  <c:v>5</c:v>
                </c:pt>
                <c:pt idx="3">
                  <c:v>0</c:v>
                </c:pt>
                <c:pt idx="4">
                  <c:v>5</c:v>
                </c:pt>
                <c:pt idx="5">
                  <c:v>12</c:v>
                </c:pt>
                <c:pt idx="6">
                  <c:v>24</c:v>
                </c:pt>
                <c:pt idx="7">
                  <c:v>12</c:v>
                </c:pt>
                <c:pt idx="8">
                  <c:v>12</c:v>
                </c:pt>
                <c:pt idx="9">
                  <c:v>12</c:v>
                </c:pt>
              </c:numCache>
            </c:numRef>
          </c:val>
        </c:ser>
        <c:dLbls>
          <c:numFmt formatCode="0&quot;%&quot;;-0&quot;%&quot;;;@" sourceLinked="0"/>
          <c:txPr>
            <a:bodyPr/>
            <a:lstStyle/>
            <a:p>
              <a:pPr>
                <a:defRPr b="0" i="0" strike="noStrike" sz="7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8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850">      </a:defRPr>
          </a:pPr>
          <a:endParaRPr lang="en-US"/>
        </a:p>
      </c:txPr>
    </c:legend>
    <c:plotVisOnly val="1"/>
    <c:dispBlanksAs val="span"/>
  </c:chart>
  <c:spPr>
    <a:no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86BC25"/>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Top 100 (0%)</c:v>
                  </c:pt>
                  <c:pt idx="1">
                    <c:v>Reactive — Large (0%)</c:v>
                  </c:pt>
                  <c:pt idx="2">
                    <c:v>Foundational — Top 100 (0%)</c:v>
                  </c:pt>
                  <c:pt idx="3">
                    <c:v>Foundational — Large (11%)</c:v>
                  </c:pt>
                  <c:pt idx="4">
                    <c:v>Managed — Top 100 (8%)</c:v>
                  </c:pt>
                  <c:pt idx="5">
                    <c:v>Managed — Large (11%)</c:v>
                  </c:pt>
                  <c:pt idx="6">
                    <c:v>Integrated — Top 100 (45%)</c:v>
                  </c:pt>
                  <c:pt idx="7">
                    <c:v>Integrated — Large (51%)</c:v>
                  </c:pt>
                  <c:pt idx="8">
                    <c:v>Advanced — Top 100 (48%)</c:v>
                  </c:pt>
                  <c:pt idx="9">
                    <c:v>Advanced — Large (26%)</c:v>
                  </c:pt>
                </c:lvl>
              </c:multiLvlStrCache>
            </c:multiLvlStrRef>
          </c:cat>
          <c:val>
            <c:numRef>
              <c:f>Sheet1!$B$2:$B$11</c:f>
              <c:numCache>
                <c:formatCode>General</c:formatCode>
                <c:ptCount val="10"/>
                <c:pt idx="0">
                  <c:v>0</c:v>
                </c:pt>
                <c:pt idx="1">
                  <c:v>0</c:v>
                </c:pt>
                <c:pt idx="2">
                  <c:v>0</c:v>
                </c:pt>
                <c:pt idx="3">
                  <c:v>3</c:v>
                </c:pt>
                <c:pt idx="4">
                  <c:v>3</c:v>
                </c:pt>
                <c:pt idx="5">
                  <c:v>6</c:v>
                </c:pt>
                <c:pt idx="6">
                  <c:v>13</c:v>
                </c:pt>
                <c:pt idx="7">
                  <c:v>34</c:v>
                </c:pt>
                <c:pt idx="8">
                  <c:v>20</c:v>
                </c:pt>
                <c:pt idx="9">
                  <c:v>14</c:v>
                </c:pt>
              </c:numCache>
            </c:numRef>
          </c:val>
        </c:ser>
        <c:ser>
          <c:idx val="1"/>
          <c:order val="1"/>
          <c:tx>
            <c:strRef>
              <c:f>Sheet1!$C$1</c:f>
              <c:strCache>
                <c:ptCount val="1"/>
                <c:pt idx="0">
                  <c:v>Canada</c:v>
                </c:pt>
              </c:strCache>
            </c:strRef>
          </c:tx>
          <c:spPr>
            <a:solidFill>
              <a:srgbClr val="43B02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Top 100 (0%)</c:v>
                  </c:pt>
                  <c:pt idx="1">
                    <c:v>Reactive — Large (0%)</c:v>
                  </c:pt>
                  <c:pt idx="2">
                    <c:v>Foundational — Top 100 (0%)</c:v>
                  </c:pt>
                  <c:pt idx="3">
                    <c:v>Foundational — Large (11%)</c:v>
                  </c:pt>
                  <c:pt idx="4">
                    <c:v>Managed — Top 100 (8%)</c:v>
                  </c:pt>
                  <c:pt idx="5">
                    <c:v>Managed — Large (11%)</c:v>
                  </c:pt>
                  <c:pt idx="6">
                    <c:v>Integrated — Top 100 (45%)</c:v>
                  </c:pt>
                  <c:pt idx="7">
                    <c:v>Integrated — Large (51%)</c:v>
                  </c:pt>
                  <c:pt idx="8">
                    <c:v>Advanced — Top 100 (48%)</c:v>
                  </c:pt>
                  <c:pt idx="9">
                    <c:v>Advanced — Large (26%)</c:v>
                  </c:pt>
                </c:lvl>
              </c:multiLvlStrCache>
            </c:multiLvlStrRef>
          </c:cat>
          <c:val>
            <c:numRef>
              <c:f>Sheet1!$C$2:$C$11</c:f>
              <c:numCache>
                <c:formatCode>General</c:formatCode>
                <c:ptCount val="10"/>
                <c:pt idx="0">
                  <c:v>0</c:v>
                </c:pt>
                <c:pt idx="1">
                  <c:v>0</c:v>
                </c:pt>
                <c:pt idx="2">
                  <c:v>0</c:v>
                </c:pt>
                <c:pt idx="3">
                  <c:v>6</c:v>
                </c:pt>
                <c:pt idx="4">
                  <c:v>3</c:v>
                </c:pt>
                <c:pt idx="5">
                  <c:v>3</c:v>
                </c:pt>
                <c:pt idx="6">
                  <c:v>20</c:v>
                </c:pt>
                <c:pt idx="7">
                  <c:v>0</c:v>
                </c:pt>
                <c:pt idx="8">
                  <c:v>10</c:v>
                </c:pt>
                <c:pt idx="9">
                  <c:v>6</c:v>
                </c:pt>
              </c:numCache>
            </c:numRef>
          </c:val>
        </c:ser>
        <c:ser>
          <c:idx val="2"/>
          <c:order val="2"/>
          <c:tx>
            <c:strRef>
              <c:f>Sheet1!$D$1</c:f>
              <c:strCache>
                <c:ptCount val="1"/>
                <c:pt idx="0">
                  <c:v>Europe (EU + UK)</c:v>
                </c:pt>
              </c:strCache>
            </c:strRef>
          </c:tx>
          <c:spPr>
            <a:solidFill>
              <a:srgbClr val="046A38"/>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Top 100 (0%)</c:v>
                  </c:pt>
                  <c:pt idx="1">
                    <c:v>Reactive — Large (0%)</c:v>
                  </c:pt>
                  <c:pt idx="2">
                    <c:v>Foundational — Top 100 (0%)</c:v>
                  </c:pt>
                  <c:pt idx="3">
                    <c:v>Foundational — Large (11%)</c:v>
                  </c:pt>
                  <c:pt idx="4">
                    <c:v>Managed — Top 100 (8%)</c:v>
                  </c:pt>
                  <c:pt idx="5">
                    <c:v>Managed — Large (11%)</c:v>
                  </c:pt>
                  <c:pt idx="6">
                    <c:v>Integrated — Top 100 (45%)</c:v>
                  </c:pt>
                  <c:pt idx="7">
                    <c:v>Integrated — Large (51%)</c:v>
                  </c:pt>
                  <c:pt idx="8">
                    <c:v>Advanced — Top 100 (48%)</c:v>
                  </c:pt>
                  <c:pt idx="9">
                    <c:v>Advanced — Large (26%)</c:v>
                  </c:pt>
                </c:lvl>
              </c:multiLvlStrCache>
            </c:multiLvlStrRef>
          </c:cat>
          <c:val>
            <c:numRef>
              <c:f>Sheet1!$D$2:$D$11</c:f>
              <c:numCache>
                <c:formatCode>General</c:formatCode>
                <c:ptCount val="10"/>
                <c:pt idx="0">
                  <c:v>0</c:v>
                </c:pt>
                <c:pt idx="1">
                  <c:v>0</c:v>
                </c:pt>
                <c:pt idx="2">
                  <c:v>0</c:v>
                </c:pt>
                <c:pt idx="3">
                  <c:v>3</c:v>
                </c:pt>
                <c:pt idx="4">
                  <c:v>3</c:v>
                </c:pt>
                <c:pt idx="5">
                  <c:v>0</c:v>
                </c:pt>
                <c:pt idx="6">
                  <c:v>5</c:v>
                </c:pt>
                <c:pt idx="7">
                  <c:v>11</c:v>
                </c:pt>
                <c:pt idx="8">
                  <c:v>10</c:v>
                </c:pt>
                <c:pt idx="9">
                  <c:v>0</c:v>
                </c:pt>
              </c:numCache>
            </c:numRef>
          </c:val>
        </c:ser>
        <c:ser>
          <c:idx val="3"/>
          <c:order val="3"/>
          <c:tx>
            <c:strRef>
              <c:f>Sheet1!$E$1</c:f>
              <c:strCache>
                <c:ptCount val="1"/>
                <c:pt idx="0">
                  <c:v>Australia</c:v>
                </c:pt>
              </c:strCache>
            </c:strRef>
          </c:tx>
          <c:spPr>
            <a:solidFill>
              <a:srgbClr val="0D8390"/>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Top 100 (0%)</c:v>
                  </c:pt>
                  <c:pt idx="1">
                    <c:v>Reactive — Large (0%)</c:v>
                  </c:pt>
                  <c:pt idx="2">
                    <c:v>Foundational — Top 100 (0%)</c:v>
                  </c:pt>
                  <c:pt idx="3">
                    <c:v>Foundational — Large (11%)</c:v>
                  </c:pt>
                  <c:pt idx="4">
                    <c:v>Managed — Top 100 (8%)</c:v>
                  </c:pt>
                  <c:pt idx="5">
                    <c:v>Managed — Large (11%)</c:v>
                  </c:pt>
                  <c:pt idx="6">
                    <c:v>Integrated — Top 100 (45%)</c:v>
                  </c:pt>
                  <c:pt idx="7">
                    <c:v>Integrated — Large (51%)</c:v>
                  </c:pt>
                  <c:pt idx="8">
                    <c:v>Advanced — Top 100 (48%)</c:v>
                  </c:pt>
                  <c:pt idx="9">
                    <c:v>Advanced — Large (26%)</c:v>
                  </c:pt>
                </c:lvl>
              </c:multiLvlStrCache>
            </c:multiLvlStrRef>
          </c:cat>
          <c:val>
            <c:numRef>
              <c:f>Sheet1!$E$2:$E$11</c:f>
              <c:numCache>
                <c:formatCode>General</c:formatCode>
                <c:ptCount val="10"/>
                <c:pt idx="0">
                  <c:v>0</c:v>
                </c:pt>
                <c:pt idx="1">
                  <c:v>0</c:v>
                </c:pt>
                <c:pt idx="2">
                  <c:v>0</c:v>
                </c:pt>
                <c:pt idx="3">
                  <c:v>0</c:v>
                </c:pt>
                <c:pt idx="4">
                  <c:v>0</c:v>
                </c:pt>
                <c:pt idx="5">
                  <c:v>0</c:v>
                </c:pt>
                <c:pt idx="6">
                  <c:v>3</c:v>
                </c:pt>
                <c:pt idx="7">
                  <c:v>6</c:v>
                </c:pt>
                <c:pt idx="8">
                  <c:v>8</c:v>
                </c:pt>
                <c:pt idx="9">
                  <c:v>3</c:v>
                </c:pt>
              </c:numCache>
            </c:numRef>
          </c:val>
        </c:ser>
        <c:ser>
          <c:idx val="4"/>
          <c:order val="4"/>
          <c:tx>
            <c:strRef>
              <c:f>Sheet1!$F$1</c:f>
              <c:strCache>
                <c:ptCount val="1"/>
                <c:pt idx="0">
                  <c:v>Singapore</c:v>
                </c:pt>
              </c:strCache>
            </c:strRef>
          </c:tx>
          <c:spPr>
            <a:solidFill>
              <a:srgbClr val="53565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Top 100 (0%)</c:v>
                  </c:pt>
                  <c:pt idx="1">
                    <c:v>Reactive — Large (0%)</c:v>
                  </c:pt>
                  <c:pt idx="2">
                    <c:v>Foundational — Top 100 (0%)</c:v>
                  </c:pt>
                  <c:pt idx="3">
                    <c:v>Foundational — Large (11%)</c:v>
                  </c:pt>
                  <c:pt idx="4">
                    <c:v>Managed — Top 100 (8%)</c:v>
                  </c:pt>
                  <c:pt idx="5">
                    <c:v>Managed — Large (11%)</c:v>
                  </c:pt>
                  <c:pt idx="6">
                    <c:v>Integrated — Top 100 (45%)</c:v>
                  </c:pt>
                  <c:pt idx="7">
                    <c:v>Integrated — Large (51%)</c:v>
                  </c:pt>
                  <c:pt idx="8">
                    <c:v>Advanced — Top 100 (48%)</c:v>
                  </c:pt>
                  <c:pt idx="9">
                    <c:v>Advanced — Large (26%)</c:v>
                  </c:pt>
                </c:lvl>
              </c:multiLvlStrCache>
            </c:multiLvlStrRef>
          </c:cat>
          <c:val>
            <c:numRef>
              <c:f>Sheet1!$F$2:$F$11</c:f>
              <c:numCache>
                <c:formatCode>General</c:formatCode>
                <c:ptCount val="10"/>
                <c:pt idx="0">
                  <c:v>0</c:v>
                </c:pt>
                <c:pt idx="1">
                  <c:v>0</c:v>
                </c:pt>
                <c:pt idx="2">
                  <c:v>0</c:v>
                </c:pt>
                <c:pt idx="3">
                  <c:v>0</c:v>
                </c:pt>
                <c:pt idx="4">
                  <c:v>0</c:v>
                </c:pt>
                <c:pt idx="5">
                  <c:v>3</c:v>
                </c:pt>
                <c:pt idx="6">
                  <c:v>5</c:v>
                </c:pt>
                <c:pt idx="7">
                  <c:v>0</c:v>
                </c:pt>
                <c:pt idx="8">
                  <c:v>0</c:v>
                </c:pt>
                <c:pt idx="9">
                  <c:v>3</c:v>
                </c:pt>
              </c:numCache>
            </c:numRef>
          </c:val>
        </c:ser>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7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750">      </a:defRPr>
          </a:pPr>
          <a:endParaRPr lang="en-US"/>
        </a:p>
      </c:txPr>
    </c:legend>
    <c:plotVisOnly val="1"/>
    <c:dispBlanksAs val="span"/>
  </c:chart>
  <c:spPr>
    <a:no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86BC25"/>
            </a:solidFill>
            <a:effectLst/>
          </c:spPr>
          <c:invertIfNegative val="0"/>
          <c:dLbls>
            <c:numFmt formatCode="0&quot;%&quot;;-0&quot;%&quot;;;@" sourceLinked="0"/>
            <c:txPr>
              <a:bodyPr/>
              <a:lstStyle/>
              <a:p>
                <a:pPr>
                  <a:defRPr b="0" i="0" strike="noStrike" sz="7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Top 50 (0%)</c:v>
                  </c:pt>
                  <c:pt idx="1">
                    <c:v>Reactive — Large (10%)</c:v>
                  </c:pt>
                  <c:pt idx="2">
                    <c:v>Foundational — Top 50 (7%)</c:v>
                  </c:pt>
                  <c:pt idx="3">
                    <c:v>Foundational — Large (0%)</c:v>
                  </c:pt>
                  <c:pt idx="4">
                    <c:v>Managed — Top 50 (13%)</c:v>
                  </c:pt>
                  <c:pt idx="5">
                    <c:v>Managed — Large (30%)</c:v>
                  </c:pt>
                  <c:pt idx="6">
                    <c:v>Integrated — Top 50 (33%)</c:v>
                  </c:pt>
                  <c:pt idx="7">
                    <c:v>Integrated — Large (30%)</c:v>
                  </c:pt>
                  <c:pt idx="8">
                    <c:v>Advanced — Top 50 (47%)</c:v>
                  </c:pt>
                  <c:pt idx="9">
                    <c:v>Advanced — Large (30%)</c:v>
                  </c:pt>
                </c:lvl>
              </c:multiLvlStrCache>
            </c:multiLvlStrRef>
          </c:cat>
          <c:val>
            <c:numRef>
              <c:f>Sheet1!$B$2:$B$11</c:f>
              <c:numCache>
                <c:formatCode>General</c:formatCode>
                <c:ptCount val="10"/>
                <c:pt idx="0">
                  <c:v>0</c:v>
                </c:pt>
                <c:pt idx="1">
                  <c:v>0</c:v>
                </c:pt>
                <c:pt idx="2">
                  <c:v>0</c:v>
                </c:pt>
                <c:pt idx="3">
                  <c:v>0</c:v>
                </c:pt>
                <c:pt idx="4">
                  <c:v>7</c:v>
                </c:pt>
                <c:pt idx="5">
                  <c:v>10</c:v>
                </c:pt>
                <c:pt idx="6">
                  <c:v>27</c:v>
                </c:pt>
                <c:pt idx="7">
                  <c:v>20</c:v>
                </c:pt>
                <c:pt idx="8">
                  <c:v>13</c:v>
                </c:pt>
                <c:pt idx="9">
                  <c:v>0</c:v>
                </c:pt>
              </c:numCache>
            </c:numRef>
          </c:val>
        </c:ser>
        <c:ser>
          <c:idx val="1"/>
          <c:order val="1"/>
          <c:tx>
            <c:strRef>
              <c:f>Sheet1!$C$1</c:f>
              <c:strCache>
                <c:ptCount val="1"/>
                <c:pt idx="0">
                  <c:v>Canada</c:v>
                </c:pt>
              </c:strCache>
            </c:strRef>
          </c:tx>
          <c:spPr>
            <a:solidFill>
              <a:srgbClr val="43B02A"/>
            </a:solidFill>
            <a:effectLst/>
          </c:spPr>
          <c:invertIfNegative val="0"/>
          <c:dLbls>
            <c:numFmt formatCode="0&quot;%&quot;;-0&quot;%&quot;;;@" sourceLinked="0"/>
            <c:txPr>
              <a:bodyPr/>
              <a:lstStyle/>
              <a:p>
                <a:pPr>
                  <a:defRPr b="0" i="0" strike="noStrike" sz="7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Top 50 (0%)</c:v>
                  </c:pt>
                  <c:pt idx="1">
                    <c:v>Reactive — Large (10%)</c:v>
                  </c:pt>
                  <c:pt idx="2">
                    <c:v>Foundational — Top 50 (7%)</c:v>
                  </c:pt>
                  <c:pt idx="3">
                    <c:v>Foundational — Large (0%)</c:v>
                  </c:pt>
                  <c:pt idx="4">
                    <c:v>Managed — Top 50 (13%)</c:v>
                  </c:pt>
                  <c:pt idx="5">
                    <c:v>Managed — Large (30%)</c:v>
                  </c:pt>
                  <c:pt idx="6">
                    <c:v>Integrated — Top 50 (33%)</c:v>
                  </c:pt>
                  <c:pt idx="7">
                    <c:v>Integrated — Large (30%)</c:v>
                  </c:pt>
                  <c:pt idx="8">
                    <c:v>Advanced — Top 50 (47%)</c:v>
                  </c:pt>
                  <c:pt idx="9">
                    <c:v>Advanced — Large (30%)</c:v>
                  </c:pt>
                </c:lvl>
              </c:multiLvlStrCache>
            </c:multiLvlStrRef>
          </c:cat>
          <c:val>
            <c:numRef>
              <c:f>Sheet1!$C$2:$C$11</c:f>
              <c:numCache>
                <c:formatCode>General</c:formatCode>
                <c:ptCount val="10"/>
                <c:pt idx="0">
                  <c:v>0</c:v>
                </c:pt>
                <c:pt idx="1">
                  <c:v>10</c:v>
                </c:pt>
                <c:pt idx="2">
                  <c:v>7</c:v>
                </c:pt>
                <c:pt idx="3">
                  <c:v>0</c:v>
                </c:pt>
                <c:pt idx="4">
                  <c:v>7</c:v>
                </c:pt>
                <c:pt idx="5">
                  <c:v>20</c:v>
                </c:pt>
                <c:pt idx="6">
                  <c:v>7</c:v>
                </c:pt>
                <c:pt idx="7">
                  <c:v>10</c:v>
                </c:pt>
                <c:pt idx="8">
                  <c:v>20</c:v>
                </c:pt>
                <c:pt idx="9">
                  <c:v>20</c:v>
                </c:pt>
              </c:numCache>
            </c:numRef>
          </c:val>
        </c:ser>
        <c:ser>
          <c:idx val="2"/>
          <c:order val="2"/>
          <c:tx>
            <c:strRef>
              <c:f>Sheet1!$D$1</c:f>
              <c:strCache>
                <c:ptCount val="1"/>
                <c:pt idx="0">
                  <c:v>Europe (EU + UK)</c:v>
                </c:pt>
              </c:strCache>
            </c:strRef>
          </c:tx>
          <c:spPr>
            <a:solidFill>
              <a:srgbClr val="046A38"/>
            </a:solidFill>
            <a:effectLst/>
          </c:spPr>
          <c:invertIfNegative val="0"/>
          <c:dLbls>
            <c:numFmt formatCode="0&quot;%&quot;;-0&quot;%&quot;;;@" sourceLinked="0"/>
            <c:txPr>
              <a:bodyPr/>
              <a:lstStyle/>
              <a:p>
                <a:pPr>
                  <a:defRPr b="0" i="0" strike="noStrike" sz="7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Top 50 (0%)</c:v>
                  </c:pt>
                  <c:pt idx="1">
                    <c:v>Reactive — Large (10%)</c:v>
                  </c:pt>
                  <c:pt idx="2">
                    <c:v>Foundational — Top 50 (7%)</c:v>
                  </c:pt>
                  <c:pt idx="3">
                    <c:v>Foundational — Large (0%)</c:v>
                  </c:pt>
                  <c:pt idx="4">
                    <c:v>Managed — Top 50 (13%)</c:v>
                  </c:pt>
                  <c:pt idx="5">
                    <c:v>Managed — Large (30%)</c:v>
                  </c:pt>
                  <c:pt idx="6">
                    <c:v>Integrated — Top 50 (33%)</c:v>
                  </c:pt>
                  <c:pt idx="7">
                    <c:v>Integrated — Large (30%)</c:v>
                  </c:pt>
                  <c:pt idx="8">
                    <c:v>Advanced — Top 50 (47%)</c:v>
                  </c:pt>
                  <c:pt idx="9">
                    <c:v>Advanced — Large (30%)</c:v>
                  </c:pt>
                </c:lvl>
              </c:multiLvlStrCache>
            </c:multiLvlStrRef>
          </c:cat>
          <c:val>
            <c:numRef>
              <c:f>Sheet1!$D$2:$D$11</c:f>
              <c:numCache>
                <c:formatCode>General</c:formatCode>
                <c:ptCount val="10"/>
                <c:pt idx="0">
                  <c:v>0</c:v>
                </c:pt>
                <c:pt idx="1">
                  <c:v>0</c:v>
                </c:pt>
                <c:pt idx="2">
                  <c:v>0</c:v>
                </c:pt>
                <c:pt idx="3">
                  <c:v>0</c:v>
                </c:pt>
                <c:pt idx="4">
                  <c:v>0</c:v>
                </c:pt>
                <c:pt idx="5">
                  <c:v>0</c:v>
                </c:pt>
                <c:pt idx="6">
                  <c:v>0</c:v>
                </c:pt>
                <c:pt idx="7">
                  <c:v>0</c:v>
                </c:pt>
                <c:pt idx="8">
                  <c:v>7</c:v>
                </c:pt>
                <c:pt idx="9">
                  <c:v>10</c:v>
                </c:pt>
              </c:numCache>
            </c:numRef>
          </c:val>
        </c:ser>
        <c:ser>
          <c:idx val="3"/>
          <c:order val="3"/>
          <c:tx>
            <c:strRef>
              <c:f>Sheet1!$E$1</c:f>
              <c:strCache>
                <c:ptCount val="1"/>
                <c:pt idx="0">
                  <c:v>Australia</c:v>
                </c:pt>
              </c:strCache>
            </c:strRef>
          </c:tx>
          <c:spPr>
            <a:solidFill>
              <a:srgbClr val="0D8390"/>
            </a:solidFill>
            <a:effectLst/>
          </c:spPr>
          <c:invertIfNegative val="0"/>
          <c:dLbls>
            <c:numFmt formatCode="0&quot;%&quot;;-0&quot;%&quot;;;@" sourceLinked="0"/>
            <c:txPr>
              <a:bodyPr/>
              <a:lstStyle/>
              <a:p>
                <a:pPr>
                  <a:defRPr b="0" i="0" strike="noStrike" sz="7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Sheet1!$A$2:$A$11</c:f>
              <c:multiLvlStrCache>
                <c:ptCount val="10"/>
                <c:lvl>
                  <c:pt idx="0">
                    <c:v>Reactive — Top 50 (0%)</c:v>
                  </c:pt>
                  <c:pt idx="1">
                    <c:v>Reactive — Large (10%)</c:v>
                  </c:pt>
                  <c:pt idx="2">
                    <c:v>Foundational — Top 50 (7%)</c:v>
                  </c:pt>
                  <c:pt idx="3">
                    <c:v>Foundational — Large (0%)</c:v>
                  </c:pt>
                  <c:pt idx="4">
                    <c:v>Managed — Top 50 (13%)</c:v>
                  </c:pt>
                  <c:pt idx="5">
                    <c:v>Managed — Large (30%)</c:v>
                  </c:pt>
                  <c:pt idx="6">
                    <c:v>Integrated — Top 50 (33%)</c:v>
                  </c:pt>
                  <c:pt idx="7">
                    <c:v>Integrated — Large (30%)</c:v>
                  </c:pt>
                  <c:pt idx="8">
                    <c:v>Advanced — Top 50 (47%)</c:v>
                  </c:pt>
                  <c:pt idx="9">
                    <c:v>Advanced — Large (30%)</c:v>
                  </c:pt>
                </c:lvl>
              </c:multiLvlStrCache>
            </c:multiLvlStrRef>
          </c:cat>
          <c:val>
            <c:numRef>
              <c:f>Sheet1!$E$2:$E$11</c:f>
              <c:numCache>
                <c:formatCode>General</c:formatCode>
                <c:ptCount val="10"/>
                <c:pt idx="0">
                  <c:v>0</c:v>
                </c:pt>
                <c:pt idx="1">
                  <c:v>0</c:v>
                </c:pt>
                <c:pt idx="2">
                  <c:v>0</c:v>
                </c:pt>
                <c:pt idx="3">
                  <c:v>0</c:v>
                </c:pt>
                <c:pt idx="4">
                  <c:v>0</c:v>
                </c:pt>
                <c:pt idx="5">
                  <c:v>0</c:v>
                </c:pt>
                <c:pt idx="6">
                  <c:v>0</c:v>
                </c:pt>
                <c:pt idx="7">
                  <c:v>0</c:v>
                </c:pt>
                <c:pt idx="8">
                  <c:v>7</c:v>
                </c:pt>
                <c:pt idx="9">
                  <c:v>0</c:v>
                </c:pt>
              </c:numCache>
            </c:numRef>
          </c:val>
        </c:ser>
        <c:dLbls>
          <c:numFmt formatCode="0&quot;%&quot;;-0&quot;%&quot;;;@" sourceLinked="0"/>
          <c:txPr>
            <a:bodyPr/>
            <a:lstStyle/>
            <a:p>
              <a:pPr>
                <a:defRPr b="0" i="0" strike="noStrike" sz="7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7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850">      </a:defRPr>
          </a:pPr>
          <a:endParaRPr lang="en-US"/>
        </a:p>
      </c:txPr>
    </c:legend>
    <c:plotVisOnly val="1"/>
    <c:dispBlanksAs val="span"/>
  </c:chart>
  <c:spPr>
    <a:noFill/>
    <a:ln>
      <a:noFill/>
    </a:ln>
    <a:effectLst/>
  </c:sp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Current approach</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 augmentation</c:v>
                  </c:pt>
                  <c:pt idx="1">
                    <c:v>Automating workflows</c:v>
                  </c:pt>
                  <c:pt idx="2">
                    <c:v>Redesigning processes &amp; playbooks</c:v>
                  </c:pt>
                  <c:pt idx="3">
                    <c:v>Outsourcing</c:v>
                  </c:pt>
                  <c:pt idx="4">
                    <c:v>Hiring / workforce expansion</c:v>
                  </c:pt>
                  <c:pt idx="5">
                    <c:v>Combination of approaches</c:v>
                  </c:pt>
                </c:lvl>
              </c:multiLvlStrCache>
            </c:multiLvlStrRef>
          </c:cat>
          <c:val>
            <c:numRef>
              <c:f>Sheet1!$B$2:$B$7</c:f>
              <c:numCache>
                <c:formatCode>General</c:formatCode>
                <c:ptCount val="6"/>
                <c:pt idx="0">
                  <c:v>34</c:v>
                </c:pt>
                <c:pt idx="1">
                  <c:v>29</c:v>
                </c:pt>
                <c:pt idx="2">
                  <c:v>10</c:v>
                </c:pt>
                <c:pt idx="3">
                  <c:v>10</c:v>
                </c:pt>
                <c:pt idx="4">
                  <c:v>10</c:v>
                </c:pt>
                <c:pt idx="5">
                  <c:v>7</c:v>
                </c:pt>
              </c:numCache>
            </c:numRef>
          </c:val>
        </c:ser>
        <c:ser>
          <c:idx val="1"/>
          <c:order val="1"/>
          <c:tx>
            <c:strRef>
              <c:f>Sheet1!$C$1</c:f>
              <c:strCache>
                <c:ptCount val="1"/>
                <c:pt idx="0">
                  <c:v>3-year focus</c:v>
                </c:pt>
              </c:strCache>
            </c:strRef>
          </c:tx>
          <c:spPr>
            <a:solidFill>
              <a:srgbClr val="046A38"/>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 augmentation</c:v>
                  </c:pt>
                  <c:pt idx="1">
                    <c:v>Automating workflows</c:v>
                  </c:pt>
                  <c:pt idx="2">
                    <c:v>Redesigning processes &amp; playbooks</c:v>
                  </c:pt>
                  <c:pt idx="3">
                    <c:v>Outsourcing</c:v>
                  </c:pt>
                  <c:pt idx="4">
                    <c:v>Hiring / workforce expansion</c:v>
                  </c:pt>
                  <c:pt idx="5">
                    <c:v>Combination of approaches</c:v>
                  </c:pt>
                </c:lvl>
              </c:multiLvlStrCache>
            </c:multiLvlStrRef>
          </c:cat>
          <c:val>
            <c:numRef>
              <c:f>Sheet1!$C$2:$C$7</c:f>
              <c:numCache>
                <c:formatCode>General</c:formatCode>
                <c:ptCount val="6"/>
                <c:pt idx="0">
                  <c:v>41</c:v>
                </c:pt>
                <c:pt idx="1">
                  <c:v>27</c:v>
                </c:pt>
                <c:pt idx="2">
                  <c:v>18</c:v>
                </c:pt>
                <c:pt idx="3">
                  <c:v>7</c:v>
                </c:pt>
                <c:pt idx="4">
                  <c:v>5</c:v>
                </c:pt>
                <c:pt idx="5">
                  <c:v>2</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Today</c:v>
                </c:pt>
              </c:strCache>
            </c:strRef>
          </c:tx>
          <c:spPr>
            <a:solidFill>
              <a:srgbClr val="86BC25"/>
            </a:solidFill>
            <a:effectLst/>
          </c:spPr>
          <c:invertIfNegative val="0"/>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c:v>
                  </c:pt>
                  <c:pt idx="1">
                    <c:v>Automating workflows</c:v>
                  </c:pt>
                  <c:pt idx="2">
                    <c:v>Redesigning processes</c:v>
                  </c:pt>
                  <c:pt idx="3">
                    <c:v>Outsourcing</c:v>
                  </c:pt>
                  <c:pt idx="4">
                    <c:v>Hiring / workforce</c:v>
                  </c:pt>
                  <c:pt idx="5">
                    <c:v>Combination</c:v>
                  </c:pt>
                </c:lvl>
              </c:multiLvlStrCache>
            </c:multiLvlStrRef>
          </c:cat>
          <c:val>
            <c:numRef>
              <c:f>Sheet1!$B$2:$B$7</c:f>
              <c:numCache>
                <c:formatCode>General</c:formatCode>
                <c:ptCount val="6"/>
                <c:pt idx="0">
                  <c:v>47</c:v>
                </c:pt>
                <c:pt idx="1">
                  <c:v>33</c:v>
                </c:pt>
                <c:pt idx="2">
                  <c:v>7</c:v>
                </c:pt>
                <c:pt idx="3">
                  <c:v>7</c:v>
                </c:pt>
                <c:pt idx="4">
                  <c:v>7</c:v>
                </c:pt>
                <c:pt idx="5">
                  <c:v>0</c:v>
                </c:pt>
              </c:numCache>
            </c:numRef>
          </c:val>
        </c:ser>
        <c:ser>
          <c:idx val="1"/>
          <c:order val="1"/>
          <c:tx>
            <c:strRef>
              <c:f>Sheet1!$C$1</c:f>
              <c:strCache>
                <c:ptCount val="1"/>
                <c:pt idx="0">
                  <c:v>3-Year Focus</c:v>
                </c:pt>
              </c:strCache>
            </c:strRef>
          </c:tx>
          <c:spPr>
            <a:solidFill>
              <a:srgbClr val="046A38"/>
            </a:solidFill>
            <a:effectLst/>
          </c:spPr>
          <c:invertIfNegative val="0"/>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c:v>
                  </c:pt>
                  <c:pt idx="1">
                    <c:v>Automating workflows</c:v>
                  </c:pt>
                  <c:pt idx="2">
                    <c:v>Redesigning processes</c:v>
                  </c:pt>
                  <c:pt idx="3">
                    <c:v>Outsourcing</c:v>
                  </c:pt>
                  <c:pt idx="4">
                    <c:v>Hiring / workforce</c:v>
                  </c:pt>
                  <c:pt idx="5">
                    <c:v>Combination</c:v>
                  </c:pt>
                </c:lvl>
              </c:multiLvlStrCache>
            </c:multiLvlStrRef>
          </c:cat>
          <c:val>
            <c:numRef>
              <c:f>Sheet1!$C$2:$C$7</c:f>
              <c:numCache>
                <c:formatCode>General</c:formatCode>
                <c:ptCount val="6"/>
                <c:pt idx="0">
                  <c:v>40</c:v>
                </c:pt>
                <c:pt idx="1">
                  <c:v>27</c:v>
                </c:pt>
                <c:pt idx="2">
                  <c:v>27</c:v>
                </c:pt>
                <c:pt idx="3">
                  <c:v>7</c:v>
                </c:pt>
                <c:pt idx="4">
                  <c:v>0</c:v>
                </c:pt>
                <c:pt idx="5">
                  <c:v>0</c:v>
                </c:pt>
              </c:numCache>
            </c:numRef>
          </c:val>
        </c:ser>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Today</c:v>
                </c:pt>
              </c:strCache>
            </c:strRef>
          </c:tx>
          <c:spPr>
            <a:solidFill>
              <a:srgbClr val="86BC25"/>
            </a:solidFill>
            <a:effectLst/>
          </c:spPr>
          <c:invertIfNegative val="0"/>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c:v>
                  </c:pt>
                  <c:pt idx="1">
                    <c:v>Automating workflows</c:v>
                  </c:pt>
                  <c:pt idx="2">
                    <c:v>Redesigning processes</c:v>
                  </c:pt>
                  <c:pt idx="3">
                    <c:v>Outsourcing</c:v>
                  </c:pt>
                  <c:pt idx="4">
                    <c:v>Hiring / workforce</c:v>
                  </c:pt>
                  <c:pt idx="5">
                    <c:v>Combination</c:v>
                  </c:pt>
                </c:lvl>
              </c:multiLvlStrCache>
            </c:multiLvlStrRef>
          </c:cat>
          <c:val>
            <c:numRef>
              <c:f>Sheet1!$B$2:$B$7</c:f>
              <c:numCache>
                <c:formatCode>General</c:formatCode>
                <c:ptCount val="6"/>
                <c:pt idx="0">
                  <c:v>10</c:v>
                </c:pt>
                <c:pt idx="1">
                  <c:v>20</c:v>
                </c:pt>
                <c:pt idx="2">
                  <c:v>20</c:v>
                </c:pt>
                <c:pt idx="3">
                  <c:v>30</c:v>
                </c:pt>
                <c:pt idx="4">
                  <c:v>20</c:v>
                </c:pt>
                <c:pt idx="5">
                  <c:v>0</c:v>
                </c:pt>
              </c:numCache>
            </c:numRef>
          </c:val>
        </c:ser>
        <c:ser>
          <c:idx val="1"/>
          <c:order val="1"/>
          <c:tx>
            <c:strRef>
              <c:f>Sheet1!$C$1</c:f>
              <c:strCache>
                <c:ptCount val="1"/>
                <c:pt idx="0">
                  <c:v>3-Year Focus</c:v>
                </c:pt>
              </c:strCache>
            </c:strRef>
          </c:tx>
          <c:spPr>
            <a:solidFill>
              <a:srgbClr val="046A38"/>
            </a:solidFill>
            <a:effectLst/>
          </c:spPr>
          <c:invertIfNegative val="0"/>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c:v>
                  </c:pt>
                  <c:pt idx="1">
                    <c:v>Automating workflows</c:v>
                  </c:pt>
                  <c:pt idx="2">
                    <c:v>Redesigning processes</c:v>
                  </c:pt>
                  <c:pt idx="3">
                    <c:v>Outsourcing</c:v>
                  </c:pt>
                  <c:pt idx="4">
                    <c:v>Hiring / workforce</c:v>
                  </c:pt>
                  <c:pt idx="5">
                    <c:v>Combination</c:v>
                  </c:pt>
                </c:lvl>
              </c:multiLvlStrCache>
            </c:multiLvlStrRef>
          </c:cat>
          <c:val>
            <c:numRef>
              <c:f>Sheet1!$C$2:$C$7</c:f>
              <c:numCache>
                <c:formatCode>General</c:formatCode>
                <c:ptCount val="6"/>
                <c:pt idx="0">
                  <c:v>40</c:v>
                </c:pt>
                <c:pt idx="1">
                  <c:v>30</c:v>
                </c:pt>
                <c:pt idx="2">
                  <c:v>20</c:v>
                </c:pt>
                <c:pt idx="3">
                  <c:v>0</c:v>
                </c:pt>
                <c:pt idx="4">
                  <c:v>10</c:v>
                </c:pt>
                <c:pt idx="5">
                  <c:v>0</c:v>
                </c:pt>
              </c:numCache>
            </c:numRef>
          </c:val>
        </c:ser>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86BC25"/>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50 (47%)</c:v>
                  </c:pt>
                  <c:pt idx="1">
                    <c:v>AI-enabled tools — Large (10%)</c:v>
                  </c:pt>
                  <c:pt idx="2">
                    <c:v>Automating workflows — Top 50 (33%)</c:v>
                  </c:pt>
                  <c:pt idx="3">
                    <c:v>Automating workflows — Large (20%)</c:v>
                  </c:pt>
                  <c:pt idx="4">
                    <c:v>Redesigning processes — Top 50 (7%)</c:v>
                  </c:pt>
                  <c:pt idx="5">
                    <c:v>Redesigning processes — Large (20%)</c:v>
                  </c:pt>
                  <c:pt idx="6">
                    <c:v>Outsourcing — Top 50 (7%)</c:v>
                  </c:pt>
                  <c:pt idx="7">
                    <c:v>Outsourcing — Large (30%)</c:v>
                  </c:pt>
                  <c:pt idx="8">
                    <c:v>Hiring / workforce — Top 50 (7%)</c:v>
                  </c:pt>
                  <c:pt idx="9">
                    <c:v>Hiring / workforce — Large (20%)</c:v>
                  </c:pt>
                  <c:pt idx="10">
                    <c:v>Combination — Top 50 (0%)</c:v>
                  </c:pt>
                  <c:pt idx="11">
                    <c:v>Combination — Large (0%)</c:v>
                  </c:pt>
                </c:lvl>
              </c:multiLvlStrCache>
            </c:multiLvlStrRef>
          </c:cat>
          <c:val>
            <c:numRef>
              <c:f>Sheet1!$B$2:$B$13</c:f>
              <c:numCache>
                <c:formatCode>General</c:formatCode>
                <c:ptCount val="12"/>
                <c:pt idx="0">
                  <c:v>20</c:v>
                </c:pt>
                <c:pt idx="1">
                  <c:v>0</c:v>
                </c:pt>
                <c:pt idx="2">
                  <c:v>27</c:v>
                </c:pt>
                <c:pt idx="3">
                  <c:v>0</c:v>
                </c:pt>
                <c:pt idx="4">
                  <c:v>0</c:v>
                </c:pt>
                <c:pt idx="5">
                  <c:v>20</c:v>
                </c:pt>
                <c:pt idx="6">
                  <c:v>0</c:v>
                </c:pt>
                <c:pt idx="7">
                  <c:v>0</c:v>
                </c:pt>
                <c:pt idx="8">
                  <c:v>0</c:v>
                </c:pt>
                <c:pt idx="9">
                  <c:v>10</c:v>
                </c:pt>
                <c:pt idx="10">
                  <c:v>0</c:v>
                </c:pt>
                <c:pt idx="11">
                  <c:v>0</c:v>
                </c:pt>
              </c:numCache>
            </c:numRef>
          </c:val>
        </c:ser>
        <c:ser>
          <c:idx val="1"/>
          <c:order val="1"/>
          <c:tx>
            <c:strRef>
              <c:f>Sheet1!$C$1</c:f>
              <c:strCache>
                <c:ptCount val="1"/>
                <c:pt idx="0">
                  <c:v>Canada</c:v>
                </c:pt>
              </c:strCache>
            </c:strRef>
          </c:tx>
          <c:spPr>
            <a:solidFill>
              <a:srgbClr val="43B02A"/>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50 (47%)</c:v>
                  </c:pt>
                  <c:pt idx="1">
                    <c:v>AI-enabled tools — Large (10%)</c:v>
                  </c:pt>
                  <c:pt idx="2">
                    <c:v>Automating workflows — Top 50 (33%)</c:v>
                  </c:pt>
                  <c:pt idx="3">
                    <c:v>Automating workflows — Large (20%)</c:v>
                  </c:pt>
                  <c:pt idx="4">
                    <c:v>Redesigning processes — Top 50 (7%)</c:v>
                  </c:pt>
                  <c:pt idx="5">
                    <c:v>Redesigning processes — Large (20%)</c:v>
                  </c:pt>
                  <c:pt idx="6">
                    <c:v>Outsourcing — Top 50 (7%)</c:v>
                  </c:pt>
                  <c:pt idx="7">
                    <c:v>Outsourcing — Large (30%)</c:v>
                  </c:pt>
                  <c:pt idx="8">
                    <c:v>Hiring / workforce — Top 50 (7%)</c:v>
                  </c:pt>
                  <c:pt idx="9">
                    <c:v>Hiring / workforce — Large (20%)</c:v>
                  </c:pt>
                  <c:pt idx="10">
                    <c:v>Combination — Top 50 (0%)</c:v>
                  </c:pt>
                  <c:pt idx="11">
                    <c:v>Combination — Large (0%)</c:v>
                  </c:pt>
                </c:lvl>
              </c:multiLvlStrCache>
            </c:multiLvlStrRef>
          </c:cat>
          <c:val>
            <c:numRef>
              <c:f>Sheet1!$C$2:$C$13</c:f>
              <c:numCache>
                <c:formatCode>General</c:formatCode>
                <c:ptCount val="12"/>
                <c:pt idx="0">
                  <c:v>20</c:v>
                </c:pt>
                <c:pt idx="1">
                  <c:v>10</c:v>
                </c:pt>
                <c:pt idx="2">
                  <c:v>7</c:v>
                </c:pt>
                <c:pt idx="3">
                  <c:v>20</c:v>
                </c:pt>
                <c:pt idx="4">
                  <c:v>7</c:v>
                </c:pt>
                <c:pt idx="5">
                  <c:v>0</c:v>
                </c:pt>
                <c:pt idx="6">
                  <c:v>7</c:v>
                </c:pt>
                <c:pt idx="7">
                  <c:v>20</c:v>
                </c:pt>
                <c:pt idx="8">
                  <c:v>0</c:v>
                </c:pt>
                <c:pt idx="9">
                  <c:v>10</c:v>
                </c:pt>
                <c:pt idx="10">
                  <c:v>0</c:v>
                </c:pt>
                <c:pt idx="11">
                  <c:v>0</c:v>
                </c:pt>
              </c:numCache>
            </c:numRef>
          </c:val>
        </c:ser>
        <c:ser>
          <c:idx val="2"/>
          <c:order val="2"/>
          <c:tx>
            <c:strRef>
              <c:f>Sheet1!$D$1</c:f>
              <c:strCache>
                <c:ptCount val="1"/>
                <c:pt idx="0">
                  <c:v>Europe (EU + UK)</c:v>
                </c:pt>
              </c:strCache>
            </c:strRef>
          </c:tx>
          <c:spPr>
            <a:solidFill>
              <a:srgbClr val="046A38"/>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50 (47%)</c:v>
                  </c:pt>
                  <c:pt idx="1">
                    <c:v>AI-enabled tools — Large (10%)</c:v>
                  </c:pt>
                  <c:pt idx="2">
                    <c:v>Automating workflows — Top 50 (33%)</c:v>
                  </c:pt>
                  <c:pt idx="3">
                    <c:v>Automating workflows — Large (20%)</c:v>
                  </c:pt>
                  <c:pt idx="4">
                    <c:v>Redesigning processes — Top 50 (7%)</c:v>
                  </c:pt>
                  <c:pt idx="5">
                    <c:v>Redesigning processes — Large (20%)</c:v>
                  </c:pt>
                  <c:pt idx="6">
                    <c:v>Outsourcing — Top 50 (7%)</c:v>
                  </c:pt>
                  <c:pt idx="7">
                    <c:v>Outsourcing — Large (30%)</c:v>
                  </c:pt>
                  <c:pt idx="8">
                    <c:v>Hiring / workforce — Top 50 (7%)</c:v>
                  </c:pt>
                  <c:pt idx="9">
                    <c:v>Hiring / workforce — Large (20%)</c:v>
                  </c:pt>
                  <c:pt idx="10">
                    <c:v>Combination — Top 50 (0%)</c:v>
                  </c:pt>
                  <c:pt idx="11">
                    <c:v>Combination — Large (0%)</c:v>
                  </c:pt>
                </c:lvl>
              </c:multiLvlStrCache>
            </c:multiLvlStrRef>
          </c:cat>
          <c:val>
            <c:numRef>
              <c:f>Sheet1!$D$2:$D$13</c:f>
              <c:numCache>
                <c:formatCode>General</c:formatCode>
                <c:ptCount val="12"/>
                <c:pt idx="0">
                  <c:v>7</c:v>
                </c:pt>
                <c:pt idx="1">
                  <c:v>0</c:v>
                </c:pt>
                <c:pt idx="2">
                  <c:v>0</c:v>
                </c:pt>
                <c:pt idx="3">
                  <c:v>0</c:v>
                </c:pt>
                <c:pt idx="4">
                  <c:v>0</c:v>
                </c:pt>
                <c:pt idx="5">
                  <c:v>0</c:v>
                </c:pt>
                <c:pt idx="6">
                  <c:v>0</c:v>
                </c:pt>
                <c:pt idx="7">
                  <c:v>10</c:v>
                </c:pt>
                <c:pt idx="8">
                  <c:v>0</c:v>
                </c:pt>
                <c:pt idx="9">
                  <c:v>0</c:v>
                </c:pt>
                <c:pt idx="10">
                  <c:v>0</c:v>
                </c:pt>
                <c:pt idx="11">
                  <c:v>0</c:v>
                </c:pt>
              </c:numCache>
            </c:numRef>
          </c:val>
        </c:ser>
        <c:ser>
          <c:idx val="3"/>
          <c:order val="3"/>
          <c:tx>
            <c:strRef>
              <c:f>Sheet1!$E$1</c:f>
              <c:strCache>
                <c:ptCount val="1"/>
                <c:pt idx="0">
                  <c:v>Australia</c:v>
                </c:pt>
              </c:strCache>
            </c:strRef>
          </c:tx>
          <c:spPr>
            <a:solidFill>
              <a:srgbClr val="0D8390"/>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50 (47%)</c:v>
                  </c:pt>
                  <c:pt idx="1">
                    <c:v>AI-enabled tools — Large (10%)</c:v>
                  </c:pt>
                  <c:pt idx="2">
                    <c:v>Automating workflows — Top 50 (33%)</c:v>
                  </c:pt>
                  <c:pt idx="3">
                    <c:v>Automating workflows — Large (20%)</c:v>
                  </c:pt>
                  <c:pt idx="4">
                    <c:v>Redesigning processes — Top 50 (7%)</c:v>
                  </c:pt>
                  <c:pt idx="5">
                    <c:v>Redesigning processes — Large (20%)</c:v>
                  </c:pt>
                  <c:pt idx="6">
                    <c:v>Outsourcing — Top 50 (7%)</c:v>
                  </c:pt>
                  <c:pt idx="7">
                    <c:v>Outsourcing — Large (30%)</c:v>
                  </c:pt>
                  <c:pt idx="8">
                    <c:v>Hiring / workforce — Top 50 (7%)</c:v>
                  </c:pt>
                  <c:pt idx="9">
                    <c:v>Hiring / workforce — Large (20%)</c:v>
                  </c:pt>
                  <c:pt idx="10">
                    <c:v>Combination — Top 50 (0%)</c:v>
                  </c:pt>
                  <c:pt idx="11">
                    <c:v>Combination — Large (0%)</c:v>
                  </c:pt>
                </c:lvl>
              </c:multiLvlStrCache>
            </c:multiLvlStrRef>
          </c:cat>
          <c:val>
            <c:numRef>
              <c:f>Sheet1!$E$2:$E$13</c:f>
              <c:numCache>
                <c:formatCode>General</c:formatCode>
                <c:ptCount val="12"/>
                <c:pt idx="0">
                  <c:v>0</c:v>
                </c:pt>
                <c:pt idx="1">
                  <c:v>0</c:v>
                </c:pt>
                <c:pt idx="2">
                  <c:v>0</c:v>
                </c:pt>
                <c:pt idx="3">
                  <c:v>0</c:v>
                </c:pt>
                <c:pt idx="4">
                  <c:v>0</c:v>
                </c:pt>
                <c:pt idx="5">
                  <c:v>0</c:v>
                </c:pt>
                <c:pt idx="6">
                  <c:v>0</c:v>
                </c:pt>
                <c:pt idx="7">
                  <c:v>0</c:v>
                </c:pt>
                <c:pt idx="8">
                  <c:v>7</c:v>
                </c:pt>
                <c:pt idx="9">
                  <c:v>0</c:v>
                </c:pt>
                <c:pt idx="10">
                  <c:v>0</c:v>
                </c:pt>
                <c:pt idx="11">
                  <c:v>0</c:v>
                </c:pt>
              </c:numCache>
            </c:numRef>
          </c:val>
        </c:ser>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7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800">      </a:defRPr>
          </a:pPr>
          <a:endParaRPr lang="en-US"/>
        </a:p>
      </c:txPr>
    </c:legend>
    <c:plotVisOnly val="1"/>
    <c:dispBlanksAs val="span"/>
  </c:chart>
  <c:spPr>
    <a:noFill/>
    <a:ln>
      <a:noFill/>
    </a:ln>
    <a:effectLst/>
  </c:spPr>
  <c:externalData r:id="rId1">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86BC25"/>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50 (40%)</c:v>
                  </c:pt>
                  <c:pt idx="1">
                    <c:v>AI-enabled tools — Large (40%)</c:v>
                  </c:pt>
                  <c:pt idx="2">
                    <c:v>Automating workflows — Top 50 (27%)</c:v>
                  </c:pt>
                  <c:pt idx="3">
                    <c:v>Automating workflows — Large (30%)</c:v>
                  </c:pt>
                  <c:pt idx="4">
                    <c:v>Redesigning processes — Top 50 (27%)</c:v>
                  </c:pt>
                  <c:pt idx="5">
                    <c:v>Redesigning processes — Large (20%)</c:v>
                  </c:pt>
                  <c:pt idx="6">
                    <c:v>Outsourcing — Top 50 (7%)</c:v>
                  </c:pt>
                  <c:pt idx="7">
                    <c:v>Outsourcing — Large (0%)</c:v>
                  </c:pt>
                  <c:pt idx="8">
                    <c:v>Hiring / workforce — Top 50 (0%)</c:v>
                  </c:pt>
                  <c:pt idx="9">
                    <c:v>Hiring / workforce — Large (10%)</c:v>
                  </c:pt>
                  <c:pt idx="10">
                    <c:v>Combination — Top 50 (0%)</c:v>
                  </c:pt>
                  <c:pt idx="11">
                    <c:v>Combination — Large (0%)</c:v>
                  </c:pt>
                </c:lvl>
              </c:multiLvlStrCache>
            </c:multiLvlStrRef>
          </c:cat>
          <c:val>
            <c:numRef>
              <c:f>Sheet1!$B$2:$B$13</c:f>
              <c:numCache>
                <c:formatCode>General</c:formatCode>
                <c:ptCount val="12"/>
                <c:pt idx="0">
                  <c:v>27</c:v>
                </c:pt>
                <c:pt idx="1">
                  <c:v>10</c:v>
                </c:pt>
                <c:pt idx="2">
                  <c:v>7</c:v>
                </c:pt>
                <c:pt idx="3">
                  <c:v>20</c:v>
                </c:pt>
                <c:pt idx="4">
                  <c:v>7</c:v>
                </c:pt>
                <c:pt idx="5">
                  <c:v>0</c:v>
                </c:pt>
                <c:pt idx="6">
                  <c:v>7</c:v>
                </c:pt>
                <c:pt idx="7">
                  <c:v>0</c:v>
                </c:pt>
                <c:pt idx="8">
                  <c:v>0</c:v>
                </c:pt>
                <c:pt idx="9">
                  <c:v>0</c:v>
                </c:pt>
                <c:pt idx="10">
                  <c:v>0</c:v>
                </c:pt>
                <c:pt idx="11">
                  <c:v>0</c:v>
                </c:pt>
              </c:numCache>
            </c:numRef>
          </c:val>
        </c:ser>
        <c:ser>
          <c:idx val="1"/>
          <c:order val="1"/>
          <c:tx>
            <c:strRef>
              <c:f>Sheet1!$C$1</c:f>
              <c:strCache>
                <c:ptCount val="1"/>
                <c:pt idx="0">
                  <c:v>Canada</c:v>
                </c:pt>
              </c:strCache>
            </c:strRef>
          </c:tx>
          <c:spPr>
            <a:solidFill>
              <a:srgbClr val="43B02A"/>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50 (40%)</c:v>
                  </c:pt>
                  <c:pt idx="1">
                    <c:v>AI-enabled tools — Large (40%)</c:v>
                  </c:pt>
                  <c:pt idx="2">
                    <c:v>Automating workflows — Top 50 (27%)</c:v>
                  </c:pt>
                  <c:pt idx="3">
                    <c:v>Automating workflows — Large (30%)</c:v>
                  </c:pt>
                  <c:pt idx="4">
                    <c:v>Redesigning processes — Top 50 (27%)</c:v>
                  </c:pt>
                  <c:pt idx="5">
                    <c:v>Redesigning processes — Large (20%)</c:v>
                  </c:pt>
                  <c:pt idx="6">
                    <c:v>Outsourcing — Top 50 (7%)</c:v>
                  </c:pt>
                  <c:pt idx="7">
                    <c:v>Outsourcing — Large (0%)</c:v>
                  </c:pt>
                  <c:pt idx="8">
                    <c:v>Hiring / workforce — Top 50 (0%)</c:v>
                  </c:pt>
                  <c:pt idx="9">
                    <c:v>Hiring / workforce — Large (10%)</c:v>
                  </c:pt>
                  <c:pt idx="10">
                    <c:v>Combination — Top 50 (0%)</c:v>
                  </c:pt>
                  <c:pt idx="11">
                    <c:v>Combination — Large (0%)</c:v>
                  </c:pt>
                </c:lvl>
              </c:multiLvlStrCache>
            </c:multiLvlStrRef>
          </c:cat>
          <c:val>
            <c:numRef>
              <c:f>Sheet1!$C$2:$C$13</c:f>
              <c:numCache>
                <c:formatCode>General</c:formatCode>
                <c:ptCount val="12"/>
                <c:pt idx="0">
                  <c:v>13</c:v>
                </c:pt>
                <c:pt idx="1">
                  <c:v>30</c:v>
                </c:pt>
                <c:pt idx="2">
                  <c:v>20</c:v>
                </c:pt>
                <c:pt idx="3">
                  <c:v>10</c:v>
                </c:pt>
                <c:pt idx="4">
                  <c:v>7</c:v>
                </c:pt>
                <c:pt idx="5">
                  <c:v>20</c:v>
                </c:pt>
                <c:pt idx="6">
                  <c:v>0</c:v>
                </c:pt>
                <c:pt idx="7">
                  <c:v>0</c:v>
                </c:pt>
                <c:pt idx="8">
                  <c:v>0</c:v>
                </c:pt>
                <c:pt idx="9">
                  <c:v>0</c:v>
                </c:pt>
                <c:pt idx="10">
                  <c:v>0</c:v>
                </c:pt>
                <c:pt idx="11">
                  <c:v>0</c:v>
                </c:pt>
              </c:numCache>
            </c:numRef>
          </c:val>
        </c:ser>
        <c:ser>
          <c:idx val="2"/>
          <c:order val="2"/>
          <c:tx>
            <c:strRef>
              <c:f>Sheet1!$D$1</c:f>
              <c:strCache>
                <c:ptCount val="1"/>
                <c:pt idx="0">
                  <c:v>Europe (EU + UK)</c:v>
                </c:pt>
              </c:strCache>
            </c:strRef>
          </c:tx>
          <c:spPr>
            <a:solidFill>
              <a:srgbClr val="046A38"/>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50 (40%)</c:v>
                  </c:pt>
                  <c:pt idx="1">
                    <c:v>AI-enabled tools — Large (40%)</c:v>
                  </c:pt>
                  <c:pt idx="2">
                    <c:v>Automating workflows — Top 50 (27%)</c:v>
                  </c:pt>
                  <c:pt idx="3">
                    <c:v>Automating workflows — Large (30%)</c:v>
                  </c:pt>
                  <c:pt idx="4">
                    <c:v>Redesigning processes — Top 50 (27%)</c:v>
                  </c:pt>
                  <c:pt idx="5">
                    <c:v>Redesigning processes — Large (20%)</c:v>
                  </c:pt>
                  <c:pt idx="6">
                    <c:v>Outsourcing — Top 50 (7%)</c:v>
                  </c:pt>
                  <c:pt idx="7">
                    <c:v>Outsourcing — Large (0%)</c:v>
                  </c:pt>
                  <c:pt idx="8">
                    <c:v>Hiring / workforce — Top 50 (0%)</c:v>
                  </c:pt>
                  <c:pt idx="9">
                    <c:v>Hiring / workforce — Large (10%)</c:v>
                  </c:pt>
                  <c:pt idx="10">
                    <c:v>Combination — Top 50 (0%)</c:v>
                  </c:pt>
                  <c:pt idx="11">
                    <c:v>Combination — Large (0%)</c:v>
                  </c:pt>
                </c:lvl>
              </c:multiLvlStrCache>
            </c:multiLvlStrRef>
          </c:cat>
          <c:val>
            <c:numRef>
              <c:f>Sheet1!$D$2:$D$13</c:f>
              <c:numCache>
                <c:formatCode>General</c:formatCode>
                <c:ptCount val="12"/>
                <c:pt idx="0">
                  <c:v>0</c:v>
                </c:pt>
                <c:pt idx="1">
                  <c:v>0</c:v>
                </c:pt>
                <c:pt idx="2">
                  <c:v>0</c:v>
                </c:pt>
                <c:pt idx="3">
                  <c:v>0</c:v>
                </c:pt>
                <c:pt idx="4">
                  <c:v>7</c:v>
                </c:pt>
                <c:pt idx="5">
                  <c:v>0</c:v>
                </c:pt>
                <c:pt idx="6">
                  <c:v>0</c:v>
                </c:pt>
                <c:pt idx="7">
                  <c:v>0</c:v>
                </c:pt>
                <c:pt idx="8">
                  <c:v>0</c:v>
                </c:pt>
                <c:pt idx="9">
                  <c:v>10</c:v>
                </c:pt>
                <c:pt idx="10">
                  <c:v>0</c:v>
                </c:pt>
                <c:pt idx="11">
                  <c:v>0</c:v>
                </c:pt>
              </c:numCache>
            </c:numRef>
          </c:val>
        </c:ser>
        <c:ser>
          <c:idx val="3"/>
          <c:order val="3"/>
          <c:tx>
            <c:strRef>
              <c:f>Sheet1!$E$1</c:f>
              <c:strCache>
                <c:ptCount val="1"/>
                <c:pt idx="0">
                  <c:v>Australia</c:v>
                </c:pt>
              </c:strCache>
            </c:strRef>
          </c:tx>
          <c:spPr>
            <a:solidFill>
              <a:srgbClr val="0D8390"/>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50 (40%)</c:v>
                  </c:pt>
                  <c:pt idx="1">
                    <c:v>AI-enabled tools — Large (40%)</c:v>
                  </c:pt>
                  <c:pt idx="2">
                    <c:v>Automating workflows — Top 50 (27%)</c:v>
                  </c:pt>
                  <c:pt idx="3">
                    <c:v>Automating workflows — Large (30%)</c:v>
                  </c:pt>
                  <c:pt idx="4">
                    <c:v>Redesigning processes — Top 50 (27%)</c:v>
                  </c:pt>
                  <c:pt idx="5">
                    <c:v>Redesigning processes — Large (20%)</c:v>
                  </c:pt>
                  <c:pt idx="6">
                    <c:v>Outsourcing — Top 50 (7%)</c:v>
                  </c:pt>
                  <c:pt idx="7">
                    <c:v>Outsourcing — Large (0%)</c:v>
                  </c:pt>
                  <c:pt idx="8">
                    <c:v>Hiring / workforce — Top 50 (0%)</c:v>
                  </c:pt>
                  <c:pt idx="9">
                    <c:v>Hiring / workforce — Large (10%)</c:v>
                  </c:pt>
                  <c:pt idx="10">
                    <c:v>Combination — Top 50 (0%)</c:v>
                  </c:pt>
                  <c:pt idx="11">
                    <c:v>Combination — Large (0%)</c:v>
                  </c:pt>
                </c:lvl>
              </c:multiLvlStrCache>
            </c:multiLvlStrRef>
          </c:cat>
          <c:val>
            <c:numRef>
              <c:f>Sheet1!$E$2:$E$13</c:f>
              <c:numCache>
                <c:formatCode>General</c:formatCode>
                <c:ptCount val="12"/>
                <c:pt idx="0">
                  <c:v>0</c:v>
                </c:pt>
                <c:pt idx="1">
                  <c:v>0</c:v>
                </c:pt>
                <c:pt idx="2">
                  <c:v>0</c:v>
                </c:pt>
                <c:pt idx="3">
                  <c:v>0</c:v>
                </c:pt>
                <c:pt idx="4">
                  <c:v>7</c:v>
                </c:pt>
                <c:pt idx="5">
                  <c:v>0</c:v>
                </c:pt>
                <c:pt idx="6">
                  <c:v>0</c:v>
                </c:pt>
                <c:pt idx="7">
                  <c:v>0</c:v>
                </c:pt>
                <c:pt idx="8">
                  <c:v>0</c:v>
                </c:pt>
                <c:pt idx="9">
                  <c:v>0</c:v>
                </c:pt>
                <c:pt idx="10">
                  <c:v>0</c:v>
                </c:pt>
                <c:pt idx="11">
                  <c:v>0</c:v>
                </c:pt>
              </c:numCache>
            </c:numRef>
          </c:val>
        </c:ser>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7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800">      </a:defRPr>
          </a:pPr>
          <a:endParaRPr lang="en-US"/>
        </a:p>
      </c:txPr>
    </c:legend>
    <c:plotVisOnly val="1"/>
    <c:dispBlanksAs val="span"/>
  </c:chart>
  <c:spPr>
    <a:noFill/>
    <a:ln>
      <a:noFill/>
    </a:ln>
    <a:effectLst/>
  </c:spPr>
  <c:externalData r:id="rId1">
    <c:autoUpdate val="0"/>
  </c:externalData>
</c:chartSpace>
</file>

<file path=ppt/charts/chart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Today</c:v>
                </c:pt>
              </c:strCache>
            </c:strRef>
          </c:tx>
          <c:spPr>
            <a:solidFill>
              <a:srgbClr val="86BC25"/>
            </a:solidFill>
            <a:effectLst/>
          </c:spPr>
          <c:invertIfNegative val="0"/>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c:v>
                  </c:pt>
                  <c:pt idx="1">
                    <c:v>Automating workflows</c:v>
                  </c:pt>
                  <c:pt idx="2">
                    <c:v>Redesigning processes</c:v>
                  </c:pt>
                  <c:pt idx="3">
                    <c:v>Outsourcing</c:v>
                  </c:pt>
                  <c:pt idx="4">
                    <c:v>Hiring / workforce</c:v>
                  </c:pt>
                  <c:pt idx="5">
                    <c:v>Combination</c:v>
                  </c:pt>
                </c:lvl>
              </c:multiLvlStrCache>
            </c:multiLvlStrRef>
          </c:cat>
          <c:val>
            <c:numRef>
              <c:f>Sheet1!$B$2:$B$7</c:f>
              <c:numCache>
                <c:formatCode>General</c:formatCode>
                <c:ptCount val="6"/>
                <c:pt idx="0">
                  <c:v>35</c:v>
                </c:pt>
                <c:pt idx="1">
                  <c:v>32</c:v>
                </c:pt>
                <c:pt idx="2">
                  <c:v>8</c:v>
                </c:pt>
                <c:pt idx="3">
                  <c:v>5</c:v>
                </c:pt>
                <c:pt idx="4">
                  <c:v>5</c:v>
                </c:pt>
                <c:pt idx="5">
                  <c:v>15</c:v>
                </c:pt>
              </c:numCache>
            </c:numRef>
          </c:val>
        </c:ser>
        <c:ser>
          <c:idx val="1"/>
          <c:order val="1"/>
          <c:tx>
            <c:strRef>
              <c:f>Sheet1!$C$1</c:f>
              <c:strCache>
                <c:ptCount val="1"/>
                <c:pt idx="0">
                  <c:v>3-Year Focus</c:v>
                </c:pt>
              </c:strCache>
            </c:strRef>
          </c:tx>
          <c:spPr>
            <a:solidFill>
              <a:srgbClr val="046A38"/>
            </a:solidFill>
            <a:effectLst/>
          </c:spPr>
          <c:invertIfNegative val="0"/>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c:v>
                  </c:pt>
                  <c:pt idx="1">
                    <c:v>Automating workflows</c:v>
                  </c:pt>
                  <c:pt idx="2">
                    <c:v>Redesigning processes</c:v>
                  </c:pt>
                  <c:pt idx="3">
                    <c:v>Outsourcing</c:v>
                  </c:pt>
                  <c:pt idx="4">
                    <c:v>Hiring / workforce</c:v>
                  </c:pt>
                  <c:pt idx="5">
                    <c:v>Combination</c:v>
                  </c:pt>
                </c:lvl>
              </c:multiLvlStrCache>
            </c:multiLvlStrRef>
          </c:cat>
          <c:val>
            <c:numRef>
              <c:f>Sheet1!$C$2:$C$7</c:f>
              <c:numCache>
                <c:formatCode>General</c:formatCode>
                <c:ptCount val="6"/>
                <c:pt idx="0">
                  <c:v>40</c:v>
                </c:pt>
                <c:pt idx="1">
                  <c:v>32</c:v>
                </c:pt>
                <c:pt idx="2">
                  <c:v>15</c:v>
                </c:pt>
                <c:pt idx="3">
                  <c:v>8</c:v>
                </c:pt>
                <c:pt idx="4">
                  <c:v>2</c:v>
                </c:pt>
                <c:pt idx="5">
                  <c:v>2</c:v>
                </c:pt>
              </c:numCache>
            </c:numRef>
          </c:val>
        </c:ser>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Today</c:v>
                </c:pt>
              </c:strCache>
            </c:strRef>
          </c:tx>
          <c:spPr>
            <a:solidFill>
              <a:srgbClr val="86BC25"/>
            </a:solidFill>
            <a:effectLst/>
          </c:spPr>
          <c:invertIfNegative val="0"/>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c:v>
                  </c:pt>
                  <c:pt idx="1">
                    <c:v>Automating workflows</c:v>
                  </c:pt>
                  <c:pt idx="2">
                    <c:v>Redesigning processes</c:v>
                  </c:pt>
                  <c:pt idx="3">
                    <c:v>Outsourcing</c:v>
                  </c:pt>
                  <c:pt idx="4">
                    <c:v>Hiring / workforce</c:v>
                  </c:pt>
                  <c:pt idx="5">
                    <c:v>Combination</c:v>
                  </c:pt>
                </c:lvl>
              </c:multiLvlStrCache>
            </c:multiLvlStrRef>
          </c:cat>
          <c:val>
            <c:numRef>
              <c:f>Sheet1!$B$2:$B$7</c:f>
              <c:numCache>
                <c:formatCode>General</c:formatCode>
                <c:ptCount val="6"/>
                <c:pt idx="0">
                  <c:v>34</c:v>
                </c:pt>
                <c:pt idx="1">
                  <c:v>26</c:v>
                </c:pt>
                <c:pt idx="2">
                  <c:v>11</c:v>
                </c:pt>
                <c:pt idx="3">
                  <c:v>11</c:v>
                </c:pt>
                <c:pt idx="4">
                  <c:v>14</c:v>
                </c:pt>
                <c:pt idx="5">
                  <c:v>3</c:v>
                </c:pt>
              </c:numCache>
            </c:numRef>
          </c:val>
        </c:ser>
        <c:ser>
          <c:idx val="1"/>
          <c:order val="1"/>
          <c:tx>
            <c:strRef>
              <c:f>Sheet1!$C$1</c:f>
              <c:strCache>
                <c:ptCount val="1"/>
                <c:pt idx="0">
                  <c:v>3-Year Focus</c:v>
                </c:pt>
              </c:strCache>
            </c:strRef>
          </c:tx>
          <c:spPr>
            <a:solidFill>
              <a:srgbClr val="046A38"/>
            </a:solidFill>
            <a:effectLst/>
          </c:spPr>
          <c:invertIfNegative val="0"/>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c:v>
                  </c:pt>
                  <c:pt idx="1">
                    <c:v>Automating workflows</c:v>
                  </c:pt>
                  <c:pt idx="2">
                    <c:v>Redesigning processes</c:v>
                  </c:pt>
                  <c:pt idx="3">
                    <c:v>Outsourcing</c:v>
                  </c:pt>
                  <c:pt idx="4">
                    <c:v>Hiring / workforce</c:v>
                  </c:pt>
                  <c:pt idx="5">
                    <c:v>Combination</c:v>
                  </c:pt>
                </c:lvl>
              </c:multiLvlStrCache>
            </c:multiLvlStrRef>
          </c:cat>
          <c:val>
            <c:numRef>
              <c:f>Sheet1!$C$2:$C$7</c:f>
              <c:numCache>
                <c:formatCode>General</c:formatCode>
                <c:ptCount val="6"/>
                <c:pt idx="0">
                  <c:v>43</c:v>
                </c:pt>
                <c:pt idx="1">
                  <c:v>20</c:v>
                </c:pt>
                <c:pt idx="2">
                  <c:v>17</c:v>
                </c:pt>
                <c:pt idx="3">
                  <c:v>9</c:v>
                </c:pt>
                <c:pt idx="4">
                  <c:v>9</c:v>
                </c:pt>
                <c:pt idx="5">
                  <c:v>3</c:v>
                </c:pt>
              </c:numCache>
            </c:numRef>
          </c:val>
        </c:ser>
        <c:dLbls>
          <c:numFmt formatCode="0&quot;%&quot;"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86BC25"/>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100 (34%)</c:v>
                  </c:pt>
                  <c:pt idx="1">
                    <c:v>AI-enabled tools — Large (35%)</c:v>
                  </c:pt>
                  <c:pt idx="2">
                    <c:v>Automating workflows — Top 100 (32%)</c:v>
                  </c:pt>
                  <c:pt idx="3">
                    <c:v>Automating workflows — Large (26%)</c:v>
                  </c:pt>
                  <c:pt idx="4">
                    <c:v>Redesigning processes — Top 100 (6%)</c:v>
                  </c:pt>
                  <c:pt idx="5">
                    <c:v>Redesigning processes — Large (12%)</c:v>
                  </c:pt>
                  <c:pt idx="6">
                    <c:v>Outsourcing — Top 100 (4%)</c:v>
                  </c:pt>
                  <c:pt idx="7">
                    <c:v>Outsourcing — Large (12%)</c:v>
                  </c:pt>
                  <c:pt idx="8">
                    <c:v>Hiring / workforce — Top 100 (4%)</c:v>
                  </c:pt>
                  <c:pt idx="9">
                    <c:v>Hiring / workforce — Large (14%)</c:v>
                  </c:pt>
                  <c:pt idx="10">
                    <c:v>Combination — Top 100 (15%)</c:v>
                  </c:pt>
                  <c:pt idx="11">
                    <c:v>Combination — Large (3%)</c:v>
                  </c:pt>
                </c:lvl>
              </c:multiLvlStrCache>
            </c:multiLvlStrRef>
          </c:cat>
          <c:val>
            <c:numRef>
              <c:f>Sheet1!$B$2:$B$13</c:f>
              <c:numCache>
                <c:formatCode>General</c:formatCode>
                <c:ptCount val="12"/>
                <c:pt idx="0">
                  <c:v>20</c:v>
                </c:pt>
                <c:pt idx="1">
                  <c:v>17</c:v>
                </c:pt>
                <c:pt idx="2">
                  <c:v>10</c:v>
                </c:pt>
                <c:pt idx="3">
                  <c:v>11</c:v>
                </c:pt>
                <c:pt idx="4">
                  <c:v>0</c:v>
                </c:pt>
                <c:pt idx="5">
                  <c:v>6</c:v>
                </c:pt>
                <c:pt idx="6">
                  <c:v>0</c:v>
                </c:pt>
                <c:pt idx="7">
                  <c:v>9</c:v>
                </c:pt>
                <c:pt idx="8">
                  <c:v>0</c:v>
                </c:pt>
                <c:pt idx="9">
                  <c:v>14</c:v>
                </c:pt>
                <c:pt idx="10">
                  <c:v>5</c:v>
                </c:pt>
                <c:pt idx="11">
                  <c:v>0</c:v>
                </c:pt>
              </c:numCache>
            </c:numRef>
          </c:val>
        </c:ser>
        <c:ser>
          <c:idx val="1"/>
          <c:order val="1"/>
          <c:tx>
            <c:strRef>
              <c:f>Sheet1!$C$1</c:f>
              <c:strCache>
                <c:ptCount val="1"/>
                <c:pt idx="0">
                  <c:v>Canada</c:v>
                </c:pt>
              </c:strCache>
            </c:strRef>
          </c:tx>
          <c:spPr>
            <a:solidFill>
              <a:srgbClr val="43B02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100 (34%)</c:v>
                  </c:pt>
                  <c:pt idx="1">
                    <c:v>AI-enabled tools — Large (35%)</c:v>
                  </c:pt>
                  <c:pt idx="2">
                    <c:v>Automating workflows — Top 100 (32%)</c:v>
                  </c:pt>
                  <c:pt idx="3">
                    <c:v>Automating workflows — Large (26%)</c:v>
                  </c:pt>
                  <c:pt idx="4">
                    <c:v>Redesigning processes — Top 100 (6%)</c:v>
                  </c:pt>
                  <c:pt idx="5">
                    <c:v>Redesigning processes — Large (12%)</c:v>
                  </c:pt>
                  <c:pt idx="6">
                    <c:v>Outsourcing — Top 100 (4%)</c:v>
                  </c:pt>
                  <c:pt idx="7">
                    <c:v>Outsourcing — Large (12%)</c:v>
                  </c:pt>
                  <c:pt idx="8">
                    <c:v>Hiring / workforce — Top 100 (4%)</c:v>
                  </c:pt>
                  <c:pt idx="9">
                    <c:v>Hiring / workforce — Large (14%)</c:v>
                  </c:pt>
                  <c:pt idx="10">
                    <c:v>Combination — Top 100 (15%)</c:v>
                  </c:pt>
                  <c:pt idx="11">
                    <c:v>Combination — Large (3%)</c:v>
                  </c:pt>
                </c:lvl>
              </c:multiLvlStrCache>
            </c:multiLvlStrRef>
          </c:cat>
          <c:val>
            <c:numRef>
              <c:f>Sheet1!$C$2:$C$13</c:f>
              <c:numCache>
                <c:formatCode>General</c:formatCode>
                <c:ptCount val="12"/>
                <c:pt idx="0">
                  <c:v>5</c:v>
                </c:pt>
                <c:pt idx="1">
                  <c:v>6</c:v>
                </c:pt>
                <c:pt idx="2">
                  <c:v>12</c:v>
                </c:pt>
                <c:pt idx="3">
                  <c:v>9</c:v>
                </c:pt>
                <c:pt idx="4">
                  <c:v>2</c:v>
                </c:pt>
                <c:pt idx="5">
                  <c:v>0</c:v>
                </c:pt>
                <c:pt idx="6">
                  <c:v>2</c:v>
                </c:pt>
                <c:pt idx="7">
                  <c:v>0</c:v>
                </c:pt>
                <c:pt idx="8">
                  <c:v>2</c:v>
                </c:pt>
                <c:pt idx="9">
                  <c:v>0</c:v>
                </c:pt>
                <c:pt idx="10">
                  <c:v>8</c:v>
                </c:pt>
                <c:pt idx="11">
                  <c:v>0</c:v>
                </c:pt>
              </c:numCache>
            </c:numRef>
          </c:val>
        </c:ser>
        <c:ser>
          <c:idx val="2"/>
          <c:order val="2"/>
          <c:tx>
            <c:strRef>
              <c:f>Sheet1!$D$1</c:f>
              <c:strCache>
                <c:ptCount val="1"/>
                <c:pt idx="0">
                  <c:v>Europe (EU + UK)</c:v>
                </c:pt>
              </c:strCache>
            </c:strRef>
          </c:tx>
          <c:spPr>
            <a:solidFill>
              <a:srgbClr val="046A38"/>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100 (34%)</c:v>
                  </c:pt>
                  <c:pt idx="1">
                    <c:v>AI-enabled tools — Large (35%)</c:v>
                  </c:pt>
                  <c:pt idx="2">
                    <c:v>Automating workflows — Top 100 (32%)</c:v>
                  </c:pt>
                  <c:pt idx="3">
                    <c:v>Automating workflows — Large (26%)</c:v>
                  </c:pt>
                  <c:pt idx="4">
                    <c:v>Redesigning processes — Top 100 (6%)</c:v>
                  </c:pt>
                  <c:pt idx="5">
                    <c:v>Redesigning processes — Large (12%)</c:v>
                  </c:pt>
                  <c:pt idx="6">
                    <c:v>Outsourcing — Top 100 (4%)</c:v>
                  </c:pt>
                  <c:pt idx="7">
                    <c:v>Outsourcing — Large (12%)</c:v>
                  </c:pt>
                  <c:pt idx="8">
                    <c:v>Hiring / workforce — Top 100 (4%)</c:v>
                  </c:pt>
                  <c:pt idx="9">
                    <c:v>Hiring / workforce — Large (14%)</c:v>
                  </c:pt>
                  <c:pt idx="10">
                    <c:v>Combination — Top 100 (15%)</c:v>
                  </c:pt>
                  <c:pt idx="11">
                    <c:v>Combination — Large (3%)</c:v>
                  </c:pt>
                </c:lvl>
              </c:multiLvlStrCache>
            </c:multiLvlStrRef>
          </c:cat>
          <c:val>
            <c:numRef>
              <c:f>Sheet1!$D$2:$D$13</c:f>
              <c:numCache>
                <c:formatCode>General</c:formatCode>
                <c:ptCount val="12"/>
                <c:pt idx="0">
                  <c:v>5</c:v>
                </c:pt>
                <c:pt idx="1">
                  <c:v>6</c:v>
                </c:pt>
                <c:pt idx="2">
                  <c:v>5</c:v>
                </c:pt>
                <c:pt idx="3">
                  <c:v>3</c:v>
                </c:pt>
                <c:pt idx="4">
                  <c:v>2</c:v>
                </c:pt>
                <c:pt idx="5">
                  <c:v>3</c:v>
                </c:pt>
                <c:pt idx="6">
                  <c:v>0</c:v>
                </c:pt>
                <c:pt idx="7">
                  <c:v>0</c:v>
                </c:pt>
                <c:pt idx="8">
                  <c:v>2</c:v>
                </c:pt>
                <c:pt idx="9">
                  <c:v>0</c:v>
                </c:pt>
                <c:pt idx="10">
                  <c:v>2</c:v>
                </c:pt>
                <c:pt idx="11">
                  <c:v>3</c:v>
                </c:pt>
              </c:numCache>
            </c:numRef>
          </c:val>
        </c:ser>
        <c:ser>
          <c:idx val="3"/>
          <c:order val="3"/>
          <c:tx>
            <c:strRef>
              <c:f>Sheet1!$E$1</c:f>
              <c:strCache>
                <c:ptCount val="1"/>
                <c:pt idx="0">
                  <c:v>Australia</c:v>
                </c:pt>
              </c:strCache>
            </c:strRef>
          </c:tx>
          <c:spPr>
            <a:solidFill>
              <a:srgbClr val="0D8390"/>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100 (34%)</c:v>
                  </c:pt>
                  <c:pt idx="1">
                    <c:v>AI-enabled tools — Large (35%)</c:v>
                  </c:pt>
                  <c:pt idx="2">
                    <c:v>Automating workflows — Top 100 (32%)</c:v>
                  </c:pt>
                  <c:pt idx="3">
                    <c:v>Automating workflows — Large (26%)</c:v>
                  </c:pt>
                  <c:pt idx="4">
                    <c:v>Redesigning processes — Top 100 (6%)</c:v>
                  </c:pt>
                  <c:pt idx="5">
                    <c:v>Redesigning processes — Large (12%)</c:v>
                  </c:pt>
                  <c:pt idx="6">
                    <c:v>Outsourcing — Top 100 (4%)</c:v>
                  </c:pt>
                  <c:pt idx="7">
                    <c:v>Outsourcing — Large (12%)</c:v>
                  </c:pt>
                  <c:pt idx="8">
                    <c:v>Hiring / workforce — Top 100 (4%)</c:v>
                  </c:pt>
                  <c:pt idx="9">
                    <c:v>Hiring / workforce — Large (14%)</c:v>
                  </c:pt>
                  <c:pt idx="10">
                    <c:v>Combination — Top 100 (15%)</c:v>
                  </c:pt>
                  <c:pt idx="11">
                    <c:v>Combination — Large (3%)</c:v>
                  </c:pt>
                </c:lvl>
              </c:multiLvlStrCache>
            </c:multiLvlStrRef>
          </c:cat>
          <c:val>
            <c:numRef>
              <c:f>Sheet1!$E$2:$E$13</c:f>
              <c:numCache>
                <c:formatCode>General</c:formatCode>
                <c:ptCount val="12"/>
                <c:pt idx="0">
                  <c:v>2</c:v>
                </c:pt>
                <c:pt idx="1">
                  <c:v>6</c:v>
                </c:pt>
                <c:pt idx="2">
                  <c:v>5</c:v>
                </c:pt>
                <c:pt idx="3">
                  <c:v>0</c:v>
                </c:pt>
                <c:pt idx="4">
                  <c:v>2</c:v>
                </c:pt>
                <c:pt idx="5">
                  <c:v>0</c:v>
                </c:pt>
                <c:pt idx="6">
                  <c:v>0</c:v>
                </c:pt>
                <c:pt idx="7">
                  <c:v>3</c:v>
                </c:pt>
                <c:pt idx="8">
                  <c:v>0</c:v>
                </c:pt>
                <c:pt idx="9">
                  <c:v>0</c:v>
                </c:pt>
                <c:pt idx="10">
                  <c:v>0</c:v>
                </c:pt>
                <c:pt idx="11">
                  <c:v>0</c:v>
                </c:pt>
              </c:numCache>
            </c:numRef>
          </c:val>
        </c:ser>
        <c:ser>
          <c:idx val="4"/>
          <c:order val="4"/>
          <c:tx>
            <c:strRef>
              <c:f>Sheet1!$F$1</c:f>
              <c:strCache>
                <c:ptCount val="1"/>
                <c:pt idx="0">
                  <c:v>Singapore</c:v>
                </c:pt>
              </c:strCache>
            </c:strRef>
          </c:tx>
          <c:spPr>
            <a:solidFill>
              <a:srgbClr val="53565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100 (34%)</c:v>
                  </c:pt>
                  <c:pt idx="1">
                    <c:v>AI-enabled tools — Large (35%)</c:v>
                  </c:pt>
                  <c:pt idx="2">
                    <c:v>Automating workflows — Top 100 (32%)</c:v>
                  </c:pt>
                  <c:pt idx="3">
                    <c:v>Automating workflows — Large (26%)</c:v>
                  </c:pt>
                  <c:pt idx="4">
                    <c:v>Redesigning processes — Top 100 (6%)</c:v>
                  </c:pt>
                  <c:pt idx="5">
                    <c:v>Redesigning processes — Large (12%)</c:v>
                  </c:pt>
                  <c:pt idx="6">
                    <c:v>Outsourcing — Top 100 (4%)</c:v>
                  </c:pt>
                  <c:pt idx="7">
                    <c:v>Outsourcing — Large (12%)</c:v>
                  </c:pt>
                  <c:pt idx="8">
                    <c:v>Hiring / workforce — Top 100 (4%)</c:v>
                  </c:pt>
                  <c:pt idx="9">
                    <c:v>Hiring / workforce — Large (14%)</c:v>
                  </c:pt>
                  <c:pt idx="10">
                    <c:v>Combination — Top 100 (15%)</c:v>
                  </c:pt>
                  <c:pt idx="11">
                    <c:v>Combination — Large (3%)</c:v>
                  </c:pt>
                </c:lvl>
              </c:multiLvlStrCache>
            </c:multiLvlStrRef>
          </c:cat>
          <c:val>
            <c:numRef>
              <c:f>Sheet1!$F$2:$F$13</c:f>
              <c:numCache>
                <c:formatCode>General</c:formatCode>
                <c:ptCount val="12"/>
                <c:pt idx="0">
                  <c:v>2</c:v>
                </c:pt>
                <c:pt idx="1">
                  <c:v>0</c:v>
                </c:pt>
                <c:pt idx="2">
                  <c:v>0</c:v>
                </c:pt>
                <c:pt idx="3">
                  <c:v>3</c:v>
                </c:pt>
                <c:pt idx="4">
                  <c:v>0</c:v>
                </c:pt>
                <c:pt idx="5">
                  <c:v>3</c:v>
                </c:pt>
                <c:pt idx="6">
                  <c:v>2</c:v>
                </c:pt>
                <c:pt idx="7">
                  <c:v>0</c:v>
                </c:pt>
                <c:pt idx="8">
                  <c:v>0</c:v>
                </c:pt>
                <c:pt idx="9">
                  <c:v>0</c:v>
                </c:pt>
                <c:pt idx="10">
                  <c:v>0</c:v>
                </c:pt>
                <c:pt idx="11">
                  <c:v>0</c:v>
                </c:pt>
              </c:numCache>
            </c:numRef>
          </c:val>
        </c:ser>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7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750">      </a:defRPr>
          </a:pPr>
          <a:endParaRPr lang="en-US"/>
        </a:p>
      </c:txPr>
    </c:legend>
    <c:plotVisOnly val="1"/>
    <c:dispBlanksAs val="span"/>
  </c:chart>
  <c:spPr>
    <a:noFill/>
    <a:ln>
      <a:noFill/>
    </a:ln>
    <a:effectLst/>
  </c:spPr>
  <c:externalData r:id="rId1">
    <c:autoUpdate val="0"/>
  </c:externalData>
</c:chartSpace>
</file>

<file path=ppt/charts/chart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86BC25"/>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100 (40%)</c:v>
                  </c:pt>
                  <c:pt idx="1">
                    <c:v>AI-enabled tools — Large (43%)</c:v>
                  </c:pt>
                  <c:pt idx="2">
                    <c:v>Automating workflows — Top 100 (33%)</c:v>
                  </c:pt>
                  <c:pt idx="3">
                    <c:v>Automating workflows — Large (20%)</c:v>
                  </c:pt>
                  <c:pt idx="4">
                    <c:v>Redesigning processes — Top 100 (14%)</c:v>
                  </c:pt>
                  <c:pt idx="5">
                    <c:v>Redesigning processes — Large (17%)</c:v>
                  </c:pt>
                  <c:pt idx="6">
                    <c:v>Outsourcing — Top 100 (7%)</c:v>
                  </c:pt>
                  <c:pt idx="7">
                    <c:v>Outsourcing — Large (9%)</c:v>
                  </c:pt>
                  <c:pt idx="8">
                    <c:v>Hiring / workforce — Top 100 (2%)</c:v>
                  </c:pt>
                  <c:pt idx="9">
                    <c:v>Hiring / workforce — Large (9%)</c:v>
                  </c:pt>
                  <c:pt idx="10">
                    <c:v>Combination — Top 100 (2%)</c:v>
                  </c:pt>
                  <c:pt idx="11">
                    <c:v>Combination — Large (3%)</c:v>
                  </c:pt>
                </c:lvl>
              </c:multiLvlStrCache>
            </c:multiLvlStrRef>
          </c:cat>
          <c:val>
            <c:numRef>
              <c:f>Sheet1!$B$2:$B$13</c:f>
              <c:numCache>
                <c:formatCode>General</c:formatCode>
                <c:ptCount val="12"/>
                <c:pt idx="0">
                  <c:v>10</c:v>
                </c:pt>
                <c:pt idx="1">
                  <c:v>20</c:v>
                </c:pt>
                <c:pt idx="2">
                  <c:v>8</c:v>
                </c:pt>
                <c:pt idx="3">
                  <c:v>14</c:v>
                </c:pt>
                <c:pt idx="4">
                  <c:v>10</c:v>
                </c:pt>
                <c:pt idx="5">
                  <c:v>11</c:v>
                </c:pt>
                <c:pt idx="6">
                  <c:v>5</c:v>
                </c:pt>
                <c:pt idx="7">
                  <c:v>3</c:v>
                </c:pt>
                <c:pt idx="8">
                  <c:v>0</c:v>
                </c:pt>
                <c:pt idx="9">
                  <c:v>9</c:v>
                </c:pt>
                <c:pt idx="10">
                  <c:v>2</c:v>
                </c:pt>
                <c:pt idx="11">
                  <c:v>0</c:v>
                </c:pt>
              </c:numCache>
            </c:numRef>
          </c:val>
        </c:ser>
        <c:ser>
          <c:idx val="1"/>
          <c:order val="1"/>
          <c:tx>
            <c:strRef>
              <c:f>Sheet1!$C$1</c:f>
              <c:strCache>
                <c:ptCount val="1"/>
                <c:pt idx="0">
                  <c:v>Canada</c:v>
                </c:pt>
              </c:strCache>
            </c:strRef>
          </c:tx>
          <c:spPr>
            <a:solidFill>
              <a:srgbClr val="43B02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100 (40%)</c:v>
                  </c:pt>
                  <c:pt idx="1">
                    <c:v>AI-enabled tools — Large (43%)</c:v>
                  </c:pt>
                  <c:pt idx="2">
                    <c:v>Automating workflows — Top 100 (33%)</c:v>
                  </c:pt>
                  <c:pt idx="3">
                    <c:v>Automating workflows — Large (20%)</c:v>
                  </c:pt>
                  <c:pt idx="4">
                    <c:v>Redesigning processes — Top 100 (14%)</c:v>
                  </c:pt>
                  <c:pt idx="5">
                    <c:v>Redesigning processes — Large (17%)</c:v>
                  </c:pt>
                  <c:pt idx="6">
                    <c:v>Outsourcing — Top 100 (7%)</c:v>
                  </c:pt>
                  <c:pt idx="7">
                    <c:v>Outsourcing — Large (9%)</c:v>
                  </c:pt>
                  <c:pt idx="8">
                    <c:v>Hiring / workforce — Top 100 (2%)</c:v>
                  </c:pt>
                  <c:pt idx="9">
                    <c:v>Hiring / workforce — Large (9%)</c:v>
                  </c:pt>
                  <c:pt idx="10">
                    <c:v>Combination — Top 100 (2%)</c:v>
                  </c:pt>
                  <c:pt idx="11">
                    <c:v>Combination — Large (3%)</c:v>
                  </c:pt>
                </c:lvl>
              </c:multiLvlStrCache>
            </c:multiLvlStrRef>
          </c:cat>
          <c:val>
            <c:numRef>
              <c:f>Sheet1!$C$2:$C$13</c:f>
              <c:numCache>
                <c:formatCode>General</c:formatCode>
                <c:ptCount val="12"/>
                <c:pt idx="0">
                  <c:v>20</c:v>
                </c:pt>
                <c:pt idx="1">
                  <c:v>9</c:v>
                </c:pt>
                <c:pt idx="2">
                  <c:v>10</c:v>
                </c:pt>
                <c:pt idx="3">
                  <c:v>0</c:v>
                </c:pt>
                <c:pt idx="4">
                  <c:v>2</c:v>
                </c:pt>
                <c:pt idx="5">
                  <c:v>3</c:v>
                </c:pt>
                <c:pt idx="6">
                  <c:v>0</c:v>
                </c:pt>
                <c:pt idx="7">
                  <c:v>3</c:v>
                </c:pt>
                <c:pt idx="8">
                  <c:v>0</c:v>
                </c:pt>
                <c:pt idx="9">
                  <c:v>0</c:v>
                </c:pt>
                <c:pt idx="10">
                  <c:v>0</c:v>
                </c:pt>
                <c:pt idx="11">
                  <c:v>0</c:v>
                </c:pt>
              </c:numCache>
            </c:numRef>
          </c:val>
        </c:ser>
        <c:ser>
          <c:idx val="2"/>
          <c:order val="2"/>
          <c:tx>
            <c:strRef>
              <c:f>Sheet1!$D$1</c:f>
              <c:strCache>
                <c:ptCount val="1"/>
                <c:pt idx="0">
                  <c:v>Europe (EU + UK)</c:v>
                </c:pt>
              </c:strCache>
            </c:strRef>
          </c:tx>
          <c:spPr>
            <a:solidFill>
              <a:srgbClr val="046A38"/>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100 (40%)</c:v>
                  </c:pt>
                  <c:pt idx="1">
                    <c:v>AI-enabled tools — Large (43%)</c:v>
                  </c:pt>
                  <c:pt idx="2">
                    <c:v>Automating workflows — Top 100 (33%)</c:v>
                  </c:pt>
                  <c:pt idx="3">
                    <c:v>Automating workflows — Large (20%)</c:v>
                  </c:pt>
                  <c:pt idx="4">
                    <c:v>Redesigning processes — Top 100 (14%)</c:v>
                  </c:pt>
                  <c:pt idx="5">
                    <c:v>Redesigning processes — Large (17%)</c:v>
                  </c:pt>
                  <c:pt idx="6">
                    <c:v>Outsourcing — Top 100 (7%)</c:v>
                  </c:pt>
                  <c:pt idx="7">
                    <c:v>Outsourcing — Large (9%)</c:v>
                  </c:pt>
                  <c:pt idx="8">
                    <c:v>Hiring / workforce — Top 100 (2%)</c:v>
                  </c:pt>
                  <c:pt idx="9">
                    <c:v>Hiring / workforce — Large (9%)</c:v>
                  </c:pt>
                  <c:pt idx="10">
                    <c:v>Combination — Top 100 (2%)</c:v>
                  </c:pt>
                  <c:pt idx="11">
                    <c:v>Combination — Large (3%)</c:v>
                  </c:pt>
                </c:lvl>
              </c:multiLvlStrCache>
            </c:multiLvlStrRef>
          </c:cat>
          <c:val>
            <c:numRef>
              <c:f>Sheet1!$D$2:$D$13</c:f>
              <c:numCache>
                <c:formatCode>General</c:formatCode>
                <c:ptCount val="12"/>
                <c:pt idx="0">
                  <c:v>10</c:v>
                </c:pt>
                <c:pt idx="1">
                  <c:v>6</c:v>
                </c:pt>
                <c:pt idx="2">
                  <c:v>5</c:v>
                </c:pt>
                <c:pt idx="3">
                  <c:v>3</c:v>
                </c:pt>
                <c:pt idx="4">
                  <c:v>2</c:v>
                </c:pt>
                <c:pt idx="5">
                  <c:v>0</c:v>
                </c:pt>
                <c:pt idx="6">
                  <c:v>0</c:v>
                </c:pt>
                <c:pt idx="7">
                  <c:v>3</c:v>
                </c:pt>
                <c:pt idx="8">
                  <c:v>0</c:v>
                </c:pt>
                <c:pt idx="9">
                  <c:v>0</c:v>
                </c:pt>
                <c:pt idx="10">
                  <c:v>0</c:v>
                </c:pt>
                <c:pt idx="11">
                  <c:v>3</c:v>
                </c:pt>
              </c:numCache>
            </c:numRef>
          </c:val>
        </c:ser>
        <c:ser>
          <c:idx val="3"/>
          <c:order val="3"/>
          <c:tx>
            <c:strRef>
              <c:f>Sheet1!$E$1</c:f>
              <c:strCache>
                <c:ptCount val="1"/>
                <c:pt idx="0">
                  <c:v>Australia</c:v>
                </c:pt>
              </c:strCache>
            </c:strRef>
          </c:tx>
          <c:spPr>
            <a:solidFill>
              <a:srgbClr val="0D8390"/>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100 (40%)</c:v>
                  </c:pt>
                  <c:pt idx="1">
                    <c:v>AI-enabled tools — Large (43%)</c:v>
                  </c:pt>
                  <c:pt idx="2">
                    <c:v>Automating workflows — Top 100 (33%)</c:v>
                  </c:pt>
                  <c:pt idx="3">
                    <c:v>Automating workflows — Large (20%)</c:v>
                  </c:pt>
                  <c:pt idx="4">
                    <c:v>Redesigning processes — Top 100 (14%)</c:v>
                  </c:pt>
                  <c:pt idx="5">
                    <c:v>Redesigning processes — Large (17%)</c:v>
                  </c:pt>
                  <c:pt idx="6">
                    <c:v>Outsourcing — Top 100 (7%)</c:v>
                  </c:pt>
                  <c:pt idx="7">
                    <c:v>Outsourcing — Large (9%)</c:v>
                  </c:pt>
                  <c:pt idx="8">
                    <c:v>Hiring / workforce — Top 100 (2%)</c:v>
                  </c:pt>
                  <c:pt idx="9">
                    <c:v>Hiring / workforce — Large (9%)</c:v>
                  </c:pt>
                  <c:pt idx="10">
                    <c:v>Combination — Top 100 (2%)</c:v>
                  </c:pt>
                  <c:pt idx="11">
                    <c:v>Combination — Large (3%)</c:v>
                  </c:pt>
                </c:lvl>
              </c:multiLvlStrCache>
            </c:multiLvlStrRef>
          </c:cat>
          <c:val>
            <c:numRef>
              <c:f>Sheet1!$E$2:$E$13</c:f>
              <c:numCache>
                <c:formatCode>General</c:formatCode>
                <c:ptCount val="12"/>
                <c:pt idx="0">
                  <c:v>0</c:v>
                </c:pt>
                <c:pt idx="1">
                  <c:v>3</c:v>
                </c:pt>
                <c:pt idx="2">
                  <c:v>5</c:v>
                </c:pt>
                <c:pt idx="3">
                  <c:v>3</c:v>
                </c:pt>
                <c:pt idx="4">
                  <c:v>0</c:v>
                </c:pt>
                <c:pt idx="5">
                  <c:v>3</c:v>
                </c:pt>
                <c:pt idx="6">
                  <c:v>2</c:v>
                </c:pt>
                <c:pt idx="7">
                  <c:v>0</c:v>
                </c:pt>
                <c:pt idx="8">
                  <c:v>2</c:v>
                </c:pt>
                <c:pt idx="9">
                  <c:v>0</c:v>
                </c:pt>
                <c:pt idx="10">
                  <c:v>0</c:v>
                </c:pt>
                <c:pt idx="11">
                  <c:v>0</c:v>
                </c:pt>
              </c:numCache>
            </c:numRef>
          </c:val>
        </c:ser>
        <c:ser>
          <c:idx val="4"/>
          <c:order val="4"/>
          <c:tx>
            <c:strRef>
              <c:f>Sheet1!$F$1</c:f>
              <c:strCache>
                <c:ptCount val="1"/>
                <c:pt idx="0">
                  <c:v>Singapore</c:v>
                </c:pt>
              </c:strCache>
            </c:strRef>
          </c:tx>
          <c:spPr>
            <a:solidFill>
              <a:srgbClr val="53565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AI-enabled tools — Top 100 (40%)</c:v>
                  </c:pt>
                  <c:pt idx="1">
                    <c:v>AI-enabled tools — Large (43%)</c:v>
                  </c:pt>
                  <c:pt idx="2">
                    <c:v>Automating workflows — Top 100 (33%)</c:v>
                  </c:pt>
                  <c:pt idx="3">
                    <c:v>Automating workflows — Large (20%)</c:v>
                  </c:pt>
                  <c:pt idx="4">
                    <c:v>Redesigning processes — Top 100 (14%)</c:v>
                  </c:pt>
                  <c:pt idx="5">
                    <c:v>Redesigning processes — Large (17%)</c:v>
                  </c:pt>
                  <c:pt idx="6">
                    <c:v>Outsourcing — Top 100 (7%)</c:v>
                  </c:pt>
                  <c:pt idx="7">
                    <c:v>Outsourcing — Large (9%)</c:v>
                  </c:pt>
                  <c:pt idx="8">
                    <c:v>Hiring / workforce — Top 100 (2%)</c:v>
                  </c:pt>
                  <c:pt idx="9">
                    <c:v>Hiring / workforce — Large (9%)</c:v>
                  </c:pt>
                  <c:pt idx="10">
                    <c:v>Combination — Top 100 (2%)</c:v>
                  </c:pt>
                  <c:pt idx="11">
                    <c:v>Combination — Large (3%)</c:v>
                  </c:pt>
                </c:lvl>
              </c:multiLvlStrCache>
            </c:multiLvlStrRef>
          </c:cat>
          <c:val>
            <c:numRef>
              <c:f>Sheet1!$F$2:$F$13</c:f>
              <c:numCache>
                <c:formatCode>General</c:formatCode>
                <c:ptCount val="12"/>
                <c:pt idx="0">
                  <c:v>0</c:v>
                </c:pt>
                <c:pt idx="1">
                  <c:v>6</c:v>
                </c:pt>
                <c:pt idx="2">
                  <c:v>5</c:v>
                </c:pt>
                <c:pt idx="3">
                  <c:v>0</c:v>
                </c:pt>
                <c:pt idx="4">
                  <c:v>0</c:v>
                </c:pt>
                <c:pt idx="5">
                  <c:v>0</c:v>
                </c:pt>
                <c:pt idx="6">
                  <c:v>0</c:v>
                </c:pt>
                <c:pt idx="7">
                  <c:v>0</c:v>
                </c:pt>
                <c:pt idx="8">
                  <c:v>0</c:v>
                </c:pt>
                <c:pt idx="9">
                  <c:v>0</c:v>
                </c:pt>
                <c:pt idx="10">
                  <c:v>0</c:v>
                </c:pt>
                <c:pt idx="11">
                  <c:v>0</c:v>
                </c:pt>
              </c:numCache>
            </c:numRef>
          </c:val>
        </c:ser>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7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750">      </a:defRPr>
          </a:pPr>
          <a:endParaRPr lang="en-US"/>
        </a:p>
      </c:txPr>
    </c:legend>
    <c:plotVisOnly val="1"/>
    <c:dispBlanksAs val="span"/>
  </c:chart>
  <c:spPr>
    <a:noFill/>
    <a:ln>
      <a:noFill/>
    </a:ln>
    <a:effectLst/>
  </c:spPr>
  <c:externalData r:id="rId1">
    <c:autoUpdate val="0"/>
  </c:externalData>
</c:chartSpace>
</file>

<file path=ppt/charts/chart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Fraud Investment Relative to Regulatory Requirements</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Investing to remediate existing compliance gaps</c:v>
                  </c:pt>
                  <c:pt idx="1">
                    <c:v>Investing to meet upcoming / draft regulations</c:v>
                  </c:pt>
                  <c:pt idx="2">
                    <c:v>Regulation not a primary driver</c:v>
                  </c:pt>
                </c:lvl>
              </c:multiLvlStrCache>
            </c:multiLvlStrRef>
          </c:cat>
          <c:val>
            <c:numRef>
              <c:f>Sheet1!$B$2:$B$4</c:f>
              <c:numCache>
                <c:formatCode>General</c:formatCode>
                <c:ptCount val="3"/>
                <c:pt idx="0">
                  <c:v>48</c:v>
                </c:pt>
                <c:pt idx="1">
                  <c:v>39</c:v>
                </c:pt>
                <c:pt idx="2">
                  <c:v>13</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 (n=44)</c:v>
                </c:pt>
              </c:strCache>
            </c:strRef>
          </c:tx>
          <c:spPr>
            <a:solidFill>
              <a:srgbClr val="86BC25"/>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Sheet1!$A$2:$A$4</c:f>
              <c:multiLvlStrCache>
                <c:ptCount val="3"/>
                <c:lvl>
                  <c:pt idx="0">
                    <c:v>Investing to remediate existing compliance gaps (48%)</c:v>
                  </c:pt>
                  <c:pt idx="1">
                    <c:v>Investing to meet upcoming / draft regulations (39%)</c:v>
                  </c:pt>
                  <c:pt idx="2">
                    <c:v>Regulation not a primary driver (13%)</c:v>
                  </c:pt>
                </c:lvl>
              </c:multiLvlStrCache>
            </c:multiLvlStrRef>
          </c:cat>
          <c:val>
            <c:numRef>
              <c:f>Sheet1!$B$2:$B$4</c:f>
              <c:numCache>
                <c:formatCode>General</c:formatCode>
                <c:ptCount val="3"/>
                <c:pt idx="0">
                  <c:v>18</c:v>
                </c:pt>
                <c:pt idx="1">
                  <c:v>19</c:v>
                </c:pt>
                <c:pt idx="2">
                  <c:v>7</c:v>
                </c:pt>
              </c:numCache>
            </c:numRef>
          </c:val>
        </c:ser>
        <c:ser>
          <c:idx val="1"/>
          <c:order val="1"/>
          <c:tx>
            <c:strRef>
              <c:f>Sheet1!$C$1</c:f>
              <c:strCache>
                <c:ptCount val="1"/>
                <c:pt idx="0">
                  <c:v>Canada (n=30)</c:v>
                </c:pt>
              </c:strCache>
            </c:strRef>
          </c:tx>
          <c:spPr>
            <a:solidFill>
              <a:srgbClr val="43B02A"/>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Sheet1!$A$2:$A$4</c:f>
              <c:multiLvlStrCache>
                <c:ptCount val="3"/>
                <c:lvl>
                  <c:pt idx="0">
                    <c:v>Investing to remediate existing compliance gaps (48%)</c:v>
                  </c:pt>
                  <c:pt idx="1">
                    <c:v>Investing to meet upcoming / draft regulations (39%)</c:v>
                  </c:pt>
                  <c:pt idx="2">
                    <c:v>Regulation not a primary driver (13%)</c:v>
                  </c:pt>
                </c:lvl>
              </c:multiLvlStrCache>
            </c:multiLvlStrRef>
          </c:cat>
          <c:val>
            <c:numRef>
              <c:f>Sheet1!$C$2:$C$4</c:f>
              <c:numCache>
                <c:formatCode>General</c:formatCode>
                <c:ptCount val="3"/>
                <c:pt idx="0">
                  <c:v>19</c:v>
                </c:pt>
                <c:pt idx="1">
                  <c:v>9</c:v>
                </c:pt>
                <c:pt idx="2">
                  <c:v>2</c:v>
                </c:pt>
              </c:numCache>
            </c:numRef>
          </c:val>
        </c:ser>
        <c:ser>
          <c:idx val="2"/>
          <c:order val="2"/>
          <c:tx>
            <c:strRef>
              <c:f>Sheet1!$D$1</c:f>
              <c:strCache>
                <c:ptCount val="1"/>
                <c:pt idx="0">
                  <c:v>Europe — EU+UK (n=14)</c:v>
                </c:pt>
              </c:strCache>
            </c:strRef>
          </c:tx>
          <c:spPr>
            <a:solidFill>
              <a:srgbClr val="046A38"/>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Sheet1!$A$2:$A$4</c:f>
              <c:multiLvlStrCache>
                <c:ptCount val="3"/>
                <c:lvl>
                  <c:pt idx="0">
                    <c:v>Investing to remediate existing compliance gaps (48%)</c:v>
                  </c:pt>
                  <c:pt idx="1">
                    <c:v>Investing to meet upcoming / draft regulations (39%)</c:v>
                  </c:pt>
                  <c:pt idx="2">
                    <c:v>Regulation not a primary driver (13%)</c:v>
                  </c:pt>
                </c:lvl>
              </c:multiLvlStrCache>
            </c:multiLvlStrRef>
          </c:cat>
          <c:val>
            <c:numRef>
              <c:f>Sheet1!$D$2:$D$4</c:f>
              <c:numCache>
                <c:formatCode>General</c:formatCode>
                <c:ptCount val="3"/>
                <c:pt idx="0">
                  <c:v>5</c:v>
                </c:pt>
                <c:pt idx="1">
                  <c:v>7</c:v>
                </c:pt>
                <c:pt idx="2">
                  <c:v>2</c:v>
                </c:pt>
              </c:numCache>
            </c:numRef>
          </c:val>
        </c:ser>
        <c:ser>
          <c:idx val="3"/>
          <c:order val="3"/>
          <c:tx>
            <c:strRef>
              <c:f>Sheet1!$E$1</c:f>
              <c:strCache>
                <c:ptCount val="1"/>
                <c:pt idx="0">
                  <c:v>Australia (n=8)</c:v>
                </c:pt>
              </c:strCache>
            </c:strRef>
          </c:tx>
          <c:spPr>
            <a:solidFill>
              <a:srgbClr val="0D8390"/>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Sheet1!$A$2:$A$4</c:f>
              <c:multiLvlStrCache>
                <c:ptCount val="3"/>
                <c:lvl>
                  <c:pt idx="0">
                    <c:v>Investing to remediate existing compliance gaps (48%)</c:v>
                  </c:pt>
                  <c:pt idx="1">
                    <c:v>Investing to meet upcoming / draft regulations (39%)</c:v>
                  </c:pt>
                  <c:pt idx="2">
                    <c:v>Regulation not a primary driver (13%)</c:v>
                  </c:pt>
                </c:lvl>
              </c:multiLvlStrCache>
            </c:multiLvlStrRef>
          </c:cat>
          <c:val>
            <c:numRef>
              <c:f>Sheet1!$E$2:$E$4</c:f>
              <c:numCache>
                <c:formatCode>General</c:formatCode>
                <c:ptCount val="3"/>
                <c:pt idx="0">
                  <c:v>5</c:v>
                </c:pt>
                <c:pt idx="1">
                  <c:v>2</c:v>
                </c:pt>
                <c:pt idx="2">
                  <c:v>1</c:v>
                </c:pt>
              </c:numCache>
            </c:numRef>
          </c:val>
        </c:ser>
        <c:ser>
          <c:idx val="4"/>
          <c:order val="4"/>
          <c:tx>
            <c:strRef>
              <c:f>Sheet1!$F$1</c:f>
              <c:strCache>
                <c:ptCount val="1"/>
                <c:pt idx="0">
                  <c:v>Singapore (n=4)</c:v>
                </c:pt>
              </c:strCache>
            </c:strRef>
          </c:tx>
          <c:spPr>
            <a:solidFill>
              <a:srgbClr val="53565A"/>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Sheet1!$A$2:$A$4</c:f>
              <c:multiLvlStrCache>
                <c:ptCount val="3"/>
                <c:lvl>
                  <c:pt idx="0">
                    <c:v>Investing to remediate existing compliance gaps (48%)</c:v>
                  </c:pt>
                  <c:pt idx="1">
                    <c:v>Investing to meet upcoming / draft regulations (39%)</c:v>
                  </c:pt>
                  <c:pt idx="2">
                    <c:v>Regulation not a primary driver (13%)</c:v>
                  </c:pt>
                </c:lvl>
              </c:multiLvlStrCache>
            </c:multiLvlStrRef>
          </c:cat>
          <c:val>
            <c:numRef>
              <c:f>Sheet1!$F$2:$F$4</c:f>
              <c:numCache>
                <c:formatCode>General</c:formatCode>
                <c:ptCount val="3"/>
                <c:pt idx="0">
                  <c:v>1</c:v>
                </c:pt>
                <c:pt idx="1">
                  <c:v>2</c:v>
                </c:pt>
                <c:pt idx="2">
                  <c:v>1</c:v>
                </c:pt>
              </c:numCache>
            </c:numRef>
          </c:val>
        </c:ser>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9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800">      </a:defRPr>
          </a:pPr>
          <a:endParaRPr lang="en-US"/>
        </a:p>
      </c:txPr>
    </c:legend>
    <c:plotVisOnly val="1"/>
    <c:dispBlanksAs val="span"/>
  </c:chart>
  <c:spPr>
    <a:noFill/>
    <a:ln>
      <a:noFill/>
    </a:ln>
    <a:effectLst/>
  </c:spPr>
  <c:externalData r:id="rId1">
    <c:autoUpdate val="0"/>
  </c:externalData>
</c:chartSpace>
</file>

<file path=ppt/charts/chart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Top 50 Global Insurance Carrier (n=15)</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Investing to remediate existing compliance gaps</c:v>
                  </c:pt>
                  <c:pt idx="1">
                    <c:v>Investing to meet upcoming / draft regulations</c:v>
                  </c:pt>
                  <c:pt idx="2">
                    <c:v>Regulation not a primary driver</c:v>
                  </c:pt>
                </c:lvl>
              </c:multiLvlStrCache>
            </c:multiLvlStrRef>
          </c:cat>
          <c:val>
            <c:numRef>
              <c:f>Sheet1!$B$2:$B$4</c:f>
              <c:numCache>
                <c:formatCode>General</c:formatCode>
                <c:ptCount val="3"/>
                <c:pt idx="0">
                  <c:v>33</c:v>
                </c:pt>
                <c:pt idx="1">
                  <c:v>47</c:v>
                </c:pt>
                <c:pt idx="2">
                  <c:v>20</c:v>
                </c:pt>
              </c:numCache>
            </c:numRef>
          </c:val>
        </c:ser>
        <c:ser>
          <c:idx val="1"/>
          <c:order val="1"/>
          <c:tx>
            <c:strRef>
              <c:f>Sheet1!$C$1</c:f>
              <c:strCache>
                <c:ptCount val="1"/>
                <c:pt idx="0">
                  <c:v>Large Insurance Carrier (n=10)</c:v>
                </c:pt>
              </c:strCache>
            </c:strRef>
          </c:tx>
          <c:spPr>
            <a:solidFill>
              <a:srgbClr val="046A38"/>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Investing to remediate existing compliance gaps</c:v>
                  </c:pt>
                  <c:pt idx="1">
                    <c:v>Investing to meet upcoming / draft regulations</c:v>
                  </c:pt>
                  <c:pt idx="2">
                    <c:v>Regulation not a primary driver</c:v>
                  </c:pt>
                </c:lvl>
              </c:multiLvlStrCache>
            </c:multiLvlStrRef>
          </c:cat>
          <c:val>
            <c:numRef>
              <c:f>Sheet1!$C$2:$C$4</c:f>
              <c:numCache>
                <c:formatCode>General</c:formatCode>
                <c:ptCount val="3"/>
                <c:pt idx="0">
                  <c:v>70</c:v>
                </c:pt>
                <c:pt idx="1">
                  <c:v>30</c:v>
                </c:pt>
                <c:pt idx="2">
                  <c:v>0</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Top 100 Financial Institution (n=40)</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Investing to remediate existing compliance gaps</c:v>
                  </c:pt>
                  <c:pt idx="1">
                    <c:v>Investing to meet upcoming / draft regulations</c:v>
                  </c:pt>
                  <c:pt idx="2">
                    <c:v>Regulation not a primary driver</c:v>
                  </c:pt>
                </c:lvl>
              </c:multiLvlStrCache>
            </c:multiLvlStrRef>
          </c:cat>
          <c:val>
            <c:numRef>
              <c:f>Sheet1!$B$2:$B$4</c:f>
              <c:numCache>
                <c:formatCode>General</c:formatCode>
                <c:ptCount val="3"/>
                <c:pt idx="0">
                  <c:v>42</c:v>
                </c:pt>
                <c:pt idx="1">
                  <c:v>48</c:v>
                </c:pt>
                <c:pt idx="2">
                  <c:v>10</c:v>
                </c:pt>
              </c:numCache>
            </c:numRef>
          </c:val>
        </c:ser>
        <c:ser>
          <c:idx val="1"/>
          <c:order val="1"/>
          <c:tx>
            <c:strRef>
              <c:f>Sheet1!$C$1</c:f>
              <c:strCache>
                <c:ptCount val="1"/>
                <c:pt idx="0">
                  <c:v>Large Financial Institution (n=35)</c:v>
                </c:pt>
              </c:strCache>
            </c:strRef>
          </c:tx>
          <c:spPr>
            <a:solidFill>
              <a:srgbClr val="046A38"/>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Investing to remediate existing compliance gaps</c:v>
                  </c:pt>
                  <c:pt idx="1">
                    <c:v>Investing to meet upcoming / draft regulations</c:v>
                  </c:pt>
                  <c:pt idx="2">
                    <c:v>Regulation not a primary driver</c:v>
                  </c:pt>
                </c:lvl>
              </c:multiLvlStrCache>
            </c:multiLvlStrRef>
          </c:cat>
          <c:val>
            <c:numRef>
              <c:f>Sheet1!$C$2:$C$4</c:f>
              <c:numCache>
                <c:formatCode>General</c:formatCode>
                <c:ptCount val="3"/>
                <c:pt idx="0">
                  <c:v>54</c:v>
                </c:pt>
                <c:pt idx="1">
                  <c:v>29</c:v>
                </c:pt>
                <c:pt idx="2">
                  <c:v>17</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Upcoming Regulatory / Market Change With Greatest Expected Impact</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Customer identity, authentication &amp; digital trust</c:v>
                  </c:pt>
                  <c:pt idx="1">
                    <c:v>Privacy, data-sharing &amp; AI governance requirements</c:v>
                  </c:pt>
                  <c:pt idx="2">
                    <c:v>Payment innovation (RTP, stablecoins, agentic payments)</c:v>
                  </c:pt>
                  <c:pt idx="3">
                    <c:v>Liability &amp; reimbursement changes</c:v>
                  </c:pt>
                  <c:pt idx="4">
                    <c:v>AML modernization initiatives</c:v>
                  </c:pt>
                  <c:pt idx="5">
                    <c:v>Open Banking / consumer-driven initiatives</c:v>
                  </c:pt>
                </c:lvl>
              </c:multiLvlStrCache>
            </c:multiLvlStrRef>
          </c:cat>
          <c:val>
            <c:numRef>
              <c:f>Sheet1!$B$2:$B$7</c:f>
              <c:numCache>
                <c:formatCode>General</c:formatCode>
                <c:ptCount val="6"/>
                <c:pt idx="0">
                  <c:v>71</c:v>
                </c:pt>
                <c:pt idx="1">
                  <c:v>66</c:v>
                </c:pt>
                <c:pt idx="2">
                  <c:v>65</c:v>
                </c:pt>
                <c:pt idx="3">
                  <c:v>36</c:v>
                </c:pt>
                <c:pt idx="4">
                  <c:v>33</c:v>
                </c:pt>
                <c:pt idx="5">
                  <c:v>29</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 (n=44)</c:v>
                </c:pt>
              </c:strCache>
            </c:strRef>
          </c:tx>
          <c:spPr>
            <a:solidFill>
              <a:srgbClr val="86BC25"/>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Sheet1!$A$2:$A$7</c:f>
              <c:multiLvlStrCache>
                <c:ptCount val="6"/>
                <c:lvl>
                  <c:pt idx="0">
                    <c:v>Customer identity, authentication &amp; digital trust (71%)</c:v>
                  </c:pt>
                  <c:pt idx="1">
                    <c:v>Privacy, data-sharing &amp; AI governance requirements (66%)</c:v>
                  </c:pt>
                  <c:pt idx="2">
                    <c:v>Payment innovation (RTP, stablecoins, agentic payments) (65%)</c:v>
                  </c:pt>
                  <c:pt idx="3">
                    <c:v>Liability &amp; reimbursement changes (36%)</c:v>
                  </c:pt>
                  <c:pt idx="4">
                    <c:v>AML modernization initiatives (33%)</c:v>
                  </c:pt>
                  <c:pt idx="5">
                    <c:v>Open Banking / consumer-driven initiatives (29%)</c:v>
                  </c:pt>
                </c:lvl>
              </c:multiLvlStrCache>
            </c:multiLvlStrRef>
          </c:cat>
          <c:val>
            <c:numRef>
              <c:f>Sheet1!$B$2:$B$7</c:f>
              <c:numCache>
                <c:formatCode>General</c:formatCode>
                <c:ptCount val="6"/>
                <c:pt idx="0">
                  <c:v>33</c:v>
                </c:pt>
                <c:pt idx="1">
                  <c:v>32</c:v>
                </c:pt>
                <c:pt idx="2">
                  <c:v>25</c:v>
                </c:pt>
                <c:pt idx="3">
                  <c:v>18</c:v>
                </c:pt>
                <c:pt idx="4">
                  <c:v>16</c:v>
                </c:pt>
                <c:pt idx="5">
                  <c:v>8</c:v>
                </c:pt>
              </c:numCache>
            </c:numRef>
          </c:val>
        </c:ser>
        <c:ser>
          <c:idx val="1"/>
          <c:order val="1"/>
          <c:tx>
            <c:strRef>
              <c:f>Sheet1!$C$1</c:f>
              <c:strCache>
                <c:ptCount val="1"/>
                <c:pt idx="0">
                  <c:v>Canada (n=30)</c:v>
                </c:pt>
              </c:strCache>
            </c:strRef>
          </c:tx>
          <c:spPr>
            <a:solidFill>
              <a:srgbClr val="43B02A"/>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Sheet1!$A$2:$A$7</c:f>
              <c:multiLvlStrCache>
                <c:ptCount val="6"/>
                <c:lvl>
                  <c:pt idx="0">
                    <c:v>Customer identity, authentication &amp; digital trust (71%)</c:v>
                  </c:pt>
                  <c:pt idx="1">
                    <c:v>Privacy, data-sharing &amp; AI governance requirements (66%)</c:v>
                  </c:pt>
                  <c:pt idx="2">
                    <c:v>Payment innovation (RTP, stablecoins, agentic payments) (65%)</c:v>
                  </c:pt>
                  <c:pt idx="3">
                    <c:v>Liability &amp; reimbursement changes (36%)</c:v>
                  </c:pt>
                  <c:pt idx="4">
                    <c:v>AML modernization initiatives (33%)</c:v>
                  </c:pt>
                  <c:pt idx="5">
                    <c:v>Open Banking / consumer-driven initiatives (29%)</c:v>
                  </c:pt>
                </c:lvl>
              </c:multiLvlStrCache>
            </c:multiLvlStrRef>
          </c:cat>
          <c:val>
            <c:numRef>
              <c:f>Sheet1!$C$2:$C$7</c:f>
              <c:numCache>
                <c:formatCode>General</c:formatCode>
                <c:ptCount val="6"/>
                <c:pt idx="0">
                  <c:v>21</c:v>
                </c:pt>
                <c:pt idx="1">
                  <c:v>19</c:v>
                </c:pt>
                <c:pt idx="2">
                  <c:v>22</c:v>
                </c:pt>
                <c:pt idx="3">
                  <c:v>6</c:v>
                </c:pt>
                <c:pt idx="4">
                  <c:v>8</c:v>
                </c:pt>
                <c:pt idx="5">
                  <c:v>14</c:v>
                </c:pt>
              </c:numCache>
            </c:numRef>
          </c:val>
        </c:ser>
        <c:ser>
          <c:idx val="2"/>
          <c:order val="2"/>
          <c:tx>
            <c:strRef>
              <c:f>Sheet1!$D$1</c:f>
              <c:strCache>
                <c:ptCount val="1"/>
                <c:pt idx="0">
                  <c:v>Europe — EU+UK (n=14)</c:v>
                </c:pt>
              </c:strCache>
            </c:strRef>
          </c:tx>
          <c:spPr>
            <a:solidFill>
              <a:srgbClr val="046A38"/>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Sheet1!$A$2:$A$7</c:f>
              <c:multiLvlStrCache>
                <c:ptCount val="6"/>
                <c:lvl>
                  <c:pt idx="0">
                    <c:v>Customer identity, authentication &amp; digital trust (71%)</c:v>
                  </c:pt>
                  <c:pt idx="1">
                    <c:v>Privacy, data-sharing &amp; AI governance requirements (66%)</c:v>
                  </c:pt>
                  <c:pt idx="2">
                    <c:v>Payment innovation (RTP, stablecoins, agentic payments) (65%)</c:v>
                  </c:pt>
                  <c:pt idx="3">
                    <c:v>Liability &amp; reimbursement changes (36%)</c:v>
                  </c:pt>
                  <c:pt idx="4">
                    <c:v>AML modernization initiatives (33%)</c:v>
                  </c:pt>
                  <c:pt idx="5">
                    <c:v>Open Banking / consumer-driven initiatives (29%)</c:v>
                  </c:pt>
                </c:lvl>
              </c:multiLvlStrCache>
            </c:multiLvlStrRef>
          </c:cat>
          <c:val>
            <c:numRef>
              <c:f>Sheet1!$D$2:$D$7</c:f>
              <c:numCache>
                <c:formatCode>General</c:formatCode>
                <c:ptCount val="6"/>
                <c:pt idx="0">
                  <c:v>8</c:v>
                </c:pt>
                <c:pt idx="1">
                  <c:v>9</c:v>
                </c:pt>
                <c:pt idx="2">
                  <c:v>9</c:v>
                </c:pt>
                <c:pt idx="3">
                  <c:v>7</c:v>
                </c:pt>
                <c:pt idx="4">
                  <c:v>5</c:v>
                </c:pt>
                <c:pt idx="5">
                  <c:v>4</c:v>
                </c:pt>
              </c:numCache>
            </c:numRef>
          </c:val>
        </c:ser>
        <c:ser>
          <c:idx val="3"/>
          <c:order val="3"/>
          <c:tx>
            <c:strRef>
              <c:f>Sheet1!$E$1</c:f>
              <c:strCache>
                <c:ptCount val="1"/>
                <c:pt idx="0">
                  <c:v>Australia (n=8)</c:v>
                </c:pt>
              </c:strCache>
            </c:strRef>
          </c:tx>
          <c:spPr>
            <a:solidFill>
              <a:srgbClr val="0D8390"/>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Sheet1!$A$2:$A$7</c:f>
              <c:multiLvlStrCache>
                <c:ptCount val="6"/>
                <c:lvl>
                  <c:pt idx="0">
                    <c:v>Customer identity, authentication &amp; digital trust (71%)</c:v>
                  </c:pt>
                  <c:pt idx="1">
                    <c:v>Privacy, data-sharing &amp; AI governance requirements (66%)</c:v>
                  </c:pt>
                  <c:pt idx="2">
                    <c:v>Payment innovation (RTP, stablecoins, agentic payments) (65%)</c:v>
                  </c:pt>
                  <c:pt idx="3">
                    <c:v>Liability &amp; reimbursement changes (36%)</c:v>
                  </c:pt>
                  <c:pt idx="4">
                    <c:v>AML modernization initiatives (33%)</c:v>
                  </c:pt>
                  <c:pt idx="5">
                    <c:v>Open Banking / consumer-driven initiatives (29%)</c:v>
                  </c:pt>
                </c:lvl>
              </c:multiLvlStrCache>
            </c:multiLvlStrRef>
          </c:cat>
          <c:val>
            <c:numRef>
              <c:f>Sheet1!$E$2:$E$7</c:f>
              <c:numCache>
                <c:formatCode>General</c:formatCode>
                <c:ptCount val="6"/>
                <c:pt idx="0">
                  <c:v>6</c:v>
                </c:pt>
                <c:pt idx="1">
                  <c:v>4</c:v>
                </c:pt>
                <c:pt idx="2">
                  <c:v>5</c:v>
                </c:pt>
                <c:pt idx="3">
                  <c:v>3</c:v>
                </c:pt>
                <c:pt idx="4">
                  <c:v>3</c:v>
                </c:pt>
                <c:pt idx="5">
                  <c:v>3</c:v>
                </c:pt>
              </c:numCache>
            </c:numRef>
          </c:val>
        </c:ser>
        <c:ser>
          <c:idx val="4"/>
          <c:order val="4"/>
          <c:tx>
            <c:strRef>
              <c:f>Sheet1!$F$1</c:f>
              <c:strCache>
                <c:ptCount val="1"/>
                <c:pt idx="0">
                  <c:v>Singapore (n=4)</c:v>
                </c:pt>
              </c:strCache>
            </c:strRef>
          </c:tx>
          <c:spPr>
            <a:solidFill>
              <a:srgbClr val="53565A"/>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Sheet1!$A$2:$A$7</c:f>
              <c:multiLvlStrCache>
                <c:ptCount val="6"/>
                <c:lvl>
                  <c:pt idx="0">
                    <c:v>Customer identity, authentication &amp; digital trust (71%)</c:v>
                  </c:pt>
                  <c:pt idx="1">
                    <c:v>Privacy, data-sharing &amp; AI governance requirements (66%)</c:v>
                  </c:pt>
                  <c:pt idx="2">
                    <c:v>Payment innovation (RTP, stablecoins, agentic payments) (65%)</c:v>
                  </c:pt>
                  <c:pt idx="3">
                    <c:v>Liability &amp; reimbursement changes (36%)</c:v>
                  </c:pt>
                  <c:pt idx="4">
                    <c:v>AML modernization initiatives (33%)</c:v>
                  </c:pt>
                  <c:pt idx="5">
                    <c:v>Open Banking / consumer-driven initiatives (29%)</c:v>
                  </c:pt>
                </c:lvl>
              </c:multiLvlStrCache>
            </c:multiLvlStrRef>
          </c:cat>
          <c:val>
            <c:numRef>
              <c:f>Sheet1!$F$2:$F$7</c:f>
              <c:numCache>
                <c:formatCode>General</c:formatCode>
                <c:ptCount val="6"/>
                <c:pt idx="0">
                  <c:v>3</c:v>
                </c:pt>
                <c:pt idx="1">
                  <c:v>2</c:v>
                </c:pt>
                <c:pt idx="2">
                  <c:v>4</c:v>
                </c:pt>
                <c:pt idx="3">
                  <c:v>2</c:v>
                </c:pt>
                <c:pt idx="4">
                  <c:v>1</c:v>
                </c:pt>
                <c:pt idx="5">
                  <c:v>0</c:v>
                </c:pt>
              </c:numCache>
            </c:numRef>
          </c:val>
        </c:ser>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8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800">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chart" Target="/ppt/charts/chart4.xml"/><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chart" Target="/ppt/charts/chart7.xml"/><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chart" Target="/ppt/charts/chart11.xml"/><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4.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16.xml"/><Relationship Id="rId2" Type="http://schemas.openxmlformats.org/officeDocument/2006/relationships/chart" Target="/ppt/charts/chart17.xml"/><Relationship Id="rId3" Type="http://schemas.openxmlformats.org/officeDocument/2006/relationships/chart" Target="/ppt/charts/chart18.xml"/><Relationship Id="rId4" Type="http://schemas.openxmlformats.org/officeDocument/2006/relationships/chart" Target="/ppt/charts/chart19.xml"/><Relationship Id="rId5" Type="http://schemas.openxmlformats.org/officeDocument/2006/relationships/chart" Target="/ppt/charts/chart20.xml"/><Relationship Id="rId6" Type="http://schemas.openxmlformats.org/officeDocument/2006/relationships/slideLayout" Target="../slideLayouts/slideLayout1.xml"/><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21.xml"/><Relationship Id="rId2" Type="http://schemas.openxmlformats.org/officeDocument/2006/relationships/chart" Target="/ppt/charts/chart22.xml"/><Relationship Id="rId3" Type="http://schemas.openxmlformats.org/officeDocument/2006/relationships/chart" Target="/ppt/charts/chart23.xml"/><Relationship Id="rId4" Type="http://schemas.openxmlformats.org/officeDocument/2006/relationships/chart" Target="/ppt/charts/chart24.xml"/><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25.xml"/><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26.xml"/><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27.xml"/><Relationship Id="rId2" Type="http://schemas.openxmlformats.org/officeDocument/2006/relationships/chart" Target="/ppt/charts/chart28.xml"/><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chart" Target="/ppt/charts/chart29.xml"/><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30.xml"/><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31.xml"/><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chart" Target="/ppt/charts/chart32.xml"/><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chart" Target="/ppt/charts/chart33.xml"/><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chart" Target="/ppt/charts/chart34.xml"/><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chart" Target="/ppt/charts/chart35.xml"/><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chart" Target="/ppt/charts/chart36.xml"/><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chart" Target="/ppt/charts/chart37.xml"/><Relationship Id="rId2" Type="http://schemas.openxmlformats.org/officeDocument/2006/relationships/chart" Target="/ppt/charts/chart38.xml"/><Relationship Id="rId3" Type="http://schemas.openxmlformats.org/officeDocument/2006/relationships/slideLayout" Target="../slideLayouts/slideLayout1.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chart" Target="/ppt/charts/chart39.xml"/><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chart" Target="/ppt/charts/chart40.xml"/><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chart" Target="/ppt/charts/chart41.xml"/><Relationship Id="rId2" Type="http://schemas.openxmlformats.org/officeDocument/2006/relationships/chart" Target="/ppt/charts/chart42.xml"/><Relationship Id="rId3" Type="http://schemas.openxmlformats.org/officeDocument/2006/relationships/slideLayout" Target="../slideLayouts/slideLayout1.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chart" Target="/ppt/charts/chart43.xml"/><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chart" Target="/ppt/charts/chart44.xml"/><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chart" Target="/ppt/charts/chart45.xml"/><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chart" Target="/ppt/charts/chart46.xml"/><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chart" Target="/ppt/charts/chart47.xml"/><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chart" Target="/ppt/charts/chart48.xml"/><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chart" Target="/ppt/charts/chart49.xml"/><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chart" Target="/ppt/charts/chart50.xml"/><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50607"/>
        </a:solidFill>
      </p:bgPr>
    </p:bg>
    <p:spTree>
      <p:nvGrpSpPr>
        <p:cNvPr id="1" name=""/>
        <p:cNvGrpSpPr/>
        <p:nvPr/>
      </p:nvGrpSpPr>
      <p:grpSpPr>
        <a:xfrm>
          <a:off x="0" y="0"/>
          <a:ext cx="0" cy="0"/>
          <a:chOff x="0" y="0"/>
          <a:chExt cx="0" cy="0"/>
        </a:xfrm>
      </p:grpSpPr>
      <p:sp>
        <p:nvSpPr>
          <p:cNvPr id="2" name="Text 0"/>
          <p:cNvSpPr txBox="1"/>
          <p:nvPr/>
        </p:nvSpPr>
        <p:spPr>
          <a:xfrm>
            <a:off x="502006" y="457200"/>
            <a:ext cx="1417320" cy="274320"/>
          </a:xfrm>
          <a:prstGeom prst="rect">
            <a:avLst/>
          </a:prstGeom>
          <a:noFill/>
          <a:ln/>
        </p:spPr>
        <p:txBody>
          <a:bodyPr wrap="square" lIns="0" tIns="0" rIns="0" bIns="0" rtlCol="0" anchor="ctr"/>
          <a:lstStyle/>
          <a:p>
            <a:pPr algn="l" indent="0" marL="0">
              <a:buNone/>
            </a:pPr>
            <a:r>
              <a:rPr lang="en-US" sz="1600" b="1" dirty="0">
                <a:solidFill>
                  <a:srgbClr val="FFFFFF"/>
                </a:solidFill>
                <a:latin typeface="Calibri" pitchFamily="34" charset="0"/>
                <a:ea typeface="Calibri" pitchFamily="34" charset="-122"/>
                <a:cs typeface="Calibri" pitchFamily="34" charset="-120"/>
              </a:rPr>
              <a:t>Deloitte</a:t>
            </a:r>
            <a:endParaRPr lang="en-US" sz="1600" dirty="0"/>
          </a:p>
        </p:txBody>
      </p:sp>
      <p:sp>
        <p:nvSpPr>
          <p:cNvPr id="3" name="Shape 1"/>
          <p:cNvSpPr/>
          <p:nvPr/>
        </p:nvSpPr>
        <p:spPr>
          <a:xfrm>
            <a:off x="1800454" y="598932"/>
            <a:ext cx="82296" cy="82296"/>
          </a:xfrm>
          <a:prstGeom prst="ellipse">
            <a:avLst/>
          </a:prstGeom>
          <a:solidFill>
            <a:srgbClr val="86BC25"/>
          </a:solidFill>
          <a:ln/>
        </p:spPr>
      </p:sp>
      <p:sp>
        <p:nvSpPr>
          <p:cNvPr id="4" name="Shape 2"/>
          <p:cNvSpPr/>
          <p:nvPr/>
        </p:nvSpPr>
        <p:spPr>
          <a:xfrm>
            <a:off x="3392424" y="731520"/>
            <a:ext cx="5404104" cy="5404104"/>
          </a:xfrm>
          <a:prstGeom prst="rect">
            <a:avLst/>
          </a:prstGeom>
          <a:solidFill>
            <a:srgbClr val="0B1C14"/>
          </a:solidFill>
          <a:ln w="9525">
            <a:solidFill>
              <a:srgbClr val="86BC25"/>
            </a:solidFill>
            <a:prstDash val="solid"/>
          </a:ln>
        </p:spPr>
      </p:sp>
      <p:sp>
        <p:nvSpPr>
          <p:cNvPr id="5" name="Shape 3"/>
          <p:cNvSpPr/>
          <p:nvPr/>
        </p:nvSpPr>
        <p:spPr>
          <a:xfrm>
            <a:off x="3392424" y="731520"/>
            <a:ext cx="5404104" cy="5404104"/>
          </a:xfrm>
          <a:prstGeom prst="rect">
            <a:avLst/>
          </a:prstGeom>
          <a:ln w="12700">
            <a:solidFill>
              <a:srgbClr val="86BC25"/>
            </a:solidFill>
            <a:prstDash val="dash"/>
          </a:ln>
        </p:spPr>
      </p:sp>
      <p:sp>
        <p:nvSpPr>
          <p:cNvPr id="6" name="Shape 4"/>
          <p:cNvSpPr/>
          <p:nvPr/>
        </p:nvSpPr>
        <p:spPr>
          <a:xfrm>
            <a:off x="3776472" y="1115568"/>
            <a:ext cx="4636008" cy="4636008"/>
          </a:xfrm>
          <a:prstGeom prst="rect">
            <a:avLst/>
          </a:prstGeom>
          <a:ln w="12700">
            <a:solidFill>
              <a:srgbClr val="0D8390"/>
            </a:solidFill>
            <a:prstDash val="dash"/>
          </a:ln>
        </p:spPr>
      </p:sp>
      <p:sp>
        <p:nvSpPr>
          <p:cNvPr id="7" name="Shape 5"/>
          <p:cNvSpPr/>
          <p:nvPr/>
        </p:nvSpPr>
        <p:spPr>
          <a:xfrm>
            <a:off x="4160520" y="1499616"/>
            <a:ext cx="3867912" cy="3867912"/>
          </a:xfrm>
          <a:prstGeom prst="rect">
            <a:avLst/>
          </a:prstGeom>
          <a:ln w="12700">
            <a:solidFill>
              <a:srgbClr val="86BC25"/>
            </a:solidFill>
            <a:prstDash val="dash"/>
          </a:ln>
        </p:spPr>
      </p:sp>
      <p:sp>
        <p:nvSpPr>
          <p:cNvPr id="8" name="Shape 6"/>
          <p:cNvSpPr/>
          <p:nvPr/>
        </p:nvSpPr>
        <p:spPr>
          <a:xfrm>
            <a:off x="4544568" y="1883664"/>
            <a:ext cx="3099816" cy="3099816"/>
          </a:xfrm>
          <a:prstGeom prst="rect">
            <a:avLst/>
          </a:prstGeom>
          <a:ln w="12700">
            <a:solidFill>
              <a:srgbClr val="0D8390"/>
            </a:solidFill>
            <a:prstDash val="dash"/>
          </a:ln>
        </p:spPr>
      </p:sp>
      <p:sp>
        <p:nvSpPr>
          <p:cNvPr id="9" name="Shape 7"/>
          <p:cNvSpPr/>
          <p:nvPr/>
        </p:nvSpPr>
        <p:spPr>
          <a:xfrm>
            <a:off x="4928616" y="2267712"/>
            <a:ext cx="2331720" cy="2331720"/>
          </a:xfrm>
          <a:prstGeom prst="rect">
            <a:avLst/>
          </a:prstGeom>
          <a:ln w="12700">
            <a:solidFill>
              <a:srgbClr val="86BC25"/>
            </a:solidFill>
            <a:prstDash val="dash"/>
          </a:ln>
        </p:spPr>
      </p:sp>
      <p:sp>
        <p:nvSpPr>
          <p:cNvPr id="10" name="Shape 8"/>
          <p:cNvSpPr/>
          <p:nvPr/>
        </p:nvSpPr>
        <p:spPr>
          <a:xfrm>
            <a:off x="5312664" y="2651760"/>
            <a:ext cx="1563624" cy="1563624"/>
          </a:xfrm>
          <a:prstGeom prst="rect">
            <a:avLst/>
          </a:prstGeom>
          <a:ln w="12700">
            <a:solidFill>
              <a:srgbClr val="0D8390"/>
            </a:solidFill>
            <a:prstDash val="dash"/>
          </a:ln>
        </p:spPr>
      </p:sp>
      <p:sp>
        <p:nvSpPr>
          <p:cNvPr id="11" name="Text 9"/>
          <p:cNvSpPr txBox="1"/>
          <p:nvPr/>
        </p:nvSpPr>
        <p:spPr>
          <a:xfrm>
            <a:off x="3392424" y="2656332"/>
            <a:ext cx="5404104" cy="777240"/>
          </a:xfrm>
          <a:prstGeom prst="rect">
            <a:avLst/>
          </a:prstGeom>
          <a:noFill/>
          <a:ln/>
        </p:spPr>
        <p:txBody>
          <a:bodyPr wrap="square" rtlCol="0" anchor="ctr"/>
          <a:lstStyle/>
          <a:p>
            <a:pPr algn="ctr" indent="0" marL="0">
              <a:buNone/>
            </a:pPr>
            <a:r>
              <a:rPr lang="en-US" sz="5400" b="1" dirty="0">
                <a:solidFill>
                  <a:srgbClr val="86BC25"/>
                </a:solidFill>
                <a:latin typeface="Calibri" pitchFamily="34" charset="0"/>
                <a:ea typeface="Calibri" pitchFamily="34" charset="-122"/>
                <a:cs typeface="Calibri" pitchFamily="34" charset="-120"/>
              </a:rPr>
              <a:t>100</a:t>
            </a:r>
            <a:endParaRPr lang="en-US" sz="5400" dirty="0"/>
          </a:p>
        </p:txBody>
      </p:sp>
      <p:sp>
        <p:nvSpPr>
          <p:cNvPr id="12" name="Text 10"/>
          <p:cNvSpPr txBox="1"/>
          <p:nvPr/>
        </p:nvSpPr>
        <p:spPr>
          <a:xfrm>
            <a:off x="3392424" y="3451860"/>
            <a:ext cx="5404104" cy="36576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FRAUD LEADERS SURVEYED</a:t>
            </a:r>
            <a:endParaRPr lang="en-US" sz="1400" dirty="0"/>
          </a:p>
        </p:txBody>
      </p:sp>
      <p:sp>
        <p:nvSpPr>
          <p:cNvPr id="13" name="Text 11"/>
          <p:cNvSpPr txBox="1"/>
          <p:nvPr/>
        </p:nvSpPr>
        <p:spPr>
          <a:xfrm>
            <a:off x="502006" y="4901184"/>
            <a:ext cx="9601200" cy="896112"/>
          </a:xfrm>
          <a:prstGeom prst="rect">
            <a:avLst/>
          </a:prstGeom>
          <a:noFill/>
          <a:ln/>
        </p:spPr>
        <p:txBody>
          <a:bodyPr wrap="square" lIns="0" tIns="0" rIns="0" bIns="0" rtlCol="0" anchor="t"/>
          <a:lstStyle/>
          <a:p>
            <a:pPr algn="l" indent="0" marL="0">
              <a:buNone/>
            </a:pPr>
            <a:r>
              <a:rPr lang="en-US" sz="2800" b="1" dirty="0">
                <a:solidFill>
                  <a:srgbClr val="FFFFFF"/>
                </a:solidFill>
                <a:latin typeface="Calibri" pitchFamily="34" charset="0"/>
                <a:ea typeface="Calibri" pitchFamily="34" charset="-122"/>
                <a:cs typeface="Calibri" pitchFamily="34" charset="-120"/>
              </a:rPr>
              <a:t>Fraud in 2026: Full Survey Results</a:t>
            </a:r>
            <a:endParaRPr lang="en-US" sz="2800" dirty="0"/>
          </a:p>
        </p:txBody>
      </p:sp>
      <p:sp>
        <p:nvSpPr>
          <p:cNvPr id="14" name="Text 12"/>
          <p:cNvSpPr txBox="1"/>
          <p:nvPr/>
        </p:nvSpPr>
        <p:spPr>
          <a:xfrm>
            <a:off x="502006" y="5870448"/>
            <a:ext cx="9601200" cy="685800"/>
          </a:xfrm>
          <a:prstGeom prst="rect">
            <a:avLst/>
          </a:prstGeom>
          <a:noFill/>
          <a:ln/>
        </p:spPr>
        <p:txBody>
          <a:bodyPr wrap="square" lIns="0" tIns="0" rIns="0" bIns="0" rtlCol="0" anchor="t"/>
          <a:lstStyle/>
          <a:p>
            <a:pPr algn="l" indent="0" marL="0">
              <a:buNone/>
            </a:pPr>
            <a:r>
              <a:rPr lang="en-US" sz="1600" dirty="0">
                <a:solidFill>
                  <a:srgbClr val="FFFFFF"/>
                </a:solidFill>
                <a:latin typeface="Calibri" pitchFamily="34" charset="0"/>
                <a:ea typeface="Calibri" pitchFamily="34" charset="-122"/>
                <a:cs typeface="Calibri" pitchFamily="34" charset="-120"/>
              </a:rPr>
              <a:t>Banking &amp; Insurance Fraud Landscape Survey — n=100, fielding complete
</a:t>
            </a:r>
            <a:pPr algn="l" indent="0" marL="0">
              <a:buNone/>
            </a:pPr>
            <a:r>
              <a:rPr lang="en-US" sz="1250" dirty="0">
                <a:solidFill>
                  <a:srgbClr val="D0D0CE"/>
                </a:solidFill>
                <a:latin typeface="Calibri" pitchFamily="34" charset="0"/>
                <a:ea typeface="Calibri" pitchFamily="34" charset="-122"/>
                <a:cs typeface="Calibri" pitchFamily="34" charset="-120"/>
              </a:rPr>
              <a:t>A Deloitte Perspective  ·  Fielded via GLG for the D.fend Fin Crime Forum</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ctr"/>
          <a:lstStyle/>
          <a:p>
            <a:pPr indent="0" marL="0">
              <a:buNone/>
            </a:pPr>
            <a:r>
              <a:rPr lang="en-US" sz="1900" b="1" dirty="0">
                <a:solidFill>
                  <a:srgbClr val="000000"/>
                </a:solidFill>
                <a:latin typeface="Calibri" pitchFamily="34" charset="0"/>
                <a:ea typeface="Calibri" pitchFamily="34" charset="-122"/>
                <a:cs typeface="Calibri" pitchFamily="34" charset="-120"/>
              </a:rPr>
              <a:t>Table of Contents</a:t>
            </a:r>
            <a:endParaRPr lang="en-US" sz="1900" dirty="0"/>
          </a:p>
        </p:txBody>
      </p:sp>
      <p:sp>
        <p:nvSpPr>
          <p:cNvPr id="3" name="Text 1"/>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a:t>
            </a:r>
            <a:endParaRPr lang="en-US" sz="900" dirty="0"/>
          </a:p>
        </p:txBody>
      </p:sp>
      <p:sp>
        <p:nvSpPr>
          <p:cNvPr id="4" name="Shape 2"/>
          <p:cNvSpPr/>
          <p:nvPr/>
        </p:nvSpPr>
        <p:spPr>
          <a:xfrm>
            <a:off x="498348" y="1508760"/>
            <a:ext cx="7772400" cy="548640"/>
          </a:xfrm>
          <a:prstGeom prst="rect">
            <a:avLst/>
          </a:prstGeom>
          <a:solidFill>
            <a:srgbClr val="F2F2F2"/>
          </a:solidFill>
          <a:ln/>
        </p:spPr>
      </p:sp>
      <p:sp>
        <p:nvSpPr>
          <p:cNvPr id="5" name="Shape 3"/>
          <p:cNvSpPr/>
          <p:nvPr/>
        </p:nvSpPr>
        <p:spPr>
          <a:xfrm>
            <a:off x="589788" y="1581912"/>
            <a:ext cx="402336" cy="402336"/>
          </a:xfrm>
          <a:prstGeom prst="rect">
            <a:avLst/>
          </a:prstGeom>
          <a:solidFill>
            <a:srgbClr val="86BC25"/>
          </a:solidFill>
          <a:ln/>
        </p:spPr>
      </p:sp>
      <p:sp>
        <p:nvSpPr>
          <p:cNvPr id="6" name="Text 4"/>
          <p:cNvSpPr txBox="1"/>
          <p:nvPr/>
        </p:nvSpPr>
        <p:spPr>
          <a:xfrm>
            <a:off x="589788" y="1581912"/>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0</a:t>
            </a:r>
            <a:endParaRPr lang="en-US" sz="1400" dirty="0"/>
          </a:p>
        </p:txBody>
      </p:sp>
      <p:sp>
        <p:nvSpPr>
          <p:cNvPr id="7" name="Text 5"/>
          <p:cNvSpPr txBox="1"/>
          <p:nvPr/>
        </p:nvSpPr>
        <p:spPr>
          <a:xfrm>
            <a:off x="1138428" y="1508760"/>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Methodology &amp; Respondent Profile</a:t>
            </a:r>
            <a:endParaRPr lang="en-US" sz="1400" dirty="0"/>
          </a:p>
        </p:txBody>
      </p:sp>
      <p:sp>
        <p:nvSpPr>
          <p:cNvPr id="8" name="Shape 6"/>
          <p:cNvSpPr/>
          <p:nvPr/>
        </p:nvSpPr>
        <p:spPr>
          <a:xfrm>
            <a:off x="498348" y="2185416"/>
            <a:ext cx="7772400" cy="548640"/>
          </a:xfrm>
          <a:prstGeom prst="rect">
            <a:avLst/>
          </a:prstGeom>
          <a:solidFill>
            <a:srgbClr val="F2F2F2"/>
          </a:solidFill>
          <a:ln/>
        </p:spPr>
      </p:sp>
      <p:sp>
        <p:nvSpPr>
          <p:cNvPr id="9" name="Shape 7"/>
          <p:cNvSpPr/>
          <p:nvPr/>
        </p:nvSpPr>
        <p:spPr>
          <a:xfrm>
            <a:off x="589788" y="2258568"/>
            <a:ext cx="402336" cy="402336"/>
          </a:xfrm>
          <a:prstGeom prst="rect">
            <a:avLst/>
          </a:prstGeom>
          <a:solidFill>
            <a:srgbClr val="86BC25"/>
          </a:solidFill>
          <a:ln/>
        </p:spPr>
      </p:sp>
      <p:sp>
        <p:nvSpPr>
          <p:cNvPr id="10" name="Text 8"/>
          <p:cNvSpPr txBox="1"/>
          <p:nvPr/>
        </p:nvSpPr>
        <p:spPr>
          <a:xfrm>
            <a:off x="589788" y="2258568"/>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1" name="Text 9"/>
          <p:cNvSpPr txBox="1"/>
          <p:nvPr/>
        </p:nvSpPr>
        <p:spPr>
          <a:xfrm>
            <a:off x="1138428" y="2185416"/>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Deepfake &amp; Emerging AI Risk</a:t>
            </a:r>
            <a:endParaRPr lang="en-US" sz="1400" dirty="0"/>
          </a:p>
        </p:txBody>
      </p:sp>
      <p:sp>
        <p:nvSpPr>
          <p:cNvPr id="12" name="Shape 10"/>
          <p:cNvSpPr/>
          <p:nvPr/>
        </p:nvSpPr>
        <p:spPr>
          <a:xfrm>
            <a:off x="498348" y="2862072"/>
            <a:ext cx="7772400" cy="548640"/>
          </a:xfrm>
          <a:prstGeom prst="rect">
            <a:avLst/>
          </a:prstGeom>
          <a:solidFill>
            <a:srgbClr val="F2F2F2"/>
          </a:solidFill>
          <a:ln/>
        </p:spPr>
      </p:sp>
      <p:sp>
        <p:nvSpPr>
          <p:cNvPr id="13" name="Shape 11"/>
          <p:cNvSpPr/>
          <p:nvPr/>
        </p:nvSpPr>
        <p:spPr>
          <a:xfrm>
            <a:off x="589788" y="2935224"/>
            <a:ext cx="402336" cy="402336"/>
          </a:xfrm>
          <a:prstGeom prst="rect">
            <a:avLst/>
          </a:prstGeom>
          <a:solidFill>
            <a:srgbClr val="86BC25"/>
          </a:solidFill>
          <a:ln/>
        </p:spPr>
      </p:sp>
      <p:sp>
        <p:nvSpPr>
          <p:cNvPr id="14" name="Text 12"/>
          <p:cNvSpPr txBox="1"/>
          <p:nvPr/>
        </p:nvSpPr>
        <p:spPr>
          <a:xfrm>
            <a:off x="589788" y="2935224"/>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5" name="Text 13"/>
          <p:cNvSpPr txBox="1"/>
          <p:nvPr/>
        </p:nvSpPr>
        <p:spPr>
          <a:xfrm>
            <a:off x="1138428" y="2862072"/>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Fraud Information Sharing</a:t>
            </a:r>
            <a:endParaRPr lang="en-US" sz="1400" dirty="0"/>
          </a:p>
        </p:txBody>
      </p:sp>
      <p:sp>
        <p:nvSpPr>
          <p:cNvPr id="16" name="Shape 14"/>
          <p:cNvSpPr/>
          <p:nvPr/>
        </p:nvSpPr>
        <p:spPr>
          <a:xfrm>
            <a:off x="498348" y="3538728"/>
            <a:ext cx="7772400" cy="548640"/>
          </a:xfrm>
          <a:prstGeom prst="rect">
            <a:avLst/>
          </a:prstGeom>
          <a:solidFill>
            <a:srgbClr val="F2F2F2"/>
          </a:solidFill>
          <a:ln/>
        </p:spPr>
      </p:sp>
      <p:sp>
        <p:nvSpPr>
          <p:cNvPr id="17" name="Shape 15"/>
          <p:cNvSpPr/>
          <p:nvPr/>
        </p:nvSpPr>
        <p:spPr>
          <a:xfrm>
            <a:off x="589788" y="3611880"/>
            <a:ext cx="402336" cy="402336"/>
          </a:xfrm>
          <a:prstGeom prst="rect">
            <a:avLst/>
          </a:prstGeom>
          <a:solidFill>
            <a:srgbClr val="86BC25"/>
          </a:solidFill>
          <a:ln/>
        </p:spPr>
      </p:sp>
      <p:sp>
        <p:nvSpPr>
          <p:cNvPr id="18" name="Text 16"/>
          <p:cNvSpPr txBox="1"/>
          <p:nvPr/>
        </p:nvSpPr>
        <p:spPr>
          <a:xfrm>
            <a:off x="589788" y="3611880"/>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9" name="Text 17"/>
          <p:cNvSpPr txBox="1"/>
          <p:nvPr/>
        </p:nvSpPr>
        <p:spPr>
          <a:xfrm>
            <a:off x="1138428" y="3538728"/>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Third-Party Fraud Risk</a:t>
            </a:r>
            <a:endParaRPr lang="en-US" sz="1400" dirty="0"/>
          </a:p>
        </p:txBody>
      </p:sp>
      <p:sp>
        <p:nvSpPr>
          <p:cNvPr id="20" name="Shape 18"/>
          <p:cNvSpPr/>
          <p:nvPr/>
        </p:nvSpPr>
        <p:spPr>
          <a:xfrm>
            <a:off x="498348" y="4215384"/>
            <a:ext cx="7772400" cy="548640"/>
          </a:xfrm>
          <a:prstGeom prst="rect">
            <a:avLst/>
          </a:prstGeom>
          <a:solidFill>
            <a:srgbClr val="F2F2F2"/>
          </a:solidFill>
          <a:ln/>
        </p:spPr>
      </p:sp>
      <p:sp>
        <p:nvSpPr>
          <p:cNvPr id="21" name="Shape 19"/>
          <p:cNvSpPr/>
          <p:nvPr/>
        </p:nvSpPr>
        <p:spPr>
          <a:xfrm>
            <a:off x="589788" y="4288536"/>
            <a:ext cx="402336" cy="402336"/>
          </a:xfrm>
          <a:prstGeom prst="rect">
            <a:avLst/>
          </a:prstGeom>
          <a:solidFill>
            <a:srgbClr val="86BC25"/>
          </a:solidFill>
          <a:ln/>
        </p:spPr>
      </p:sp>
      <p:sp>
        <p:nvSpPr>
          <p:cNvPr id="22" name="Text 20"/>
          <p:cNvSpPr txBox="1"/>
          <p:nvPr/>
        </p:nvSpPr>
        <p:spPr>
          <a:xfrm>
            <a:off x="589788" y="4288536"/>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3" name="Text 21"/>
          <p:cNvSpPr txBox="1"/>
          <p:nvPr/>
        </p:nvSpPr>
        <p:spPr>
          <a:xfrm>
            <a:off x="1138428" y="4215384"/>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Operating Model Transformation</a:t>
            </a:r>
            <a:endParaRPr lang="en-US" sz="1400" dirty="0"/>
          </a:p>
        </p:txBody>
      </p:sp>
      <p:sp>
        <p:nvSpPr>
          <p:cNvPr id="24" name="Shape 22"/>
          <p:cNvSpPr/>
          <p:nvPr/>
        </p:nvSpPr>
        <p:spPr>
          <a:xfrm>
            <a:off x="498348" y="4892040"/>
            <a:ext cx="7772400" cy="548640"/>
          </a:xfrm>
          <a:prstGeom prst="rect">
            <a:avLst/>
          </a:prstGeom>
          <a:solidFill>
            <a:srgbClr val="F2F2F2"/>
          </a:solidFill>
          <a:ln/>
        </p:spPr>
      </p:sp>
      <p:sp>
        <p:nvSpPr>
          <p:cNvPr id="25" name="Shape 23"/>
          <p:cNvSpPr/>
          <p:nvPr/>
        </p:nvSpPr>
        <p:spPr>
          <a:xfrm>
            <a:off x="589788" y="4965192"/>
            <a:ext cx="402336" cy="402336"/>
          </a:xfrm>
          <a:prstGeom prst="rect">
            <a:avLst/>
          </a:prstGeom>
          <a:solidFill>
            <a:srgbClr val="86BC25"/>
          </a:solidFill>
          <a:ln/>
        </p:spPr>
      </p:sp>
      <p:sp>
        <p:nvSpPr>
          <p:cNvPr id="26" name="Text 24"/>
          <p:cNvSpPr txBox="1"/>
          <p:nvPr/>
        </p:nvSpPr>
        <p:spPr>
          <a:xfrm>
            <a:off x="589788" y="4965192"/>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7" name="Text 25"/>
          <p:cNvSpPr txBox="1"/>
          <p:nvPr/>
        </p:nvSpPr>
        <p:spPr>
          <a:xfrm>
            <a:off x="1138428" y="4892040"/>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Regulatory &amp; Market Change</a:t>
            </a:r>
            <a:endParaRPr lang="en-US" sz="1400" dirty="0"/>
          </a:p>
        </p:txBody>
      </p:sp>
      <p:sp>
        <p:nvSpPr>
          <p:cNvPr id="28" name="Shape 26"/>
          <p:cNvSpPr/>
          <p:nvPr/>
        </p:nvSpPr>
        <p:spPr>
          <a:xfrm>
            <a:off x="498348" y="5568696"/>
            <a:ext cx="7772400" cy="548640"/>
          </a:xfrm>
          <a:prstGeom prst="rect">
            <a:avLst/>
          </a:prstGeom>
          <a:solidFill>
            <a:srgbClr val="F2F2F2"/>
          </a:solidFill>
          <a:ln/>
        </p:spPr>
      </p:sp>
      <p:sp>
        <p:nvSpPr>
          <p:cNvPr id="29" name="Shape 27"/>
          <p:cNvSpPr/>
          <p:nvPr/>
        </p:nvSpPr>
        <p:spPr>
          <a:xfrm>
            <a:off x="589788" y="5641848"/>
            <a:ext cx="402336" cy="402336"/>
          </a:xfrm>
          <a:prstGeom prst="rect">
            <a:avLst/>
          </a:prstGeom>
          <a:solidFill>
            <a:srgbClr val="86BC25"/>
          </a:solidFill>
          <a:ln/>
        </p:spPr>
      </p:sp>
      <p:sp>
        <p:nvSpPr>
          <p:cNvPr id="30" name="Text 28"/>
          <p:cNvSpPr txBox="1"/>
          <p:nvPr/>
        </p:nvSpPr>
        <p:spPr>
          <a:xfrm>
            <a:off x="589788" y="5641848"/>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31" name="Text 29"/>
          <p:cNvSpPr txBox="1"/>
          <p:nvPr/>
        </p:nvSpPr>
        <p:spPr>
          <a:xfrm>
            <a:off x="1138428" y="5568696"/>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Looking Ahead Three Years</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Methodology &amp; Respondent Profile</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Fielded via GLG among senior fraud leaders at banks and insurers globally — fielding closed at exactly the target sample size and mix.</a:t>
            </a:r>
            <a:endParaRPr lang="en-US" sz="135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a:t>
            </a:r>
            <a:endParaRPr lang="en-US" sz="900" dirty="0"/>
          </a:p>
        </p:txBody>
      </p:sp>
      <p:sp>
        <p:nvSpPr>
          <p:cNvPr id="5" name="Shape 3"/>
          <p:cNvSpPr/>
          <p:nvPr/>
        </p:nvSpPr>
        <p:spPr>
          <a:xfrm>
            <a:off x="502006" y="1335024"/>
            <a:ext cx="2514600" cy="914400"/>
          </a:xfrm>
          <a:prstGeom prst="rect">
            <a:avLst/>
          </a:prstGeom>
          <a:solidFill>
            <a:srgbClr val="F2F2F2"/>
          </a:solidFill>
          <a:ln/>
        </p:spPr>
      </p:sp>
      <p:sp>
        <p:nvSpPr>
          <p:cNvPr id="6" name="Text 4"/>
          <p:cNvSpPr txBox="1"/>
          <p:nvPr/>
        </p:nvSpPr>
        <p:spPr>
          <a:xfrm>
            <a:off x="502006" y="1426464"/>
            <a:ext cx="2514600" cy="438912"/>
          </a:xfrm>
          <a:prstGeom prst="rect">
            <a:avLst/>
          </a:prstGeom>
          <a:noFill/>
          <a:ln/>
        </p:spPr>
        <p:txBody>
          <a:bodyPr wrap="square" rtlCol="0" anchor="ctr"/>
          <a:lstStyle/>
          <a:p>
            <a:pPr algn="ctr" indent="0" marL="0">
              <a:buNone/>
            </a:pPr>
            <a:r>
              <a:rPr lang="en-US" sz="2200" b="1" dirty="0">
                <a:solidFill>
                  <a:srgbClr val="046A38"/>
                </a:solidFill>
                <a:latin typeface="Calibri" pitchFamily="34" charset="0"/>
                <a:ea typeface="Calibri" pitchFamily="34" charset="-122"/>
                <a:cs typeface="Calibri" pitchFamily="34" charset="-120"/>
              </a:rPr>
              <a:t>100</a:t>
            </a:r>
            <a:endParaRPr lang="en-US" sz="2200" dirty="0"/>
          </a:p>
        </p:txBody>
      </p:sp>
      <p:sp>
        <p:nvSpPr>
          <p:cNvPr id="7" name="Text 5"/>
          <p:cNvSpPr txBox="1"/>
          <p:nvPr/>
        </p:nvSpPr>
        <p:spPr>
          <a:xfrm>
            <a:off x="502006" y="1865376"/>
            <a:ext cx="2514600" cy="329184"/>
          </a:xfrm>
          <a:prstGeom prst="rect">
            <a:avLst/>
          </a:prstGeom>
          <a:noFill/>
          <a:ln/>
        </p:spPr>
        <p:txBody>
          <a:bodyPr wrap="square" rtlCol="0" anchor="ctr"/>
          <a:lstStyle/>
          <a:p>
            <a:pPr algn="ctr" indent="0" marL="0">
              <a:buNone/>
            </a:pPr>
            <a:r>
              <a:rPr lang="en-US" sz="1000" dirty="0">
                <a:solidFill>
                  <a:srgbClr val="53565A"/>
                </a:solidFill>
                <a:latin typeface="Calibri" pitchFamily="34" charset="0"/>
                <a:ea typeface="Calibri" pitchFamily="34" charset="-122"/>
                <a:cs typeface="Calibri" pitchFamily="34" charset="-120"/>
              </a:rPr>
              <a:t>Qualified respondents</a:t>
            </a:r>
            <a:endParaRPr lang="en-US" sz="1000" dirty="0"/>
          </a:p>
        </p:txBody>
      </p:sp>
      <p:sp>
        <p:nvSpPr>
          <p:cNvPr id="8" name="Shape 6"/>
          <p:cNvSpPr/>
          <p:nvPr/>
        </p:nvSpPr>
        <p:spPr>
          <a:xfrm>
            <a:off x="3336646" y="1335024"/>
            <a:ext cx="2514600" cy="914400"/>
          </a:xfrm>
          <a:prstGeom prst="rect">
            <a:avLst/>
          </a:prstGeom>
          <a:solidFill>
            <a:srgbClr val="F2F2F2"/>
          </a:solidFill>
          <a:ln/>
        </p:spPr>
      </p:sp>
      <p:sp>
        <p:nvSpPr>
          <p:cNvPr id="9" name="Text 7"/>
          <p:cNvSpPr txBox="1"/>
          <p:nvPr/>
        </p:nvSpPr>
        <p:spPr>
          <a:xfrm>
            <a:off x="3336646" y="1426464"/>
            <a:ext cx="2514600" cy="438912"/>
          </a:xfrm>
          <a:prstGeom prst="rect">
            <a:avLst/>
          </a:prstGeom>
          <a:noFill/>
          <a:ln/>
        </p:spPr>
        <p:txBody>
          <a:bodyPr wrap="square" rtlCol="0" anchor="ctr"/>
          <a:lstStyle/>
          <a:p>
            <a:pPr algn="ctr" indent="0" marL="0">
              <a:buNone/>
            </a:pPr>
            <a:r>
              <a:rPr lang="en-US" sz="2200" b="1" dirty="0">
                <a:solidFill>
                  <a:srgbClr val="046A38"/>
                </a:solidFill>
                <a:latin typeface="Calibri" pitchFamily="34" charset="0"/>
                <a:ea typeface="Calibri" pitchFamily="34" charset="-122"/>
                <a:cs typeface="Calibri" pitchFamily="34" charset="-120"/>
              </a:rPr>
              <a:t>75 / 25</a:t>
            </a:r>
            <a:endParaRPr lang="en-US" sz="2200" dirty="0"/>
          </a:p>
        </p:txBody>
      </p:sp>
      <p:sp>
        <p:nvSpPr>
          <p:cNvPr id="10" name="Text 8"/>
          <p:cNvSpPr txBox="1"/>
          <p:nvPr/>
        </p:nvSpPr>
        <p:spPr>
          <a:xfrm>
            <a:off x="3336646" y="1865376"/>
            <a:ext cx="2514600" cy="329184"/>
          </a:xfrm>
          <a:prstGeom prst="rect">
            <a:avLst/>
          </a:prstGeom>
          <a:noFill/>
          <a:ln/>
        </p:spPr>
        <p:txBody>
          <a:bodyPr wrap="square" rtlCol="0" anchor="ctr"/>
          <a:lstStyle/>
          <a:p>
            <a:pPr algn="ctr" indent="0" marL="0">
              <a:buNone/>
            </a:pPr>
            <a:r>
              <a:rPr lang="en-US" sz="1000" dirty="0">
                <a:solidFill>
                  <a:srgbClr val="53565A"/>
                </a:solidFill>
                <a:latin typeface="Calibri" pitchFamily="34" charset="0"/>
                <a:ea typeface="Calibri" pitchFamily="34" charset="-122"/>
                <a:cs typeface="Calibri" pitchFamily="34" charset="-120"/>
              </a:rPr>
              <a:t>% Banking / Insurance</a:t>
            </a:r>
            <a:endParaRPr lang="en-US" sz="1000" dirty="0"/>
          </a:p>
        </p:txBody>
      </p:sp>
      <p:sp>
        <p:nvSpPr>
          <p:cNvPr id="11" name="Shape 9"/>
          <p:cNvSpPr/>
          <p:nvPr/>
        </p:nvSpPr>
        <p:spPr>
          <a:xfrm>
            <a:off x="6171286" y="1335024"/>
            <a:ext cx="2514600" cy="914400"/>
          </a:xfrm>
          <a:prstGeom prst="rect">
            <a:avLst/>
          </a:prstGeom>
          <a:solidFill>
            <a:srgbClr val="F2F2F2"/>
          </a:solidFill>
          <a:ln/>
        </p:spPr>
      </p:sp>
      <p:sp>
        <p:nvSpPr>
          <p:cNvPr id="12" name="Text 10"/>
          <p:cNvSpPr txBox="1"/>
          <p:nvPr/>
        </p:nvSpPr>
        <p:spPr>
          <a:xfrm>
            <a:off x="6171286" y="1426464"/>
            <a:ext cx="2514600" cy="438912"/>
          </a:xfrm>
          <a:prstGeom prst="rect">
            <a:avLst/>
          </a:prstGeom>
          <a:noFill/>
          <a:ln/>
        </p:spPr>
        <p:txBody>
          <a:bodyPr wrap="square" rtlCol="0" anchor="ctr"/>
          <a:lstStyle/>
          <a:p>
            <a:pPr algn="ctr" indent="0" marL="0">
              <a:buNone/>
            </a:pPr>
            <a:r>
              <a:rPr lang="en-US" sz="2200" b="1" dirty="0">
                <a:solidFill>
                  <a:srgbClr val="046A38"/>
                </a:solidFill>
                <a:latin typeface="Calibri" pitchFamily="34" charset="0"/>
                <a:ea typeface="Calibri" pitchFamily="34" charset="-122"/>
                <a:cs typeface="Calibri" pitchFamily="34" charset="-120"/>
              </a:rPr>
              <a:t>76%</a:t>
            </a:r>
            <a:endParaRPr lang="en-US" sz="2200" dirty="0"/>
          </a:p>
        </p:txBody>
      </p:sp>
      <p:sp>
        <p:nvSpPr>
          <p:cNvPr id="13" name="Text 11"/>
          <p:cNvSpPr txBox="1"/>
          <p:nvPr/>
        </p:nvSpPr>
        <p:spPr>
          <a:xfrm>
            <a:off x="6171286" y="1865376"/>
            <a:ext cx="2514600" cy="329184"/>
          </a:xfrm>
          <a:prstGeom prst="rect">
            <a:avLst/>
          </a:prstGeom>
          <a:noFill/>
          <a:ln/>
        </p:spPr>
        <p:txBody>
          <a:bodyPr wrap="square" rtlCol="0" anchor="ctr"/>
          <a:lstStyle/>
          <a:p>
            <a:pPr algn="ctr" indent="0" marL="0">
              <a:buNone/>
            </a:pPr>
            <a:r>
              <a:rPr lang="en-US" sz="1000" dirty="0">
                <a:solidFill>
                  <a:srgbClr val="53565A"/>
                </a:solidFill>
                <a:latin typeface="Calibri" pitchFamily="34" charset="0"/>
                <a:ea typeface="Calibri" pitchFamily="34" charset="-122"/>
                <a:cs typeface="Calibri" pitchFamily="34" charset="-120"/>
              </a:rPr>
              <a:t>Director-level or above</a:t>
            </a:r>
            <a:endParaRPr lang="en-US" sz="1000" dirty="0"/>
          </a:p>
        </p:txBody>
      </p:sp>
      <p:sp>
        <p:nvSpPr>
          <p:cNvPr id="14" name="Shape 12"/>
          <p:cNvSpPr/>
          <p:nvPr/>
        </p:nvSpPr>
        <p:spPr>
          <a:xfrm>
            <a:off x="9005926" y="1335024"/>
            <a:ext cx="2514600" cy="914400"/>
          </a:xfrm>
          <a:prstGeom prst="rect">
            <a:avLst/>
          </a:prstGeom>
          <a:solidFill>
            <a:srgbClr val="F2F2F2"/>
          </a:solidFill>
          <a:ln/>
        </p:spPr>
      </p:sp>
      <p:sp>
        <p:nvSpPr>
          <p:cNvPr id="15" name="Text 13"/>
          <p:cNvSpPr txBox="1"/>
          <p:nvPr/>
        </p:nvSpPr>
        <p:spPr>
          <a:xfrm>
            <a:off x="9005926" y="1426464"/>
            <a:ext cx="2514600" cy="438912"/>
          </a:xfrm>
          <a:prstGeom prst="rect">
            <a:avLst/>
          </a:prstGeom>
          <a:noFill/>
          <a:ln/>
        </p:spPr>
        <p:txBody>
          <a:bodyPr wrap="square" rtlCol="0" anchor="ctr"/>
          <a:lstStyle/>
          <a:p>
            <a:pPr algn="ctr" indent="0" marL="0">
              <a:buNone/>
            </a:pPr>
            <a:r>
              <a:rPr lang="en-US" sz="2200" b="1" dirty="0">
                <a:solidFill>
                  <a:srgbClr val="046A38"/>
                </a:solidFill>
                <a:latin typeface="Calibri" pitchFamily="34" charset="0"/>
                <a:ea typeface="Calibri" pitchFamily="34" charset="-122"/>
                <a:cs typeface="Calibri" pitchFamily="34" charset="-120"/>
              </a:rPr>
              <a:t>100%</a:t>
            </a:r>
            <a:endParaRPr lang="en-US" sz="2200" dirty="0"/>
          </a:p>
        </p:txBody>
      </p:sp>
      <p:sp>
        <p:nvSpPr>
          <p:cNvPr id="16" name="Text 14"/>
          <p:cNvSpPr txBox="1"/>
          <p:nvPr/>
        </p:nvSpPr>
        <p:spPr>
          <a:xfrm>
            <a:off x="9005926" y="1865376"/>
            <a:ext cx="2514600" cy="329184"/>
          </a:xfrm>
          <a:prstGeom prst="rect">
            <a:avLst/>
          </a:prstGeom>
          <a:noFill/>
          <a:ln/>
        </p:spPr>
        <p:txBody>
          <a:bodyPr wrap="square" rtlCol="0" anchor="ctr"/>
          <a:lstStyle/>
          <a:p>
            <a:pPr algn="ctr" indent="0" marL="0">
              <a:buNone/>
            </a:pPr>
            <a:r>
              <a:rPr lang="en-US" sz="1000" dirty="0">
                <a:solidFill>
                  <a:srgbClr val="53565A"/>
                </a:solidFill>
                <a:latin typeface="Calibri" pitchFamily="34" charset="0"/>
                <a:ea typeface="Calibri" pitchFamily="34" charset="-122"/>
                <a:cs typeface="Calibri" pitchFamily="34" charset="-120"/>
              </a:rPr>
              <a:t>Answered the open-end</a:t>
            </a:r>
            <a:endParaRPr lang="en-US" sz="1000" dirty="0"/>
          </a:p>
        </p:txBody>
      </p:sp>
      <p:sp>
        <p:nvSpPr>
          <p:cNvPr id="17" name="Text 15"/>
          <p:cNvSpPr txBox="1"/>
          <p:nvPr/>
        </p:nvSpPr>
        <p:spPr>
          <a:xfrm>
            <a:off x="502006" y="2304288"/>
            <a:ext cx="5486400" cy="292608"/>
          </a:xfrm>
          <a:prstGeom prst="rect">
            <a:avLst/>
          </a:prstGeom>
          <a:noFill/>
          <a:ln/>
        </p:spPr>
        <p:txBody>
          <a:bodyPr wrap="square" rtlCol="0" anchor="ctr"/>
          <a:lstStyle/>
          <a:p>
            <a:pPr indent="0" marL="0">
              <a:buNone/>
            </a:pPr>
            <a:r>
              <a:rPr lang="en-US" sz="900" b="1" dirty="0">
                <a:solidFill>
                  <a:srgbClr val="046A38"/>
                </a:solidFill>
                <a:latin typeface="IBM Plex Mono" pitchFamily="34" charset="0"/>
                <a:ea typeface="IBM Plex Mono" pitchFamily="34" charset="-122"/>
                <a:cs typeface="IBM Plex Mono" pitchFamily="34" charset="-120"/>
              </a:rPr>
              <a:t>S6  </a:t>
            </a:r>
            <a:pPr indent="0" marL="0">
              <a:buNone/>
            </a:pPr>
            <a:r>
              <a:rPr lang="en-US" sz="950" i="1" dirty="0">
                <a:solidFill>
                  <a:srgbClr val="575757"/>
                </a:solidFill>
                <a:latin typeface="Calibri" pitchFamily="34" charset="0"/>
                <a:ea typeface="Calibri" pitchFamily="34" charset="-122"/>
                <a:cs typeface="Calibri" pitchFamily="34" charset="-120"/>
              </a:rPr>
              <a:t>“Which market best describes your primary area of responsibility for fraud risk management?”</a:t>
            </a:r>
            <a:endParaRPr lang="en-US" sz="900" dirty="0"/>
          </a:p>
        </p:txBody>
      </p:sp>
      <p:graphicFrame>
        <p:nvGraphicFramePr>
          <p:cNvPr id="18" name="Chart 0" descr=""/>
          <p:cNvGraphicFramePr/>
          <p:nvPr/>
        </p:nvGraphicFramePr>
        <p:xfrm>
          <a:off x="502006" y="2615184"/>
          <a:ext cx="5486400" cy="2880360"/>
        </p:xfrm>
        <a:graphic xmlns:a="http://schemas.openxmlformats.org/drawingml/2006/main">
          <a:graphicData uri="http://schemas.openxmlformats.org/drawingml/2006/chart">
            <c:chart xmlns:c="http://schemas.openxmlformats.org/drawingml/2006/chart" r:id="rId1"/>
          </a:graphicData>
        </a:graphic>
      </p:graphicFrame>
      <p:sp>
        <p:nvSpPr>
          <p:cNvPr id="19" name="Text 16"/>
          <p:cNvSpPr txBox="1"/>
          <p:nvPr/>
        </p:nvSpPr>
        <p:spPr>
          <a:xfrm>
            <a:off x="6172200" y="2304288"/>
            <a:ext cx="5486400" cy="292608"/>
          </a:xfrm>
          <a:prstGeom prst="rect">
            <a:avLst/>
          </a:prstGeom>
          <a:noFill/>
          <a:ln/>
        </p:spPr>
        <p:txBody>
          <a:bodyPr wrap="square" rtlCol="0" anchor="ctr"/>
          <a:lstStyle/>
          <a:p>
            <a:pPr indent="0" marL="0">
              <a:buNone/>
            </a:pPr>
            <a:r>
              <a:rPr lang="en-US" sz="900" b="1" dirty="0">
                <a:solidFill>
                  <a:srgbClr val="046A38"/>
                </a:solidFill>
                <a:latin typeface="IBM Plex Mono" pitchFamily="34" charset="0"/>
                <a:ea typeface="IBM Plex Mono" pitchFamily="34" charset="-122"/>
                <a:cs typeface="IBM Plex Mono" pitchFamily="34" charset="-120"/>
              </a:rPr>
              <a:t>S4  </a:t>
            </a:r>
            <a:pPr indent="0" marL="0">
              <a:buNone/>
            </a:pPr>
            <a:r>
              <a:rPr lang="en-US" sz="950" i="1" dirty="0">
                <a:solidFill>
                  <a:srgbClr val="575757"/>
                </a:solidFill>
                <a:latin typeface="Calibri" pitchFamily="34" charset="0"/>
                <a:ea typeface="Calibri" pitchFamily="34" charset="-122"/>
                <a:cs typeface="Calibri" pitchFamily="34" charset="-120"/>
              </a:rPr>
              <a:t>“Which of the following best describes your department within your organization?”</a:t>
            </a:r>
            <a:endParaRPr lang="en-US" sz="900" dirty="0"/>
          </a:p>
        </p:txBody>
      </p:sp>
      <p:graphicFrame>
        <p:nvGraphicFramePr>
          <p:cNvPr id="20" name="Chart 1" descr=""/>
          <p:cNvGraphicFramePr/>
          <p:nvPr/>
        </p:nvGraphicFramePr>
        <p:xfrm>
          <a:off x="6172200" y="2615184"/>
          <a:ext cx="5486400" cy="288036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Banking Respondent Profile — Institution Tier and Geography</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The Banking sample skews slightly toward Top 100 institutions and is anchored in the United States and Canada.</a:t>
            </a:r>
            <a:endParaRPr lang="en-US" sz="135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a:t>
            </a:r>
            <a:endParaRPr lang="en-US" sz="900" dirty="0"/>
          </a:p>
        </p:txBody>
      </p:sp>
      <p:sp>
        <p:nvSpPr>
          <p:cNvPr id="5" name="Text 3"/>
          <p:cNvSpPr txBox="1"/>
          <p:nvPr/>
        </p:nvSpPr>
        <p:spPr>
          <a:xfrm>
            <a:off x="502006"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Institution Tier (n=75)</a:t>
            </a:r>
            <a:endParaRPr lang="en-US" sz="1150" dirty="0"/>
          </a:p>
        </p:txBody>
      </p:sp>
      <p:graphicFrame>
        <p:nvGraphicFramePr>
          <p:cNvPr id="6" name="Chart 0" descr=""/>
          <p:cNvGraphicFramePr/>
          <p:nvPr/>
        </p:nvGraphicFramePr>
        <p:xfrm>
          <a:off x="502006" y="2267712"/>
          <a:ext cx="5486400" cy="274320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6172200"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Geography (n=75)</a:t>
            </a:r>
            <a:endParaRPr lang="en-US" sz="1150" dirty="0"/>
          </a:p>
        </p:txBody>
      </p:sp>
      <p:graphicFrame>
        <p:nvGraphicFramePr>
          <p:cNvPr id="8" name="Chart 1" descr=""/>
          <p:cNvGraphicFramePr/>
          <p:nvPr/>
        </p:nvGraphicFramePr>
        <p:xfrm>
          <a:off x="6172200" y="2267712"/>
          <a:ext cx="5486400" cy="2743200"/>
        </p:xfrm>
        <a:graphic xmlns:a="http://schemas.openxmlformats.org/drawingml/2006/main">
          <a:graphicData uri="http://schemas.openxmlformats.org/drawingml/2006/chart">
            <c:chart xmlns:c="http://schemas.openxmlformats.org/drawingml/2006/chart" r:id="rId2"/>
          </a:graphicData>
        </a:graphic>
      </p:graphicFrame>
      <p:sp>
        <p:nvSpPr>
          <p:cNvPr id="9" name="Shape 5"/>
          <p:cNvSpPr/>
          <p:nvPr/>
        </p:nvSpPr>
        <p:spPr>
          <a:xfrm>
            <a:off x="502006" y="5120640"/>
            <a:ext cx="11188598" cy="0"/>
          </a:xfrm>
          <a:prstGeom prst="line">
            <a:avLst/>
          </a:prstGeom>
          <a:noFill/>
          <a:ln w="9525">
            <a:solidFill>
              <a:srgbClr val="D0D0CE"/>
            </a:solidFill>
            <a:prstDash val="solid"/>
          </a:ln>
        </p:spPr>
      </p:sp>
      <p:sp>
        <p:nvSpPr>
          <p:cNvPr id="10" name="Text 6"/>
          <p:cNvSpPr txBox="1"/>
          <p:nvPr/>
        </p:nvSpPr>
        <p:spPr>
          <a:xfrm>
            <a:off x="502006" y="5193792"/>
            <a:ext cx="11188598" cy="548640"/>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n=75.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Institution tier based on newS8, and includes 5 respondents reclassified as Top 100 from their employer description elsewhere in the survey (Top 100 is n=40 = 35 direct + 5 reclassified; Large is n=35). Geography based on S6, with Europe combining EU and UK respondents (n=12: 9 UK, 3 EU). Percentages may not sum to exactly 100% due to rounding.</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Banking — Geography by Institution Tier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Top 100 institutions are more evenly spread across regions; Large institutions are disproportionately U.S.-based.</a:t>
            </a:r>
            <a:endParaRPr lang="en-US" sz="135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4</a:t>
            </a:r>
            <a:endParaRPr lang="en-US" sz="900" dirty="0"/>
          </a:p>
        </p:txBody>
      </p:sp>
      <p:graphicFrame>
        <p:nvGraphicFramePr>
          <p:cNvPr id="5"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02006" y="5202936"/>
            <a:ext cx="11188598" cy="0"/>
          </a:xfrm>
          <a:prstGeom prst="line">
            <a:avLst/>
          </a:prstGeom>
          <a:noFill/>
          <a:ln w="9525">
            <a:solidFill>
              <a:srgbClr val="D0D0CE"/>
            </a:solidFill>
            <a:prstDash val="solid"/>
          </a:ln>
        </p:spPr>
      </p:sp>
      <p:sp>
        <p:nvSpPr>
          <p:cNvPr id="7" name="Text 4"/>
          <p:cNvSpPr txBox="1"/>
          <p:nvPr/>
        </p:nvSpPr>
        <p:spPr>
          <a:xfrm>
            <a:off x="502006" y="5276088"/>
            <a:ext cx="11188598" cy="685800"/>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n=75.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Percentages are each region's share of that tier (Top 100 or Large), so each bar sums to ~100% and may not sum exactly due to rounding. Region counts — Top 100: US n=14, Canada n=13, Europe n=7, Australia n=4, Singapore n=2. Large: US n=20, Canada n=5, Europe n=5, Australia n=3, Singapore n=2. Top 100 includes 5 respondents reclassified from their employer description elsewhere in the survey (see the Banking sample profile slide).</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Insurance Respondent Profile — Institution Tier and Geography</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The Insurance sample leans Top 50 carriers and is concentrated in the United States and Canada, with a thin tail across the UK and Australia.</a:t>
            </a:r>
            <a:endParaRPr lang="en-US" sz="135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5</a:t>
            </a:r>
            <a:endParaRPr lang="en-US" sz="900" dirty="0"/>
          </a:p>
        </p:txBody>
      </p:sp>
      <p:sp>
        <p:nvSpPr>
          <p:cNvPr id="5" name="Text 3"/>
          <p:cNvSpPr txBox="1"/>
          <p:nvPr/>
        </p:nvSpPr>
        <p:spPr>
          <a:xfrm>
            <a:off x="502006"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Institution Tier (n=25)</a:t>
            </a:r>
            <a:endParaRPr lang="en-US" sz="1150" dirty="0"/>
          </a:p>
        </p:txBody>
      </p:sp>
      <p:graphicFrame>
        <p:nvGraphicFramePr>
          <p:cNvPr id="6" name="Chart 0" descr=""/>
          <p:cNvGraphicFramePr/>
          <p:nvPr/>
        </p:nvGraphicFramePr>
        <p:xfrm>
          <a:off x="502006" y="2267712"/>
          <a:ext cx="5486400" cy="274320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6172200"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Geography (n=25)</a:t>
            </a:r>
            <a:endParaRPr lang="en-US" sz="1150" dirty="0"/>
          </a:p>
        </p:txBody>
      </p:sp>
      <p:graphicFrame>
        <p:nvGraphicFramePr>
          <p:cNvPr id="8" name="Chart 1" descr=""/>
          <p:cNvGraphicFramePr/>
          <p:nvPr/>
        </p:nvGraphicFramePr>
        <p:xfrm>
          <a:off x="6172200" y="2267712"/>
          <a:ext cx="5486400" cy="2743200"/>
        </p:xfrm>
        <a:graphic xmlns:a="http://schemas.openxmlformats.org/drawingml/2006/main">
          <a:graphicData uri="http://schemas.openxmlformats.org/drawingml/2006/chart">
            <c:chart xmlns:c="http://schemas.openxmlformats.org/drawingml/2006/chart" r:id="rId2"/>
          </a:graphicData>
        </a:graphic>
      </p:graphicFrame>
      <p:sp>
        <p:nvSpPr>
          <p:cNvPr id="9" name="Shape 5"/>
          <p:cNvSpPr/>
          <p:nvPr/>
        </p:nvSpPr>
        <p:spPr>
          <a:xfrm>
            <a:off x="502006" y="5120640"/>
            <a:ext cx="11188598" cy="0"/>
          </a:xfrm>
          <a:prstGeom prst="line">
            <a:avLst/>
          </a:prstGeom>
          <a:noFill/>
          <a:ln w="9525">
            <a:solidFill>
              <a:srgbClr val="D0D0CE"/>
            </a:solidFill>
            <a:prstDash val="solid"/>
          </a:ln>
        </p:spPr>
      </p:sp>
      <p:sp>
        <p:nvSpPr>
          <p:cNvPr id="10" name="Text 6"/>
          <p:cNvSpPr txBox="1"/>
          <p:nvPr/>
        </p:nvSpPr>
        <p:spPr>
          <a:xfrm>
            <a:off x="502006" y="5193792"/>
            <a:ext cx="11188598" cy="658368"/>
          </a:xfrm>
          <a:prstGeom prst="rect">
            <a:avLst/>
          </a:prstGeom>
          <a:noFill/>
          <a:ln/>
        </p:spPr>
        <p:txBody>
          <a:bodyPr wrap="square" lIns="0" tIns="0" rIns="0" bIns="0" rtlCol="0" anchor="t"/>
          <a:lstStyle/>
          <a:p>
            <a:pPr algn="l" indent="0" marL="0">
              <a:lnSpc>
                <a:spcPct val="112000"/>
              </a:lnSpc>
              <a:buNone/>
            </a:pPr>
            <a:r>
              <a:rPr lang="en-US" sz="850" b="1" dirty="0">
                <a:solidFill>
                  <a:srgbClr val="53565A"/>
                </a:solidFill>
                <a:latin typeface="Calibri" pitchFamily="34" charset="0"/>
                <a:ea typeface="Calibri" pitchFamily="34" charset="-122"/>
                <a:cs typeface="Calibri" pitchFamily="34" charset="-120"/>
              </a:rPr>
              <a:t>n=25. </a:t>
            </a:r>
            <a:pPr algn="l" indent="0" marL="0">
              <a:lnSpc>
                <a:spcPct val="112000"/>
              </a:lnSpc>
              <a:buNone/>
            </a:pPr>
            <a:r>
              <a:rPr lang="en-US" sz="850" dirty="0">
                <a:solidFill>
                  <a:srgbClr val="53565A"/>
                </a:solidFill>
                <a:latin typeface="Calibri" pitchFamily="34" charset="0"/>
                <a:ea typeface="Calibri" pitchFamily="34" charset="-122"/>
                <a:cs typeface="Calibri" pitchFamily="34" charset="-120"/>
              </a:rPr>
              <a:t>Institution tier based on S9, and includes 1 respondent reclassified as Large Insurance Carrier from their employer description elsewhere in the survey (Large is n=10 = 9 direct + 1 reclassified; Top 50 is n=15). Geography based on S6, with Europe combining EU and UK respondents (n=2, both UK); Insurance had zero Singapore respondents, so that category is omitted rather than shown at 0%. Australia (n=1) and Europe (n=2) are thin samples and should be read directionally.</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Insurance — Geography by Institution Tier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Large carriers are almost entirely U.S. and Canada-based; Top 50 carriers carry the sample's thin UK and Australia representation.</a:t>
            </a:r>
            <a:endParaRPr lang="en-US" sz="135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6</a:t>
            </a:r>
            <a:endParaRPr lang="en-US" sz="900" dirty="0"/>
          </a:p>
        </p:txBody>
      </p:sp>
      <p:graphicFrame>
        <p:nvGraphicFramePr>
          <p:cNvPr id="5"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02006" y="5202936"/>
            <a:ext cx="11188598" cy="0"/>
          </a:xfrm>
          <a:prstGeom prst="line">
            <a:avLst/>
          </a:prstGeom>
          <a:noFill/>
          <a:ln w="9525">
            <a:solidFill>
              <a:srgbClr val="D0D0CE"/>
            </a:solidFill>
            <a:prstDash val="solid"/>
          </a:ln>
        </p:spPr>
      </p:sp>
      <p:sp>
        <p:nvSpPr>
          <p:cNvPr id="7" name="Text 4"/>
          <p:cNvSpPr txBox="1"/>
          <p:nvPr/>
        </p:nvSpPr>
        <p:spPr>
          <a:xfrm>
            <a:off x="502006" y="5276088"/>
            <a:ext cx="11188598" cy="685800"/>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n=25.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Percentages are each region's share of that tier (Top 50 or Large), so each bar sums to ~100% and may not sum exactly due to rounding. Region counts — Top 50: US n=7, Canada n=6, Europe n=1, Australia n=1. Large: US n=3, Canada n=6, Europe n=1, Australia n=0. Neither tier has Singapore respondents. Large includes 1 respondent (Canada) reclassified from their employer description elsewhere in the survey (see the Insurance sample profile slide).</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86BC25"/>
        </a:solidFill>
      </p:bgPr>
    </p:bg>
    <p:spTree>
      <p:nvGrpSpPr>
        <p:cNvPr id="1" name=""/>
        <p:cNvGrpSpPr/>
        <p:nvPr/>
      </p:nvGrpSpPr>
      <p:grpSpPr>
        <a:xfrm>
          <a:off x="0" y="0"/>
          <a:ext cx="0" cy="0"/>
          <a:chOff x="0" y="0"/>
          <a:chExt cx="0" cy="0"/>
        </a:xfrm>
      </p:grpSpPr>
      <p:sp>
        <p:nvSpPr>
          <p:cNvPr id="2" name="Text 0"/>
          <p:cNvSpPr txBox="1"/>
          <p:nvPr/>
        </p:nvSpPr>
        <p:spPr>
          <a:xfrm>
            <a:off x="502920" y="1699870"/>
            <a:ext cx="10415016" cy="1591970"/>
          </a:xfrm>
          <a:prstGeom prst="rect">
            <a:avLst/>
          </a:prstGeom>
          <a:noFill/>
          <a:ln/>
        </p:spPr>
        <p:txBody>
          <a:bodyPr wrap="square" lIns="0" tIns="0" rIns="0" bIns="0" rtlCol="0" anchor="b"/>
          <a:lstStyle/>
          <a:p>
            <a:pPr algn="l" indent="0" marL="0">
              <a:buNone/>
            </a:pPr>
            <a:r>
              <a:rPr lang="en-US" sz="3600" b="1" dirty="0">
                <a:solidFill>
                  <a:srgbClr val="FFFFFF"/>
                </a:solidFill>
                <a:latin typeface="Calibri" pitchFamily="34" charset="0"/>
                <a:ea typeface="Calibri" pitchFamily="34" charset="-122"/>
                <a:cs typeface="Calibri" pitchFamily="34" charset="-120"/>
              </a:rPr>
              <a:t>1. Deepfake &amp; Emerging AI Risk</a:t>
            </a:r>
            <a:endParaRPr lang="en-US" sz="3600" dirty="0"/>
          </a:p>
        </p:txBody>
      </p:sp>
      <p:sp>
        <p:nvSpPr>
          <p:cNvPr id="3" name="Text 1"/>
          <p:cNvSpPr txBox="1"/>
          <p:nvPr/>
        </p:nvSpPr>
        <p:spPr>
          <a:xfrm>
            <a:off x="502920" y="3423514"/>
            <a:ext cx="10415016" cy="1563624"/>
          </a:xfrm>
          <a:prstGeom prst="rect">
            <a:avLst/>
          </a:prstGeom>
          <a:noFill/>
          <a:ln/>
        </p:spPr>
        <p:txBody>
          <a:bodyPr wrap="square" lIns="0" tIns="0" rIns="0" bIns="0" rtlCol="0" anchor="t"/>
          <a:lstStyle/>
          <a:p>
            <a:pPr algn="l" indent="0" marL="0">
              <a:lnSpc>
                <a:spcPct val="110000"/>
              </a:lnSpc>
              <a:buNone/>
            </a:pPr>
            <a:r>
              <a:rPr lang="en-US" sz="1600" dirty="0">
                <a:solidFill>
                  <a:srgbClr val="FFFFFF"/>
                </a:solidFill>
                <a:latin typeface="Calibri" pitchFamily="34" charset="0"/>
                <a:ea typeface="Calibri" pitchFamily="34" charset="-122"/>
                <a:cs typeface="Calibri" pitchFamily="34" charset="-120"/>
              </a:rPr>
              <a:t>Where AI-driven fraud vulnerability is concentrated, and what's standing in the way of managing it.</a:t>
            </a:r>
            <a:endParaRPr lang="en-US" sz="160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Greatest Increase in AI/Deepfake Vulnerability</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AI-driven fraud is hitting identity checks the hardest — onboarding and payments, not the areas fraud teams traditionally focus on.</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Q2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area of your organization has experienced the greatest increase in vulnerability to fraud enabled by deepfakes and other advanced or frontier AI capabilities over the past 12 months?”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8</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Ranked top 3 — shown as % of respondents who placed the option anywhere in their top 3 (not mutually exclusive; bars don't sum to 100%).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“Contact center / phone-based authentication”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“Digital onboarding, KYC, and identity verification”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“Claims, underwriting, lending, or application review”</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“Payment, wire, or transaction approvals”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“Video meetings and remote advisory interactions”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“Executive, employee, broker, or advisor impersonation”</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Where the Risk Concentrates — By Sector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The overall #1 area masks a real split: Banking's top exposure is an exact tie between onboarding/KYC and payment/wire, while Insurance's is contact center and claims.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Q2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area of your organization has experienced the greatest increase in vulnerability to fraud enabled by deepfakes and other advanced or frontier AI capabilities over the past 12 months? (Banking vs. Insurance, % selecting in top 3)”</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9</a:t>
            </a:r>
            <a:endParaRPr lang="en-US" sz="900" dirty="0"/>
          </a:p>
        </p:txBody>
      </p:sp>
      <p:sp>
        <p:nvSpPr>
          <p:cNvPr id="7" name="Text 5"/>
          <p:cNvSpPr txBox="1"/>
          <p:nvPr/>
        </p:nvSpPr>
        <p:spPr>
          <a:xfrm>
            <a:off x="502006"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Banking (n=75) — ranked</a:t>
            </a:r>
            <a:endParaRPr lang="en-US" sz="1150" dirty="0"/>
          </a:p>
        </p:txBody>
      </p:sp>
      <p:graphicFrame>
        <p:nvGraphicFramePr>
          <p:cNvPr id="8" name="Chart 0" descr=""/>
          <p:cNvGraphicFramePr/>
          <p:nvPr/>
        </p:nvGraphicFramePr>
        <p:xfrm>
          <a:off x="502006" y="2267712"/>
          <a:ext cx="5486400" cy="2743200"/>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6172200"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Insurance (n=25) — ranked</a:t>
            </a:r>
            <a:endParaRPr lang="en-US" sz="1150" dirty="0"/>
          </a:p>
        </p:txBody>
      </p:sp>
      <p:graphicFrame>
        <p:nvGraphicFramePr>
          <p:cNvPr id="10" name="Chart 1" descr=""/>
          <p:cNvGraphicFramePr/>
          <p:nvPr/>
        </p:nvGraphicFramePr>
        <p:xfrm>
          <a:off x="6172200" y="2267712"/>
          <a:ext cx="5486400" cy="2743200"/>
        </p:xfrm>
        <a:graphic xmlns:a="http://schemas.openxmlformats.org/drawingml/2006/main">
          <a:graphicData uri="http://schemas.openxmlformats.org/drawingml/2006/chart">
            <c:chart xmlns:c="http://schemas.openxmlformats.org/drawingml/2006/chart" r:id="rId2"/>
          </a:graphicData>
        </a:graphic>
      </p:graphicFrame>
      <p:sp>
        <p:nvSpPr>
          <p:cNvPr id="11" name="Shape 7"/>
          <p:cNvSpPr/>
          <p:nvPr/>
        </p:nvSpPr>
        <p:spPr>
          <a:xfrm>
            <a:off x="502006" y="5166360"/>
            <a:ext cx="11188598" cy="502920"/>
          </a:xfrm>
          <a:prstGeom prst="roundRect">
            <a:avLst>
              <a:gd name="adj" fmla="val 9091"/>
            </a:avLst>
          </a:prstGeom>
          <a:solidFill>
            <a:srgbClr val="F2F2F2"/>
          </a:solidFill>
          <a:ln/>
        </p:spPr>
      </p:sp>
      <p:sp>
        <p:nvSpPr>
          <p:cNvPr id="12" name="Text 8"/>
          <p:cNvSpPr txBox="1"/>
          <p:nvPr/>
        </p:nvSpPr>
        <p:spPr>
          <a:xfrm>
            <a:off x="639166" y="5166360"/>
            <a:ext cx="10914278" cy="502920"/>
          </a:xfrm>
          <a:prstGeom prst="rect">
            <a:avLst/>
          </a:prstGeom>
          <a:noFill/>
          <a:ln/>
        </p:spPr>
        <p:txBody>
          <a:bodyPr wrap="square" rtlCol="0" anchor="ctr"/>
          <a:lstStyle/>
          <a:p>
            <a:pPr indent="0" marL="0">
              <a:lnSpc>
                <a:spcPct val="110000"/>
              </a:lnSpc>
              <a:buNone/>
            </a:pPr>
            <a:r>
              <a:rPr lang="en-US" sz="900" i="1" dirty="0">
                <a:solidFill>
                  <a:srgbClr val="53565A"/>
                </a:solidFill>
                <a:latin typeface="Calibri" pitchFamily="34" charset="0"/>
                <a:ea typeface="Calibri" pitchFamily="34" charset="-122"/>
                <a:cs typeface="Calibri" pitchFamily="34" charset="-120"/>
              </a:rPr>
              <a:t>Each panel is sorted independently. Values are % of that segment's respondents who placed the option anywhere in their top 3 (not mutually exclusive). Banking n=75, Insurance n=25 — bases differ, so compare rank order and share within each segment, not raw counts. Banking's top two areas are tied at 73%.</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Key Obstacles to Managing AI-Driven Fraud Risk</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The bigger problem is untrained staff and identity-verification gaps, not a single missing tool.</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Q3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are the key obstacles to managing fraud risks created or amplified by advanced and frontier AI capabilities (e.g., deepfakes, synthetic identities, AI-enabled impersonation, and autonomous AI agents)?”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10</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Select all that apply — bars do not sum to 100%.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“Insufficient identity verification or prevention capabilities in the existing environment”</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“Lack of fraud detection technology in the existing environment”</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“Limited or no available 3rd party fraud intelligence and/or consortium information”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“Limited staff awareness and training on deepfake-related fraud risk”</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Obstacles to Managing AI-Driven Fraud Risk — By Sector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Insurance leans hardest on the training gap (64%); Banking is more evenly split across all four obstacles.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Q3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are the key obstacles to managing fraud risks created or amplified by advanced and frontier AI capabilities? (Banking vs. Insurance)”</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11</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Select all that apply — bars do not sum to 100%.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“Insufficient identity verification or prevention capabilities in the existing environment”</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“Lack of fraud detection technology in the existing environment”</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“Limited or no available 3rd party fraud intelligence and/or consortium information”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“Limited staff awareness and training on deepfake-related fraud risk”</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Obstacles to Managing AI-Driven Fraud Risk — By Sector and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Within each sector, the mix of obstacles shifts somewhat by region — though several regional cells are thin and should be read directionally, not precisely.</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Q3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are the key obstacles to managing fraud risks created or amplified by advanced and frontier AI capabilities? (Banking vs. Insurance, further broken down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12</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676656"/>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Select all that apply — figures don't sum to 100%.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The % in each category label is the full sector-level figure; stacked region segments are rounded to the nearest whole percent and may sum to within ±1pt of that total. Region sample sizes — Banking: US n=34, Canada n=18, Europe n=12, Australia n=7, Singapore n=4. Insurance: US n=10, Canada n=12, Europe n=2 (both United Kingdom), Australia n=1, Singapore n=0. Banking/Australia, Banking/Singapore, and all Insurance cells outside US/Canada are thin samples and should be read directionally, not precisely.</a:t>
            </a:r>
            <a:endParaRPr lang="en-US" sz="850" dirty="0"/>
          </a:p>
        </p:txBody>
      </p:sp>
      <p:sp>
        <p:nvSpPr>
          <p:cNvPr id="10" name="Text 7"/>
          <p:cNvSpPr txBox="1"/>
          <p:nvPr/>
        </p:nvSpPr>
        <p:spPr>
          <a:xfrm>
            <a:off x="502006" y="5989320"/>
            <a:ext cx="11188598" cy="320040"/>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5000"/>
              </a:lnSpc>
              <a:buNone/>
            </a:pPr>
            <a:r>
              <a:rPr lang="en-US" sz="850" i="1" dirty="0">
                <a:solidFill>
                  <a:srgbClr val="53565A"/>
                </a:solidFill>
                <a:latin typeface="Calibri" pitchFamily="34" charset="0"/>
                <a:ea typeface="Calibri" pitchFamily="34" charset="-122"/>
                <a:cs typeface="Calibri" pitchFamily="34" charset="-120"/>
              </a:rPr>
              <a:t>“Insufficient identity verification or prevention capabilities in the existing environment” · “Lack of fraud detection technology in the existing environment” · “Limited or no available 3rd party fraud intelligence and/or consortium information” · “Limited staff awareness and training on deepfake-related fraud risk”</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86BC25"/>
        </a:solidFill>
      </p:bgPr>
    </p:bg>
    <p:spTree>
      <p:nvGrpSpPr>
        <p:cNvPr id="1" name=""/>
        <p:cNvGrpSpPr/>
        <p:nvPr/>
      </p:nvGrpSpPr>
      <p:grpSpPr>
        <a:xfrm>
          <a:off x="0" y="0"/>
          <a:ext cx="0" cy="0"/>
          <a:chOff x="0" y="0"/>
          <a:chExt cx="0" cy="0"/>
        </a:xfrm>
      </p:grpSpPr>
      <p:sp>
        <p:nvSpPr>
          <p:cNvPr id="2" name="Text 0"/>
          <p:cNvSpPr txBox="1"/>
          <p:nvPr/>
        </p:nvSpPr>
        <p:spPr>
          <a:xfrm>
            <a:off x="502920" y="1699870"/>
            <a:ext cx="10415016" cy="1591970"/>
          </a:xfrm>
          <a:prstGeom prst="rect">
            <a:avLst/>
          </a:prstGeom>
          <a:noFill/>
          <a:ln/>
        </p:spPr>
        <p:txBody>
          <a:bodyPr wrap="square" lIns="0" tIns="0" rIns="0" bIns="0" rtlCol="0" anchor="b"/>
          <a:lstStyle/>
          <a:p>
            <a:pPr algn="l" indent="0" marL="0">
              <a:buNone/>
            </a:pPr>
            <a:r>
              <a:rPr lang="en-US" sz="3600" b="1" dirty="0">
                <a:solidFill>
                  <a:srgbClr val="FFFFFF"/>
                </a:solidFill>
                <a:latin typeface="Calibri" pitchFamily="34" charset="0"/>
                <a:ea typeface="Calibri" pitchFamily="34" charset="-122"/>
                <a:cs typeface="Calibri" pitchFamily="34" charset="-120"/>
              </a:rPr>
              <a:t>2. Fraud Information Sharing</a:t>
            </a:r>
            <a:endParaRPr lang="en-US" sz="3600" dirty="0"/>
          </a:p>
        </p:txBody>
      </p:sp>
      <p:sp>
        <p:nvSpPr>
          <p:cNvPr id="3" name="Text 1"/>
          <p:cNvSpPr txBox="1"/>
          <p:nvPr/>
        </p:nvSpPr>
        <p:spPr>
          <a:xfrm>
            <a:off x="502920" y="3423514"/>
            <a:ext cx="10415016" cy="1563624"/>
          </a:xfrm>
          <a:prstGeom prst="rect">
            <a:avLst/>
          </a:prstGeom>
          <a:noFill/>
          <a:ln/>
        </p:spPr>
        <p:txBody>
          <a:bodyPr wrap="square" lIns="0" tIns="0" rIns="0" bIns="0" rtlCol="0" anchor="t"/>
          <a:lstStyle/>
          <a:p>
            <a:pPr algn="l" indent="0" marL="0">
              <a:lnSpc>
                <a:spcPct val="110000"/>
              </a:lnSpc>
              <a:buNone/>
            </a:pPr>
            <a:r>
              <a:rPr lang="en-US" sz="1600" dirty="0">
                <a:solidFill>
                  <a:srgbClr val="FFFFFF"/>
                </a:solidFill>
                <a:latin typeface="Calibri" pitchFamily="34" charset="0"/>
                <a:ea typeface="Calibri" pitchFamily="34" charset="-122"/>
                <a:cs typeface="Calibri" pitchFamily="34" charset="-120"/>
              </a:rPr>
              <a:t>What's blocking industry-wide information sharing, and what leaders want government to do about it.</a:t>
            </a:r>
            <a:endParaRPr lang="en-US" sz="160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Biggest Barriers to Effective Information Sharing</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What's blocking sharing is structural — messy, inconsistent data even more than legal rules — not unwillingness.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Q5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are the biggest barriers to enable effective fraud information sharing?”</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14</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Ranked top 3 — shown as % of respondents who placed the option anywhere in their top 3 (not mutually exclusive; bars don't sum to 100%).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“Legal, privacy, or regulatory constraints”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“Limited data standardization, poor quality, and different definitions”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“Insufficient budget or resource investment”</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“Lack of external industry participation or collaboration”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“Unclear internal ownership or governance”</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“Difficulty demonstrating ROI or business value”</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Barriers to Effective Information Sharing — Banking, by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The mix shifts by region: legal/regulatory concern peaks in Australia and data quality in Singapore, but both are thin cells.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Q5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are the biggest barriers to enable effective fraud information sharing? (Banking only,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15</a:t>
            </a:r>
            <a:endParaRPr lang="en-US" sz="900" dirty="0"/>
          </a:p>
        </p:txBody>
      </p:sp>
      <p:sp>
        <p:nvSpPr>
          <p:cNvPr id="7" name="Text 5"/>
          <p:cNvSpPr txBox="1"/>
          <p:nvPr/>
        </p:nvSpPr>
        <p:spPr>
          <a:xfrm>
            <a:off x="502006"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United States (n=34)</a:t>
            </a:r>
            <a:endParaRPr lang="en-US" sz="1050" dirty="0"/>
          </a:p>
        </p:txBody>
      </p:sp>
      <p:graphicFrame>
        <p:nvGraphicFramePr>
          <p:cNvPr id="8" name="Chart 0" descr=""/>
          <p:cNvGraphicFramePr/>
          <p:nvPr/>
        </p:nvGraphicFramePr>
        <p:xfrm>
          <a:off x="502006" y="2157984"/>
          <a:ext cx="3595421" cy="1490472"/>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4298594"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Canada (n=18)</a:t>
            </a:r>
            <a:endParaRPr lang="en-US" sz="1050" dirty="0"/>
          </a:p>
        </p:txBody>
      </p:sp>
      <p:graphicFrame>
        <p:nvGraphicFramePr>
          <p:cNvPr id="10" name="Chart 1" descr=""/>
          <p:cNvGraphicFramePr/>
          <p:nvPr/>
        </p:nvGraphicFramePr>
        <p:xfrm>
          <a:off x="4298594" y="2157984"/>
          <a:ext cx="3595421" cy="1490472"/>
        </p:xfrm>
        <a:graphic xmlns:a="http://schemas.openxmlformats.org/drawingml/2006/main">
          <a:graphicData uri="http://schemas.openxmlformats.org/drawingml/2006/chart">
            <c:chart xmlns:c="http://schemas.openxmlformats.org/drawingml/2006/chart" r:id="rId2"/>
          </a:graphicData>
        </a:graphic>
      </p:graphicFrame>
      <p:sp>
        <p:nvSpPr>
          <p:cNvPr id="11" name="Text 7"/>
          <p:cNvSpPr txBox="1"/>
          <p:nvPr/>
        </p:nvSpPr>
        <p:spPr>
          <a:xfrm>
            <a:off x="8095183" y="1920240"/>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Europe (EU + UK) (n=12)</a:t>
            </a:r>
            <a:endParaRPr lang="en-US" sz="1050" dirty="0"/>
          </a:p>
        </p:txBody>
      </p:sp>
      <p:graphicFrame>
        <p:nvGraphicFramePr>
          <p:cNvPr id="12" name="Chart 2" descr=""/>
          <p:cNvGraphicFramePr/>
          <p:nvPr/>
        </p:nvGraphicFramePr>
        <p:xfrm>
          <a:off x="8095183" y="2157984"/>
          <a:ext cx="3595421" cy="1490472"/>
        </p:xfrm>
        <a:graphic xmlns:a="http://schemas.openxmlformats.org/drawingml/2006/main">
          <a:graphicData uri="http://schemas.openxmlformats.org/drawingml/2006/chart">
            <c:chart xmlns:c="http://schemas.openxmlformats.org/drawingml/2006/chart" r:id="rId3"/>
          </a:graphicData>
        </a:graphic>
      </p:graphicFrame>
      <p:sp>
        <p:nvSpPr>
          <p:cNvPr id="13" name="Text 8"/>
          <p:cNvSpPr txBox="1"/>
          <p:nvPr/>
        </p:nvSpPr>
        <p:spPr>
          <a:xfrm>
            <a:off x="502006" y="3849624"/>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Australia (n=7)</a:t>
            </a:r>
            <a:endParaRPr lang="en-US" sz="1050" dirty="0"/>
          </a:p>
        </p:txBody>
      </p:sp>
      <p:graphicFrame>
        <p:nvGraphicFramePr>
          <p:cNvPr id="14" name="Chart 3" descr=""/>
          <p:cNvGraphicFramePr/>
          <p:nvPr/>
        </p:nvGraphicFramePr>
        <p:xfrm>
          <a:off x="502006" y="4087368"/>
          <a:ext cx="3595421" cy="1490472"/>
        </p:xfrm>
        <a:graphic xmlns:a="http://schemas.openxmlformats.org/drawingml/2006/main">
          <a:graphicData uri="http://schemas.openxmlformats.org/drawingml/2006/chart">
            <c:chart xmlns:c="http://schemas.openxmlformats.org/drawingml/2006/chart" r:id="rId4"/>
          </a:graphicData>
        </a:graphic>
      </p:graphicFrame>
      <p:sp>
        <p:nvSpPr>
          <p:cNvPr id="15" name="Text 9"/>
          <p:cNvSpPr txBox="1"/>
          <p:nvPr/>
        </p:nvSpPr>
        <p:spPr>
          <a:xfrm>
            <a:off x="4298594" y="3849624"/>
            <a:ext cx="3595421"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Singapore (n=4)</a:t>
            </a:r>
            <a:endParaRPr lang="en-US" sz="1050" dirty="0"/>
          </a:p>
        </p:txBody>
      </p:sp>
      <p:graphicFrame>
        <p:nvGraphicFramePr>
          <p:cNvPr id="16" name="Chart 4" descr=""/>
          <p:cNvGraphicFramePr/>
          <p:nvPr/>
        </p:nvGraphicFramePr>
        <p:xfrm>
          <a:off x="4298594" y="4087368"/>
          <a:ext cx="3595421" cy="1490472"/>
        </p:xfrm>
        <a:graphic xmlns:a="http://schemas.openxmlformats.org/drawingml/2006/main">
          <a:graphicData uri="http://schemas.openxmlformats.org/drawingml/2006/chart">
            <c:chart xmlns:c="http://schemas.openxmlformats.org/drawingml/2006/chart" r:id="rId5"/>
          </a:graphicData>
        </a:graphic>
      </p:graphicFrame>
      <p:sp>
        <p:nvSpPr>
          <p:cNvPr id="17" name="Shape 10"/>
          <p:cNvSpPr/>
          <p:nvPr/>
        </p:nvSpPr>
        <p:spPr>
          <a:xfrm>
            <a:off x="502006" y="5669280"/>
            <a:ext cx="11188598" cy="0"/>
          </a:xfrm>
          <a:prstGeom prst="line">
            <a:avLst/>
          </a:prstGeom>
          <a:noFill/>
          <a:ln w="9525">
            <a:solidFill>
              <a:srgbClr val="D0D0CE"/>
            </a:solidFill>
            <a:prstDash val="solid"/>
          </a:ln>
        </p:spPr>
      </p:sp>
      <p:sp>
        <p:nvSpPr>
          <p:cNvPr id="18" name="Text 11"/>
          <p:cNvSpPr txBox="1"/>
          <p:nvPr/>
        </p:nvSpPr>
        <p:spPr>
          <a:xfrm>
            <a:off x="502006" y="5724144"/>
            <a:ext cx="11188598" cy="32918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Ranked top 3 — figures don't sum to 100%.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Banking region sample sizes: US n=34, Canada n=18, Europe n=12, Australia n=7, Singapore n=4. Australia and Singapore are thin samples and should be read directionally, not precisely.</a:t>
            </a:r>
            <a:endParaRPr lang="en-US" sz="850" dirty="0"/>
          </a:p>
        </p:txBody>
      </p:sp>
      <p:sp>
        <p:nvSpPr>
          <p:cNvPr id="19" name="Text 12"/>
          <p:cNvSpPr txBox="1"/>
          <p:nvPr/>
        </p:nvSpPr>
        <p:spPr>
          <a:xfrm>
            <a:off x="502006" y="6053328"/>
            <a:ext cx="11188598" cy="384048"/>
          </a:xfrm>
          <a:prstGeom prst="rect">
            <a:avLst/>
          </a:prstGeom>
          <a:noFill/>
          <a:ln/>
        </p:spPr>
        <p:txBody>
          <a:bodyPr wrap="square" lIns="0" tIns="0" rIns="0" bIns="0" rtlCol="0" anchor="t"/>
          <a:lstStyle/>
          <a:p>
            <a:pPr algn="l" indent="0" marL="0">
              <a:lnSpc>
                <a:spcPct val="108000"/>
              </a:lnSpc>
              <a:buNone/>
            </a:pPr>
            <a:r>
              <a:rPr lang="en-US" sz="800" b="1" dirty="0">
                <a:solidFill>
                  <a:srgbClr val="53565A"/>
                </a:solidFill>
                <a:latin typeface="Calibri" pitchFamily="34" charset="0"/>
                <a:ea typeface="Calibri" pitchFamily="34" charset="-122"/>
                <a:cs typeface="Calibri" pitchFamily="34" charset="-120"/>
              </a:rPr>
              <a:t>Response options as fielded: </a:t>
            </a:r>
            <a:pPr algn="l" indent="0" marL="0">
              <a:lnSpc>
                <a:spcPct val="108000"/>
              </a:lnSpc>
              <a:buNone/>
            </a:pPr>
            <a:r>
              <a:rPr lang="en-US" sz="750" i="1" dirty="0">
                <a:solidFill>
                  <a:srgbClr val="53565A"/>
                </a:solidFill>
                <a:latin typeface="Calibri" pitchFamily="34" charset="0"/>
                <a:ea typeface="Calibri" pitchFamily="34" charset="-122"/>
                <a:cs typeface="Calibri" pitchFamily="34" charset="-120"/>
              </a:rPr>
              <a:t>“Legal, privacy, or regulatory constraints”  ·  “Limited data standardization, poor quality, and different definitions”  ·  “Insufficient budget or resource investment”  ·  “Lack of external industry participation or collaboration”  ·  “Unclear internal ownership or governance”  ·  “Difficulty demonstrating ROI or business value”</a:t>
            </a:r>
            <a:endParaRPr lang="en-US" sz="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Barriers to Effective Information Sharing — Insurance, by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U.S. carriers cite legal/regulatory constraints almost universally; Canada spreads more evenly across all six barriers.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Q5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are the biggest barriers to enable effective fraud information sharing? (Insurance only,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16</a:t>
            </a:r>
            <a:endParaRPr lang="en-US" sz="900" dirty="0"/>
          </a:p>
        </p:txBody>
      </p:sp>
      <p:sp>
        <p:nvSpPr>
          <p:cNvPr id="7" name="Text 5"/>
          <p:cNvSpPr txBox="1"/>
          <p:nvPr/>
        </p:nvSpPr>
        <p:spPr>
          <a:xfrm>
            <a:off x="502006" y="1920240"/>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United States (n=10)</a:t>
            </a:r>
            <a:endParaRPr lang="en-US" sz="1050" dirty="0"/>
          </a:p>
        </p:txBody>
      </p:sp>
      <p:graphicFrame>
        <p:nvGraphicFramePr>
          <p:cNvPr id="8" name="Chart 0" descr=""/>
          <p:cNvGraphicFramePr/>
          <p:nvPr/>
        </p:nvGraphicFramePr>
        <p:xfrm>
          <a:off x="502006" y="2157984"/>
          <a:ext cx="5493715" cy="1490472"/>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6196889" y="1920240"/>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Canada (n=12)</a:t>
            </a:r>
            <a:endParaRPr lang="en-US" sz="1050" dirty="0"/>
          </a:p>
        </p:txBody>
      </p:sp>
      <p:graphicFrame>
        <p:nvGraphicFramePr>
          <p:cNvPr id="10" name="Chart 1" descr=""/>
          <p:cNvGraphicFramePr/>
          <p:nvPr/>
        </p:nvGraphicFramePr>
        <p:xfrm>
          <a:off x="6196889" y="2157984"/>
          <a:ext cx="5493715" cy="1490472"/>
        </p:xfrm>
        <a:graphic xmlns:a="http://schemas.openxmlformats.org/drawingml/2006/main">
          <a:graphicData uri="http://schemas.openxmlformats.org/drawingml/2006/chart">
            <c:chart xmlns:c="http://schemas.openxmlformats.org/drawingml/2006/chart" r:id="rId2"/>
          </a:graphicData>
        </a:graphic>
      </p:graphicFrame>
      <p:sp>
        <p:nvSpPr>
          <p:cNvPr id="11" name="Text 7"/>
          <p:cNvSpPr txBox="1"/>
          <p:nvPr/>
        </p:nvSpPr>
        <p:spPr>
          <a:xfrm>
            <a:off x="502006" y="3849624"/>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Europe (EU + UK) (n=2)</a:t>
            </a:r>
            <a:endParaRPr lang="en-US" sz="1050" dirty="0"/>
          </a:p>
        </p:txBody>
      </p:sp>
      <p:graphicFrame>
        <p:nvGraphicFramePr>
          <p:cNvPr id="12" name="Chart 2" descr=""/>
          <p:cNvGraphicFramePr/>
          <p:nvPr/>
        </p:nvGraphicFramePr>
        <p:xfrm>
          <a:off x="502006" y="4087368"/>
          <a:ext cx="5493715" cy="1490472"/>
        </p:xfrm>
        <a:graphic xmlns:a="http://schemas.openxmlformats.org/drawingml/2006/main">
          <a:graphicData uri="http://schemas.openxmlformats.org/drawingml/2006/chart">
            <c:chart xmlns:c="http://schemas.openxmlformats.org/drawingml/2006/chart" r:id="rId3"/>
          </a:graphicData>
        </a:graphic>
      </p:graphicFrame>
      <p:sp>
        <p:nvSpPr>
          <p:cNvPr id="13" name="Text 8"/>
          <p:cNvSpPr txBox="1"/>
          <p:nvPr/>
        </p:nvSpPr>
        <p:spPr>
          <a:xfrm>
            <a:off x="6196889" y="3849624"/>
            <a:ext cx="5493715" cy="219456"/>
          </a:xfrm>
          <a:prstGeom prst="rect">
            <a:avLst/>
          </a:prstGeom>
          <a:noFill/>
          <a:ln/>
        </p:spPr>
        <p:txBody>
          <a:bodyPr wrap="square" lIns="0" tIns="0" rIns="0" bIns="0" rtlCol="0" anchor="ctr"/>
          <a:lstStyle/>
          <a:p>
            <a:pPr algn="ctr" indent="0" marL="0">
              <a:buNone/>
            </a:pPr>
            <a:r>
              <a:rPr lang="en-US" sz="1050" b="1" dirty="0">
                <a:solidFill>
                  <a:srgbClr val="000000"/>
                </a:solidFill>
                <a:latin typeface="Calibri" pitchFamily="34" charset="0"/>
                <a:ea typeface="Calibri" pitchFamily="34" charset="-122"/>
                <a:cs typeface="Calibri" pitchFamily="34" charset="-120"/>
              </a:rPr>
              <a:t>Australia (n=1)</a:t>
            </a:r>
            <a:endParaRPr lang="en-US" sz="1050" dirty="0"/>
          </a:p>
        </p:txBody>
      </p:sp>
      <p:graphicFrame>
        <p:nvGraphicFramePr>
          <p:cNvPr id="14" name="Chart 3" descr=""/>
          <p:cNvGraphicFramePr/>
          <p:nvPr/>
        </p:nvGraphicFramePr>
        <p:xfrm>
          <a:off x="6196889" y="4087368"/>
          <a:ext cx="5493715" cy="1490472"/>
        </p:xfrm>
        <a:graphic xmlns:a="http://schemas.openxmlformats.org/drawingml/2006/main">
          <a:graphicData uri="http://schemas.openxmlformats.org/drawingml/2006/chart">
            <c:chart xmlns:c="http://schemas.openxmlformats.org/drawingml/2006/chart" r:id="rId4"/>
          </a:graphicData>
        </a:graphic>
      </p:graphicFrame>
      <p:sp>
        <p:nvSpPr>
          <p:cNvPr id="15" name="Shape 9"/>
          <p:cNvSpPr/>
          <p:nvPr/>
        </p:nvSpPr>
        <p:spPr>
          <a:xfrm>
            <a:off x="502006" y="5669280"/>
            <a:ext cx="11188598" cy="0"/>
          </a:xfrm>
          <a:prstGeom prst="line">
            <a:avLst/>
          </a:prstGeom>
          <a:noFill/>
          <a:ln w="9525">
            <a:solidFill>
              <a:srgbClr val="D0D0CE"/>
            </a:solidFill>
            <a:prstDash val="solid"/>
          </a:ln>
        </p:spPr>
      </p:sp>
      <p:sp>
        <p:nvSpPr>
          <p:cNvPr id="16" name="Text 10"/>
          <p:cNvSpPr txBox="1"/>
          <p:nvPr/>
        </p:nvSpPr>
        <p:spPr>
          <a:xfrm>
            <a:off x="502006" y="5724144"/>
            <a:ext cx="11188598" cy="32918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Ranked top 3 — figures don't sum to 100%.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Insurance region sample sizes: US n=10, Canada n=12, Europe n=2 (both United Kingdom), Australia n=1. Insurance had zero Singapore respondents, so that panel is omitted. Europe and Australia are extremely thin (1–2 respondents) and shown for completeness, not statistical reliability.</a:t>
            </a:r>
            <a:endParaRPr lang="en-US" sz="850" dirty="0"/>
          </a:p>
        </p:txBody>
      </p:sp>
      <p:sp>
        <p:nvSpPr>
          <p:cNvPr id="17" name="Text 11"/>
          <p:cNvSpPr txBox="1"/>
          <p:nvPr/>
        </p:nvSpPr>
        <p:spPr>
          <a:xfrm>
            <a:off x="502006" y="6053328"/>
            <a:ext cx="11188598" cy="384048"/>
          </a:xfrm>
          <a:prstGeom prst="rect">
            <a:avLst/>
          </a:prstGeom>
          <a:noFill/>
          <a:ln/>
        </p:spPr>
        <p:txBody>
          <a:bodyPr wrap="square" lIns="0" tIns="0" rIns="0" bIns="0" rtlCol="0" anchor="t"/>
          <a:lstStyle/>
          <a:p>
            <a:pPr algn="l" indent="0" marL="0">
              <a:lnSpc>
                <a:spcPct val="108000"/>
              </a:lnSpc>
              <a:buNone/>
            </a:pPr>
            <a:r>
              <a:rPr lang="en-US" sz="800" b="1" dirty="0">
                <a:solidFill>
                  <a:srgbClr val="53565A"/>
                </a:solidFill>
                <a:latin typeface="Calibri" pitchFamily="34" charset="0"/>
                <a:ea typeface="Calibri" pitchFamily="34" charset="-122"/>
                <a:cs typeface="Calibri" pitchFamily="34" charset="-120"/>
              </a:rPr>
              <a:t>Response options as fielded: </a:t>
            </a:r>
            <a:pPr algn="l" indent="0" marL="0">
              <a:lnSpc>
                <a:spcPct val="108000"/>
              </a:lnSpc>
              <a:buNone/>
            </a:pPr>
            <a:r>
              <a:rPr lang="en-US" sz="750" i="1" dirty="0">
                <a:solidFill>
                  <a:srgbClr val="53565A"/>
                </a:solidFill>
                <a:latin typeface="Calibri" pitchFamily="34" charset="0"/>
                <a:ea typeface="Calibri" pitchFamily="34" charset="-122"/>
                <a:cs typeface="Calibri" pitchFamily="34" charset="-120"/>
              </a:rPr>
              <a:t>“Legal, privacy, or regulatory constraints”  ·  “Limited data standardization, poor quality, and different definitions”  ·  “Insufficient budget or resource investment”  ·  “Lack of external industry participation or collaboration”  ·  “Unclear internal ownership or governance”  ·  “Difficulty demonstrating ROI or business value”</a:t>
            </a:r>
            <a:endParaRPr lang="en-US" sz="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Government Action With the Greatest Impact on Info Sharing</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Leaders want government to build shared infrastructure, not just pass new laws.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Q4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government action would have or has had the greatest impact on enabling more effective fraud information sharing?”</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17</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“Establish clearer legal and regulatory frameworks for information sharing”</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“Develop common data standards and definitions”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“Create a centralized fraud information-sharing platform or utility”</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“Facilitate greater public-private collaboration and coordination”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“Provide funding or incentives to support participation”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“Identify and prioritize industry use cases for fraud information sharing”</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Top Government Action for Info Sharing — By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A centralized platform or utility remains a leading choice in almost every market, though priorities shift somewhat by region.</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Q4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government action would have or has had the greatest impact on enabling more effective fraud information sharing? (by region, all respondents)”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18</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 % shown is each region's share of the full 100-respondent sample, so segments sum to the overall figure in each category label. Australia (n=8) and Singapore (n=4) are thin samples, shown directionally.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“Establish clearer legal and regulatory frameworks for information sharing”</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“Develop common data standards and definitions”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“Create a centralized fraud information-sharing platform or utility”</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“Facilitate greater public-private collaboration and coordination”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“Provide funding or incentives to support participation”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“Identify and prioritize industry use cases for fraud information sharing”</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86BC25"/>
        </a:solidFill>
      </p:bgPr>
    </p:bg>
    <p:spTree>
      <p:nvGrpSpPr>
        <p:cNvPr id="1" name=""/>
        <p:cNvGrpSpPr/>
        <p:nvPr/>
      </p:nvGrpSpPr>
      <p:grpSpPr>
        <a:xfrm>
          <a:off x="0" y="0"/>
          <a:ext cx="0" cy="0"/>
          <a:chOff x="0" y="0"/>
          <a:chExt cx="0" cy="0"/>
        </a:xfrm>
      </p:grpSpPr>
      <p:sp>
        <p:nvSpPr>
          <p:cNvPr id="2" name="Text 0"/>
          <p:cNvSpPr txBox="1"/>
          <p:nvPr/>
        </p:nvSpPr>
        <p:spPr>
          <a:xfrm>
            <a:off x="502920" y="1699870"/>
            <a:ext cx="10415016" cy="1591970"/>
          </a:xfrm>
          <a:prstGeom prst="rect">
            <a:avLst/>
          </a:prstGeom>
          <a:noFill/>
          <a:ln/>
        </p:spPr>
        <p:txBody>
          <a:bodyPr wrap="square" lIns="0" tIns="0" rIns="0" bIns="0" rtlCol="0" anchor="b"/>
          <a:lstStyle/>
          <a:p>
            <a:pPr algn="l" indent="0" marL="0">
              <a:buNone/>
            </a:pPr>
            <a:r>
              <a:rPr lang="en-US" sz="3600" b="1" dirty="0">
                <a:solidFill>
                  <a:srgbClr val="FFFFFF"/>
                </a:solidFill>
                <a:latin typeface="Calibri" pitchFamily="34" charset="0"/>
                <a:ea typeface="Calibri" pitchFamily="34" charset="-122"/>
                <a:cs typeface="Calibri" pitchFamily="34" charset="-120"/>
              </a:rPr>
              <a:t>3. Third-Party Fraud Risk</a:t>
            </a:r>
            <a:endParaRPr lang="en-US" sz="3600" dirty="0"/>
          </a:p>
        </p:txBody>
      </p:sp>
      <p:sp>
        <p:nvSpPr>
          <p:cNvPr id="3" name="Text 1"/>
          <p:cNvSpPr txBox="1"/>
          <p:nvPr/>
        </p:nvSpPr>
        <p:spPr>
          <a:xfrm>
            <a:off x="502920" y="3423514"/>
            <a:ext cx="10415016" cy="1563624"/>
          </a:xfrm>
          <a:prstGeom prst="rect">
            <a:avLst/>
          </a:prstGeom>
          <a:noFill/>
          <a:ln/>
        </p:spPr>
        <p:txBody>
          <a:bodyPr wrap="square" lIns="0" tIns="0" rIns="0" bIns="0" rtlCol="0" anchor="t"/>
          <a:lstStyle/>
          <a:p>
            <a:pPr algn="l" indent="0" marL="0">
              <a:lnSpc>
                <a:spcPct val="110000"/>
              </a:lnSpc>
              <a:buNone/>
            </a:pPr>
            <a:r>
              <a:rPr lang="en-US" sz="1600" dirty="0">
                <a:solidFill>
                  <a:srgbClr val="FFFFFF"/>
                </a:solidFill>
                <a:latin typeface="Calibri" pitchFamily="34" charset="0"/>
                <a:ea typeface="Calibri" pitchFamily="34" charset="-122"/>
                <a:cs typeface="Calibri" pitchFamily="34" charset="-120"/>
              </a:rPr>
              <a:t>Which external parties present the greatest exposure — and it splits sharply by sector.</a:t>
            </a:r>
            <a:endParaRPr lang="en-US" sz="160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Greatest Third-Party Fraud Risk Exposure, by Sector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Banks and insurers face very different third-party risks — one fix won't work for both.</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Q6a / Q6b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external party currently presents the greatest fraud risk exposure to your organization? (asked separately of Banking and Insurance respondents)”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20</a:t>
            </a:r>
            <a:endParaRPr lang="en-US" sz="900" dirty="0"/>
          </a:p>
        </p:txBody>
      </p:sp>
      <p:sp>
        <p:nvSpPr>
          <p:cNvPr id="7" name="Text 5"/>
          <p:cNvSpPr txBox="1"/>
          <p:nvPr/>
        </p:nvSpPr>
        <p:spPr>
          <a:xfrm>
            <a:off x="502006"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Banking (n=75)</a:t>
            </a:r>
            <a:endParaRPr lang="en-US" sz="1150" dirty="0"/>
          </a:p>
        </p:txBody>
      </p:sp>
      <p:graphicFrame>
        <p:nvGraphicFramePr>
          <p:cNvPr id="8" name="Chart 0" descr=""/>
          <p:cNvGraphicFramePr/>
          <p:nvPr/>
        </p:nvGraphicFramePr>
        <p:xfrm>
          <a:off x="502006" y="2267712"/>
          <a:ext cx="5486400" cy="2743200"/>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6172200"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Insurance (n=25)</a:t>
            </a:r>
            <a:endParaRPr lang="en-US" sz="1150" dirty="0"/>
          </a:p>
        </p:txBody>
      </p:sp>
      <p:graphicFrame>
        <p:nvGraphicFramePr>
          <p:cNvPr id="10" name="Chart 1" descr=""/>
          <p:cNvGraphicFramePr/>
          <p:nvPr/>
        </p:nvGraphicFramePr>
        <p:xfrm>
          <a:off x="6172200" y="2267712"/>
          <a:ext cx="5486400" cy="2743200"/>
        </p:xfrm>
        <a:graphic xmlns:a="http://schemas.openxmlformats.org/drawingml/2006/main">
          <a:graphicData uri="http://schemas.openxmlformats.org/drawingml/2006/chart">
            <c:chart xmlns:c="http://schemas.openxmlformats.org/drawingml/2006/chart" r:id="rId2"/>
          </a:graphicData>
        </a:graphic>
      </p:graphicFrame>
      <p:sp>
        <p:nvSpPr>
          <p:cNvPr id="11" name="Shape 7"/>
          <p:cNvSpPr/>
          <p:nvPr/>
        </p:nvSpPr>
        <p:spPr>
          <a:xfrm>
            <a:off x="502006" y="5120640"/>
            <a:ext cx="11188598" cy="0"/>
          </a:xfrm>
          <a:prstGeom prst="line">
            <a:avLst/>
          </a:prstGeom>
          <a:noFill/>
          <a:ln w="9525">
            <a:solidFill>
              <a:srgbClr val="D0D0CE"/>
            </a:solidFill>
            <a:prstDash val="solid"/>
          </a:ln>
        </p:spPr>
      </p:sp>
      <p:sp>
        <p:nvSpPr>
          <p:cNvPr id="12" name="Text 8"/>
          <p:cNvSpPr txBox="1"/>
          <p:nvPr/>
        </p:nvSpPr>
        <p:spPr>
          <a:xfrm>
            <a:off x="502006" y="5193792"/>
            <a:ext cx="11188598" cy="914400"/>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 </a:t>
            </a:r>
            <a:pPr algn="l" indent="0" marL="0">
              <a:lnSpc>
                <a:spcPct val="118000"/>
              </a:lnSpc>
              <a:buNone/>
            </a:pPr>
            <a:r>
              <a:rPr lang="en-US" sz="850" b="1" dirty="0">
                <a:solidFill>
                  <a:srgbClr val="046A38"/>
                </a:solidFill>
                <a:latin typeface="Calibri" pitchFamily="34" charset="0"/>
                <a:ea typeface="Calibri" pitchFamily="34" charset="-122"/>
                <a:cs typeface="Calibri" pitchFamily="34" charset="-120"/>
              </a:rPr>
              <a:t>Q6a Banking: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Mortgage brokers · Merchants · Fintech Partners · Dealers &amp; Indirect Lending Partners · Business &amp; Commercial Clients · Appraisers</a:t>
            </a:r>
            <a:pPr algn="l" indent="0" marL="0">
              <a:lnSpc>
                <a:spcPct val="118000"/>
              </a:lnSpc>
              <a:buNone/>
            </a:pPr>
            <a:r>
              <a:rPr lang="en-US" sz="850" b="1" dirty="0">
                <a:solidFill>
                  <a:srgbClr val="046A38"/>
                </a:solidFill>
                <a:latin typeface="Calibri" pitchFamily="34" charset="0"/>
                <a:ea typeface="Calibri" pitchFamily="34" charset="-122"/>
                <a:cs typeface="Calibri" pitchFamily="34" charset="-120"/>
              </a:rPr>
              <a:t>  ·  Q6b Insurance: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Brokers and distribution partners · Health care providers · Automotive service providers · Legal representatives and paralegals · Third-party administrators (TPAs) · Property claims service providers</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Strategy Expected to Most Reduce Third-Party Risk</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Leaders would rather get smarter about spotting risk than tighten the front door.</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Q7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strategy is expected to have the greatest impact on reducing third-party fraud risk over the next three years?”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21</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“Strengthen onboarding verification and due diligence controls”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“Enhance ongoing monitoring and detection (e.g., surveillance, analytics, anomaly detection)”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“Increase information sharing and intelligence across onboarding and ongoing monitoring”</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“Strengthen third-party oversight and accountability (e.g., annual review, standards, performance monitoring)”</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Strategy to Reduce Third-Party Risk — By Sector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Banking leans toward intelligence-sharing; Insurance is split evenly between monitoring and oversight.</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Q7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strategy is expected to have the greatest impact on reducing third-party fraud risk over the next three years? (Banking vs. Insurance)”</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22</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“Strengthen onboarding verification and due diligence controls”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“Enhance ongoing monitoring and detection (e.g., surveillance, analytics, anomaly detection)”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“Increase information sharing and intelligence across onboarding and ongoing monitoring”</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“Strengthen third-party oversight and accountability (e.g., annual review, standards, performance monitoring)”</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Strategy to Reduce Third-Party Risk — By Sector and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Within each sector, the preferred strategy shifts somewhat by region — though several regional cells are thin and should be read directionally, not precisely.</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Q7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strategy is expected to have the greatest impact on reducing third-party fraud risk over the next three years? (Banking vs. Insurance, further broken down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23</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676656"/>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The % in each category label is the full sector-level figure; stacked region segments are rounded to the nearest whole percent and may sum to within ±1pt of that total. Region sample sizes — Banking: US n=34, Canada n=18, Europe n=12, Australia n=7, Singapore n=4. Insurance: US n=10, Canada n=12, Europe n=2 (both United Kingdom), Australia n=1, Singapore n=0. Banking/Australia, Banking/Singapore, and all Insurance cells outside US/Canada are thin samples and should be read directionally, not precisely.</a:t>
            </a:r>
            <a:endParaRPr lang="en-US" sz="850" dirty="0"/>
          </a:p>
        </p:txBody>
      </p:sp>
      <p:sp>
        <p:nvSpPr>
          <p:cNvPr id="10" name="Text 7"/>
          <p:cNvSpPr txBox="1"/>
          <p:nvPr/>
        </p:nvSpPr>
        <p:spPr>
          <a:xfrm>
            <a:off x="502006" y="5971032"/>
            <a:ext cx="11188598" cy="438912"/>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0000"/>
              </a:lnSpc>
              <a:buNone/>
            </a:pPr>
            <a:r>
              <a:rPr lang="en-US" sz="800" i="1" dirty="0">
                <a:solidFill>
                  <a:srgbClr val="53565A"/>
                </a:solidFill>
                <a:latin typeface="Calibri" pitchFamily="34" charset="0"/>
                <a:ea typeface="Calibri" pitchFamily="34" charset="-122"/>
                <a:cs typeface="Calibri" pitchFamily="34" charset="-120"/>
              </a:rPr>
              <a:t>“Strengthen onboarding verification and due diligence controls” · “Enhance ongoing monitoring and detection (e.g., surveillance, analytics, anomaly detection)” · “Increase information sharing and intelligence across onboarding and ongoing monitoring” · “Strengthen third-party oversight and accountability (e.g., annual review, standards, performance monitoring)”</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86BC25"/>
        </a:solidFill>
      </p:bgPr>
    </p:bg>
    <p:spTree>
      <p:nvGrpSpPr>
        <p:cNvPr id="1" name=""/>
        <p:cNvGrpSpPr/>
        <p:nvPr/>
      </p:nvGrpSpPr>
      <p:grpSpPr>
        <a:xfrm>
          <a:off x="0" y="0"/>
          <a:ext cx="0" cy="0"/>
          <a:chOff x="0" y="0"/>
          <a:chExt cx="0" cy="0"/>
        </a:xfrm>
      </p:grpSpPr>
      <p:sp>
        <p:nvSpPr>
          <p:cNvPr id="2" name="Text 0"/>
          <p:cNvSpPr txBox="1"/>
          <p:nvPr/>
        </p:nvSpPr>
        <p:spPr>
          <a:xfrm>
            <a:off x="502920" y="1699870"/>
            <a:ext cx="10415016" cy="1591970"/>
          </a:xfrm>
          <a:prstGeom prst="rect">
            <a:avLst/>
          </a:prstGeom>
          <a:noFill/>
          <a:ln/>
        </p:spPr>
        <p:txBody>
          <a:bodyPr wrap="square" lIns="0" tIns="0" rIns="0" bIns="0" rtlCol="0" anchor="b"/>
          <a:lstStyle/>
          <a:p>
            <a:pPr algn="l" indent="0" marL="0">
              <a:buNone/>
            </a:pPr>
            <a:r>
              <a:rPr lang="en-US" sz="3600" b="1" dirty="0">
                <a:solidFill>
                  <a:srgbClr val="FFFFFF"/>
                </a:solidFill>
                <a:latin typeface="Calibri" pitchFamily="34" charset="0"/>
                <a:ea typeface="Calibri" pitchFamily="34" charset="-122"/>
                <a:cs typeface="Calibri" pitchFamily="34" charset="-120"/>
              </a:rPr>
              <a:t>4. Operating Model Transformation</a:t>
            </a:r>
            <a:endParaRPr lang="en-US" sz="3600" dirty="0"/>
          </a:p>
        </p:txBody>
      </p:sp>
      <p:sp>
        <p:nvSpPr>
          <p:cNvPr id="3" name="Text 1"/>
          <p:cNvSpPr txBox="1"/>
          <p:nvPr/>
        </p:nvSpPr>
        <p:spPr>
          <a:xfrm>
            <a:off x="502920" y="3423514"/>
            <a:ext cx="10415016" cy="1563624"/>
          </a:xfrm>
          <a:prstGeom prst="rect">
            <a:avLst/>
          </a:prstGeom>
          <a:noFill/>
          <a:ln/>
        </p:spPr>
        <p:txBody>
          <a:bodyPr wrap="square" lIns="0" tIns="0" rIns="0" bIns="0" rtlCol="0" anchor="t"/>
          <a:lstStyle/>
          <a:p>
            <a:pPr algn="l" indent="0" marL="0">
              <a:lnSpc>
                <a:spcPct val="110000"/>
              </a:lnSpc>
              <a:buNone/>
            </a:pPr>
            <a:r>
              <a:rPr lang="en-US" sz="1600" dirty="0">
                <a:solidFill>
                  <a:srgbClr val="FFFFFF"/>
                </a:solidFill>
                <a:latin typeface="Calibri" pitchFamily="34" charset="0"/>
                <a:ea typeface="Calibri" pitchFamily="34" charset="-122"/>
                <a:cs typeface="Calibri" pitchFamily="34" charset="-120"/>
              </a:rPr>
              <a:t>Self-reported program maturity, and how the mix of scaling levers shifts over the next 3 years.</a:t>
            </a:r>
            <a:endParaRPr lang="en-US" sz="160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Self-Reported Fraud Program Maturity — By Sector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82% self-rate “Integrated” or “Advanced” overall — but Banking clusters at Integrated while Insurance skews further, to Advanced.</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the current maturity of your organization's fraud program? (Banking vs. Insurance)”</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25</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 low → high maturity.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“Reactive: Primarily incident-driven”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“Foundational: Controls established within individual business units”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“Managed: Enterprise standards and governance are in place”</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“Integrated: Data, analytics, and operations are integrated across major fraud types”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“Advanced: Predictive intelligence and ecosystem collaboration are embedded”</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Fraud Program Maturity — By Sector and Institution Tier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Within each sector, maturity skews somewhat by institution tier — top-tier institutions lean more Advanced, particularly in Insurance.</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the current maturity of your organization's fraud program? (Banking vs. Insurance, further broken down by institution tier)”</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26</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685800"/>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Single select · low → high maturity.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The % in each category label is the full sector-level figure; tier segments are rounded to the nearest whole percent. Institution tier is based on newS8 (Banking) / S9 (Insurance); 5 Banking and 1 Insurance respondent who did not directly answer that question were classified from their employer description elsewhere in the survey (Top 100 and Large Insurance Carrier, respectively) — Banking Top 100 is n=40 (35 direct + 5 reclassified) and Insurance Large is n=10 (9 direct + 1 reclassified).</a:t>
            </a:r>
            <a:endParaRPr lang="en-US" sz="850" dirty="0"/>
          </a:p>
        </p:txBody>
      </p:sp>
      <p:sp>
        <p:nvSpPr>
          <p:cNvPr id="10" name="Text 7"/>
          <p:cNvSpPr txBox="1"/>
          <p:nvPr/>
        </p:nvSpPr>
        <p:spPr>
          <a:xfrm>
            <a:off x="502006" y="5980176"/>
            <a:ext cx="11188598" cy="365760"/>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0000"/>
              </a:lnSpc>
              <a:buNone/>
            </a:pPr>
            <a:r>
              <a:rPr lang="en-US" sz="800" i="1" dirty="0">
                <a:solidFill>
                  <a:srgbClr val="53565A"/>
                </a:solidFill>
                <a:latin typeface="Calibri" pitchFamily="34" charset="0"/>
                <a:ea typeface="Calibri" pitchFamily="34" charset="-122"/>
                <a:cs typeface="Calibri" pitchFamily="34" charset="-120"/>
              </a:rPr>
              <a:t>“Reactive: Primarily incident-driven” · “Foundational: Controls established within individual business units” · “Managed: Enterprise standards and governance are in place” · “Integrated: Data, analytics, and operations are integrated across major fraud types” · “Advanced: Predictive intelligence and ecosystem collaboration are embedded”</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Fraud Program Maturity — Banking, by Institution Tier and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Top 100 institutions lean more Advanced across most regions; Large institutions cluster more heavily at Integrated.</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the current maturity of your organization's fraud program? (Banking only, Top 100 vs. Large institution, further broken down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27</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777240"/>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Single select · low → high maturity.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The % in each category label is the full tier-level figure (Top 100 n=40, Large n=35); region segments are rounded to the nearest whole percent. Region sample sizes — Top 100: US n=14, Canada n=13, Europe n=7, Australia n=4, Singapore n=2. Large: US n=20, Canada n=5, Europe n=5, Australia n=3, Singapore n=2. Australia and Singapore are thin samples shown directionally. Top 100 includes 5 respondents reclassified from their employer description elsewhere in the survey (see previous slide).</a:t>
            </a:r>
            <a:endParaRPr lang="en-US" sz="850" dirty="0"/>
          </a:p>
        </p:txBody>
      </p:sp>
      <p:sp>
        <p:nvSpPr>
          <p:cNvPr id="10" name="Text 7"/>
          <p:cNvSpPr txBox="1"/>
          <p:nvPr/>
        </p:nvSpPr>
        <p:spPr>
          <a:xfrm>
            <a:off x="502006" y="6071616"/>
            <a:ext cx="11188598" cy="365760"/>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0000"/>
              </a:lnSpc>
              <a:buNone/>
            </a:pPr>
            <a:r>
              <a:rPr lang="en-US" sz="800" i="1" dirty="0">
                <a:solidFill>
                  <a:srgbClr val="53565A"/>
                </a:solidFill>
                <a:latin typeface="Calibri" pitchFamily="34" charset="0"/>
                <a:ea typeface="Calibri" pitchFamily="34" charset="-122"/>
                <a:cs typeface="Calibri" pitchFamily="34" charset="-120"/>
              </a:rPr>
              <a:t>“Reactive: Primarily incident-driven” · “Foundational: Controls established within individual business units” · “Managed: Enterprise standards and governance are in place” · “Integrated: Data, analytics, and operations are integrated across major fraud types” · “Advanced: Predictive intelligence and ecosystem collaboration are embedded”</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Fraud Program Maturity — Insurance, by Institution Tier and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Within Insurance, Large carriers show a wider spread across maturity levels than Top 50 carriers — though the regional cut here is thin.</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the current maturity of your organization's fraud program? (Insurance only, Top 50 vs. Large carrier, further broken down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28</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777240"/>
          </a:xfrm>
          <a:prstGeom prst="rect">
            <a:avLst/>
          </a:prstGeom>
          <a:noFill/>
          <a:ln/>
        </p:spPr>
        <p:txBody>
          <a:bodyPr wrap="square" lIns="0" tIns="0" rIns="0" bIns="0" rtlCol="0" anchor="t"/>
          <a:lstStyle/>
          <a:p>
            <a:pPr algn="l" indent="0" marL="0">
              <a:lnSpc>
                <a:spcPct val="108000"/>
              </a:lnSpc>
              <a:buNone/>
            </a:pPr>
            <a:r>
              <a:rPr lang="en-US" sz="850" b="1" dirty="0">
                <a:solidFill>
                  <a:srgbClr val="53565A"/>
                </a:solidFill>
                <a:latin typeface="Calibri" pitchFamily="34" charset="0"/>
                <a:ea typeface="Calibri" pitchFamily="34" charset="-122"/>
                <a:cs typeface="Calibri" pitchFamily="34" charset="-120"/>
              </a:rPr>
              <a:t>Single select · low → high maturity. </a:t>
            </a:r>
            <a:pPr algn="l" indent="0" marL="0">
              <a:lnSpc>
                <a:spcPct val="108000"/>
              </a:lnSpc>
              <a:buNone/>
            </a:pPr>
            <a:r>
              <a:rPr lang="en-US" sz="850" dirty="0">
                <a:solidFill>
                  <a:srgbClr val="53565A"/>
                </a:solidFill>
                <a:latin typeface="Calibri" pitchFamily="34" charset="0"/>
                <a:ea typeface="Calibri" pitchFamily="34" charset="-122"/>
                <a:cs typeface="Calibri" pitchFamily="34" charset="-120"/>
              </a:rPr>
              <a:t>The % in each category label is the full tier-level figure; region segments are rounded to the nearest whole percent. Region sample sizes — Top 50: US n=7, Canada n=6, Europe n=1, Australia n=1. Large: US n=3, Canada n=6, Europe n=1 (no Australia; neither tier has Singapore respondents). Europe and Australia cells are extremely thin — each is a single UK/Australian respondent — shown for completeness, not statistical reliability. Large includes 1 respondent (Canada) reclassified from their employer description elsewhere in the survey (see the sector x tier slide).</a:t>
            </a:r>
            <a:endParaRPr lang="en-US" sz="850" dirty="0"/>
          </a:p>
        </p:txBody>
      </p:sp>
      <p:sp>
        <p:nvSpPr>
          <p:cNvPr id="10" name="Text 7"/>
          <p:cNvSpPr txBox="1"/>
          <p:nvPr/>
        </p:nvSpPr>
        <p:spPr>
          <a:xfrm>
            <a:off x="502006" y="6071616"/>
            <a:ext cx="11188598" cy="347472"/>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0000"/>
              </a:lnSpc>
              <a:buNone/>
            </a:pPr>
            <a:r>
              <a:rPr lang="en-US" sz="800" i="1" dirty="0">
                <a:solidFill>
                  <a:srgbClr val="53565A"/>
                </a:solidFill>
                <a:latin typeface="Calibri" pitchFamily="34" charset="0"/>
                <a:ea typeface="Calibri" pitchFamily="34" charset="-122"/>
                <a:cs typeface="Calibri" pitchFamily="34" charset="-120"/>
              </a:rPr>
              <a:t>“Reactive: Primarily incident-driven” · “Foundational: Controls established within individual business units” · “Managed: Enterprise standards and governance are in place” · “Integrated: Data, analytics, and operations are integrated across major fraud types” · “Advanced: Predictive intelligence and ecosystem collaboration are embedded”</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Scaling Approach — Today vs. 3-Year Focus</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AI is already the top way fraud teams scale, and its lead is only growing.</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Q8 / Q9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your current approach to scaling fraud/investigations operations as fraud volume and complexity increases? / Which area do you expect will receive the greatest focus for operations transformation over the next three years?”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29</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asked twice.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“Adding capacity through hiring full-time employees and workforce expansion”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“Adding capacity through outsourcing arrangements (e.g., contractors)”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“Automating workflows and minimizing manual activities”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“Augmenting existing capacity with AI-enabled tools”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“Redesigning operation processes and playbooks across the lifecycle”</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“Pursuing a combination of the above approaches”</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Scaling Approach — Insurance, by Institution Tier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Top 50 carriers are already leaning hardest on AI; Large carriers still split their effort more evenly, notably toward outsourcing today.</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Q8 / Q9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your current approach to scaling fraud/investigations operations? / Which area do you expect will receive the greatest focus over the next three years? (Today vs. 3-Year Focus)”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30</a:t>
            </a:r>
            <a:endParaRPr lang="en-US" sz="900" dirty="0"/>
          </a:p>
        </p:txBody>
      </p:sp>
      <p:sp>
        <p:nvSpPr>
          <p:cNvPr id="7" name="Text 5"/>
          <p:cNvSpPr txBox="1"/>
          <p:nvPr/>
        </p:nvSpPr>
        <p:spPr>
          <a:xfrm>
            <a:off x="502006" y="1965960"/>
            <a:ext cx="5486400" cy="237744"/>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Top 50 Insurance Carrier (n=15)</a:t>
            </a:r>
            <a:endParaRPr lang="en-US" sz="1150" dirty="0"/>
          </a:p>
        </p:txBody>
      </p:sp>
      <p:graphicFrame>
        <p:nvGraphicFramePr>
          <p:cNvPr id="8" name="Chart 0" descr=""/>
          <p:cNvGraphicFramePr/>
          <p:nvPr/>
        </p:nvGraphicFramePr>
        <p:xfrm>
          <a:off x="502006" y="2240280"/>
          <a:ext cx="5486400" cy="2834640"/>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6172200" y="1965960"/>
            <a:ext cx="5486400" cy="237744"/>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Large Insurance Carrier (n=10)</a:t>
            </a:r>
            <a:endParaRPr lang="en-US" sz="1150" dirty="0"/>
          </a:p>
        </p:txBody>
      </p:sp>
      <p:graphicFrame>
        <p:nvGraphicFramePr>
          <p:cNvPr id="10" name="Chart 1" descr=""/>
          <p:cNvGraphicFramePr/>
          <p:nvPr/>
        </p:nvGraphicFramePr>
        <p:xfrm>
          <a:off x="6172200" y="2240280"/>
          <a:ext cx="5486400" cy="2834640"/>
        </p:xfrm>
        <a:graphic xmlns:a="http://schemas.openxmlformats.org/drawingml/2006/main">
          <a:graphicData uri="http://schemas.openxmlformats.org/drawingml/2006/chart">
            <c:chart xmlns:c="http://schemas.openxmlformats.org/drawingml/2006/chart" r:id="rId2"/>
          </a:graphicData>
        </a:graphic>
      </p:graphicFrame>
      <p:sp>
        <p:nvSpPr>
          <p:cNvPr id="11" name="Shape 7"/>
          <p:cNvSpPr/>
          <p:nvPr/>
        </p:nvSpPr>
        <p:spPr>
          <a:xfrm>
            <a:off x="502006" y="5202936"/>
            <a:ext cx="11188598" cy="0"/>
          </a:xfrm>
          <a:prstGeom prst="line">
            <a:avLst/>
          </a:prstGeom>
          <a:noFill/>
          <a:ln w="9525">
            <a:solidFill>
              <a:srgbClr val="D0D0CE"/>
            </a:solidFill>
            <a:prstDash val="solid"/>
          </a:ln>
        </p:spPr>
      </p:sp>
      <p:sp>
        <p:nvSpPr>
          <p:cNvPr id="12" name="Text 8"/>
          <p:cNvSpPr txBox="1"/>
          <p:nvPr/>
        </p:nvSpPr>
        <p:spPr>
          <a:xfrm>
            <a:off x="502006" y="5276088"/>
            <a:ext cx="11188598" cy="777240"/>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Single select, asked twice.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Institution tier is based on S9, including 1 respondent reclassified from their employer description elsewhere in the survey (see the Q1 sector x tier slide for detail). Response options as fielded: </a:t>
            </a:r>
            <a:pPr algn="l" indent="0" marL="0">
              <a:lnSpc>
                <a:spcPct val="115000"/>
              </a:lnSpc>
              <a:buNone/>
            </a:pPr>
            <a:r>
              <a:rPr lang="en-US" sz="850" i="1" dirty="0">
                <a:solidFill>
                  <a:srgbClr val="53565A"/>
                </a:solidFill>
                <a:latin typeface="Calibri" pitchFamily="34" charset="0"/>
                <a:ea typeface="Calibri" pitchFamily="34" charset="-122"/>
                <a:cs typeface="Calibri" pitchFamily="34" charset="-120"/>
              </a:rPr>
              <a:t>“Adding capacity through hiring full-time employees and workforce expansion”  ·  “Adding capacity through outsourcing arrangements (e.g., contractors)”  ·  “Automating workflows and minimizing manual activities”  ·  “Augmenting existing capacity with AI-enabled tools”  ·  “Redesigning operation processes and playbooks across the lifecycle”  ·  “Pursuing a combination of the above approaches”</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Current Scaling Approach — Insurance, by Institution Tier and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Within Insurance, the regional pattern is thin but directionally consistent with the tier-level split.</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Q8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your current approach to scaling fraud/investigations operations as fraud volume and complexity increases? (Insurance only, Top 50 vs. Large carrier, further broken down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31</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777240"/>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The % in each category label is the full tier-level figure; region segments are rounded to the nearest whole percent and may not sum exactly due to rounding. Region sample sizes — Top 50: US n=7, Canada n=6, Europe n=1, Australia n=1. Large: US n=3, Canada n=6, Europe n=1 (no Australia; neither tier has Singapore respondents). Every regional cell here is thin (n=1–7) and should be read directionally.</a:t>
            </a:r>
            <a:endParaRPr lang="en-US" sz="850" dirty="0"/>
          </a:p>
        </p:txBody>
      </p:sp>
      <p:sp>
        <p:nvSpPr>
          <p:cNvPr id="10" name="Text 7"/>
          <p:cNvSpPr txBox="1"/>
          <p:nvPr/>
        </p:nvSpPr>
        <p:spPr>
          <a:xfrm>
            <a:off x="502006" y="6071616"/>
            <a:ext cx="11188598" cy="42062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0000"/>
              </a:lnSpc>
              <a:buNone/>
            </a:pPr>
            <a:r>
              <a:rPr lang="en-US" sz="800" i="1" dirty="0">
                <a:solidFill>
                  <a:srgbClr val="53565A"/>
                </a:solidFill>
                <a:latin typeface="Calibri" pitchFamily="34" charset="0"/>
                <a:ea typeface="Calibri" pitchFamily="34" charset="-122"/>
                <a:cs typeface="Calibri" pitchFamily="34" charset="-120"/>
              </a:rPr>
              <a:t>“Adding capacity through hiring full-time employees and workforce expansion”  ·  “Adding capacity through outsourcing arrangements (e.g., contractors)”  ·  “Automating workflows and minimizing manual activities”  ·  “Augmenting existing capacity with AI-enabled tools”  ·  “Redesigning operation processes and playbooks across the lifecycle”  ·  “Pursuing a combination of the above approaches”</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3-Year Scaling Focus — Insurance, by Institution Tier and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Looking ahead, Insurance's regional pattern shifts further toward AI and process redesign in both tiers.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Q9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area do you expect will receive the greatest focus for fraud/investigations operations transformation over the next three years? (Insurance only, Top 50 vs. Large carrier, further broken down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32</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777240"/>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The % in each category label is the full tier-level figure; region segments are rounded to the nearest whole percent and may not sum exactly due to rounding. Region sample sizes — Top 50: US n=7, Canada n=6, Europe n=1, Australia n=1. Large: US n=3, Canada n=6, Europe n=1 (no Australia; neither tier has Singapore respondents). Every regional cell here is thin (n=1–7) and should be read directionally.</a:t>
            </a:r>
            <a:endParaRPr lang="en-US" sz="850" dirty="0"/>
          </a:p>
        </p:txBody>
      </p:sp>
      <p:sp>
        <p:nvSpPr>
          <p:cNvPr id="10" name="Text 7"/>
          <p:cNvSpPr txBox="1"/>
          <p:nvPr/>
        </p:nvSpPr>
        <p:spPr>
          <a:xfrm>
            <a:off x="502006" y="6071616"/>
            <a:ext cx="11188598" cy="42062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0000"/>
              </a:lnSpc>
              <a:buNone/>
            </a:pPr>
            <a:r>
              <a:rPr lang="en-US" sz="800" i="1" dirty="0">
                <a:solidFill>
                  <a:srgbClr val="53565A"/>
                </a:solidFill>
                <a:latin typeface="Calibri" pitchFamily="34" charset="0"/>
                <a:ea typeface="Calibri" pitchFamily="34" charset="-122"/>
                <a:cs typeface="Calibri" pitchFamily="34" charset="-120"/>
              </a:rPr>
              <a:t>“Adding capacity through hiring full-time employees and workforce expansion”  ·  “Adding capacity through outsourcing arrangements (e.g., contractors)”  ·  “Automating workflows and minimizing manual activities”  ·  “Augmenting existing capacity with AI-enabled tools”  ·  “Redesigning operation processes and playbooks across the lifecycle”  ·  “Pursuing a combination of the above approaches”</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Scaling Approach — Banking, by Institution Tier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Top 100 institutions already lean hardest on AI and automation; Large institutions rely more on hiring and outsourcing, today and in three years.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Q8 / Q9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your current approach to scaling fraud/investigations operations? / Which area do you expect will receive the greatest focus over the next three years? (Today vs. 3-Year Focus)”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33</a:t>
            </a:r>
            <a:endParaRPr lang="en-US" sz="900" dirty="0"/>
          </a:p>
        </p:txBody>
      </p:sp>
      <p:sp>
        <p:nvSpPr>
          <p:cNvPr id="7" name="Text 5"/>
          <p:cNvSpPr txBox="1"/>
          <p:nvPr/>
        </p:nvSpPr>
        <p:spPr>
          <a:xfrm>
            <a:off x="502006" y="1965960"/>
            <a:ext cx="5486400" cy="237744"/>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Top 100 Financial Institution (n=40)</a:t>
            </a:r>
            <a:endParaRPr lang="en-US" sz="1150" dirty="0"/>
          </a:p>
        </p:txBody>
      </p:sp>
      <p:graphicFrame>
        <p:nvGraphicFramePr>
          <p:cNvPr id="8" name="Chart 0" descr=""/>
          <p:cNvGraphicFramePr/>
          <p:nvPr/>
        </p:nvGraphicFramePr>
        <p:xfrm>
          <a:off x="502006" y="2240280"/>
          <a:ext cx="5486400" cy="2834640"/>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6172200" y="1965960"/>
            <a:ext cx="5486400" cy="237744"/>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Large Financial Institution (n=35)</a:t>
            </a:r>
            <a:endParaRPr lang="en-US" sz="1150" dirty="0"/>
          </a:p>
        </p:txBody>
      </p:sp>
      <p:graphicFrame>
        <p:nvGraphicFramePr>
          <p:cNvPr id="10" name="Chart 1" descr=""/>
          <p:cNvGraphicFramePr/>
          <p:nvPr/>
        </p:nvGraphicFramePr>
        <p:xfrm>
          <a:off x="6172200" y="2240280"/>
          <a:ext cx="5486400" cy="2834640"/>
        </p:xfrm>
        <a:graphic xmlns:a="http://schemas.openxmlformats.org/drawingml/2006/main">
          <a:graphicData uri="http://schemas.openxmlformats.org/drawingml/2006/chart">
            <c:chart xmlns:c="http://schemas.openxmlformats.org/drawingml/2006/chart" r:id="rId2"/>
          </a:graphicData>
        </a:graphic>
      </p:graphicFrame>
      <p:sp>
        <p:nvSpPr>
          <p:cNvPr id="11" name="Shape 7"/>
          <p:cNvSpPr/>
          <p:nvPr/>
        </p:nvSpPr>
        <p:spPr>
          <a:xfrm>
            <a:off x="502006" y="5202936"/>
            <a:ext cx="11188598" cy="0"/>
          </a:xfrm>
          <a:prstGeom prst="line">
            <a:avLst/>
          </a:prstGeom>
          <a:noFill/>
          <a:ln w="9525">
            <a:solidFill>
              <a:srgbClr val="D0D0CE"/>
            </a:solidFill>
            <a:prstDash val="solid"/>
          </a:ln>
        </p:spPr>
      </p:sp>
      <p:sp>
        <p:nvSpPr>
          <p:cNvPr id="12" name="Text 8"/>
          <p:cNvSpPr txBox="1"/>
          <p:nvPr/>
        </p:nvSpPr>
        <p:spPr>
          <a:xfrm>
            <a:off x="502006" y="5276088"/>
            <a:ext cx="11188598" cy="777240"/>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Single select, asked twice.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Institution tier is based on newS8, including 5 respondents reclassified from their employer description elsewhere in the survey (see the Q1 sector x tier slide for detail). Response options as fielded: </a:t>
            </a:r>
            <a:pPr algn="l" indent="0" marL="0">
              <a:lnSpc>
                <a:spcPct val="115000"/>
              </a:lnSpc>
              <a:buNone/>
            </a:pPr>
            <a:r>
              <a:rPr lang="en-US" sz="850" i="1" dirty="0">
                <a:solidFill>
                  <a:srgbClr val="53565A"/>
                </a:solidFill>
                <a:latin typeface="Calibri" pitchFamily="34" charset="0"/>
                <a:ea typeface="Calibri" pitchFamily="34" charset="-122"/>
                <a:cs typeface="Calibri" pitchFamily="34" charset="-120"/>
              </a:rPr>
              <a:t>“Adding capacity through hiring full-time employees and workforce expansion”  ·  “Adding capacity through outsourcing arrangements (e.g., contractors)”  ·  “Automating workflows and minimizing manual activities”  ·  “Augmenting existing capacity with AI-enabled tools”  ·  “Redesigning operation processes and playbooks across the lifecycle”  ·  “Pursuing a combination of the above approaches”</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Current Scaling Approach — Banking, by Institution Tier and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Top 100 institutions in the U.S. lean hardest on AI today; Large institutions show a more even regional spread.</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Q8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your current approach to scaling fraud/investigations operations as fraud volume and complexity increases? (Banking only, Top 100 vs. Large institution, further broken down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34</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777240"/>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The % in each category label is the full tier-level figure; region segments are rounded to the nearest whole percent and may not sum exactly due to rounding. Region sample sizes — Top 100: US n=14, Canada n=13, Europe n=7, Australia n=4, Singapore n=2. Large: US n=20, Canada n=5, Europe n=5, Australia n=3, Singapore n=2. Australia and Singapore are thin samples shown directionally.</a:t>
            </a:r>
            <a:endParaRPr lang="en-US" sz="850" dirty="0"/>
          </a:p>
        </p:txBody>
      </p:sp>
      <p:sp>
        <p:nvSpPr>
          <p:cNvPr id="10" name="Text 7"/>
          <p:cNvSpPr txBox="1"/>
          <p:nvPr/>
        </p:nvSpPr>
        <p:spPr>
          <a:xfrm>
            <a:off x="502006" y="6071616"/>
            <a:ext cx="11188598" cy="42062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0000"/>
              </a:lnSpc>
              <a:buNone/>
            </a:pPr>
            <a:r>
              <a:rPr lang="en-US" sz="800" i="1" dirty="0">
                <a:solidFill>
                  <a:srgbClr val="53565A"/>
                </a:solidFill>
                <a:latin typeface="Calibri" pitchFamily="34" charset="0"/>
                <a:ea typeface="Calibri" pitchFamily="34" charset="-122"/>
                <a:cs typeface="Calibri" pitchFamily="34" charset="-120"/>
              </a:rPr>
              <a:t>“Adding capacity through hiring full-time employees and workforce expansion”  ·  “Adding capacity through outsourcing arrangements (e.g., contractors)”  ·  “Automating workflows and minimizing manual activities”  ·  “Augmenting existing capacity with AI-enabled tools”  ·  “Redesigning operation processes and playbooks across the lifecycle”  ·  “Pursuing a combination of the above approaches”</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3-Year Scaling Focus — Banking, by Institution Tier and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AI's three-year lead holds across nearly every region and tier in Banking.</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Q9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area do you expect will receive the greatest focus for fraud/investigations operations transformation over the next three years? (Banking only, Top 100 vs. Large institution, further broken down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35</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777240"/>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0000"/>
              </a:lnSpc>
              <a:buNone/>
            </a:pPr>
            <a:r>
              <a:rPr lang="en-US" sz="850" dirty="0">
                <a:solidFill>
                  <a:srgbClr val="53565A"/>
                </a:solidFill>
                <a:latin typeface="Calibri" pitchFamily="34" charset="0"/>
                <a:ea typeface="Calibri" pitchFamily="34" charset="-122"/>
                <a:cs typeface="Calibri" pitchFamily="34" charset="-120"/>
              </a:rPr>
              <a:t>The % in each category label is the full tier-level figure; region segments are rounded to the nearest whole percent and may not sum exactly due to rounding. Region sample sizes — Top 100: US n=14, Canada n=13, Europe n=7, Australia n=4, Singapore n=2. Large: US n=20, Canada n=5, Europe n=5, Australia n=3, Singapore n=2. Australia and Singapore are thin samples shown directionally.</a:t>
            </a:r>
            <a:endParaRPr lang="en-US" sz="850" dirty="0"/>
          </a:p>
        </p:txBody>
      </p:sp>
      <p:sp>
        <p:nvSpPr>
          <p:cNvPr id="10" name="Text 7"/>
          <p:cNvSpPr txBox="1"/>
          <p:nvPr/>
        </p:nvSpPr>
        <p:spPr>
          <a:xfrm>
            <a:off x="502006" y="6071616"/>
            <a:ext cx="11188598" cy="420624"/>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0000"/>
              </a:lnSpc>
              <a:buNone/>
            </a:pPr>
            <a:r>
              <a:rPr lang="en-US" sz="800" i="1" dirty="0">
                <a:solidFill>
                  <a:srgbClr val="53565A"/>
                </a:solidFill>
                <a:latin typeface="Calibri" pitchFamily="34" charset="0"/>
                <a:ea typeface="Calibri" pitchFamily="34" charset="-122"/>
                <a:cs typeface="Calibri" pitchFamily="34" charset="-120"/>
              </a:rPr>
              <a:t>“Adding capacity through hiring full-time employees and workforce expansion”  ·  “Adding capacity through outsourcing arrangements (e.g., contractors)”  ·  “Automating workflows and minimizing manual activities”  ·  “Augmenting existing capacity with AI-enabled tools”  ·  “Redesigning operation processes and playbooks across the lifecycle”  ·  “Pursuing a combination of the above approaches”</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86BC25"/>
        </a:solidFill>
      </p:bgPr>
    </p:bg>
    <p:spTree>
      <p:nvGrpSpPr>
        <p:cNvPr id="1" name=""/>
        <p:cNvGrpSpPr/>
        <p:nvPr/>
      </p:nvGrpSpPr>
      <p:grpSpPr>
        <a:xfrm>
          <a:off x="0" y="0"/>
          <a:ext cx="0" cy="0"/>
          <a:chOff x="0" y="0"/>
          <a:chExt cx="0" cy="0"/>
        </a:xfrm>
      </p:grpSpPr>
      <p:sp>
        <p:nvSpPr>
          <p:cNvPr id="2" name="Text 0"/>
          <p:cNvSpPr txBox="1"/>
          <p:nvPr/>
        </p:nvSpPr>
        <p:spPr>
          <a:xfrm>
            <a:off x="502920" y="1699870"/>
            <a:ext cx="10415016" cy="1591970"/>
          </a:xfrm>
          <a:prstGeom prst="rect">
            <a:avLst/>
          </a:prstGeom>
          <a:noFill/>
          <a:ln/>
        </p:spPr>
        <p:txBody>
          <a:bodyPr wrap="square" lIns="0" tIns="0" rIns="0" bIns="0" rtlCol="0" anchor="b"/>
          <a:lstStyle/>
          <a:p>
            <a:pPr algn="l" indent="0" marL="0">
              <a:buNone/>
            </a:pPr>
            <a:r>
              <a:rPr lang="en-US" sz="3600" b="1" dirty="0">
                <a:solidFill>
                  <a:srgbClr val="FFFFFF"/>
                </a:solidFill>
                <a:latin typeface="Calibri" pitchFamily="34" charset="0"/>
                <a:ea typeface="Calibri" pitchFamily="34" charset="-122"/>
                <a:cs typeface="Calibri" pitchFamily="34" charset="-120"/>
              </a:rPr>
              <a:t>5. Regulatory &amp; Market Change</a:t>
            </a:r>
            <a:endParaRPr lang="en-US" sz="3600" dirty="0"/>
          </a:p>
        </p:txBody>
      </p:sp>
      <p:sp>
        <p:nvSpPr>
          <p:cNvPr id="3" name="Text 1"/>
          <p:cNvSpPr txBox="1"/>
          <p:nvPr/>
        </p:nvSpPr>
        <p:spPr>
          <a:xfrm>
            <a:off x="502920" y="3423514"/>
            <a:ext cx="10415016" cy="1563624"/>
          </a:xfrm>
          <a:prstGeom prst="rect">
            <a:avLst/>
          </a:prstGeom>
          <a:noFill/>
          <a:ln/>
        </p:spPr>
        <p:txBody>
          <a:bodyPr wrap="square" lIns="0" tIns="0" rIns="0" bIns="0" rtlCol="0" anchor="t"/>
          <a:lstStyle/>
          <a:p>
            <a:pPr algn="l" indent="0" marL="0">
              <a:lnSpc>
                <a:spcPct val="110000"/>
              </a:lnSpc>
              <a:buNone/>
            </a:pPr>
            <a:r>
              <a:rPr lang="en-US" sz="1600" dirty="0">
                <a:solidFill>
                  <a:srgbClr val="FFFFFF"/>
                </a:solidFill>
                <a:latin typeface="Calibri" pitchFamily="34" charset="0"/>
                <a:ea typeface="Calibri" pitchFamily="34" charset="-122"/>
                <a:cs typeface="Calibri" pitchFamily="34" charset="-120"/>
              </a:rPr>
              <a:t>Where fraud investment is really going, and the disruption leaders see coming next.</a:t>
            </a:r>
            <a:endParaRPr lang="en-US" sz="160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36</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Fraud Investment Relative to Regulatory Requirements</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Most fraud spending today is about fixing past problems, not getting ahead of new ones.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Q10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reflects how your organization is allocating fraud-related investment in response to regulatory and compliance requirements?”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37</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“Primarily investing to meet upcoming and draft regulatory requirements”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“Primarily investing to remediate existing compliance and control gaps”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“Regulatory requirements are not a primary driver of fraud-related investment”</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Fraud Investment Relative to Regulatory Requirements — By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The remediation-first pattern holds broadly across markets, though Canada leans even more toward fixing existing gaps.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Q10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reflects how your organization is allocating fraud-related investment in response to regulatory and compliance requirements? (by region, all respondents)”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38</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 % shown is each region's share of the full 100-respondent sample, so segments sum to the overall figure in each category label. Australia (n=8) and Singapore (n=4) are thin samples, shown directionally.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“Primarily investing to meet upcoming and draft regulatory requirements”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“Primarily investing to remediate existing compliance and control gaps”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“Regulatory requirements are not a primary driver of fraud-related investment”</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Regulatory Investment Focus — Insurance, by Institution Tier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Large Insurance Carriers lean hardest into remediation; Top 50 carriers split more evenly toward getting ahead of upcoming rules.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Q10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reflects how your organization is allocating fraud-related investment in response to regulatory and compliance requirements? (Insurance only, by institution tier)”</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39</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Institution tier based on S9; 1 respondent who did not directly answer was classified as Large Insurance Carrier from their employer description elsewhere in the survey (Large is n=10 = 9 direct + 1 reclassified).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“Primarily investing to meet upcoming and draft regulatory requirements”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“Primarily investing to remediate existing compliance and control gaps”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“Regulatory requirements are not a primary driver of fraud-related investment”</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Regulatory Investment Focus — Banking, by Institution Tier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Large Financial Institutions skew further toward remediation than Top 100 banks, who are closer to an even split.</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Q10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reflects how your organization is allocating fraud-related investment in response to regulatory and compliance requirements? (Banking only, by institution tier)”</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40</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Institution tier based on newS8; 5 respondents who did not directly answer were classified as Top 100 from their employer description elsewhere in the survey (Top 100 is n=40 = 35 direct + 5 reclassified).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“Primarily investing to meet upcoming and draft regulatory requirements”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“Primarily investing to remediate existing compliance and control gaps”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“Regulatory requirements are not a primary driver of fraud-related investment”</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Upcoming Regulatory / Market Change With Greatest Expected Impact</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Identity and authentication tops a close three-way race for the next big disruption.</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Q11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upcoming regulatory or market changes is expected to have the greatest impact on your fraud program?”</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41</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Ranked top 3 — shown as % of respondents who placed the option anywhere in their top 3 (not mutually exclusive; bars don't sum to 100%).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“Payment innovation and adoption (e.g., real-time payments, stable coins, agentic payments)”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“Liability and reimbursement changes”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“Open Banking / Consumer-driven banking initiatives”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“AML related modernization initiatives”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“Privacy, data-sharing requirements, and AI governance requirements”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“Customer identity, authentication, and digital trust expectations”</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Upcoming Regulatory / Market Change — By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Identity and privacy concerns dominate across every market; Canada stands out for prioritizing Open Banking well above its peers.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Q11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upcoming regulatory or market changes is expected to have the greatest impact on your fraud program? (by region, all respondents)”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42</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Ranked top 3 — % shown is each region's share of the full 100-respondent sample who placed the option anywhere in their top 3, so segments sum to the overall figure in each category label (bars don't sum to 100%). Australia (n=8) and Singapore (n=4) are thin samples, shown directionally.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“Payment innovation and adoption (e.g., real-time payments, stable coins, agentic payments)”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“Liability and reimbursement changes”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“Open Banking / Consumer-driven banking initiatives”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“AML related modernization initiatives”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“Privacy, data-sharing requirements, and AI governance requirements”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“Customer identity, authentication, and digital trust expectations”</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86BC25"/>
        </a:solidFill>
      </p:bgPr>
    </p:bg>
    <p:spTree>
      <p:nvGrpSpPr>
        <p:cNvPr id="1" name=""/>
        <p:cNvGrpSpPr/>
        <p:nvPr/>
      </p:nvGrpSpPr>
      <p:grpSpPr>
        <a:xfrm>
          <a:off x="0" y="0"/>
          <a:ext cx="0" cy="0"/>
          <a:chOff x="0" y="0"/>
          <a:chExt cx="0" cy="0"/>
        </a:xfrm>
      </p:grpSpPr>
      <p:sp>
        <p:nvSpPr>
          <p:cNvPr id="2" name="Text 0"/>
          <p:cNvSpPr txBox="1"/>
          <p:nvPr/>
        </p:nvSpPr>
        <p:spPr>
          <a:xfrm>
            <a:off x="502920" y="1699870"/>
            <a:ext cx="10415016" cy="1591970"/>
          </a:xfrm>
          <a:prstGeom prst="rect">
            <a:avLst/>
          </a:prstGeom>
          <a:noFill/>
          <a:ln/>
        </p:spPr>
        <p:txBody>
          <a:bodyPr wrap="square" lIns="0" tIns="0" rIns="0" bIns="0" rtlCol="0" anchor="b"/>
          <a:lstStyle/>
          <a:p>
            <a:pPr algn="l" indent="0" marL="0">
              <a:buNone/>
            </a:pPr>
            <a:r>
              <a:rPr lang="en-US" sz="3600" b="1" dirty="0">
                <a:solidFill>
                  <a:srgbClr val="FFFFFF"/>
                </a:solidFill>
                <a:latin typeface="Calibri" pitchFamily="34" charset="0"/>
                <a:ea typeface="Calibri" pitchFamily="34" charset="-122"/>
                <a:cs typeface="Calibri" pitchFamily="34" charset="-120"/>
              </a:rPr>
              <a:t>6. Looking Ahead Three Years</a:t>
            </a:r>
            <a:endParaRPr lang="en-US" sz="3600" dirty="0"/>
          </a:p>
        </p:txBody>
      </p:sp>
      <p:sp>
        <p:nvSpPr>
          <p:cNvPr id="3" name="Text 1"/>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43</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What Leaders Say, Unprompted</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Left to answer in their own words, leaders converge on the same trend.</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Q12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“Looking ahead three years, what development do you believe will have the greatest impact on fraud risk management, and why? (open-ended)”</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44</a:t>
            </a:r>
            <a:endParaRPr lang="en-US" sz="900" dirty="0"/>
          </a:p>
        </p:txBody>
      </p:sp>
      <p:sp>
        <p:nvSpPr>
          <p:cNvPr id="7" name="Shape 5"/>
          <p:cNvSpPr/>
          <p:nvPr/>
        </p:nvSpPr>
        <p:spPr>
          <a:xfrm>
            <a:off x="502006" y="2011680"/>
            <a:ext cx="11188598" cy="914400"/>
          </a:xfrm>
          <a:prstGeom prst="roundRect">
            <a:avLst>
              <a:gd name="adj" fmla="val 6000"/>
            </a:avLst>
          </a:prstGeom>
          <a:solidFill>
            <a:srgbClr val="F2F2F2"/>
          </a:solidFill>
          <a:ln/>
        </p:spPr>
      </p:sp>
      <p:sp>
        <p:nvSpPr>
          <p:cNvPr id="8" name="Text 6"/>
          <p:cNvSpPr txBox="1"/>
          <p:nvPr/>
        </p:nvSpPr>
        <p:spPr>
          <a:xfrm>
            <a:off x="776326" y="2011680"/>
            <a:ext cx="2011680" cy="914400"/>
          </a:xfrm>
          <a:prstGeom prst="rect">
            <a:avLst/>
          </a:prstGeom>
          <a:noFill/>
          <a:ln/>
        </p:spPr>
        <p:txBody>
          <a:bodyPr wrap="square" rtlCol="0" anchor="ctr"/>
          <a:lstStyle/>
          <a:p>
            <a:pPr indent="0" marL="0">
              <a:buNone/>
            </a:pPr>
            <a:r>
              <a:rPr lang="en-US" sz="3000" b="1" dirty="0">
                <a:solidFill>
                  <a:srgbClr val="046A38"/>
                </a:solidFill>
                <a:latin typeface="Calibri" pitchFamily="34" charset="0"/>
                <a:ea typeface="Calibri" pitchFamily="34" charset="-122"/>
                <a:cs typeface="Calibri" pitchFamily="34" charset="-120"/>
              </a:rPr>
              <a:t>100/100</a:t>
            </a:r>
            <a:endParaRPr lang="en-US" sz="3000" dirty="0"/>
          </a:p>
        </p:txBody>
      </p:sp>
      <p:sp>
        <p:nvSpPr>
          <p:cNvPr id="9" name="Text 7"/>
          <p:cNvSpPr txBox="1"/>
          <p:nvPr/>
        </p:nvSpPr>
        <p:spPr>
          <a:xfrm>
            <a:off x="2970886" y="2057400"/>
            <a:ext cx="8445398" cy="822960"/>
          </a:xfrm>
          <a:prstGeom prst="rect">
            <a:avLst/>
          </a:prstGeom>
          <a:noFill/>
          <a:ln/>
        </p:spPr>
        <p:txBody>
          <a:bodyPr wrap="square" rtlCol="0" anchor="ctr"/>
          <a:lstStyle/>
          <a:p>
            <a:pPr indent="0" marL="0">
              <a:lnSpc>
                <a:spcPct val="110000"/>
              </a:lnSpc>
              <a:buNone/>
            </a:pPr>
            <a:r>
              <a:rPr lang="en-US" sz="1150" dirty="0">
                <a:solidFill>
                  <a:srgbClr val="53565A"/>
                </a:solidFill>
                <a:latin typeface="Calibri" pitchFamily="34" charset="0"/>
                <a:ea typeface="Calibri" pitchFamily="34" charset="-122"/>
                <a:cs typeface="Calibri" pitchFamily="34" charset="-120"/>
              </a:rPr>
              <a:t>respondents answered in their own words — a full response rate on an open text field. The dominant unprompted theme: the convergence of GenAI, synthetic identity, and real-time payments — the same thread running through every closed-ended question above.</a:t>
            </a:r>
            <a:endParaRPr lang="en-US" sz="1150" dirty="0"/>
          </a:p>
        </p:txBody>
      </p:sp>
      <p:sp>
        <p:nvSpPr>
          <p:cNvPr id="10" name="Shape 8"/>
          <p:cNvSpPr/>
          <p:nvPr/>
        </p:nvSpPr>
        <p:spPr>
          <a:xfrm>
            <a:off x="502006" y="3154680"/>
            <a:ext cx="5457139" cy="1600200"/>
          </a:xfrm>
          <a:prstGeom prst="roundRect">
            <a:avLst>
              <a:gd name="adj" fmla="val 2857"/>
            </a:avLst>
          </a:prstGeom>
          <a:solidFill>
            <a:srgbClr val="FFFFFF"/>
          </a:solidFill>
          <a:ln w="9525">
            <a:solidFill>
              <a:srgbClr val="D0D0CE"/>
            </a:solidFill>
            <a:prstDash val="solid"/>
          </a:ln>
        </p:spPr>
      </p:sp>
      <p:sp>
        <p:nvSpPr>
          <p:cNvPr id="11" name="Text 9"/>
          <p:cNvSpPr txBox="1"/>
          <p:nvPr/>
        </p:nvSpPr>
        <p:spPr>
          <a:xfrm>
            <a:off x="684886" y="3282696"/>
            <a:ext cx="5091379" cy="1143000"/>
          </a:xfrm>
          <a:prstGeom prst="rect">
            <a:avLst/>
          </a:prstGeom>
          <a:noFill/>
          <a:ln/>
        </p:spPr>
        <p:txBody>
          <a:bodyPr wrap="square" rtlCol="0" anchor="t"/>
          <a:lstStyle/>
          <a:p>
            <a:pPr indent="0" marL="0">
              <a:lnSpc>
                <a:spcPct val="112000"/>
              </a:lnSpc>
              <a:buNone/>
            </a:pPr>
            <a:r>
              <a:rPr lang="en-US" sz="1000" i="1" dirty="0">
                <a:solidFill>
                  <a:srgbClr val="000000"/>
                </a:solidFill>
                <a:latin typeface="Calibri" pitchFamily="34" charset="0"/>
                <a:ea typeface="Calibri" pitchFamily="34" charset="-122"/>
                <a:cs typeface="Calibri" pitchFamily="34" charset="-120"/>
              </a:rPr>
              <a:t>“The convergence of genAI, synthetic identities and real time digital identity verification. This will matter significantly because fraudsters will become AI-native, identity becomes the new battleground, fraud prevention will replace fraud detection, and the winners will use AI against AI.”</a:t>
            </a:r>
            <a:endParaRPr lang="en-US" sz="1000" dirty="0"/>
          </a:p>
        </p:txBody>
      </p:sp>
      <p:sp>
        <p:nvSpPr>
          <p:cNvPr id="12" name="Text 10"/>
          <p:cNvSpPr txBox="1"/>
          <p:nvPr/>
        </p:nvSpPr>
        <p:spPr>
          <a:xfrm>
            <a:off x="684886" y="4443984"/>
            <a:ext cx="5091379" cy="256032"/>
          </a:xfrm>
          <a:prstGeom prst="rect">
            <a:avLst/>
          </a:prstGeom>
          <a:noFill/>
          <a:ln/>
        </p:spPr>
        <p:txBody>
          <a:bodyPr wrap="square" rtlCol="0" anchor="ctr"/>
          <a:lstStyle/>
          <a:p>
            <a:pPr indent="0" marL="0">
              <a:buNone/>
            </a:pPr>
            <a:r>
              <a:rPr lang="en-US" sz="900" dirty="0">
                <a:solidFill>
                  <a:srgbClr val="53565A"/>
                </a:solidFill>
                <a:latin typeface="IBM Plex Mono" pitchFamily="34" charset="0"/>
                <a:ea typeface="IBM Plex Mono" pitchFamily="34" charset="-122"/>
                <a:cs typeface="IBM Plex Mono" pitchFamily="34" charset="-120"/>
              </a:rPr>
              <a:t>Director · Insurance</a:t>
            </a:r>
            <a:endParaRPr lang="en-US" sz="900" dirty="0"/>
          </a:p>
        </p:txBody>
      </p:sp>
      <p:sp>
        <p:nvSpPr>
          <p:cNvPr id="13" name="Shape 11"/>
          <p:cNvSpPr/>
          <p:nvPr/>
        </p:nvSpPr>
        <p:spPr>
          <a:xfrm>
            <a:off x="6233465" y="3154680"/>
            <a:ext cx="5457139" cy="1600200"/>
          </a:xfrm>
          <a:prstGeom prst="roundRect">
            <a:avLst>
              <a:gd name="adj" fmla="val 2857"/>
            </a:avLst>
          </a:prstGeom>
          <a:solidFill>
            <a:srgbClr val="FFFFFF"/>
          </a:solidFill>
          <a:ln w="9525">
            <a:solidFill>
              <a:srgbClr val="D0D0CE"/>
            </a:solidFill>
            <a:prstDash val="solid"/>
          </a:ln>
        </p:spPr>
      </p:sp>
      <p:sp>
        <p:nvSpPr>
          <p:cNvPr id="14" name="Text 12"/>
          <p:cNvSpPr txBox="1"/>
          <p:nvPr/>
        </p:nvSpPr>
        <p:spPr>
          <a:xfrm>
            <a:off x="6416345" y="3282696"/>
            <a:ext cx="5091379" cy="1143000"/>
          </a:xfrm>
          <a:prstGeom prst="rect">
            <a:avLst/>
          </a:prstGeom>
          <a:noFill/>
          <a:ln/>
        </p:spPr>
        <p:txBody>
          <a:bodyPr wrap="square" rtlCol="0" anchor="t"/>
          <a:lstStyle/>
          <a:p>
            <a:pPr indent="0" marL="0">
              <a:lnSpc>
                <a:spcPct val="112000"/>
              </a:lnSpc>
              <a:buNone/>
            </a:pPr>
            <a:r>
              <a:rPr lang="en-US" sz="1000" i="1" dirty="0">
                <a:solidFill>
                  <a:srgbClr val="000000"/>
                </a:solidFill>
                <a:latin typeface="Calibri" pitchFamily="34" charset="0"/>
                <a:ea typeface="Calibri" pitchFamily="34" charset="-122"/>
                <a:cs typeface="Calibri" pitchFamily="34" charset="-120"/>
              </a:rPr>
              <a:t>“The biggest development will be the convergence of GenAI, synthetic identity, and real-time payments. Fraud will become faster, more personalized, and harder to distinguish from legitimate customer behaviour.”</a:t>
            </a:r>
            <a:endParaRPr lang="en-US" sz="1000" dirty="0"/>
          </a:p>
        </p:txBody>
      </p:sp>
      <p:sp>
        <p:nvSpPr>
          <p:cNvPr id="15" name="Text 13"/>
          <p:cNvSpPr txBox="1"/>
          <p:nvPr/>
        </p:nvSpPr>
        <p:spPr>
          <a:xfrm>
            <a:off x="6416345" y="4443984"/>
            <a:ext cx="5091379" cy="256032"/>
          </a:xfrm>
          <a:prstGeom prst="rect">
            <a:avLst/>
          </a:prstGeom>
          <a:noFill/>
          <a:ln/>
        </p:spPr>
        <p:txBody>
          <a:bodyPr wrap="square" rtlCol="0" anchor="ctr"/>
          <a:lstStyle/>
          <a:p>
            <a:pPr indent="0" marL="0">
              <a:buNone/>
            </a:pPr>
            <a:r>
              <a:rPr lang="en-US" sz="900" dirty="0">
                <a:solidFill>
                  <a:srgbClr val="53565A"/>
                </a:solidFill>
                <a:latin typeface="IBM Plex Mono" pitchFamily="34" charset="0"/>
                <a:ea typeface="IBM Plex Mono" pitchFamily="34" charset="-122"/>
                <a:cs typeface="IBM Plex Mono" pitchFamily="34" charset="-120"/>
              </a:rPr>
              <a:t>C-level · Banking</a:t>
            </a:r>
            <a:endParaRPr lang="en-US" sz="900" dirty="0"/>
          </a:p>
        </p:txBody>
      </p:sp>
      <p:sp>
        <p:nvSpPr>
          <p:cNvPr id="16" name="Shape 14"/>
          <p:cNvSpPr/>
          <p:nvPr/>
        </p:nvSpPr>
        <p:spPr>
          <a:xfrm>
            <a:off x="502006" y="4937760"/>
            <a:ext cx="5457139" cy="1600200"/>
          </a:xfrm>
          <a:prstGeom prst="roundRect">
            <a:avLst>
              <a:gd name="adj" fmla="val 2857"/>
            </a:avLst>
          </a:prstGeom>
          <a:solidFill>
            <a:srgbClr val="FFFFFF"/>
          </a:solidFill>
          <a:ln w="9525">
            <a:solidFill>
              <a:srgbClr val="D0D0CE"/>
            </a:solidFill>
            <a:prstDash val="solid"/>
          </a:ln>
        </p:spPr>
      </p:sp>
      <p:sp>
        <p:nvSpPr>
          <p:cNvPr id="17" name="Text 15"/>
          <p:cNvSpPr txBox="1"/>
          <p:nvPr/>
        </p:nvSpPr>
        <p:spPr>
          <a:xfrm>
            <a:off x="684886" y="5065776"/>
            <a:ext cx="5091379" cy="1143000"/>
          </a:xfrm>
          <a:prstGeom prst="rect">
            <a:avLst/>
          </a:prstGeom>
          <a:noFill/>
          <a:ln/>
        </p:spPr>
        <p:txBody>
          <a:bodyPr wrap="square" rtlCol="0" anchor="t"/>
          <a:lstStyle/>
          <a:p>
            <a:pPr indent="0" marL="0">
              <a:lnSpc>
                <a:spcPct val="112000"/>
              </a:lnSpc>
              <a:buNone/>
            </a:pPr>
            <a:r>
              <a:rPr lang="en-US" sz="1000" i="1" dirty="0">
                <a:solidFill>
                  <a:srgbClr val="000000"/>
                </a:solidFill>
                <a:latin typeface="Calibri" pitchFamily="34" charset="0"/>
                <a:ea typeface="Calibri" pitchFamily="34" charset="-122"/>
                <a:cs typeface="Calibri" pitchFamily="34" charset="-120"/>
              </a:rPr>
              <a:t>“Companies are moving away from regular passwords towards decentralized digital credentials and biometric passkeys, as this would minimize phishing and account hacking.”</a:t>
            </a:r>
            <a:endParaRPr lang="en-US" sz="1000" dirty="0"/>
          </a:p>
        </p:txBody>
      </p:sp>
      <p:sp>
        <p:nvSpPr>
          <p:cNvPr id="18" name="Text 16"/>
          <p:cNvSpPr txBox="1"/>
          <p:nvPr/>
        </p:nvSpPr>
        <p:spPr>
          <a:xfrm>
            <a:off x="684886" y="6227064"/>
            <a:ext cx="5091379" cy="256032"/>
          </a:xfrm>
          <a:prstGeom prst="rect">
            <a:avLst/>
          </a:prstGeom>
          <a:noFill/>
          <a:ln/>
        </p:spPr>
        <p:txBody>
          <a:bodyPr wrap="square" rtlCol="0" anchor="ctr"/>
          <a:lstStyle/>
          <a:p>
            <a:pPr indent="0" marL="0">
              <a:buNone/>
            </a:pPr>
            <a:r>
              <a:rPr lang="en-US" sz="900" dirty="0">
                <a:solidFill>
                  <a:srgbClr val="53565A"/>
                </a:solidFill>
                <a:latin typeface="IBM Plex Mono" pitchFamily="34" charset="0"/>
                <a:ea typeface="IBM Plex Mono" pitchFamily="34" charset="-122"/>
                <a:cs typeface="IBM Plex Mono" pitchFamily="34" charset="-120"/>
              </a:rPr>
              <a:t>Senior Manager · Banking</a:t>
            </a:r>
            <a:endParaRPr lang="en-US" sz="900" dirty="0"/>
          </a:p>
        </p:txBody>
      </p:sp>
      <p:sp>
        <p:nvSpPr>
          <p:cNvPr id="19" name="Shape 17"/>
          <p:cNvSpPr/>
          <p:nvPr/>
        </p:nvSpPr>
        <p:spPr>
          <a:xfrm>
            <a:off x="6233465" y="4937760"/>
            <a:ext cx="5457139" cy="1600200"/>
          </a:xfrm>
          <a:prstGeom prst="roundRect">
            <a:avLst>
              <a:gd name="adj" fmla="val 2857"/>
            </a:avLst>
          </a:prstGeom>
          <a:solidFill>
            <a:srgbClr val="FFFFFF"/>
          </a:solidFill>
          <a:ln w="9525">
            <a:solidFill>
              <a:srgbClr val="D0D0CE"/>
            </a:solidFill>
            <a:prstDash val="solid"/>
          </a:ln>
        </p:spPr>
      </p:sp>
      <p:sp>
        <p:nvSpPr>
          <p:cNvPr id="20" name="Text 18"/>
          <p:cNvSpPr txBox="1"/>
          <p:nvPr/>
        </p:nvSpPr>
        <p:spPr>
          <a:xfrm>
            <a:off x="6416345" y="5065776"/>
            <a:ext cx="5091379" cy="1143000"/>
          </a:xfrm>
          <a:prstGeom prst="rect">
            <a:avLst/>
          </a:prstGeom>
          <a:noFill/>
          <a:ln/>
        </p:spPr>
        <p:txBody>
          <a:bodyPr wrap="square" rtlCol="0" anchor="t"/>
          <a:lstStyle/>
          <a:p>
            <a:pPr indent="0" marL="0">
              <a:lnSpc>
                <a:spcPct val="112000"/>
              </a:lnSpc>
              <a:buNone/>
            </a:pPr>
            <a:r>
              <a:rPr lang="en-US" sz="1000" i="1" dirty="0">
                <a:solidFill>
                  <a:srgbClr val="000000"/>
                </a:solidFill>
                <a:latin typeface="Calibri" pitchFamily="34" charset="0"/>
                <a:ea typeface="Calibri" pitchFamily="34" charset="-122"/>
                <a:cs typeface="Calibri" pitchFamily="34" charset="-120"/>
              </a:rPr>
              <a:t>“AI will shift fraud management from reactive investigation toward more predictive prevention, which should help us identify risks before losses occur.”</a:t>
            </a:r>
            <a:endParaRPr lang="en-US" sz="1000" dirty="0"/>
          </a:p>
        </p:txBody>
      </p:sp>
      <p:sp>
        <p:nvSpPr>
          <p:cNvPr id="21" name="Text 19"/>
          <p:cNvSpPr txBox="1"/>
          <p:nvPr/>
        </p:nvSpPr>
        <p:spPr>
          <a:xfrm>
            <a:off x="6416345" y="6227064"/>
            <a:ext cx="5091379" cy="256032"/>
          </a:xfrm>
          <a:prstGeom prst="rect">
            <a:avLst/>
          </a:prstGeom>
          <a:noFill/>
          <a:ln/>
        </p:spPr>
        <p:txBody>
          <a:bodyPr wrap="square" rtlCol="0" anchor="ctr"/>
          <a:lstStyle/>
          <a:p>
            <a:pPr indent="0" marL="0">
              <a:buNone/>
            </a:pPr>
            <a:r>
              <a:rPr lang="en-US" sz="900" dirty="0">
                <a:solidFill>
                  <a:srgbClr val="53565A"/>
                </a:solidFill>
                <a:latin typeface="IBM Plex Mono" pitchFamily="34" charset="0"/>
                <a:ea typeface="IBM Plex Mono" pitchFamily="34" charset="-122"/>
                <a:cs typeface="IBM Plex Mono" pitchFamily="34" charset="-120"/>
              </a:rPr>
              <a:t>VP · Banking</a:t>
            </a:r>
            <a:endParaRPr lang="en-US" sz="9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050607"/>
        </a:solidFill>
      </p:bgPr>
    </p:bg>
    <p:spTree>
      <p:nvGrpSpPr>
        <p:cNvPr id="1" name=""/>
        <p:cNvGrpSpPr/>
        <p:nvPr/>
      </p:nvGrpSpPr>
      <p:grpSpPr>
        <a:xfrm>
          <a:off x="0" y="0"/>
          <a:ext cx="0" cy="0"/>
          <a:chOff x="0" y="0"/>
          <a:chExt cx="0" cy="0"/>
        </a:xfrm>
      </p:grpSpPr>
      <p:sp>
        <p:nvSpPr>
          <p:cNvPr id="2" name="Text 0"/>
          <p:cNvSpPr txBox="1"/>
          <p:nvPr/>
        </p:nvSpPr>
        <p:spPr>
          <a:xfrm>
            <a:off x="502006" y="457200"/>
            <a:ext cx="1417320" cy="274320"/>
          </a:xfrm>
          <a:prstGeom prst="rect">
            <a:avLst/>
          </a:prstGeom>
          <a:noFill/>
          <a:ln/>
        </p:spPr>
        <p:txBody>
          <a:bodyPr wrap="square" lIns="0" tIns="0" rIns="0" bIns="0" rtlCol="0" anchor="ctr"/>
          <a:lstStyle/>
          <a:p>
            <a:pPr algn="l" indent="0" marL="0">
              <a:buNone/>
            </a:pPr>
            <a:r>
              <a:rPr lang="en-US" sz="1600" b="1" dirty="0">
                <a:solidFill>
                  <a:srgbClr val="FFFFFF"/>
                </a:solidFill>
                <a:latin typeface="Calibri" pitchFamily="34" charset="0"/>
                <a:ea typeface="Calibri" pitchFamily="34" charset="-122"/>
                <a:cs typeface="Calibri" pitchFamily="34" charset="-120"/>
              </a:rPr>
              <a:t>Deloitte</a:t>
            </a:r>
            <a:endParaRPr lang="en-US" sz="1600" dirty="0"/>
          </a:p>
        </p:txBody>
      </p:sp>
      <p:sp>
        <p:nvSpPr>
          <p:cNvPr id="3" name="Shape 1"/>
          <p:cNvSpPr/>
          <p:nvPr/>
        </p:nvSpPr>
        <p:spPr>
          <a:xfrm>
            <a:off x="1800454" y="598932"/>
            <a:ext cx="82296" cy="82296"/>
          </a:xfrm>
          <a:prstGeom prst="ellipse">
            <a:avLst/>
          </a:prstGeom>
          <a:solidFill>
            <a:srgbClr val="86BC25"/>
          </a:solidFill>
          <a:ln/>
        </p:spPr>
      </p:sp>
      <p:sp>
        <p:nvSpPr>
          <p:cNvPr id="4" name="Text 2"/>
          <p:cNvSpPr txBox="1"/>
          <p:nvPr/>
        </p:nvSpPr>
        <p:spPr>
          <a:xfrm>
            <a:off x="502006" y="4215384"/>
            <a:ext cx="8531352" cy="2167128"/>
          </a:xfrm>
          <a:prstGeom prst="rect">
            <a:avLst/>
          </a:prstGeom>
          <a:noFill/>
          <a:ln/>
        </p:spPr>
        <p:txBody>
          <a:bodyPr wrap="square" lIns="0" tIns="0" rIns="0" bIns="0" rtlCol="0" anchor="t"/>
          <a:lstStyle/>
          <a:p>
            <a:pPr algn="l" indent="0" marL="0">
              <a:lnSpc>
                <a:spcPct val="120000"/>
              </a:lnSpc>
              <a:buNone/>
            </a:pPr>
            <a:r>
              <a:rPr lang="en-US" sz="2800" b="1" dirty="0">
                <a:solidFill>
                  <a:srgbClr val="FFFFFF"/>
                </a:solidFill>
                <a:latin typeface="Calibri" pitchFamily="34" charset="0"/>
                <a:ea typeface="Calibri" pitchFamily="34" charset="-122"/>
                <a:cs typeface="Calibri" pitchFamily="34" charset="-120"/>
              </a:rPr>
              <a:t>Thank you
</a:t>
            </a:r>
            <a:endParaRPr lang="en-US" sz="2800" dirty="0"/>
          </a:p>
          <a:p>
            <a:pPr algn="l" indent="0" marL="0">
              <a:lnSpc>
                <a:spcPct val="120000"/>
              </a:lnSpc>
              <a:buNone/>
            </a:pPr>
            <a:r>
              <a:rPr lang="en-US" sz="1600" b="1" dirty="0">
                <a:solidFill>
                  <a:srgbClr val="86BC25"/>
                </a:solidFill>
                <a:latin typeface="Calibri" pitchFamily="34" charset="0"/>
                <a:ea typeface="Calibri" pitchFamily="34" charset="-122"/>
                <a:cs typeface="Calibri" pitchFamily="34" charset="-120"/>
              </a:rPr>
              <a:t>[Presenter Name]
</a:t>
            </a:r>
            <a:endParaRPr lang="en-US" sz="2800" dirty="0"/>
          </a:p>
          <a:p>
            <a:pPr algn="l" indent="0" marL="0">
              <a:lnSpc>
                <a:spcPct val="120000"/>
              </a:lnSpc>
              <a:buNone/>
            </a:pPr>
            <a:r>
              <a:rPr lang="en-US" sz="1300" dirty="0">
                <a:solidFill>
                  <a:srgbClr val="FFFFFF"/>
                </a:solidFill>
                <a:latin typeface="Calibri" pitchFamily="34" charset="0"/>
                <a:ea typeface="Calibri" pitchFamily="34" charset="-122"/>
                <a:cs typeface="Calibri" pitchFamily="34" charset="-120"/>
              </a:rPr>
              <a:t>[Title | Practice]
</a:t>
            </a:r>
            <a:endParaRPr lang="en-US" sz="2800" dirty="0"/>
          </a:p>
          <a:p>
            <a:pPr algn="l" indent="0" marL="0">
              <a:lnSpc>
                <a:spcPct val="120000"/>
              </a:lnSpc>
              <a:buNone/>
            </a:pPr>
            <a:r>
              <a:rPr lang="en-US" sz="1300" dirty="0">
                <a:solidFill>
                  <a:srgbClr val="D0D0CE"/>
                </a:solidFill>
                <a:latin typeface="Calibri" pitchFamily="34" charset="0"/>
                <a:ea typeface="Calibri" pitchFamily="34" charset="-122"/>
                <a:cs typeface="Calibri" pitchFamily="34" charset="-120"/>
              </a:rPr>
              <a:t>[email@deloitte.com]</a:t>
            </a:r>
            <a:endParaRPr lang="en-US" sz="2800" dirty="0"/>
          </a:p>
        </p:txBody>
      </p:sp>
      <p:sp>
        <p:nvSpPr>
          <p:cNvPr id="5" name="Shape 3"/>
          <p:cNvSpPr/>
          <p:nvPr/>
        </p:nvSpPr>
        <p:spPr>
          <a:xfrm>
            <a:off x="9372600" y="4215384"/>
            <a:ext cx="2322576" cy="1728216"/>
          </a:xfrm>
          <a:prstGeom prst="rect">
            <a:avLst/>
          </a:prstGeom>
          <a:solidFill>
            <a:srgbClr val="0B1C14"/>
          </a:solidFill>
          <a:ln w="9525">
            <a:solidFill>
              <a:srgbClr val="86BC25"/>
            </a:solidFill>
            <a:prstDash val="solid"/>
          </a:ln>
        </p:spPr>
      </p:sp>
      <p:sp>
        <p:nvSpPr>
          <p:cNvPr id="6" name="Text 4"/>
          <p:cNvSpPr txBox="1"/>
          <p:nvPr/>
        </p:nvSpPr>
        <p:spPr>
          <a:xfrm>
            <a:off x="9372600" y="4892040"/>
            <a:ext cx="2322576" cy="365760"/>
          </a:xfrm>
          <a:prstGeom prst="rect">
            <a:avLst/>
          </a:prstGeom>
          <a:noFill/>
          <a:ln/>
        </p:spPr>
        <p:txBody>
          <a:bodyPr wrap="square" rtlCol="0" anchor="ctr"/>
          <a:lstStyle/>
          <a:p>
            <a:pPr algn="ctr" indent="0" marL="0">
              <a:buNone/>
            </a:pPr>
            <a:r>
              <a:rPr lang="en-US" sz="1600" b="1" dirty="0">
                <a:solidFill>
                  <a:srgbClr val="86BC25"/>
                </a:solidFill>
                <a:latin typeface="Calibri" pitchFamily="34" charset="0"/>
                <a:ea typeface="Calibri" pitchFamily="34" charset="-122"/>
                <a:cs typeface="Calibri" pitchFamily="34" charset="-120"/>
              </a:rPr>
              <a:t>D.FEND</a:t>
            </a:r>
            <a:endParaRPr lang="en-US" sz="1600" dirty="0"/>
          </a:p>
        </p:txBody>
      </p:sp>
      <p:sp>
        <p:nvSpPr>
          <p:cNvPr id="7" name="Text 5"/>
          <p:cNvSpPr txBox="1"/>
          <p:nvPr/>
        </p:nvSpPr>
        <p:spPr>
          <a:xfrm>
            <a:off x="9370771" y="6016752"/>
            <a:ext cx="2322576" cy="365760"/>
          </a:xfrm>
          <a:prstGeom prst="rect">
            <a:avLst/>
          </a:prstGeom>
          <a:noFill/>
          <a:ln/>
        </p:spPr>
        <p:txBody>
          <a:bodyPr wrap="square" rtlCol="0" anchor="ctr"/>
          <a:lstStyle/>
          <a:p>
            <a:pPr algn="ctr" indent="0" marL="0">
              <a:buNone/>
            </a:pPr>
            <a:r>
              <a:rPr lang="en-US" sz="1000" i="1" dirty="0">
                <a:solidFill>
                  <a:srgbClr val="D0D0CE"/>
                </a:solidFill>
                <a:latin typeface="Calibri" pitchFamily="34" charset="0"/>
                <a:ea typeface="Calibri" pitchFamily="34" charset="-122"/>
                <a:cs typeface="Calibri" pitchFamily="34" charset="-120"/>
              </a:rPr>
              <a:t>Fin Crime Forum</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46</Slides>
  <Notes>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46</vt:i4>
      </vt:variant>
    </vt:vector>
  </HeadingPairs>
  <TitlesOfParts>
    <vt:vector size="4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2026-09-27T16:34:19Z</dcterms:created>
  <dcterms:modified xsi:type="dcterms:W3CDTF">2026-09-27T16:34:19Z</dcterms:modified>
</cp:coreProperties>
</file>