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6.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7.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8.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9.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0.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1.xml" ContentType="application/vnd.openxmlformats-officedocument.drawingml.chart+xml"/>
  <Override PartName="/ppt/charts/chart12.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13.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4.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5.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6.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7.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charts/chart18.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United States</c:v>
                  </c:pt>
                  <c:pt idx="1">
                    <c:v>Canada</c:v>
                  </c:pt>
                  <c:pt idx="2">
                    <c:v>United Kingdom</c:v>
                  </c:pt>
                  <c:pt idx="3">
                    <c:v>Australia</c:v>
                  </c:pt>
                  <c:pt idx="4">
                    <c:v>Singapore</c:v>
                  </c:pt>
                  <c:pt idx="5">
                    <c:v>EU</c:v>
                  </c:pt>
                </c:lvl>
              </c:multiLvlStrCache>
            </c:multiLvlStrRef>
          </c:cat>
          <c:val>
            <c:numRef>
              <c:f>Sheet1!$B$2:$B$7</c:f>
              <c:numCache>
                <c:formatCode>General</c:formatCode>
                <c:ptCount val="6"/>
                <c:pt idx="0">
                  <c:v>45</c:v>
                </c:pt>
                <c:pt idx="1">
                  <c:v>24</c:v>
                </c:pt>
                <c:pt idx="2">
                  <c:v>12</c:v>
                </c:pt>
                <c:pt idx="3">
                  <c:v>9</c:v>
                </c:pt>
                <c:pt idx="4">
                  <c:v>5</c:v>
                </c:pt>
                <c:pt idx="5">
                  <c:v>4</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United States</c:v>
                  </c:pt>
                  <c:pt idx="1">
                    <c:v>Canada</c:v>
                  </c:pt>
                  <c:pt idx="2">
                    <c:v>United Kingdom</c:v>
                  </c:pt>
                  <c:pt idx="3">
                    <c:v>Australia</c:v>
                  </c:pt>
                  <c:pt idx="4">
                    <c:v>Singapore</c:v>
                  </c:pt>
                  <c:pt idx="5">
                    <c:v>EU</c:v>
                  </c:pt>
                </c:lvl>
              </c:multiLvlStrCache>
            </c:multiLvlStrRef>
          </c:cat>
          <c:val>
            <c:numRef>
              <c:f>Sheet1!$C$2:$C$7</c:f>
              <c:numCache>
                <c:formatCode>General</c:formatCode>
                <c:ptCount val="6"/>
                <c:pt idx="0">
                  <c:v>40</c:v>
                </c:pt>
                <c:pt idx="1">
                  <c:v>48</c:v>
                </c:pt>
                <c:pt idx="2">
                  <c:v>8</c:v>
                </c:pt>
                <c:pt idx="3">
                  <c:v>4</c:v>
                </c:pt>
                <c:pt idx="4">
                  <c:v>0</c:v>
                </c:pt>
                <c:pt idx="5">
                  <c:v>0</c:v>
                </c:pt>
              </c:numCache>
            </c:numRef>
          </c:val>
        </c:ser>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Fraud Operations</c:v>
                  </c:pt>
                  <c:pt idx="1">
                    <c:v>Fraud Analytics/Intelligence</c:v>
                  </c:pt>
                  <c:pt idx="2">
                    <c:v>Fraud Strategy &amp; Transformation</c:v>
                  </c:pt>
                  <c:pt idx="3">
                    <c:v>Fraud Risk &amp; Governance</c:v>
                  </c:pt>
                  <c:pt idx="4">
                    <c:v>Fraud Investigations Unit</c:v>
                  </c:pt>
                  <c:pt idx="5">
                    <c:v>Special Investigations Unit</c:v>
                  </c:pt>
                </c:lvl>
              </c:multiLvlStrCache>
            </c:multiLvlStrRef>
          </c:cat>
          <c:val>
            <c:numRef>
              <c:f>Sheet1!$B$2:$B$7</c:f>
              <c:numCache>
                <c:formatCode>General</c:formatCode>
                <c:ptCount val="6"/>
                <c:pt idx="0">
                  <c:v>27</c:v>
                </c:pt>
                <c:pt idx="1">
                  <c:v>20</c:v>
                </c:pt>
                <c:pt idx="2">
                  <c:v>20</c:v>
                </c:pt>
                <c:pt idx="3">
                  <c:v>19</c:v>
                </c:pt>
                <c:pt idx="4">
                  <c:v>8</c:v>
                </c:pt>
                <c:pt idx="5">
                  <c:v>7</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Fraud Operations</c:v>
                  </c:pt>
                  <c:pt idx="1">
                    <c:v>Fraud Analytics/Intelligence</c:v>
                  </c:pt>
                  <c:pt idx="2">
                    <c:v>Fraud Strategy &amp; Transformation</c:v>
                  </c:pt>
                  <c:pt idx="3">
                    <c:v>Fraud Risk &amp; Governance</c:v>
                  </c:pt>
                  <c:pt idx="4">
                    <c:v>Fraud Investigations Unit</c:v>
                  </c:pt>
                  <c:pt idx="5">
                    <c:v>Special Investigations Unit</c:v>
                  </c:pt>
                </c:lvl>
              </c:multiLvlStrCache>
            </c:multiLvlStrRef>
          </c:cat>
          <c:val>
            <c:numRef>
              <c:f>Sheet1!$C$2:$C$7</c:f>
              <c:numCache>
                <c:formatCode>General</c:formatCode>
                <c:ptCount val="6"/>
                <c:pt idx="0">
                  <c:v>20</c:v>
                </c:pt>
                <c:pt idx="1">
                  <c:v>8</c:v>
                </c:pt>
                <c:pt idx="2">
                  <c:v>12</c:v>
                </c:pt>
                <c:pt idx="3">
                  <c:v>32</c:v>
                </c:pt>
                <c:pt idx="4">
                  <c:v>12</c:v>
                </c:pt>
                <c:pt idx="5">
                  <c:v>16</c:v>
                </c:pt>
              </c:numCache>
            </c:numRef>
          </c:val>
        </c:ser>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Greatest Increase in AI/Deepfake Vulnerability</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Digital onboarding, KYC &amp; identity verification</c:v>
                  </c:pt>
                  <c:pt idx="1">
                    <c:v>Payment, wire &amp; transaction approvals</c:v>
                  </c:pt>
                  <c:pt idx="2">
                    <c:v>Claims, underwriting &amp; lending review</c:v>
                  </c:pt>
                  <c:pt idx="3">
                    <c:v>Contact center / phone-based authentication</c:v>
                  </c:pt>
                  <c:pt idx="4">
                    <c:v>Executive / employee / broker impersonation</c:v>
                  </c:pt>
                  <c:pt idx="5">
                    <c:v>Video meetings &amp; remote advisory</c:v>
                  </c:pt>
                </c:lvl>
              </c:multiLvlStrCache>
            </c:multiLvlStrRef>
          </c:cat>
          <c:val>
            <c:numRef>
              <c:f>Sheet1!$B$2:$B$7</c:f>
              <c:numCache>
                <c:formatCode>General</c:formatCode>
                <c:ptCount val="6"/>
                <c:pt idx="0">
                  <c:v>70</c:v>
                </c:pt>
                <c:pt idx="1">
                  <c:v>64</c:v>
                </c:pt>
                <c:pt idx="2">
                  <c:v>53</c:v>
                </c:pt>
                <c:pt idx="3">
                  <c:v>52</c:v>
                </c:pt>
                <c:pt idx="4">
                  <c:v>43</c:v>
                </c:pt>
                <c:pt idx="5">
                  <c:v>15</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Digital onboarding &amp; KYC</c:v>
                  </c:pt>
                  <c:pt idx="1">
                    <c:v>Payment / wire approvals</c:v>
                  </c:pt>
                  <c:pt idx="2">
                    <c:v>Claims &amp; underwriting review</c:v>
                  </c:pt>
                  <c:pt idx="3">
                    <c:v>Contact center / phone auth</c:v>
                  </c:pt>
                  <c:pt idx="4">
                    <c:v>Exec / employee impersonation</c:v>
                  </c:pt>
                  <c:pt idx="5">
                    <c:v>Video meetings &amp; remote advisory</c:v>
                  </c:pt>
                </c:lvl>
              </c:multiLvlStrCache>
            </c:multiLvlStrRef>
          </c:cat>
          <c:val>
            <c:numRef>
              <c:f>Sheet1!$B$2:$B$7</c:f>
              <c:numCache>
                <c:formatCode>General</c:formatCode>
                <c:ptCount val="6"/>
                <c:pt idx="0">
                  <c:v>73</c:v>
                </c:pt>
                <c:pt idx="1">
                  <c:v>73</c:v>
                </c:pt>
                <c:pt idx="2">
                  <c:v>48</c:v>
                </c:pt>
                <c:pt idx="3">
                  <c:v>47</c:v>
                </c:pt>
                <c:pt idx="4">
                  <c:v>40</c:v>
                </c:pt>
                <c:pt idx="5">
                  <c:v>15</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Insurance</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Contact center / phone auth</c:v>
                  </c:pt>
                  <c:pt idx="1">
                    <c:v>Claims &amp; underwriting review</c:v>
                  </c:pt>
                  <c:pt idx="2">
                    <c:v>Exec / employee impersonation</c:v>
                  </c:pt>
                  <c:pt idx="3">
                    <c:v>Digital onboarding &amp; KYC</c:v>
                  </c:pt>
                  <c:pt idx="4">
                    <c:v>Payment / wire approvals</c:v>
                  </c:pt>
                  <c:pt idx="5">
                    <c:v>Video meetings &amp; remote advisory</c:v>
                  </c:pt>
                </c:lvl>
              </c:multiLvlStrCache>
            </c:multiLvlStrRef>
          </c:cat>
          <c:val>
            <c:numRef>
              <c:f>Sheet1!$B$2:$B$7</c:f>
              <c:numCache>
                <c:formatCode>General</c:formatCode>
                <c:ptCount val="6"/>
                <c:pt idx="0">
                  <c:v>72</c:v>
                </c:pt>
                <c:pt idx="1">
                  <c:v>64</c:v>
                </c:pt>
                <c:pt idx="2">
                  <c:v>60</c:v>
                </c:pt>
                <c:pt idx="3">
                  <c:v>52</c:v>
                </c:pt>
                <c:pt idx="4">
                  <c:v>36</c:v>
                </c:pt>
                <c:pt idx="5">
                  <c:v>16</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Key Obstacles to Managing AI-Driven Fraud Risk</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Limited staff awareness &amp; training</c:v>
                  </c:pt>
                  <c:pt idx="1">
                    <c:v>Insufficient identity verification / prevention capability</c:v>
                  </c:pt>
                  <c:pt idx="2">
                    <c:v>Lack of fraud detection technology</c:v>
                  </c:pt>
                  <c:pt idx="3">
                    <c:v>Limited 3rd-party intel / consortium data</c:v>
                  </c:pt>
                </c:lvl>
              </c:multiLvlStrCache>
            </c:multiLvlStrRef>
          </c:cat>
          <c:val>
            <c:numRef>
              <c:f>Sheet1!$B$2:$B$5</c:f>
              <c:numCache>
                <c:formatCode>General</c:formatCode>
                <c:ptCount val="4"/>
                <c:pt idx="0">
                  <c:v>53</c:v>
                </c:pt>
                <c:pt idx="1">
                  <c:v>50</c:v>
                </c:pt>
                <c:pt idx="2">
                  <c:v>46</c:v>
                </c:pt>
                <c:pt idx="3">
                  <c:v>43</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Limited staff awareness &amp; training</c:v>
                  </c:pt>
                  <c:pt idx="1">
                    <c:v>Insufficient ID verification / prevention</c:v>
                  </c:pt>
                  <c:pt idx="2">
                    <c:v>Lack of fraud detection technology</c:v>
                  </c:pt>
                  <c:pt idx="3">
                    <c:v>Limited 3rd-party intel / consortium data</c:v>
                  </c:pt>
                </c:lvl>
              </c:multiLvlStrCache>
            </c:multiLvlStrRef>
          </c:cat>
          <c:val>
            <c:numRef>
              <c:f>Sheet1!$B$2:$B$5</c:f>
              <c:numCache>
                <c:formatCode>General</c:formatCode>
                <c:ptCount val="4"/>
                <c:pt idx="0">
                  <c:v>49</c:v>
                </c:pt>
                <c:pt idx="1">
                  <c:v>51</c:v>
                </c:pt>
                <c:pt idx="2">
                  <c:v>48</c:v>
                </c:pt>
                <c:pt idx="3">
                  <c:v>43</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Limited staff awareness &amp; training</c:v>
                  </c:pt>
                  <c:pt idx="1">
                    <c:v>Insufficient ID verification / prevention</c:v>
                  </c:pt>
                  <c:pt idx="2">
                    <c:v>Lack of fraud detection technology</c:v>
                  </c:pt>
                  <c:pt idx="3">
                    <c:v>Limited 3rd-party intel / consortium data</c:v>
                  </c:pt>
                </c:lvl>
              </c:multiLvlStrCache>
            </c:multiLvlStrRef>
          </c:cat>
          <c:val>
            <c:numRef>
              <c:f>Sheet1!$C$2:$C$5</c:f>
              <c:numCache>
                <c:formatCode>General</c:formatCode>
                <c:ptCount val="4"/>
                <c:pt idx="0">
                  <c:v>64</c:v>
                </c:pt>
                <c:pt idx="1">
                  <c:v>48</c:v>
                </c:pt>
                <c:pt idx="2">
                  <c:v>40</c:v>
                </c:pt>
                <c:pt idx="3">
                  <c:v>44</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Sheet1!$B$2:$B$9</c:f>
              <c:numCache>
                <c:formatCode>General</c:formatCode>
                <c:ptCount val="8"/>
                <c:pt idx="0">
                  <c:v>23</c:v>
                </c:pt>
                <c:pt idx="1">
                  <c:v>20</c:v>
                </c:pt>
                <c:pt idx="2">
                  <c:v>24</c:v>
                </c:pt>
                <c:pt idx="3">
                  <c:v>24</c:v>
                </c:pt>
                <c:pt idx="4">
                  <c:v>21</c:v>
                </c:pt>
                <c:pt idx="5">
                  <c:v>8</c:v>
                </c:pt>
                <c:pt idx="6">
                  <c:v>12</c:v>
                </c:pt>
                <c:pt idx="7">
                  <c:v>20</c:v>
                </c:pt>
              </c:numCache>
            </c:numRef>
          </c:val>
        </c:ser>
        <c:ser>
          <c:idx val="1"/>
          <c:order val="1"/>
          <c:tx>
            <c:strRef>
              <c:f>Sheet1!$C$1</c:f>
              <c:strCache>
                <c:ptCount val="1"/>
                <c:pt idx="0">
                  <c:v>Canada</c:v>
                </c:pt>
              </c:strCache>
            </c:strRef>
          </c:tx>
          <c:spPr>
            <a:solidFill>
              <a:srgbClr val="43B02A"/>
            </a:solidFill>
            <a:effectLst/>
          </c:spPr>
          <c:invertIfNegative val="0"/>
          <c:dLbls>
            <c:numFmt formatCode="#,##0"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Sheet1!$C$2:$C$9</c:f>
              <c:numCache>
                <c:formatCode>General</c:formatCode>
                <c:ptCount val="8"/>
                <c:pt idx="0">
                  <c:v>16</c:v>
                </c:pt>
                <c:pt idx="1">
                  <c:v>36</c:v>
                </c:pt>
                <c:pt idx="2">
                  <c:v>13</c:v>
                </c:pt>
                <c:pt idx="3">
                  <c:v>20</c:v>
                </c:pt>
                <c:pt idx="4">
                  <c:v>12</c:v>
                </c:pt>
                <c:pt idx="5">
                  <c:v>28</c:v>
                </c:pt>
                <c:pt idx="6">
                  <c:v>15</c:v>
                </c:pt>
                <c:pt idx="7">
                  <c:v>20</c:v>
                </c:pt>
              </c:numCache>
            </c:numRef>
          </c:val>
        </c:ser>
        <c:ser>
          <c:idx val="2"/>
          <c:order val="2"/>
          <c:tx>
            <c:strRef>
              <c:f>Sheet1!$D$1</c:f>
              <c:strCache>
                <c:ptCount val="1"/>
                <c:pt idx="0">
                  <c:v>Europe (EU + UK)</c:v>
                </c:pt>
              </c:strCache>
            </c:strRef>
          </c:tx>
          <c:spPr>
            <a:solidFill>
              <a:srgbClr val="046A38"/>
            </a:solidFill>
            <a:effectLst/>
          </c:spPr>
          <c:invertIfNegative val="0"/>
          <c:dLbls>
            <c:numFmt formatCode="#,##0"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Sheet1!$D$2:$D$9</c:f>
              <c:numCache>
                <c:formatCode>General</c:formatCode>
                <c:ptCount val="8"/>
                <c:pt idx="0">
                  <c:v>5</c:v>
                </c:pt>
                <c:pt idx="1">
                  <c:v>0</c:v>
                </c:pt>
                <c:pt idx="2">
                  <c:v>8</c:v>
                </c:pt>
                <c:pt idx="3">
                  <c:v>0</c:v>
                </c:pt>
                <c:pt idx="4">
                  <c:v>8</c:v>
                </c:pt>
                <c:pt idx="5">
                  <c:v>0</c:v>
                </c:pt>
                <c:pt idx="6">
                  <c:v>7</c:v>
                </c:pt>
                <c:pt idx="7">
                  <c:v>0</c:v>
                </c:pt>
              </c:numCache>
            </c:numRef>
          </c:val>
        </c:ser>
        <c:ser>
          <c:idx val="3"/>
          <c:order val="3"/>
          <c:tx>
            <c:strRef>
              <c:f>Sheet1!$E$1</c:f>
              <c:strCache>
                <c:ptCount val="1"/>
                <c:pt idx="0">
                  <c:v>Australia</c:v>
                </c:pt>
              </c:strCache>
            </c:strRef>
          </c:tx>
          <c:spPr>
            <a:solidFill>
              <a:srgbClr val="0D8390"/>
            </a:solidFill>
            <a:effectLst/>
          </c:spPr>
          <c:invertIfNegative val="0"/>
          <c:dLbls>
            <c:numFmt formatCode="#,##0"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Sheet1!$E$2:$E$9</c:f>
              <c:numCache>
                <c:formatCode>General</c:formatCode>
                <c:ptCount val="8"/>
                <c:pt idx="0">
                  <c:v>3</c:v>
                </c:pt>
                <c:pt idx="1">
                  <c:v>0</c:v>
                </c:pt>
                <c:pt idx="2">
                  <c:v>3</c:v>
                </c:pt>
                <c:pt idx="3">
                  <c:v>0</c:v>
                </c:pt>
                <c:pt idx="4">
                  <c:v>4</c:v>
                </c:pt>
                <c:pt idx="5">
                  <c:v>0</c:v>
                </c:pt>
                <c:pt idx="6">
                  <c:v>7</c:v>
                </c:pt>
                <c:pt idx="7">
                  <c:v>0</c:v>
                </c:pt>
              </c:numCache>
            </c:numRef>
          </c:val>
        </c:ser>
        <c:ser>
          <c:idx val="4"/>
          <c:order val="4"/>
          <c:tx>
            <c:strRef>
              <c:f>Sheet1!$F$1</c:f>
              <c:strCache>
                <c:ptCount val="1"/>
                <c:pt idx="0">
                  <c:v>Singapore</c:v>
                </c:pt>
              </c:strCache>
            </c:strRef>
          </c:tx>
          <c:spPr>
            <a:solidFill>
              <a:srgbClr val="53565A"/>
            </a:solidFill>
            <a:effectLst/>
          </c:spPr>
          <c:invertIfNegative val="0"/>
          <c:dLbls>
            <c:numFmt formatCode="#,##0"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Sheet1!$F$2:$F$9</c:f>
              <c:numCache>
                <c:formatCode>General</c:formatCode>
                <c:ptCount val="8"/>
                <c:pt idx="0">
                  <c:v>3</c:v>
                </c:pt>
                <c:pt idx="1">
                  <c:v>0</c:v>
                </c:pt>
                <c:pt idx="2">
                  <c:v>3</c:v>
                </c:pt>
                <c:pt idx="3">
                  <c:v>0</c:v>
                </c:pt>
                <c:pt idx="4">
                  <c:v>3</c:v>
                </c:pt>
                <c:pt idx="5">
                  <c:v>0</c:v>
                </c:pt>
                <c:pt idx="6">
                  <c:v>3</c:v>
                </c:pt>
                <c:pt idx="7">
                  <c:v>0</c:v>
                </c:pt>
              </c:numCache>
            </c:numRef>
          </c:val>
        </c:ser>
        <c:ser>
          <c:idx val="5"/>
          <c:order val="5"/>
          <c:tx>
            <c:strRef>
              <c:f>Sheet1!$G$1</c:f>
              <c:strCache>
                <c:ptCount val="1"/>
                <c:pt idx="0">
                  <c:v>Other markets (Insurance: UK/AU/SG)</c:v>
                </c:pt>
              </c:strCache>
            </c:strRef>
          </c:tx>
          <c:spPr>
            <a:solidFill>
              <a:srgbClr val="D0D0CE"/>
            </a:solidFill>
            <a:effectLst/>
          </c:spPr>
          <c:invertIfNegative val="0"/>
          <c:dLbls>
            <c:numFmt formatCode="#,##0"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Sheet1!$G$2:$G$9</c:f>
              <c:numCache>
                <c:formatCode>General</c:formatCode>
                <c:ptCount val="8"/>
                <c:pt idx="0">
                  <c:v>0</c:v>
                </c:pt>
                <c:pt idx="1">
                  <c:v>8</c:v>
                </c:pt>
                <c:pt idx="2">
                  <c:v>0</c:v>
                </c:pt>
                <c:pt idx="3">
                  <c:v>4</c:v>
                </c:pt>
                <c:pt idx="4">
                  <c:v>0</c:v>
                </c:pt>
                <c:pt idx="5">
                  <c:v>4</c:v>
                </c:pt>
                <c:pt idx="6">
                  <c:v>0</c:v>
                </c:pt>
                <c:pt idx="7">
                  <c:v>4</c:v>
                </c:pt>
              </c:numCache>
            </c:numRef>
          </c:val>
        </c:ser>
        <c:dLbls>
          <c:numFmt formatCode="#,##0"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Biggest Barriers to Effective Information Sharing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Limited data standardization &amp; poor quality</c:v>
                  </c:pt>
                  <c:pt idx="1">
                    <c:v>Legal, privacy or regulatory constraints</c:v>
                  </c:pt>
                  <c:pt idx="2">
                    <c:v>Lack of external industry participation</c:v>
                  </c:pt>
                  <c:pt idx="3">
                    <c:v>Insufficient budget or resources</c:v>
                  </c:pt>
                  <c:pt idx="4">
                    <c:v>Difficulty demonstrating ROI</c:v>
                  </c:pt>
                  <c:pt idx="5">
                    <c:v>Unclear internal ownership / governance</c:v>
                  </c:pt>
                </c:lvl>
              </c:multiLvlStrCache>
            </c:multiLvlStrRef>
          </c:cat>
          <c:val>
            <c:numRef>
              <c:f>Sheet1!$B$2:$B$7</c:f>
              <c:numCache>
                <c:formatCode>General</c:formatCode>
                <c:ptCount val="6"/>
                <c:pt idx="0">
                  <c:v>77</c:v>
                </c:pt>
                <c:pt idx="1">
                  <c:v>73</c:v>
                </c:pt>
                <c:pt idx="2">
                  <c:v>60</c:v>
                </c:pt>
                <c:pt idx="3">
                  <c:v>36</c:v>
                </c:pt>
                <c:pt idx="4">
                  <c:v>27</c:v>
                </c:pt>
                <c:pt idx="5">
                  <c:v>26</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Government Action With the Greatest Impact on Info Sharing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Centralized fraud info-sharing platform / utility</c:v>
                  </c:pt>
                  <c:pt idx="1">
                    <c:v>Clearer legal &amp; regulatory frameworks</c:v>
                  </c:pt>
                  <c:pt idx="2">
                    <c:v>Common data standards &amp; definitions</c:v>
                  </c:pt>
                  <c:pt idx="3">
                    <c:v>Greater public-private collaboration</c:v>
                  </c:pt>
                  <c:pt idx="4">
                    <c:v>Prioritized industry use cases</c:v>
                  </c:pt>
                  <c:pt idx="5">
                    <c:v>Funding or incentives</c:v>
                  </c:pt>
                </c:lvl>
              </c:multiLvlStrCache>
            </c:multiLvlStrRef>
          </c:cat>
          <c:val>
            <c:numRef>
              <c:f>Sheet1!$B$2:$B$7</c:f>
              <c:numCache>
                <c:formatCode>General</c:formatCode>
                <c:ptCount val="6"/>
                <c:pt idx="0">
                  <c:v>35</c:v>
                </c:pt>
                <c:pt idx="1">
                  <c:v>26</c:v>
                </c:pt>
                <c:pt idx="2">
                  <c:v>14</c:v>
                </c:pt>
                <c:pt idx="3">
                  <c:v>13</c:v>
                </c:pt>
                <c:pt idx="4">
                  <c:v>9</c:v>
                </c:pt>
                <c:pt idx="5">
                  <c:v>3</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Fintech partners</c:v>
                  </c:pt>
                  <c:pt idx="1">
                    <c:v>Business &amp; commercial clients</c:v>
                  </c:pt>
                  <c:pt idx="2">
                    <c:v>Dealers &amp; indirect lending partners</c:v>
                  </c:pt>
                  <c:pt idx="3">
                    <c:v>Mortgage brokers</c:v>
                  </c:pt>
                  <c:pt idx="4">
                    <c:v>Merchants</c:v>
                  </c:pt>
                  <c:pt idx="5">
                    <c:v>Appraisers</c:v>
                  </c:pt>
                </c:lvl>
              </c:multiLvlStrCache>
            </c:multiLvlStrRef>
          </c:cat>
          <c:val>
            <c:numRef>
              <c:f>Sheet1!$B$2:$B$7</c:f>
              <c:numCache>
                <c:formatCode>General</c:formatCode>
                <c:ptCount val="6"/>
                <c:pt idx="0">
                  <c:v>28</c:v>
                </c:pt>
                <c:pt idx="1">
                  <c:v>24</c:v>
                </c:pt>
                <c:pt idx="2">
                  <c:v>20</c:v>
                </c:pt>
                <c:pt idx="3">
                  <c:v>16</c:v>
                </c:pt>
                <c:pt idx="4">
                  <c:v>7</c:v>
                </c:pt>
                <c:pt idx="5">
                  <c:v>4</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Insurance</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Health care providers</c:v>
                  </c:pt>
                  <c:pt idx="1">
                    <c:v>Automotive service providers</c:v>
                  </c:pt>
                  <c:pt idx="2">
                    <c:v>Brokers &amp; distribution partners</c:v>
                  </c:pt>
                  <c:pt idx="3">
                    <c:v>Third-party administrators (TPAs)</c:v>
                  </c:pt>
                  <c:pt idx="4">
                    <c:v>Property claims service providers</c:v>
                  </c:pt>
                  <c:pt idx="5">
                    <c:v>Legal representatives &amp; paralegals</c:v>
                  </c:pt>
                </c:lvl>
              </c:multiLvlStrCache>
            </c:multiLvlStrRef>
          </c:cat>
          <c:val>
            <c:numRef>
              <c:f>Sheet1!$B$2:$B$7</c:f>
              <c:numCache>
                <c:formatCode>General</c:formatCode>
                <c:ptCount val="6"/>
                <c:pt idx="0">
                  <c:v>40</c:v>
                </c:pt>
                <c:pt idx="1">
                  <c:v>16</c:v>
                </c:pt>
                <c:pt idx="2">
                  <c:v>16</c:v>
                </c:pt>
                <c:pt idx="3">
                  <c:v>12</c:v>
                </c:pt>
                <c:pt idx="4">
                  <c:v>12</c:v>
                </c:pt>
                <c:pt idx="5">
                  <c:v>4</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Strategy Expected to Most Reduce Third-Party Risk</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Increase info sharing &amp; intelligence</c:v>
                  </c:pt>
                  <c:pt idx="1">
                    <c:v>Enhance ongoing monitoring &amp; detection</c:v>
                  </c:pt>
                  <c:pt idx="2">
                    <c:v>Strengthen onboarding verification &amp; due diligence</c:v>
                  </c:pt>
                  <c:pt idx="3">
                    <c:v>Strengthen 3rd-party oversight &amp; accountability</c:v>
                  </c:pt>
                </c:lvl>
              </c:multiLvlStrCache>
            </c:multiLvlStrRef>
          </c:cat>
          <c:val>
            <c:numRef>
              <c:f>Sheet1!$B$2:$B$5</c:f>
              <c:numCache>
                <c:formatCode>General</c:formatCode>
                <c:ptCount val="4"/>
                <c:pt idx="0">
                  <c:v>30</c:v>
                </c:pt>
                <c:pt idx="1">
                  <c:v>27</c:v>
                </c:pt>
                <c:pt idx="2">
                  <c:v>23</c:v>
                </c:pt>
                <c:pt idx="3">
                  <c:v>19</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Increase info sharing &amp; intelligence</c:v>
                  </c:pt>
                  <c:pt idx="1">
                    <c:v>Enhance ongoing monitoring &amp; detection</c:v>
                  </c:pt>
                  <c:pt idx="2">
                    <c:v>Strengthen onboarding verification &amp; due diligence</c:v>
                  </c:pt>
                  <c:pt idx="3">
                    <c:v>Strengthen 3rd-party oversight &amp; accountability</c:v>
                  </c:pt>
                </c:lvl>
              </c:multiLvlStrCache>
            </c:multiLvlStrRef>
          </c:cat>
          <c:val>
            <c:numRef>
              <c:f>Sheet1!$B$2:$B$5</c:f>
              <c:numCache>
                <c:formatCode>General</c:formatCode>
                <c:ptCount val="4"/>
                <c:pt idx="0">
                  <c:v>33</c:v>
                </c:pt>
                <c:pt idx="1">
                  <c:v>25</c:v>
                </c:pt>
                <c:pt idx="2">
                  <c:v>23</c:v>
                </c:pt>
                <c:pt idx="3">
                  <c:v>17</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Increase info sharing &amp; intelligence</c:v>
                  </c:pt>
                  <c:pt idx="1">
                    <c:v>Enhance ongoing monitoring &amp; detection</c:v>
                  </c:pt>
                  <c:pt idx="2">
                    <c:v>Strengthen onboarding verification &amp; due diligence</c:v>
                  </c:pt>
                  <c:pt idx="3">
                    <c:v>Strengthen 3rd-party oversight &amp; accountability</c:v>
                  </c:pt>
                </c:lvl>
              </c:multiLvlStrCache>
            </c:multiLvlStrRef>
          </c:cat>
          <c:val>
            <c:numRef>
              <c:f>Sheet1!$C$2:$C$5</c:f>
              <c:numCache>
                <c:formatCode>General</c:formatCode>
                <c:ptCount val="4"/>
                <c:pt idx="0">
                  <c:v>20</c:v>
                </c:pt>
                <c:pt idx="1">
                  <c:v>32</c:v>
                </c:pt>
                <c:pt idx="2">
                  <c:v>24</c:v>
                </c:pt>
                <c:pt idx="3">
                  <c:v>24</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5</c:v>
                </c:pt>
                <c:pt idx="2">
                  <c:v>9</c:v>
                </c:pt>
                <c:pt idx="3">
                  <c:v>48</c:v>
                </c:pt>
                <c:pt idx="4">
                  <c:v>37</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Sheet1!$C$2:$C$6</c:f>
              <c:numCache>
                <c:formatCode>General</c:formatCode>
                <c:ptCount val="5"/>
                <c:pt idx="0">
                  <c:v>4</c:v>
                </c:pt>
                <c:pt idx="1">
                  <c:v>4</c:v>
                </c:pt>
                <c:pt idx="2">
                  <c:v>20</c:v>
                </c:pt>
                <c:pt idx="3">
                  <c:v>32</c:v>
                </c:pt>
                <c:pt idx="4">
                  <c:v>40</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Current approach</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 augmentation</c:v>
                  </c:pt>
                  <c:pt idx="1">
                    <c:v>Automating workflows</c:v>
                  </c:pt>
                  <c:pt idx="2">
                    <c:v>Redesigning processes &amp; playbooks</c:v>
                  </c:pt>
                  <c:pt idx="3">
                    <c:v>Outsourcing</c:v>
                  </c:pt>
                  <c:pt idx="4">
                    <c:v>Hiring / workforce expansion</c:v>
                  </c:pt>
                  <c:pt idx="5">
                    <c:v>Combination of approaches</c:v>
                  </c:pt>
                </c:lvl>
              </c:multiLvlStrCache>
            </c:multiLvlStrRef>
          </c:cat>
          <c:val>
            <c:numRef>
              <c:f>Sheet1!$B$2:$B$7</c:f>
              <c:numCache>
                <c:formatCode>General</c:formatCode>
                <c:ptCount val="6"/>
                <c:pt idx="0">
                  <c:v>34</c:v>
                </c:pt>
                <c:pt idx="1">
                  <c:v>29</c:v>
                </c:pt>
                <c:pt idx="2">
                  <c:v>10</c:v>
                </c:pt>
                <c:pt idx="3">
                  <c:v>10</c:v>
                </c:pt>
                <c:pt idx="4">
                  <c:v>10</c:v>
                </c:pt>
                <c:pt idx="5">
                  <c:v>7</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 augmentation</c:v>
                  </c:pt>
                  <c:pt idx="1">
                    <c:v>Automating workflows</c:v>
                  </c:pt>
                  <c:pt idx="2">
                    <c:v>Redesigning processes &amp; playbooks</c:v>
                  </c:pt>
                  <c:pt idx="3">
                    <c:v>Outsourcing</c:v>
                  </c:pt>
                  <c:pt idx="4">
                    <c:v>Hiring / workforce expansion</c:v>
                  </c:pt>
                  <c:pt idx="5">
                    <c:v>Combination of approaches</c:v>
                  </c:pt>
                </c:lvl>
              </c:multiLvlStrCache>
            </c:multiLvlStrRef>
          </c:cat>
          <c:val>
            <c:numRef>
              <c:f>Sheet1!$C$2:$C$7</c:f>
              <c:numCache>
                <c:formatCode>General</c:formatCode>
                <c:ptCount val="6"/>
                <c:pt idx="0">
                  <c:v>41</c:v>
                </c:pt>
                <c:pt idx="1">
                  <c:v>27</c:v>
                </c:pt>
                <c:pt idx="2">
                  <c:v>18</c:v>
                </c:pt>
                <c:pt idx="3">
                  <c:v>7</c:v>
                </c:pt>
                <c:pt idx="4">
                  <c:v>5</c:v>
                </c:pt>
                <c:pt idx="5">
                  <c:v>2</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Fraud Investment Relative to Regulatory Requirements</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Sheet1!$B$2:$B$4</c:f>
              <c:numCache>
                <c:formatCode>General</c:formatCode>
                <c:ptCount val="3"/>
                <c:pt idx="0">
                  <c:v>48</c:v>
                </c:pt>
                <c:pt idx="1">
                  <c:v>39</c:v>
                </c:pt>
                <c:pt idx="2">
                  <c:v>13</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Upcoming Regulatory / Market Change With Greatest Expected Impact</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Customer identity, authentication &amp; digital trust</c:v>
                  </c:pt>
                  <c:pt idx="1">
                    <c:v>Privacy, data-sharing &amp; AI governance requirements</c:v>
                  </c:pt>
                  <c:pt idx="2">
                    <c:v>Payment innovation (RTP, stablecoins, agentic payments)</c:v>
                  </c:pt>
                  <c:pt idx="3">
                    <c:v>Liability &amp; reimbursement changes</c:v>
                  </c:pt>
                  <c:pt idx="4">
                    <c:v>AML modernization initiatives</c:v>
                  </c:pt>
                  <c:pt idx="5">
                    <c:v>Open Banking / consumer-driven initiatives</c:v>
                  </c:pt>
                </c:lvl>
              </c:multiLvlStrCache>
            </c:multiLvlStrRef>
          </c:cat>
          <c:val>
            <c:numRef>
              <c:f>Sheet1!$B$2:$B$7</c:f>
              <c:numCache>
                <c:formatCode>General</c:formatCode>
                <c:ptCount val="6"/>
                <c:pt idx="0">
                  <c:v>71</c:v>
                </c:pt>
                <c:pt idx="1">
                  <c:v>66</c:v>
                </c:pt>
                <c:pt idx="2">
                  <c:v>65</c:v>
                </c:pt>
                <c:pt idx="3">
                  <c:v>36</c:v>
                </c:pt>
                <c:pt idx="4">
                  <c:v>33</c:v>
                </c:pt>
                <c:pt idx="5">
                  <c:v>29</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chart" Target="/ppt/charts/chart12.xml"/><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50607"/>
        </a:solidFill>
      </p:bgPr>
    </p:bg>
    <p:spTree>
      <p:nvGrpSpPr>
        <p:cNvPr id="1" name=""/>
        <p:cNvGrpSpPr/>
        <p:nvPr/>
      </p:nvGrpSpPr>
      <p:grpSpPr>
        <a:xfrm>
          <a:off x="0" y="0"/>
          <a:ext cx="0" cy="0"/>
          <a:chOff x="0" y="0"/>
          <a:chExt cx="0" cy="0"/>
        </a:xfrm>
      </p:grpSpPr>
      <p:sp>
        <p:nvSpPr>
          <p:cNvPr id="2" name="Text 0"/>
          <p:cNvSpPr txBox="1"/>
          <p:nvPr/>
        </p:nvSpPr>
        <p:spPr>
          <a:xfrm>
            <a:off x="502006" y="457200"/>
            <a:ext cx="1417320" cy="274320"/>
          </a:xfrm>
          <a:prstGeom prst="rect">
            <a:avLst/>
          </a:prstGeom>
          <a:noFill/>
          <a:ln/>
        </p:spPr>
        <p:txBody>
          <a:bodyPr wrap="square" lIns="0" tIns="0" rIns="0" bIns="0"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Deloitte</a:t>
            </a:r>
            <a:endParaRPr lang="en-US" sz="1600" dirty="0"/>
          </a:p>
        </p:txBody>
      </p:sp>
      <p:sp>
        <p:nvSpPr>
          <p:cNvPr id="3" name="Shape 1"/>
          <p:cNvSpPr/>
          <p:nvPr/>
        </p:nvSpPr>
        <p:spPr>
          <a:xfrm>
            <a:off x="1800454" y="598932"/>
            <a:ext cx="82296" cy="82296"/>
          </a:xfrm>
          <a:prstGeom prst="ellipse">
            <a:avLst/>
          </a:prstGeom>
          <a:solidFill>
            <a:srgbClr val="86BC25"/>
          </a:solidFill>
          <a:ln/>
        </p:spPr>
      </p:sp>
      <p:sp>
        <p:nvSpPr>
          <p:cNvPr id="4" name="Shape 2"/>
          <p:cNvSpPr/>
          <p:nvPr/>
        </p:nvSpPr>
        <p:spPr>
          <a:xfrm>
            <a:off x="3392424" y="731520"/>
            <a:ext cx="5404104" cy="5404104"/>
          </a:xfrm>
          <a:prstGeom prst="rect">
            <a:avLst/>
          </a:prstGeom>
          <a:solidFill>
            <a:srgbClr val="0B1C14"/>
          </a:solidFill>
          <a:ln w="9525">
            <a:solidFill>
              <a:srgbClr val="86BC25"/>
            </a:solidFill>
            <a:prstDash val="solid"/>
          </a:ln>
        </p:spPr>
      </p:sp>
      <p:sp>
        <p:nvSpPr>
          <p:cNvPr id="5" name="Shape 3"/>
          <p:cNvSpPr/>
          <p:nvPr/>
        </p:nvSpPr>
        <p:spPr>
          <a:xfrm>
            <a:off x="3392424" y="731520"/>
            <a:ext cx="5404104" cy="5404104"/>
          </a:xfrm>
          <a:prstGeom prst="rect">
            <a:avLst/>
          </a:prstGeom>
          <a:ln w="12700">
            <a:solidFill>
              <a:srgbClr val="86BC25"/>
            </a:solidFill>
            <a:prstDash val="dash"/>
          </a:ln>
        </p:spPr>
      </p:sp>
      <p:sp>
        <p:nvSpPr>
          <p:cNvPr id="6" name="Shape 4"/>
          <p:cNvSpPr/>
          <p:nvPr/>
        </p:nvSpPr>
        <p:spPr>
          <a:xfrm>
            <a:off x="3776472" y="1115568"/>
            <a:ext cx="4636008" cy="4636008"/>
          </a:xfrm>
          <a:prstGeom prst="rect">
            <a:avLst/>
          </a:prstGeom>
          <a:ln w="12700">
            <a:solidFill>
              <a:srgbClr val="0D8390"/>
            </a:solidFill>
            <a:prstDash val="dash"/>
          </a:ln>
        </p:spPr>
      </p:sp>
      <p:sp>
        <p:nvSpPr>
          <p:cNvPr id="7" name="Shape 5"/>
          <p:cNvSpPr/>
          <p:nvPr/>
        </p:nvSpPr>
        <p:spPr>
          <a:xfrm>
            <a:off x="4160520" y="1499616"/>
            <a:ext cx="3867912" cy="3867912"/>
          </a:xfrm>
          <a:prstGeom prst="rect">
            <a:avLst/>
          </a:prstGeom>
          <a:ln w="12700">
            <a:solidFill>
              <a:srgbClr val="86BC25"/>
            </a:solidFill>
            <a:prstDash val="dash"/>
          </a:ln>
        </p:spPr>
      </p:sp>
      <p:sp>
        <p:nvSpPr>
          <p:cNvPr id="8" name="Shape 6"/>
          <p:cNvSpPr/>
          <p:nvPr/>
        </p:nvSpPr>
        <p:spPr>
          <a:xfrm>
            <a:off x="4544568" y="1883664"/>
            <a:ext cx="3099816" cy="3099816"/>
          </a:xfrm>
          <a:prstGeom prst="rect">
            <a:avLst/>
          </a:prstGeom>
          <a:ln w="12700">
            <a:solidFill>
              <a:srgbClr val="0D8390"/>
            </a:solidFill>
            <a:prstDash val="dash"/>
          </a:ln>
        </p:spPr>
      </p:sp>
      <p:sp>
        <p:nvSpPr>
          <p:cNvPr id="9" name="Shape 7"/>
          <p:cNvSpPr/>
          <p:nvPr/>
        </p:nvSpPr>
        <p:spPr>
          <a:xfrm>
            <a:off x="4928616" y="2267712"/>
            <a:ext cx="2331720" cy="2331720"/>
          </a:xfrm>
          <a:prstGeom prst="rect">
            <a:avLst/>
          </a:prstGeom>
          <a:ln w="12700">
            <a:solidFill>
              <a:srgbClr val="86BC25"/>
            </a:solidFill>
            <a:prstDash val="dash"/>
          </a:ln>
        </p:spPr>
      </p:sp>
      <p:sp>
        <p:nvSpPr>
          <p:cNvPr id="10" name="Shape 8"/>
          <p:cNvSpPr/>
          <p:nvPr/>
        </p:nvSpPr>
        <p:spPr>
          <a:xfrm>
            <a:off x="5312664" y="2651760"/>
            <a:ext cx="1563624" cy="1563624"/>
          </a:xfrm>
          <a:prstGeom prst="rect">
            <a:avLst/>
          </a:prstGeom>
          <a:ln w="12700">
            <a:solidFill>
              <a:srgbClr val="0D8390"/>
            </a:solidFill>
            <a:prstDash val="dash"/>
          </a:ln>
        </p:spPr>
      </p:sp>
      <p:sp>
        <p:nvSpPr>
          <p:cNvPr id="11" name="Text 9"/>
          <p:cNvSpPr txBox="1"/>
          <p:nvPr/>
        </p:nvSpPr>
        <p:spPr>
          <a:xfrm>
            <a:off x="3392424" y="2656332"/>
            <a:ext cx="5404104" cy="777240"/>
          </a:xfrm>
          <a:prstGeom prst="rect">
            <a:avLst/>
          </a:prstGeom>
          <a:noFill/>
          <a:ln/>
        </p:spPr>
        <p:txBody>
          <a:bodyPr wrap="square" rtlCol="0" anchor="ctr"/>
          <a:lstStyle/>
          <a:p>
            <a:pPr algn="ctr" indent="0" marL="0">
              <a:buNone/>
            </a:pPr>
            <a:r>
              <a:rPr lang="en-US" sz="5400" b="1" dirty="0">
                <a:solidFill>
                  <a:srgbClr val="86BC25"/>
                </a:solidFill>
                <a:latin typeface="Calibri" pitchFamily="34" charset="0"/>
                <a:ea typeface="Calibri" pitchFamily="34" charset="-122"/>
                <a:cs typeface="Calibri" pitchFamily="34" charset="-120"/>
              </a:rPr>
              <a:t>100</a:t>
            </a:r>
            <a:endParaRPr lang="en-US" sz="5400" dirty="0"/>
          </a:p>
        </p:txBody>
      </p:sp>
      <p:sp>
        <p:nvSpPr>
          <p:cNvPr id="12" name="Text 10"/>
          <p:cNvSpPr txBox="1"/>
          <p:nvPr/>
        </p:nvSpPr>
        <p:spPr>
          <a:xfrm>
            <a:off x="3392424" y="3451860"/>
            <a:ext cx="5404104" cy="36576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FRAUD LEADERS SURVEYED</a:t>
            </a:r>
            <a:endParaRPr lang="en-US" sz="1400" dirty="0"/>
          </a:p>
        </p:txBody>
      </p:sp>
      <p:sp>
        <p:nvSpPr>
          <p:cNvPr id="13" name="Text 11"/>
          <p:cNvSpPr txBox="1"/>
          <p:nvPr/>
        </p:nvSpPr>
        <p:spPr>
          <a:xfrm>
            <a:off x="502006" y="4901184"/>
            <a:ext cx="9601200" cy="896112"/>
          </a:xfrm>
          <a:prstGeom prst="rect">
            <a:avLst/>
          </a:prstGeom>
          <a:noFill/>
          <a:ln/>
        </p:spPr>
        <p:txBody>
          <a:bodyPr wrap="square" lIns="0" tIns="0" rIns="0" bIns="0" rtlCol="0" anchor="t"/>
          <a:lstStyle/>
          <a:p>
            <a:pPr algn="l" indent="0" marL="0">
              <a:buNone/>
            </a:pPr>
            <a:r>
              <a:rPr lang="en-US" sz="2800" b="1" dirty="0">
                <a:solidFill>
                  <a:srgbClr val="FFFFFF"/>
                </a:solidFill>
                <a:latin typeface="Calibri" pitchFamily="34" charset="0"/>
                <a:ea typeface="Calibri" pitchFamily="34" charset="-122"/>
                <a:cs typeface="Calibri" pitchFamily="34" charset="-120"/>
              </a:rPr>
              <a:t>Fraud in 2026: Full Survey Results</a:t>
            </a:r>
            <a:endParaRPr lang="en-US" sz="2800" dirty="0"/>
          </a:p>
        </p:txBody>
      </p:sp>
      <p:sp>
        <p:nvSpPr>
          <p:cNvPr id="14" name="Text 12"/>
          <p:cNvSpPr txBox="1"/>
          <p:nvPr/>
        </p:nvSpPr>
        <p:spPr>
          <a:xfrm>
            <a:off x="502006" y="5870448"/>
            <a:ext cx="9601200" cy="685800"/>
          </a:xfrm>
          <a:prstGeom prst="rect">
            <a:avLst/>
          </a:prstGeom>
          <a:noFill/>
          <a:ln/>
        </p:spPr>
        <p:txBody>
          <a:bodyPr wrap="square" lIns="0" tIns="0" rIns="0" bIns="0" rtlCol="0" anchor="t"/>
          <a:lstStyle/>
          <a:p>
            <a:pPr algn="l" indent="0" marL="0">
              <a:buNone/>
            </a:pPr>
            <a:r>
              <a:rPr lang="en-US" sz="1600" dirty="0">
                <a:solidFill>
                  <a:srgbClr val="FFFFFF"/>
                </a:solidFill>
                <a:latin typeface="Calibri" pitchFamily="34" charset="0"/>
                <a:ea typeface="Calibri" pitchFamily="34" charset="-122"/>
                <a:cs typeface="Calibri" pitchFamily="34" charset="-120"/>
              </a:rPr>
              <a:t>Banking &amp; Insurance Fraud Landscape Survey — n=100, fielding complete
</a:t>
            </a:r>
            <a:pPr algn="l" indent="0" marL="0">
              <a:buNone/>
            </a:pPr>
            <a:r>
              <a:rPr lang="en-US" sz="1250" dirty="0">
                <a:solidFill>
                  <a:srgbClr val="D0D0CE"/>
                </a:solidFill>
                <a:latin typeface="Calibri" pitchFamily="34" charset="0"/>
                <a:ea typeface="Calibri" pitchFamily="34" charset="-122"/>
                <a:cs typeface="Calibri" pitchFamily="34" charset="-120"/>
              </a:rPr>
              <a:t>A Deloitte Perspective  ·  Fielded via GLG for the D.fend Fin Crime Forum</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ctr"/>
          <a:lstStyle/>
          <a:p>
            <a:pPr indent="0" marL="0">
              <a:buNone/>
            </a:pPr>
            <a:r>
              <a:rPr lang="en-US" sz="1900" b="1" dirty="0">
                <a:solidFill>
                  <a:srgbClr val="000000"/>
                </a:solidFill>
                <a:latin typeface="Calibri" pitchFamily="34" charset="0"/>
                <a:ea typeface="Calibri" pitchFamily="34" charset="-122"/>
                <a:cs typeface="Calibri" pitchFamily="34" charset="-120"/>
              </a:rPr>
              <a:t>Table of Contents</a:t>
            </a:r>
            <a:endParaRPr lang="en-US" sz="1900" dirty="0"/>
          </a:p>
        </p:txBody>
      </p:sp>
      <p:sp>
        <p:nvSpPr>
          <p:cNvPr id="3" name="Text 1"/>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a:t>
            </a:r>
            <a:endParaRPr lang="en-US" sz="900" dirty="0"/>
          </a:p>
        </p:txBody>
      </p:sp>
      <p:sp>
        <p:nvSpPr>
          <p:cNvPr id="4" name="Shape 2"/>
          <p:cNvSpPr/>
          <p:nvPr/>
        </p:nvSpPr>
        <p:spPr>
          <a:xfrm>
            <a:off x="498348" y="1508760"/>
            <a:ext cx="7772400" cy="548640"/>
          </a:xfrm>
          <a:prstGeom prst="rect">
            <a:avLst/>
          </a:prstGeom>
          <a:solidFill>
            <a:srgbClr val="F2F2F2"/>
          </a:solidFill>
          <a:ln/>
        </p:spPr>
      </p:sp>
      <p:sp>
        <p:nvSpPr>
          <p:cNvPr id="5" name="Shape 3"/>
          <p:cNvSpPr/>
          <p:nvPr/>
        </p:nvSpPr>
        <p:spPr>
          <a:xfrm>
            <a:off x="589788" y="1581912"/>
            <a:ext cx="402336" cy="402336"/>
          </a:xfrm>
          <a:prstGeom prst="rect">
            <a:avLst/>
          </a:prstGeom>
          <a:solidFill>
            <a:srgbClr val="86BC25"/>
          </a:solidFill>
          <a:ln/>
        </p:spPr>
      </p:sp>
      <p:sp>
        <p:nvSpPr>
          <p:cNvPr id="6" name="Text 4"/>
          <p:cNvSpPr txBox="1"/>
          <p:nvPr/>
        </p:nvSpPr>
        <p:spPr>
          <a:xfrm>
            <a:off x="589788" y="1581912"/>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a:t>
            </a:r>
            <a:endParaRPr lang="en-US" sz="1400" dirty="0"/>
          </a:p>
        </p:txBody>
      </p:sp>
      <p:sp>
        <p:nvSpPr>
          <p:cNvPr id="7" name="Text 5"/>
          <p:cNvSpPr txBox="1"/>
          <p:nvPr/>
        </p:nvSpPr>
        <p:spPr>
          <a:xfrm>
            <a:off x="1138428" y="1508760"/>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Methodology &amp; Respondent Profile</a:t>
            </a:r>
            <a:endParaRPr lang="en-US" sz="1400" dirty="0"/>
          </a:p>
        </p:txBody>
      </p:sp>
      <p:sp>
        <p:nvSpPr>
          <p:cNvPr id="8" name="Shape 6"/>
          <p:cNvSpPr/>
          <p:nvPr/>
        </p:nvSpPr>
        <p:spPr>
          <a:xfrm>
            <a:off x="498348" y="2185416"/>
            <a:ext cx="7772400" cy="548640"/>
          </a:xfrm>
          <a:prstGeom prst="rect">
            <a:avLst/>
          </a:prstGeom>
          <a:solidFill>
            <a:srgbClr val="F2F2F2"/>
          </a:solidFill>
          <a:ln/>
        </p:spPr>
      </p:sp>
      <p:sp>
        <p:nvSpPr>
          <p:cNvPr id="9" name="Shape 7"/>
          <p:cNvSpPr/>
          <p:nvPr/>
        </p:nvSpPr>
        <p:spPr>
          <a:xfrm>
            <a:off x="589788" y="2258568"/>
            <a:ext cx="402336" cy="402336"/>
          </a:xfrm>
          <a:prstGeom prst="rect">
            <a:avLst/>
          </a:prstGeom>
          <a:solidFill>
            <a:srgbClr val="86BC25"/>
          </a:solidFill>
          <a:ln/>
        </p:spPr>
      </p:sp>
      <p:sp>
        <p:nvSpPr>
          <p:cNvPr id="10" name="Text 8"/>
          <p:cNvSpPr txBox="1"/>
          <p:nvPr/>
        </p:nvSpPr>
        <p:spPr>
          <a:xfrm>
            <a:off x="589788" y="2258568"/>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9"/>
          <p:cNvSpPr txBox="1"/>
          <p:nvPr/>
        </p:nvSpPr>
        <p:spPr>
          <a:xfrm>
            <a:off x="1138428" y="2185416"/>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Deepfake &amp; Emerging AI Risk</a:t>
            </a:r>
            <a:endParaRPr lang="en-US" sz="1400" dirty="0"/>
          </a:p>
        </p:txBody>
      </p:sp>
      <p:sp>
        <p:nvSpPr>
          <p:cNvPr id="12" name="Shape 10"/>
          <p:cNvSpPr/>
          <p:nvPr/>
        </p:nvSpPr>
        <p:spPr>
          <a:xfrm>
            <a:off x="498348" y="2862072"/>
            <a:ext cx="7772400" cy="548640"/>
          </a:xfrm>
          <a:prstGeom prst="rect">
            <a:avLst/>
          </a:prstGeom>
          <a:solidFill>
            <a:srgbClr val="F2F2F2"/>
          </a:solidFill>
          <a:ln/>
        </p:spPr>
      </p:sp>
      <p:sp>
        <p:nvSpPr>
          <p:cNvPr id="13" name="Shape 11"/>
          <p:cNvSpPr/>
          <p:nvPr/>
        </p:nvSpPr>
        <p:spPr>
          <a:xfrm>
            <a:off x="589788" y="2935224"/>
            <a:ext cx="402336" cy="402336"/>
          </a:xfrm>
          <a:prstGeom prst="rect">
            <a:avLst/>
          </a:prstGeom>
          <a:solidFill>
            <a:srgbClr val="86BC25"/>
          </a:solidFill>
          <a:ln/>
        </p:spPr>
      </p:sp>
      <p:sp>
        <p:nvSpPr>
          <p:cNvPr id="14" name="Text 12"/>
          <p:cNvSpPr txBox="1"/>
          <p:nvPr/>
        </p:nvSpPr>
        <p:spPr>
          <a:xfrm>
            <a:off x="589788" y="293522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5" name="Text 13"/>
          <p:cNvSpPr txBox="1"/>
          <p:nvPr/>
        </p:nvSpPr>
        <p:spPr>
          <a:xfrm>
            <a:off x="1138428" y="2862072"/>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Fraud Information Sharing</a:t>
            </a:r>
            <a:endParaRPr lang="en-US" sz="1400" dirty="0"/>
          </a:p>
        </p:txBody>
      </p:sp>
      <p:sp>
        <p:nvSpPr>
          <p:cNvPr id="16" name="Shape 14"/>
          <p:cNvSpPr/>
          <p:nvPr/>
        </p:nvSpPr>
        <p:spPr>
          <a:xfrm>
            <a:off x="498348" y="3538728"/>
            <a:ext cx="7772400" cy="548640"/>
          </a:xfrm>
          <a:prstGeom prst="rect">
            <a:avLst/>
          </a:prstGeom>
          <a:solidFill>
            <a:srgbClr val="F2F2F2"/>
          </a:solidFill>
          <a:ln/>
        </p:spPr>
      </p:sp>
      <p:sp>
        <p:nvSpPr>
          <p:cNvPr id="17" name="Shape 15"/>
          <p:cNvSpPr/>
          <p:nvPr/>
        </p:nvSpPr>
        <p:spPr>
          <a:xfrm>
            <a:off x="589788" y="3611880"/>
            <a:ext cx="402336" cy="402336"/>
          </a:xfrm>
          <a:prstGeom prst="rect">
            <a:avLst/>
          </a:prstGeom>
          <a:solidFill>
            <a:srgbClr val="86BC25"/>
          </a:solidFill>
          <a:ln/>
        </p:spPr>
      </p:sp>
      <p:sp>
        <p:nvSpPr>
          <p:cNvPr id="18" name="Text 16"/>
          <p:cNvSpPr txBox="1"/>
          <p:nvPr/>
        </p:nvSpPr>
        <p:spPr>
          <a:xfrm>
            <a:off x="589788" y="361188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9" name="Text 17"/>
          <p:cNvSpPr txBox="1"/>
          <p:nvPr/>
        </p:nvSpPr>
        <p:spPr>
          <a:xfrm>
            <a:off x="1138428" y="3538728"/>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Third-Party Fraud Risk</a:t>
            </a:r>
            <a:endParaRPr lang="en-US" sz="1400" dirty="0"/>
          </a:p>
        </p:txBody>
      </p:sp>
      <p:sp>
        <p:nvSpPr>
          <p:cNvPr id="20" name="Shape 18"/>
          <p:cNvSpPr/>
          <p:nvPr/>
        </p:nvSpPr>
        <p:spPr>
          <a:xfrm>
            <a:off x="498348" y="4215384"/>
            <a:ext cx="7772400" cy="548640"/>
          </a:xfrm>
          <a:prstGeom prst="rect">
            <a:avLst/>
          </a:prstGeom>
          <a:solidFill>
            <a:srgbClr val="F2F2F2"/>
          </a:solidFill>
          <a:ln/>
        </p:spPr>
      </p:sp>
      <p:sp>
        <p:nvSpPr>
          <p:cNvPr id="21" name="Shape 19"/>
          <p:cNvSpPr/>
          <p:nvPr/>
        </p:nvSpPr>
        <p:spPr>
          <a:xfrm>
            <a:off x="589788" y="4288536"/>
            <a:ext cx="402336" cy="402336"/>
          </a:xfrm>
          <a:prstGeom prst="rect">
            <a:avLst/>
          </a:prstGeom>
          <a:solidFill>
            <a:srgbClr val="86BC25"/>
          </a:solidFill>
          <a:ln/>
        </p:spPr>
      </p:sp>
      <p:sp>
        <p:nvSpPr>
          <p:cNvPr id="22" name="Text 20"/>
          <p:cNvSpPr txBox="1"/>
          <p:nvPr/>
        </p:nvSpPr>
        <p:spPr>
          <a:xfrm>
            <a:off x="589788" y="4288536"/>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3" name="Text 21"/>
          <p:cNvSpPr txBox="1"/>
          <p:nvPr/>
        </p:nvSpPr>
        <p:spPr>
          <a:xfrm>
            <a:off x="1138428" y="4215384"/>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Operating Model Transformation</a:t>
            </a:r>
            <a:endParaRPr lang="en-US" sz="1400" dirty="0"/>
          </a:p>
        </p:txBody>
      </p:sp>
      <p:sp>
        <p:nvSpPr>
          <p:cNvPr id="24" name="Shape 22"/>
          <p:cNvSpPr/>
          <p:nvPr/>
        </p:nvSpPr>
        <p:spPr>
          <a:xfrm>
            <a:off x="498348" y="4892040"/>
            <a:ext cx="7772400" cy="548640"/>
          </a:xfrm>
          <a:prstGeom prst="rect">
            <a:avLst/>
          </a:prstGeom>
          <a:solidFill>
            <a:srgbClr val="F2F2F2"/>
          </a:solidFill>
          <a:ln/>
        </p:spPr>
      </p:sp>
      <p:sp>
        <p:nvSpPr>
          <p:cNvPr id="25" name="Shape 23"/>
          <p:cNvSpPr/>
          <p:nvPr/>
        </p:nvSpPr>
        <p:spPr>
          <a:xfrm>
            <a:off x="589788" y="4965192"/>
            <a:ext cx="402336" cy="402336"/>
          </a:xfrm>
          <a:prstGeom prst="rect">
            <a:avLst/>
          </a:prstGeom>
          <a:solidFill>
            <a:srgbClr val="86BC25"/>
          </a:solidFill>
          <a:ln/>
        </p:spPr>
      </p:sp>
      <p:sp>
        <p:nvSpPr>
          <p:cNvPr id="26" name="Text 24"/>
          <p:cNvSpPr txBox="1"/>
          <p:nvPr/>
        </p:nvSpPr>
        <p:spPr>
          <a:xfrm>
            <a:off x="589788" y="4965192"/>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7" name="Text 25"/>
          <p:cNvSpPr txBox="1"/>
          <p:nvPr/>
        </p:nvSpPr>
        <p:spPr>
          <a:xfrm>
            <a:off x="1138428" y="4892040"/>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Regulatory &amp; Market Change</a:t>
            </a:r>
            <a:endParaRPr lang="en-US" sz="1400" dirty="0"/>
          </a:p>
        </p:txBody>
      </p:sp>
      <p:sp>
        <p:nvSpPr>
          <p:cNvPr id="28" name="Shape 26"/>
          <p:cNvSpPr/>
          <p:nvPr/>
        </p:nvSpPr>
        <p:spPr>
          <a:xfrm>
            <a:off x="498348" y="5568696"/>
            <a:ext cx="7772400" cy="548640"/>
          </a:xfrm>
          <a:prstGeom prst="rect">
            <a:avLst/>
          </a:prstGeom>
          <a:solidFill>
            <a:srgbClr val="F2F2F2"/>
          </a:solidFill>
          <a:ln/>
        </p:spPr>
      </p:sp>
      <p:sp>
        <p:nvSpPr>
          <p:cNvPr id="29" name="Shape 27"/>
          <p:cNvSpPr/>
          <p:nvPr/>
        </p:nvSpPr>
        <p:spPr>
          <a:xfrm>
            <a:off x="589788" y="5641848"/>
            <a:ext cx="402336" cy="402336"/>
          </a:xfrm>
          <a:prstGeom prst="rect">
            <a:avLst/>
          </a:prstGeom>
          <a:solidFill>
            <a:srgbClr val="86BC25"/>
          </a:solidFill>
          <a:ln/>
        </p:spPr>
      </p:sp>
      <p:sp>
        <p:nvSpPr>
          <p:cNvPr id="30" name="Text 28"/>
          <p:cNvSpPr txBox="1"/>
          <p:nvPr/>
        </p:nvSpPr>
        <p:spPr>
          <a:xfrm>
            <a:off x="589788" y="5641848"/>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31" name="Text 29"/>
          <p:cNvSpPr txBox="1"/>
          <p:nvPr/>
        </p:nvSpPr>
        <p:spPr>
          <a:xfrm>
            <a:off x="1138428" y="5568696"/>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Looking Ahead Three Years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Methodology &amp; Respondent Profile</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Fielded via GLG among senior fraud leaders at banks and insurers globally — fielding closed at exactly the target sample size and mix.</a:t>
            </a:r>
            <a:endParaRPr lang="en-US" sz="135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a:t>
            </a:r>
            <a:endParaRPr lang="en-US" sz="900" dirty="0"/>
          </a:p>
        </p:txBody>
      </p:sp>
      <p:sp>
        <p:nvSpPr>
          <p:cNvPr id="5" name="Shape 3"/>
          <p:cNvSpPr/>
          <p:nvPr/>
        </p:nvSpPr>
        <p:spPr>
          <a:xfrm>
            <a:off x="502006" y="1335024"/>
            <a:ext cx="2514600" cy="914400"/>
          </a:xfrm>
          <a:prstGeom prst="rect">
            <a:avLst/>
          </a:prstGeom>
          <a:solidFill>
            <a:srgbClr val="F2F2F2"/>
          </a:solidFill>
          <a:ln/>
        </p:spPr>
      </p:sp>
      <p:sp>
        <p:nvSpPr>
          <p:cNvPr id="6" name="Text 4"/>
          <p:cNvSpPr txBox="1"/>
          <p:nvPr/>
        </p:nvSpPr>
        <p:spPr>
          <a:xfrm>
            <a:off x="50200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100</a:t>
            </a:r>
            <a:endParaRPr lang="en-US" sz="2200" dirty="0"/>
          </a:p>
        </p:txBody>
      </p:sp>
      <p:sp>
        <p:nvSpPr>
          <p:cNvPr id="7" name="Text 5"/>
          <p:cNvSpPr txBox="1"/>
          <p:nvPr/>
        </p:nvSpPr>
        <p:spPr>
          <a:xfrm>
            <a:off x="50200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Qualified respondents</a:t>
            </a:r>
            <a:endParaRPr lang="en-US" sz="1000" dirty="0"/>
          </a:p>
        </p:txBody>
      </p:sp>
      <p:sp>
        <p:nvSpPr>
          <p:cNvPr id="8" name="Shape 6"/>
          <p:cNvSpPr/>
          <p:nvPr/>
        </p:nvSpPr>
        <p:spPr>
          <a:xfrm>
            <a:off x="3336646" y="1335024"/>
            <a:ext cx="2514600" cy="914400"/>
          </a:xfrm>
          <a:prstGeom prst="rect">
            <a:avLst/>
          </a:prstGeom>
          <a:solidFill>
            <a:srgbClr val="F2F2F2"/>
          </a:solidFill>
          <a:ln/>
        </p:spPr>
      </p:sp>
      <p:sp>
        <p:nvSpPr>
          <p:cNvPr id="9" name="Text 7"/>
          <p:cNvSpPr txBox="1"/>
          <p:nvPr/>
        </p:nvSpPr>
        <p:spPr>
          <a:xfrm>
            <a:off x="333664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75 / 25</a:t>
            </a:r>
            <a:endParaRPr lang="en-US" sz="2200" dirty="0"/>
          </a:p>
        </p:txBody>
      </p:sp>
      <p:sp>
        <p:nvSpPr>
          <p:cNvPr id="10" name="Text 8"/>
          <p:cNvSpPr txBox="1"/>
          <p:nvPr/>
        </p:nvSpPr>
        <p:spPr>
          <a:xfrm>
            <a:off x="333664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 Banking / Insurance</a:t>
            </a:r>
            <a:endParaRPr lang="en-US" sz="1000" dirty="0"/>
          </a:p>
        </p:txBody>
      </p:sp>
      <p:sp>
        <p:nvSpPr>
          <p:cNvPr id="11" name="Shape 9"/>
          <p:cNvSpPr/>
          <p:nvPr/>
        </p:nvSpPr>
        <p:spPr>
          <a:xfrm>
            <a:off x="6171286" y="1335024"/>
            <a:ext cx="2514600" cy="914400"/>
          </a:xfrm>
          <a:prstGeom prst="rect">
            <a:avLst/>
          </a:prstGeom>
          <a:solidFill>
            <a:srgbClr val="F2F2F2"/>
          </a:solidFill>
          <a:ln/>
        </p:spPr>
      </p:sp>
      <p:sp>
        <p:nvSpPr>
          <p:cNvPr id="12" name="Text 10"/>
          <p:cNvSpPr txBox="1"/>
          <p:nvPr/>
        </p:nvSpPr>
        <p:spPr>
          <a:xfrm>
            <a:off x="617128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76%</a:t>
            </a:r>
            <a:endParaRPr lang="en-US" sz="2200" dirty="0"/>
          </a:p>
        </p:txBody>
      </p:sp>
      <p:sp>
        <p:nvSpPr>
          <p:cNvPr id="13" name="Text 11"/>
          <p:cNvSpPr txBox="1"/>
          <p:nvPr/>
        </p:nvSpPr>
        <p:spPr>
          <a:xfrm>
            <a:off x="617128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Director-level or above</a:t>
            </a:r>
            <a:endParaRPr lang="en-US" sz="1000" dirty="0"/>
          </a:p>
        </p:txBody>
      </p:sp>
      <p:sp>
        <p:nvSpPr>
          <p:cNvPr id="14" name="Shape 12"/>
          <p:cNvSpPr/>
          <p:nvPr/>
        </p:nvSpPr>
        <p:spPr>
          <a:xfrm>
            <a:off x="9005926" y="1335024"/>
            <a:ext cx="2514600" cy="914400"/>
          </a:xfrm>
          <a:prstGeom prst="rect">
            <a:avLst/>
          </a:prstGeom>
          <a:solidFill>
            <a:srgbClr val="F2F2F2"/>
          </a:solidFill>
          <a:ln/>
        </p:spPr>
      </p:sp>
      <p:sp>
        <p:nvSpPr>
          <p:cNvPr id="15" name="Text 13"/>
          <p:cNvSpPr txBox="1"/>
          <p:nvPr/>
        </p:nvSpPr>
        <p:spPr>
          <a:xfrm>
            <a:off x="900592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100%</a:t>
            </a:r>
            <a:endParaRPr lang="en-US" sz="2200" dirty="0"/>
          </a:p>
        </p:txBody>
      </p:sp>
      <p:sp>
        <p:nvSpPr>
          <p:cNvPr id="16" name="Text 14"/>
          <p:cNvSpPr txBox="1"/>
          <p:nvPr/>
        </p:nvSpPr>
        <p:spPr>
          <a:xfrm>
            <a:off x="900592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Answered the open-end</a:t>
            </a:r>
            <a:endParaRPr lang="en-US" sz="1000" dirty="0"/>
          </a:p>
        </p:txBody>
      </p:sp>
      <p:sp>
        <p:nvSpPr>
          <p:cNvPr id="17" name="Text 15"/>
          <p:cNvSpPr txBox="1"/>
          <p:nvPr/>
        </p:nvSpPr>
        <p:spPr>
          <a:xfrm>
            <a:off x="502006" y="2304288"/>
            <a:ext cx="5486400" cy="292608"/>
          </a:xfrm>
          <a:prstGeom prst="rect">
            <a:avLst/>
          </a:prstGeom>
          <a:noFill/>
          <a:ln/>
        </p:spPr>
        <p:txBody>
          <a:bodyPr wrap="square" rtlCol="0" anchor="ctr"/>
          <a:lstStyle/>
          <a:p>
            <a:pPr indent="0" marL="0">
              <a:buNone/>
            </a:pPr>
            <a:r>
              <a:rPr lang="en-US" sz="900" b="1" dirty="0">
                <a:solidFill>
                  <a:srgbClr val="046A38"/>
                </a:solidFill>
                <a:latin typeface="IBM Plex Mono" pitchFamily="34" charset="0"/>
                <a:ea typeface="IBM Plex Mono" pitchFamily="34" charset="-122"/>
                <a:cs typeface="IBM Plex Mono" pitchFamily="34" charset="-120"/>
              </a:rPr>
              <a:t>S6  </a:t>
            </a:r>
            <a:pPr indent="0" marL="0">
              <a:buNone/>
            </a:pPr>
            <a:r>
              <a:rPr lang="en-US" sz="950" i="1" dirty="0">
                <a:solidFill>
                  <a:srgbClr val="575757"/>
                </a:solidFill>
                <a:latin typeface="Calibri" pitchFamily="34" charset="0"/>
                <a:ea typeface="Calibri" pitchFamily="34" charset="-122"/>
                <a:cs typeface="Calibri" pitchFamily="34" charset="-120"/>
              </a:rPr>
              <a:t>“Which market best describes your primary area of responsibility for fraud risk management?”</a:t>
            </a:r>
            <a:endParaRPr lang="en-US" sz="900" dirty="0"/>
          </a:p>
        </p:txBody>
      </p:sp>
      <p:graphicFrame>
        <p:nvGraphicFramePr>
          <p:cNvPr id="18" name="Chart 0" descr=""/>
          <p:cNvGraphicFramePr/>
          <p:nvPr/>
        </p:nvGraphicFramePr>
        <p:xfrm>
          <a:off x="502006" y="2615184"/>
          <a:ext cx="5486400" cy="288036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txBox="1"/>
          <p:nvPr/>
        </p:nvSpPr>
        <p:spPr>
          <a:xfrm>
            <a:off x="6172200" y="2304288"/>
            <a:ext cx="5486400" cy="292608"/>
          </a:xfrm>
          <a:prstGeom prst="rect">
            <a:avLst/>
          </a:prstGeom>
          <a:noFill/>
          <a:ln/>
        </p:spPr>
        <p:txBody>
          <a:bodyPr wrap="square" rtlCol="0" anchor="ctr"/>
          <a:lstStyle/>
          <a:p>
            <a:pPr indent="0" marL="0">
              <a:buNone/>
            </a:pPr>
            <a:r>
              <a:rPr lang="en-US" sz="900" b="1" dirty="0">
                <a:solidFill>
                  <a:srgbClr val="046A38"/>
                </a:solidFill>
                <a:latin typeface="IBM Plex Mono" pitchFamily="34" charset="0"/>
                <a:ea typeface="IBM Plex Mono" pitchFamily="34" charset="-122"/>
                <a:cs typeface="IBM Plex Mono" pitchFamily="34" charset="-120"/>
              </a:rPr>
              <a:t>S4  </a:t>
            </a:r>
            <a:pPr indent="0" marL="0">
              <a:buNone/>
            </a:pPr>
            <a:r>
              <a:rPr lang="en-US" sz="950" i="1" dirty="0">
                <a:solidFill>
                  <a:srgbClr val="575757"/>
                </a:solidFill>
                <a:latin typeface="Calibri" pitchFamily="34" charset="0"/>
                <a:ea typeface="Calibri" pitchFamily="34" charset="-122"/>
                <a:cs typeface="Calibri" pitchFamily="34" charset="-120"/>
              </a:rPr>
              <a:t>“Which of the following best describes your department within your organization?”</a:t>
            </a:r>
            <a:endParaRPr lang="en-US" sz="900" dirty="0"/>
          </a:p>
        </p:txBody>
      </p:sp>
      <p:graphicFrame>
        <p:nvGraphicFramePr>
          <p:cNvPr id="20" name="Chart 1" descr=""/>
          <p:cNvGraphicFramePr/>
          <p:nvPr/>
        </p:nvGraphicFramePr>
        <p:xfrm>
          <a:off x="6172200" y="2615184"/>
          <a:ext cx="5486400" cy="28803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1. Deepfake &amp; Emerging AI Risk</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Where AI-driven fraud vulnerability is concentrated, and what's standing in the way of managing it.</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Greatest Increase in AI/Deepfake Vulnerability</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AI-driven fraud is hitting identity checks the hardest — onboarding and payments, not the areas fraud teams traditionally focus on.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Q2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area of your organization has experienced the greatest increase in vulnerability to fraud enabled by deepfakes and other advanced or frontier AI capabilities over the past 12 months?”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shown as % of respondents who placed the option anywhere in their top 3 (not mutually exclusive; bars don't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“Contact center / phone-based authentication”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“Digital onboarding, KYC, and identity verification”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“Claims, underwriting, lending, or application review”</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“Payment, wire, or transaction approvals”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“Video meetings and remote advisory interactions”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“Executive, employee, broker, or advisor impersonation”</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Where the Risk Concentrates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overall #1 area masks a real split: Banking's top exposure is an exact tie between onboarding/KYC and payment/wire, while Insurance's is contact center and claims.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Q2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area of your organization has experienced the greatest increase in vulnerability to fraud enabled by deepfakes and other advanced or frontier AI capabilities over the past 12 months? (Banking vs. Insurance, % selecting in top 3)”</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5</a:t>
            </a:r>
            <a:endParaRPr lang="en-US" sz="900" dirty="0"/>
          </a:p>
        </p:txBody>
      </p:sp>
      <p:sp>
        <p:nvSpPr>
          <p:cNvPr id="7" name="Text 5"/>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Banking (n=75) — ranked</a:t>
            </a:r>
            <a:endParaRPr lang="en-US" sz="1150" dirty="0"/>
          </a:p>
        </p:txBody>
      </p:sp>
      <p:graphicFrame>
        <p:nvGraphicFramePr>
          <p:cNvPr id="8" name="Chart 0" descr=""/>
          <p:cNvGraphicFramePr/>
          <p:nvPr/>
        </p:nvGraphicFramePr>
        <p:xfrm>
          <a:off x="502006" y="2267712"/>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Insurance (n=25) — ranked</a:t>
            </a:r>
            <a:endParaRPr lang="en-US" sz="1150" dirty="0"/>
          </a:p>
        </p:txBody>
      </p:sp>
      <p:graphicFrame>
        <p:nvGraphicFramePr>
          <p:cNvPr id="10" name="Chart 1" descr=""/>
          <p:cNvGraphicFramePr/>
          <p:nvPr/>
        </p:nvGraphicFramePr>
        <p:xfrm>
          <a:off x="6172200" y="2267712"/>
          <a:ext cx="5486400" cy="274320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166360"/>
            <a:ext cx="11188598" cy="502920"/>
          </a:xfrm>
          <a:prstGeom prst="roundRect">
            <a:avLst>
              <a:gd name="adj" fmla="val 9091"/>
            </a:avLst>
          </a:prstGeom>
          <a:solidFill>
            <a:srgbClr val="F2F2F2"/>
          </a:solidFill>
          <a:ln/>
        </p:spPr>
      </p:sp>
      <p:sp>
        <p:nvSpPr>
          <p:cNvPr id="12" name="Text 8"/>
          <p:cNvSpPr txBox="1"/>
          <p:nvPr/>
        </p:nvSpPr>
        <p:spPr>
          <a:xfrm>
            <a:off x="639166" y="5166360"/>
            <a:ext cx="10914278" cy="502920"/>
          </a:xfrm>
          <a:prstGeom prst="rect">
            <a:avLst/>
          </a:prstGeom>
          <a:noFill/>
          <a:ln/>
        </p:spPr>
        <p:txBody>
          <a:bodyPr wrap="square" rtlCol="0" anchor="ctr"/>
          <a:lstStyle/>
          <a:p>
            <a:pPr indent="0" marL="0">
              <a:lnSpc>
                <a:spcPct val="110000"/>
              </a:lnSpc>
              <a:buNone/>
            </a:pPr>
            <a:r>
              <a:rPr lang="en-US" sz="900" i="1" dirty="0">
                <a:solidFill>
                  <a:srgbClr val="53565A"/>
                </a:solidFill>
                <a:latin typeface="Calibri" pitchFamily="34" charset="0"/>
                <a:ea typeface="Calibri" pitchFamily="34" charset="-122"/>
                <a:cs typeface="Calibri" pitchFamily="34" charset="-120"/>
              </a:rPr>
              <a:t>Each panel is sorted independently. Values are % of that segment's respondents who placed the option anywhere in their top 3 (not mutually exclusive). Banking n=75, Insurance n=25 — bases differ, so compare rank order and share within each segment, not raw counts. Banking's top two areas are tied at 73%.</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Key Obstacles to Managing AI-Driven Fraud Risk</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bigger problem is untrained staff and identity-verification gaps, not a single missing tool.</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(e.g., deepfakes, synthetic identities, AI-enabled impersonation, and autonomous AI agents)?”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6</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Select all that apply — bars do not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“Lack of fraud detection technology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or no available 3rd party fraud intelligence and/or consortium information”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staff awareness and training on deepfake-related fraud risk”</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Obstacles to Managing AI-Driven Fraud Risk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Insurance leans hardest on the training gap (64%); Banking is more evenly split across all four obstacles.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7</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Select all that apply — bars do not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“Lack of fraud detection technology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or no available 3rd party fraud intelligence and/or consortium information”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staff awareness and training on deepfake-related fraud risk”</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Obstacles to Managing AI-Driven Fraud Risk — By Sector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each sector, the mix of obstacles shifts somewhat by region — though several regional cells are thin and should be read directionally, not precisely.</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(Banking vs. Insurance,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8</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457200"/>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Select all that apply — figures don't sum to 100%. </a:t>
            </a:r>
            <a:pPr algn="l" indent="0" marL="0">
              <a:lnSpc>
                <a:spcPct val="118000"/>
              </a:lnSpc>
              <a:buNone/>
            </a:pPr>
            <a:r>
              <a:rPr lang="en-US" sz="850" dirty="0">
                <a:solidFill>
                  <a:srgbClr val="53565A"/>
                </a:solidFill>
                <a:latin typeface="Calibri" pitchFamily="34" charset="0"/>
                <a:ea typeface="Calibri" pitchFamily="34" charset="-122"/>
                <a:cs typeface="Calibri" pitchFamily="34" charset="-120"/>
              </a:rPr>
              <a:t>The % in each category label is the full sector-level figure; stacked region segments are rounded to the nearest whole percent and may sum to within ±1pt of that total. Banking/Australia (n=7) and Banking/Singapore (n=4) are thin samples shown directionally. Insurance's “Other markets” bucket combines UK (n=2), Australia (n=1), and Singapore (n=0) — too thin individually to break out.</a:t>
            </a:r>
            <a:endParaRPr lang="en-US" sz="850" dirty="0"/>
          </a:p>
        </p:txBody>
      </p:sp>
      <p:sp>
        <p:nvSpPr>
          <p:cNvPr id="10" name="Text 7"/>
          <p:cNvSpPr txBox="1"/>
          <p:nvPr/>
        </p:nvSpPr>
        <p:spPr>
          <a:xfrm>
            <a:off x="502006" y="5779008"/>
            <a:ext cx="11188598" cy="36576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5000"/>
              </a:lnSpc>
              <a:buNone/>
            </a:pPr>
            <a:r>
              <a:rPr lang="en-US" sz="8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 · “Lack of fraud detection technology in the existing environment” · “Limited or no available 3rd party fraud intelligence and/or consortium information” · “Limited staff awareness and training on deepfake-related fraud risk”</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2. Fraud Information Sharing</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What's blocking industry-wide information sharing, and what leaders want government to do about it.</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Biggest Barriers to Effective Information Sharing</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What's blocking sharing is structural — messy, inconsistent data even more than legal rules — not unwillingness.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Q5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biggest barriers to enable effective fraud information sharing?”</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10</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shown as % of respondents who placed the option anywhere in their top 3 (not mutually exclusive; bars don't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“Legal, privacy, or regulatory constraints”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data standardization, poor quality, and different definitions”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“Insufficient budget or resource investment”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“Lack of external industry participation or collaboration”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“Unclear internal ownership or governance”</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“Difficulty demonstrating ROI or business value”</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Government Action With the Greatest Impact on Info Sharing</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Leaders want government to build shared infrastructure, not just pass new laws.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Q4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government action would have or has had the greatest impact on enabling more effective fraud information sharing?”</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11</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“Establish clearer legal and regulatory frameworks for information sharing”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“Develop common data standards and definitions”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“Create a centralized fraud information-sharing platform or utility”</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“Facilitate greater public-private collaboration and coordination”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“Provide funding or incentives to support participation”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“Identify and prioritize industry use cases for fraud information sharing”</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3. Third-Party Fraud Risk</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Which external parties present the greatest exposure — and it splits sharply by sector.</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Greatest Third-Party Fraud Risk Exposure,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Banks and insurers face very different third-party risks — one fix won't work for both.</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Q6a / Q6b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external party currently presents the greatest fraud risk exposure to your organization? (asked separately of Banking and Insurance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13</a:t>
            </a:r>
            <a:endParaRPr lang="en-US" sz="900" dirty="0"/>
          </a:p>
        </p:txBody>
      </p:sp>
      <p:sp>
        <p:nvSpPr>
          <p:cNvPr id="7" name="Text 5"/>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Banking (n=75)</a:t>
            </a:r>
            <a:endParaRPr lang="en-US" sz="1150" dirty="0"/>
          </a:p>
        </p:txBody>
      </p:sp>
      <p:graphicFrame>
        <p:nvGraphicFramePr>
          <p:cNvPr id="8" name="Chart 0" descr=""/>
          <p:cNvGraphicFramePr/>
          <p:nvPr/>
        </p:nvGraphicFramePr>
        <p:xfrm>
          <a:off x="502006" y="2267712"/>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Insurance (n=25)</a:t>
            </a:r>
            <a:endParaRPr lang="en-US" sz="1150" dirty="0"/>
          </a:p>
        </p:txBody>
      </p:sp>
      <p:graphicFrame>
        <p:nvGraphicFramePr>
          <p:cNvPr id="10" name="Chart 1" descr=""/>
          <p:cNvGraphicFramePr/>
          <p:nvPr/>
        </p:nvGraphicFramePr>
        <p:xfrm>
          <a:off x="6172200" y="2267712"/>
          <a:ext cx="5486400" cy="274320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120640"/>
            <a:ext cx="11188598" cy="0"/>
          </a:xfrm>
          <a:prstGeom prst="line">
            <a:avLst/>
          </a:prstGeom>
          <a:noFill/>
          <a:ln w="9525">
            <a:solidFill>
              <a:srgbClr val="D0D0CE"/>
            </a:solidFill>
            <a:prstDash val="solid"/>
          </a:ln>
        </p:spPr>
      </p:sp>
      <p:sp>
        <p:nvSpPr>
          <p:cNvPr id="12" name="Text 8"/>
          <p:cNvSpPr txBox="1"/>
          <p:nvPr/>
        </p:nvSpPr>
        <p:spPr>
          <a:xfrm>
            <a:off x="502006" y="5193792"/>
            <a:ext cx="11188598" cy="914400"/>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 </a:t>
            </a:r>
            <a:pPr algn="l" indent="0" marL="0">
              <a:lnSpc>
                <a:spcPct val="118000"/>
              </a:lnSpc>
              <a:buNone/>
            </a:pPr>
            <a:r>
              <a:rPr lang="en-US" sz="850" b="1" dirty="0">
                <a:solidFill>
                  <a:srgbClr val="046A38"/>
                </a:solidFill>
                <a:latin typeface="Calibri" pitchFamily="34" charset="0"/>
                <a:ea typeface="Calibri" pitchFamily="34" charset="-122"/>
                <a:cs typeface="Calibri" pitchFamily="34" charset="-120"/>
              </a:rPr>
              <a:t>Q6a Banking: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Mortgage brokers · Merchants · Fintech Partners · Dealers &amp; Indirect Lending Partners · Business &amp; Commercial Clients · Appraisers</a:t>
            </a:r>
            <a:pPr algn="l" indent="0" marL="0">
              <a:lnSpc>
                <a:spcPct val="118000"/>
              </a:lnSpc>
              <a:buNone/>
            </a:pPr>
            <a:r>
              <a:rPr lang="en-US" sz="850" b="1" dirty="0">
                <a:solidFill>
                  <a:srgbClr val="046A38"/>
                </a:solidFill>
                <a:latin typeface="Calibri" pitchFamily="34" charset="0"/>
                <a:ea typeface="Calibri" pitchFamily="34" charset="-122"/>
                <a:cs typeface="Calibri" pitchFamily="34" charset="-120"/>
              </a:rPr>
              <a:t>  ·  Q6b Insurance: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Brokers and distribution partners · Health care providers · Automotive service providers · Legal representatives and paralegals · Third-party administrators (TPAs) · Property claims service providers</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Expected to Most Reduce Third-Party Risk</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Leaders would rather get smarter about spotting risk than tighten the front door.</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14</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onboarding verification and due diligence controls”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“Enhance ongoing monitoring and detection (e.g., surveillance, analytics, anomaly detection)”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“Increase information sharing and intelligence across onboarding and ongoing monitoring”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third-party oversight and accountability (e.g., annual review, standards, performance monitoring)”</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to Reduce Third-Party Risk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Banking leans toward intelligence-sharing; Insurance is split evenly between monitoring and oversight.</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15</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onboarding verification and due diligence controls”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“Enhance ongoing monitoring and detection (e.g., surveillance, analytics, anomaly detection)”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“Increase information sharing and intelligence across onboarding and ongoing monitoring”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third-party oversight and accountability (e.g., annual review, standards, performance monitoring)”</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4. Operating Model Transformation</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Self-reported program maturity, and how the mix of scaling levers shifts over the next 3 years.</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Self-Reported Fraud Program Maturity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82% self-rate “Integrated” or “Advanced” overall — but Banking clusters at Integrated while Insurance skews further, to Advanced.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17</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“Reactive: Primarily incident-driven”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“Foundational: Controls established within individual business units”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“Managed: Enterprise standards and governance are in place”</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“Integrated: Data, analytics, and operations are integrated across major fraud types”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“Advanced: Predictive intelligence and ecosystem collaboration are embedded”</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Scaling Approach — Today vs. 3-Year Focus</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AI is already the top way fraud teams scale, and its lead is only growing.</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 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as fraud volume and complexity increases? / Which area do you expect will receive the greatest focus for operations transformation over the next three years?”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18</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asked twice.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“Adding capacity through hiring full-time employees and workforce expansion”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“Adding capacity through outsourcing arrangements (e.g., contractors)”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“Automating workflows and minimizing manual activities”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“Augmenting existing capacity with AI-enabled tools”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“Redesigning operation processes and playbooks across the lifecycle”</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“Pursuing a combination of the above approaches”</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5. Regulatory &amp; Market Change</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Where fraud investment is really going, and the disruption leaders see coming next.</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Investment Relative to Regulatory Requirements</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Most fraud spending today is about fixing past problems, not getting ahead of new ones.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Q10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reflects how your organization is allocating fraud-related investment in response to regulatory and compliance requirements?”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20</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meet upcoming and draft regulatory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remediate existing compliance and control gaps”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“Regulatory requirements are not a primary driver of fraud-related investment”</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Upcoming Regulatory / Market Change With Greatest Expected Impact</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Identity and authentication tops a close three-way race for the next big disruption.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upcoming regulatory or market changes is expected to have the greatest impact on your fraud program?”</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21</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shown as % of respondents who placed the option anywhere in their top 3 (not mutually exclusive; bars don't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“Payment innovation and adoption (e.g., real-time payments, stable coins, agentic payments)”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“Liability and reimbursement changes”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“Open Banking / Consumer-driven banking initiatives”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“AML related modernization initiatives”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“Privacy, data-sharing requirements, and AI governance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“Customer identity, authentication, and digital trust expectations”</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6. Looking Ahead Three Years</a:t>
            </a:r>
            <a:endParaRPr lang="en-US" sz="3600" dirty="0"/>
          </a:p>
        </p:txBody>
      </p:sp>
      <p:sp>
        <p:nvSpPr>
          <p:cNvPr id="3" name="Text 1"/>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What Leaders Say, Unprompted</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Left to answer in their own words, leaders converge on the same trend.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Q12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“Looking ahead three years, what development do you believe will have the greatest impact on fraud risk management, and why? (open-ended)”</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23</a:t>
            </a:r>
            <a:endParaRPr lang="en-US" sz="900" dirty="0"/>
          </a:p>
        </p:txBody>
      </p:sp>
      <p:sp>
        <p:nvSpPr>
          <p:cNvPr id="7" name="Shape 5"/>
          <p:cNvSpPr/>
          <p:nvPr/>
        </p:nvSpPr>
        <p:spPr>
          <a:xfrm>
            <a:off x="502006" y="2011680"/>
            <a:ext cx="11188598" cy="914400"/>
          </a:xfrm>
          <a:prstGeom prst="roundRect">
            <a:avLst>
              <a:gd name="adj" fmla="val 6000"/>
            </a:avLst>
          </a:prstGeom>
          <a:solidFill>
            <a:srgbClr val="F2F2F2"/>
          </a:solidFill>
          <a:ln/>
        </p:spPr>
      </p:sp>
      <p:sp>
        <p:nvSpPr>
          <p:cNvPr id="8" name="Text 6"/>
          <p:cNvSpPr txBox="1"/>
          <p:nvPr/>
        </p:nvSpPr>
        <p:spPr>
          <a:xfrm>
            <a:off x="776326" y="2011680"/>
            <a:ext cx="2011680" cy="914400"/>
          </a:xfrm>
          <a:prstGeom prst="rect">
            <a:avLst/>
          </a:prstGeom>
          <a:noFill/>
          <a:ln/>
        </p:spPr>
        <p:txBody>
          <a:bodyPr wrap="square" rtlCol="0" anchor="ctr"/>
          <a:lstStyle/>
          <a:p>
            <a:pPr indent="0" marL="0">
              <a:buNone/>
            </a:pPr>
            <a:r>
              <a:rPr lang="en-US" sz="3000" b="1" dirty="0">
                <a:solidFill>
                  <a:srgbClr val="046A38"/>
                </a:solidFill>
                <a:latin typeface="Calibri" pitchFamily="34" charset="0"/>
                <a:ea typeface="Calibri" pitchFamily="34" charset="-122"/>
                <a:cs typeface="Calibri" pitchFamily="34" charset="-120"/>
              </a:rPr>
              <a:t>100/100</a:t>
            </a:r>
            <a:endParaRPr lang="en-US" sz="3000" dirty="0"/>
          </a:p>
        </p:txBody>
      </p:sp>
      <p:sp>
        <p:nvSpPr>
          <p:cNvPr id="9" name="Text 7"/>
          <p:cNvSpPr txBox="1"/>
          <p:nvPr/>
        </p:nvSpPr>
        <p:spPr>
          <a:xfrm>
            <a:off x="2970886" y="2057400"/>
            <a:ext cx="8445398" cy="822960"/>
          </a:xfrm>
          <a:prstGeom prst="rect">
            <a:avLst/>
          </a:prstGeom>
          <a:noFill/>
          <a:ln/>
        </p:spPr>
        <p:txBody>
          <a:bodyPr wrap="square" rtlCol="0" anchor="ctr"/>
          <a:lstStyle/>
          <a:p>
            <a:pPr indent="0" marL="0">
              <a:lnSpc>
                <a:spcPct val="110000"/>
              </a:lnSpc>
              <a:buNone/>
            </a:pPr>
            <a:r>
              <a:rPr lang="en-US" sz="1150" dirty="0">
                <a:solidFill>
                  <a:srgbClr val="53565A"/>
                </a:solidFill>
                <a:latin typeface="Calibri" pitchFamily="34" charset="0"/>
                <a:ea typeface="Calibri" pitchFamily="34" charset="-122"/>
                <a:cs typeface="Calibri" pitchFamily="34" charset="-120"/>
              </a:rPr>
              <a:t>respondents answered in their own words — a full response rate on an open text field. The dominant unprompted theme: the convergence of GenAI, synthetic identity, and real-time payments — the same thread running through every closed-ended question above.</a:t>
            </a:r>
            <a:endParaRPr lang="en-US" sz="1150" dirty="0"/>
          </a:p>
        </p:txBody>
      </p:sp>
      <p:sp>
        <p:nvSpPr>
          <p:cNvPr id="10" name="Shape 8"/>
          <p:cNvSpPr/>
          <p:nvPr/>
        </p:nvSpPr>
        <p:spPr>
          <a:xfrm>
            <a:off x="502006" y="3154680"/>
            <a:ext cx="5457139" cy="1600200"/>
          </a:xfrm>
          <a:prstGeom prst="roundRect">
            <a:avLst>
              <a:gd name="adj" fmla="val 2857"/>
            </a:avLst>
          </a:prstGeom>
          <a:solidFill>
            <a:srgbClr val="FFFFFF"/>
          </a:solidFill>
          <a:ln w="9525">
            <a:solidFill>
              <a:srgbClr val="D0D0CE"/>
            </a:solidFill>
            <a:prstDash val="solid"/>
          </a:ln>
        </p:spPr>
      </p:sp>
      <p:sp>
        <p:nvSpPr>
          <p:cNvPr id="11" name="Text 9"/>
          <p:cNvSpPr txBox="1"/>
          <p:nvPr/>
        </p:nvSpPr>
        <p:spPr>
          <a:xfrm>
            <a:off x="684886" y="328269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“The convergence of genAI, synthetic identities and real time digital identity verification. This will matter significantly because fraudsters will become AI-native, identity becomes the new battleground, fraud prevention will replace fraud detection, and the winners will use AI against AI.”</a:t>
            </a:r>
            <a:endParaRPr lang="en-US" sz="1000" dirty="0"/>
          </a:p>
        </p:txBody>
      </p:sp>
      <p:sp>
        <p:nvSpPr>
          <p:cNvPr id="12" name="Text 10"/>
          <p:cNvSpPr txBox="1"/>
          <p:nvPr/>
        </p:nvSpPr>
        <p:spPr>
          <a:xfrm>
            <a:off x="684886" y="444398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Director · Insurance</a:t>
            </a:r>
            <a:endParaRPr lang="en-US" sz="900" dirty="0"/>
          </a:p>
        </p:txBody>
      </p:sp>
      <p:sp>
        <p:nvSpPr>
          <p:cNvPr id="13" name="Shape 11"/>
          <p:cNvSpPr/>
          <p:nvPr/>
        </p:nvSpPr>
        <p:spPr>
          <a:xfrm>
            <a:off x="6233465" y="3154680"/>
            <a:ext cx="5457139" cy="1600200"/>
          </a:xfrm>
          <a:prstGeom prst="roundRect">
            <a:avLst>
              <a:gd name="adj" fmla="val 2857"/>
            </a:avLst>
          </a:prstGeom>
          <a:solidFill>
            <a:srgbClr val="FFFFFF"/>
          </a:solidFill>
          <a:ln w="9525">
            <a:solidFill>
              <a:srgbClr val="D0D0CE"/>
            </a:solidFill>
            <a:prstDash val="solid"/>
          </a:ln>
        </p:spPr>
      </p:sp>
      <p:sp>
        <p:nvSpPr>
          <p:cNvPr id="14" name="Text 12"/>
          <p:cNvSpPr txBox="1"/>
          <p:nvPr/>
        </p:nvSpPr>
        <p:spPr>
          <a:xfrm>
            <a:off x="6416345" y="328269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“The biggest development will be the convergence of GenAI, synthetic identity, and real-time payments. Fraud will become faster, more personalized, and harder to distinguish from legitimate customer behaviour.”</a:t>
            </a:r>
            <a:endParaRPr lang="en-US" sz="1000" dirty="0"/>
          </a:p>
        </p:txBody>
      </p:sp>
      <p:sp>
        <p:nvSpPr>
          <p:cNvPr id="15" name="Text 13"/>
          <p:cNvSpPr txBox="1"/>
          <p:nvPr/>
        </p:nvSpPr>
        <p:spPr>
          <a:xfrm>
            <a:off x="6416345" y="444398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C-level · Banking</a:t>
            </a:r>
            <a:endParaRPr lang="en-US" sz="900" dirty="0"/>
          </a:p>
        </p:txBody>
      </p:sp>
      <p:sp>
        <p:nvSpPr>
          <p:cNvPr id="16" name="Shape 14"/>
          <p:cNvSpPr/>
          <p:nvPr/>
        </p:nvSpPr>
        <p:spPr>
          <a:xfrm>
            <a:off x="502006" y="4937760"/>
            <a:ext cx="5457139" cy="1600200"/>
          </a:xfrm>
          <a:prstGeom prst="roundRect">
            <a:avLst>
              <a:gd name="adj" fmla="val 2857"/>
            </a:avLst>
          </a:prstGeom>
          <a:solidFill>
            <a:srgbClr val="FFFFFF"/>
          </a:solidFill>
          <a:ln w="9525">
            <a:solidFill>
              <a:srgbClr val="D0D0CE"/>
            </a:solidFill>
            <a:prstDash val="solid"/>
          </a:ln>
        </p:spPr>
      </p:sp>
      <p:sp>
        <p:nvSpPr>
          <p:cNvPr id="17" name="Text 15"/>
          <p:cNvSpPr txBox="1"/>
          <p:nvPr/>
        </p:nvSpPr>
        <p:spPr>
          <a:xfrm>
            <a:off x="684886" y="506577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“Companies are moving away from regular passwords towards decentralized digital credentials and biometric passkeys, as this would minimize phishing and account hacking.”</a:t>
            </a:r>
            <a:endParaRPr lang="en-US" sz="1000" dirty="0"/>
          </a:p>
        </p:txBody>
      </p:sp>
      <p:sp>
        <p:nvSpPr>
          <p:cNvPr id="18" name="Text 16"/>
          <p:cNvSpPr txBox="1"/>
          <p:nvPr/>
        </p:nvSpPr>
        <p:spPr>
          <a:xfrm>
            <a:off x="684886" y="622706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Senior Manager · Banking</a:t>
            </a:r>
            <a:endParaRPr lang="en-US" sz="900" dirty="0"/>
          </a:p>
        </p:txBody>
      </p:sp>
      <p:sp>
        <p:nvSpPr>
          <p:cNvPr id="19" name="Shape 17"/>
          <p:cNvSpPr/>
          <p:nvPr/>
        </p:nvSpPr>
        <p:spPr>
          <a:xfrm>
            <a:off x="6233465" y="4937760"/>
            <a:ext cx="5457139" cy="1600200"/>
          </a:xfrm>
          <a:prstGeom prst="roundRect">
            <a:avLst>
              <a:gd name="adj" fmla="val 2857"/>
            </a:avLst>
          </a:prstGeom>
          <a:solidFill>
            <a:srgbClr val="FFFFFF"/>
          </a:solidFill>
          <a:ln w="9525">
            <a:solidFill>
              <a:srgbClr val="D0D0CE"/>
            </a:solidFill>
            <a:prstDash val="solid"/>
          </a:ln>
        </p:spPr>
      </p:sp>
      <p:sp>
        <p:nvSpPr>
          <p:cNvPr id="20" name="Text 18"/>
          <p:cNvSpPr txBox="1"/>
          <p:nvPr/>
        </p:nvSpPr>
        <p:spPr>
          <a:xfrm>
            <a:off x="6416345" y="506577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“AI will shift fraud management from reactive investigation toward more predictive prevention, which should help us identify risks before losses occur.”</a:t>
            </a:r>
            <a:endParaRPr lang="en-US" sz="1000" dirty="0"/>
          </a:p>
        </p:txBody>
      </p:sp>
      <p:sp>
        <p:nvSpPr>
          <p:cNvPr id="21" name="Text 19"/>
          <p:cNvSpPr txBox="1"/>
          <p:nvPr/>
        </p:nvSpPr>
        <p:spPr>
          <a:xfrm>
            <a:off x="6416345" y="622706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VP · Banking</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50607"/>
        </a:solidFill>
      </p:bgPr>
    </p:bg>
    <p:spTree>
      <p:nvGrpSpPr>
        <p:cNvPr id="1" name=""/>
        <p:cNvGrpSpPr/>
        <p:nvPr/>
      </p:nvGrpSpPr>
      <p:grpSpPr>
        <a:xfrm>
          <a:off x="0" y="0"/>
          <a:ext cx="0" cy="0"/>
          <a:chOff x="0" y="0"/>
          <a:chExt cx="0" cy="0"/>
        </a:xfrm>
      </p:grpSpPr>
      <p:sp>
        <p:nvSpPr>
          <p:cNvPr id="2" name="Text 0"/>
          <p:cNvSpPr txBox="1"/>
          <p:nvPr/>
        </p:nvSpPr>
        <p:spPr>
          <a:xfrm>
            <a:off x="502006" y="457200"/>
            <a:ext cx="1417320" cy="274320"/>
          </a:xfrm>
          <a:prstGeom prst="rect">
            <a:avLst/>
          </a:prstGeom>
          <a:noFill/>
          <a:ln/>
        </p:spPr>
        <p:txBody>
          <a:bodyPr wrap="square" lIns="0" tIns="0" rIns="0" bIns="0"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Deloitte</a:t>
            </a:r>
            <a:endParaRPr lang="en-US" sz="1600" dirty="0"/>
          </a:p>
        </p:txBody>
      </p:sp>
      <p:sp>
        <p:nvSpPr>
          <p:cNvPr id="3" name="Shape 1"/>
          <p:cNvSpPr/>
          <p:nvPr/>
        </p:nvSpPr>
        <p:spPr>
          <a:xfrm>
            <a:off x="1800454" y="598932"/>
            <a:ext cx="82296" cy="82296"/>
          </a:xfrm>
          <a:prstGeom prst="ellipse">
            <a:avLst/>
          </a:prstGeom>
          <a:solidFill>
            <a:srgbClr val="86BC25"/>
          </a:solidFill>
          <a:ln/>
        </p:spPr>
      </p:sp>
      <p:sp>
        <p:nvSpPr>
          <p:cNvPr id="4" name="Text 2"/>
          <p:cNvSpPr txBox="1"/>
          <p:nvPr/>
        </p:nvSpPr>
        <p:spPr>
          <a:xfrm>
            <a:off x="502006" y="4215384"/>
            <a:ext cx="8531352" cy="2167128"/>
          </a:xfrm>
          <a:prstGeom prst="rect">
            <a:avLst/>
          </a:prstGeom>
          <a:noFill/>
          <a:ln/>
        </p:spPr>
        <p:txBody>
          <a:bodyPr wrap="square" lIns="0" tIns="0" rIns="0" bIns="0" rtlCol="0" anchor="t"/>
          <a:lstStyle/>
          <a:p>
            <a:pPr algn="l" indent="0" marL="0">
              <a:lnSpc>
                <a:spcPct val="120000"/>
              </a:lnSpc>
              <a:buNone/>
            </a:pPr>
            <a:r>
              <a:rPr lang="en-US" sz="2800" b="1" dirty="0">
                <a:solidFill>
                  <a:srgbClr val="FFFFFF"/>
                </a:solidFill>
                <a:latin typeface="Calibri" pitchFamily="34" charset="0"/>
                <a:ea typeface="Calibri" pitchFamily="34" charset="-122"/>
                <a:cs typeface="Calibri" pitchFamily="34" charset="-120"/>
              </a:rPr>
              <a:t>Thank you
</a:t>
            </a:r>
            <a:endParaRPr lang="en-US" sz="2800" dirty="0"/>
          </a:p>
          <a:p>
            <a:pPr algn="l" indent="0" marL="0">
              <a:lnSpc>
                <a:spcPct val="120000"/>
              </a:lnSpc>
              <a:buNone/>
            </a:pPr>
            <a:r>
              <a:rPr lang="en-US" sz="1600" b="1" dirty="0">
                <a:solidFill>
                  <a:srgbClr val="86BC25"/>
                </a:solidFill>
                <a:latin typeface="Calibri" pitchFamily="34" charset="0"/>
                <a:ea typeface="Calibri" pitchFamily="34" charset="-122"/>
                <a:cs typeface="Calibri" pitchFamily="34" charset="-120"/>
              </a:rPr>
              <a:t>[Presenter Name]
</a:t>
            </a:r>
            <a:endParaRPr lang="en-US" sz="2800" dirty="0"/>
          </a:p>
          <a:p>
            <a:pPr algn="l" indent="0" marL="0">
              <a:lnSpc>
                <a:spcPct val="120000"/>
              </a:lnSpc>
              <a:buNone/>
            </a:pPr>
            <a:r>
              <a:rPr lang="en-US" sz="1300" dirty="0">
                <a:solidFill>
                  <a:srgbClr val="FFFFFF"/>
                </a:solidFill>
                <a:latin typeface="Calibri" pitchFamily="34" charset="0"/>
                <a:ea typeface="Calibri" pitchFamily="34" charset="-122"/>
                <a:cs typeface="Calibri" pitchFamily="34" charset="-120"/>
              </a:rPr>
              <a:t>[Title | Practice]
</a:t>
            </a:r>
            <a:endParaRPr lang="en-US" sz="2800" dirty="0"/>
          </a:p>
          <a:p>
            <a:pPr algn="l" indent="0" marL="0">
              <a:lnSpc>
                <a:spcPct val="120000"/>
              </a:lnSpc>
              <a:buNone/>
            </a:pPr>
            <a:r>
              <a:rPr lang="en-US" sz="1300" dirty="0">
                <a:solidFill>
                  <a:srgbClr val="D0D0CE"/>
                </a:solidFill>
                <a:latin typeface="Calibri" pitchFamily="34" charset="0"/>
                <a:ea typeface="Calibri" pitchFamily="34" charset="-122"/>
                <a:cs typeface="Calibri" pitchFamily="34" charset="-120"/>
              </a:rPr>
              <a:t>[email@deloitte.com]</a:t>
            </a:r>
            <a:endParaRPr lang="en-US" sz="2800" dirty="0"/>
          </a:p>
        </p:txBody>
      </p:sp>
      <p:sp>
        <p:nvSpPr>
          <p:cNvPr id="5" name="Shape 3"/>
          <p:cNvSpPr/>
          <p:nvPr/>
        </p:nvSpPr>
        <p:spPr>
          <a:xfrm>
            <a:off x="9372600" y="4215384"/>
            <a:ext cx="2322576" cy="1728216"/>
          </a:xfrm>
          <a:prstGeom prst="rect">
            <a:avLst/>
          </a:prstGeom>
          <a:solidFill>
            <a:srgbClr val="0B1C14"/>
          </a:solidFill>
          <a:ln w="9525">
            <a:solidFill>
              <a:srgbClr val="86BC25"/>
            </a:solidFill>
            <a:prstDash val="solid"/>
          </a:ln>
        </p:spPr>
      </p:sp>
      <p:sp>
        <p:nvSpPr>
          <p:cNvPr id="6" name="Text 4"/>
          <p:cNvSpPr txBox="1"/>
          <p:nvPr/>
        </p:nvSpPr>
        <p:spPr>
          <a:xfrm>
            <a:off x="9372600" y="4892040"/>
            <a:ext cx="2322576" cy="365760"/>
          </a:xfrm>
          <a:prstGeom prst="rect">
            <a:avLst/>
          </a:prstGeom>
          <a:noFill/>
          <a:ln/>
        </p:spPr>
        <p:txBody>
          <a:bodyPr wrap="square" rtlCol="0" anchor="ctr"/>
          <a:lstStyle/>
          <a:p>
            <a:pPr algn="ctr" indent="0" marL="0">
              <a:buNone/>
            </a:pPr>
            <a:r>
              <a:rPr lang="en-US" sz="1600" b="1" dirty="0">
                <a:solidFill>
                  <a:srgbClr val="86BC25"/>
                </a:solidFill>
                <a:latin typeface="Calibri" pitchFamily="34" charset="0"/>
                <a:ea typeface="Calibri" pitchFamily="34" charset="-122"/>
                <a:cs typeface="Calibri" pitchFamily="34" charset="-120"/>
              </a:rPr>
              <a:t>D.FEND</a:t>
            </a:r>
            <a:endParaRPr lang="en-US" sz="1600" dirty="0"/>
          </a:p>
        </p:txBody>
      </p:sp>
      <p:sp>
        <p:nvSpPr>
          <p:cNvPr id="7" name="Text 5"/>
          <p:cNvSpPr txBox="1"/>
          <p:nvPr/>
        </p:nvSpPr>
        <p:spPr>
          <a:xfrm>
            <a:off x="9370771" y="6016752"/>
            <a:ext cx="2322576" cy="365760"/>
          </a:xfrm>
          <a:prstGeom prst="rect">
            <a:avLst/>
          </a:prstGeom>
          <a:noFill/>
          <a:ln/>
        </p:spPr>
        <p:txBody>
          <a:bodyPr wrap="square" rtlCol="0" anchor="ctr"/>
          <a:lstStyle/>
          <a:p>
            <a:pPr algn="ctr" indent="0" marL="0">
              <a:buNone/>
            </a:pPr>
            <a:r>
              <a:rPr lang="en-US" sz="1000" i="1" dirty="0">
                <a:solidFill>
                  <a:srgbClr val="D0D0CE"/>
                </a:solidFill>
                <a:latin typeface="Calibri" pitchFamily="34" charset="0"/>
                <a:ea typeface="Calibri" pitchFamily="34" charset="-122"/>
                <a:cs typeface="Calibri" pitchFamily="34" charset="-120"/>
              </a:rPr>
              <a:t>Fin Crime Forum</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2026-09-25T15:45:56Z</dcterms:created>
  <dcterms:modified xsi:type="dcterms:W3CDTF">2026-09-25T15:45:56Z</dcterms:modified>
</cp:coreProperties>
</file>