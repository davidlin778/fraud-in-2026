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30_CD6FE54A.xml" ContentType="application/vnd.ms-powerpoint.comments+xml"/>
  <Override PartName="/ppt/comments/modernComment_13B_5A44D05C.xml" ContentType="application/vnd.ms-powerpoint.comments+xml"/>
  <Override PartName="/ppt/comments/modernComment_7FFFFFED_950478FA.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147483631" r:id="rId2"/>
    <p:sldId id="2147483629" r:id="rId3"/>
    <p:sldId id="303" r:id="rId4"/>
    <p:sldId id="2147483632" r:id="rId5"/>
    <p:sldId id="304" r:id="rId6"/>
    <p:sldId id="315" r:id="rId7"/>
    <p:sldId id="305" r:id="rId8"/>
    <p:sldId id="2147483633" r:id="rId15"/>
    <p:sldId id="214748363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1239FBB-7C6A-8AFA-2D62-F020A8490F80}" name="Lin, David" initials="DL" userId="S::davlin@deloitte.ca::ce1f04b3-c96a-433f-995d-d2a58be28702" providerId="AD"/>
  <p188:author id="{4D942AE9-6EA2-E243-FB88-4244E123F471}" name="Luh, Kevin" initials="KL" userId="S::kluh@deloitte.ca::b0cf5418-ad74-4820-a41c-cc0e018a4c6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 Id="rId15" Type="http://schemas.openxmlformats.org/officeDocument/2006/relationships/slide" Target="slides/slide8.xml"/><Relationship Id="rId16" Type="http://schemas.openxmlformats.org/officeDocument/2006/relationships/slide" Target="slides/slide9.xml"/></Relationships>
</file>

<file path=ppt/comments/modernComment_7FFFFFED_950478FA.xml><?xml version="1.0" encoding="utf-8"?>
<p188:cmLst xmlns:a="http://schemas.openxmlformats.org/drawingml/2006/main" xmlns:r="http://schemas.openxmlformats.org/officeDocument/2006/relationships" xmlns:p188="http://schemas.microsoft.com/office/powerpoint/2018/8/main">
  <p188:cm id="{6E06F0A0-A200-47CB-A043-C2E6B58A07EA}" authorId="{41239FBB-7C6A-8AFA-2D62-F020A8490F80}" created="2026-09-22T02:42:20.562">
    <ac:txMkLst xmlns:ac="http://schemas.microsoft.com/office/drawing/2013/main/command">
      <pc:docMk xmlns:pc="http://schemas.microsoft.com/office/powerpoint/2013/main/command"/>
      <pc:sldMk xmlns:pc="http://schemas.microsoft.com/office/powerpoint/2013/main/command" cId="2500098298" sldId="2147483629"/>
      <ac:spMk id="2" creationId="{85AFB5D3-7234-0C65-7802-94DEC4E59269}"/>
      <ac:txMk cp="0">
        <ac:context len="688" hash="4189070440"/>
      </ac:txMk>
    </ac:txMkLst>
    <p188:pos x="11680093" y="406729"/>
    <p188:txBody>
      <a:bodyPr/>
      <a:lstStyle/>
      <a:p>
        <a:r>
          <a:rPr lang="en-CA"/>
          <a:t>https://secure.businesswire.com/news/home/20250916314726/en/Deepfakes-Already-Hitting-Businesses-as-Often-as-Traditional-Fraud-Regula-Survey-Finds</a:t>
        </a:r>
      </a:p>
    </p188:txBody>
  </p188:cm>
  <p188:cm id="{09CE1B0B-F415-4253-B7B2-78EB88D21091}" authorId="{4D942AE9-6EA2-E243-FB88-4244E123F471}" created="2026-09-28T17:51:25.879">
    <ac:deMkLst xmlns:ac="http://schemas.microsoft.com/office/drawing/2013/main/command">
      <pc:docMk xmlns:pc="http://schemas.microsoft.com/office/powerpoint/2013/main/command"/>
      <pc:sldMk xmlns:pc="http://schemas.microsoft.com/office/powerpoint/2013/main/command" cId="2500098298" sldId="2147483629"/>
      <ac:spMk id="256" creationId="{E5D0CFF1-7AC7-CD45-2BFA-FA80EC40865F}"/>
    </ac:deMkLst>
    <p188:replyLst>
      <p188:reply id="{AB8867B0-8275-4B3D-BB8A-5E444F2AD37C}" authorId="{41239FBB-7C6A-8AFA-2D62-F020A8490F80}" created="2026-09-28T17:56:14.232">
        <p188:txBody>
          <a:bodyPr/>
          <a:lstStyle/>
          <a:p>
            <a:r>
              <a:rPr lang="en-CA"/>
              <a:t>More things to do in contact center for insurance</a:t>
            </a:r>
          </a:p>
        </p188:txBody>
      </p188:reply>
    </p188:replyLst>
    <p188:txBody>
      <a:bodyPr/>
      <a:lstStyle/>
      <a:p>
        <a:r>
          <a:rPr lang="en-CA"/>
          <a:t>Onboarding and payment/claim flow are among the most vulnerable channels across banking and insurance (provide stats on this)
Where it varies between banks/insurance is on contact center, while place high in insurance, it is selected as less vulnerable for banks -&gt; come up with some statements on why this is the same</a:t>
        </a:r>
      </a:p>
    </p188:txBody>
  </p188:cm>
  <p188:cm id="{9882D1BB-0717-4F3F-9933-2904579788DD}" authorId="{4D942AE9-6EA2-E243-FB88-4244E123F471}" created="2026-09-28T17:53:42.185">
    <pc:sldMkLst xmlns:pc="http://schemas.microsoft.com/office/powerpoint/2013/main/command">
      <pc:docMk/>
      <pc:sldMk cId="2500098298" sldId="2147483629"/>
    </pc:sldMkLst>
    <p188:txBody>
      <a:bodyPr/>
      <a:lstStyle/>
      <a:p>
        <a:r>
          <a:rPr lang="en-CA"/>
          <a:t>Separate out the bottom part of the report into a separate page to have more room to elaborate on the response to this threat changes </a:t>
        </a:r>
      </a:p>
    </p188:txBody>
  </p188:cm>
</p188:cmLst>
</file>

<file path=ppt/comments/modernComment_13B_5A44D05C.xml><?xml version="1.0" encoding="utf-8"?>
<p188:cmLst xmlns:a="http://schemas.openxmlformats.org/drawingml/2006/main" xmlns:r="http://schemas.openxmlformats.org/officeDocument/2006/relationships" xmlns:p188="http://schemas.microsoft.com/office/powerpoint/2018/8/main">
  <p188:cm id="{30236391-1D03-4455-AC4F-E1A8089CEBDC}" authorId="{41239FBB-7C6A-8AFA-2D62-F020A8490F80}" created="2026-09-28T17:59:21.551">
    <pc:sldMkLst xmlns:pc="http://schemas.microsoft.com/office/powerpoint/2013/main/command">
      <pc:docMk/>
      <pc:sldMk cId="443121564" sldId="269"/>
    </pc:sldMkLst>
    <p188:txBody>
      <a:bodyPr/>
      <a:lstStyle/>
      <a:p>
        <a:r>
          <a:rPr lang="en-CA"/>
          <a:t>Break out this slide into 2</a:t>
        </a:r>
      </a:p>
    </p188:txBody>
  </p188:cm>
  <p188:cm id="{234B3409-0648-4720-B54B-47BE567A2A5B}" authorId="{41239FBB-7C6A-8AFA-2D62-F020A8490F80}" created="2026-09-28T18:02:06.510">
    <ac:deMkLst xmlns:ac="http://schemas.microsoft.com/office/drawing/2013/main/command">
      <pc:docMk xmlns:pc="http://schemas.microsoft.com/office/powerpoint/2013/main/command"/>
      <pc:sldMk xmlns:pc="http://schemas.microsoft.com/office/powerpoint/2013/main/command" cId="1514459228" sldId="315"/>
      <ac:spMk id="61" creationId="{8059B5FE-844C-B947-9761-CFCB88530352}"/>
    </ac:deMkLst>
    <p188:txBody>
      <a:bodyPr/>
      <a:lstStyle/>
      <a:p>
        <a:r>
          <a:rPr lang="en-CA"/>
          <a:t>Centralized sharing utitliy is the best solution to poor data quality, shifting responsibility from private to public</a:t>
        </a:r>
      </a:p>
    </p188:txBody>
  </p188:cm>
  <p188:cm id="{8537DA65-16F7-47BD-A2E5-D717F887E947}" authorId="{41239FBB-7C6A-8AFA-2D62-F020A8490F80}" created="2026-09-28T18:02:36.415">
    <ac:deMkLst xmlns:ac="http://schemas.microsoft.com/office/drawing/2013/main/command">
      <pc:docMk xmlns:pc="http://schemas.microsoft.com/office/powerpoint/2013/main/command"/>
      <pc:sldMk xmlns:pc="http://schemas.microsoft.com/office/powerpoint/2013/main/command" cId="1514459228" sldId="315"/>
      <ac:spMk id="61" creationId="{8059B5FE-844C-B947-9761-CFCB88530352}"/>
    </ac:deMkLst>
    <p188:txBody>
      <a:bodyPr/>
      <a:lstStyle/>
      <a:p>
        <a:r>
          <a:rPr lang="en-CA"/>
          <a:t>Look for a quote, seeking certain type of government action</a:t>
        </a:r>
      </a:p>
    </p188:txBody>
  </p188:cm>
</p188:cmLst>
</file>

<file path=ppt/comments/modernComment_130_CD6FE54A.xml><?xml version="1.0" encoding="utf-8"?>
<p188:cmLst xmlns:a="http://schemas.openxmlformats.org/drawingml/2006/main" xmlns:r="http://schemas.openxmlformats.org/officeDocument/2006/relationships" xmlns:p188="http://schemas.microsoft.com/office/powerpoint/2018/8/main">
  <p188:cm id="{B02644FF-280F-4E8A-B7B6-38FFC841DBE6}" authorId="{41239FBB-7C6A-8AFA-2D62-F020A8490F80}" created="2026-09-28T17:59:21.551">
    <pc:sldMkLst xmlns:pc="http://schemas.microsoft.com/office/powerpoint/2013/main/command">
      <pc:docMk/>
      <pc:sldMk cId="443121564" sldId="269"/>
    </pc:sldMkLst>
    <p188:txBody>
      <a:bodyPr/>
      <a:lstStyle/>
      <a:p>
        <a:r>
          <a:rPr lang="en-CA"/>
          <a:t>Break out this slide into 2</a:t>
        </a:r>
      </a:p>
    </p188:txBody>
  </p188:cm>
  <p188:cm id="{057AEF08-C29E-4F4E-9BF2-97A639C81427}" authorId="{41239FBB-7C6A-8AFA-2D62-F020A8490F80}" created="2026-09-28T18:02:06.510">
    <ac:deMkLst xmlns:ac="http://schemas.microsoft.com/office/drawing/2013/main/command">
      <pc:docMk xmlns:pc="http://schemas.microsoft.com/office/powerpoint/2013/main/command"/>
      <pc:sldMk xmlns:pc="http://schemas.microsoft.com/office/powerpoint/2013/main/command" cId="3446662474" sldId="304"/>
      <ac:spMk id="61" creationId="{C08020A9-A257-0955-B347-A447812E4840}"/>
    </ac:deMkLst>
    <p188:txBody>
      <a:bodyPr/>
      <a:lstStyle/>
      <a:p>
        <a:r>
          <a:rPr lang="en-CA"/>
          <a:t>Centralized sharing utitliy is the best solution to poor data quality, shifting responsibility from private to public</a:t>
        </a:r>
      </a:p>
    </p188:txBody>
  </p188:cm>
  <p188:cm id="{1BAA74B2-C4E7-4917-8756-3080252F0B91}" authorId="{41239FBB-7C6A-8AFA-2D62-F020A8490F80}" created="2026-09-28T18:02:36.415">
    <ac:deMkLst xmlns:ac="http://schemas.microsoft.com/office/drawing/2013/main/command">
      <pc:docMk xmlns:pc="http://schemas.microsoft.com/office/powerpoint/2013/main/command"/>
      <pc:sldMk xmlns:pc="http://schemas.microsoft.com/office/powerpoint/2013/main/command" cId="3446662474" sldId="304"/>
      <ac:spMk id="61" creationId="{C08020A9-A257-0955-B347-A447812E4840}"/>
    </ac:deMkLst>
    <p188:txBody>
      <a:bodyPr/>
      <a:lstStyle/>
      <a:p>
        <a:r>
          <a:rPr lang="en-CA"/>
          <a:t>Look for a quote, seeking certain type of government action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407DD-7D4F-4149-BFC1-D4208C42B517}" type="datetimeFigureOut">
              <a:rPr lang="en-CA" smtClean="0"/>
              <a:t>2026-09-30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940475-704E-42FA-B5AE-EB50A7D18FBD}" type="slidenum">
              <a:rPr lang="en-CA" smtClean="0"/>
              <a:t>‹#›</a:t>
            </a:fld>
            <a:endParaRPr lang="en-CA"/>
          </a:p>
        </p:txBody>
      </p:sp>
    </p:spTree>
    <p:extLst>
      <p:ext uri="{BB962C8B-B14F-4D97-AF65-F5344CB8AC3E}">
        <p14:creationId xmlns:p14="http://schemas.microsoft.com/office/powerpoint/2010/main" val="390167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CCA6-A9A1-C2BA-4B5A-BB0DDDEA8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EF92E-4E63-CE04-E679-5D18D8E34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D101C-0683-E170-8004-C35C4E1E7A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13357E-3C13-72FB-B435-46C2BCE61A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28956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58132-CE44-2444-1E6E-5EC55FC91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F681A-CBD4-E0E6-CE7C-EB12616F7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B4F85-EF75-4C7F-4938-2C7150443F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45D1A5-9698-045A-67FB-B4CD121D3D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092149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9AEC-B1A5-0F09-A9C1-40308FA5B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37F52-CBF2-981C-EF95-DA4A609AD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C43F0-DFCB-D866-F7C8-C4819A64B371}"/>
              </a:ext>
            </a:extLst>
          </p:cNvPr>
          <p:cNvSpPr>
            <a:spLocks noGrp="1"/>
          </p:cNvSpPr>
          <p:nvPr>
            <p:ph type="body" idx="1"/>
          </p:nvPr>
        </p:nvSpPr>
        <p:spPr/>
        <p:txBody>
          <a:bodyPr/>
          <a:lstStyle/>
          <a:p>
            <a:pPr fontAlgn="t"/>
            <a:endParaRPr lang="en-US" b="1"/>
          </a:p>
        </p:txBody>
      </p:sp>
      <p:sp>
        <p:nvSpPr>
          <p:cNvPr id="4" name="Slide Number Placeholder 3">
            <a:extLst>
              <a:ext uri="{FF2B5EF4-FFF2-40B4-BE49-F238E27FC236}">
                <a16:creationId xmlns:a16="http://schemas.microsoft.com/office/drawing/2014/main" id="{9D742046-83C3-C9F4-B0DA-781D78CC58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132824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0E8A2-8805-0E3A-3C9A-59BF9B367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B78FF-10C6-91C8-DCFA-FE2F1AB82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51B92-A267-6AAB-0F9D-7C818DCCB88A}"/>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35AFFE38-61E5-55DC-D6D2-6E33AF8231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167873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Circle Black">
  <p:cSld name="Title Slide - Circle Black">
    <p:bg>
      <p:bgPr>
        <a:solidFill>
          <a:schemeClr val="lt1"/>
        </a:solidFill>
        <a:effectLst/>
      </p:bgPr>
    </p:bg>
    <p:spTree>
      <p:nvGrpSpPr>
        <p:cNvPr id="1" name="Shape 15"/>
        <p:cNvGrpSpPr/>
        <p:nvPr/>
      </p:nvGrpSpPr>
      <p:grpSpPr>
        <a:xfrm>
          <a:off x="0" y="0"/>
          <a:ext cx="0" cy="0"/>
          <a:chOff x="0" y="0"/>
          <a:chExt cx="0" cy="0"/>
        </a:xfrm>
      </p:grpSpPr>
      <p:sp>
        <p:nvSpPr>
          <p:cNvPr id="16" name="Google Shape;16;p10"/>
          <p:cNvSpPr txBox="1">
            <a:spLocks noGrp="1"/>
          </p:cNvSpPr>
          <p:nvPr>
            <p:ph type="subTitle" idx="1"/>
          </p:nvPr>
        </p:nvSpPr>
        <p:spPr>
          <a:xfrm>
            <a:off x="475201" y="5845182"/>
            <a:ext cx="5592011" cy="505645"/>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chemeClr val="dk1"/>
              </a:buClr>
              <a:buSzPts val="1200"/>
              <a:buNone/>
              <a:defRPr sz="12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0"/>
          <p:cNvSpPr txBox="1">
            <a:spLocks noGrp="1"/>
          </p:cNvSpPr>
          <p:nvPr>
            <p:ph type="body" idx="2"/>
          </p:nvPr>
        </p:nvSpPr>
        <p:spPr>
          <a:xfrm>
            <a:off x="475200" y="6362701"/>
            <a:ext cx="5594349" cy="298451"/>
          </a:xfrm>
          <a:prstGeom prst="rect">
            <a:avLst/>
          </a:prstGeom>
          <a:noFill/>
          <a:ln>
            <a:noFill/>
          </a:ln>
        </p:spPr>
        <p:txBody>
          <a:bodyPr spcFirstLastPara="1" wrap="square" lIns="91425" tIns="45700" rIns="91425" bIns="45700" anchor="t" anchorCtr="0">
            <a:normAutofit/>
          </a:bodyPr>
          <a:lstStyle>
            <a:lvl1pPr marL="457200" lvl="0" indent="-278638" algn="l">
              <a:lnSpc>
                <a:spcPct val="90000"/>
              </a:lnSpc>
              <a:spcBef>
                <a:spcPts val="1000"/>
              </a:spcBef>
              <a:spcAft>
                <a:spcPts val="0"/>
              </a:spcAft>
              <a:buClr>
                <a:schemeClr val="dk1"/>
              </a:buClr>
              <a:buSzPts val="788"/>
              <a:buChar char="•"/>
              <a:defRPr sz="788">
                <a:solidFill>
                  <a:schemeClr val="dk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0"/>
          <p:cNvSpPr txBox="1">
            <a:spLocks noGrp="1"/>
          </p:cNvSpPr>
          <p:nvPr>
            <p:ph type="ftr" idx="11"/>
          </p:nvPr>
        </p:nvSpPr>
        <p:spPr>
          <a:xfrm>
            <a:off x="6371303" y="6552087"/>
            <a:ext cx="5149153" cy="177801"/>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sz="65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90325823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mp; 1 column text">
  <p:cSld name="Title, subtitle &amp; 1 column text">
    <p:spTree>
      <p:nvGrpSpPr>
        <p:cNvPr id="1" name="Shape 19"/>
        <p:cNvGrpSpPr/>
        <p:nvPr/>
      </p:nvGrpSpPr>
      <p:grpSpPr>
        <a:xfrm>
          <a:off x="0" y="0"/>
          <a:ext cx="0" cy="0"/>
          <a:chOff x="0" y="0"/>
          <a:chExt cx="0" cy="0"/>
        </a:xfrm>
      </p:grpSpPr>
      <p:sp>
        <p:nvSpPr>
          <p:cNvPr id="20" name="Google Shape;20;p11"/>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575757"/>
              </a:buClr>
              <a:buSzPts val="1400"/>
              <a:buNone/>
              <a:defRPr sz="1400" b="0">
                <a:solidFill>
                  <a:srgbClr val="575757"/>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1"/>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000"/>
              <a:buFont typeface="Open Sans"/>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body" idx="2"/>
          </p:nvPr>
        </p:nvSpPr>
        <p:spPr>
          <a:xfrm>
            <a:off x="469900" y="1665818"/>
            <a:ext cx="11252200" cy="463338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1"/>
          <p:cNvSpPr txBox="1">
            <a:spLocks noGrp="1"/>
          </p:cNvSpPr>
          <p:nvPr>
            <p:ph type="sldNum" idx="12"/>
          </p:nvPr>
        </p:nvSpPr>
        <p:spPr>
          <a:xfrm>
            <a:off x="11609890" y="6592369"/>
            <a:ext cx="112210" cy="107722"/>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9661326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9"/>
        <p:cNvGrpSpPr/>
        <p:nvPr/>
      </p:nvGrpSpPr>
      <p:grpSpPr>
        <a:xfrm>
          <a:off x="0" y="0"/>
          <a:ext cx="0" cy="0"/>
          <a:chOff x="0" y="0"/>
          <a:chExt cx="0" cy="0"/>
        </a:xfrm>
      </p:grpSpPr>
      <p:sp>
        <p:nvSpPr>
          <p:cNvPr id="30" name="Google Shape;30;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35" name="Google Shape;35;p12"/>
          <p:cNvGrpSpPr/>
          <p:nvPr/>
        </p:nvGrpSpPr>
        <p:grpSpPr>
          <a:xfrm>
            <a:off x="475325" y="457200"/>
            <a:ext cx="1998000" cy="374400"/>
            <a:chOff x="398463" y="404813"/>
            <a:chExt cx="1627187" cy="307976"/>
          </a:xfrm>
        </p:grpSpPr>
        <p:sp>
          <p:nvSpPr>
            <p:cNvPr id="36" name="Google Shape;36;p1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7" name="Google Shape;37;p1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8" name="Google Shape;38;p1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9" name="Google Shape;39;p1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0" name="Google Shape;40;p1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1" name="Google Shape;41;p1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2" name="Google Shape;42;p1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3" name="Google Shape;43;p1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4" name="Google Shape;44;p1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5" name="Google Shape;45;p1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grpSp>
      <p:sp>
        <p:nvSpPr>
          <p:cNvPr id="2" name="Date Placeholder 1">
            <a:extLst>
              <a:ext uri="{FF2B5EF4-FFF2-40B4-BE49-F238E27FC236}">
                <a16:creationId xmlns:a16="http://schemas.microsoft.com/office/drawing/2014/main" id="{C92E2541-1AC4-5B75-7824-75662CB57431}"/>
              </a:ext>
            </a:extLst>
          </p:cNvPr>
          <p:cNvSpPr>
            <a:spLocks noGrp="1"/>
          </p:cNvSpPr>
          <p:nvPr>
            <p:ph type="dt" idx="10"/>
          </p:nvPr>
        </p:nvSpPr>
        <p:spPr/>
        <p:txBody>
          <a:bodyPr/>
          <a:lstStyle/>
          <a:p>
            <a:endParaRPr lang="en-US"/>
          </a:p>
        </p:txBody>
      </p:sp>
      <p:sp>
        <p:nvSpPr>
          <p:cNvPr id="3" name="Footer Placeholder 2">
            <a:extLst>
              <a:ext uri="{FF2B5EF4-FFF2-40B4-BE49-F238E27FC236}">
                <a16:creationId xmlns:a16="http://schemas.microsoft.com/office/drawing/2014/main" id="{12D88A18-355B-BB41-0B55-B4C132827877}"/>
              </a:ext>
            </a:extLst>
          </p:cNvPr>
          <p:cNvSpPr>
            <a:spLocks noGrp="1"/>
          </p:cNvSpPr>
          <p:nvPr>
            <p:ph type="ftr" idx="11"/>
          </p:nvPr>
        </p:nvSpPr>
        <p:spPr/>
        <p:txBody>
          <a:bodyPr/>
          <a:lstStyle/>
          <a:p>
            <a:endParaRPr lang="en-US"/>
          </a:p>
        </p:txBody>
      </p:sp>
      <p:sp>
        <p:nvSpPr>
          <p:cNvPr id="4" name="Slide Number Placeholder 3">
            <a:extLst>
              <a:ext uri="{FF2B5EF4-FFF2-40B4-BE49-F238E27FC236}">
                <a16:creationId xmlns:a16="http://schemas.microsoft.com/office/drawing/2014/main" id="{175D6523-0340-588F-A9C9-D326524738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62264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sp>
        <p:nvSpPr>
          <p:cNvPr id="3" name="TextBox 2">
            <a:extLst>
              <a:ext uri="{FF2B5EF4-FFF2-40B4-BE49-F238E27FC236}">
                <a16:creationId xmlns:a16="http://schemas.microsoft.com/office/drawing/2014/main" id="{6102FFCD-B501-1142-A272-5F0C11AB20A6}"/>
              </a:ext>
            </a:extLst>
          </p:cNvPr>
          <p:cNvSpPr txBox="1"/>
          <p:nvPr userDrawn="1"/>
        </p:nvSpPr>
        <p:spPr>
          <a:xfrm>
            <a:off x="5931692" y="6559550"/>
            <a:ext cx="328616" cy="153888"/>
          </a:xfrm>
          <a:prstGeom prst="rect">
            <a:avLst/>
          </a:prstGeom>
          <a:noFill/>
        </p:spPr>
        <p:txBody>
          <a:bodyPr wrap="none" lIns="0" tIns="0" rIns="0" bIns="0" rtlCol="0">
            <a:spAutoFit/>
          </a:bodyPr>
          <a:lstStyle/>
          <a:p>
            <a:pPr marL="0" indent="0" algn="ctr">
              <a:spcBef>
                <a:spcPts val="800"/>
              </a:spcBef>
              <a:buSzPct val="100000"/>
              <a:buFont typeface="Arial"/>
              <a:buNone/>
            </a:pPr>
            <a:r>
              <a:rPr lang="en-US" sz="1000" noProof="0">
                <a:solidFill>
                  <a:schemeClr val="bg1">
                    <a:lumMod val="65000"/>
                  </a:schemeClr>
                </a:solidFill>
                <a:latin typeface="Segoe UI" panose="020B0502040204020203" pitchFamily="34" charset="0"/>
                <a:cs typeface="Segoe UI" panose="020B0502040204020203" pitchFamily="34" charset="0"/>
              </a:rPr>
              <a:t>- </a:t>
            </a:r>
            <a:fld id="{C58DF478-B544-4ED8-9ED4-6A2648E2D233}" type="slidenum">
              <a:rPr lang="en-US" sz="1000" noProof="0" smtClean="0">
                <a:solidFill>
                  <a:schemeClr val="bg1">
                    <a:lumMod val="65000"/>
                  </a:schemeClr>
                </a:solidFill>
                <a:latin typeface="Segoe UI" panose="020B0502040204020203" pitchFamily="34" charset="0"/>
                <a:cs typeface="Segoe UI" panose="020B0502040204020203" pitchFamily="34" charset="0"/>
              </a:rPr>
              <a:pPr marL="0" indent="0" algn="ctr">
                <a:spcBef>
                  <a:spcPts val="800"/>
                </a:spcBef>
                <a:buSzPct val="100000"/>
                <a:buFont typeface="Arial"/>
                <a:buNone/>
              </a:pPr>
              <a:t>‹#›</a:t>
            </a:fld>
            <a:r>
              <a:rPr lang="en-US" sz="1000" noProof="0">
                <a:solidFill>
                  <a:schemeClr val="bg1">
                    <a:lumMod val="65000"/>
                  </a:schemeClr>
                </a:solidFill>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882920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1865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06279825"/>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microsoft.com/office/2018/10/relationships/comments" Target="../comments/modernComment_7FFFFFED_950478FA.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microsoft.com/office/2018/10/relationships/comments" Target="../comments/modernComment_130_CD6FE54A.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slideLayout" Target="../slideLayouts/slideLayout4.xml"/><Relationship Id="rId5" Type="http://schemas.openxmlformats.org/officeDocument/2006/relationships/notesSlide" Target="../notesSlides/notesSlide4.xml"/><Relationship Id="rId6" Type="http://schemas.microsoft.com/office/2018/10/relationships/comments" Target="../comments/modernComment_13B_5A44D05C.xml"/><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F9E280C0-E3F4-BB87-45BF-69E64033F97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AF24DB7-602A-17A2-3448-D3532DE97F85}"/>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1. Deepfake &amp; Emerging AI Risk</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t>“The convergence of </a:t>
            </a:r>
            <a:r>
              <a:rPr kumimoji="0" lang="en-US" sz="2000" b="0" i="1" u="none" strike="noStrike" kern="0" cap="none" spc="0" normalizeH="0" baseline="0" noProof="0" err="1">
                <a:ln>
                  <a:noFill/>
                </a:ln>
                <a:solidFill>
                  <a:srgbClr val="FFFFFF"/>
                </a:solidFill>
                <a:effectLst/>
                <a:uLnTx/>
                <a:uFillTx/>
                <a:latin typeface="Calibri" pitchFamily="34" charset="0"/>
                <a:ea typeface="Calibri" pitchFamily="34" charset="-122"/>
                <a:cs typeface="Calibri" pitchFamily="34" charset="-120"/>
                <a:sym typeface="Open Sans"/>
              </a:rPr>
              <a:t>genAI</a:t>
            </a:r>
            <a:r>
              <a:rPr kumimoji="0" lang="en-US" sz="2000" b="0"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t>, synthetic identities and real time digital identity verification. This will matter significantly because fraudsters will become AI-native, identity becomes the new battleground, fraud prevention will replace fraud detection, and the winners will use AI against AI.” </a:t>
            </a:r>
            <a:r>
              <a:rPr kumimoji="0" lang="en-US" sz="2000" b="1"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t>– Director of Top 50 Global Insurance Firm</a:t>
            </a:r>
            <a:endParaRPr kumimoji="0" lang="en-US" sz="2000" b="1" i="0" u="none" strike="noStrike" kern="0" cap="none" spc="0" normalizeH="0" baseline="0" noProof="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2659750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64CF-BD02-BFA8-ACA5-6C59176150C1}"/>
            </a:ext>
          </a:extLst>
        </p:cNvPr>
        <p:cNvGrpSpPr/>
        <p:nvPr/>
      </p:nvGrpSpPr>
      <p:grpSpPr>
        <a:xfrm>
          <a:off x="0" y="0"/>
          <a:ext cx="0" cy="0"/>
          <a:chOff x="0" y="0"/>
          <a:chExt cx="0" cy="0"/>
        </a:xfrm>
      </p:grpSpPr>
      <p:grpSp>
        <p:nvGrpSpPr>
          <p:cNvPr id="213" name="Group 212">
            <a:extLst>
              <a:ext uri="{FF2B5EF4-FFF2-40B4-BE49-F238E27FC236}">
                <a16:creationId xmlns:a16="http://schemas.microsoft.com/office/drawing/2014/main" id="{F212CBAD-0837-DE96-B7A8-0AAD59AAE46A}"/>
              </a:ext>
            </a:extLst>
          </p:cNvPr>
          <p:cNvGrpSpPr/>
          <p:nvPr/>
        </p:nvGrpSpPr>
        <p:grpSpPr>
          <a:xfrm>
            <a:off x="294640" y="2617876"/>
            <a:ext cx="5469128" cy="2238954"/>
            <a:chOff x="335280" y="2617876"/>
            <a:chExt cx="5469128" cy="2238954"/>
          </a:xfrm>
        </p:grpSpPr>
        <p:sp>
          <p:nvSpPr>
            <p:cNvPr id="140" name="Shape 20">
              <a:extLst>
                <a:ext uri="{FF2B5EF4-FFF2-40B4-BE49-F238E27FC236}">
                  <a16:creationId xmlns:a16="http://schemas.microsoft.com/office/drawing/2014/main" id="{809FE623-0B72-1F30-0238-7F4C99069679}"/>
                </a:ext>
              </a:extLst>
            </p:cNvPr>
            <p:cNvSpPr/>
            <p:nvPr/>
          </p:nvSpPr>
          <p:spPr>
            <a:xfrm>
              <a:off x="5321581" y="3550686"/>
              <a:ext cx="482827" cy="420769"/>
            </a:xfrm>
            <a:prstGeom prst="mathPlus">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94" name="Rectangle: Rounded Corners 193">
              <a:extLst>
                <a:ext uri="{FF2B5EF4-FFF2-40B4-BE49-F238E27FC236}">
                  <a16:creationId xmlns:a16="http://schemas.microsoft.com/office/drawing/2014/main" id="{206DADC6-597A-D236-0026-A7C549DA5AB3}"/>
                </a:ext>
              </a:extLst>
            </p:cNvPr>
            <p:cNvSpPr/>
            <p:nvPr/>
          </p:nvSpPr>
          <p:spPr>
            <a:xfrm>
              <a:off x="653719" y="2617876"/>
              <a:ext cx="3840480" cy="237827"/>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500" b="1" i="0" u="none" strike="noStrike" kern="0" cap="none" spc="10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3" name="Rectangle: Rounded Corners 2">
              <a:extLst>
                <a:ext uri="{FF2B5EF4-FFF2-40B4-BE49-F238E27FC236}">
                  <a16:creationId xmlns:a16="http://schemas.microsoft.com/office/drawing/2014/main" id="{F8412A26-83C4-E880-5533-20E025C13EA7}"/>
                </a:ext>
              </a:extLst>
            </p:cNvPr>
            <p:cNvSpPr/>
            <p:nvPr/>
          </p:nvSpPr>
          <p:spPr>
            <a:xfrm>
              <a:off x="335280" y="2617876"/>
              <a:ext cx="5400000" cy="2238954"/>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9" name="Text 11">
              <a:extLst>
                <a:ext uri="{FF2B5EF4-FFF2-40B4-BE49-F238E27FC236}">
                  <a16:creationId xmlns:a16="http://schemas.microsoft.com/office/drawing/2014/main" id="{0139F2E4-BF9F-2289-165B-7509BC6822EE}"/>
                </a:ext>
              </a:extLst>
            </p:cNvPr>
            <p:cNvSpPr/>
            <p:nvPr/>
          </p:nvSpPr>
          <p:spPr>
            <a:xfrm>
              <a:off x="2376695" y="3721027"/>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4EA72E"/>
                  </a:solidFill>
                  <a:effectLst/>
                  <a:uLnTx/>
                  <a:uFillTx/>
                  <a:latin typeface="Segoe UI" panose="020B0502040204020203" pitchFamily="34" charset="0"/>
                  <a:ea typeface="Calibri" pitchFamily="34" charset="-122"/>
                  <a:cs typeface="Segoe UI" panose="020B0502040204020203" pitchFamily="34" charset="0"/>
                  <a:sym typeface="Arial"/>
                </a:rPr>
                <a:t>70%</a:t>
              </a:r>
              <a:endParaRPr kumimoji="0" lang="en-US" sz="3500" b="0"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200" name="Text 12">
              <a:extLst>
                <a:ext uri="{FF2B5EF4-FFF2-40B4-BE49-F238E27FC236}">
                  <a16:creationId xmlns:a16="http://schemas.microsoft.com/office/drawing/2014/main" id="{89B30695-E98E-E8FE-EE9E-6C3464060178}"/>
                </a:ext>
              </a:extLst>
            </p:cNvPr>
            <p:cNvSpPr/>
            <p:nvPr/>
          </p:nvSpPr>
          <p:spPr>
            <a:xfrm>
              <a:off x="976721" y="4287045"/>
              <a:ext cx="4117118"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all respondents cited as experiencing the greatest increase in vulnerability</a:t>
              </a:r>
            </a:p>
          </p:txBody>
        </p:sp>
        <p:sp>
          <p:nvSpPr>
            <p:cNvPr id="205" name="Title 2">
              <a:extLst>
                <a:ext uri="{FF2B5EF4-FFF2-40B4-BE49-F238E27FC236}">
                  <a16:creationId xmlns:a16="http://schemas.microsoft.com/office/drawing/2014/main" id="{DCF73C03-462B-4211-4DB8-2CD1EB27C0D4}"/>
                </a:ext>
              </a:extLst>
            </p:cNvPr>
            <p:cNvSpPr txBox="1">
              <a:spLocks/>
            </p:cNvSpPr>
            <p:nvPr/>
          </p:nvSpPr>
          <p:spPr>
            <a:xfrm>
              <a:off x="1320725" y="2706465"/>
              <a:ext cx="3907994" cy="6832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panose="020B0502040204020203" pitchFamily="34" charset="0"/>
                  <a:ea typeface="+mj-ea"/>
                  <a:cs typeface="Segoe UI" panose="020B0502040204020203" pitchFamily="34" charset="0"/>
                  <a:sym typeface="Arial"/>
                </a:rPr>
                <a:t>Digital onboarding, KYC &amp; identity verification</a:t>
              </a:r>
            </a:p>
          </p:txBody>
        </p:sp>
        <p:grpSp>
          <p:nvGrpSpPr>
            <p:cNvPr id="26" name="Graphic 4">
              <a:extLst>
                <a:ext uri="{FF2B5EF4-FFF2-40B4-BE49-F238E27FC236}">
                  <a16:creationId xmlns:a16="http://schemas.microsoft.com/office/drawing/2014/main" id="{5B4CA16B-5817-3CAA-91B9-6760B6CF07E0}"/>
                </a:ext>
              </a:extLst>
            </p:cNvPr>
            <p:cNvGrpSpPr/>
            <p:nvPr/>
          </p:nvGrpSpPr>
          <p:grpSpPr>
            <a:xfrm>
              <a:off x="1005315" y="2733230"/>
              <a:ext cx="630000" cy="630000"/>
              <a:chOff x="905454" y="918179"/>
              <a:chExt cx="362309" cy="361971"/>
            </a:xfrm>
            <a:solidFill>
              <a:srgbClr val="4EA72E"/>
            </a:solidFill>
          </p:grpSpPr>
          <p:sp>
            <p:nvSpPr>
              <p:cNvPr id="27" name="Graphic 4">
                <a:extLst>
                  <a:ext uri="{FF2B5EF4-FFF2-40B4-BE49-F238E27FC236}">
                    <a16:creationId xmlns:a16="http://schemas.microsoft.com/office/drawing/2014/main" id="{1844E88D-F248-BF79-EDBD-9AE669E82C0C}"/>
                  </a:ext>
                </a:extLst>
              </p:cNvPr>
              <p:cNvSpPr/>
              <p:nvPr/>
            </p:nvSpPr>
            <p:spPr>
              <a:xfrm>
                <a:off x="1003105" y="1019046"/>
                <a:ext cx="113855" cy="110442"/>
              </a:xfrm>
              <a:custGeom>
                <a:avLst/>
                <a:gdLst>
                  <a:gd name="connsiteX0" fmla="*/ 83184 w 113855"/>
                  <a:gd name="connsiteY0" fmla="*/ 0 h 110442"/>
                  <a:gd name="connsiteX1" fmla="*/ 754 w 113855"/>
                  <a:gd name="connsiteY1" fmla="*/ 15322 h 110442"/>
                  <a:gd name="connsiteX2" fmla="*/ 20563 w 113855"/>
                  <a:gd name="connsiteY2" fmla="*/ 110443 h 110442"/>
                  <a:gd name="connsiteX3" fmla="*/ 113856 w 113855"/>
                  <a:gd name="connsiteY3" fmla="*/ 17237 h 110442"/>
                  <a:gd name="connsiteX4" fmla="*/ 83184 w 113855"/>
                  <a:gd name="connsiteY4" fmla="*/ 0 h 11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5" h="110442">
                    <a:moveTo>
                      <a:pt x="83184" y="0"/>
                    </a:moveTo>
                    <a:cubicBezTo>
                      <a:pt x="60819" y="20429"/>
                      <a:pt x="28869" y="26174"/>
                      <a:pt x="754" y="15322"/>
                    </a:cubicBezTo>
                    <a:cubicBezTo>
                      <a:pt x="-2441" y="48518"/>
                      <a:pt x="4588" y="81715"/>
                      <a:pt x="20563" y="110443"/>
                    </a:cubicBezTo>
                    <a:lnTo>
                      <a:pt x="113856" y="17237"/>
                    </a:lnTo>
                    <a:cubicBezTo>
                      <a:pt x="102354" y="14045"/>
                      <a:pt x="92130" y="8299"/>
                      <a:pt x="83184"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raphic 4">
                <a:extLst>
                  <a:ext uri="{FF2B5EF4-FFF2-40B4-BE49-F238E27FC236}">
                    <a16:creationId xmlns:a16="http://schemas.microsoft.com/office/drawing/2014/main" id="{607A519B-971D-E66B-BD62-2CFBC5854F5D}"/>
                  </a:ext>
                </a:extLst>
              </p:cNvPr>
              <p:cNvSpPr/>
              <p:nvPr/>
            </p:nvSpPr>
            <p:spPr>
              <a:xfrm>
                <a:off x="1047310" y="1038836"/>
                <a:ext cx="121669" cy="153853"/>
              </a:xfrm>
              <a:custGeom>
                <a:avLst/>
                <a:gdLst>
                  <a:gd name="connsiteX0" fmla="*/ 0 w 121669"/>
                  <a:gd name="connsiteY0" fmla="*/ 121934 h 153853"/>
                  <a:gd name="connsiteX1" fmla="*/ 38979 w 121669"/>
                  <a:gd name="connsiteY1" fmla="*/ 153854 h 153853"/>
                  <a:gd name="connsiteX2" fmla="*/ 121409 w 121669"/>
                  <a:gd name="connsiteY2" fmla="*/ 0 h 153853"/>
                  <a:gd name="connsiteX3" fmla="*/ 0 w 121669"/>
                  <a:gd name="connsiteY3" fmla="*/ 121934 h 153853"/>
                </a:gdLst>
                <a:ahLst/>
                <a:cxnLst>
                  <a:cxn ang="0">
                    <a:pos x="connsiteX0" y="connsiteY0"/>
                  </a:cxn>
                  <a:cxn ang="0">
                    <a:pos x="connsiteX1" y="connsiteY1"/>
                  </a:cxn>
                  <a:cxn ang="0">
                    <a:pos x="connsiteX2" y="connsiteY2"/>
                  </a:cxn>
                  <a:cxn ang="0">
                    <a:pos x="connsiteX3" y="connsiteY3"/>
                  </a:cxn>
                </a:cxnLst>
                <a:rect l="l" t="t" r="r" b="b"/>
                <a:pathLst>
                  <a:path w="121669" h="153853">
                    <a:moveTo>
                      <a:pt x="0" y="121934"/>
                    </a:moveTo>
                    <a:cubicBezTo>
                      <a:pt x="11502" y="134702"/>
                      <a:pt x="24921" y="144916"/>
                      <a:pt x="38979" y="153854"/>
                    </a:cubicBezTo>
                    <a:cubicBezTo>
                      <a:pt x="54954" y="144916"/>
                      <a:pt x="126521" y="97037"/>
                      <a:pt x="121409" y="0"/>
                    </a:cubicBezTo>
                    <a:lnTo>
                      <a:pt x="0" y="12193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raphic 4">
                <a:extLst>
                  <a:ext uri="{FF2B5EF4-FFF2-40B4-BE49-F238E27FC236}">
                    <a16:creationId xmlns:a16="http://schemas.microsoft.com/office/drawing/2014/main" id="{2703FB0E-BA93-46F0-17C3-44ED03F39A93}"/>
                  </a:ext>
                </a:extLst>
              </p:cNvPr>
              <p:cNvSpPr/>
              <p:nvPr/>
            </p:nvSpPr>
            <p:spPr>
              <a:xfrm>
                <a:off x="1031335" y="1038836"/>
                <a:ext cx="120130" cy="112358"/>
              </a:xfrm>
              <a:custGeom>
                <a:avLst/>
                <a:gdLst>
                  <a:gd name="connsiteX0" fmla="*/ 100961 w 120130"/>
                  <a:gd name="connsiteY0" fmla="*/ 638 h 112358"/>
                  <a:gd name="connsiteX1" fmla="*/ 0 w 120130"/>
                  <a:gd name="connsiteY1" fmla="*/ 101505 h 112358"/>
                  <a:gd name="connsiteX2" fmla="*/ 7668 w 120130"/>
                  <a:gd name="connsiteY2" fmla="*/ 112358 h 112358"/>
                  <a:gd name="connsiteX3" fmla="*/ 120131 w 120130"/>
                  <a:gd name="connsiteY3" fmla="*/ 0 h 112358"/>
                  <a:gd name="connsiteX4" fmla="*/ 100961 w 120130"/>
                  <a:gd name="connsiteY4" fmla="*/ 638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30" h="112358">
                    <a:moveTo>
                      <a:pt x="100961" y="638"/>
                    </a:moveTo>
                    <a:lnTo>
                      <a:pt x="0" y="101505"/>
                    </a:lnTo>
                    <a:cubicBezTo>
                      <a:pt x="2556" y="105336"/>
                      <a:pt x="5112" y="109166"/>
                      <a:pt x="7668" y="112358"/>
                    </a:cubicBezTo>
                    <a:lnTo>
                      <a:pt x="120131" y="0"/>
                    </a:lnTo>
                    <a:cubicBezTo>
                      <a:pt x="113741" y="638"/>
                      <a:pt x="107351" y="638"/>
                      <a:pt x="100961" y="63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raphic 4">
                <a:extLst>
                  <a:ext uri="{FF2B5EF4-FFF2-40B4-BE49-F238E27FC236}">
                    <a16:creationId xmlns:a16="http://schemas.microsoft.com/office/drawing/2014/main" id="{6C2F3197-3111-AB64-6F45-A05AB75BC82F}"/>
                  </a:ext>
                </a:extLst>
              </p:cNvPr>
              <p:cNvSpPr/>
              <p:nvPr/>
            </p:nvSpPr>
            <p:spPr>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4030 w 362309"/>
                  <a:gd name="connsiteY6" fmla="*/ 287918 h 361971"/>
                  <a:gd name="connsiteX7" fmla="*/ 183391 w 362309"/>
                  <a:gd name="connsiteY7" fmla="*/ 288556 h 361971"/>
                  <a:gd name="connsiteX8" fmla="*/ 182752 w 362309"/>
                  <a:gd name="connsiteY8" fmla="*/ 288556 h 361971"/>
                  <a:gd name="connsiteX9" fmla="*/ 181474 w 362309"/>
                  <a:gd name="connsiteY9" fmla="*/ 288556 h 361971"/>
                  <a:gd name="connsiteX10" fmla="*/ 181474 w 362309"/>
                  <a:gd name="connsiteY10" fmla="*/ 288556 h 361971"/>
                  <a:gd name="connsiteX11" fmla="*/ 180196 w 362309"/>
                  <a:gd name="connsiteY11" fmla="*/ 288556 h 361971"/>
                  <a:gd name="connsiteX12" fmla="*/ 179557 w 362309"/>
                  <a:gd name="connsiteY12" fmla="*/ 288556 h 361971"/>
                  <a:gd name="connsiteX13" fmla="*/ 178918 w 362309"/>
                  <a:gd name="connsiteY13" fmla="*/ 287918 h 361971"/>
                  <a:gd name="connsiteX14" fmla="*/ 87542 w 362309"/>
                  <a:gd name="connsiteY14" fmla="*/ 105974 h 361971"/>
                  <a:gd name="connsiteX15" fmla="*/ 94571 w 362309"/>
                  <a:gd name="connsiteY15" fmla="*/ 100229 h 361971"/>
                  <a:gd name="connsiteX16" fmla="*/ 97127 w 362309"/>
                  <a:gd name="connsiteY16" fmla="*/ 100867 h 361971"/>
                  <a:gd name="connsiteX17" fmla="*/ 177640 w 362309"/>
                  <a:gd name="connsiteY17" fmla="*/ 87461 h 361971"/>
                  <a:gd name="connsiteX18" fmla="*/ 186586 w 362309"/>
                  <a:gd name="connsiteY18" fmla="*/ 87461 h 361971"/>
                  <a:gd name="connsiteX19" fmla="*/ 186586 w 362309"/>
                  <a:gd name="connsiteY19" fmla="*/ 87461 h 361971"/>
                  <a:gd name="connsiteX20" fmla="*/ 267099 w 362309"/>
                  <a:gd name="connsiteY20" fmla="*/ 100867 h 361971"/>
                  <a:gd name="connsiteX21" fmla="*/ 272850 w 362309"/>
                  <a:gd name="connsiteY21" fmla="*/ 100867 h 361971"/>
                  <a:gd name="connsiteX22" fmla="*/ 276684 w 362309"/>
                  <a:gd name="connsiteY22" fmla="*/ 105974 h 361971"/>
                  <a:gd name="connsiteX23" fmla="*/ 184030 w 362309"/>
                  <a:gd name="connsiteY23" fmla="*/ 287918 h 361971"/>
                  <a:gd name="connsiteX24" fmla="*/ 184030 w 362309"/>
                  <a:gd name="connsiteY24" fmla="*/ 2879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184030" y="287918"/>
                    </a:moveTo>
                    <a:lnTo>
                      <a:pt x="183391" y="288556"/>
                    </a:lnTo>
                    <a:lnTo>
                      <a:pt x="182752" y="288556"/>
                    </a:lnTo>
                    <a:cubicBezTo>
                      <a:pt x="182113" y="288556"/>
                      <a:pt x="181474" y="288556"/>
                      <a:pt x="181474" y="288556"/>
                    </a:cubicBezTo>
                    <a:lnTo>
                      <a:pt x="181474" y="288556"/>
                    </a:lnTo>
                    <a:cubicBezTo>
                      <a:pt x="180835" y="288556"/>
                      <a:pt x="180196" y="288556"/>
                      <a:pt x="180196" y="288556"/>
                    </a:cubicBezTo>
                    <a:lnTo>
                      <a:pt x="179557" y="288556"/>
                    </a:lnTo>
                    <a:lnTo>
                      <a:pt x="178918" y="287918"/>
                    </a:lnTo>
                    <a:cubicBezTo>
                      <a:pt x="177640" y="287279"/>
                      <a:pt x="72845" y="231739"/>
                      <a:pt x="87542" y="105974"/>
                    </a:cubicBezTo>
                    <a:cubicBezTo>
                      <a:pt x="88181" y="102782"/>
                      <a:pt x="91376" y="100229"/>
                      <a:pt x="94571" y="100229"/>
                    </a:cubicBezTo>
                    <a:cubicBezTo>
                      <a:pt x="95210" y="100229"/>
                      <a:pt x="96488" y="100867"/>
                      <a:pt x="97127" y="100867"/>
                    </a:cubicBezTo>
                    <a:cubicBezTo>
                      <a:pt x="123965" y="114912"/>
                      <a:pt x="156553" y="109166"/>
                      <a:pt x="177640" y="87461"/>
                    </a:cubicBezTo>
                    <a:cubicBezTo>
                      <a:pt x="180196" y="84907"/>
                      <a:pt x="184030" y="84907"/>
                      <a:pt x="186586" y="87461"/>
                    </a:cubicBezTo>
                    <a:cubicBezTo>
                      <a:pt x="186586" y="87461"/>
                      <a:pt x="186586" y="87461"/>
                      <a:pt x="186586" y="87461"/>
                    </a:cubicBezTo>
                    <a:cubicBezTo>
                      <a:pt x="207034" y="109804"/>
                      <a:pt x="240262" y="114912"/>
                      <a:pt x="267099" y="100867"/>
                    </a:cubicBezTo>
                    <a:cubicBezTo>
                      <a:pt x="269016" y="99590"/>
                      <a:pt x="270933" y="99590"/>
                      <a:pt x="272850" y="100867"/>
                    </a:cubicBezTo>
                    <a:cubicBezTo>
                      <a:pt x="274767" y="102144"/>
                      <a:pt x="276045" y="103420"/>
                      <a:pt x="276684" y="105974"/>
                    </a:cubicBezTo>
                    <a:cubicBezTo>
                      <a:pt x="290103" y="231739"/>
                      <a:pt x="185308" y="287279"/>
                      <a:pt x="184030" y="287918"/>
                    </a:cubicBezTo>
                    <a:lnTo>
                      <a:pt x="184030" y="28791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9" name="Rectangle: Rounded Corners 38">
              <a:extLst>
                <a:ext uri="{FF2B5EF4-FFF2-40B4-BE49-F238E27FC236}">
                  <a16:creationId xmlns:a16="http://schemas.microsoft.com/office/drawing/2014/main" id="{9D946869-4C12-38A9-6EAF-37DE5A2C2578}"/>
                </a:ext>
              </a:extLst>
            </p:cNvPr>
            <p:cNvSpPr/>
            <p:nvPr/>
          </p:nvSpPr>
          <p:spPr>
            <a:xfrm>
              <a:off x="1551525" y="3438567"/>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 AND INSURANCE</a:t>
              </a:r>
            </a:p>
          </p:txBody>
        </p:sp>
      </p:grpSp>
      <p:grpSp>
        <p:nvGrpSpPr>
          <p:cNvPr id="196" name="Group 195">
            <a:extLst>
              <a:ext uri="{FF2B5EF4-FFF2-40B4-BE49-F238E27FC236}">
                <a16:creationId xmlns:a16="http://schemas.microsoft.com/office/drawing/2014/main" id="{7CCD1F68-CA68-A6B1-C6B5-B07883EFE29E}"/>
              </a:ext>
            </a:extLst>
          </p:cNvPr>
          <p:cNvGrpSpPr/>
          <p:nvPr/>
        </p:nvGrpSpPr>
        <p:grpSpPr>
          <a:xfrm>
            <a:off x="6269377" y="2608997"/>
            <a:ext cx="5572891" cy="2249452"/>
            <a:chOff x="6066177" y="2608997"/>
            <a:chExt cx="5572891" cy="2249452"/>
          </a:xfrm>
        </p:grpSpPr>
        <p:sp>
          <p:nvSpPr>
            <p:cNvPr id="6" name="Rectangle: Rounded Corners 5">
              <a:extLst>
                <a:ext uri="{FF2B5EF4-FFF2-40B4-BE49-F238E27FC236}">
                  <a16:creationId xmlns:a16="http://schemas.microsoft.com/office/drawing/2014/main" id="{C3317A4F-5C18-A569-B5E7-FB5BE255CD87}"/>
                </a:ext>
              </a:extLst>
            </p:cNvPr>
            <p:cNvSpPr/>
            <p:nvPr/>
          </p:nvSpPr>
          <p:spPr>
            <a:xfrm>
              <a:off x="6152622" y="2608997"/>
              <a:ext cx="5400000" cy="2249452"/>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1" name="Title 2">
              <a:extLst>
                <a:ext uri="{FF2B5EF4-FFF2-40B4-BE49-F238E27FC236}">
                  <a16:creationId xmlns:a16="http://schemas.microsoft.com/office/drawing/2014/main" id="{1ECE2AED-70C0-65CD-7D18-DBC895111BC7}"/>
                </a:ext>
              </a:extLst>
            </p:cNvPr>
            <p:cNvSpPr txBox="1">
              <a:spLocks/>
            </p:cNvSpPr>
            <p:nvPr/>
          </p:nvSpPr>
          <p:spPr>
            <a:xfrm>
              <a:off x="7385771" y="2831115"/>
              <a:ext cx="3197863" cy="433965"/>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Segoe UI" panose="020B0502040204020203" pitchFamily="34" charset="0"/>
                  <a:ea typeface="+mj-ea"/>
                  <a:cs typeface="Segoe UI" panose="020B0502040204020203" pitchFamily="34" charset="0"/>
                  <a:sym typeface="Arial"/>
                </a:rPr>
                <a:t>Payment &amp; Claim Flows</a:t>
              </a:r>
            </a:p>
          </p:txBody>
        </p:sp>
        <p:grpSp>
          <p:nvGrpSpPr>
            <p:cNvPr id="32" name="Graphic 4">
              <a:extLst>
                <a:ext uri="{FF2B5EF4-FFF2-40B4-BE49-F238E27FC236}">
                  <a16:creationId xmlns:a16="http://schemas.microsoft.com/office/drawing/2014/main" id="{D4F02F25-C3A9-A734-6C59-421DDC54AAC8}"/>
                </a:ext>
              </a:extLst>
            </p:cNvPr>
            <p:cNvGrpSpPr/>
            <p:nvPr/>
          </p:nvGrpSpPr>
          <p:grpSpPr>
            <a:xfrm>
              <a:off x="6940848" y="2733230"/>
              <a:ext cx="630000" cy="630000"/>
              <a:chOff x="9279466" y="1402244"/>
              <a:chExt cx="362309" cy="362450"/>
            </a:xfrm>
            <a:solidFill>
              <a:srgbClr val="4EA72E"/>
            </a:solidFill>
          </p:grpSpPr>
          <p:sp>
            <p:nvSpPr>
              <p:cNvPr id="33" name="Graphic 4">
                <a:extLst>
                  <a:ext uri="{FF2B5EF4-FFF2-40B4-BE49-F238E27FC236}">
                    <a16:creationId xmlns:a16="http://schemas.microsoft.com/office/drawing/2014/main" id="{D8A0F2E4-7FAC-F205-F5AE-7ADA80EAAB8B}"/>
                  </a:ext>
                </a:extLst>
              </p:cNvPr>
              <p:cNvSpPr/>
              <p:nvPr/>
            </p:nvSpPr>
            <p:spPr>
              <a:xfrm rot="-2700000">
                <a:off x="9402917" y="1531993"/>
                <a:ext cx="105432" cy="54901"/>
              </a:xfrm>
              <a:custGeom>
                <a:avLst/>
                <a:gdLst>
                  <a:gd name="connsiteX0" fmla="*/ 0 w 105432"/>
                  <a:gd name="connsiteY0" fmla="*/ 0 h 54901"/>
                  <a:gd name="connsiteX1" fmla="*/ 105433 w 105432"/>
                  <a:gd name="connsiteY1" fmla="*/ 0 h 54901"/>
                  <a:gd name="connsiteX2" fmla="*/ 105433 w 105432"/>
                  <a:gd name="connsiteY2" fmla="*/ 54902 h 54901"/>
                  <a:gd name="connsiteX3" fmla="*/ 0 w 105432"/>
                  <a:gd name="connsiteY3" fmla="*/ 54902 h 54901"/>
                </a:gdLst>
                <a:ahLst/>
                <a:cxnLst>
                  <a:cxn ang="0">
                    <a:pos x="connsiteX0" y="connsiteY0"/>
                  </a:cxn>
                  <a:cxn ang="0">
                    <a:pos x="connsiteX1" y="connsiteY1"/>
                  </a:cxn>
                  <a:cxn ang="0">
                    <a:pos x="connsiteX2" y="connsiteY2"/>
                  </a:cxn>
                  <a:cxn ang="0">
                    <a:pos x="connsiteX3" y="connsiteY3"/>
                  </a:cxn>
                </a:cxnLst>
                <a:rect l="l" t="t" r="r" b="b"/>
                <a:pathLst>
                  <a:path w="105432" h="54901">
                    <a:moveTo>
                      <a:pt x="0" y="0"/>
                    </a:moveTo>
                    <a:lnTo>
                      <a:pt x="105433" y="0"/>
                    </a:lnTo>
                    <a:lnTo>
                      <a:pt x="105433" y="54902"/>
                    </a:lnTo>
                    <a:lnTo>
                      <a:pt x="0" y="549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raphic 4">
                <a:extLst>
                  <a:ext uri="{FF2B5EF4-FFF2-40B4-BE49-F238E27FC236}">
                    <a16:creationId xmlns:a16="http://schemas.microsoft.com/office/drawing/2014/main" id="{E43066F7-62F4-1DA1-DCB3-183FA1BA7325}"/>
                  </a:ext>
                </a:extLst>
              </p:cNvPr>
              <p:cNvSpPr/>
              <p:nvPr/>
            </p:nvSpPr>
            <p:spPr>
              <a:xfrm>
                <a:off x="9279466" y="1402244"/>
                <a:ext cx="362309" cy="362450"/>
              </a:xfrm>
              <a:custGeom>
                <a:avLst/>
                <a:gdLst>
                  <a:gd name="connsiteX0" fmla="*/ 286270 w 362309"/>
                  <a:gd name="connsiteY0" fmla="*/ 268606 h 362450"/>
                  <a:gd name="connsiteX1" fmla="*/ 281797 w 362309"/>
                  <a:gd name="connsiteY1" fmla="*/ 270521 h 362450"/>
                  <a:gd name="connsiteX2" fmla="*/ 277323 w 362309"/>
                  <a:gd name="connsiteY2" fmla="*/ 268606 h 362450"/>
                  <a:gd name="connsiteX3" fmla="*/ 199367 w 362309"/>
                  <a:gd name="connsiteY3" fmla="*/ 190083 h 362450"/>
                  <a:gd name="connsiteX4" fmla="*/ 166778 w 362309"/>
                  <a:gd name="connsiteY4" fmla="*/ 222641 h 362450"/>
                  <a:gd name="connsiteX5" fmla="*/ 168056 w 362309"/>
                  <a:gd name="connsiteY5" fmla="*/ 223918 h 362450"/>
                  <a:gd name="connsiteX6" fmla="*/ 168056 w 362309"/>
                  <a:gd name="connsiteY6" fmla="*/ 232856 h 362450"/>
                  <a:gd name="connsiteX7" fmla="*/ 159110 w 362309"/>
                  <a:gd name="connsiteY7" fmla="*/ 232856 h 362450"/>
                  <a:gd name="connsiteX8" fmla="*/ 159110 w 362309"/>
                  <a:gd name="connsiteY8" fmla="*/ 232856 h 362450"/>
                  <a:gd name="connsiteX9" fmla="*/ 153358 w 362309"/>
                  <a:gd name="connsiteY9" fmla="*/ 227110 h 362450"/>
                  <a:gd name="connsiteX10" fmla="*/ 105434 w 362309"/>
                  <a:gd name="connsiteY10" fmla="*/ 179230 h 362450"/>
                  <a:gd name="connsiteX11" fmla="*/ 105434 w 362309"/>
                  <a:gd name="connsiteY11" fmla="*/ 179230 h 362450"/>
                  <a:gd name="connsiteX12" fmla="*/ 99684 w 362309"/>
                  <a:gd name="connsiteY12" fmla="*/ 173485 h 362450"/>
                  <a:gd name="connsiteX13" fmla="*/ 99684 w 362309"/>
                  <a:gd name="connsiteY13" fmla="*/ 164547 h 362450"/>
                  <a:gd name="connsiteX14" fmla="*/ 99684 w 362309"/>
                  <a:gd name="connsiteY14" fmla="*/ 164547 h 362450"/>
                  <a:gd name="connsiteX15" fmla="*/ 108629 w 362309"/>
                  <a:gd name="connsiteY15" fmla="*/ 164547 h 362450"/>
                  <a:gd name="connsiteX16" fmla="*/ 109907 w 362309"/>
                  <a:gd name="connsiteY16" fmla="*/ 165824 h 362450"/>
                  <a:gd name="connsiteX17" fmla="*/ 184669 w 362309"/>
                  <a:gd name="connsiteY17" fmla="*/ 91770 h 362450"/>
                  <a:gd name="connsiteX18" fmla="*/ 183392 w 362309"/>
                  <a:gd name="connsiteY18" fmla="*/ 90493 h 362450"/>
                  <a:gd name="connsiteX19" fmla="*/ 183392 w 362309"/>
                  <a:gd name="connsiteY19" fmla="*/ 81555 h 362450"/>
                  <a:gd name="connsiteX20" fmla="*/ 183392 w 362309"/>
                  <a:gd name="connsiteY20" fmla="*/ 81555 h 362450"/>
                  <a:gd name="connsiteX21" fmla="*/ 192338 w 362309"/>
                  <a:gd name="connsiteY21" fmla="*/ 81555 h 362450"/>
                  <a:gd name="connsiteX22" fmla="*/ 198088 w 362309"/>
                  <a:gd name="connsiteY22" fmla="*/ 87301 h 362450"/>
                  <a:gd name="connsiteX23" fmla="*/ 198088 w 362309"/>
                  <a:gd name="connsiteY23" fmla="*/ 87301 h 362450"/>
                  <a:gd name="connsiteX24" fmla="*/ 246013 w 362309"/>
                  <a:gd name="connsiteY24" fmla="*/ 135181 h 362450"/>
                  <a:gd name="connsiteX25" fmla="*/ 246013 w 362309"/>
                  <a:gd name="connsiteY25" fmla="*/ 135181 h 362450"/>
                  <a:gd name="connsiteX26" fmla="*/ 251764 w 362309"/>
                  <a:gd name="connsiteY26" fmla="*/ 140926 h 362450"/>
                  <a:gd name="connsiteX27" fmla="*/ 251764 w 362309"/>
                  <a:gd name="connsiteY27" fmla="*/ 149864 h 362450"/>
                  <a:gd name="connsiteX28" fmla="*/ 242818 w 362309"/>
                  <a:gd name="connsiteY28" fmla="*/ 149864 h 362450"/>
                  <a:gd name="connsiteX29" fmla="*/ 241540 w 362309"/>
                  <a:gd name="connsiteY29" fmla="*/ 148587 h 362450"/>
                  <a:gd name="connsiteX30" fmla="*/ 208951 w 362309"/>
                  <a:gd name="connsiteY30" fmla="*/ 181145 h 362450"/>
                  <a:gd name="connsiteX31" fmla="*/ 286908 w 362309"/>
                  <a:gd name="connsiteY31" fmla="*/ 259669 h 362450"/>
                  <a:gd name="connsiteX32" fmla="*/ 286270 w 362309"/>
                  <a:gd name="connsiteY32" fmla="*/ 268606 h 362450"/>
                  <a:gd name="connsiteX33" fmla="*/ 286270 w 362309"/>
                  <a:gd name="connsiteY33" fmla="*/ 268606 h 362450"/>
                  <a:gd name="connsiteX34" fmla="*/ 180836 w 362309"/>
                  <a:gd name="connsiteY34" fmla="*/ 270521 h 362450"/>
                  <a:gd name="connsiteX35" fmla="*/ 79874 w 362309"/>
                  <a:gd name="connsiteY35" fmla="*/ 270521 h 362450"/>
                  <a:gd name="connsiteX36" fmla="*/ 73484 w 362309"/>
                  <a:gd name="connsiteY36" fmla="*/ 264137 h 362450"/>
                  <a:gd name="connsiteX37" fmla="*/ 79874 w 362309"/>
                  <a:gd name="connsiteY37" fmla="*/ 257753 h 362450"/>
                  <a:gd name="connsiteX38" fmla="*/ 180836 w 362309"/>
                  <a:gd name="connsiteY38" fmla="*/ 257753 h 362450"/>
                  <a:gd name="connsiteX39" fmla="*/ 187225 w 362309"/>
                  <a:gd name="connsiteY39" fmla="*/ 264137 h 362450"/>
                  <a:gd name="connsiteX40" fmla="*/ 180836 w 362309"/>
                  <a:gd name="connsiteY40" fmla="*/ 270521 h 362450"/>
                  <a:gd name="connsiteX41" fmla="*/ 180836 w 362309"/>
                  <a:gd name="connsiteY41" fmla="*/ 479 h 362450"/>
                  <a:gd name="connsiteX42" fmla="*/ 0 w 362309"/>
                  <a:gd name="connsiteY42" fmla="*/ 181784 h 362450"/>
                  <a:gd name="connsiteX43" fmla="*/ 181474 w 362309"/>
                  <a:gd name="connsiteY43" fmla="*/ 362451 h 362450"/>
                  <a:gd name="connsiteX44" fmla="*/ 362310 w 362309"/>
                  <a:gd name="connsiteY44" fmla="*/ 181145 h 362450"/>
                  <a:gd name="connsiteX45" fmla="*/ 362310 w 362309"/>
                  <a:gd name="connsiteY45" fmla="*/ 181145 h 362450"/>
                  <a:gd name="connsiteX46" fmla="*/ 180836 w 362309"/>
                  <a:gd name="connsiteY46" fmla="*/ 479 h 362450"/>
                  <a:gd name="connsiteX47" fmla="*/ 180836 w 362309"/>
                  <a:gd name="connsiteY47" fmla="*/ 479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2450">
                    <a:moveTo>
                      <a:pt x="286270" y="268606"/>
                    </a:moveTo>
                    <a:cubicBezTo>
                      <a:pt x="284992" y="269883"/>
                      <a:pt x="283713" y="270521"/>
                      <a:pt x="281797" y="270521"/>
                    </a:cubicBezTo>
                    <a:cubicBezTo>
                      <a:pt x="279880" y="270521"/>
                      <a:pt x="278602" y="269883"/>
                      <a:pt x="277323" y="268606"/>
                    </a:cubicBezTo>
                    <a:lnTo>
                      <a:pt x="199367" y="190083"/>
                    </a:lnTo>
                    <a:lnTo>
                      <a:pt x="166778" y="222641"/>
                    </a:lnTo>
                    <a:lnTo>
                      <a:pt x="168056" y="223918"/>
                    </a:lnTo>
                    <a:cubicBezTo>
                      <a:pt x="170612" y="226472"/>
                      <a:pt x="170612" y="230302"/>
                      <a:pt x="168056" y="232856"/>
                    </a:cubicBezTo>
                    <a:cubicBezTo>
                      <a:pt x="165500" y="235409"/>
                      <a:pt x="161666" y="235409"/>
                      <a:pt x="159110" y="232856"/>
                    </a:cubicBezTo>
                    <a:lnTo>
                      <a:pt x="159110" y="232856"/>
                    </a:lnTo>
                    <a:lnTo>
                      <a:pt x="153358" y="227110"/>
                    </a:lnTo>
                    <a:lnTo>
                      <a:pt x="105434" y="179230"/>
                    </a:lnTo>
                    <a:lnTo>
                      <a:pt x="105434" y="179230"/>
                    </a:lnTo>
                    <a:lnTo>
                      <a:pt x="99684" y="173485"/>
                    </a:lnTo>
                    <a:cubicBezTo>
                      <a:pt x="97128" y="170931"/>
                      <a:pt x="97128" y="167101"/>
                      <a:pt x="99684" y="164547"/>
                    </a:cubicBezTo>
                    <a:cubicBezTo>
                      <a:pt x="99684" y="164547"/>
                      <a:pt x="99684" y="164547"/>
                      <a:pt x="99684" y="164547"/>
                    </a:cubicBezTo>
                    <a:cubicBezTo>
                      <a:pt x="102239" y="161994"/>
                      <a:pt x="106074" y="161994"/>
                      <a:pt x="108629" y="164547"/>
                    </a:cubicBezTo>
                    <a:lnTo>
                      <a:pt x="109907" y="165824"/>
                    </a:lnTo>
                    <a:lnTo>
                      <a:pt x="184669" y="91770"/>
                    </a:lnTo>
                    <a:lnTo>
                      <a:pt x="183392" y="90493"/>
                    </a:lnTo>
                    <a:cubicBezTo>
                      <a:pt x="180836" y="87939"/>
                      <a:pt x="180836" y="84109"/>
                      <a:pt x="183392" y="81555"/>
                    </a:cubicBezTo>
                    <a:cubicBezTo>
                      <a:pt x="183392" y="81555"/>
                      <a:pt x="183392" y="81555"/>
                      <a:pt x="183392" y="81555"/>
                    </a:cubicBezTo>
                    <a:cubicBezTo>
                      <a:pt x="185948" y="79002"/>
                      <a:pt x="189782" y="79002"/>
                      <a:pt x="192338" y="81555"/>
                    </a:cubicBezTo>
                    <a:lnTo>
                      <a:pt x="198088" y="87301"/>
                    </a:lnTo>
                    <a:lnTo>
                      <a:pt x="198088" y="87301"/>
                    </a:lnTo>
                    <a:lnTo>
                      <a:pt x="246013" y="135181"/>
                    </a:lnTo>
                    <a:lnTo>
                      <a:pt x="246013" y="135181"/>
                    </a:lnTo>
                    <a:lnTo>
                      <a:pt x="251764" y="140926"/>
                    </a:lnTo>
                    <a:cubicBezTo>
                      <a:pt x="254320" y="143480"/>
                      <a:pt x="254320" y="147310"/>
                      <a:pt x="251764" y="149864"/>
                    </a:cubicBezTo>
                    <a:cubicBezTo>
                      <a:pt x="249208" y="152418"/>
                      <a:pt x="245374" y="152418"/>
                      <a:pt x="242818" y="149864"/>
                    </a:cubicBezTo>
                    <a:lnTo>
                      <a:pt x="241540" y="148587"/>
                    </a:lnTo>
                    <a:lnTo>
                      <a:pt x="208951" y="181145"/>
                    </a:lnTo>
                    <a:lnTo>
                      <a:pt x="286908" y="259669"/>
                    </a:lnTo>
                    <a:cubicBezTo>
                      <a:pt x="288826" y="262222"/>
                      <a:pt x="288826" y="266053"/>
                      <a:pt x="286270" y="268606"/>
                    </a:cubicBezTo>
                    <a:cubicBezTo>
                      <a:pt x="286270" y="268606"/>
                      <a:pt x="286270" y="268606"/>
                      <a:pt x="286270" y="268606"/>
                    </a:cubicBezTo>
                    <a:moveTo>
                      <a:pt x="180836" y="270521"/>
                    </a:moveTo>
                    <a:lnTo>
                      <a:pt x="79874" y="270521"/>
                    </a:lnTo>
                    <a:cubicBezTo>
                      <a:pt x="76040" y="270521"/>
                      <a:pt x="73484" y="267968"/>
                      <a:pt x="73484" y="264137"/>
                    </a:cubicBezTo>
                    <a:cubicBezTo>
                      <a:pt x="73484" y="260307"/>
                      <a:pt x="76040" y="257753"/>
                      <a:pt x="79874" y="257753"/>
                    </a:cubicBezTo>
                    <a:lnTo>
                      <a:pt x="180836" y="257753"/>
                    </a:lnTo>
                    <a:cubicBezTo>
                      <a:pt x="184669" y="257753"/>
                      <a:pt x="187225" y="260307"/>
                      <a:pt x="187225" y="264137"/>
                    </a:cubicBezTo>
                    <a:cubicBezTo>
                      <a:pt x="187225" y="267968"/>
                      <a:pt x="184031" y="270521"/>
                      <a:pt x="180836" y="270521"/>
                    </a:cubicBezTo>
                    <a:moveTo>
                      <a:pt x="180836" y="479"/>
                    </a:moveTo>
                    <a:cubicBezTo>
                      <a:pt x="80514" y="479"/>
                      <a:pt x="0" y="81555"/>
                      <a:pt x="0" y="181784"/>
                    </a:cubicBezTo>
                    <a:cubicBezTo>
                      <a:pt x="0" y="282013"/>
                      <a:pt x="81153" y="362451"/>
                      <a:pt x="181474" y="362451"/>
                    </a:cubicBezTo>
                    <a:cubicBezTo>
                      <a:pt x="281797" y="362451"/>
                      <a:pt x="362310" y="281374"/>
                      <a:pt x="362310" y="181145"/>
                    </a:cubicBezTo>
                    <a:cubicBezTo>
                      <a:pt x="362310" y="181145"/>
                      <a:pt x="362310" y="181145"/>
                      <a:pt x="362310" y="181145"/>
                    </a:cubicBezTo>
                    <a:cubicBezTo>
                      <a:pt x="361671" y="80917"/>
                      <a:pt x="280518" y="-160"/>
                      <a:pt x="180836" y="479"/>
                    </a:cubicBezTo>
                    <a:cubicBezTo>
                      <a:pt x="180836" y="-160"/>
                      <a:pt x="180836" y="-160"/>
                      <a:pt x="180836" y="479"/>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2" name="Group 191">
              <a:extLst>
                <a:ext uri="{FF2B5EF4-FFF2-40B4-BE49-F238E27FC236}">
                  <a16:creationId xmlns:a16="http://schemas.microsoft.com/office/drawing/2014/main" id="{DEFC4407-59BB-4FCA-BDD8-847874A319DF}"/>
                </a:ext>
              </a:extLst>
            </p:cNvPr>
            <p:cNvGrpSpPr/>
            <p:nvPr/>
          </p:nvGrpSpPr>
          <p:grpSpPr>
            <a:xfrm>
              <a:off x="6066177" y="3438567"/>
              <a:ext cx="5572891" cy="1217810"/>
              <a:chOff x="6073158" y="3438567"/>
              <a:chExt cx="5572891" cy="1217810"/>
            </a:xfrm>
          </p:grpSpPr>
          <p:sp>
            <p:nvSpPr>
              <p:cNvPr id="148" name="Text 24">
                <a:extLst>
                  <a:ext uri="{FF2B5EF4-FFF2-40B4-BE49-F238E27FC236}">
                    <a16:creationId xmlns:a16="http://schemas.microsoft.com/office/drawing/2014/main" id="{E0BC1267-2A82-B5FB-9D57-F064A1306D94}"/>
                  </a:ext>
                </a:extLst>
              </p:cNvPr>
              <p:cNvSpPr/>
              <p:nvPr/>
            </p:nvSpPr>
            <p:spPr>
              <a:xfrm>
                <a:off x="7364076" y="3458911"/>
                <a:ext cx="2025122" cy="42062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1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9" name="Text 12">
                <a:extLst>
                  <a:ext uri="{FF2B5EF4-FFF2-40B4-BE49-F238E27FC236}">
                    <a16:creationId xmlns:a16="http://schemas.microsoft.com/office/drawing/2014/main" id="{FD78DFCC-BB06-0CE4-2E89-9B7D91C3FF6E}"/>
                  </a:ext>
                </a:extLst>
              </p:cNvPr>
              <p:cNvSpPr/>
              <p:nvPr/>
            </p:nvSpPr>
            <p:spPr>
              <a:xfrm>
                <a:off x="6073158" y="4287045"/>
                <a:ext cx="2836177"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respondents identified </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p</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Arial" pitchFamily="34" charset="-122"/>
                    <a:cs typeface="Segoe UI" panose="020B0502040204020203" pitchFamily="34" charset="0"/>
                    <a:sym typeface="Arial"/>
                  </a:rPr>
                  <a:t>ayment / transaction approvals</a:t>
                </a: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 </a:t>
                </a:r>
                <a:endPar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146" name="Text 23">
                <a:extLst>
                  <a:ext uri="{FF2B5EF4-FFF2-40B4-BE49-F238E27FC236}">
                    <a16:creationId xmlns:a16="http://schemas.microsoft.com/office/drawing/2014/main" id="{D0053BEE-6AD9-B5D0-F28C-8B82C0F17CF4}"/>
                  </a:ext>
                </a:extLst>
              </p:cNvPr>
              <p:cNvSpPr/>
              <p:nvPr/>
            </p:nvSpPr>
            <p:spPr>
              <a:xfrm>
                <a:off x="6938940" y="3821167"/>
                <a:ext cx="1104612" cy="3383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73%</a:t>
                </a:r>
                <a:endParaRPr kumimoji="0" lang="en-US" sz="35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195" name="Rectangle: Rounded Corners 194">
                <a:extLst>
                  <a:ext uri="{FF2B5EF4-FFF2-40B4-BE49-F238E27FC236}">
                    <a16:creationId xmlns:a16="http://schemas.microsoft.com/office/drawing/2014/main" id="{ED605401-8E5F-7851-291D-FF82103A0FD7}"/>
                  </a:ext>
                </a:extLst>
              </p:cNvPr>
              <p:cNvSpPr/>
              <p:nvPr/>
            </p:nvSpPr>
            <p:spPr>
              <a:xfrm>
                <a:off x="6585870" y="3438567"/>
                <a:ext cx="1810752" cy="29819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a:t>
                </a:r>
              </a:p>
            </p:txBody>
          </p:sp>
          <p:sp>
            <p:nvSpPr>
              <p:cNvPr id="155" name="Text 27">
                <a:extLst>
                  <a:ext uri="{FF2B5EF4-FFF2-40B4-BE49-F238E27FC236}">
                    <a16:creationId xmlns:a16="http://schemas.microsoft.com/office/drawing/2014/main" id="{33CE4793-A172-5507-1BC6-94B03CE6CEED}"/>
                  </a:ext>
                </a:extLst>
              </p:cNvPr>
              <p:cNvSpPr/>
              <p:nvPr/>
            </p:nvSpPr>
            <p:spPr>
              <a:xfrm>
                <a:off x="9653743" y="3821167"/>
                <a:ext cx="1104612" cy="3383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64%</a:t>
                </a:r>
                <a:endParaRPr kumimoji="0" lang="en-US" sz="35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20" name="Text 12">
                <a:extLst>
                  <a:ext uri="{FF2B5EF4-FFF2-40B4-BE49-F238E27FC236}">
                    <a16:creationId xmlns:a16="http://schemas.microsoft.com/office/drawing/2014/main" id="{6A203CD1-8D74-8C0D-D1AE-824B87374AAF}"/>
                  </a:ext>
                </a:extLst>
              </p:cNvPr>
              <p:cNvSpPr/>
              <p:nvPr/>
            </p:nvSpPr>
            <p:spPr>
              <a:xfrm>
                <a:off x="8766049" y="4287045"/>
                <a:ext cx="2880000"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respondents identified </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claims / underwriting review</a:t>
                </a:r>
                <a:endPar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197" name="Rectangle: Rounded Corners 196">
                <a:extLst>
                  <a:ext uri="{FF2B5EF4-FFF2-40B4-BE49-F238E27FC236}">
                    <a16:creationId xmlns:a16="http://schemas.microsoft.com/office/drawing/2014/main" id="{B4B39F92-B5B3-F4F4-17A4-FB952EA150EB}"/>
                  </a:ext>
                </a:extLst>
              </p:cNvPr>
              <p:cNvSpPr/>
              <p:nvPr/>
            </p:nvSpPr>
            <p:spPr>
              <a:xfrm>
                <a:off x="9300673" y="3438567"/>
                <a:ext cx="1810752" cy="29819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INSURNACE</a:t>
                </a:r>
              </a:p>
            </p:txBody>
          </p:sp>
          <p:cxnSp>
            <p:nvCxnSpPr>
              <p:cNvPr id="136" name="Straight Connector 135">
                <a:extLst>
                  <a:ext uri="{FF2B5EF4-FFF2-40B4-BE49-F238E27FC236}">
                    <a16:creationId xmlns:a16="http://schemas.microsoft.com/office/drawing/2014/main" id="{BD346051-0E8A-4750-30DC-8AA474730657}"/>
                  </a:ext>
                </a:extLst>
              </p:cNvPr>
              <p:cNvCxnSpPr>
                <a:cxnSpLocks/>
              </p:cNvCxnSpPr>
              <p:nvPr/>
            </p:nvCxnSpPr>
            <p:spPr>
              <a:xfrm>
                <a:off x="8857489" y="3458911"/>
                <a:ext cx="0" cy="1082609"/>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165" name="Shape 30">
            <a:extLst>
              <a:ext uri="{FF2B5EF4-FFF2-40B4-BE49-F238E27FC236}">
                <a16:creationId xmlns:a16="http://schemas.microsoft.com/office/drawing/2014/main" id="{8ECCCA8C-3C45-9640-FB0A-6AA356EE454F}"/>
              </a:ext>
            </a:extLst>
          </p:cNvPr>
          <p:cNvSpPr/>
          <p:nvPr/>
        </p:nvSpPr>
        <p:spPr>
          <a:xfrm>
            <a:off x="7378130" y="5425503"/>
            <a:ext cx="4377692" cy="1129315"/>
          </a:xfrm>
          <a:prstGeom prst="roundRect">
            <a:avLst>
              <a:gd name="adj" fmla="val 3810"/>
            </a:avLst>
          </a:prstGeom>
          <a:solidFill>
            <a:srgbClr val="F0F2F2"/>
          </a:solidFill>
          <a:ln w="889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41" name="Shape 30">
            <a:extLst>
              <a:ext uri="{FF2B5EF4-FFF2-40B4-BE49-F238E27FC236}">
                <a16:creationId xmlns:a16="http://schemas.microsoft.com/office/drawing/2014/main" id="{B8DF8AA7-DF33-087D-D999-557FA946A3C6}"/>
              </a:ext>
            </a:extLst>
          </p:cNvPr>
          <p:cNvSpPr/>
          <p:nvPr/>
        </p:nvSpPr>
        <p:spPr>
          <a:xfrm>
            <a:off x="3259326" y="5140168"/>
            <a:ext cx="4086405" cy="1413031"/>
          </a:xfrm>
          <a:prstGeom prst="roundRect">
            <a:avLst>
              <a:gd name="adj" fmla="val 3810"/>
            </a:avLst>
          </a:prstGeom>
          <a:solidFill>
            <a:srgbClr val="F0F2F2"/>
          </a:solidFill>
          <a:ln w="889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34" name="Shape 30">
            <a:extLst>
              <a:ext uri="{FF2B5EF4-FFF2-40B4-BE49-F238E27FC236}">
                <a16:creationId xmlns:a16="http://schemas.microsoft.com/office/drawing/2014/main" id="{6ED0690D-5095-30D4-B4A6-AA3D45976EEF}"/>
              </a:ext>
            </a:extLst>
          </p:cNvPr>
          <p:cNvSpPr/>
          <p:nvPr/>
        </p:nvSpPr>
        <p:spPr>
          <a:xfrm>
            <a:off x="305235" y="5140168"/>
            <a:ext cx="2954091" cy="1603091"/>
          </a:xfrm>
          <a:prstGeom prst="roundRect">
            <a:avLst>
              <a:gd name="adj" fmla="val 3810"/>
            </a:avLst>
          </a:prstGeom>
          <a:solidFill>
            <a:srgbClr val="4EA72E"/>
          </a:solidFill>
          <a:ln w="8890">
            <a:solidFill>
              <a:srgbClr val="D8D8D8"/>
            </a:solidFill>
            <a:prstDash val="solid"/>
          </a:ln>
        </p:spPr>
        <p:txBody>
          <a:bodyPr anchor="ctr"/>
          <a:lstStyle/>
          <a:p>
            <a:pPr marL="0" marR="0" lvl="0" indent="0" algn="r" defTabSz="914400" rtl="0" eaLnBrk="1" fontAlgn="auto" latinLnBrk="0" hangingPunct="1">
              <a:lnSpc>
                <a:spcPct val="110000"/>
              </a:lnSpc>
              <a:spcBef>
                <a:spcPts val="0"/>
              </a:spcBef>
              <a:spcAft>
                <a:spcPts val="600"/>
              </a:spcAft>
              <a:buClr>
                <a:srgbClr val="000000"/>
              </a:buClr>
              <a:buSzTx/>
              <a:buFont typeface="Arial"/>
              <a:buNone/>
              <a:tabLst/>
              <a:defRPr/>
            </a:pPr>
            <a:r>
              <a:rPr kumimoji="0" lang="en-US" sz="2000" b="0"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DIVERGE: </a:t>
            </a:r>
            <a:r>
              <a:rPr kumimoji="0" lang="en-US" sz="20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Contact Center </a:t>
            </a:r>
            <a:br>
              <a:rPr kumimoji="0" lang="en-US" sz="20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br>
            <a:r>
              <a:rPr kumimoji="0" lang="en-US" sz="20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Exposure</a:t>
            </a:r>
            <a:endParaRPr kumimoji="0" lang="en-US" sz="20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endParaRPr>
          </a:p>
        </p:txBody>
      </p:sp>
      <p:sp>
        <p:nvSpPr>
          <p:cNvPr id="2" name="Rectangle 1">
            <a:extLst>
              <a:ext uri="{FF2B5EF4-FFF2-40B4-BE49-F238E27FC236}">
                <a16:creationId xmlns:a16="http://schemas.microsoft.com/office/drawing/2014/main" id="{85AFB5D3-7234-0C65-7802-94DEC4E59269}"/>
              </a:ext>
            </a:extLst>
          </p:cNvPr>
          <p:cNvSpPr/>
          <p:nvPr/>
        </p:nvSpPr>
        <p:spPr>
          <a:xfrm>
            <a:off x="249638" y="739894"/>
            <a:ext cx="11651914" cy="8538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One-third of organizations globally</a:t>
            </a:r>
            <a:r>
              <a:rPr kumimoji="0" lang="en-US" sz="1300" b="0" i="0" u="none" strike="noStrike" kern="1200" cap="none" spc="0" normalizeH="0" baseline="3000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1</a:t>
            </a:r>
            <a:r>
              <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report experiencing deepfake fraud incidents, placing AI-generated impersonation on par with traditional fraud schemes such as document fraud and social engineering. As organizations grapple with these risks, the emergence of agentic AI solutions (e.g., Meta Muse) introduces a new dimension of exposure, extending fraud concerns beyond impersonation to autonomous systems capable of initiating payments, executing transfers, interacting with customer service channels, and performing account servicing activities on behalf of customers.</a:t>
            </a: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Against this backdrop, the critical question is where AI-enabled fraud is exerting the greatest pressure today. </a:t>
            </a:r>
            <a:endPar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855256EE-FFB5-215C-3021-3B06F95434FE}"/>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sp>
        <p:nvSpPr>
          <p:cNvPr id="19" name="Text 22">
            <a:extLst>
              <a:ext uri="{FF2B5EF4-FFF2-40B4-BE49-F238E27FC236}">
                <a16:creationId xmlns:a16="http://schemas.microsoft.com/office/drawing/2014/main" id="{42A555F3-C5B4-11AE-5809-0163DF93A1C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DEEPFAKE-ENABLED FRAUD IS NO LONGER AN EMERGING THREAT. </a:t>
            </a:r>
          </a:p>
        </p:txBody>
      </p:sp>
      <p:sp>
        <p:nvSpPr>
          <p:cNvPr id="56" name="Text 4">
            <a:extLst>
              <a:ext uri="{FF2B5EF4-FFF2-40B4-BE49-F238E27FC236}">
                <a16:creationId xmlns:a16="http://schemas.microsoft.com/office/drawing/2014/main" id="{76CB0E9E-D613-ED54-6DBE-5CF89BD7D623}"/>
              </a:ext>
            </a:extLst>
          </p:cNvPr>
          <p:cNvSpPr/>
          <p:nvPr/>
        </p:nvSpPr>
        <p:spPr>
          <a:xfrm>
            <a:off x="494707" y="2056068"/>
            <a:ext cx="4094752" cy="1737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86BC25"/>
              </a:solidFill>
              <a:effectLst/>
              <a:uLnTx/>
              <a:uFillTx/>
              <a:latin typeface="Arial"/>
              <a:ea typeface="+mn-ea"/>
              <a:cs typeface="Arial"/>
              <a:sym typeface="Arial"/>
            </a:endParaRPr>
          </a:p>
        </p:txBody>
      </p:sp>
      <p:sp>
        <p:nvSpPr>
          <p:cNvPr id="129" name="Text 15">
            <a:extLst>
              <a:ext uri="{FF2B5EF4-FFF2-40B4-BE49-F238E27FC236}">
                <a16:creationId xmlns:a16="http://schemas.microsoft.com/office/drawing/2014/main" id="{358A7ACF-EF12-B33E-8CEB-182099CBA6B9}"/>
              </a:ext>
            </a:extLst>
          </p:cNvPr>
          <p:cNvSpPr/>
          <p:nvPr/>
        </p:nvSpPr>
        <p:spPr>
          <a:xfrm>
            <a:off x="494707" y="1898346"/>
            <a:ext cx="10813806" cy="53584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111111"/>
                </a:solidFill>
                <a:effectLst/>
                <a:uLnTx/>
                <a:uFillTx/>
                <a:latin typeface="Segoe UI" panose="020B0502040204020203" pitchFamily="34" charset="0"/>
                <a:ea typeface="Arial" pitchFamily="34" charset="-122"/>
                <a:cs typeface="Segoe UI" panose="020B0502040204020203" pitchFamily="34" charset="0"/>
                <a:sym typeface="Arial"/>
              </a:rPr>
              <a:t>Common Vulnerability: </a:t>
            </a:r>
            <a:r>
              <a:rPr kumimoji="0" lang="en-US" sz="1800" b="0" i="0" u="none" strike="noStrike" kern="0" cap="none" spc="0" normalizeH="0" baseline="0" noProof="0" dirty="0">
                <a:ln>
                  <a:noFill/>
                </a:ln>
                <a:solidFill>
                  <a:srgbClr val="111111"/>
                </a:solidFill>
                <a:effectLst/>
                <a:uLnTx/>
                <a:uFillTx/>
                <a:latin typeface="Segoe UI" panose="020B0502040204020203" pitchFamily="34" charset="0"/>
                <a:ea typeface="Arial" pitchFamily="34" charset="-122"/>
                <a:cs typeface="Segoe UI" panose="020B0502040204020203" pitchFamily="34" charset="0"/>
                <a:sym typeface="Arial"/>
              </a:rPr>
              <a:t>Onboarding and high-value payment decisions are the common pressure points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404040"/>
                </a:solidFill>
                <a:effectLst/>
                <a:uLnTx/>
                <a:uFillTx/>
                <a:latin typeface="Segoe UI" panose="020B0502040204020203" pitchFamily="34" charset="0"/>
                <a:ea typeface="Arial" pitchFamily="34" charset="-122"/>
                <a:cs typeface="Segoe UI" panose="020B0502040204020203" pitchFamily="34" charset="0"/>
                <a:sym typeface="Arial"/>
              </a:rPr>
              <a:t>Across both sectors, vulnerability concentrates where organizations establish identity and approve consequential financial outcomes.</a:t>
            </a:r>
            <a:endParaRPr kumimoji="0" lang="en-US" sz="1400" b="0" i="0" u="none" strike="noStrike" kern="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endParaRPr>
          </a:p>
        </p:txBody>
      </p:sp>
      <p:sp>
        <p:nvSpPr>
          <p:cNvPr id="52" name="Text 33">
            <a:extLst>
              <a:ext uri="{FF2B5EF4-FFF2-40B4-BE49-F238E27FC236}">
                <a16:creationId xmlns:a16="http://schemas.microsoft.com/office/drawing/2014/main" id="{CB2143FE-ED69-1931-F081-9E79D9F79B57}"/>
              </a:ext>
            </a:extLst>
          </p:cNvPr>
          <p:cNvSpPr/>
          <p:nvPr/>
        </p:nvSpPr>
        <p:spPr>
          <a:xfrm>
            <a:off x="3547017" y="5556989"/>
            <a:ext cx="3922056" cy="323984"/>
          </a:xfrm>
          <a:prstGeom prst="rect">
            <a:avLst/>
          </a:prstGeom>
          <a:noFill/>
          <a:ln/>
        </p:spPr>
        <p:txBody>
          <a:bodyPr wrap="square" lIns="90000" tIns="0" rIns="0" bIns="0" rtlCol="0" anchor="b"/>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Insurance: 72%</a:t>
            </a:r>
            <a:endParaRPr kumimoji="0" lang="en-US" sz="40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grpSp>
        <p:nvGrpSpPr>
          <p:cNvPr id="138" name="Graphic 1100">
            <a:extLst>
              <a:ext uri="{FF2B5EF4-FFF2-40B4-BE49-F238E27FC236}">
                <a16:creationId xmlns:a16="http://schemas.microsoft.com/office/drawing/2014/main" id="{13DB528D-4BA4-B473-2DA3-ADE83545B4EB}"/>
              </a:ext>
            </a:extLst>
          </p:cNvPr>
          <p:cNvGrpSpPr/>
          <p:nvPr/>
        </p:nvGrpSpPr>
        <p:grpSpPr>
          <a:xfrm>
            <a:off x="584015" y="5732591"/>
            <a:ext cx="630000" cy="630000"/>
            <a:chOff x="467104" y="2375167"/>
            <a:chExt cx="362309" cy="362610"/>
          </a:xfrm>
          <a:solidFill>
            <a:schemeClr val="bg1"/>
          </a:solidFill>
        </p:grpSpPr>
        <p:sp>
          <p:nvSpPr>
            <p:cNvPr id="139" name="Graphic 1100">
              <a:extLst>
                <a:ext uri="{FF2B5EF4-FFF2-40B4-BE49-F238E27FC236}">
                  <a16:creationId xmlns:a16="http://schemas.microsoft.com/office/drawing/2014/main" id="{6D7F7867-2B6C-B010-F1E0-4958345296CB}"/>
                </a:ext>
              </a:extLst>
            </p:cNvPr>
            <p:cNvSpPr/>
            <p:nvPr/>
          </p:nvSpPr>
          <p:spPr>
            <a:xfrm>
              <a:off x="467104" y="2375167"/>
              <a:ext cx="362309" cy="36261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raphic 1100">
              <a:extLst>
                <a:ext uri="{FF2B5EF4-FFF2-40B4-BE49-F238E27FC236}">
                  <a16:creationId xmlns:a16="http://schemas.microsoft.com/office/drawing/2014/main" id="{97A06CE6-AED4-650B-8F9E-984243865BAB}"/>
                </a:ext>
              </a:extLst>
            </p:cNvPr>
            <p:cNvSpPr/>
            <p:nvPr/>
          </p:nvSpPr>
          <p:spPr>
            <a:xfrm>
              <a:off x="548895" y="2431346"/>
              <a:ext cx="198727" cy="250251"/>
            </a:xfrm>
            <a:custGeom>
              <a:avLst/>
              <a:gdLst>
                <a:gd name="connsiteX0" fmla="*/ 99683 w 198727"/>
                <a:gd name="connsiteY0" fmla="*/ 0 h 250251"/>
                <a:gd name="connsiteX1" fmla="*/ 0 w 198727"/>
                <a:gd name="connsiteY1" fmla="*/ 99590 h 250251"/>
                <a:gd name="connsiteX2" fmla="*/ 0 w 198727"/>
                <a:gd name="connsiteY2" fmla="*/ 171729 h 250251"/>
                <a:gd name="connsiteX3" fmla="*/ 19170 w 198727"/>
                <a:gd name="connsiteY3" fmla="*/ 190881 h 250251"/>
                <a:gd name="connsiteX4" fmla="*/ 27477 w 198727"/>
                <a:gd name="connsiteY4" fmla="*/ 190881 h 250251"/>
                <a:gd name="connsiteX5" fmla="*/ 46647 w 198727"/>
                <a:gd name="connsiteY5" fmla="*/ 171729 h 250251"/>
                <a:gd name="connsiteX6" fmla="*/ 46647 w 198727"/>
                <a:gd name="connsiteY6" fmla="*/ 112358 h 250251"/>
                <a:gd name="connsiteX7" fmla="*/ 27477 w 198727"/>
                <a:gd name="connsiteY7" fmla="*/ 93206 h 250251"/>
                <a:gd name="connsiteX8" fmla="*/ 19170 w 198727"/>
                <a:gd name="connsiteY8" fmla="*/ 93206 h 250251"/>
                <a:gd name="connsiteX9" fmla="*/ 12780 w 198727"/>
                <a:gd name="connsiteY9" fmla="*/ 94483 h 250251"/>
                <a:gd name="connsiteX10" fmla="*/ 104795 w 198727"/>
                <a:gd name="connsiteY10" fmla="*/ 13406 h 250251"/>
                <a:gd name="connsiteX11" fmla="*/ 185947 w 198727"/>
                <a:gd name="connsiteY11" fmla="*/ 94483 h 250251"/>
                <a:gd name="connsiteX12" fmla="*/ 179557 w 198727"/>
                <a:gd name="connsiteY12" fmla="*/ 93206 h 250251"/>
                <a:gd name="connsiteX13" fmla="*/ 171250 w 198727"/>
                <a:gd name="connsiteY13" fmla="*/ 93206 h 250251"/>
                <a:gd name="connsiteX14" fmla="*/ 152080 w 198727"/>
                <a:gd name="connsiteY14" fmla="*/ 112358 h 250251"/>
                <a:gd name="connsiteX15" fmla="*/ 152080 w 198727"/>
                <a:gd name="connsiteY15" fmla="*/ 171729 h 250251"/>
                <a:gd name="connsiteX16" fmla="*/ 171250 w 198727"/>
                <a:gd name="connsiteY16" fmla="*/ 190881 h 250251"/>
                <a:gd name="connsiteX17" fmla="*/ 179557 w 198727"/>
                <a:gd name="connsiteY17" fmla="*/ 190881 h 250251"/>
                <a:gd name="connsiteX18" fmla="*/ 184669 w 198727"/>
                <a:gd name="connsiteY18" fmla="*/ 190243 h 250251"/>
                <a:gd name="connsiteX19" fmla="*/ 123326 w 198727"/>
                <a:gd name="connsiteY19" fmla="*/ 236207 h 250251"/>
                <a:gd name="connsiteX20" fmla="*/ 99044 w 198727"/>
                <a:gd name="connsiteY20" fmla="*/ 227270 h 250251"/>
                <a:gd name="connsiteX21" fmla="*/ 74123 w 198727"/>
                <a:gd name="connsiteY21" fmla="*/ 238761 h 250251"/>
                <a:gd name="connsiteX22" fmla="*/ 99044 w 198727"/>
                <a:gd name="connsiteY22" fmla="*/ 250252 h 250251"/>
                <a:gd name="connsiteX23" fmla="*/ 102878 w 198727"/>
                <a:gd name="connsiteY23" fmla="*/ 250252 h 250251"/>
                <a:gd name="connsiteX24" fmla="*/ 198727 w 198727"/>
                <a:gd name="connsiteY24" fmla="*/ 176198 h 250251"/>
                <a:gd name="connsiteX25" fmla="*/ 198727 w 198727"/>
                <a:gd name="connsiteY25" fmla="*/ 99590 h 250251"/>
                <a:gd name="connsiteX26" fmla="*/ 99683 w 198727"/>
                <a:gd name="connsiteY26" fmla="*/ 0 h 250251"/>
                <a:gd name="connsiteX27" fmla="*/ 19170 w 198727"/>
                <a:gd name="connsiteY27" fmla="*/ 105336 h 250251"/>
                <a:gd name="connsiteX28" fmla="*/ 27477 w 198727"/>
                <a:gd name="connsiteY28" fmla="*/ 105336 h 250251"/>
                <a:gd name="connsiteX29" fmla="*/ 33867 w 198727"/>
                <a:gd name="connsiteY29" fmla="*/ 111720 h 250251"/>
                <a:gd name="connsiteX30" fmla="*/ 33867 w 198727"/>
                <a:gd name="connsiteY30" fmla="*/ 171091 h 250251"/>
                <a:gd name="connsiteX31" fmla="*/ 27477 w 198727"/>
                <a:gd name="connsiteY31" fmla="*/ 177475 h 250251"/>
                <a:gd name="connsiteX32" fmla="*/ 19170 w 198727"/>
                <a:gd name="connsiteY32" fmla="*/ 177475 h 250251"/>
                <a:gd name="connsiteX33" fmla="*/ 12780 w 198727"/>
                <a:gd name="connsiteY33" fmla="*/ 171091 h 250251"/>
                <a:gd name="connsiteX34" fmla="*/ 12780 w 198727"/>
                <a:gd name="connsiteY34" fmla="*/ 111720 h 250251"/>
                <a:gd name="connsiteX35" fmla="*/ 19170 w 198727"/>
                <a:gd name="connsiteY35" fmla="*/ 105336 h 250251"/>
                <a:gd name="connsiteX36" fmla="*/ 186586 w 198727"/>
                <a:gd name="connsiteY36" fmla="*/ 124488 h 250251"/>
                <a:gd name="connsiteX37" fmla="*/ 186586 w 198727"/>
                <a:gd name="connsiteY37" fmla="*/ 171091 h 250251"/>
                <a:gd name="connsiteX38" fmla="*/ 180196 w 198727"/>
                <a:gd name="connsiteY38" fmla="*/ 177475 h 250251"/>
                <a:gd name="connsiteX39" fmla="*/ 171889 w 198727"/>
                <a:gd name="connsiteY39" fmla="*/ 177475 h 250251"/>
                <a:gd name="connsiteX40" fmla="*/ 165499 w 198727"/>
                <a:gd name="connsiteY40" fmla="*/ 171091 h 250251"/>
                <a:gd name="connsiteX41" fmla="*/ 165499 w 198727"/>
                <a:gd name="connsiteY41" fmla="*/ 111720 h 250251"/>
                <a:gd name="connsiteX42" fmla="*/ 171889 w 198727"/>
                <a:gd name="connsiteY42" fmla="*/ 105336 h 250251"/>
                <a:gd name="connsiteX43" fmla="*/ 180196 w 198727"/>
                <a:gd name="connsiteY43" fmla="*/ 105336 h 250251"/>
                <a:gd name="connsiteX44" fmla="*/ 186586 w 198727"/>
                <a:gd name="connsiteY44" fmla="*/ 111720 h 250251"/>
                <a:gd name="connsiteX45" fmla="*/ 186586 w 198727"/>
                <a:gd name="connsiteY45" fmla="*/ 124488 h 2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8727" h="250251">
                  <a:moveTo>
                    <a:pt x="99683" y="0"/>
                  </a:moveTo>
                  <a:cubicBezTo>
                    <a:pt x="44730" y="0"/>
                    <a:pt x="0" y="44688"/>
                    <a:pt x="0" y="99590"/>
                  </a:cubicBezTo>
                  <a:lnTo>
                    <a:pt x="0" y="171729"/>
                  </a:lnTo>
                  <a:cubicBezTo>
                    <a:pt x="0" y="182582"/>
                    <a:pt x="8307" y="190881"/>
                    <a:pt x="19170" y="190881"/>
                  </a:cubicBezTo>
                  <a:lnTo>
                    <a:pt x="27477" y="190881"/>
                  </a:lnTo>
                  <a:cubicBezTo>
                    <a:pt x="38340" y="190881"/>
                    <a:pt x="46647" y="182582"/>
                    <a:pt x="46647" y="171729"/>
                  </a:cubicBezTo>
                  <a:lnTo>
                    <a:pt x="46647" y="112358"/>
                  </a:lnTo>
                  <a:cubicBezTo>
                    <a:pt x="46647" y="101505"/>
                    <a:pt x="38340" y="93206"/>
                    <a:pt x="27477" y="93206"/>
                  </a:cubicBezTo>
                  <a:lnTo>
                    <a:pt x="19170" y="93206"/>
                  </a:lnTo>
                  <a:cubicBezTo>
                    <a:pt x="17253" y="93206"/>
                    <a:pt x="14697" y="93844"/>
                    <a:pt x="12780" y="94483"/>
                  </a:cubicBezTo>
                  <a:cubicBezTo>
                    <a:pt x="15975" y="46603"/>
                    <a:pt x="56870" y="10214"/>
                    <a:pt x="104795" y="13406"/>
                  </a:cubicBezTo>
                  <a:cubicBezTo>
                    <a:pt x="148886" y="15960"/>
                    <a:pt x="183391" y="51072"/>
                    <a:pt x="185947" y="94483"/>
                  </a:cubicBezTo>
                  <a:cubicBezTo>
                    <a:pt x="184030" y="93844"/>
                    <a:pt x="181474" y="93206"/>
                    <a:pt x="179557" y="93206"/>
                  </a:cubicBezTo>
                  <a:lnTo>
                    <a:pt x="171250" y="93206"/>
                  </a:lnTo>
                  <a:cubicBezTo>
                    <a:pt x="160387" y="93206"/>
                    <a:pt x="152080" y="101505"/>
                    <a:pt x="152080" y="112358"/>
                  </a:cubicBezTo>
                  <a:lnTo>
                    <a:pt x="152080" y="171729"/>
                  </a:lnTo>
                  <a:cubicBezTo>
                    <a:pt x="152080" y="182582"/>
                    <a:pt x="160387" y="190881"/>
                    <a:pt x="171250" y="190881"/>
                  </a:cubicBezTo>
                  <a:lnTo>
                    <a:pt x="179557" y="190881"/>
                  </a:lnTo>
                  <a:cubicBezTo>
                    <a:pt x="181474" y="190881"/>
                    <a:pt x="182752" y="190881"/>
                    <a:pt x="184669" y="190243"/>
                  </a:cubicBezTo>
                  <a:cubicBezTo>
                    <a:pt x="178279" y="220247"/>
                    <a:pt x="152080" y="232377"/>
                    <a:pt x="123326" y="236207"/>
                  </a:cubicBezTo>
                  <a:cubicBezTo>
                    <a:pt x="120770" y="228546"/>
                    <a:pt x="106073" y="227270"/>
                    <a:pt x="99044" y="227270"/>
                  </a:cubicBezTo>
                  <a:cubicBezTo>
                    <a:pt x="92015" y="227270"/>
                    <a:pt x="74123" y="228546"/>
                    <a:pt x="74123" y="238761"/>
                  </a:cubicBezTo>
                  <a:cubicBezTo>
                    <a:pt x="74123" y="248975"/>
                    <a:pt x="91376" y="250252"/>
                    <a:pt x="99044" y="250252"/>
                  </a:cubicBezTo>
                  <a:lnTo>
                    <a:pt x="102878" y="250252"/>
                  </a:lnTo>
                  <a:cubicBezTo>
                    <a:pt x="164860" y="248975"/>
                    <a:pt x="198727" y="222801"/>
                    <a:pt x="198727" y="176198"/>
                  </a:cubicBezTo>
                  <a:lnTo>
                    <a:pt x="198727" y="99590"/>
                  </a:lnTo>
                  <a:cubicBezTo>
                    <a:pt x="198727" y="44688"/>
                    <a:pt x="153997" y="0"/>
                    <a:pt x="99683" y="0"/>
                  </a:cubicBezTo>
                  <a:close/>
                  <a:moveTo>
                    <a:pt x="19170" y="105336"/>
                  </a:moveTo>
                  <a:lnTo>
                    <a:pt x="27477" y="105336"/>
                  </a:lnTo>
                  <a:cubicBezTo>
                    <a:pt x="31311" y="105336"/>
                    <a:pt x="33867" y="107889"/>
                    <a:pt x="33867" y="111720"/>
                  </a:cubicBezTo>
                  <a:lnTo>
                    <a:pt x="33867" y="171091"/>
                  </a:lnTo>
                  <a:cubicBezTo>
                    <a:pt x="33867" y="174921"/>
                    <a:pt x="31311" y="177475"/>
                    <a:pt x="27477" y="177475"/>
                  </a:cubicBezTo>
                  <a:lnTo>
                    <a:pt x="19170" y="177475"/>
                  </a:lnTo>
                  <a:cubicBezTo>
                    <a:pt x="15336" y="177475"/>
                    <a:pt x="12780" y="174921"/>
                    <a:pt x="12780" y="171091"/>
                  </a:cubicBezTo>
                  <a:lnTo>
                    <a:pt x="12780" y="111720"/>
                  </a:lnTo>
                  <a:cubicBezTo>
                    <a:pt x="12780" y="108528"/>
                    <a:pt x="15336" y="105336"/>
                    <a:pt x="19170" y="105336"/>
                  </a:cubicBezTo>
                  <a:close/>
                  <a:moveTo>
                    <a:pt x="186586" y="124488"/>
                  </a:moveTo>
                  <a:lnTo>
                    <a:pt x="186586" y="171091"/>
                  </a:lnTo>
                  <a:cubicBezTo>
                    <a:pt x="186586" y="174921"/>
                    <a:pt x="184030" y="177475"/>
                    <a:pt x="180196" y="177475"/>
                  </a:cubicBezTo>
                  <a:lnTo>
                    <a:pt x="171889" y="177475"/>
                  </a:lnTo>
                  <a:cubicBezTo>
                    <a:pt x="168055" y="177475"/>
                    <a:pt x="165499" y="174921"/>
                    <a:pt x="165499" y="171091"/>
                  </a:cubicBezTo>
                  <a:lnTo>
                    <a:pt x="165499" y="111720"/>
                  </a:lnTo>
                  <a:cubicBezTo>
                    <a:pt x="165499" y="107889"/>
                    <a:pt x="168055" y="105336"/>
                    <a:pt x="171889" y="105336"/>
                  </a:cubicBezTo>
                  <a:lnTo>
                    <a:pt x="180196" y="105336"/>
                  </a:lnTo>
                  <a:cubicBezTo>
                    <a:pt x="184030" y="105336"/>
                    <a:pt x="186586" y="107889"/>
                    <a:pt x="186586" y="111720"/>
                  </a:cubicBezTo>
                  <a:lnTo>
                    <a:pt x="186586" y="12448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4" name="TextBox 143">
            <a:extLst>
              <a:ext uri="{FF2B5EF4-FFF2-40B4-BE49-F238E27FC236}">
                <a16:creationId xmlns:a16="http://schemas.microsoft.com/office/drawing/2014/main" id="{B3A021CD-29BB-C180-7834-B7A77A2DFDCB}"/>
              </a:ext>
            </a:extLst>
          </p:cNvPr>
          <p:cNvSpPr txBox="1"/>
          <p:nvPr/>
        </p:nvSpPr>
        <p:spPr>
          <a:xfrm>
            <a:off x="3547017" y="5794610"/>
            <a:ext cx="381705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selected as the most vulnerable channel</a:t>
            </a:r>
          </a:p>
        </p:txBody>
      </p:sp>
      <p:sp>
        <p:nvSpPr>
          <p:cNvPr id="151" name="TextBox 150">
            <a:extLst>
              <a:ext uri="{FF2B5EF4-FFF2-40B4-BE49-F238E27FC236}">
                <a16:creationId xmlns:a16="http://schemas.microsoft.com/office/drawing/2014/main" id="{E2920B90-6F8F-A5CE-DA09-0FD21835D1B8}"/>
              </a:ext>
            </a:extLst>
          </p:cNvPr>
          <p:cNvSpPr txBox="1"/>
          <p:nvPr/>
        </p:nvSpPr>
        <p:spPr>
          <a:xfrm>
            <a:off x="7463302" y="5794610"/>
            <a:ext cx="45864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selected as the most vulnerable channel</a:t>
            </a:r>
          </a:p>
        </p:txBody>
      </p:sp>
      <p:sp>
        <p:nvSpPr>
          <p:cNvPr id="154" name="Text 33">
            <a:extLst>
              <a:ext uri="{FF2B5EF4-FFF2-40B4-BE49-F238E27FC236}">
                <a16:creationId xmlns:a16="http://schemas.microsoft.com/office/drawing/2014/main" id="{CB26C02C-2447-C08B-9655-5E164FD14D42}"/>
              </a:ext>
            </a:extLst>
          </p:cNvPr>
          <p:cNvSpPr/>
          <p:nvPr/>
        </p:nvSpPr>
        <p:spPr>
          <a:xfrm>
            <a:off x="7463302" y="5556989"/>
            <a:ext cx="3922056" cy="323984"/>
          </a:xfrm>
          <a:prstGeom prst="rect">
            <a:avLst/>
          </a:prstGeom>
          <a:noFill/>
          <a:ln/>
        </p:spPr>
        <p:txBody>
          <a:bodyPr wrap="square" lIns="90000" tIns="0" rIns="0" bIns="0" rtlCol="0" anchor="b"/>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Banking: 47%</a:t>
            </a:r>
            <a:endParaRPr kumimoji="0" lang="en-US" sz="28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172" name="TextBox 171">
            <a:extLst>
              <a:ext uri="{FF2B5EF4-FFF2-40B4-BE49-F238E27FC236}">
                <a16:creationId xmlns:a16="http://schemas.microsoft.com/office/drawing/2014/main" id="{2D8A6CCD-27D1-8CD9-89E2-0693EB8285B5}"/>
              </a:ext>
            </a:extLst>
          </p:cNvPr>
          <p:cNvSpPr txBox="1"/>
          <p:nvPr/>
        </p:nvSpPr>
        <p:spPr>
          <a:xfrm>
            <a:off x="3249166" y="6086768"/>
            <a:ext cx="8512634" cy="646331"/>
          </a:xfrm>
          <a:prstGeom prst="rect">
            <a:avLst/>
          </a:prstGeom>
          <a:solidFill>
            <a:schemeClr val="bg1"/>
          </a:solidFill>
          <a:ln w="28575">
            <a:solidFill>
              <a:schemeClr val="accent1"/>
            </a:solidFill>
          </a:ln>
        </p:spPr>
        <p:txBody>
          <a:bodyPr wrap="square">
            <a:spAutoFit/>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Insurance concentrates a greater share of high-risk customer activities within the contact centre, spanning authentication, policy servicing, and claims handling. Whereas, in banking, exposure is distributed across multiple channels including digital onboarding, authentication, and payment approval journeys, reducing the relative fraud risk</a:t>
            </a:r>
          </a:p>
        </p:txBody>
      </p:sp>
      <p:sp>
        <p:nvSpPr>
          <p:cNvPr id="215" name="Cross 214">
            <a:extLst>
              <a:ext uri="{FF2B5EF4-FFF2-40B4-BE49-F238E27FC236}">
                <a16:creationId xmlns:a16="http://schemas.microsoft.com/office/drawing/2014/main" id="{8CE99000-901D-488D-7133-EE48B384BE25}"/>
              </a:ext>
            </a:extLst>
          </p:cNvPr>
          <p:cNvSpPr/>
          <p:nvPr/>
        </p:nvSpPr>
        <p:spPr>
          <a:xfrm>
            <a:off x="5822892" y="3446554"/>
            <a:ext cx="427490" cy="459199"/>
          </a:xfrm>
          <a:prstGeom prst="plus">
            <a:avLst>
              <a:gd name="adj" fmla="val 3683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250009829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91D6-FE6D-B4FC-D3FD-091235F079C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C03118-E7DB-ADF1-D4CB-7321CF52B7EC}"/>
              </a:ext>
            </a:extLst>
          </p:cNvPr>
          <p:cNvSpPr/>
          <p:nvPr/>
        </p:nvSpPr>
        <p:spPr>
          <a:xfrm>
            <a:off x="4000041" y="365456"/>
            <a:ext cx="8191055" cy="6127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3" name="Rectangle 152">
            <a:extLst>
              <a:ext uri="{FF2B5EF4-FFF2-40B4-BE49-F238E27FC236}">
                <a16:creationId xmlns:a16="http://schemas.microsoft.com/office/drawing/2014/main" id="{C36A8106-5332-337E-3703-DB45D0AE18BB}"/>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sp>
        <p:nvSpPr>
          <p:cNvPr id="2" name="Rectangle 1">
            <a:extLst>
              <a:ext uri="{FF2B5EF4-FFF2-40B4-BE49-F238E27FC236}">
                <a16:creationId xmlns:a16="http://schemas.microsoft.com/office/drawing/2014/main" id="{3A9F9E70-1C57-13CB-294C-34B7FA34982A}"/>
              </a:ext>
            </a:extLst>
          </p:cNvPr>
          <p:cNvSpPr/>
          <p:nvPr/>
        </p:nvSpPr>
        <p:spPr>
          <a:xfrm>
            <a:off x="4000944" y="365456"/>
            <a:ext cx="8191055" cy="15165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tIns="182880" rIns="36576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endParaRPr kumimoji="0" lang="en-US" sz="14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8" name="TextBox 7">
            <a:extLst>
              <a:ext uri="{FF2B5EF4-FFF2-40B4-BE49-F238E27FC236}">
                <a16:creationId xmlns:a16="http://schemas.microsoft.com/office/drawing/2014/main" id="{70238CC7-E07C-5F81-753F-65D65177F70E}"/>
              </a:ext>
            </a:extLst>
          </p:cNvPr>
          <p:cNvSpPr txBox="1"/>
          <p:nvPr/>
        </p:nvSpPr>
        <p:spPr>
          <a:xfrm>
            <a:off x="8198696" y="355729"/>
            <a:ext cx="3992400" cy="6492543"/>
          </a:xfrm>
          <a:prstGeom prst="rect">
            <a:avLst/>
          </a:prstGeom>
          <a:solidFill>
            <a:schemeClr val="accent2"/>
          </a:solidFill>
          <a:ln>
            <a:noFill/>
          </a:ln>
        </p:spPr>
        <p:txBody>
          <a:bodyPr wrap="square" lIns="274320" tIns="548640" rIns="274320" anchor="ctr">
            <a:noAutofit/>
          </a:bodyPr>
          <a:lstStyle/>
          <a:p>
            <a:pPr marL="0" marR="0" lvl="0" indent="0" algn="l" defTabSz="914400" rtl="0" eaLnBrk="1" fontAlgn="t" latinLnBrk="0" hangingPunct="1">
              <a:lnSpc>
                <a:spcPct val="110000"/>
              </a:lnSpc>
              <a:spcBef>
                <a:spcPts val="0"/>
              </a:spcBef>
              <a:spcAft>
                <a:spcPts val="1300"/>
              </a:spcAft>
              <a:buClr>
                <a:srgbClr val="000000"/>
              </a:buClr>
              <a:buSzTx/>
              <a:buFont typeface="Arial"/>
              <a:buNone/>
              <a:tabLst/>
              <a:defRPr/>
            </a:pPr>
            <a:r>
              <a:rPr kumimoji="0" lang="en-CA" sz="1400" b="0" i="1" u="none" strike="noStrike" kern="0" cap="none" spc="0" normalizeH="0" baseline="0" noProof="0" dirty="0">
                <a:ln>
                  <a:noFill/>
                </a:ln>
                <a:solidFill>
                  <a:srgbClr val="FFFFFF"/>
                </a:solidFill>
                <a:effectLst/>
                <a:uLnTx/>
                <a:uFillTx/>
                <a:latin typeface="Arial"/>
                <a:cs typeface="Arial"/>
                <a:sym typeface="Arial"/>
              </a:rPr>
              <a:t>"The biggest development will be the convergence of GenAI, synthetic identity, and real-time payments. Fraud will become faster, more personalized, and harder to distinguish from legitimate customer behaviour, while the window to intervene will shrink. The biggest impact on risk management will therefore be a shift toward continuous identity verification, real-time behavioural analytics, stronger cross-industry intelligence sharing, and AI-assisted investigations </a:t>
            </a:r>
            <a:r>
              <a:rPr kumimoji="0" lang="en-CA" sz="1400" b="1" i="1" u="none" strike="noStrike" kern="0" cap="none" spc="0" normalizeH="0" baseline="0" noProof="0" dirty="0">
                <a:ln>
                  <a:noFill/>
                </a:ln>
                <a:solidFill>
                  <a:srgbClr val="FFFFFF"/>
                </a:solidFill>
                <a:effectLst/>
                <a:uLnTx/>
                <a:uFillTx/>
                <a:latin typeface="Arial"/>
                <a:cs typeface="Arial"/>
                <a:sym typeface="Arial"/>
              </a:rPr>
              <a:t>rather than relying primarily on point-in-time controls.</a:t>
            </a:r>
            <a:r>
              <a:rPr kumimoji="0" lang="en-CA" sz="1400" b="0" i="1" u="none" strike="noStrike" kern="0" cap="none" spc="0" normalizeH="0" baseline="0" noProof="0" dirty="0">
                <a:ln>
                  <a:noFill/>
                </a:ln>
                <a:solidFill>
                  <a:srgbClr val="FFFFFF"/>
                </a:solidFill>
                <a:effectLst/>
                <a:uLnTx/>
                <a:uFillTx/>
                <a:latin typeface="Arial"/>
                <a:cs typeface="Arial"/>
                <a:sym typeface="Arial"/>
              </a:rPr>
              <a:t>“</a:t>
            </a:r>
            <a:r>
              <a:rPr kumimoji="0" lang="en-CA" sz="1600" b="0" i="1" u="none" strike="noStrike" kern="0" cap="none" spc="0" normalizeH="0" baseline="0" noProof="0" dirty="0">
                <a:ln>
                  <a:noFill/>
                </a:ln>
                <a:solidFill>
                  <a:srgbClr val="FFFFFF"/>
                </a:solidFill>
                <a:effectLst/>
                <a:uLnTx/>
                <a:uFillTx/>
                <a:latin typeface="Arial"/>
                <a:cs typeface="Arial"/>
                <a:sym typeface="Arial"/>
              </a:rPr>
              <a:t> </a:t>
            </a:r>
            <a:br>
              <a:rPr kumimoji="0" lang="en-CA" sz="1600" b="0" i="1" u="none" strike="noStrike" kern="0" cap="none" spc="0" normalizeH="0" baseline="0" noProof="0" dirty="0">
                <a:ln>
                  <a:noFill/>
                </a:ln>
                <a:solidFill>
                  <a:srgbClr val="FFFFFF"/>
                </a:solidFill>
                <a:effectLst/>
                <a:uLnTx/>
                <a:uFillTx/>
                <a:latin typeface="Arial"/>
                <a:cs typeface="Arial"/>
                <a:sym typeface="Arial"/>
              </a:rPr>
            </a:br>
            <a:br>
              <a:rPr kumimoji="0" lang="en-CA" sz="1600" b="0" i="1" u="none" strike="noStrike" kern="0" cap="none" spc="0" normalizeH="0" baseline="0" noProof="0" dirty="0">
                <a:ln>
                  <a:noFill/>
                </a:ln>
                <a:solidFill>
                  <a:srgbClr val="FFFFFF"/>
                </a:solidFill>
                <a:effectLst/>
                <a:uLnTx/>
                <a:uFillTx/>
                <a:latin typeface="Arial"/>
                <a:cs typeface="Arial"/>
                <a:sym typeface="Arial"/>
              </a:rPr>
            </a:br>
            <a:r>
              <a:rPr kumimoji="0" lang="en-CA" sz="1800" b="1" i="1" u="none" strike="noStrike" kern="0" cap="none" spc="0" normalizeH="0" baseline="0" noProof="0" dirty="0">
                <a:ln>
                  <a:noFill/>
                </a:ln>
                <a:solidFill>
                  <a:srgbClr val="86BC25"/>
                </a:solidFill>
                <a:effectLst/>
                <a:uLnTx/>
                <a:uFillTx/>
                <a:latin typeface="Arial"/>
                <a:cs typeface="Arial"/>
                <a:sym typeface="Arial"/>
              </a:rPr>
              <a:t>– Fraud Strategy Executive at a Top 100 Global Financial Institution</a:t>
            </a:r>
            <a:endParaRPr kumimoji="0" lang="en-CA" sz="1800" b="1" i="1" u="none" strike="noStrike" kern="0" cap="none" spc="0" normalizeH="0" baseline="0" noProof="0" dirty="0">
              <a:ln>
                <a:noFill/>
              </a:ln>
              <a:solidFill>
                <a:srgbClr val="86BC25"/>
              </a:solidFill>
              <a:effectLst/>
              <a:uLnTx/>
              <a:uFillTx/>
              <a:latin typeface="Segoe UI" panose="020B0502040204020203" pitchFamily="34" charset="0"/>
              <a:cs typeface="Arial"/>
              <a:sym typeface="Arial"/>
            </a:endParaRPr>
          </a:p>
        </p:txBody>
      </p:sp>
      <p:sp>
        <p:nvSpPr>
          <p:cNvPr id="6" name="TextBox 5">
            <a:extLst>
              <a:ext uri="{FF2B5EF4-FFF2-40B4-BE49-F238E27FC236}">
                <a16:creationId xmlns:a16="http://schemas.microsoft.com/office/drawing/2014/main" id="{224E2A91-5F7E-21E9-FC5B-510FD4ADBDC1}"/>
              </a:ext>
            </a:extLst>
          </p:cNvPr>
          <p:cNvSpPr txBox="1"/>
          <p:nvPr/>
        </p:nvSpPr>
        <p:spPr>
          <a:xfrm>
            <a:off x="364323" y="624507"/>
            <a:ext cx="7855226" cy="59093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Deepfake and AI-enabled fraud requires a coordinated response. Respondents identified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as equally </a:t>
            </a:r>
            <a:r>
              <a:rPr kumimoji="0" lang="en-US" sz="27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important</a:t>
            </a: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 mitigation levers, with each selected by 43% to 53% of respondents.</a:t>
            </a:r>
          </a:p>
        </p:txBody>
      </p:sp>
      <p:grpSp>
        <p:nvGrpSpPr>
          <p:cNvPr id="54" name="Group 53">
            <a:extLst>
              <a:ext uri="{FF2B5EF4-FFF2-40B4-BE49-F238E27FC236}">
                <a16:creationId xmlns:a16="http://schemas.microsoft.com/office/drawing/2014/main" id="{8C252FFC-67C4-500B-5CC6-B725E292DF4A}"/>
              </a:ext>
            </a:extLst>
          </p:cNvPr>
          <p:cNvGrpSpPr/>
          <p:nvPr/>
        </p:nvGrpSpPr>
        <p:grpSpPr>
          <a:xfrm>
            <a:off x="1299576" y="2746590"/>
            <a:ext cx="6117224" cy="630000"/>
            <a:chOff x="1299576" y="3062831"/>
            <a:chExt cx="6117224" cy="630000"/>
          </a:xfrm>
        </p:grpSpPr>
        <p:sp>
          <p:nvSpPr>
            <p:cNvPr id="9" name="TextBox 8">
              <a:extLst>
                <a:ext uri="{FF2B5EF4-FFF2-40B4-BE49-F238E27FC236}">
                  <a16:creationId xmlns:a16="http://schemas.microsoft.com/office/drawing/2014/main" id="{658DAB7C-D0B7-1127-9251-8E31DB6DE550}"/>
                </a:ext>
              </a:extLst>
            </p:cNvPr>
            <p:cNvSpPr txBox="1"/>
            <p:nvPr/>
          </p:nvSpPr>
          <p:spPr>
            <a:xfrm>
              <a:off x="2081473" y="3100832"/>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P</a:t>
              </a:r>
              <a:r>
                <a:rPr kumimoji="0" lang="en-US" sz="3000" b="1" i="0" u="none" strike="noStrike" kern="1200" cap="none" spc="0" normalizeH="0" baseline="0" noProof="0" dirty="0" err="1">
                  <a:ln>
                    <a:noFill/>
                  </a:ln>
                  <a:solidFill>
                    <a:srgbClr val="86BC25"/>
                  </a:solidFill>
                  <a:effectLst/>
                  <a:uLnTx/>
                  <a:uFillTx/>
                  <a:latin typeface="Segoe UI" panose="020B0502040204020203" pitchFamily="34" charset="0"/>
                  <a:ea typeface="+mn-ea"/>
                  <a:cs typeface="Segoe UI" panose="020B0502040204020203" pitchFamily="34" charset="0"/>
                  <a:sym typeface="Arial"/>
                </a:rPr>
                <a:t>revention</a:t>
              </a: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 Controls</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7" name="Graphic 4">
              <a:extLst>
                <a:ext uri="{FF2B5EF4-FFF2-40B4-BE49-F238E27FC236}">
                  <a16:creationId xmlns:a16="http://schemas.microsoft.com/office/drawing/2014/main" id="{513F206B-B2E7-858E-B26F-737BD89A2B1A}"/>
                </a:ext>
              </a:extLst>
            </p:cNvPr>
            <p:cNvGrpSpPr/>
            <p:nvPr/>
          </p:nvGrpSpPr>
          <p:grpSpPr>
            <a:xfrm>
              <a:off x="1299576" y="3062831"/>
              <a:ext cx="630000" cy="630000"/>
              <a:chOff x="3607758" y="918179"/>
              <a:chExt cx="362313" cy="361971"/>
            </a:xfrm>
            <a:solidFill>
              <a:schemeClr val="accent1"/>
            </a:solidFill>
          </p:grpSpPr>
          <p:sp>
            <p:nvSpPr>
              <p:cNvPr id="28" name="Graphic 4">
                <a:extLst>
                  <a:ext uri="{FF2B5EF4-FFF2-40B4-BE49-F238E27FC236}">
                    <a16:creationId xmlns:a16="http://schemas.microsoft.com/office/drawing/2014/main" id="{6D30F525-3A53-C116-464C-78A38C2685C5}"/>
                  </a:ext>
                </a:extLst>
              </p:cNvPr>
              <p:cNvSpPr/>
              <p:nvPr/>
            </p:nvSpPr>
            <p:spPr>
              <a:xfrm>
                <a:off x="3607758" y="918179"/>
                <a:ext cx="362313" cy="361971"/>
              </a:xfrm>
              <a:custGeom>
                <a:avLst/>
                <a:gdLst>
                  <a:gd name="connsiteX0" fmla="*/ 181474 w 362313"/>
                  <a:gd name="connsiteY0" fmla="*/ 0 h 361971"/>
                  <a:gd name="connsiteX1" fmla="*/ 0 w 362313"/>
                  <a:gd name="connsiteY1" fmla="*/ 180667 h 361971"/>
                  <a:gd name="connsiteX2" fmla="*/ 180836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181474 w 362313"/>
                  <a:gd name="connsiteY7" fmla="*/ 349204 h 361971"/>
                  <a:gd name="connsiteX8" fmla="*/ 12780 w 362313"/>
                  <a:gd name="connsiteY8" fmla="*/ 181305 h 361971"/>
                  <a:gd name="connsiteX9" fmla="*/ 180836 w 362313"/>
                  <a:gd name="connsiteY9" fmla="*/ 12768 h 361971"/>
                  <a:gd name="connsiteX10" fmla="*/ 349530 w 362313"/>
                  <a:gd name="connsiteY10" fmla="*/ 180667 h 361971"/>
                  <a:gd name="connsiteX11" fmla="*/ 349530 w 362313"/>
                  <a:gd name="connsiteY11" fmla="*/ 180667 h 361971"/>
                  <a:gd name="connsiteX12" fmla="*/ 181474 w 362313"/>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3" h="361971">
                    <a:moveTo>
                      <a:pt x="181474" y="0"/>
                    </a:moveTo>
                    <a:cubicBezTo>
                      <a:pt x="81152" y="0"/>
                      <a:pt x="0" y="81077"/>
                      <a:pt x="0" y="180667"/>
                    </a:cubicBezTo>
                    <a:cubicBezTo>
                      <a:pt x="0" y="280257"/>
                      <a:pt x="81152" y="361972"/>
                      <a:pt x="180836" y="361972"/>
                    </a:cubicBezTo>
                    <a:cubicBezTo>
                      <a:pt x="280518" y="361972"/>
                      <a:pt x="362310" y="280895"/>
                      <a:pt x="362310" y="181305"/>
                    </a:cubicBezTo>
                    <a:lnTo>
                      <a:pt x="362310" y="181305"/>
                    </a:lnTo>
                    <a:cubicBezTo>
                      <a:pt x="362949" y="81077"/>
                      <a:pt x="281796" y="0"/>
                      <a:pt x="181474" y="0"/>
                    </a:cubicBezTo>
                    <a:cubicBezTo>
                      <a:pt x="181474" y="0"/>
                      <a:pt x="181474" y="0"/>
                      <a:pt x="181474" y="0"/>
                    </a:cubicBezTo>
                    <a:close/>
                    <a:moveTo>
                      <a:pt x="181474" y="349204"/>
                    </a:moveTo>
                    <a:cubicBezTo>
                      <a:pt x="88181" y="349204"/>
                      <a:pt x="12780" y="273873"/>
                      <a:pt x="12780" y="181305"/>
                    </a:cubicBezTo>
                    <a:cubicBezTo>
                      <a:pt x="12780" y="88737"/>
                      <a:pt x="88181" y="12768"/>
                      <a:pt x="180836" y="12768"/>
                    </a:cubicBezTo>
                    <a:cubicBezTo>
                      <a:pt x="274128" y="12768"/>
                      <a:pt x="349530" y="88099"/>
                      <a:pt x="349530" y="180667"/>
                    </a:cubicBezTo>
                    <a:lnTo>
                      <a:pt x="349530" y="180667"/>
                    </a:lnTo>
                    <a:cubicBezTo>
                      <a:pt x="349530" y="273873"/>
                      <a:pt x="274128"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raphic 4">
                <a:extLst>
                  <a:ext uri="{FF2B5EF4-FFF2-40B4-BE49-F238E27FC236}">
                    <a16:creationId xmlns:a16="http://schemas.microsoft.com/office/drawing/2014/main" id="{4D710F34-9B3A-163F-B59B-49A1B023F646}"/>
                  </a:ext>
                </a:extLst>
              </p:cNvPr>
              <p:cNvSpPr/>
              <p:nvPr/>
            </p:nvSpPr>
            <p:spPr>
              <a:xfrm>
                <a:off x="3680603" y="1045220"/>
                <a:ext cx="136744" cy="158961"/>
              </a:xfrm>
              <a:custGeom>
                <a:avLst/>
                <a:gdLst>
                  <a:gd name="connsiteX0" fmla="*/ 118853 w 136744"/>
                  <a:gd name="connsiteY0" fmla="*/ 82992 h 158961"/>
                  <a:gd name="connsiteX1" fmla="*/ 118853 w 136744"/>
                  <a:gd name="connsiteY1" fmla="*/ 63840 h 158961"/>
                  <a:gd name="connsiteX2" fmla="*/ 75401 w 136744"/>
                  <a:gd name="connsiteY2" fmla="*/ 14683 h 158961"/>
                  <a:gd name="connsiteX3" fmla="*/ 75401 w 136744"/>
                  <a:gd name="connsiteY3" fmla="*/ 6384 h 158961"/>
                  <a:gd name="connsiteX4" fmla="*/ 69011 w 136744"/>
                  <a:gd name="connsiteY4" fmla="*/ 0 h 158961"/>
                  <a:gd name="connsiteX5" fmla="*/ 62621 w 136744"/>
                  <a:gd name="connsiteY5" fmla="*/ 6384 h 158961"/>
                  <a:gd name="connsiteX6" fmla="*/ 62621 w 136744"/>
                  <a:gd name="connsiteY6" fmla="*/ 14683 h 158961"/>
                  <a:gd name="connsiteX7" fmla="*/ 19170 w 136744"/>
                  <a:gd name="connsiteY7" fmla="*/ 63840 h 158961"/>
                  <a:gd name="connsiteX8" fmla="*/ 19170 w 136744"/>
                  <a:gd name="connsiteY8" fmla="*/ 82992 h 158961"/>
                  <a:gd name="connsiteX9" fmla="*/ 1917 w 136744"/>
                  <a:gd name="connsiteY9" fmla="*/ 121296 h 158961"/>
                  <a:gd name="connsiteX10" fmla="*/ 0 w 136744"/>
                  <a:gd name="connsiteY10" fmla="*/ 125764 h 158961"/>
                  <a:gd name="connsiteX11" fmla="*/ 0 w 136744"/>
                  <a:gd name="connsiteY11" fmla="*/ 135340 h 158961"/>
                  <a:gd name="connsiteX12" fmla="*/ 6390 w 136744"/>
                  <a:gd name="connsiteY12" fmla="*/ 141724 h 158961"/>
                  <a:gd name="connsiteX13" fmla="*/ 47925 w 136744"/>
                  <a:gd name="connsiteY13" fmla="*/ 141724 h 158961"/>
                  <a:gd name="connsiteX14" fmla="*/ 47925 w 136744"/>
                  <a:gd name="connsiteY14" fmla="*/ 143001 h 158961"/>
                  <a:gd name="connsiteX15" fmla="*/ 68372 w 136744"/>
                  <a:gd name="connsiteY15" fmla="*/ 158961 h 158961"/>
                  <a:gd name="connsiteX16" fmla="*/ 88820 w 136744"/>
                  <a:gd name="connsiteY16" fmla="*/ 143001 h 158961"/>
                  <a:gd name="connsiteX17" fmla="*/ 88820 w 136744"/>
                  <a:gd name="connsiteY17" fmla="*/ 141724 h 158961"/>
                  <a:gd name="connsiteX18" fmla="*/ 130355 w 136744"/>
                  <a:gd name="connsiteY18" fmla="*/ 141724 h 158961"/>
                  <a:gd name="connsiteX19" fmla="*/ 136745 w 136744"/>
                  <a:gd name="connsiteY19" fmla="*/ 135340 h 158961"/>
                  <a:gd name="connsiteX20" fmla="*/ 136745 w 136744"/>
                  <a:gd name="connsiteY20" fmla="*/ 125764 h 158961"/>
                  <a:gd name="connsiteX21" fmla="*/ 134828 w 136744"/>
                  <a:gd name="connsiteY21" fmla="*/ 121296 h 158961"/>
                  <a:gd name="connsiteX22" fmla="*/ 118853 w 136744"/>
                  <a:gd name="connsiteY22" fmla="*/ 82992 h 158961"/>
                  <a:gd name="connsiteX23" fmla="*/ 77318 w 136744"/>
                  <a:gd name="connsiteY23" fmla="*/ 143640 h 158961"/>
                  <a:gd name="connsiteX24" fmla="*/ 69650 w 136744"/>
                  <a:gd name="connsiteY24" fmla="*/ 146832 h 158961"/>
                  <a:gd name="connsiteX25" fmla="*/ 61982 w 136744"/>
                  <a:gd name="connsiteY25" fmla="*/ 143640 h 158961"/>
                  <a:gd name="connsiteX26" fmla="*/ 61982 w 136744"/>
                  <a:gd name="connsiteY26" fmla="*/ 142363 h 158961"/>
                  <a:gd name="connsiteX27" fmla="*/ 78596 w 136744"/>
                  <a:gd name="connsiteY27" fmla="*/ 142363 h 158961"/>
                  <a:gd name="connsiteX28" fmla="*/ 77318 w 136744"/>
                  <a:gd name="connsiteY28" fmla="*/ 143640 h 158961"/>
                  <a:gd name="connsiteX29" fmla="*/ 125243 w 136744"/>
                  <a:gd name="connsiteY29" fmla="*/ 129595 h 158961"/>
                  <a:gd name="connsiteX30" fmla="*/ 13419 w 136744"/>
                  <a:gd name="connsiteY30" fmla="*/ 129595 h 158961"/>
                  <a:gd name="connsiteX31" fmla="*/ 13419 w 136744"/>
                  <a:gd name="connsiteY31" fmla="*/ 128956 h 158961"/>
                  <a:gd name="connsiteX32" fmla="*/ 32589 w 136744"/>
                  <a:gd name="connsiteY32" fmla="*/ 82992 h 158961"/>
                  <a:gd name="connsiteX33" fmla="*/ 32589 w 136744"/>
                  <a:gd name="connsiteY33" fmla="*/ 63840 h 158961"/>
                  <a:gd name="connsiteX34" fmla="*/ 69650 w 136744"/>
                  <a:gd name="connsiteY34" fmla="*/ 26813 h 158961"/>
                  <a:gd name="connsiteX35" fmla="*/ 106712 w 136744"/>
                  <a:gd name="connsiteY35" fmla="*/ 63840 h 158961"/>
                  <a:gd name="connsiteX36" fmla="*/ 106712 w 136744"/>
                  <a:gd name="connsiteY36" fmla="*/ 82992 h 158961"/>
                  <a:gd name="connsiteX37" fmla="*/ 125243 w 136744"/>
                  <a:gd name="connsiteY37" fmla="*/ 129595 h 158961"/>
                  <a:gd name="connsiteX38" fmla="*/ 125243 w 136744"/>
                  <a:gd name="connsiteY38" fmla="*/ 129595 h 158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6744" h="158961">
                    <a:moveTo>
                      <a:pt x="118853" y="82992"/>
                    </a:moveTo>
                    <a:lnTo>
                      <a:pt x="118853" y="63840"/>
                    </a:lnTo>
                    <a:cubicBezTo>
                      <a:pt x="118853" y="38942"/>
                      <a:pt x="100322" y="17875"/>
                      <a:pt x="75401" y="14683"/>
                    </a:cubicBezTo>
                    <a:lnTo>
                      <a:pt x="75401" y="6384"/>
                    </a:lnTo>
                    <a:cubicBezTo>
                      <a:pt x="75401" y="2554"/>
                      <a:pt x="72845" y="0"/>
                      <a:pt x="69011" y="0"/>
                    </a:cubicBezTo>
                    <a:cubicBezTo>
                      <a:pt x="65177" y="0"/>
                      <a:pt x="62621" y="2554"/>
                      <a:pt x="62621" y="6384"/>
                    </a:cubicBezTo>
                    <a:lnTo>
                      <a:pt x="62621" y="14683"/>
                    </a:lnTo>
                    <a:cubicBezTo>
                      <a:pt x="37701" y="17875"/>
                      <a:pt x="19809" y="38942"/>
                      <a:pt x="19170" y="63840"/>
                    </a:cubicBezTo>
                    <a:lnTo>
                      <a:pt x="19170" y="82992"/>
                    </a:lnTo>
                    <a:cubicBezTo>
                      <a:pt x="19170" y="99590"/>
                      <a:pt x="15336" y="107889"/>
                      <a:pt x="1917" y="121296"/>
                    </a:cubicBezTo>
                    <a:cubicBezTo>
                      <a:pt x="639" y="122572"/>
                      <a:pt x="0" y="123849"/>
                      <a:pt x="0" y="125764"/>
                    </a:cubicBezTo>
                    <a:lnTo>
                      <a:pt x="0" y="135340"/>
                    </a:lnTo>
                    <a:cubicBezTo>
                      <a:pt x="0" y="139171"/>
                      <a:pt x="2556" y="141724"/>
                      <a:pt x="6390" y="141724"/>
                    </a:cubicBezTo>
                    <a:lnTo>
                      <a:pt x="47925" y="141724"/>
                    </a:lnTo>
                    <a:cubicBezTo>
                      <a:pt x="47925" y="142363"/>
                      <a:pt x="47925" y="143001"/>
                      <a:pt x="47925" y="143001"/>
                    </a:cubicBezTo>
                    <a:cubicBezTo>
                      <a:pt x="47925" y="151939"/>
                      <a:pt x="56871" y="158961"/>
                      <a:pt x="68372" y="158961"/>
                    </a:cubicBezTo>
                    <a:cubicBezTo>
                      <a:pt x="79874" y="158961"/>
                      <a:pt x="88820" y="151939"/>
                      <a:pt x="88820" y="143001"/>
                    </a:cubicBezTo>
                    <a:cubicBezTo>
                      <a:pt x="88820" y="142363"/>
                      <a:pt x="88820" y="141724"/>
                      <a:pt x="88820" y="141724"/>
                    </a:cubicBezTo>
                    <a:lnTo>
                      <a:pt x="130355" y="141724"/>
                    </a:lnTo>
                    <a:cubicBezTo>
                      <a:pt x="134189" y="141724"/>
                      <a:pt x="136745" y="139171"/>
                      <a:pt x="136745" y="135340"/>
                    </a:cubicBezTo>
                    <a:lnTo>
                      <a:pt x="136745" y="125764"/>
                    </a:lnTo>
                    <a:cubicBezTo>
                      <a:pt x="136745" y="123849"/>
                      <a:pt x="136106" y="122572"/>
                      <a:pt x="134828" y="121296"/>
                    </a:cubicBezTo>
                    <a:cubicBezTo>
                      <a:pt x="122048" y="107889"/>
                      <a:pt x="118853" y="100229"/>
                      <a:pt x="118853" y="82992"/>
                    </a:cubicBezTo>
                    <a:close/>
                    <a:moveTo>
                      <a:pt x="77318" y="143640"/>
                    </a:moveTo>
                    <a:cubicBezTo>
                      <a:pt x="77318" y="144278"/>
                      <a:pt x="74762" y="146832"/>
                      <a:pt x="69650" y="146832"/>
                    </a:cubicBezTo>
                    <a:cubicBezTo>
                      <a:pt x="64538" y="146832"/>
                      <a:pt x="61982" y="144278"/>
                      <a:pt x="61982" y="143640"/>
                    </a:cubicBezTo>
                    <a:cubicBezTo>
                      <a:pt x="61982" y="143001"/>
                      <a:pt x="61982" y="142363"/>
                      <a:pt x="61982" y="142363"/>
                    </a:cubicBezTo>
                    <a:lnTo>
                      <a:pt x="78596" y="142363"/>
                    </a:lnTo>
                    <a:cubicBezTo>
                      <a:pt x="77318" y="143001"/>
                      <a:pt x="77318" y="143640"/>
                      <a:pt x="77318" y="143640"/>
                    </a:cubicBezTo>
                    <a:close/>
                    <a:moveTo>
                      <a:pt x="125243" y="129595"/>
                    </a:moveTo>
                    <a:lnTo>
                      <a:pt x="13419" y="129595"/>
                    </a:lnTo>
                    <a:lnTo>
                      <a:pt x="13419" y="128956"/>
                    </a:lnTo>
                    <a:cubicBezTo>
                      <a:pt x="28116" y="113635"/>
                      <a:pt x="32589" y="102782"/>
                      <a:pt x="32589" y="82992"/>
                    </a:cubicBezTo>
                    <a:lnTo>
                      <a:pt x="32589" y="63840"/>
                    </a:lnTo>
                    <a:cubicBezTo>
                      <a:pt x="32589" y="43411"/>
                      <a:pt x="49203" y="26813"/>
                      <a:pt x="69650" y="26813"/>
                    </a:cubicBezTo>
                    <a:cubicBezTo>
                      <a:pt x="90098" y="26813"/>
                      <a:pt x="106712" y="43411"/>
                      <a:pt x="106712" y="63840"/>
                    </a:cubicBezTo>
                    <a:lnTo>
                      <a:pt x="106712" y="82992"/>
                    </a:lnTo>
                    <a:cubicBezTo>
                      <a:pt x="106073" y="102782"/>
                      <a:pt x="110546" y="113635"/>
                      <a:pt x="125243" y="129595"/>
                    </a:cubicBezTo>
                    <a:lnTo>
                      <a:pt x="125243" y="12959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raphic 4">
                <a:extLst>
                  <a:ext uri="{FF2B5EF4-FFF2-40B4-BE49-F238E27FC236}">
                    <a16:creationId xmlns:a16="http://schemas.microsoft.com/office/drawing/2014/main" id="{D11647FE-5349-161A-5499-37DB45907226}"/>
                  </a:ext>
                </a:extLst>
              </p:cNvPr>
              <p:cNvSpPr/>
              <p:nvPr/>
            </p:nvSpPr>
            <p:spPr>
              <a:xfrm>
                <a:off x="3778978" y="993011"/>
                <a:ext cx="130585" cy="132009"/>
              </a:xfrm>
              <a:custGeom>
                <a:avLst/>
                <a:gdLst>
                  <a:gd name="connsiteX0" fmla="*/ 128468 w 130585"/>
                  <a:gd name="connsiteY0" fmla="*/ 114772 h 132009"/>
                  <a:gd name="connsiteX1" fmla="*/ 56901 w 130585"/>
                  <a:gd name="connsiteY1" fmla="*/ 4968 h 132009"/>
                  <a:gd name="connsiteX2" fmla="*/ 39648 w 130585"/>
                  <a:gd name="connsiteY2" fmla="*/ 2414 h 132009"/>
                  <a:gd name="connsiteX3" fmla="*/ 37092 w 130585"/>
                  <a:gd name="connsiteY3" fmla="*/ 4968 h 132009"/>
                  <a:gd name="connsiteX4" fmla="*/ 1308 w 130585"/>
                  <a:gd name="connsiteY4" fmla="*/ 59870 h 132009"/>
                  <a:gd name="connsiteX5" fmla="*/ 2586 w 130585"/>
                  <a:gd name="connsiteY5" fmla="*/ 68808 h 132009"/>
                  <a:gd name="connsiteX6" fmla="*/ 11532 w 130585"/>
                  <a:gd name="connsiteY6" fmla="*/ 67531 h 132009"/>
                  <a:gd name="connsiteX7" fmla="*/ 12171 w 130585"/>
                  <a:gd name="connsiteY7" fmla="*/ 66893 h 132009"/>
                  <a:gd name="connsiteX8" fmla="*/ 47316 w 130585"/>
                  <a:gd name="connsiteY8" fmla="*/ 13267 h 132009"/>
                  <a:gd name="connsiteX9" fmla="*/ 116327 w 130585"/>
                  <a:gd name="connsiteY9" fmla="*/ 119241 h 132009"/>
                  <a:gd name="connsiteX10" fmla="*/ 32619 w 130585"/>
                  <a:gd name="connsiteY10" fmla="*/ 119241 h 132009"/>
                  <a:gd name="connsiteX11" fmla="*/ 26229 w 130585"/>
                  <a:gd name="connsiteY11" fmla="*/ 125625 h 132009"/>
                  <a:gd name="connsiteX12" fmla="*/ 32619 w 130585"/>
                  <a:gd name="connsiteY12" fmla="*/ 132009 h 132009"/>
                  <a:gd name="connsiteX13" fmla="*/ 118883 w 130585"/>
                  <a:gd name="connsiteY13" fmla="*/ 132009 h 132009"/>
                  <a:gd name="connsiteX14" fmla="*/ 129746 w 130585"/>
                  <a:gd name="connsiteY14" fmla="*/ 125625 h 132009"/>
                  <a:gd name="connsiteX15" fmla="*/ 128468 w 130585"/>
                  <a:gd name="connsiteY15" fmla="*/ 114772 h 132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585" h="132009">
                    <a:moveTo>
                      <a:pt x="128468" y="114772"/>
                    </a:moveTo>
                    <a:lnTo>
                      <a:pt x="56901" y="4968"/>
                    </a:lnTo>
                    <a:cubicBezTo>
                      <a:pt x="53067" y="-778"/>
                      <a:pt x="44760" y="-1416"/>
                      <a:pt x="39648" y="2414"/>
                    </a:cubicBezTo>
                    <a:cubicBezTo>
                      <a:pt x="39009" y="3053"/>
                      <a:pt x="37731" y="3691"/>
                      <a:pt x="37092" y="4968"/>
                    </a:cubicBezTo>
                    <a:lnTo>
                      <a:pt x="1308" y="59870"/>
                    </a:lnTo>
                    <a:cubicBezTo>
                      <a:pt x="-609" y="62424"/>
                      <a:pt x="-609" y="66893"/>
                      <a:pt x="2586" y="68808"/>
                    </a:cubicBezTo>
                    <a:cubicBezTo>
                      <a:pt x="5142" y="70723"/>
                      <a:pt x="9615" y="70723"/>
                      <a:pt x="11532" y="67531"/>
                    </a:cubicBezTo>
                    <a:cubicBezTo>
                      <a:pt x="11532" y="67531"/>
                      <a:pt x="12171" y="66893"/>
                      <a:pt x="12171" y="66893"/>
                    </a:cubicBezTo>
                    <a:lnTo>
                      <a:pt x="47316" y="13267"/>
                    </a:lnTo>
                    <a:lnTo>
                      <a:pt x="116327" y="119241"/>
                    </a:lnTo>
                    <a:lnTo>
                      <a:pt x="32619" y="119241"/>
                    </a:lnTo>
                    <a:cubicBezTo>
                      <a:pt x="28785" y="119241"/>
                      <a:pt x="26229" y="121795"/>
                      <a:pt x="26229" y="125625"/>
                    </a:cubicBezTo>
                    <a:cubicBezTo>
                      <a:pt x="26229" y="129456"/>
                      <a:pt x="28785" y="132009"/>
                      <a:pt x="32619" y="132009"/>
                    </a:cubicBezTo>
                    <a:lnTo>
                      <a:pt x="118883" y="132009"/>
                    </a:lnTo>
                    <a:cubicBezTo>
                      <a:pt x="123356" y="132009"/>
                      <a:pt x="127190" y="129456"/>
                      <a:pt x="129746" y="125625"/>
                    </a:cubicBezTo>
                    <a:cubicBezTo>
                      <a:pt x="131024" y="122433"/>
                      <a:pt x="131024" y="117964"/>
                      <a:pt x="128468" y="11477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raphic 4">
                <a:extLst>
                  <a:ext uri="{FF2B5EF4-FFF2-40B4-BE49-F238E27FC236}">
                    <a16:creationId xmlns:a16="http://schemas.microsoft.com/office/drawing/2014/main" id="{E4410A30-B8A7-AD6D-9657-4CC4E75037EA}"/>
                  </a:ext>
                </a:extLst>
              </p:cNvPr>
              <p:cNvSpPr/>
              <p:nvPr/>
            </p:nvSpPr>
            <p:spPr>
              <a:xfrm>
                <a:off x="3819904" y="1031175"/>
                <a:ext cx="12779" cy="50433"/>
              </a:xfrm>
              <a:custGeom>
                <a:avLst/>
                <a:gdLst>
                  <a:gd name="connsiteX0" fmla="*/ 6390 w 12779"/>
                  <a:gd name="connsiteY0" fmla="*/ 50434 h 50433"/>
                  <a:gd name="connsiteX1" fmla="*/ 12780 w 12779"/>
                  <a:gd name="connsiteY1" fmla="*/ 44050 h 50433"/>
                  <a:gd name="connsiteX2" fmla="*/ 12780 w 12779"/>
                  <a:gd name="connsiteY2" fmla="*/ 6384 h 50433"/>
                  <a:gd name="connsiteX3" fmla="*/ 6390 w 12779"/>
                  <a:gd name="connsiteY3" fmla="*/ 0 h 50433"/>
                  <a:gd name="connsiteX4" fmla="*/ 0 w 12779"/>
                  <a:gd name="connsiteY4" fmla="*/ 6384 h 50433"/>
                  <a:gd name="connsiteX5" fmla="*/ 0 w 12779"/>
                  <a:gd name="connsiteY5" fmla="*/ 44050 h 50433"/>
                  <a:gd name="connsiteX6" fmla="*/ 6390 w 12779"/>
                  <a:gd name="connsiteY6" fmla="*/ 50434 h 5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50433">
                    <a:moveTo>
                      <a:pt x="6390" y="50434"/>
                    </a:moveTo>
                    <a:cubicBezTo>
                      <a:pt x="10224" y="50434"/>
                      <a:pt x="12780" y="47880"/>
                      <a:pt x="12780" y="44050"/>
                    </a:cubicBezTo>
                    <a:lnTo>
                      <a:pt x="12780" y="6384"/>
                    </a:lnTo>
                    <a:cubicBezTo>
                      <a:pt x="12780" y="2554"/>
                      <a:pt x="10224" y="0"/>
                      <a:pt x="6390" y="0"/>
                    </a:cubicBezTo>
                    <a:cubicBezTo>
                      <a:pt x="2556" y="0"/>
                      <a:pt x="0" y="2554"/>
                      <a:pt x="0" y="6384"/>
                    </a:cubicBezTo>
                    <a:lnTo>
                      <a:pt x="0" y="44050"/>
                    </a:lnTo>
                    <a:cubicBezTo>
                      <a:pt x="0" y="47880"/>
                      <a:pt x="3195" y="50434"/>
                      <a:pt x="6390" y="5043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raphic 4">
                <a:extLst>
                  <a:ext uri="{FF2B5EF4-FFF2-40B4-BE49-F238E27FC236}">
                    <a16:creationId xmlns:a16="http://schemas.microsoft.com/office/drawing/2014/main" id="{8B6A42BF-CF4E-59C5-49A4-8A03D71532C4}"/>
                  </a:ext>
                </a:extLst>
              </p:cNvPr>
              <p:cNvSpPr/>
              <p:nvPr/>
            </p:nvSpPr>
            <p:spPr>
              <a:xfrm>
                <a:off x="3819904" y="1085439"/>
                <a:ext cx="12779" cy="20428"/>
              </a:xfrm>
              <a:custGeom>
                <a:avLst/>
                <a:gdLst>
                  <a:gd name="connsiteX0" fmla="*/ 0 w 12779"/>
                  <a:gd name="connsiteY0" fmla="*/ 14045 h 20428"/>
                  <a:gd name="connsiteX1" fmla="*/ 6390 w 12779"/>
                  <a:gd name="connsiteY1" fmla="*/ 20429 h 20428"/>
                  <a:gd name="connsiteX2" fmla="*/ 12780 w 12779"/>
                  <a:gd name="connsiteY2" fmla="*/ 14045 h 20428"/>
                  <a:gd name="connsiteX3" fmla="*/ 12780 w 12779"/>
                  <a:gd name="connsiteY3" fmla="*/ 6384 h 20428"/>
                  <a:gd name="connsiteX4" fmla="*/ 6390 w 12779"/>
                  <a:gd name="connsiteY4" fmla="*/ 0 h 20428"/>
                  <a:gd name="connsiteX5" fmla="*/ 0 w 12779"/>
                  <a:gd name="connsiteY5" fmla="*/ 6384 h 20428"/>
                  <a:gd name="connsiteX6" fmla="*/ 0 w 12779"/>
                  <a:gd name="connsiteY6" fmla="*/ 14045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0428">
                    <a:moveTo>
                      <a:pt x="0" y="14045"/>
                    </a:moveTo>
                    <a:cubicBezTo>
                      <a:pt x="0" y="17875"/>
                      <a:pt x="2556" y="20429"/>
                      <a:pt x="6390" y="20429"/>
                    </a:cubicBezTo>
                    <a:cubicBezTo>
                      <a:pt x="10224" y="20429"/>
                      <a:pt x="12780" y="17875"/>
                      <a:pt x="12780" y="14045"/>
                    </a:cubicBezTo>
                    <a:lnTo>
                      <a:pt x="12780" y="6384"/>
                    </a:lnTo>
                    <a:cubicBezTo>
                      <a:pt x="12780" y="2554"/>
                      <a:pt x="10224" y="0"/>
                      <a:pt x="6390" y="0"/>
                    </a:cubicBezTo>
                    <a:cubicBezTo>
                      <a:pt x="2556" y="0"/>
                      <a:pt x="0" y="2554"/>
                      <a:pt x="0" y="6384"/>
                    </a:cubicBezTo>
                    <a:lnTo>
                      <a:pt x="0" y="1404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3" name="Group 52">
            <a:extLst>
              <a:ext uri="{FF2B5EF4-FFF2-40B4-BE49-F238E27FC236}">
                <a16:creationId xmlns:a16="http://schemas.microsoft.com/office/drawing/2014/main" id="{5E22976E-4F1B-A61B-2C3F-8BCF09AD21FC}"/>
              </a:ext>
            </a:extLst>
          </p:cNvPr>
          <p:cNvGrpSpPr/>
          <p:nvPr/>
        </p:nvGrpSpPr>
        <p:grpSpPr>
          <a:xfrm>
            <a:off x="1299576" y="1790789"/>
            <a:ext cx="6117223" cy="630000"/>
            <a:chOff x="1299577" y="2237829"/>
            <a:chExt cx="6117223" cy="630000"/>
          </a:xfrm>
        </p:grpSpPr>
        <p:sp>
          <p:nvSpPr>
            <p:cNvPr id="15" name="TextBox 14">
              <a:extLst>
                <a:ext uri="{FF2B5EF4-FFF2-40B4-BE49-F238E27FC236}">
                  <a16:creationId xmlns:a16="http://schemas.microsoft.com/office/drawing/2014/main" id="{431A9C8B-15A0-D509-28B2-BF2DBFD755C7}"/>
                </a:ext>
              </a:extLst>
            </p:cNvPr>
            <p:cNvSpPr txBox="1"/>
            <p:nvPr/>
          </p:nvSpPr>
          <p:spPr>
            <a:xfrm>
              <a:off x="2081473" y="2275830"/>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T</a:t>
              </a:r>
              <a:r>
                <a:rPr kumimoji="0" lang="en-US" sz="3000" b="1" i="0" u="none" strike="noStrike" kern="1200" cap="none" spc="0" normalizeH="0" baseline="0" noProof="0" dirty="0" err="1">
                  <a:ln>
                    <a:noFill/>
                  </a:ln>
                  <a:solidFill>
                    <a:srgbClr val="86BC25"/>
                  </a:solidFill>
                  <a:effectLst/>
                  <a:uLnTx/>
                  <a:uFillTx/>
                  <a:latin typeface="Segoe UI" panose="020B0502040204020203" pitchFamily="34" charset="0"/>
                  <a:ea typeface="+mn-ea"/>
                  <a:cs typeface="Segoe UI" panose="020B0502040204020203" pitchFamily="34" charset="0"/>
                  <a:sym typeface="Arial"/>
                </a:rPr>
                <a:t>hird</a:t>
              </a: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-party Intelligence</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3" name="Graphic 4">
              <a:extLst>
                <a:ext uri="{FF2B5EF4-FFF2-40B4-BE49-F238E27FC236}">
                  <a16:creationId xmlns:a16="http://schemas.microsoft.com/office/drawing/2014/main" id="{3C965E2E-69E2-F8D5-33C6-564951532413}"/>
                </a:ext>
              </a:extLst>
            </p:cNvPr>
            <p:cNvGrpSpPr/>
            <p:nvPr/>
          </p:nvGrpSpPr>
          <p:grpSpPr>
            <a:xfrm>
              <a:off x="1299577" y="2237829"/>
              <a:ext cx="630000" cy="630000"/>
              <a:chOff x="467743" y="3339623"/>
              <a:chExt cx="361670" cy="361333"/>
            </a:xfrm>
            <a:solidFill>
              <a:schemeClr val="accent1"/>
            </a:solidFill>
          </p:grpSpPr>
          <p:sp>
            <p:nvSpPr>
              <p:cNvPr id="42" name="Graphic 4">
                <a:extLst>
                  <a:ext uri="{FF2B5EF4-FFF2-40B4-BE49-F238E27FC236}">
                    <a16:creationId xmlns:a16="http://schemas.microsoft.com/office/drawing/2014/main" id="{E59F6E86-CE69-9421-1A9E-538B37B69F9D}"/>
                  </a:ext>
                </a:extLst>
              </p:cNvPr>
              <p:cNvSpPr/>
              <p:nvPr/>
            </p:nvSpPr>
            <p:spPr>
              <a:xfrm>
                <a:off x="467743" y="333962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8"/>
                      <a:pt x="88181" y="13406"/>
                      <a:pt x="180835" y="13406"/>
                    </a:cubicBezTo>
                    <a:cubicBezTo>
                      <a:pt x="273489" y="13406"/>
                      <a:pt x="348891" y="88738"/>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raphic 4">
                <a:extLst>
                  <a:ext uri="{FF2B5EF4-FFF2-40B4-BE49-F238E27FC236}">
                    <a16:creationId xmlns:a16="http://schemas.microsoft.com/office/drawing/2014/main" id="{CD890451-B26E-8D46-C39A-A23C07087FF4}"/>
                  </a:ext>
                </a:extLst>
              </p:cNvPr>
              <p:cNvSpPr/>
              <p:nvPr/>
            </p:nvSpPr>
            <p:spPr>
              <a:xfrm>
                <a:off x="668155" y="3455808"/>
                <a:ext cx="108483" cy="130875"/>
              </a:xfrm>
              <a:custGeom>
                <a:avLst/>
                <a:gdLst>
                  <a:gd name="connsiteX0" fmla="*/ 105027 w 108483"/>
                  <a:gd name="connsiteY0" fmla="*/ 118746 h 130875"/>
                  <a:gd name="connsiteX1" fmla="*/ 83941 w 108483"/>
                  <a:gd name="connsiteY1" fmla="*/ 113000 h 130875"/>
                  <a:gd name="connsiteX2" fmla="*/ 71161 w 108483"/>
                  <a:gd name="connsiteY2" fmla="*/ 109808 h 130875"/>
                  <a:gd name="connsiteX3" fmla="*/ 65410 w 108483"/>
                  <a:gd name="connsiteY3" fmla="*/ 92572 h 130875"/>
                  <a:gd name="connsiteX4" fmla="*/ 79468 w 108483"/>
                  <a:gd name="connsiteY4" fmla="*/ 60013 h 130875"/>
                  <a:gd name="connsiteX5" fmla="*/ 73717 w 108483"/>
                  <a:gd name="connsiteY5" fmla="*/ 14687 h 130875"/>
                  <a:gd name="connsiteX6" fmla="*/ 41128 w 108483"/>
                  <a:gd name="connsiteY6" fmla="*/ 4 h 130875"/>
                  <a:gd name="connsiteX7" fmla="*/ 8539 w 108483"/>
                  <a:gd name="connsiteY7" fmla="*/ 14687 h 130875"/>
                  <a:gd name="connsiteX8" fmla="*/ 2788 w 108483"/>
                  <a:gd name="connsiteY8" fmla="*/ 60013 h 130875"/>
                  <a:gd name="connsiteX9" fmla="*/ 16846 w 108483"/>
                  <a:gd name="connsiteY9" fmla="*/ 92572 h 130875"/>
                  <a:gd name="connsiteX10" fmla="*/ 11734 w 108483"/>
                  <a:gd name="connsiteY10" fmla="*/ 109808 h 130875"/>
                  <a:gd name="connsiteX11" fmla="*/ 10456 w 108483"/>
                  <a:gd name="connsiteY11" fmla="*/ 118746 h 130875"/>
                  <a:gd name="connsiteX12" fmla="*/ 19402 w 108483"/>
                  <a:gd name="connsiteY12" fmla="*/ 120023 h 130875"/>
                  <a:gd name="connsiteX13" fmla="*/ 27709 w 108483"/>
                  <a:gd name="connsiteY13" fmla="*/ 84911 h 130875"/>
                  <a:gd name="connsiteX14" fmla="*/ 15568 w 108483"/>
                  <a:gd name="connsiteY14" fmla="*/ 56821 h 130875"/>
                  <a:gd name="connsiteX15" fmla="*/ 18763 w 108483"/>
                  <a:gd name="connsiteY15" fmla="*/ 22348 h 130875"/>
                  <a:gd name="connsiteX16" fmla="*/ 41767 w 108483"/>
                  <a:gd name="connsiteY16" fmla="*/ 12772 h 130875"/>
                  <a:gd name="connsiteX17" fmla="*/ 64132 w 108483"/>
                  <a:gd name="connsiteY17" fmla="*/ 22348 h 130875"/>
                  <a:gd name="connsiteX18" fmla="*/ 67327 w 108483"/>
                  <a:gd name="connsiteY18" fmla="*/ 56821 h 130875"/>
                  <a:gd name="connsiteX19" fmla="*/ 55186 w 108483"/>
                  <a:gd name="connsiteY19" fmla="*/ 84911 h 130875"/>
                  <a:gd name="connsiteX20" fmla="*/ 64132 w 108483"/>
                  <a:gd name="connsiteY20" fmla="*/ 120023 h 130875"/>
                  <a:gd name="connsiteX21" fmla="*/ 82663 w 108483"/>
                  <a:gd name="connsiteY21" fmla="*/ 125130 h 130875"/>
                  <a:gd name="connsiteX22" fmla="*/ 98637 w 108483"/>
                  <a:gd name="connsiteY22" fmla="*/ 129599 h 130875"/>
                  <a:gd name="connsiteX23" fmla="*/ 101832 w 108483"/>
                  <a:gd name="connsiteY23" fmla="*/ 130875 h 130875"/>
                  <a:gd name="connsiteX24" fmla="*/ 107583 w 108483"/>
                  <a:gd name="connsiteY24" fmla="*/ 127683 h 130875"/>
                  <a:gd name="connsiteX25" fmla="*/ 105027 w 108483"/>
                  <a:gd name="connsiteY25" fmla="*/ 118746 h 13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483" h="130875">
                    <a:moveTo>
                      <a:pt x="105027" y="118746"/>
                    </a:moveTo>
                    <a:cubicBezTo>
                      <a:pt x="98637" y="114915"/>
                      <a:pt x="90969" y="113639"/>
                      <a:pt x="83941" y="113000"/>
                    </a:cubicBezTo>
                    <a:cubicBezTo>
                      <a:pt x="78829" y="112362"/>
                      <a:pt x="73078" y="111723"/>
                      <a:pt x="71161" y="109808"/>
                    </a:cubicBezTo>
                    <a:cubicBezTo>
                      <a:pt x="65410" y="105339"/>
                      <a:pt x="64771" y="95125"/>
                      <a:pt x="65410" y="92572"/>
                    </a:cubicBezTo>
                    <a:cubicBezTo>
                      <a:pt x="71161" y="84911"/>
                      <a:pt x="76912" y="71504"/>
                      <a:pt x="79468" y="60013"/>
                    </a:cubicBezTo>
                    <a:cubicBezTo>
                      <a:pt x="83941" y="40223"/>
                      <a:pt x="82024" y="25540"/>
                      <a:pt x="73717" y="14687"/>
                    </a:cubicBezTo>
                    <a:cubicBezTo>
                      <a:pt x="61576" y="4"/>
                      <a:pt x="41767" y="4"/>
                      <a:pt x="41128" y="4"/>
                    </a:cubicBezTo>
                    <a:cubicBezTo>
                      <a:pt x="40489" y="4"/>
                      <a:pt x="20680" y="-635"/>
                      <a:pt x="8539" y="14687"/>
                    </a:cubicBezTo>
                    <a:cubicBezTo>
                      <a:pt x="-407" y="25540"/>
                      <a:pt x="-2324" y="40861"/>
                      <a:pt x="2788" y="60013"/>
                    </a:cubicBezTo>
                    <a:cubicBezTo>
                      <a:pt x="5344" y="71504"/>
                      <a:pt x="11095" y="84911"/>
                      <a:pt x="16846" y="92572"/>
                    </a:cubicBezTo>
                    <a:cubicBezTo>
                      <a:pt x="18124" y="94487"/>
                      <a:pt x="17485" y="105339"/>
                      <a:pt x="11734" y="109808"/>
                    </a:cubicBezTo>
                    <a:cubicBezTo>
                      <a:pt x="9178" y="111723"/>
                      <a:pt x="8539" y="116192"/>
                      <a:pt x="10456" y="118746"/>
                    </a:cubicBezTo>
                    <a:cubicBezTo>
                      <a:pt x="12373" y="121299"/>
                      <a:pt x="16846" y="121938"/>
                      <a:pt x="19402" y="120023"/>
                    </a:cubicBezTo>
                    <a:cubicBezTo>
                      <a:pt x="30904" y="111085"/>
                      <a:pt x="32821" y="92572"/>
                      <a:pt x="27709" y="84911"/>
                    </a:cubicBezTo>
                    <a:cubicBezTo>
                      <a:pt x="23236" y="78527"/>
                      <a:pt x="18124" y="67036"/>
                      <a:pt x="15568" y="56821"/>
                    </a:cubicBezTo>
                    <a:cubicBezTo>
                      <a:pt x="11734" y="41500"/>
                      <a:pt x="13012" y="30009"/>
                      <a:pt x="18763" y="22348"/>
                    </a:cubicBezTo>
                    <a:cubicBezTo>
                      <a:pt x="26431" y="12772"/>
                      <a:pt x="41128" y="12772"/>
                      <a:pt x="41767" y="12772"/>
                    </a:cubicBezTo>
                    <a:cubicBezTo>
                      <a:pt x="41767" y="12772"/>
                      <a:pt x="56464" y="12772"/>
                      <a:pt x="64132" y="22348"/>
                    </a:cubicBezTo>
                    <a:cubicBezTo>
                      <a:pt x="69883" y="30009"/>
                      <a:pt x="71161" y="41500"/>
                      <a:pt x="67327" y="56821"/>
                    </a:cubicBezTo>
                    <a:cubicBezTo>
                      <a:pt x="64771" y="67036"/>
                      <a:pt x="59659" y="78527"/>
                      <a:pt x="55186" y="84911"/>
                    </a:cubicBezTo>
                    <a:cubicBezTo>
                      <a:pt x="50074" y="91933"/>
                      <a:pt x="51352" y="111085"/>
                      <a:pt x="64132" y="120023"/>
                    </a:cubicBezTo>
                    <a:cubicBezTo>
                      <a:pt x="69244" y="123215"/>
                      <a:pt x="75634" y="123853"/>
                      <a:pt x="82663" y="125130"/>
                    </a:cubicBezTo>
                    <a:cubicBezTo>
                      <a:pt x="88414" y="125768"/>
                      <a:pt x="94803" y="127045"/>
                      <a:pt x="98637" y="129599"/>
                    </a:cubicBezTo>
                    <a:cubicBezTo>
                      <a:pt x="99915" y="130237"/>
                      <a:pt x="100554" y="130875"/>
                      <a:pt x="101832" y="130875"/>
                    </a:cubicBezTo>
                    <a:cubicBezTo>
                      <a:pt x="103749" y="130875"/>
                      <a:pt x="106305" y="129599"/>
                      <a:pt x="107583" y="127683"/>
                    </a:cubicBezTo>
                    <a:cubicBezTo>
                      <a:pt x="109500" y="124491"/>
                      <a:pt x="108222" y="120661"/>
                      <a:pt x="105027" y="118746"/>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raphic 4">
                <a:extLst>
                  <a:ext uri="{FF2B5EF4-FFF2-40B4-BE49-F238E27FC236}">
                    <a16:creationId xmlns:a16="http://schemas.microsoft.com/office/drawing/2014/main" id="{99A9BAD6-7B17-1FC1-95DD-4EA5865C7B69}"/>
                  </a:ext>
                </a:extLst>
              </p:cNvPr>
              <p:cNvSpPr/>
              <p:nvPr/>
            </p:nvSpPr>
            <p:spPr>
              <a:xfrm>
                <a:off x="520929" y="3437934"/>
                <a:ext cx="168945" cy="164070"/>
              </a:xfrm>
              <a:custGeom>
                <a:avLst/>
                <a:gdLst>
                  <a:gd name="connsiteX0" fmla="*/ 164711 w 168945"/>
                  <a:gd name="connsiteY0" fmla="*/ 152580 h 164070"/>
                  <a:gd name="connsiteX1" fmla="*/ 135317 w 168945"/>
                  <a:gd name="connsiteY1" fmla="*/ 146196 h 164070"/>
                  <a:gd name="connsiteX2" fmla="*/ 121899 w 168945"/>
                  <a:gd name="connsiteY2" fmla="*/ 143642 h 164070"/>
                  <a:gd name="connsiteX3" fmla="*/ 111675 w 168945"/>
                  <a:gd name="connsiteY3" fmla="*/ 116191 h 164070"/>
                  <a:gd name="connsiteX4" fmla="*/ 129566 w 168945"/>
                  <a:gd name="connsiteY4" fmla="*/ 74695 h 164070"/>
                  <a:gd name="connsiteX5" fmla="*/ 122538 w 168945"/>
                  <a:gd name="connsiteY5" fmla="*/ 17239 h 164070"/>
                  <a:gd name="connsiteX6" fmla="*/ 84198 w 168945"/>
                  <a:gd name="connsiteY6" fmla="*/ 3 h 164070"/>
                  <a:gd name="connsiteX7" fmla="*/ 45858 w 168945"/>
                  <a:gd name="connsiteY7" fmla="*/ 17239 h 164070"/>
                  <a:gd name="connsiteX8" fmla="*/ 38829 w 168945"/>
                  <a:gd name="connsiteY8" fmla="*/ 74695 h 164070"/>
                  <a:gd name="connsiteX9" fmla="*/ 56721 w 168945"/>
                  <a:gd name="connsiteY9" fmla="*/ 115553 h 164070"/>
                  <a:gd name="connsiteX10" fmla="*/ 46497 w 168945"/>
                  <a:gd name="connsiteY10" fmla="*/ 143004 h 164070"/>
                  <a:gd name="connsiteX11" fmla="*/ 33078 w 168945"/>
                  <a:gd name="connsiteY11" fmla="*/ 145558 h 164070"/>
                  <a:gd name="connsiteX12" fmla="*/ 3685 w 168945"/>
                  <a:gd name="connsiteY12" fmla="*/ 151942 h 164070"/>
                  <a:gd name="connsiteX13" fmla="*/ 490 w 168945"/>
                  <a:gd name="connsiteY13" fmla="*/ 160241 h 164070"/>
                  <a:gd name="connsiteX14" fmla="*/ 8797 w 168945"/>
                  <a:gd name="connsiteY14" fmla="*/ 163433 h 164070"/>
                  <a:gd name="connsiteX15" fmla="*/ 33717 w 168945"/>
                  <a:gd name="connsiteY15" fmla="*/ 158326 h 164070"/>
                  <a:gd name="connsiteX16" fmla="*/ 52887 w 168945"/>
                  <a:gd name="connsiteY16" fmla="*/ 154495 h 164070"/>
                  <a:gd name="connsiteX17" fmla="*/ 68862 w 168945"/>
                  <a:gd name="connsiteY17" fmla="*/ 128959 h 164070"/>
                  <a:gd name="connsiteX18" fmla="*/ 67584 w 168945"/>
                  <a:gd name="connsiteY18" fmla="*/ 108531 h 164070"/>
                  <a:gd name="connsiteX19" fmla="*/ 51609 w 168945"/>
                  <a:gd name="connsiteY19" fmla="*/ 71503 h 164070"/>
                  <a:gd name="connsiteX20" fmla="*/ 56082 w 168945"/>
                  <a:gd name="connsiteY20" fmla="*/ 24900 h 164070"/>
                  <a:gd name="connsiteX21" fmla="*/ 84837 w 168945"/>
                  <a:gd name="connsiteY21" fmla="*/ 12771 h 164070"/>
                  <a:gd name="connsiteX22" fmla="*/ 112953 w 168945"/>
                  <a:gd name="connsiteY22" fmla="*/ 24900 h 164070"/>
                  <a:gd name="connsiteX23" fmla="*/ 117426 w 168945"/>
                  <a:gd name="connsiteY23" fmla="*/ 71503 h 164070"/>
                  <a:gd name="connsiteX24" fmla="*/ 101451 w 168945"/>
                  <a:gd name="connsiteY24" fmla="*/ 108531 h 164070"/>
                  <a:gd name="connsiteX25" fmla="*/ 100173 w 168945"/>
                  <a:gd name="connsiteY25" fmla="*/ 128959 h 164070"/>
                  <a:gd name="connsiteX26" fmla="*/ 116148 w 168945"/>
                  <a:gd name="connsiteY26" fmla="*/ 154495 h 164070"/>
                  <a:gd name="connsiteX27" fmla="*/ 135317 w 168945"/>
                  <a:gd name="connsiteY27" fmla="*/ 158326 h 164070"/>
                  <a:gd name="connsiteX28" fmla="*/ 160238 w 168945"/>
                  <a:gd name="connsiteY28" fmla="*/ 163433 h 164070"/>
                  <a:gd name="connsiteX29" fmla="*/ 162794 w 168945"/>
                  <a:gd name="connsiteY29" fmla="*/ 164071 h 164070"/>
                  <a:gd name="connsiteX30" fmla="*/ 168545 w 168945"/>
                  <a:gd name="connsiteY30" fmla="*/ 160241 h 164070"/>
                  <a:gd name="connsiteX31" fmla="*/ 164711 w 168945"/>
                  <a:gd name="connsiteY31" fmla="*/ 152580 h 1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945" h="164070">
                    <a:moveTo>
                      <a:pt x="164711" y="152580"/>
                    </a:moveTo>
                    <a:cubicBezTo>
                      <a:pt x="153209" y="147473"/>
                      <a:pt x="142985" y="146834"/>
                      <a:pt x="135317" y="146196"/>
                    </a:cubicBezTo>
                    <a:cubicBezTo>
                      <a:pt x="129566" y="146196"/>
                      <a:pt x="125093" y="145558"/>
                      <a:pt x="121899" y="143642"/>
                    </a:cubicBezTo>
                    <a:cubicBezTo>
                      <a:pt x="114870" y="139812"/>
                      <a:pt x="109758" y="120660"/>
                      <a:pt x="111675" y="116191"/>
                    </a:cubicBezTo>
                    <a:cubicBezTo>
                      <a:pt x="118704" y="106615"/>
                      <a:pt x="125732" y="89379"/>
                      <a:pt x="129566" y="74695"/>
                    </a:cubicBezTo>
                    <a:cubicBezTo>
                      <a:pt x="135317" y="49798"/>
                      <a:pt x="133400" y="30007"/>
                      <a:pt x="122538" y="17239"/>
                    </a:cubicBezTo>
                    <a:cubicBezTo>
                      <a:pt x="108480" y="3"/>
                      <a:pt x="85476" y="3"/>
                      <a:pt x="84198" y="3"/>
                    </a:cubicBezTo>
                    <a:cubicBezTo>
                      <a:pt x="83559" y="3"/>
                      <a:pt x="59916" y="-636"/>
                      <a:pt x="45858" y="17239"/>
                    </a:cubicBezTo>
                    <a:cubicBezTo>
                      <a:pt x="34995" y="30646"/>
                      <a:pt x="32439" y="49798"/>
                      <a:pt x="38829" y="74695"/>
                    </a:cubicBezTo>
                    <a:cubicBezTo>
                      <a:pt x="42663" y="89379"/>
                      <a:pt x="49692" y="106615"/>
                      <a:pt x="56721" y="115553"/>
                    </a:cubicBezTo>
                    <a:cubicBezTo>
                      <a:pt x="58638" y="120022"/>
                      <a:pt x="53526" y="139174"/>
                      <a:pt x="46497" y="143004"/>
                    </a:cubicBezTo>
                    <a:cubicBezTo>
                      <a:pt x="43302" y="144919"/>
                      <a:pt x="38829" y="144919"/>
                      <a:pt x="33078" y="145558"/>
                    </a:cubicBezTo>
                    <a:cubicBezTo>
                      <a:pt x="24772" y="146196"/>
                      <a:pt x="15187" y="146196"/>
                      <a:pt x="3685" y="151942"/>
                    </a:cubicBezTo>
                    <a:cubicBezTo>
                      <a:pt x="490" y="153218"/>
                      <a:pt x="-788" y="157049"/>
                      <a:pt x="490" y="160241"/>
                    </a:cubicBezTo>
                    <a:cubicBezTo>
                      <a:pt x="1768" y="163433"/>
                      <a:pt x="5602" y="164710"/>
                      <a:pt x="8797" y="163433"/>
                    </a:cubicBezTo>
                    <a:cubicBezTo>
                      <a:pt x="17743" y="158964"/>
                      <a:pt x="26049" y="158964"/>
                      <a:pt x="33717" y="158326"/>
                    </a:cubicBezTo>
                    <a:cubicBezTo>
                      <a:pt x="40746" y="157687"/>
                      <a:pt x="47136" y="157687"/>
                      <a:pt x="52887" y="154495"/>
                    </a:cubicBezTo>
                    <a:cubicBezTo>
                      <a:pt x="61194" y="150026"/>
                      <a:pt x="66306" y="138535"/>
                      <a:pt x="68862" y="128959"/>
                    </a:cubicBezTo>
                    <a:cubicBezTo>
                      <a:pt x="70140" y="122575"/>
                      <a:pt x="71418" y="113638"/>
                      <a:pt x="67584" y="108531"/>
                    </a:cubicBezTo>
                    <a:cubicBezTo>
                      <a:pt x="61833" y="100231"/>
                      <a:pt x="54804" y="84910"/>
                      <a:pt x="51609" y="71503"/>
                    </a:cubicBezTo>
                    <a:cubicBezTo>
                      <a:pt x="46497" y="50436"/>
                      <a:pt x="47775" y="35115"/>
                      <a:pt x="56082" y="24900"/>
                    </a:cubicBezTo>
                    <a:cubicBezTo>
                      <a:pt x="66306" y="12132"/>
                      <a:pt x="84198" y="12771"/>
                      <a:pt x="84837" y="12771"/>
                    </a:cubicBezTo>
                    <a:cubicBezTo>
                      <a:pt x="84837" y="12771"/>
                      <a:pt x="102729" y="12771"/>
                      <a:pt x="112953" y="24900"/>
                    </a:cubicBezTo>
                    <a:cubicBezTo>
                      <a:pt x="121260" y="35115"/>
                      <a:pt x="122538" y="50436"/>
                      <a:pt x="117426" y="71503"/>
                    </a:cubicBezTo>
                    <a:cubicBezTo>
                      <a:pt x="114231" y="84271"/>
                      <a:pt x="107841" y="100231"/>
                      <a:pt x="101451" y="108531"/>
                    </a:cubicBezTo>
                    <a:cubicBezTo>
                      <a:pt x="97617" y="113638"/>
                      <a:pt x="98895" y="122575"/>
                      <a:pt x="100173" y="128959"/>
                    </a:cubicBezTo>
                    <a:cubicBezTo>
                      <a:pt x="102090" y="138535"/>
                      <a:pt x="107841" y="150026"/>
                      <a:pt x="116148" y="154495"/>
                    </a:cubicBezTo>
                    <a:cubicBezTo>
                      <a:pt x="121899" y="157687"/>
                      <a:pt x="128288" y="157687"/>
                      <a:pt x="135317" y="158326"/>
                    </a:cubicBezTo>
                    <a:cubicBezTo>
                      <a:pt x="142985" y="158964"/>
                      <a:pt x="150653" y="158964"/>
                      <a:pt x="160238" y="163433"/>
                    </a:cubicBezTo>
                    <a:cubicBezTo>
                      <a:pt x="160877" y="164071"/>
                      <a:pt x="162155" y="164071"/>
                      <a:pt x="162794" y="164071"/>
                    </a:cubicBezTo>
                    <a:cubicBezTo>
                      <a:pt x="165350" y="164071"/>
                      <a:pt x="167267" y="162794"/>
                      <a:pt x="168545" y="160241"/>
                    </a:cubicBezTo>
                    <a:cubicBezTo>
                      <a:pt x="169823" y="157687"/>
                      <a:pt x="167906" y="153857"/>
                      <a:pt x="164711" y="15258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6" name="Group 55">
            <a:extLst>
              <a:ext uri="{FF2B5EF4-FFF2-40B4-BE49-F238E27FC236}">
                <a16:creationId xmlns:a16="http://schemas.microsoft.com/office/drawing/2014/main" id="{633D66D9-6860-52D5-19A2-B6B02F6A3D08}"/>
              </a:ext>
            </a:extLst>
          </p:cNvPr>
          <p:cNvGrpSpPr/>
          <p:nvPr/>
        </p:nvGrpSpPr>
        <p:grpSpPr>
          <a:xfrm>
            <a:off x="1299576" y="4658192"/>
            <a:ext cx="6117223" cy="630000"/>
            <a:chOff x="1299577" y="4678512"/>
            <a:chExt cx="6117223" cy="630000"/>
          </a:xfrm>
        </p:grpSpPr>
        <p:sp>
          <p:nvSpPr>
            <p:cNvPr id="26" name="TextBox 25">
              <a:extLst>
                <a:ext uri="{FF2B5EF4-FFF2-40B4-BE49-F238E27FC236}">
                  <a16:creationId xmlns:a16="http://schemas.microsoft.com/office/drawing/2014/main" id="{3C1DB4A1-789A-7251-22C5-35D8436C548F}"/>
                </a:ext>
              </a:extLst>
            </p:cNvPr>
            <p:cNvSpPr txBox="1"/>
            <p:nvPr/>
          </p:nvSpPr>
          <p:spPr>
            <a:xfrm>
              <a:off x="2081473" y="4716513"/>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Staff Training </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45" name="Graphic 4">
              <a:extLst>
                <a:ext uri="{FF2B5EF4-FFF2-40B4-BE49-F238E27FC236}">
                  <a16:creationId xmlns:a16="http://schemas.microsoft.com/office/drawing/2014/main" id="{25127CCA-5C53-2F77-0674-E3B2861CB5C6}"/>
                </a:ext>
              </a:extLst>
            </p:cNvPr>
            <p:cNvGrpSpPr/>
            <p:nvPr/>
          </p:nvGrpSpPr>
          <p:grpSpPr>
            <a:xfrm>
              <a:off x="1299577" y="4678512"/>
              <a:ext cx="630000" cy="630000"/>
              <a:chOff x="6753524" y="4792617"/>
              <a:chExt cx="361670" cy="361333"/>
            </a:xfrm>
            <a:solidFill>
              <a:schemeClr val="accent1"/>
            </a:solidFill>
          </p:grpSpPr>
          <p:sp>
            <p:nvSpPr>
              <p:cNvPr id="46" name="Graphic 4">
                <a:extLst>
                  <a:ext uri="{FF2B5EF4-FFF2-40B4-BE49-F238E27FC236}">
                    <a16:creationId xmlns:a16="http://schemas.microsoft.com/office/drawing/2014/main" id="{25509BFC-BCE2-3D86-4E06-86CB0AF28208}"/>
                  </a:ext>
                </a:extLst>
              </p:cNvPr>
              <p:cNvSpPr/>
              <p:nvPr/>
            </p:nvSpPr>
            <p:spPr>
              <a:xfrm>
                <a:off x="6753524"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1157" y="0"/>
                      <a:pt x="180835" y="0"/>
                    </a:cubicBezTo>
                    <a:close/>
                    <a:moveTo>
                      <a:pt x="180835" y="349204"/>
                    </a:moveTo>
                    <a:cubicBezTo>
                      <a:pt x="88181" y="349204"/>
                      <a:pt x="12780" y="273873"/>
                      <a:pt x="12780" y="181305"/>
                    </a:cubicBezTo>
                    <a:cubicBezTo>
                      <a:pt x="12780" y="88738"/>
                      <a:pt x="88181" y="13407"/>
                      <a:pt x="180835" y="13407"/>
                    </a:cubicBezTo>
                    <a:cubicBezTo>
                      <a:pt x="273489" y="13407"/>
                      <a:pt x="348890" y="88738"/>
                      <a:pt x="348890" y="181305"/>
                    </a:cubicBezTo>
                    <a:cubicBezTo>
                      <a:pt x="348890" y="273873"/>
                      <a:pt x="274128"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raphic 4">
                <a:extLst>
                  <a:ext uri="{FF2B5EF4-FFF2-40B4-BE49-F238E27FC236}">
                    <a16:creationId xmlns:a16="http://schemas.microsoft.com/office/drawing/2014/main" id="{50598E0F-D451-8E89-E566-24C4A4F7D34C}"/>
                  </a:ext>
                </a:extLst>
              </p:cNvPr>
              <p:cNvSpPr/>
              <p:nvPr/>
            </p:nvSpPr>
            <p:spPr>
              <a:xfrm>
                <a:off x="6816785" y="4887101"/>
                <a:ext cx="235788" cy="173644"/>
              </a:xfrm>
              <a:custGeom>
                <a:avLst/>
                <a:gdLst>
                  <a:gd name="connsiteX0" fmla="*/ 228120 w 235788"/>
                  <a:gd name="connsiteY0" fmla="*/ 12768 h 173644"/>
                  <a:gd name="connsiteX1" fmla="*/ 229398 w 235788"/>
                  <a:gd name="connsiteY1" fmla="*/ 12768 h 173644"/>
                  <a:gd name="connsiteX2" fmla="*/ 235788 w 235788"/>
                  <a:gd name="connsiteY2" fmla="*/ 6384 h 173644"/>
                  <a:gd name="connsiteX3" fmla="*/ 229398 w 235788"/>
                  <a:gd name="connsiteY3" fmla="*/ 0 h 173644"/>
                  <a:gd name="connsiteX4" fmla="*/ 221731 w 235788"/>
                  <a:gd name="connsiteY4" fmla="*/ 0 h 173644"/>
                  <a:gd name="connsiteX5" fmla="*/ 215341 w 235788"/>
                  <a:gd name="connsiteY5" fmla="*/ 6384 h 173644"/>
                  <a:gd name="connsiteX6" fmla="*/ 215341 w 235788"/>
                  <a:gd name="connsiteY6" fmla="*/ 23620 h 173644"/>
                  <a:gd name="connsiteX7" fmla="*/ 182752 w 235788"/>
                  <a:gd name="connsiteY7" fmla="*/ 23620 h 173644"/>
                  <a:gd name="connsiteX8" fmla="*/ 127799 w 235788"/>
                  <a:gd name="connsiteY8" fmla="*/ 7660 h 173644"/>
                  <a:gd name="connsiteX9" fmla="*/ 123325 w 235788"/>
                  <a:gd name="connsiteY9" fmla="*/ 8299 h 173644"/>
                  <a:gd name="connsiteX10" fmla="*/ 95209 w 235788"/>
                  <a:gd name="connsiteY10" fmla="*/ 23620 h 173644"/>
                  <a:gd name="connsiteX11" fmla="*/ 94571 w 235788"/>
                  <a:gd name="connsiteY11" fmla="*/ 23620 h 173644"/>
                  <a:gd name="connsiteX12" fmla="*/ 20447 w 235788"/>
                  <a:gd name="connsiteY12" fmla="*/ 23620 h 173644"/>
                  <a:gd name="connsiteX13" fmla="*/ 20447 w 235788"/>
                  <a:gd name="connsiteY13" fmla="*/ 6384 h 173644"/>
                  <a:gd name="connsiteX14" fmla="*/ 14058 w 235788"/>
                  <a:gd name="connsiteY14" fmla="*/ 0 h 173644"/>
                  <a:gd name="connsiteX15" fmla="*/ 6390 w 235788"/>
                  <a:gd name="connsiteY15" fmla="*/ 0 h 173644"/>
                  <a:gd name="connsiteX16" fmla="*/ 0 w 235788"/>
                  <a:gd name="connsiteY16" fmla="*/ 6384 h 173644"/>
                  <a:gd name="connsiteX17" fmla="*/ 6390 w 235788"/>
                  <a:gd name="connsiteY17" fmla="*/ 12768 h 173644"/>
                  <a:gd name="connsiteX18" fmla="*/ 7668 w 235788"/>
                  <a:gd name="connsiteY18" fmla="*/ 12768 h 173644"/>
                  <a:gd name="connsiteX19" fmla="*/ 7668 w 235788"/>
                  <a:gd name="connsiteY19" fmla="*/ 127680 h 173644"/>
                  <a:gd name="connsiteX20" fmla="*/ 6390 w 235788"/>
                  <a:gd name="connsiteY20" fmla="*/ 127680 h 173644"/>
                  <a:gd name="connsiteX21" fmla="*/ 0 w 235788"/>
                  <a:gd name="connsiteY21" fmla="*/ 134064 h 173644"/>
                  <a:gd name="connsiteX22" fmla="*/ 6390 w 235788"/>
                  <a:gd name="connsiteY22" fmla="*/ 140448 h 173644"/>
                  <a:gd name="connsiteX23" fmla="*/ 14058 w 235788"/>
                  <a:gd name="connsiteY23" fmla="*/ 140448 h 173644"/>
                  <a:gd name="connsiteX24" fmla="*/ 20447 w 235788"/>
                  <a:gd name="connsiteY24" fmla="*/ 134064 h 173644"/>
                  <a:gd name="connsiteX25" fmla="*/ 20447 w 235788"/>
                  <a:gd name="connsiteY25" fmla="*/ 124488 h 173644"/>
                  <a:gd name="connsiteX26" fmla="*/ 34505 w 235788"/>
                  <a:gd name="connsiteY26" fmla="*/ 124488 h 173644"/>
                  <a:gd name="connsiteX27" fmla="*/ 56870 w 235788"/>
                  <a:gd name="connsiteY27" fmla="*/ 161515 h 173644"/>
                  <a:gd name="connsiteX28" fmla="*/ 70928 w 235788"/>
                  <a:gd name="connsiteY28" fmla="*/ 172368 h 173644"/>
                  <a:gd name="connsiteX29" fmla="*/ 77957 w 235788"/>
                  <a:gd name="connsiteY29" fmla="*/ 173644 h 173644"/>
                  <a:gd name="connsiteX30" fmla="*/ 88820 w 235788"/>
                  <a:gd name="connsiteY30" fmla="*/ 170452 h 173644"/>
                  <a:gd name="connsiteX31" fmla="*/ 95849 w 235788"/>
                  <a:gd name="connsiteY31" fmla="*/ 164068 h 173644"/>
                  <a:gd name="connsiteX32" fmla="*/ 107989 w 235788"/>
                  <a:gd name="connsiteY32" fmla="*/ 171729 h 173644"/>
                  <a:gd name="connsiteX33" fmla="*/ 113740 w 235788"/>
                  <a:gd name="connsiteY33" fmla="*/ 172368 h 173644"/>
                  <a:gd name="connsiteX34" fmla="*/ 125881 w 235788"/>
                  <a:gd name="connsiteY34" fmla="*/ 169176 h 173644"/>
                  <a:gd name="connsiteX35" fmla="*/ 133549 w 235788"/>
                  <a:gd name="connsiteY35" fmla="*/ 161515 h 173644"/>
                  <a:gd name="connsiteX36" fmla="*/ 152080 w 235788"/>
                  <a:gd name="connsiteY36" fmla="*/ 170452 h 173644"/>
                  <a:gd name="connsiteX37" fmla="*/ 163582 w 235788"/>
                  <a:gd name="connsiteY37" fmla="*/ 167260 h 173644"/>
                  <a:gd name="connsiteX38" fmla="*/ 173806 w 235788"/>
                  <a:gd name="connsiteY38" fmla="*/ 153216 h 173644"/>
                  <a:gd name="connsiteX39" fmla="*/ 173806 w 235788"/>
                  <a:gd name="connsiteY39" fmla="*/ 153216 h 173644"/>
                  <a:gd name="connsiteX40" fmla="*/ 179557 w 235788"/>
                  <a:gd name="connsiteY40" fmla="*/ 153854 h 173644"/>
                  <a:gd name="connsiteX41" fmla="*/ 191698 w 235788"/>
                  <a:gd name="connsiteY41" fmla="*/ 150662 h 173644"/>
                  <a:gd name="connsiteX42" fmla="*/ 202561 w 235788"/>
                  <a:gd name="connsiteY42" fmla="*/ 124488 h 173644"/>
                  <a:gd name="connsiteX43" fmla="*/ 214063 w 235788"/>
                  <a:gd name="connsiteY43" fmla="*/ 124488 h 173644"/>
                  <a:gd name="connsiteX44" fmla="*/ 215341 w 235788"/>
                  <a:gd name="connsiteY44" fmla="*/ 123849 h 173644"/>
                  <a:gd name="connsiteX45" fmla="*/ 215341 w 235788"/>
                  <a:gd name="connsiteY45" fmla="*/ 133425 h 173644"/>
                  <a:gd name="connsiteX46" fmla="*/ 221731 w 235788"/>
                  <a:gd name="connsiteY46" fmla="*/ 139809 h 173644"/>
                  <a:gd name="connsiteX47" fmla="*/ 229398 w 235788"/>
                  <a:gd name="connsiteY47" fmla="*/ 139809 h 173644"/>
                  <a:gd name="connsiteX48" fmla="*/ 235788 w 235788"/>
                  <a:gd name="connsiteY48" fmla="*/ 133425 h 173644"/>
                  <a:gd name="connsiteX49" fmla="*/ 229398 w 235788"/>
                  <a:gd name="connsiteY49" fmla="*/ 127041 h 173644"/>
                  <a:gd name="connsiteX50" fmla="*/ 228120 w 235788"/>
                  <a:gd name="connsiteY50" fmla="*/ 127041 h 173644"/>
                  <a:gd name="connsiteX51" fmla="*/ 228120 w 235788"/>
                  <a:gd name="connsiteY51" fmla="*/ 12768 h 173644"/>
                  <a:gd name="connsiteX52" fmla="*/ 189781 w 235788"/>
                  <a:gd name="connsiteY52" fmla="*/ 132787 h 173644"/>
                  <a:gd name="connsiteX53" fmla="*/ 184669 w 235788"/>
                  <a:gd name="connsiteY53" fmla="*/ 139171 h 173644"/>
                  <a:gd name="connsiteX54" fmla="*/ 177001 w 235788"/>
                  <a:gd name="connsiteY54" fmla="*/ 140448 h 173644"/>
                  <a:gd name="connsiteX55" fmla="*/ 170611 w 235788"/>
                  <a:gd name="connsiteY55" fmla="*/ 135340 h 173644"/>
                  <a:gd name="connsiteX56" fmla="*/ 145051 w 235788"/>
                  <a:gd name="connsiteY56" fmla="*/ 91929 h 173644"/>
                  <a:gd name="connsiteX57" fmla="*/ 136105 w 235788"/>
                  <a:gd name="connsiteY57" fmla="*/ 89376 h 173644"/>
                  <a:gd name="connsiteX58" fmla="*/ 133549 w 235788"/>
                  <a:gd name="connsiteY58" fmla="*/ 98313 h 173644"/>
                  <a:gd name="connsiteX59" fmla="*/ 159109 w 235788"/>
                  <a:gd name="connsiteY59" fmla="*/ 141724 h 173644"/>
                  <a:gd name="connsiteX60" fmla="*/ 156553 w 235788"/>
                  <a:gd name="connsiteY60" fmla="*/ 155769 h 173644"/>
                  <a:gd name="connsiteX61" fmla="*/ 141856 w 235788"/>
                  <a:gd name="connsiteY61" fmla="*/ 151939 h 173644"/>
                  <a:gd name="connsiteX62" fmla="*/ 132910 w 235788"/>
                  <a:gd name="connsiteY62" fmla="*/ 137256 h 173644"/>
                  <a:gd name="connsiteX63" fmla="*/ 132910 w 235788"/>
                  <a:gd name="connsiteY63" fmla="*/ 136617 h 173644"/>
                  <a:gd name="connsiteX64" fmla="*/ 132910 w 235788"/>
                  <a:gd name="connsiteY64" fmla="*/ 136617 h 173644"/>
                  <a:gd name="connsiteX65" fmla="*/ 120769 w 235788"/>
                  <a:gd name="connsiteY65" fmla="*/ 115550 h 173644"/>
                  <a:gd name="connsiteX66" fmla="*/ 120130 w 235788"/>
                  <a:gd name="connsiteY66" fmla="*/ 114912 h 173644"/>
                  <a:gd name="connsiteX67" fmla="*/ 118214 w 235788"/>
                  <a:gd name="connsiteY67" fmla="*/ 111081 h 173644"/>
                  <a:gd name="connsiteX68" fmla="*/ 109268 w 235788"/>
                  <a:gd name="connsiteY68" fmla="*/ 109166 h 173644"/>
                  <a:gd name="connsiteX69" fmla="*/ 107350 w 235788"/>
                  <a:gd name="connsiteY69" fmla="*/ 118104 h 173644"/>
                  <a:gd name="connsiteX70" fmla="*/ 122686 w 235788"/>
                  <a:gd name="connsiteY70" fmla="*/ 143640 h 173644"/>
                  <a:gd name="connsiteX71" fmla="*/ 118853 w 235788"/>
                  <a:gd name="connsiteY71" fmla="*/ 157684 h 173644"/>
                  <a:gd name="connsiteX72" fmla="*/ 111184 w 235788"/>
                  <a:gd name="connsiteY72" fmla="*/ 158961 h 173644"/>
                  <a:gd name="connsiteX73" fmla="*/ 104794 w 235788"/>
                  <a:gd name="connsiteY73" fmla="*/ 153854 h 173644"/>
                  <a:gd name="connsiteX74" fmla="*/ 104794 w 235788"/>
                  <a:gd name="connsiteY74" fmla="*/ 153854 h 173644"/>
                  <a:gd name="connsiteX75" fmla="*/ 95849 w 235788"/>
                  <a:gd name="connsiteY75" fmla="*/ 139171 h 173644"/>
                  <a:gd name="connsiteX76" fmla="*/ 95849 w 235788"/>
                  <a:gd name="connsiteY76" fmla="*/ 139171 h 173644"/>
                  <a:gd name="connsiteX77" fmla="*/ 95849 w 235788"/>
                  <a:gd name="connsiteY77" fmla="*/ 139171 h 173644"/>
                  <a:gd name="connsiteX78" fmla="*/ 90098 w 235788"/>
                  <a:gd name="connsiteY78" fmla="*/ 130872 h 173644"/>
                  <a:gd name="connsiteX79" fmla="*/ 81152 w 235788"/>
                  <a:gd name="connsiteY79" fmla="*/ 128956 h 173644"/>
                  <a:gd name="connsiteX80" fmla="*/ 79235 w 235788"/>
                  <a:gd name="connsiteY80" fmla="*/ 137894 h 173644"/>
                  <a:gd name="connsiteX81" fmla="*/ 84986 w 235788"/>
                  <a:gd name="connsiteY81" fmla="*/ 146193 h 173644"/>
                  <a:gd name="connsiteX82" fmla="*/ 86264 w 235788"/>
                  <a:gd name="connsiteY82" fmla="*/ 153854 h 173644"/>
                  <a:gd name="connsiteX83" fmla="*/ 81791 w 235788"/>
                  <a:gd name="connsiteY83" fmla="*/ 159600 h 173644"/>
                  <a:gd name="connsiteX84" fmla="*/ 74123 w 235788"/>
                  <a:gd name="connsiteY84" fmla="*/ 160238 h 173644"/>
                  <a:gd name="connsiteX85" fmla="*/ 67094 w 235788"/>
                  <a:gd name="connsiteY85" fmla="*/ 154492 h 173644"/>
                  <a:gd name="connsiteX86" fmla="*/ 43451 w 235788"/>
                  <a:gd name="connsiteY86" fmla="*/ 114912 h 173644"/>
                  <a:gd name="connsiteX87" fmla="*/ 37700 w 235788"/>
                  <a:gd name="connsiteY87" fmla="*/ 111720 h 173644"/>
                  <a:gd name="connsiteX88" fmla="*/ 20447 w 235788"/>
                  <a:gd name="connsiteY88" fmla="*/ 111720 h 173644"/>
                  <a:gd name="connsiteX89" fmla="*/ 20447 w 235788"/>
                  <a:gd name="connsiteY89" fmla="*/ 37027 h 173644"/>
                  <a:gd name="connsiteX90" fmla="*/ 70928 w 235788"/>
                  <a:gd name="connsiteY90" fmla="*/ 37027 h 173644"/>
                  <a:gd name="connsiteX91" fmla="*/ 58787 w 235788"/>
                  <a:gd name="connsiteY91" fmla="*/ 43411 h 173644"/>
                  <a:gd name="connsiteX92" fmla="*/ 47925 w 235788"/>
                  <a:gd name="connsiteY92" fmla="*/ 62563 h 173644"/>
                  <a:gd name="connsiteX93" fmla="*/ 55592 w 235788"/>
                  <a:gd name="connsiteY93" fmla="*/ 80438 h 173644"/>
                  <a:gd name="connsiteX94" fmla="*/ 71567 w 235788"/>
                  <a:gd name="connsiteY94" fmla="*/ 84907 h 173644"/>
                  <a:gd name="connsiteX95" fmla="*/ 157831 w 235788"/>
                  <a:gd name="connsiteY95" fmla="*/ 70224 h 173644"/>
                  <a:gd name="connsiteX96" fmla="*/ 189142 w 235788"/>
                  <a:gd name="connsiteY96" fmla="*/ 125126 h 173644"/>
                  <a:gd name="connsiteX97" fmla="*/ 189781 w 235788"/>
                  <a:gd name="connsiteY97" fmla="*/ 132787 h 173644"/>
                  <a:gd name="connsiteX98" fmla="*/ 213423 w 235788"/>
                  <a:gd name="connsiteY98" fmla="*/ 111720 h 173644"/>
                  <a:gd name="connsiteX99" fmla="*/ 197448 w 235788"/>
                  <a:gd name="connsiteY99" fmla="*/ 111720 h 173644"/>
                  <a:gd name="connsiteX100" fmla="*/ 195532 w 235788"/>
                  <a:gd name="connsiteY100" fmla="*/ 112358 h 173644"/>
                  <a:gd name="connsiteX101" fmla="*/ 166138 w 235788"/>
                  <a:gd name="connsiteY101" fmla="*/ 60009 h 173644"/>
                  <a:gd name="connsiteX102" fmla="*/ 159748 w 235788"/>
                  <a:gd name="connsiteY102" fmla="*/ 56817 h 173644"/>
                  <a:gd name="connsiteX103" fmla="*/ 69011 w 235788"/>
                  <a:gd name="connsiteY103" fmla="*/ 72139 h 173644"/>
                  <a:gd name="connsiteX104" fmla="*/ 63260 w 235788"/>
                  <a:gd name="connsiteY104" fmla="*/ 70862 h 173644"/>
                  <a:gd name="connsiteX105" fmla="*/ 60065 w 235788"/>
                  <a:gd name="connsiteY105" fmla="*/ 62563 h 173644"/>
                  <a:gd name="connsiteX106" fmla="*/ 64538 w 235788"/>
                  <a:gd name="connsiteY106" fmla="*/ 54902 h 173644"/>
                  <a:gd name="connsiteX107" fmla="*/ 125881 w 235788"/>
                  <a:gd name="connsiteY107" fmla="*/ 21705 h 173644"/>
                  <a:gd name="connsiteX108" fmla="*/ 178918 w 235788"/>
                  <a:gd name="connsiteY108" fmla="*/ 37027 h 173644"/>
                  <a:gd name="connsiteX109" fmla="*/ 180835 w 235788"/>
                  <a:gd name="connsiteY109" fmla="*/ 37027 h 173644"/>
                  <a:gd name="connsiteX110" fmla="*/ 214063 w 235788"/>
                  <a:gd name="connsiteY110" fmla="*/ 37027 h 173644"/>
                  <a:gd name="connsiteX111" fmla="*/ 214063 w 235788"/>
                  <a:gd name="connsiteY111" fmla="*/ 112358 h 173644"/>
                  <a:gd name="connsiteX112" fmla="*/ 213423 w 235788"/>
                  <a:gd name="connsiteY112" fmla="*/ 111720 h 173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35788" h="173644">
                    <a:moveTo>
                      <a:pt x="228120" y="12768"/>
                    </a:moveTo>
                    <a:lnTo>
                      <a:pt x="229398" y="12768"/>
                    </a:lnTo>
                    <a:cubicBezTo>
                      <a:pt x="233233" y="12768"/>
                      <a:pt x="235788" y="10214"/>
                      <a:pt x="235788" y="6384"/>
                    </a:cubicBezTo>
                    <a:cubicBezTo>
                      <a:pt x="235788" y="2553"/>
                      <a:pt x="233233" y="0"/>
                      <a:pt x="229398" y="0"/>
                    </a:cubicBezTo>
                    <a:lnTo>
                      <a:pt x="221731" y="0"/>
                    </a:lnTo>
                    <a:cubicBezTo>
                      <a:pt x="217897" y="0"/>
                      <a:pt x="215341" y="2553"/>
                      <a:pt x="215341" y="6384"/>
                    </a:cubicBezTo>
                    <a:lnTo>
                      <a:pt x="215341" y="23620"/>
                    </a:lnTo>
                    <a:lnTo>
                      <a:pt x="182752" y="23620"/>
                    </a:lnTo>
                    <a:lnTo>
                      <a:pt x="127799" y="7660"/>
                    </a:lnTo>
                    <a:cubicBezTo>
                      <a:pt x="126520" y="7022"/>
                      <a:pt x="124604" y="7660"/>
                      <a:pt x="123325" y="8299"/>
                    </a:cubicBezTo>
                    <a:lnTo>
                      <a:pt x="95209" y="23620"/>
                    </a:lnTo>
                    <a:cubicBezTo>
                      <a:pt x="95209" y="23620"/>
                      <a:pt x="95209" y="23620"/>
                      <a:pt x="94571" y="23620"/>
                    </a:cubicBezTo>
                    <a:lnTo>
                      <a:pt x="20447" y="23620"/>
                    </a:lnTo>
                    <a:lnTo>
                      <a:pt x="20447" y="6384"/>
                    </a:lnTo>
                    <a:cubicBezTo>
                      <a:pt x="20447" y="2553"/>
                      <a:pt x="17891" y="0"/>
                      <a:pt x="14058" y="0"/>
                    </a:cubicBezTo>
                    <a:lnTo>
                      <a:pt x="6390" y="0"/>
                    </a:lnTo>
                    <a:cubicBezTo>
                      <a:pt x="2555" y="0"/>
                      <a:pt x="0" y="2553"/>
                      <a:pt x="0" y="6384"/>
                    </a:cubicBezTo>
                    <a:cubicBezTo>
                      <a:pt x="0" y="10214"/>
                      <a:pt x="2555" y="12768"/>
                      <a:pt x="6390" y="12768"/>
                    </a:cubicBezTo>
                    <a:lnTo>
                      <a:pt x="7668" y="12768"/>
                    </a:lnTo>
                    <a:lnTo>
                      <a:pt x="7668" y="127680"/>
                    </a:lnTo>
                    <a:lnTo>
                      <a:pt x="6390" y="127680"/>
                    </a:lnTo>
                    <a:cubicBezTo>
                      <a:pt x="2555" y="127680"/>
                      <a:pt x="0" y="130233"/>
                      <a:pt x="0" y="134064"/>
                    </a:cubicBezTo>
                    <a:cubicBezTo>
                      <a:pt x="0" y="137894"/>
                      <a:pt x="2555" y="140448"/>
                      <a:pt x="6390" y="140448"/>
                    </a:cubicBezTo>
                    <a:lnTo>
                      <a:pt x="14058" y="140448"/>
                    </a:lnTo>
                    <a:cubicBezTo>
                      <a:pt x="17891" y="140448"/>
                      <a:pt x="20447" y="137894"/>
                      <a:pt x="20447" y="134064"/>
                    </a:cubicBezTo>
                    <a:lnTo>
                      <a:pt x="20447" y="124488"/>
                    </a:lnTo>
                    <a:lnTo>
                      <a:pt x="34505" y="124488"/>
                    </a:lnTo>
                    <a:lnTo>
                      <a:pt x="56870" y="161515"/>
                    </a:lnTo>
                    <a:cubicBezTo>
                      <a:pt x="60065" y="166622"/>
                      <a:pt x="65177" y="170452"/>
                      <a:pt x="70928" y="172368"/>
                    </a:cubicBezTo>
                    <a:cubicBezTo>
                      <a:pt x="73484" y="173006"/>
                      <a:pt x="75401" y="173644"/>
                      <a:pt x="77957" y="173644"/>
                    </a:cubicBezTo>
                    <a:cubicBezTo>
                      <a:pt x="81791" y="173644"/>
                      <a:pt x="85625" y="172368"/>
                      <a:pt x="88820" y="170452"/>
                    </a:cubicBezTo>
                    <a:cubicBezTo>
                      <a:pt x="92014" y="168537"/>
                      <a:pt x="93932" y="166622"/>
                      <a:pt x="95849" y="164068"/>
                    </a:cubicBezTo>
                    <a:cubicBezTo>
                      <a:pt x="99044" y="167899"/>
                      <a:pt x="102878" y="170452"/>
                      <a:pt x="107989" y="171729"/>
                    </a:cubicBezTo>
                    <a:cubicBezTo>
                      <a:pt x="109907" y="172368"/>
                      <a:pt x="111824" y="172368"/>
                      <a:pt x="113740" y="172368"/>
                    </a:cubicBezTo>
                    <a:cubicBezTo>
                      <a:pt x="117574" y="172368"/>
                      <a:pt x="122048" y="171091"/>
                      <a:pt x="125881" y="169176"/>
                    </a:cubicBezTo>
                    <a:cubicBezTo>
                      <a:pt x="129076" y="167260"/>
                      <a:pt x="131633" y="164707"/>
                      <a:pt x="133549" y="161515"/>
                    </a:cubicBezTo>
                    <a:cubicBezTo>
                      <a:pt x="138022" y="167260"/>
                      <a:pt x="145051" y="170452"/>
                      <a:pt x="152080" y="170452"/>
                    </a:cubicBezTo>
                    <a:cubicBezTo>
                      <a:pt x="155914" y="170452"/>
                      <a:pt x="159748" y="169176"/>
                      <a:pt x="163582" y="167260"/>
                    </a:cubicBezTo>
                    <a:cubicBezTo>
                      <a:pt x="169333" y="164068"/>
                      <a:pt x="172528" y="158961"/>
                      <a:pt x="173806" y="153216"/>
                    </a:cubicBezTo>
                    <a:cubicBezTo>
                      <a:pt x="173806" y="153216"/>
                      <a:pt x="173806" y="153216"/>
                      <a:pt x="173806" y="153216"/>
                    </a:cubicBezTo>
                    <a:cubicBezTo>
                      <a:pt x="175723" y="153854"/>
                      <a:pt x="177640" y="153854"/>
                      <a:pt x="179557" y="153854"/>
                    </a:cubicBezTo>
                    <a:cubicBezTo>
                      <a:pt x="183391" y="153854"/>
                      <a:pt x="187864" y="152577"/>
                      <a:pt x="191698" y="150662"/>
                    </a:cubicBezTo>
                    <a:cubicBezTo>
                      <a:pt x="200643" y="145555"/>
                      <a:pt x="205117" y="134702"/>
                      <a:pt x="202561" y="124488"/>
                    </a:cubicBezTo>
                    <a:lnTo>
                      <a:pt x="214063" y="124488"/>
                    </a:lnTo>
                    <a:cubicBezTo>
                      <a:pt x="214702" y="124488"/>
                      <a:pt x="215341" y="124488"/>
                      <a:pt x="215341" y="123849"/>
                    </a:cubicBezTo>
                    <a:lnTo>
                      <a:pt x="215341" y="133425"/>
                    </a:lnTo>
                    <a:cubicBezTo>
                      <a:pt x="215341" y="137256"/>
                      <a:pt x="217897" y="139809"/>
                      <a:pt x="221731" y="139809"/>
                    </a:cubicBezTo>
                    <a:lnTo>
                      <a:pt x="229398" y="139809"/>
                    </a:lnTo>
                    <a:cubicBezTo>
                      <a:pt x="233233" y="139809"/>
                      <a:pt x="235788" y="137256"/>
                      <a:pt x="235788" y="133425"/>
                    </a:cubicBezTo>
                    <a:cubicBezTo>
                      <a:pt x="235788" y="129595"/>
                      <a:pt x="233233" y="127041"/>
                      <a:pt x="229398" y="127041"/>
                    </a:cubicBezTo>
                    <a:lnTo>
                      <a:pt x="228120" y="127041"/>
                    </a:lnTo>
                    <a:lnTo>
                      <a:pt x="228120" y="12768"/>
                    </a:lnTo>
                    <a:close/>
                    <a:moveTo>
                      <a:pt x="189781" y="132787"/>
                    </a:moveTo>
                    <a:cubicBezTo>
                      <a:pt x="189142" y="135340"/>
                      <a:pt x="187225" y="137894"/>
                      <a:pt x="184669" y="139171"/>
                    </a:cubicBezTo>
                    <a:cubicBezTo>
                      <a:pt x="182113" y="140448"/>
                      <a:pt x="179557" y="141086"/>
                      <a:pt x="177001" y="140448"/>
                    </a:cubicBezTo>
                    <a:cubicBezTo>
                      <a:pt x="174445" y="139809"/>
                      <a:pt x="171889" y="137894"/>
                      <a:pt x="170611" y="135340"/>
                    </a:cubicBezTo>
                    <a:lnTo>
                      <a:pt x="145051" y="91929"/>
                    </a:lnTo>
                    <a:cubicBezTo>
                      <a:pt x="143134" y="88737"/>
                      <a:pt x="139300" y="88099"/>
                      <a:pt x="136105" y="89376"/>
                    </a:cubicBezTo>
                    <a:cubicBezTo>
                      <a:pt x="132910" y="90652"/>
                      <a:pt x="132271" y="95121"/>
                      <a:pt x="133549" y="98313"/>
                    </a:cubicBezTo>
                    <a:lnTo>
                      <a:pt x="159109" y="141724"/>
                    </a:lnTo>
                    <a:cubicBezTo>
                      <a:pt x="161665" y="146193"/>
                      <a:pt x="161665" y="152577"/>
                      <a:pt x="156553" y="155769"/>
                    </a:cubicBezTo>
                    <a:cubicBezTo>
                      <a:pt x="151441" y="158961"/>
                      <a:pt x="145051" y="157046"/>
                      <a:pt x="141856" y="151939"/>
                    </a:cubicBezTo>
                    <a:lnTo>
                      <a:pt x="132910" y="137256"/>
                    </a:lnTo>
                    <a:cubicBezTo>
                      <a:pt x="132910" y="137256"/>
                      <a:pt x="132910" y="137256"/>
                      <a:pt x="132910" y="136617"/>
                    </a:cubicBezTo>
                    <a:cubicBezTo>
                      <a:pt x="132910" y="136617"/>
                      <a:pt x="132910" y="136617"/>
                      <a:pt x="132910" y="136617"/>
                    </a:cubicBezTo>
                    <a:lnTo>
                      <a:pt x="120769" y="115550"/>
                    </a:lnTo>
                    <a:cubicBezTo>
                      <a:pt x="120769" y="115550"/>
                      <a:pt x="120130" y="114912"/>
                      <a:pt x="120130" y="114912"/>
                    </a:cubicBezTo>
                    <a:lnTo>
                      <a:pt x="118214" y="111081"/>
                    </a:lnTo>
                    <a:cubicBezTo>
                      <a:pt x="116297" y="107889"/>
                      <a:pt x="112463" y="107251"/>
                      <a:pt x="109268" y="109166"/>
                    </a:cubicBezTo>
                    <a:cubicBezTo>
                      <a:pt x="106073" y="111081"/>
                      <a:pt x="105434" y="114912"/>
                      <a:pt x="107350" y="118104"/>
                    </a:cubicBezTo>
                    <a:lnTo>
                      <a:pt x="122686" y="143640"/>
                    </a:lnTo>
                    <a:cubicBezTo>
                      <a:pt x="125243" y="148747"/>
                      <a:pt x="123964" y="154492"/>
                      <a:pt x="118853" y="157684"/>
                    </a:cubicBezTo>
                    <a:cubicBezTo>
                      <a:pt x="116297" y="158961"/>
                      <a:pt x="113740" y="159600"/>
                      <a:pt x="111184" y="158961"/>
                    </a:cubicBezTo>
                    <a:cubicBezTo>
                      <a:pt x="108629" y="158323"/>
                      <a:pt x="106073" y="156408"/>
                      <a:pt x="104794" y="153854"/>
                    </a:cubicBezTo>
                    <a:cubicBezTo>
                      <a:pt x="104794" y="153854"/>
                      <a:pt x="104794" y="153854"/>
                      <a:pt x="104794" y="153854"/>
                    </a:cubicBezTo>
                    <a:lnTo>
                      <a:pt x="95849" y="139171"/>
                    </a:lnTo>
                    <a:cubicBezTo>
                      <a:pt x="95849" y="139171"/>
                      <a:pt x="95849" y="139171"/>
                      <a:pt x="95849" y="139171"/>
                    </a:cubicBezTo>
                    <a:cubicBezTo>
                      <a:pt x="95849" y="139171"/>
                      <a:pt x="95849" y="139171"/>
                      <a:pt x="95849" y="139171"/>
                    </a:cubicBezTo>
                    <a:lnTo>
                      <a:pt x="90098" y="130872"/>
                    </a:lnTo>
                    <a:cubicBezTo>
                      <a:pt x="88181" y="127680"/>
                      <a:pt x="84347" y="127041"/>
                      <a:pt x="81152" y="128956"/>
                    </a:cubicBezTo>
                    <a:cubicBezTo>
                      <a:pt x="77957" y="130872"/>
                      <a:pt x="77318" y="134702"/>
                      <a:pt x="79235" y="137894"/>
                    </a:cubicBezTo>
                    <a:lnTo>
                      <a:pt x="84986" y="146193"/>
                    </a:lnTo>
                    <a:cubicBezTo>
                      <a:pt x="86264" y="148747"/>
                      <a:pt x="86903" y="151300"/>
                      <a:pt x="86264" y="153854"/>
                    </a:cubicBezTo>
                    <a:cubicBezTo>
                      <a:pt x="85625" y="156408"/>
                      <a:pt x="84347" y="158323"/>
                      <a:pt x="81791" y="159600"/>
                    </a:cubicBezTo>
                    <a:cubicBezTo>
                      <a:pt x="79874" y="160876"/>
                      <a:pt x="76679" y="160876"/>
                      <a:pt x="74123" y="160238"/>
                    </a:cubicBezTo>
                    <a:cubicBezTo>
                      <a:pt x="71567" y="159600"/>
                      <a:pt x="69011" y="157684"/>
                      <a:pt x="67094" y="154492"/>
                    </a:cubicBezTo>
                    <a:lnTo>
                      <a:pt x="43451" y="114912"/>
                    </a:lnTo>
                    <a:cubicBezTo>
                      <a:pt x="42173" y="112996"/>
                      <a:pt x="40256" y="111720"/>
                      <a:pt x="37700" y="111720"/>
                    </a:cubicBezTo>
                    <a:lnTo>
                      <a:pt x="20447" y="111720"/>
                    </a:lnTo>
                    <a:lnTo>
                      <a:pt x="20447" y="37027"/>
                    </a:lnTo>
                    <a:lnTo>
                      <a:pt x="70928" y="37027"/>
                    </a:lnTo>
                    <a:lnTo>
                      <a:pt x="58787" y="43411"/>
                    </a:lnTo>
                    <a:cubicBezTo>
                      <a:pt x="51758" y="47241"/>
                      <a:pt x="47925" y="54264"/>
                      <a:pt x="47925" y="62563"/>
                    </a:cubicBezTo>
                    <a:cubicBezTo>
                      <a:pt x="47925" y="69585"/>
                      <a:pt x="50480" y="75969"/>
                      <a:pt x="55592" y="80438"/>
                    </a:cubicBezTo>
                    <a:cubicBezTo>
                      <a:pt x="60065" y="84268"/>
                      <a:pt x="65177" y="85545"/>
                      <a:pt x="71567" y="84907"/>
                    </a:cubicBezTo>
                    <a:lnTo>
                      <a:pt x="157831" y="70224"/>
                    </a:lnTo>
                    <a:lnTo>
                      <a:pt x="189142" y="125126"/>
                    </a:lnTo>
                    <a:cubicBezTo>
                      <a:pt x="189781" y="127680"/>
                      <a:pt x="190420" y="130233"/>
                      <a:pt x="189781" y="132787"/>
                    </a:cubicBezTo>
                    <a:close/>
                    <a:moveTo>
                      <a:pt x="213423" y="111720"/>
                    </a:moveTo>
                    <a:lnTo>
                      <a:pt x="197448" y="111720"/>
                    </a:lnTo>
                    <a:cubicBezTo>
                      <a:pt x="196810" y="111720"/>
                      <a:pt x="196171" y="111720"/>
                      <a:pt x="195532" y="112358"/>
                    </a:cubicBezTo>
                    <a:lnTo>
                      <a:pt x="166138" y="60009"/>
                    </a:lnTo>
                    <a:cubicBezTo>
                      <a:pt x="164860" y="57456"/>
                      <a:pt x="162304" y="56179"/>
                      <a:pt x="159748" y="56817"/>
                    </a:cubicBezTo>
                    <a:lnTo>
                      <a:pt x="69011" y="72139"/>
                    </a:lnTo>
                    <a:cubicBezTo>
                      <a:pt x="66455" y="72777"/>
                      <a:pt x="65177" y="72139"/>
                      <a:pt x="63260" y="70862"/>
                    </a:cubicBezTo>
                    <a:cubicBezTo>
                      <a:pt x="61343" y="68947"/>
                      <a:pt x="60065" y="65755"/>
                      <a:pt x="60065" y="62563"/>
                    </a:cubicBezTo>
                    <a:cubicBezTo>
                      <a:pt x="60065" y="59371"/>
                      <a:pt x="61982" y="56179"/>
                      <a:pt x="64538" y="54902"/>
                    </a:cubicBezTo>
                    <a:lnTo>
                      <a:pt x="125881" y="21705"/>
                    </a:lnTo>
                    <a:lnTo>
                      <a:pt x="178918" y="37027"/>
                    </a:lnTo>
                    <a:cubicBezTo>
                      <a:pt x="179557" y="37027"/>
                      <a:pt x="180196" y="37027"/>
                      <a:pt x="180835" y="37027"/>
                    </a:cubicBezTo>
                    <a:lnTo>
                      <a:pt x="214063" y="37027"/>
                    </a:lnTo>
                    <a:lnTo>
                      <a:pt x="214063" y="112358"/>
                    </a:lnTo>
                    <a:cubicBezTo>
                      <a:pt x="214702" y="111720"/>
                      <a:pt x="214063" y="111720"/>
                      <a:pt x="213423" y="11172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5" name="Group 54">
            <a:extLst>
              <a:ext uri="{FF2B5EF4-FFF2-40B4-BE49-F238E27FC236}">
                <a16:creationId xmlns:a16="http://schemas.microsoft.com/office/drawing/2014/main" id="{DAEC2FD3-DA8F-0C79-1015-7C65C40DE9B8}"/>
              </a:ext>
            </a:extLst>
          </p:cNvPr>
          <p:cNvGrpSpPr/>
          <p:nvPr/>
        </p:nvGrpSpPr>
        <p:grpSpPr>
          <a:xfrm>
            <a:off x="1299576" y="3702391"/>
            <a:ext cx="6117223" cy="630000"/>
            <a:chOff x="1299577" y="3870831"/>
            <a:chExt cx="6117223" cy="630000"/>
          </a:xfrm>
        </p:grpSpPr>
        <p:sp>
          <p:nvSpPr>
            <p:cNvPr id="24" name="TextBox 23">
              <a:extLst>
                <a:ext uri="{FF2B5EF4-FFF2-40B4-BE49-F238E27FC236}">
                  <a16:creationId xmlns:a16="http://schemas.microsoft.com/office/drawing/2014/main" id="{5ED33911-F88C-438E-3EA2-46DDCDFE80F0}"/>
                </a:ext>
              </a:extLst>
            </p:cNvPr>
            <p:cNvSpPr txBox="1"/>
            <p:nvPr/>
          </p:nvSpPr>
          <p:spPr>
            <a:xfrm>
              <a:off x="2081473" y="3908832"/>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Monitoring Capabilities</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48" name="Graphic 4">
              <a:extLst>
                <a:ext uri="{FF2B5EF4-FFF2-40B4-BE49-F238E27FC236}">
                  <a16:creationId xmlns:a16="http://schemas.microsoft.com/office/drawing/2014/main" id="{ADD1FA1B-A8AB-828D-C6E3-2536752A1466}"/>
                </a:ext>
              </a:extLst>
            </p:cNvPr>
            <p:cNvGrpSpPr/>
            <p:nvPr/>
          </p:nvGrpSpPr>
          <p:grpSpPr>
            <a:xfrm>
              <a:off x="1299577" y="3870831"/>
              <a:ext cx="630000" cy="630000"/>
              <a:chOff x="467743" y="4308712"/>
              <a:chExt cx="361670" cy="361333"/>
            </a:xfrm>
            <a:solidFill>
              <a:schemeClr val="accent1"/>
            </a:solidFill>
          </p:grpSpPr>
          <p:sp>
            <p:nvSpPr>
              <p:cNvPr id="49" name="Graphic 4">
                <a:extLst>
                  <a:ext uri="{FF2B5EF4-FFF2-40B4-BE49-F238E27FC236}">
                    <a16:creationId xmlns:a16="http://schemas.microsoft.com/office/drawing/2014/main" id="{B6E7FE16-89F7-A6B8-70F3-F0B5A4A09198}"/>
                  </a:ext>
                </a:extLst>
              </p:cNvPr>
              <p:cNvSpPr/>
              <p:nvPr/>
            </p:nvSpPr>
            <p:spPr>
              <a:xfrm>
                <a:off x="467743" y="4308712"/>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80835" y="349204"/>
                    </a:moveTo>
                    <a:cubicBezTo>
                      <a:pt x="88181" y="349204"/>
                      <a:pt x="12780" y="273873"/>
                      <a:pt x="12780" y="181305"/>
                    </a:cubicBezTo>
                    <a:cubicBezTo>
                      <a:pt x="12780" y="88738"/>
                      <a:pt x="88181" y="13407"/>
                      <a:pt x="180835" y="13407"/>
                    </a:cubicBezTo>
                    <a:cubicBezTo>
                      <a:pt x="273489" y="13407"/>
                      <a:pt x="348891" y="88738"/>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raphic 4">
                <a:extLst>
                  <a:ext uri="{FF2B5EF4-FFF2-40B4-BE49-F238E27FC236}">
                    <a16:creationId xmlns:a16="http://schemas.microsoft.com/office/drawing/2014/main" id="{45119362-7BA1-054F-132A-82A631892653}"/>
                  </a:ext>
                </a:extLst>
              </p:cNvPr>
              <p:cNvSpPr/>
              <p:nvPr/>
            </p:nvSpPr>
            <p:spPr>
              <a:xfrm>
                <a:off x="534198" y="4421070"/>
                <a:ext cx="228120" cy="137255"/>
              </a:xfrm>
              <a:custGeom>
                <a:avLst/>
                <a:gdLst>
                  <a:gd name="connsiteX0" fmla="*/ 227482 w 228120"/>
                  <a:gd name="connsiteY0" fmla="*/ 65116 h 137255"/>
                  <a:gd name="connsiteX1" fmla="*/ 114380 w 228120"/>
                  <a:gd name="connsiteY1" fmla="*/ 0 h 137255"/>
                  <a:gd name="connsiteX2" fmla="*/ 1278 w 228120"/>
                  <a:gd name="connsiteY2" fmla="*/ 64478 h 137255"/>
                  <a:gd name="connsiteX3" fmla="*/ 0 w 228120"/>
                  <a:gd name="connsiteY3" fmla="*/ 68947 h 137255"/>
                  <a:gd name="connsiteX4" fmla="*/ 639 w 228120"/>
                  <a:gd name="connsiteY4" fmla="*/ 72139 h 137255"/>
                  <a:gd name="connsiteX5" fmla="*/ 113741 w 228120"/>
                  <a:gd name="connsiteY5" fmla="*/ 137256 h 137255"/>
                  <a:gd name="connsiteX6" fmla="*/ 226843 w 228120"/>
                  <a:gd name="connsiteY6" fmla="*/ 72777 h 137255"/>
                  <a:gd name="connsiteX7" fmla="*/ 228121 w 228120"/>
                  <a:gd name="connsiteY7" fmla="*/ 68308 h 137255"/>
                  <a:gd name="connsiteX8" fmla="*/ 227482 w 228120"/>
                  <a:gd name="connsiteY8" fmla="*/ 65116 h 137255"/>
                  <a:gd name="connsiteX9" fmla="*/ 114380 w 228120"/>
                  <a:gd name="connsiteY9" fmla="*/ 123849 h 137255"/>
                  <a:gd name="connsiteX10" fmla="*/ 14058 w 228120"/>
                  <a:gd name="connsiteY10" fmla="*/ 68308 h 137255"/>
                  <a:gd name="connsiteX11" fmla="*/ 114380 w 228120"/>
                  <a:gd name="connsiteY11" fmla="*/ 12768 h 137255"/>
                  <a:gd name="connsiteX12" fmla="*/ 214702 w 228120"/>
                  <a:gd name="connsiteY12" fmla="*/ 68308 h 137255"/>
                  <a:gd name="connsiteX13" fmla="*/ 114380 w 228120"/>
                  <a:gd name="connsiteY13" fmla="*/ 123849 h 137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120" h="137255">
                    <a:moveTo>
                      <a:pt x="227482" y="65116"/>
                    </a:moveTo>
                    <a:cubicBezTo>
                      <a:pt x="211507" y="40857"/>
                      <a:pt x="169972" y="0"/>
                      <a:pt x="114380" y="0"/>
                    </a:cubicBezTo>
                    <a:cubicBezTo>
                      <a:pt x="63260" y="0"/>
                      <a:pt x="22365" y="33196"/>
                      <a:pt x="1278" y="64478"/>
                    </a:cubicBezTo>
                    <a:cubicBezTo>
                      <a:pt x="639" y="65755"/>
                      <a:pt x="0" y="67032"/>
                      <a:pt x="0" y="68947"/>
                    </a:cubicBezTo>
                    <a:cubicBezTo>
                      <a:pt x="0" y="70224"/>
                      <a:pt x="0" y="71500"/>
                      <a:pt x="639" y="72139"/>
                    </a:cubicBezTo>
                    <a:cubicBezTo>
                      <a:pt x="16614" y="96398"/>
                      <a:pt x="58148" y="137256"/>
                      <a:pt x="113741" y="137256"/>
                    </a:cubicBezTo>
                    <a:cubicBezTo>
                      <a:pt x="164860" y="137256"/>
                      <a:pt x="205756" y="104059"/>
                      <a:pt x="226843" y="72777"/>
                    </a:cubicBezTo>
                    <a:cubicBezTo>
                      <a:pt x="227482" y="71500"/>
                      <a:pt x="228121" y="70224"/>
                      <a:pt x="228121" y="68308"/>
                    </a:cubicBezTo>
                    <a:cubicBezTo>
                      <a:pt x="228121" y="67032"/>
                      <a:pt x="228121" y="65755"/>
                      <a:pt x="227482" y="65116"/>
                    </a:cubicBezTo>
                    <a:close/>
                    <a:moveTo>
                      <a:pt x="114380" y="123849"/>
                    </a:moveTo>
                    <a:cubicBezTo>
                      <a:pt x="66455" y="123849"/>
                      <a:pt x="30033" y="90014"/>
                      <a:pt x="14058" y="68308"/>
                    </a:cubicBezTo>
                    <a:cubicBezTo>
                      <a:pt x="33867" y="40857"/>
                      <a:pt x="70289" y="12768"/>
                      <a:pt x="114380" y="12768"/>
                    </a:cubicBezTo>
                    <a:cubicBezTo>
                      <a:pt x="162304" y="12768"/>
                      <a:pt x="198727" y="46603"/>
                      <a:pt x="214702" y="68308"/>
                    </a:cubicBezTo>
                    <a:cubicBezTo>
                      <a:pt x="194254" y="95760"/>
                      <a:pt x="158470" y="123849"/>
                      <a:pt x="114380" y="12384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raphic 4">
                <a:extLst>
                  <a:ext uri="{FF2B5EF4-FFF2-40B4-BE49-F238E27FC236}">
                    <a16:creationId xmlns:a16="http://schemas.microsoft.com/office/drawing/2014/main" id="{71DCBD07-6C37-F765-CF2B-C7083F76CABD}"/>
                  </a:ext>
                </a:extLst>
              </p:cNvPr>
              <p:cNvSpPr/>
              <p:nvPr/>
            </p:nvSpPr>
            <p:spPr>
              <a:xfrm>
                <a:off x="610238" y="4452351"/>
                <a:ext cx="75401" cy="75330"/>
              </a:xfrm>
              <a:custGeom>
                <a:avLst/>
                <a:gdLst>
                  <a:gd name="connsiteX0" fmla="*/ 37701 w 75401"/>
                  <a:gd name="connsiteY0" fmla="*/ 0 h 75330"/>
                  <a:gd name="connsiteX1" fmla="*/ 0 w 75401"/>
                  <a:gd name="connsiteY1" fmla="*/ 37666 h 75330"/>
                  <a:gd name="connsiteX2" fmla="*/ 37701 w 75401"/>
                  <a:gd name="connsiteY2" fmla="*/ 75331 h 75330"/>
                  <a:gd name="connsiteX3" fmla="*/ 75401 w 75401"/>
                  <a:gd name="connsiteY3" fmla="*/ 37666 h 75330"/>
                  <a:gd name="connsiteX4" fmla="*/ 37701 w 75401"/>
                  <a:gd name="connsiteY4" fmla="*/ 0 h 75330"/>
                  <a:gd name="connsiteX5" fmla="*/ 37701 w 75401"/>
                  <a:gd name="connsiteY5" fmla="*/ 61925 h 75330"/>
                  <a:gd name="connsiteX6" fmla="*/ 12780 w 75401"/>
                  <a:gd name="connsiteY6" fmla="*/ 37027 h 75330"/>
                  <a:gd name="connsiteX7" fmla="*/ 37701 w 75401"/>
                  <a:gd name="connsiteY7" fmla="*/ 12130 h 75330"/>
                  <a:gd name="connsiteX8" fmla="*/ 62621 w 75401"/>
                  <a:gd name="connsiteY8" fmla="*/ 37027 h 75330"/>
                  <a:gd name="connsiteX9" fmla="*/ 37701 w 75401"/>
                  <a:gd name="connsiteY9" fmla="*/ 61925 h 7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401" h="75330">
                    <a:moveTo>
                      <a:pt x="37701" y="0"/>
                    </a:moveTo>
                    <a:cubicBezTo>
                      <a:pt x="17253" y="0"/>
                      <a:pt x="0" y="16599"/>
                      <a:pt x="0" y="37666"/>
                    </a:cubicBezTo>
                    <a:cubicBezTo>
                      <a:pt x="0" y="58733"/>
                      <a:pt x="16614" y="75331"/>
                      <a:pt x="37701" y="75331"/>
                    </a:cubicBezTo>
                    <a:cubicBezTo>
                      <a:pt x="58787" y="75331"/>
                      <a:pt x="75401" y="58733"/>
                      <a:pt x="75401" y="37666"/>
                    </a:cubicBezTo>
                    <a:cubicBezTo>
                      <a:pt x="75401" y="16599"/>
                      <a:pt x="58148" y="0"/>
                      <a:pt x="37701" y="0"/>
                    </a:cubicBezTo>
                    <a:close/>
                    <a:moveTo>
                      <a:pt x="37701" y="61925"/>
                    </a:moveTo>
                    <a:cubicBezTo>
                      <a:pt x="24282" y="61925"/>
                      <a:pt x="12780" y="51072"/>
                      <a:pt x="12780" y="37027"/>
                    </a:cubicBezTo>
                    <a:cubicBezTo>
                      <a:pt x="12780" y="23621"/>
                      <a:pt x="23643" y="12130"/>
                      <a:pt x="37701" y="12130"/>
                    </a:cubicBezTo>
                    <a:cubicBezTo>
                      <a:pt x="51758" y="12130"/>
                      <a:pt x="62621" y="22983"/>
                      <a:pt x="62621" y="37027"/>
                    </a:cubicBezTo>
                    <a:cubicBezTo>
                      <a:pt x="61982" y="50434"/>
                      <a:pt x="51119" y="61925"/>
                      <a:pt x="37701" y="6192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4063132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CBCB297-6310-0C8E-446A-0476DFB4D98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62F829C1-476D-F41E-F617-C89EA8B3D01E}"/>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2. Information Sharing</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t>“I really feel that fraud intelligence sharing can make a difference, but there are still practical barriers to doing it well” – </a:t>
            </a:r>
            <a:r>
              <a:rPr kumimoji="0" lang="en-US" sz="2000" b="1" i="1" u="none" strike="noStrike" kern="0" cap="none" spc="0" normalizeH="0" baseline="0" noProof="0">
                <a:ln>
                  <a:noFill/>
                </a:ln>
                <a:solidFill>
                  <a:srgbClr val="FFFFFF"/>
                </a:solidFill>
                <a:effectLst/>
                <a:uLnTx/>
                <a:uFillTx/>
                <a:latin typeface="Calibri" pitchFamily="34" charset="0"/>
                <a:ea typeface="Calibri" pitchFamily="34" charset="-122"/>
                <a:cs typeface="Calibri" pitchFamily="34" charset="-120"/>
                <a:sym typeface="Open Sans"/>
              </a:rPr>
              <a:t>SVP of Top 50 Global Insurance Firm</a:t>
            </a:r>
            <a:endParaRPr kumimoji="0" lang="en-US" sz="2000" b="0" i="0" u="none" strike="noStrike" kern="0" cap="none" spc="0" normalizeH="0" baseline="0" noProof="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30205230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1BA3C-E842-67CE-21B8-4D99643FB130}"/>
            </a:ext>
          </a:extLst>
        </p:cNvPr>
        <p:cNvGrpSpPr/>
        <p:nvPr/>
      </p:nvGrpSpPr>
      <p:grpSpPr>
        <a:xfrm>
          <a:off x="0" y="0"/>
          <a:ext cx="0" cy="0"/>
          <a:chOff x="0" y="0"/>
          <a:chExt cx="0" cy="0"/>
        </a:xfrm>
      </p:grpSpPr>
      <p:sp>
        <p:nvSpPr>
          <p:cNvPr id="187" name="Shape 3">
            <a:extLst>
              <a:ext uri="{FF2B5EF4-FFF2-40B4-BE49-F238E27FC236}">
                <a16:creationId xmlns:a16="http://schemas.microsoft.com/office/drawing/2014/main" id="{1F1F7017-6875-58F8-8370-7BC809F35473}"/>
              </a:ext>
            </a:extLst>
          </p:cNvPr>
          <p:cNvSpPr/>
          <p:nvPr/>
        </p:nvSpPr>
        <p:spPr>
          <a:xfrm>
            <a:off x="5070776" y="355729"/>
            <a:ext cx="7120320" cy="6499799"/>
          </a:xfrm>
          <a:prstGeom prst="roundRect">
            <a:avLst>
              <a:gd name="adj" fmla="val 1481"/>
            </a:avLst>
          </a:prstGeom>
          <a:solidFill>
            <a:schemeClr val="bg1"/>
          </a:solidFill>
          <a:ln w="10160">
            <a:solidFill>
              <a:srgbClr val="DDDDDD"/>
            </a:solidFill>
            <a:prstDash val="solid"/>
          </a:ln>
          <a:effectLst>
            <a:outerShdw blurRad="1524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0467A528-B5BF-3898-D005-E7DA90B5D1F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9" name="Shape 3">
            <a:extLst>
              <a:ext uri="{FF2B5EF4-FFF2-40B4-BE49-F238E27FC236}">
                <a16:creationId xmlns:a16="http://schemas.microsoft.com/office/drawing/2014/main" id="{7A500583-2550-72B1-F792-D7936C752945}"/>
              </a:ext>
            </a:extLst>
          </p:cNvPr>
          <p:cNvSpPr/>
          <p:nvPr/>
        </p:nvSpPr>
        <p:spPr>
          <a:xfrm>
            <a:off x="-904" y="363571"/>
            <a:ext cx="12192000" cy="6499799"/>
          </a:xfrm>
          <a:prstGeom prst="rect">
            <a:avLst/>
          </a:prstGeom>
          <a:solidFill>
            <a:schemeClr val="accent2"/>
          </a:solidFill>
          <a:ln w="10160">
            <a:solidFill>
              <a:schemeClr val="accent2"/>
            </a:solidFill>
            <a:prstDash val="solid"/>
          </a:ln>
          <a:effectLst>
            <a:outerShdw blurRad="1524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2" name="Text 4">
            <a:extLst>
              <a:ext uri="{FF2B5EF4-FFF2-40B4-BE49-F238E27FC236}">
                <a16:creationId xmlns:a16="http://schemas.microsoft.com/office/drawing/2014/main" id="{A6A94B2E-5185-CBFF-A61A-D1FA3E6E4574}"/>
              </a:ext>
            </a:extLst>
          </p:cNvPr>
          <p:cNvSpPr/>
          <p:nvPr/>
        </p:nvSpPr>
        <p:spPr>
          <a:xfrm>
            <a:off x="951806" y="1622595"/>
            <a:ext cx="8261641"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0" cap="none" spc="80" normalizeH="0" baseline="0" noProof="0" dirty="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ALIGNMENT ON THE PROBLEM</a:t>
            </a:r>
            <a:endParaRPr kumimoji="0" lang="en-US" sz="3500" b="0"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endParaRPr>
          </a:p>
        </p:txBody>
      </p:sp>
      <p:sp>
        <p:nvSpPr>
          <p:cNvPr id="14" name="Text 5">
            <a:extLst>
              <a:ext uri="{FF2B5EF4-FFF2-40B4-BE49-F238E27FC236}">
                <a16:creationId xmlns:a16="http://schemas.microsoft.com/office/drawing/2014/main" id="{ACFA1620-AF1F-FE5A-D444-7E4219838965}"/>
              </a:ext>
            </a:extLst>
          </p:cNvPr>
          <p:cNvSpPr/>
          <p:nvPr/>
        </p:nvSpPr>
        <p:spPr>
          <a:xfrm>
            <a:off x="951806" y="2107689"/>
            <a:ext cx="8944547" cy="5852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The top barriers are structural and external</a:t>
            </a:r>
            <a:endParaRPr kumimoji="0" lang="en-US" sz="3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2" name="Rectangle 1">
            <a:extLst>
              <a:ext uri="{FF2B5EF4-FFF2-40B4-BE49-F238E27FC236}">
                <a16:creationId xmlns:a16="http://schemas.microsoft.com/office/drawing/2014/main" id="{D55F8A13-97B7-DCD4-A2D5-D7565723B249}"/>
              </a:ext>
            </a:extLst>
          </p:cNvPr>
          <p:cNvSpPr/>
          <p:nvPr/>
        </p:nvSpPr>
        <p:spPr>
          <a:xfrm>
            <a:off x="-904" y="363571"/>
            <a:ext cx="12192904" cy="11320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5760" tIns="182880" rIns="365760" rtlCol="0" anchor="t" anchorCtr="0"/>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Fraud information sharing has long been a fixture of industry discussion, consistently receiving broad support from organizations, regulators, and industry forums alike. Yet despite this alignment in principle, meaningful information sharing remains difficult in practice. The more pressing question is not whether organizations see value in collaboration, but what barriers continue to impede it and what capabilities are required to enable it at scale.</a:t>
            </a:r>
          </a:p>
        </p:txBody>
      </p:sp>
      <p:cxnSp>
        <p:nvCxnSpPr>
          <p:cNvPr id="169" name="Straight Connector 168">
            <a:extLst>
              <a:ext uri="{FF2B5EF4-FFF2-40B4-BE49-F238E27FC236}">
                <a16:creationId xmlns:a16="http://schemas.microsoft.com/office/drawing/2014/main" id="{84261780-0FB4-9BEB-F436-BC576079C196}"/>
              </a:ext>
            </a:extLst>
          </p:cNvPr>
          <p:cNvCxnSpPr>
            <a:cxnSpLocks/>
          </p:cNvCxnSpPr>
          <p:nvPr/>
        </p:nvCxnSpPr>
        <p:spPr>
          <a:xfrm>
            <a:off x="1389205" y="4804905"/>
            <a:ext cx="10450" cy="518813"/>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CA2C981B-BE19-BF1E-04AA-583E5BACF94D}"/>
              </a:ext>
            </a:extLst>
          </p:cNvPr>
          <p:cNvGrpSpPr/>
          <p:nvPr/>
        </p:nvGrpSpPr>
        <p:grpSpPr>
          <a:xfrm>
            <a:off x="1010564" y="5150320"/>
            <a:ext cx="10170872" cy="1583660"/>
            <a:chOff x="823906" y="5150320"/>
            <a:chExt cx="10170872" cy="1583660"/>
          </a:xfrm>
        </p:grpSpPr>
        <p:sp>
          <p:nvSpPr>
            <p:cNvPr id="171" name="Shape 17">
              <a:extLst>
                <a:ext uri="{FF2B5EF4-FFF2-40B4-BE49-F238E27FC236}">
                  <a16:creationId xmlns:a16="http://schemas.microsoft.com/office/drawing/2014/main" id="{C32DD58C-748C-ABC1-8F0A-9D1DAC08D13B}"/>
                </a:ext>
              </a:extLst>
            </p:cNvPr>
            <p:cNvSpPr/>
            <p:nvPr/>
          </p:nvSpPr>
          <p:spPr>
            <a:xfrm>
              <a:off x="823906" y="5150320"/>
              <a:ext cx="10170872" cy="1583660"/>
            </a:xfrm>
            <a:prstGeom prst="roundRect">
              <a:avLst>
                <a:gd name="adj" fmla="val 3125"/>
              </a:avLst>
            </a:prstGeom>
            <a:solidFill>
              <a:srgbClr val="86BC25"/>
            </a:solidFill>
            <a:ln w="10160">
              <a:no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nvGrpSpPr>
            <p:cNvPr id="43" name="Group 42">
              <a:extLst>
                <a:ext uri="{FF2B5EF4-FFF2-40B4-BE49-F238E27FC236}">
                  <a16:creationId xmlns:a16="http://schemas.microsoft.com/office/drawing/2014/main" id="{A9DB9C68-400A-FA1F-0A4B-2293DAE1695E}"/>
                </a:ext>
              </a:extLst>
            </p:cNvPr>
            <p:cNvGrpSpPr/>
            <p:nvPr/>
          </p:nvGrpSpPr>
          <p:grpSpPr>
            <a:xfrm>
              <a:off x="1493768" y="5683029"/>
              <a:ext cx="8831149" cy="472911"/>
              <a:chOff x="1501258" y="5752479"/>
              <a:chExt cx="8831149" cy="472911"/>
            </a:xfrm>
          </p:grpSpPr>
          <p:grpSp>
            <p:nvGrpSpPr>
              <p:cNvPr id="182" name="Group 181">
                <a:extLst>
                  <a:ext uri="{FF2B5EF4-FFF2-40B4-BE49-F238E27FC236}">
                    <a16:creationId xmlns:a16="http://schemas.microsoft.com/office/drawing/2014/main" id="{42E90344-6F7D-F36A-9551-BF1E3B8E26A2}"/>
                  </a:ext>
                </a:extLst>
              </p:cNvPr>
              <p:cNvGrpSpPr/>
              <p:nvPr/>
            </p:nvGrpSpPr>
            <p:grpSpPr>
              <a:xfrm>
                <a:off x="1501258" y="5752479"/>
                <a:ext cx="4315309" cy="472911"/>
                <a:chOff x="401653" y="5752479"/>
                <a:chExt cx="2357810" cy="347472"/>
              </a:xfrm>
            </p:grpSpPr>
            <p:sp>
              <p:nvSpPr>
                <p:cNvPr id="173" name="Text 19">
                  <a:extLst>
                    <a:ext uri="{FF2B5EF4-FFF2-40B4-BE49-F238E27FC236}">
                      <a16:creationId xmlns:a16="http://schemas.microsoft.com/office/drawing/2014/main" id="{986ED791-DF16-5E0D-DCE2-271A851B6B8E}"/>
                    </a:ext>
                  </a:extLst>
                </p:cNvPr>
                <p:cNvSpPr/>
                <p:nvPr/>
              </p:nvSpPr>
              <p:spPr>
                <a:xfrm>
                  <a:off x="401653" y="5770767"/>
                  <a:ext cx="791597"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0" cap="none" spc="0" normalizeH="0" baseline="0" noProof="0" dirty="0">
                      <a:ln>
                        <a:noFill/>
                      </a:ln>
                      <a:solidFill>
                        <a:srgbClr val="FFFFFF">
                          <a:lumMod val="95000"/>
                        </a:srgbClr>
                      </a:solidFill>
                      <a:effectLst/>
                      <a:uLnTx/>
                      <a:uFillTx/>
                      <a:latin typeface="Segoe UI" panose="020B0502040204020203" pitchFamily="34" charset="0"/>
                      <a:ea typeface="Arial" pitchFamily="34" charset="-122"/>
                      <a:cs typeface="Segoe UI" panose="020B0502040204020203" pitchFamily="34" charset="0"/>
                      <a:sym typeface="Arial"/>
                    </a:rPr>
                    <a:t>43%</a:t>
                  </a:r>
                  <a:endParaRPr kumimoji="0" lang="en-US" sz="3000" b="0" i="0" u="none" strike="noStrike" kern="0" cap="none" spc="0" normalizeH="0" baseline="0" noProof="0" dirty="0">
                    <a:ln>
                      <a:noFill/>
                    </a:ln>
                    <a:solidFill>
                      <a:srgbClr val="FFFFFF">
                        <a:lumMod val="95000"/>
                      </a:srgbClr>
                    </a:solidFill>
                    <a:effectLst/>
                    <a:uLnTx/>
                    <a:uFillTx/>
                    <a:latin typeface="Segoe UI" panose="020B0502040204020203" pitchFamily="34" charset="0"/>
                    <a:cs typeface="Segoe UI" panose="020B0502040204020203" pitchFamily="34" charset="0"/>
                    <a:sym typeface="Arial"/>
                  </a:endParaRPr>
                </a:p>
              </p:txBody>
            </p:sp>
            <p:sp>
              <p:nvSpPr>
                <p:cNvPr id="174" name="Text 20">
                  <a:extLst>
                    <a:ext uri="{FF2B5EF4-FFF2-40B4-BE49-F238E27FC236}">
                      <a16:creationId xmlns:a16="http://schemas.microsoft.com/office/drawing/2014/main" id="{C3AF36EA-1963-08AC-B2B4-E8FD84BA3DB9}"/>
                    </a:ext>
                  </a:extLst>
                </p:cNvPr>
                <p:cNvSpPr/>
                <p:nvPr/>
              </p:nvSpPr>
              <p:spPr>
                <a:xfrm>
                  <a:off x="1128500" y="5752479"/>
                  <a:ext cx="1630963"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00" b="1" i="0" u="none" strike="noStrike" kern="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Lack of external</a:t>
                  </a:r>
                  <a:br>
                    <a:rPr kumimoji="0" lang="en-US" sz="1700" b="1" i="0" u="none" strike="noStrike" kern="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br>
                  <a:r>
                    <a:rPr kumimoji="0" lang="en-US" sz="1700" b="1" i="0" u="none" strike="noStrike" kern="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industry participation</a:t>
                  </a:r>
                  <a:endParaRPr kumimoji="0" lang="en-US" sz="17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endParaRPr>
                </a:p>
              </p:txBody>
            </p:sp>
          </p:grpSp>
          <p:sp>
            <p:nvSpPr>
              <p:cNvPr id="175" name="Shape 21">
                <a:extLst>
                  <a:ext uri="{FF2B5EF4-FFF2-40B4-BE49-F238E27FC236}">
                    <a16:creationId xmlns:a16="http://schemas.microsoft.com/office/drawing/2014/main" id="{DABCF355-43B4-6847-9210-917489679B5E}"/>
                  </a:ext>
                </a:extLst>
              </p:cNvPr>
              <p:cNvSpPr/>
              <p:nvPr/>
            </p:nvSpPr>
            <p:spPr>
              <a:xfrm>
                <a:off x="5618061" y="5775807"/>
                <a:ext cx="296602" cy="426254"/>
              </a:xfrm>
              <a:prstGeom prst="chevron">
                <a:avLst/>
              </a:prstGeom>
              <a:solidFill>
                <a:schemeClr val="accent2"/>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nvGrpSpPr>
              <p:cNvPr id="183" name="Group 182">
                <a:extLst>
                  <a:ext uri="{FF2B5EF4-FFF2-40B4-BE49-F238E27FC236}">
                    <a16:creationId xmlns:a16="http://schemas.microsoft.com/office/drawing/2014/main" id="{AF1FAB52-22CA-B987-B0DC-A6630043F603}"/>
                  </a:ext>
                </a:extLst>
              </p:cNvPr>
              <p:cNvGrpSpPr/>
              <p:nvPr/>
            </p:nvGrpSpPr>
            <p:grpSpPr>
              <a:xfrm>
                <a:off x="6017098" y="5752479"/>
                <a:ext cx="4315309" cy="472911"/>
                <a:chOff x="2726590" y="5752479"/>
                <a:chExt cx="2357810" cy="347472"/>
              </a:xfrm>
            </p:grpSpPr>
            <p:sp>
              <p:nvSpPr>
                <p:cNvPr id="176" name="Text 22">
                  <a:extLst>
                    <a:ext uri="{FF2B5EF4-FFF2-40B4-BE49-F238E27FC236}">
                      <a16:creationId xmlns:a16="http://schemas.microsoft.com/office/drawing/2014/main" id="{74931798-07E0-1914-3232-0E35AF25C150}"/>
                    </a:ext>
                  </a:extLst>
                </p:cNvPr>
                <p:cNvSpPr/>
                <p:nvPr/>
              </p:nvSpPr>
              <p:spPr>
                <a:xfrm>
                  <a:off x="2726590" y="5770767"/>
                  <a:ext cx="842667"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0" cap="none" spc="0" normalizeH="0" baseline="0" noProof="0" dirty="0">
                      <a:ln>
                        <a:noFill/>
                      </a:ln>
                      <a:solidFill>
                        <a:srgbClr val="046A38"/>
                      </a:solidFill>
                      <a:effectLst/>
                      <a:uLnTx/>
                      <a:uFillTx/>
                      <a:latin typeface="Segoe UI" panose="020B0502040204020203" pitchFamily="34" charset="0"/>
                      <a:ea typeface="Arial" pitchFamily="34" charset="-122"/>
                      <a:cs typeface="Segoe UI" panose="020B0502040204020203" pitchFamily="34" charset="0"/>
                      <a:sym typeface="Arial"/>
                    </a:rPr>
                    <a:t>57%</a:t>
                  </a:r>
                  <a:endParaRPr kumimoji="0" lang="en-US" sz="3000" b="0" i="0" u="none" strike="noStrike" kern="0" cap="none" spc="0" normalizeH="0" baseline="0" noProof="0" dirty="0">
                    <a:ln>
                      <a:noFill/>
                    </a:ln>
                    <a:solidFill>
                      <a:srgbClr val="046A38"/>
                    </a:solidFill>
                    <a:effectLst/>
                    <a:uLnTx/>
                    <a:uFillTx/>
                    <a:latin typeface="Segoe UI" panose="020B0502040204020203" pitchFamily="34" charset="0"/>
                    <a:cs typeface="Segoe UI" panose="020B0502040204020203" pitchFamily="34" charset="0"/>
                    <a:sym typeface="Arial"/>
                  </a:endParaRPr>
                </a:p>
              </p:txBody>
            </p:sp>
            <p:sp>
              <p:nvSpPr>
                <p:cNvPr id="177" name="Text 23">
                  <a:extLst>
                    <a:ext uri="{FF2B5EF4-FFF2-40B4-BE49-F238E27FC236}">
                      <a16:creationId xmlns:a16="http://schemas.microsoft.com/office/drawing/2014/main" id="{61F52904-5221-0E21-E03A-7F4AD2B05525}"/>
                    </a:ext>
                  </a:extLst>
                </p:cNvPr>
                <p:cNvSpPr/>
                <p:nvPr/>
              </p:nvSpPr>
              <p:spPr>
                <a:xfrm>
                  <a:off x="3453437" y="5752479"/>
                  <a:ext cx="1630963"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00" b="1" i="0" u="none" strike="noStrike" kern="0" cap="none" spc="0" normalizeH="0" baseline="0" noProof="0" dirty="0">
                      <a:ln>
                        <a:noFill/>
                      </a:ln>
                      <a:solidFill>
                        <a:srgbClr val="046A38"/>
                      </a:solidFill>
                      <a:effectLst/>
                      <a:uLnTx/>
                      <a:uFillTx/>
                      <a:latin typeface="Segoe UI" panose="020B0502040204020203" pitchFamily="34" charset="0"/>
                      <a:ea typeface="Arial" pitchFamily="34" charset="-122"/>
                      <a:cs typeface="Segoe UI" panose="020B0502040204020203" pitchFamily="34" charset="0"/>
                      <a:sym typeface="Arial"/>
                    </a:rPr>
                    <a:t>Insufficient Budget /</a:t>
                  </a:r>
                  <a:endParaRPr kumimoji="0" lang="en-US" sz="1700" b="1" i="0" u="none" strike="noStrike" kern="0" cap="none" spc="0" normalizeH="0" baseline="0" noProof="0" dirty="0">
                    <a:ln>
                      <a:noFill/>
                    </a:ln>
                    <a:solidFill>
                      <a:srgbClr val="046A38"/>
                    </a:solidFill>
                    <a:effectLst/>
                    <a:uLnTx/>
                    <a:uFillTx/>
                    <a:latin typeface="Segoe UI" panose="020B0502040204020203" pitchFamily="34" charset="0"/>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00" b="1" i="0" u="none" strike="noStrike" kern="0" cap="none" spc="0" normalizeH="0" baseline="0" noProof="0" dirty="0">
                      <a:ln>
                        <a:noFill/>
                      </a:ln>
                      <a:solidFill>
                        <a:srgbClr val="046A38"/>
                      </a:solidFill>
                      <a:effectLst/>
                      <a:uLnTx/>
                      <a:uFillTx/>
                      <a:latin typeface="Segoe UI" panose="020B0502040204020203" pitchFamily="34" charset="0"/>
                      <a:ea typeface="Arial" pitchFamily="34" charset="-122"/>
                      <a:cs typeface="Segoe UI" panose="020B0502040204020203" pitchFamily="34" charset="0"/>
                      <a:sym typeface="Arial"/>
                    </a:rPr>
                    <a:t>resources</a:t>
                  </a:r>
                  <a:endParaRPr kumimoji="0" lang="en-US" sz="1700" b="1" i="0" u="none" strike="noStrike" kern="0" cap="none" spc="0" normalizeH="0" baseline="0" noProof="0" dirty="0">
                    <a:ln>
                      <a:noFill/>
                    </a:ln>
                    <a:solidFill>
                      <a:srgbClr val="046A38"/>
                    </a:solidFill>
                    <a:effectLst/>
                    <a:uLnTx/>
                    <a:uFillTx/>
                    <a:latin typeface="Segoe UI" panose="020B0502040204020203" pitchFamily="34" charset="0"/>
                    <a:cs typeface="Segoe UI" panose="020B0502040204020203" pitchFamily="34" charset="0"/>
                    <a:sym typeface="Arial"/>
                  </a:endParaRPr>
                </a:p>
              </p:txBody>
            </p:sp>
          </p:grpSp>
        </p:grpSp>
        <p:sp>
          <p:nvSpPr>
            <p:cNvPr id="178" name="Text 24">
              <a:extLst>
                <a:ext uri="{FF2B5EF4-FFF2-40B4-BE49-F238E27FC236}">
                  <a16:creationId xmlns:a16="http://schemas.microsoft.com/office/drawing/2014/main" id="{E552E4E1-E311-C29C-3EFE-98CEB8740C28}"/>
                </a:ext>
              </a:extLst>
            </p:cNvPr>
            <p:cNvSpPr/>
            <p:nvPr/>
          </p:nvSpPr>
          <p:spPr>
            <a:xfrm>
              <a:off x="1102318" y="6284286"/>
              <a:ext cx="9614049" cy="390797"/>
            </a:xfrm>
            <a:prstGeom prst="rect">
              <a:avLst/>
            </a:prstGeom>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0" i="1" u="none" strike="noStrike" kern="0" cap="none" spc="0" normalizeH="0" baseline="0" noProof="0" dirty="0">
                  <a:ln>
                    <a:noFill/>
                  </a:ln>
                  <a:solidFill>
                    <a:srgbClr val="000000"/>
                  </a:solidFill>
                  <a:effectLst/>
                  <a:uLnTx/>
                  <a:uFillTx/>
                  <a:latin typeface="Segoe UI" panose="020B0502040204020203" pitchFamily="34" charset="0"/>
                  <a:ea typeface="Arial" pitchFamily="34" charset="-122"/>
                  <a:cs typeface="Segoe UI" panose="020B0502040204020203" pitchFamily="34" charset="0"/>
                  <a:sym typeface="Arial"/>
                </a:rPr>
                <a:t>Supported by established initiatives such as AFCX, Australian banking respondents were less concerned with external participation and more focused on scale, with 57% citing insufficient budget or resource investment as the third most significant barrier.</a:t>
              </a:r>
              <a:endParaRPr kumimoji="0" lang="en-US" sz="13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nvGrpSpPr>
            <p:cNvPr id="44" name="Group 43">
              <a:extLst>
                <a:ext uri="{FF2B5EF4-FFF2-40B4-BE49-F238E27FC236}">
                  <a16:creationId xmlns:a16="http://schemas.microsoft.com/office/drawing/2014/main" id="{0DC57EB9-EFD2-5740-6E0A-40F3B8567419}"/>
                </a:ext>
              </a:extLst>
            </p:cNvPr>
            <p:cNvGrpSpPr/>
            <p:nvPr/>
          </p:nvGrpSpPr>
          <p:grpSpPr>
            <a:xfrm>
              <a:off x="1067999" y="5265158"/>
              <a:ext cx="6421131" cy="360000"/>
              <a:chOff x="1067999" y="5334608"/>
              <a:chExt cx="6421131" cy="360000"/>
            </a:xfrm>
          </p:grpSpPr>
          <p:sp>
            <p:nvSpPr>
              <p:cNvPr id="172" name="Text 18">
                <a:extLst>
                  <a:ext uri="{FF2B5EF4-FFF2-40B4-BE49-F238E27FC236}">
                    <a16:creationId xmlns:a16="http://schemas.microsoft.com/office/drawing/2014/main" id="{EA47345B-6F9A-6042-3B9D-EBC8F3BAE046}"/>
                  </a:ext>
                </a:extLst>
              </p:cNvPr>
              <p:cNvSpPr/>
              <p:nvPr/>
            </p:nvSpPr>
            <p:spPr>
              <a:xfrm>
                <a:off x="1683728" y="5408948"/>
                <a:ext cx="5805402" cy="211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1" i="0" u="none" strike="noStrike" kern="0" cap="none" spc="35" normalizeH="0" baseline="0" noProof="0" dirty="0">
                    <a:ln>
                      <a:noFill/>
                    </a:ln>
                    <a:solidFill>
                      <a:srgbClr val="000000"/>
                    </a:solidFill>
                    <a:effectLst/>
                    <a:uLnTx/>
                    <a:uFillTx/>
                    <a:latin typeface="Segoe UI" panose="020B0502040204020203" pitchFamily="34" charset="0"/>
                    <a:ea typeface="Arial" pitchFamily="34" charset="-122"/>
                    <a:cs typeface="Segoe UI" panose="020B0502040204020203" pitchFamily="34" charset="0"/>
                    <a:sym typeface="Arial"/>
                  </a:rPr>
                  <a:t>AUSTRALIA: THE BARRIER SHIFTS</a:t>
                </a:r>
                <a:endParaRPr kumimoji="0" lang="en-US" sz="22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pic>
            <p:nvPicPr>
              <p:cNvPr id="185" name="Picture 184">
                <a:extLst>
                  <a:ext uri="{FF2B5EF4-FFF2-40B4-BE49-F238E27FC236}">
                    <a16:creationId xmlns:a16="http://schemas.microsoft.com/office/drawing/2014/main" id="{7CD3D1D7-1823-4EDE-5F8D-BCC8534D837E}"/>
                  </a:ext>
                </a:extLst>
              </p:cNvPr>
              <p:cNvPicPr>
                <a:picLocks noChangeAspect="1"/>
              </p:cNvPicPr>
              <p:nvPr/>
            </p:nvPicPr>
            <p:blipFill>
              <a:blip r:embed="rId4"/>
              <a:stretch>
                <a:fillRect/>
              </a:stretch>
            </p:blipFill>
            <p:spPr>
              <a:xfrm>
                <a:off x="1067999" y="5334608"/>
                <a:ext cx="540000" cy="360000"/>
              </a:xfrm>
              <a:prstGeom prst="roundRect">
                <a:avLst/>
              </a:prstGeom>
            </p:spPr>
          </p:pic>
        </p:grpSp>
      </p:grpSp>
      <p:grpSp>
        <p:nvGrpSpPr>
          <p:cNvPr id="39" name="Group 38">
            <a:extLst>
              <a:ext uri="{FF2B5EF4-FFF2-40B4-BE49-F238E27FC236}">
                <a16:creationId xmlns:a16="http://schemas.microsoft.com/office/drawing/2014/main" id="{D2F1C1FF-A789-D88C-04E9-A24087E74263}"/>
              </a:ext>
            </a:extLst>
          </p:cNvPr>
          <p:cNvGrpSpPr/>
          <p:nvPr/>
        </p:nvGrpSpPr>
        <p:grpSpPr>
          <a:xfrm>
            <a:off x="1129655" y="4257063"/>
            <a:ext cx="8072221" cy="540000"/>
            <a:chOff x="736114" y="4257063"/>
            <a:chExt cx="8072221" cy="540000"/>
          </a:xfrm>
        </p:grpSpPr>
        <p:grpSp>
          <p:nvGrpSpPr>
            <p:cNvPr id="37" name="Group 36">
              <a:extLst>
                <a:ext uri="{FF2B5EF4-FFF2-40B4-BE49-F238E27FC236}">
                  <a16:creationId xmlns:a16="http://schemas.microsoft.com/office/drawing/2014/main" id="{AF076620-243D-6FCD-A01D-AAE4FFBE4E18}"/>
                </a:ext>
              </a:extLst>
            </p:cNvPr>
            <p:cNvGrpSpPr/>
            <p:nvPr/>
          </p:nvGrpSpPr>
          <p:grpSpPr>
            <a:xfrm>
              <a:off x="1482159" y="4275603"/>
              <a:ext cx="7326176" cy="502921"/>
              <a:chOff x="1482159" y="4209000"/>
              <a:chExt cx="7326176" cy="502921"/>
            </a:xfrm>
          </p:grpSpPr>
          <p:sp>
            <p:nvSpPr>
              <p:cNvPr id="45" name="Text 14">
                <a:extLst>
                  <a:ext uri="{FF2B5EF4-FFF2-40B4-BE49-F238E27FC236}">
                    <a16:creationId xmlns:a16="http://schemas.microsoft.com/office/drawing/2014/main" id="{4F720AF9-815C-7F9B-9DB5-585F8AFE5601}"/>
                  </a:ext>
                </a:extLst>
              </p:cNvPr>
              <p:cNvSpPr/>
              <p:nvPr/>
            </p:nvSpPr>
            <p:spPr>
              <a:xfrm>
                <a:off x="1482159" y="4209000"/>
                <a:ext cx="7326176" cy="502921"/>
              </a:xfrm>
              <a:prstGeom prst="roundRect">
                <a:avLst/>
              </a:prstGeom>
              <a:solidFill>
                <a:schemeClr val="accent1"/>
              </a:solidFill>
              <a:ln/>
            </p:spPr>
            <p:txBody>
              <a:bodyPr wrap="square" lIns="9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Lack of external industry participation</a:t>
                </a:r>
                <a:endParaRPr kumimoji="0" lang="en-US" sz="25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23" name="TextBox 22">
                <a:extLst>
                  <a:ext uri="{FF2B5EF4-FFF2-40B4-BE49-F238E27FC236}">
                    <a16:creationId xmlns:a16="http://schemas.microsoft.com/office/drawing/2014/main" id="{74473524-FBA1-B819-3D43-381A1EE49B4D}"/>
                  </a:ext>
                </a:extLst>
              </p:cNvPr>
              <p:cNvSpPr txBox="1"/>
              <p:nvPr/>
            </p:nvSpPr>
            <p:spPr>
              <a:xfrm>
                <a:off x="7874283" y="4221933"/>
                <a:ext cx="934052"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00" b="0" i="1"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60%</a:t>
                </a:r>
                <a:endParaRPr kumimoji="0" lang="en-CA" sz="14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sp>
          <p:nvSpPr>
            <p:cNvPr id="26" name="Graphic 4">
              <a:extLst>
                <a:ext uri="{FF2B5EF4-FFF2-40B4-BE49-F238E27FC236}">
                  <a16:creationId xmlns:a16="http://schemas.microsoft.com/office/drawing/2014/main" id="{4CBA9D85-600B-4324-BFC6-2CADE12FC3B9}"/>
                </a:ext>
              </a:extLst>
            </p:cNvPr>
            <p:cNvSpPr/>
            <p:nvPr/>
          </p:nvSpPr>
          <p:spPr>
            <a:xfrm>
              <a:off x="736114" y="4257063"/>
              <a:ext cx="540000" cy="540000"/>
            </a:xfrm>
            <a:custGeom>
              <a:avLst/>
              <a:gdLst>
                <a:gd name="connsiteX0" fmla="*/ 181474 w 362309"/>
                <a:gd name="connsiteY0" fmla="*/ 0 h 361971"/>
                <a:gd name="connsiteX1" fmla="*/ 0 w 362309"/>
                <a:gd name="connsiteY1" fmla="*/ 180667 h 361971"/>
                <a:gd name="connsiteX2" fmla="*/ 180835 w 362309"/>
                <a:gd name="connsiteY2" fmla="*/ 361971 h 361971"/>
                <a:gd name="connsiteX3" fmla="*/ 362310 w 362309"/>
                <a:gd name="connsiteY3" fmla="*/ 181305 h 361971"/>
                <a:gd name="connsiteX4" fmla="*/ 362310 w 362309"/>
                <a:gd name="connsiteY4" fmla="*/ 181305 h 361971"/>
                <a:gd name="connsiteX5" fmla="*/ 181474 w 362309"/>
                <a:gd name="connsiteY5" fmla="*/ 0 h 361971"/>
                <a:gd name="connsiteX6" fmla="*/ 221092 w 362309"/>
                <a:gd name="connsiteY6" fmla="*/ 257274 h 361971"/>
                <a:gd name="connsiteX7" fmla="*/ 212785 w 362309"/>
                <a:gd name="connsiteY7" fmla="*/ 260466 h 361971"/>
                <a:gd name="connsiteX8" fmla="*/ 188503 w 362309"/>
                <a:gd name="connsiteY8" fmla="*/ 255359 h 361971"/>
                <a:gd name="connsiteX9" fmla="*/ 169972 w 362309"/>
                <a:gd name="connsiteY9" fmla="*/ 251529 h 361971"/>
                <a:gd name="connsiteX10" fmla="*/ 154637 w 362309"/>
                <a:gd name="connsiteY10" fmla="*/ 225993 h 361971"/>
                <a:gd name="connsiteX11" fmla="*/ 155915 w 362309"/>
                <a:gd name="connsiteY11" fmla="*/ 206203 h 361971"/>
                <a:gd name="connsiteX12" fmla="*/ 171250 w 362309"/>
                <a:gd name="connsiteY12" fmla="*/ 170452 h 361971"/>
                <a:gd name="connsiteX13" fmla="*/ 166777 w 362309"/>
                <a:gd name="connsiteY13" fmla="*/ 125126 h 361971"/>
                <a:gd name="connsiteX14" fmla="*/ 139301 w 362309"/>
                <a:gd name="connsiteY14" fmla="*/ 112996 h 361971"/>
                <a:gd name="connsiteX15" fmla="*/ 111824 w 362309"/>
                <a:gd name="connsiteY15" fmla="*/ 125126 h 361971"/>
                <a:gd name="connsiteX16" fmla="*/ 107351 w 362309"/>
                <a:gd name="connsiteY16" fmla="*/ 170452 h 361971"/>
                <a:gd name="connsiteX17" fmla="*/ 122687 w 362309"/>
                <a:gd name="connsiteY17" fmla="*/ 206203 h 361971"/>
                <a:gd name="connsiteX18" fmla="*/ 123965 w 362309"/>
                <a:gd name="connsiteY18" fmla="*/ 225993 h 361971"/>
                <a:gd name="connsiteX19" fmla="*/ 108629 w 362309"/>
                <a:gd name="connsiteY19" fmla="*/ 251529 h 361971"/>
                <a:gd name="connsiteX20" fmla="*/ 90098 w 362309"/>
                <a:gd name="connsiteY20" fmla="*/ 255359 h 361971"/>
                <a:gd name="connsiteX21" fmla="*/ 65816 w 362309"/>
                <a:gd name="connsiteY21" fmla="*/ 260466 h 361971"/>
                <a:gd name="connsiteX22" fmla="*/ 63261 w 362309"/>
                <a:gd name="connsiteY22" fmla="*/ 261105 h 361971"/>
                <a:gd name="connsiteX23" fmla="*/ 57509 w 362309"/>
                <a:gd name="connsiteY23" fmla="*/ 257274 h 361971"/>
                <a:gd name="connsiteX24" fmla="*/ 60704 w 362309"/>
                <a:gd name="connsiteY24" fmla="*/ 248975 h 361971"/>
                <a:gd name="connsiteX25" fmla="*/ 60704 w 362309"/>
                <a:gd name="connsiteY25" fmla="*/ 248975 h 361971"/>
                <a:gd name="connsiteX26" fmla="*/ 89459 w 362309"/>
                <a:gd name="connsiteY26" fmla="*/ 242591 h 361971"/>
                <a:gd name="connsiteX27" fmla="*/ 102878 w 362309"/>
                <a:gd name="connsiteY27" fmla="*/ 240676 h 361971"/>
                <a:gd name="connsiteX28" fmla="*/ 112463 w 362309"/>
                <a:gd name="connsiteY28" fmla="*/ 213863 h 361971"/>
                <a:gd name="connsiteX29" fmla="*/ 95210 w 362309"/>
                <a:gd name="connsiteY29" fmla="*/ 173644 h 361971"/>
                <a:gd name="connsiteX30" fmla="*/ 102239 w 362309"/>
                <a:gd name="connsiteY30" fmla="*/ 117465 h 361971"/>
                <a:gd name="connsiteX31" fmla="*/ 139301 w 362309"/>
                <a:gd name="connsiteY31" fmla="*/ 100867 h 361971"/>
                <a:gd name="connsiteX32" fmla="*/ 176362 w 362309"/>
                <a:gd name="connsiteY32" fmla="*/ 117465 h 361971"/>
                <a:gd name="connsiteX33" fmla="*/ 183391 w 362309"/>
                <a:gd name="connsiteY33" fmla="*/ 173644 h 361971"/>
                <a:gd name="connsiteX34" fmla="*/ 166138 w 362309"/>
                <a:gd name="connsiteY34" fmla="*/ 214502 h 361971"/>
                <a:gd name="connsiteX35" fmla="*/ 175723 w 362309"/>
                <a:gd name="connsiteY35" fmla="*/ 240676 h 361971"/>
                <a:gd name="connsiteX36" fmla="*/ 189142 w 362309"/>
                <a:gd name="connsiteY36" fmla="*/ 242591 h 361971"/>
                <a:gd name="connsiteX37" fmla="*/ 217897 w 362309"/>
                <a:gd name="connsiteY37" fmla="*/ 248975 h 361971"/>
                <a:gd name="connsiteX38" fmla="*/ 221092 w 362309"/>
                <a:gd name="connsiteY38" fmla="*/ 257274 h 361971"/>
                <a:gd name="connsiteX39" fmla="*/ 304800 w 362309"/>
                <a:gd name="connsiteY39" fmla="*/ 241953 h 361971"/>
                <a:gd name="connsiteX40" fmla="*/ 295854 w 362309"/>
                <a:gd name="connsiteY40" fmla="*/ 243868 h 361971"/>
                <a:gd name="connsiteX41" fmla="*/ 295854 w 362309"/>
                <a:gd name="connsiteY41" fmla="*/ 243868 h 361971"/>
                <a:gd name="connsiteX42" fmla="*/ 279879 w 362309"/>
                <a:gd name="connsiteY42" fmla="*/ 240038 h 361971"/>
                <a:gd name="connsiteX43" fmla="*/ 261987 w 362309"/>
                <a:gd name="connsiteY43" fmla="*/ 234930 h 361971"/>
                <a:gd name="connsiteX44" fmla="*/ 253681 w 362309"/>
                <a:gd name="connsiteY44" fmla="*/ 200457 h 361971"/>
                <a:gd name="connsiteX45" fmla="*/ 265182 w 362309"/>
                <a:gd name="connsiteY45" fmla="*/ 173006 h 361971"/>
                <a:gd name="connsiteX46" fmla="*/ 261987 w 362309"/>
                <a:gd name="connsiteY46" fmla="*/ 139809 h 361971"/>
                <a:gd name="connsiteX47" fmla="*/ 219175 w 362309"/>
                <a:gd name="connsiteY47" fmla="*/ 138532 h 361971"/>
                <a:gd name="connsiteX48" fmla="*/ 217897 w 362309"/>
                <a:gd name="connsiteY48" fmla="*/ 139809 h 361971"/>
                <a:gd name="connsiteX49" fmla="*/ 214702 w 362309"/>
                <a:gd name="connsiteY49" fmla="*/ 173006 h 361971"/>
                <a:gd name="connsiteX50" fmla="*/ 226204 w 362309"/>
                <a:gd name="connsiteY50" fmla="*/ 200457 h 361971"/>
                <a:gd name="connsiteX51" fmla="*/ 217897 w 362309"/>
                <a:gd name="connsiteY51" fmla="*/ 234292 h 361971"/>
                <a:gd name="connsiteX52" fmla="*/ 208951 w 362309"/>
                <a:gd name="connsiteY52" fmla="*/ 233015 h 361971"/>
                <a:gd name="connsiteX53" fmla="*/ 210229 w 362309"/>
                <a:gd name="connsiteY53" fmla="*/ 224078 h 361971"/>
                <a:gd name="connsiteX54" fmla="*/ 210229 w 362309"/>
                <a:gd name="connsiteY54" fmla="*/ 224078 h 361971"/>
                <a:gd name="connsiteX55" fmla="*/ 215341 w 362309"/>
                <a:gd name="connsiteY55" fmla="*/ 207479 h 361971"/>
                <a:gd name="connsiteX56" fmla="*/ 201922 w 362309"/>
                <a:gd name="connsiteY56" fmla="*/ 175560 h 361971"/>
                <a:gd name="connsiteX57" fmla="*/ 207673 w 362309"/>
                <a:gd name="connsiteY57" fmla="*/ 130872 h 361971"/>
                <a:gd name="connsiteX58" fmla="*/ 268377 w 362309"/>
                <a:gd name="connsiteY58" fmla="*/ 127680 h 361971"/>
                <a:gd name="connsiteX59" fmla="*/ 271572 w 362309"/>
                <a:gd name="connsiteY59" fmla="*/ 130872 h 361971"/>
                <a:gd name="connsiteX60" fmla="*/ 277323 w 362309"/>
                <a:gd name="connsiteY60" fmla="*/ 175560 h 361971"/>
                <a:gd name="connsiteX61" fmla="*/ 263904 w 362309"/>
                <a:gd name="connsiteY61" fmla="*/ 207479 h 361971"/>
                <a:gd name="connsiteX62" fmla="*/ 269016 w 362309"/>
                <a:gd name="connsiteY62" fmla="*/ 224078 h 361971"/>
                <a:gd name="connsiteX63" fmla="*/ 281796 w 362309"/>
                <a:gd name="connsiteY63" fmla="*/ 226631 h 361971"/>
                <a:gd name="connsiteX64" fmla="*/ 302244 w 362309"/>
                <a:gd name="connsiteY64" fmla="*/ 232377 h 361971"/>
                <a:gd name="connsiteX65" fmla="*/ 304800 w 362309"/>
                <a:gd name="connsiteY65" fmla="*/ 241953 h 361971"/>
                <a:gd name="connsiteX66" fmla="*/ 304800 w 362309"/>
                <a:gd name="connsiteY66" fmla="*/ 241953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2309" h="361971">
                  <a:moveTo>
                    <a:pt x="181474" y="0"/>
                  </a:moveTo>
                  <a:cubicBezTo>
                    <a:pt x="81152" y="0"/>
                    <a:pt x="0" y="81076"/>
                    <a:pt x="0" y="180667"/>
                  </a:cubicBezTo>
                  <a:cubicBezTo>
                    <a:pt x="0" y="280257"/>
                    <a:pt x="81152" y="361971"/>
                    <a:pt x="180835" y="361971"/>
                  </a:cubicBezTo>
                  <a:cubicBezTo>
                    <a:pt x="280518" y="361971"/>
                    <a:pt x="362310" y="280895"/>
                    <a:pt x="362310" y="181305"/>
                  </a:cubicBezTo>
                  <a:lnTo>
                    <a:pt x="362310" y="181305"/>
                  </a:lnTo>
                  <a:cubicBezTo>
                    <a:pt x="362310" y="81076"/>
                    <a:pt x="281157" y="0"/>
                    <a:pt x="181474" y="0"/>
                  </a:cubicBezTo>
                  <a:close/>
                  <a:moveTo>
                    <a:pt x="221092" y="257274"/>
                  </a:moveTo>
                  <a:cubicBezTo>
                    <a:pt x="219814" y="260466"/>
                    <a:pt x="215980" y="261743"/>
                    <a:pt x="212785" y="260466"/>
                  </a:cubicBezTo>
                  <a:cubicBezTo>
                    <a:pt x="205117" y="257274"/>
                    <a:pt x="196810" y="255359"/>
                    <a:pt x="188503" y="255359"/>
                  </a:cubicBezTo>
                  <a:cubicBezTo>
                    <a:pt x="182113" y="255359"/>
                    <a:pt x="175723" y="254082"/>
                    <a:pt x="169972" y="251529"/>
                  </a:cubicBezTo>
                  <a:cubicBezTo>
                    <a:pt x="159748" y="246422"/>
                    <a:pt x="155275" y="231100"/>
                    <a:pt x="154637" y="225993"/>
                  </a:cubicBezTo>
                  <a:cubicBezTo>
                    <a:pt x="152720" y="219609"/>
                    <a:pt x="152720" y="212587"/>
                    <a:pt x="155915" y="206203"/>
                  </a:cubicBezTo>
                  <a:cubicBezTo>
                    <a:pt x="162943" y="195350"/>
                    <a:pt x="168055" y="183220"/>
                    <a:pt x="171250" y="170452"/>
                  </a:cubicBezTo>
                  <a:cubicBezTo>
                    <a:pt x="176362" y="150024"/>
                    <a:pt x="174445" y="134702"/>
                    <a:pt x="166777" y="125126"/>
                  </a:cubicBezTo>
                  <a:cubicBezTo>
                    <a:pt x="159748" y="117465"/>
                    <a:pt x="150164" y="112996"/>
                    <a:pt x="139301" y="112996"/>
                  </a:cubicBezTo>
                  <a:cubicBezTo>
                    <a:pt x="129077" y="112996"/>
                    <a:pt x="118853" y="117465"/>
                    <a:pt x="111824" y="125126"/>
                  </a:cubicBezTo>
                  <a:cubicBezTo>
                    <a:pt x="104156" y="134702"/>
                    <a:pt x="102239" y="150024"/>
                    <a:pt x="107351" y="170452"/>
                  </a:cubicBezTo>
                  <a:cubicBezTo>
                    <a:pt x="110546" y="183220"/>
                    <a:pt x="115658" y="195350"/>
                    <a:pt x="122687" y="206203"/>
                  </a:cubicBezTo>
                  <a:cubicBezTo>
                    <a:pt x="125882" y="212587"/>
                    <a:pt x="125882" y="219609"/>
                    <a:pt x="123965" y="225993"/>
                  </a:cubicBezTo>
                  <a:cubicBezTo>
                    <a:pt x="122687" y="230462"/>
                    <a:pt x="118853" y="245783"/>
                    <a:pt x="108629" y="251529"/>
                  </a:cubicBezTo>
                  <a:cubicBezTo>
                    <a:pt x="102878" y="254082"/>
                    <a:pt x="96488" y="255359"/>
                    <a:pt x="90098" y="255359"/>
                  </a:cubicBezTo>
                  <a:cubicBezTo>
                    <a:pt x="81791" y="255359"/>
                    <a:pt x="73484" y="257274"/>
                    <a:pt x="65816" y="260466"/>
                  </a:cubicBezTo>
                  <a:cubicBezTo>
                    <a:pt x="65177" y="261105"/>
                    <a:pt x="63899" y="261105"/>
                    <a:pt x="63261" y="261105"/>
                  </a:cubicBezTo>
                  <a:cubicBezTo>
                    <a:pt x="60704" y="261105"/>
                    <a:pt x="58788" y="259828"/>
                    <a:pt x="57509" y="257274"/>
                  </a:cubicBezTo>
                  <a:cubicBezTo>
                    <a:pt x="56231" y="254082"/>
                    <a:pt x="57509" y="250252"/>
                    <a:pt x="60704" y="248975"/>
                  </a:cubicBezTo>
                  <a:cubicBezTo>
                    <a:pt x="60704" y="248975"/>
                    <a:pt x="60704" y="248975"/>
                    <a:pt x="60704" y="248975"/>
                  </a:cubicBezTo>
                  <a:cubicBezTo>
                    <a:pt x="69650" y="245145"/>
                    <a:pt x="79235" y="242591"/>
                    <a:pt x="89459" y="242591"/>
                  </a:cubicBezTo>
                  <a:cubicBezTo>
                    <a:pt x="93932" y="242591"/>
                    <a:pt x="98405" y="241953"/>
                    <a:pt x="102878" y="240676"/>
                  </a:cubicBezTo>
                  <a:cubicBezTo>
                    <a:pt x="109268" y="236846"/>
                    <a:pt x="114380" y="218332"/>
                    <a:pt x="112463" y="213863"/>
                  </a:cubicBezTo>
                  <a:cubicBezTo>
                    <a:pt x="104795" y="201734"/>
                    <a:pt x="98405" y="188327"/>
                    <a:pt x="95210" y="173644"/>
                  </a:cubicBezTo>
                  <a:cubicBezTo>
                    <a:pt x="89459" y="149385"/>
                    <a:pt x="91376" y="130233"/>
                    <a:pt x="102239" y="117465"/>
                  </a:cubicBezTo>
                  <a:cubicBezTo>
                    <a:pt x="111824" y="106612"/>
                    <a:pt x="125243" y="100867"/>
                    <a:pt x="139301" y="100867"/>
                  </a:cubicBezTo>
                  <a:cubicBezTo>
                    <a:pt x="153358" y="100867"/>
                    <a:pt x="166777" y="106612"/>
                    <a:pt x="176362" y="117465"/>
                  </a:cubicBezTo>
                  <a:cubicBezTo>
                    <a:pt x="186586" y="130233"/>
                    <a:pt x="189142" y="149385"/>
                    <a:pt x="183391" y="173644"/>
                  </a:cubicBezTo>
                  <a:cubicBezTo>
                    <a:pt x="180196" y="188327"/>
                    <a:pt x="174445" y="201734"/>
                    <a:pt x="166138" y="214502"/>
                  </a:cubicBezTo>
                  <a:cubicBezTo>
                    <a:pt x="164860" y="218332"/>
                    <a:pt x="169333" y="236846"/>
                    <a:pt x="175723" y="240676"/>
                  </a:cubicBezTo>
                  <a:cubicBezTo>
                    <a:pt x="180196" y="242591"/>
                    <a:pt x="184669" y="243230"/>
                    <a:pt x="189142" y="242591"/>
                  </a:cubicBezTo>
                  <a:cubicBezTo>
                    <a:pt x="199366" y="242591"/>
                    <a:pt x="208951" y="245145"/>
                    <a:pt x="217897" y="248975"/>
                  </a:cubicBezTo>
                  <a:cubicBezTo>
                    <a:pt x="221092" y="250890"/>
                    <a:pt x="222370" y="254082"/>
                    <a:pt x="221092" y="257274"/>
                  </a:cubicBezTo>
                  <a:close/>
                  <a:moveTo>
                    <a:pt x="304800" y="241953"/>
                  </a:moveTo>
                  <a:cubicBezTo>
                    <a:pt x="302883" y="245145"/>
                    <a:pt x="299049" y="245783"/>
                    <a:pt x="295854" y="243868"/>
                  </a:cubicBezTo>
                  <a:cubicBezTo>
                    <a:pt x="295854" y="243868"/>
                    <a:pt x="295854" y="243868"/>
                    <a:pt x="295854" y="243868"/>
                  </a:cubicBezTo>
                  <a:cubicBezTo>
                    <a:pt x="290742" y="241314"/>
                    <a:pt x="285630" y="240038"/>
                    <a:pt x="279879" y="240038"/>
                  </a:cubicBezTo>
                  <a:cubicBezTo>
                    <a:pt x="273489" y="239399"/>
                    <a:pt x="267739" y="238122"/>
                    <a:pt x="261987" y="234930"/>
                  </a:cubicBezTo>
                  <a:cubicBezTo>
                    <a:pt x="249846" y="225993"/>
                    <a:pt x="247929" y="207479"/>
                    <a:pt x="253681" y="200457"/>
                  </a:cubicBezTo>
                  <a:cubicBezTo>
                    <a:pt x="258792" y="192158"/>
                    <a:pt x="263266" y="182582"/>
                    <a:pt x="265182" y="173006"/>
                  </a:cubicBezTo>
                  <a:cubicBezTo>
                    <a:pt x="269016" y="158323"/>
                    <a:pt x="267739" y="146832"/>
                    <a:pt x="261987" y="139809"/>
                  </a:cubicBezTo>
                  <a:cubicBezTo>
                    <a:pt x="250486" y="127680"/>
                    <a:pt x="231316" y="127041"/>
                    <a:pt x="219175" y="138532"/>
                  </a:cubicBezTo>
                  <a:cubicBezTo>
                    <a:pt x="218536" y="139171"/>
                    <a:pt x="218536" y="139171"/>
                    <a:pt x="217897" y="139809"/>
                  </a:cubicBezTo>
                  <a:cubicBezTo>
                    <a:pt x="212146" y="146832"/>
                    <a:pt x="210868" y="158323"/>
                    <a:pt x="214702" y="173006"/>
                  </a:cubicBezTo>
                  <a:cubicBezTo>
                    <a:pt x="217258" y="182582"/>
                    <a:pt x="221092" y="192158"/>
                    <a:pt x="226204" y="200457"/>
                  </a:cubicBezTo>
                  <a:cubicBezTo>
                    <a:pt x="231316" y="207479"/>
                    <a:pt x="229399" y="225993"/>
                    <a:pt x="217897" y="234292"/>
                  </a:cubicBezTo>
                  <a:cubicBezTo>
                    <a:pt x="215341" y="236207"/>
                    <a:pt x="210868" y="235569"/>
                    <a:pt x="208951" y="233015"/>
                  </a:cubicBezTo>
                  <a:cubicBezTo>
                    <a:pt x="207034" y="230462"/>
                    <a:pt x="207673" y="225993"/>
                    <a:pt x="210229" y="224078"/>
                  </a:cubicBezTo>
                  <a:lnTo>
                    <a:pt x="210229" y="224078"/>
                  </a:lnTo>
                  <a:cubicBezTo>
                    <a:pt x="214702" y="219609"/>
                    <a:pt x="216619" y="213863"/>
                    <a:pt x="215341" y="207479"/>
                  </a:cubicBezTo>
                  <a:cubicBezTo>
                    <a:pt x="208951" y="197903"/>
                    <a:pt x="204478" y="187051"/>
                    <a:pt x="201922" y="175560"/>
                  </a:cubicBezTo>
                  <a:cubicBezTo>
                    <a:pt x="197449" y="156408"/>
                    <a:pt x="199366" y="141724"/>
                    <a:pt x="207673" y="130872"/>
                  </a:cubicBezTo>
                  <a:cubicBezTo>
                    <a:pt x="223648" y="112996"/>
                    <a:pt x="250486" y="111720"/>
                    <a:pt x="268377" y="127680"/>
                  </a:cubicBezTo>
                  <a:cubicBezTo>
                    <a:pt x="269655" y="128956"/>
                    <a:pt x="270294" y="129595"/>
                    <a:pt x="271572" y="130872"/>
                  </a:cubicBezTo>
                  <a:cubicBezTo>
                    <a:pt x="279879" y="141086"/>
                    <a:pt x="281796" y="156408"/>
                    <a:pt x="277323" y="175560"/>
                  </a:cubicBezTo>
                  <a:cubicBezTo>
                    <a:pt x="274767" y="187051"/>
                    <a:pt x="270294" y="197903"/>
                    <a:pt x="263904" y="207479"/>
                  </a:cubicBezTo>
                  <a:cubicBezTo>
                    <a:pt x="262626" y="213225"/>
                    <a:pt x="264544" y="219609"/>
                    <a:pt x="269016" y="224078"/>
                  </a:cubicBezTo>
                  <a:cubicBezTo>
                    <a:pt x="272850" y="225355"/>
                    <a:pt x="277323" y="226631"/>
                    <a:pt x="281796" y="226631"/>
                  </a:cubicBezTo>
                  <a:cubicBezTo>
                    <a:pt x="288825" y="227270"/>
                    <a:pt x="295854" y="229185"/>
                    <a:pt x="302244" y="232377"/>
                  </a:cubicBezTo>
                  <a:cubicBezTo>
                    <a:pt x="306078" y="234930"/>
                    <a:pt x="306717" y="238761"/>
                    <a:pt x="304800" y="241953"/>
                  </a:cubicBezTo>
                  <a:cubicBezTo>
                    <a:pt x="305439" y="241953"/>
                    <a:pt x="304800" y="241953"/>
                    <a:pt x="304800" y="241953"/>
                  </a:cubicBezTo>
                  <a:close/>
                </a:path>
              </a:pathLst>
            </a:custGeom>
            <a:solidFill>
              <a:schemeClr val="accent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grpSp>
        <p:nvGrpSpPr>
          <p:cNvPr id="42" name="Group 41">
            <a:extLst>
              <a:ext uri="{FF2B5EF4-FFF2-40B4-BE49-F238E27FC236}">
                <a16:creationId xmlns:a16="http://schemas.microsoft.com/office/drawing/2014/main" id="{2EE2B743-669A-5CE0-2C2C-C5A4E1095A54}"/>
              </a:ext>
            </a:extLst>
          </p:cNvPr>
          <p:cNvGrpSpPr/>
          <p:nvPr/>
        </p:nvGrpSpPr>
        <p:grpSpPr>
          <a:xfrm>
            <a:off x="1129655" y="2859162"/>
            <a:ext cx="9896473" cy="540000"/>
            <a:chOff x="736114" y="2859162"/>
            <a:chExt cx="9896473" cy="540000"/>
          </a:xfrm>
        </p:grpSpPr>
        <p:grpSp>
          <p:nvGrpSpPr>
            <p:cNvPr id="35" name="Group 34">
              <a:extLst>
                <a:ext uri="{FF2B5EF4-FFF2-40B4-BE49-F238E27FC236}">
                  <a16:creationId xmlns:a16="http://schemas.microsoft.com/office/drawing/2014/main" id="{9EF8CDB9-6A2A-3B29-4316-F7CCF8E7C70D}"/>
                </a:ext>
              </a:extLst>
            </p:cNvPr>
            <p:cNvGrpSpPr/>
            <p:nvPr/>
          </p:nvGrpSpPr>
          <p:grpSpPr>
            <a:xfrm>
              <a:off x="1482158" y="2877702"/>
              <a:ext cx="9150429" cy="511973"/>
              <a:chOff x="1482158" y="2877702"/>
              <a:chExt cx="9150429" cy="511973"/>
            </a:xfrm>
          </p:grpSpPr>
          <p:sp>
            <p:nvSpPr>
              <p:cNvPr id="21" name="Text 8">
                <a:extLst>
                  <a:ext uri="{FF2B5EF4-FFF2-40B4-BE49-F238E27FC236}">
                    <a16:creationId xmlns:a16="http://schemas.microsoft.com/office/drawing/2014/main" id="{AB8903B7-79BD-47C1-1B59-0FCC48223579}"/>
                  </a:ext>
                </a:extLst>
              </p:cNvPr>
              <p:cNvSpPr/>
              <p:nvPr/>
            </p:nvSpPr>
            <p:spPr>
              <a:xfrm>
                <a:off x="1482158" y="2877702"/>
                <a:ext cx="9150429" cy="502921"/>
              </a:xfrm>
              <a:prstGeom prst="roundRect">
                <a:avLst/>
              </a:prstGeom>
              <a:solidFill>
                <a:schemeClr val="accent1"/>
              </a:solidFill>
              <a:ln/>
            </p:spPr>
            <p:txBody>
              <a:bodyPr wrap="square" lIns="9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Data standardization &amp; poor quality</a:t>
                </a:r>
                <a:endParaRPr kumimoji="0" lang="en-US" sz="25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1" name="TextBox 10">
                <a:extLst>
                  <a:ext uri="{FF2B5EF4-FFF2-40B4-BE49-F238E27FC236}">
                    <a16:creationId xmlns:a16="http://schemas.microsoft.com/office/drawing/2014/main" id="{113AD122-0985-5DC9-7F40-0B23A8F9EBBA}"/>
                  </a:ext>
                </a:extLst>
              </p:cNvPr>
              <p:cNvSpPr txBox="1"/>
              <p:nvPr/>
            </p:nvSpPr>
            <p:spPr>
              <a:xfrm>
                <a:off x="9698535" y="2912621"/>
                <a:ext cx="934052"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00" b="0" i="1"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77%</a:t>
                </a:r>
                <a:endParaRPr kumimoji="0" lang="en-CA" sz="14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grpSp>
          <p:nvGrpSpPr>
            <p:cNvPr id="27" name="Graphic 4">
              <a:extLst>
                <a:ext uri="{FF2B5EF4-FFF2-40B4-BE49-F238E27FC236}">
                  <a16:creationId xmlns:a16="http://schemas.microsoft.com/office/drawing/2014/main" id="{818DA73C-BD59-37C6-5FDF-ECA2C278EC03}"/>
                </a:ext>
              </a:extLst>
            </p:cNvPr>
            <p:cNvGrpSpPr/>
            <p:nvPr/>
          </p:nvGrpSpPr>
          <p:grpSpPr>
            <a:xfrm>
              <a:off x="736114" y="2859162"/>
              <a:ext cx="540000" cy="540000"/>
              <a:chOff x="905454" y="2858027"/>
              <a:chExt cx="362309" cy="361971"/>
            </a:xfrm>
            <a:solidFill>
              <a:schemeClr val="accent1"/>
            </a:solidFill>
          </p:grpSpPr>
          <p:sp>
            <p:nvSpPr>
              <p:cNvPr id="29" name="Graphic 4">
                <a:extLst>
                  <a:ext uri="{FF2B5EF4-FFF2-40B4-BE49-F238E27FC236}">
                    <a16:creationId xmlns:a16="http://schemas.microsoft.com/office/drawing/2014/main" id="{C5F5CC5F-89BE-EF05-E4E4-64C2F928444B}"/>
                  </a:ext>
                </a:extLst>
              </p:cNvPr>
              <p:cNvSpPr/>
              <p:nvPr/>
            </p:nvSpPr>
            <p:spPr>
              <a:xfrm>
                <a:off x="1012165" y="2998719"/>
                <a:ext cx="90098" cy="134063"/>
              </a:xfrm>
              <a:custGeom>
                <a:avLst/>
                <a:gdLst>
                  <a:gd name="connsiteX0" fmla="*/ 0 w 90098"/>
                  <a:gd name="connsiteY0" fmla="*/ 134064 h 134063"/>
                  <a:gd name="connsiteX1" fmla="*/ 90098 w 90098"/>
                  <a:gd name="connsiteY1" fmla="*/ 134064 h 134063"/>
                  <a:gd name="connsiteX2" fmla="*/ 90098 w 90098"/>
                  <a:gd name="connsiteY2" fmla="*/ 0 h 134063"/>
                  <a:gd name="connsiteX3" fmla="*/ 0 w 90098"/>
                  <a:gd name="connsiteY3" fmla="*/ 0 h 134063"/>
                  <a:gd name="connsiteX4" fmla="*/ 0 w 90098"/>
                  <a:gd name="connsiteY4" fmla="*/ 134064 h 134063"/>
                  <a:gd name="connsiteX5" fmla="*/ 15975 w 90098"/>
                  <a:gd name="connsiteY5" fmla="*/ 16598 h 134063"/>
                  <a:gd name="connsiteX6" fmla="*/ 74123 w 90098"/>
                  <a:gd name="connsiteY6" fmla="*/ 16598 h 134063"/>
                  <a:gd name="connsiteX7" fmla="*/ 80513 w 90098"/>
                  <a:gd name="connsiteY7" fmla="*/ 22982 h 134063"/>
                  <a:gd name="connsiteX8" fmla="*/ 74123 w 90098"/>
                  <a:gd name="connsiteY8" fmla="*/ 29366 h 134063"/>
                  <a:gd name="connsiteX9" fmla="*/ 15336 w 90098"/>
                  <a:gd name="connsiteY9" fmla="*/ 29366 h 134063"/>
                  <a:gd name="connsiteX10" fmla="*/ 8946 w 90098"/>
                  <a:gd name="connsiteY10" fmla="*/ 22982 h 134063"/>
                  <a:gd name="connsiteX11" fmla="*/ 15975 w 90098"/>
                  <a:gd name="connsiteY11" fmla="*/ 16598 h 134063"/>
                  <a:gd name="connsiteX12" fmla="*/ 15975 w 90098"/>
                  <a:gd name="connsiteY12" fmla="*/ 16598 h 134063"/>
                  <a:gd name="connsiteX13" fmla="*/ 15975 w 90098"/>
                  <a:gd name="connsiteY13" fmla="*/ 45965 h 134063"/>
                  <a:gd name="connsiteX14" fmla="*/ 74123 w 90098"/>
                  <a:gd name="connsiteY14" fmla="*/ 45965 h 134063"/>
                  <a:gd name="connsiteX15" fmla="*/ 80513 w 90098"/>
                  <a:gd name="connsiteY15" fmla="*/ 52349 h 134063"/>
                  <a:gd name="connsiteX16" fmla="*/ 74123 w 90098"/>
                  <a:gd name="connsiteY16" fmla="*/ 58733 h 134063"/>
                  <a:gd name="connsiteX17" fmla="*/ 15336 w 90098"/>
                  <a:gd name="connsiteY17" fmla="*/ 58733 h 134063"/>
                  <a:gd name="connsiteX18" fmla="*/ 8946 w 90098"/>
                  <a:gd name="connsiteY18" fmla="*/ 52349 h 134063"/>
                  <a:gd name="connsiteX19" fmla="*/ 15975 w 90098"/>
                  <a:gd name="connsiteY19" fmla="*/ 45965 h 134063"/>
                  <a:gd name="connsiteX20" fmla="*/ 15975 w 90098"/>
                  <a:gd name="connsiteY20" fmla="*/ 45965 h 134063"/>
                  <a:gd name="connsiteX21" fmla="*/ 15975 w 90098"/>
                  <a:gd name="connsiteY21" fmla="*/ 75331 h 134063"/>
                  <a:gd name="connsiteX22" fmla="*/ 74123 w 90098"/>
                  <a:gd name="connsiteY22" fmla="*/ 75331 h 134063"/>
                  <a:gd name="connsiteX23" fmla="*/ 80513 w 90098"/>
                  <a:gd name="connsiteY23" fmla="*/ 81715 h 134063"/>
                  <a:gd name="connsiteX24" fmla="*/ 74123 w 90098"/>
                  <a:gd name="connsiteY24" fmla="*/ 88099 h 134063"/>
                  <a:gd name="connsiteX25" fmla="*/ 15336 w 90098"/>
                  <a:gd name="connsiteY25" fmla="*/ 88099 h 134063"/>
                  <a:gd name="connsiteX26" fmla="*/ 8946 w 90098"/>
                  <a:gd name="connsiteY26" fmla="*/ 81715 h 134063"/>
                  <a:gd name="connsiteX27" fmla="*/ 15975 w 90098"/>
                  <a:gd name="connsiteY27" fmla="*/ 75331 h 134063"/>
                  <a:gd name="connsiteX28" fmla="*/ 15975 w 90098"/>
                  <a:gd name="connsiteY28" fmla="*/ 75331 h 134063"/>
                  <a:gd name="connsiteX29" fmla="*/ 15975 w 90098"/>
                  <a:gd name="connsiteY29" fmla="*/ 104697 h 134063"/>
                  <a:gd name="connsiteX30" fmla="*/ 74123 w 90098"/>
                  <a:gd name="connsiteY30" fmla="*/ 104697 h 134063"/>
                  <a:gd name="connsiteX31" fmla="*/ 80513 w 90098"/>
                  <a:gd name="connsiteY31" fmla="*/ 111081 h 134063"/>
                  <a:gd name="connsiteX32" fmla="*/ 74123 w 90098"/>
                  <a:gd name="connsiteY32" fmla="*/ 117465 h 134063"/>
                  <a:gd name="connsiteX33" fmla="*/ 15336 w 90098"/>
                  <a:gd name="connsiteY33" fmla="*/ 117465 h 134063"/>
                  <a:gd name="connsiteX34" fmla="*/ 8946 w 90098"/>
                  <a:gd name="connsiteY34" fmla="*/ 111081 h 134063"/>
                  <a:gd name="connsiteX35" fmla="*/ 15975 w 90098"/>
                  <a:gd name="connsiteY35" fmla="*/ 104697 h 134063"/>
                  <a:gd name="connsiteX36" fmla="*/ 15975 w 90098"/>
                  <a:gd name="connsiteY36" fmla="*/ 104697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0098" h="134063">
                    <a:moveTo>
                      <a:pt x="0" y="134064"/>
                    </a:moveTo>
                    <a:lnTo>
                      <a:pt x="90098" y="134064"/>
                    </a:lnTo>
                    <a:lnTo>
                      <a:pt x="90098" y="0"/>
                    </a:lnTo>
                    <a:lnTo>
                      <a:pt x="0" y="0"/>
                    </a:lnTo>
                    <a:lnTo>
                      <a:pt x="0" y="134064"/>
                    </a:lnTo>
                    <a:close/>
                    <a:moveTo>
                      <a:pt x="15975" y="16598"/>
                    </a:moveTo>
                    <a:lnTo>
                      <a:pt x="74123" y="16598"/>
                    </a:lnTo>
                    <a:cubicBezTo>
                      <a:pt x="77957" y="16598"/>
                      <a:pt x="80513" y="19152"/>
                      <a:pt x="80513" y="22982"/>
                    </a:cubicBezTo>
                    <a:cubicBezTo>
                      <a:pt x="80513" y="26813"/>
                      <a:pt x="77957" y="29366"/>
                      <a:pt x="74123" y="29366"/>
                    </a:cubicBezTo>
                    <a:lnTo>
                      <a:pt x="15336" y="29366"/>
                    </a:lnTo>
                    <a:cubicBezTo>
                      <a:pt x="11502" y="29366"/>
                      <a:pt x="8946" y="26813"/>
                      <a:pt x="8946" y="22982"/>
                    </a:cubicBezTo>
                    <a:cubicBezTo>
                      <a:pt x="8946" y="19152"/>
                      <a:pt x="12141" y="16598"/>
                      <a:pt x="15975" y="16598"/>
                    </a:cubicBezTo>
                    <a:lnTo>
                      <a:pt x="15975" y="16598"/>
                    </a:lnTo>
                    <a:close/>
                    <a:moveTo>
                      <a:pt x="15975" y="45965"/>
                    </a:moveTo>
                    <a:lnTo>
                      <a:pt x="74123" y="45965"/>
                    </a:lnTo>
                    <a:cubicBezTo>
                      <a:pt x="77957" y="45965"/>
                      <a:pt x="80513" y="48518"/>
                      <a:pt x="80513" y="52349"/>
                    </a:cubicBezTo>
                    <a:cubicBezTo>
                      <a:pt x="80513" y="56179"/>
                      <a:pt x="77957" y="58733"/>
                      <a:pt x="74123" y="58733"/>
                    </a:cubicBezTo>
                    <a:lnTo>
                      <a:pt x="15336" y="58733"/>
                    </a:lnTo>
                    <a:cubicBezTo>
                      <a:pt x="11502" y="58733"/>
                      <a:pt x="8946" y="56179"/>
                      <a:pt x="8946" y="52349"/>
                    </a:cubicBezTo>
                    <a:cubicBezTo>
                      <a:pt x="8946" y="48518"/>
                      <a:pt x="12141" y="45965"/>
                      <a:pt x="15975" y="45965"/>
                    </a:cubicBezTo>
                    <a:lnTo>
                      <a:pt x="15975" y="45965"/>
                    </a:lnTo>
                    <a:close/>
                    <a:moveTo>
                      <a:pt x="15975" y="75331"/>
                    </a:moveTo>
                    <a:lnTo>
                      <a:pt x="74123" y="75331"/>
                    </a:lnTo>
                    <a:cubicBezTo>
                      <a:pt x="77957" y="75331"/>
                      <a:pt x="80513" y="77884"/>
                      <a:pt x="80513" y="81715"/>
                    </a:cubicBezTo>
                    <a:cubicBezTo>
                      <a:pt x="80513" y="85545"/>
                      <a:pt x="77957" y="88099"/>
                      <a:pt x="74123" y="88099"/>
                    </a:cubicBezTo>
                    <a:lnTo>
                      <a:pt x="15336" y="88099"/>
                    </a:lnTo>
                    <a:cubicBezTo>
                      <a:pt x="11502" y="88099"/>
                      <a:pt x="8946" y="85545"/>
                      <a:pt x="8946" y="81715"/>
                    </a:cubicBezTo>
                    <a:cubicBezTo>
                      <a:pt x="8946" y="77884"/>
                      <a:pt x="12141" y="75331"/>
                      <a:pt x="15975" y="75331"/>
                    </a:cubicBezTo>
                    <a:lnTo>
                      <a:pt x="15975" y="75331"/>
                    </a:lnTo>
                    <a:close/>
                    <a:moveTo>
                      <a:pt x="15975" y="104697"/>
                    </a:moveTo>
                    <a:lnTo>
                      <a:pt x="74123" y="104697"/>
                    </a:lnTo>
                    <a:cubicBezTo>
                      <a:pt x="77957" y="104697"/>
                      <a:pt x="80513" y="107251"/>
                      <a:pt x="80513" y="111081"/>
                    </a:cubicBezTo>
                    <a:cubicBezTo>
                      <a:pt x="80513" y="114912"/>
                      <a:pt x="77957" y="117465"/>
                      <a:pt x="74123" y="117465"/>
                    </a:cubicBezTo>
                    <a:lnTo>
                      <a:pt x="15336" y="117465"/>
                    </a:lnTo>
                    <a:cubicBezTo>
                      <a:pt x="11502" y="117465"/>
                      <a:pt x="8946" y="114912"/>
                      <a:pt x="8946" y="111081"/>
                    </a:cubicBezTo>
                    <a:cubicBezTo>
                      <a:pt x="8946" y="107251"/>
                      <a:pt x="12141" y="104697"/>
                      <a:pt x="15975" y="104697"/>
                    </a:cubicBezTo>
                    <a:lnTo>
                      <a:pt x="15975" y="10469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30" name="Graphic 4">
                <a:extLst>
                  <a:ext uri="{FF2B5EF4-FFF2-40B4-BE49-F238E27FC236}">
                    <a16:creationId xmlns:a16="http://schemas.microsoft.com/office/drawing/2014/main" id="{BEA7B076-8903-1838-5ABE-7436D3EE5891}"/>
                  </a:ext>
                </a:extLst>
              </p:cNvPr>
              <p:cNvSpPr/>
              <p:nvPr/>
            </p:nvSpPr>
            <p:spPr>
              <a:xfrm>
                <a:off x="905454" y="2858027"/>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09 w 362309"/>
                  <a:gd name="connsiteY3" fmla="*/ 180667 h 361971"/>
                  <a:gd name="connsiteX4" fmla="*/ 180835 w 362309"/>
                  <a:gd name="connsiteY4" fmla="*/ 0 h 361971"/>
                  <a:gd name="connsiteX5" fmla="*/ 180835 w 362309"/>
                  <a:gd name="connsiteY5" fmla="*/ 0 h 361971"/>
                  <a:gd name="connsiteX6" fmla="*/ 208951 w 362309"/>
                  <a:gd name="connsiteY6" fmla="*/ 283449 h 361971"/>
                  <a:gd name="connsiteX7" fmla="*/ 202561 w 362309"/>
                  <a:gd name="connsiteY7" fmla="*/ 289833 h 361971"/>
                  <a:gd name="connsiteX8" fmla="*/ 100322 w 362309"/>
                  <a:gd name="connsiteY8" fmla="*/ 289833 h 361971"/>
                  <a:gd name="connsiteX9" fmla="*/ 93932 w 362309"/>
                  <a:gd name="connsiteY9" fmla="*/ 283449 h 361971"/>
                  <a:gd name="connsiteX10" fmla="*/ 93932 w 362309"/>
                  <a:gd name="connsiteY10" fmla="*/ 136617 h 361971"/>
                  <a:gd name="connsiteX11" fmla="*/ 100322 w 362309"/>
                  <a:gd name="connsiteY11" fmla="*/ 130233 h 361971"/>
                  <a:gd name="connsiteX12" fmla="*/ 203200 w 362309"/>
                  <a:gd name="connsiteY12" fmla="*/ 130233 h 361971"/>
                  <a:gd name="connsiteX13" fmla="*/ 209590 w 362309"/>
                  <a:gd name="connsiteY13" fmla="*/ 136617 h 361971"/>
                  <a:gd name="connsiteX14" fmla="*/ 208951 w 362309"/>
                  <a:gd name="connsiteY14" fmla="*/ 283449 h 361971"/>
                  <a:gd name="connsiteX15" fmla="*/ 238345 w 362309"/>
                  <a:gd name="connsiteY15" fmla="*/ 254082 h 361971"/>
                  <a:gd name="connsiteX16" fmla="*/ 231955 w 362309"/>
                  <a:gd name="connsiteY16" fmla="*/ 260466 h 361971"/>
                  <a:gd name="connsiteX17" fmla="*/ 225565 w 362309"/>
                  <a:gd name="connsiteY17" fmla="*/ 254082 h 361971"/>
                  <a:gd name="connsiteX18" fmla="*/ 225565 w 362309"/>
                  <a:gd name="connsiteY18" fmla="*/ 113635 h 361971"/>
                  <a:gd name="connsiteX19" fmla="*/ 129716 w 362309"/>
                  <a:gd name="connsiteY19" fmla="*/ 113635 h 361971"/>
                  <a:gd name="connsiteX20" fmla="*/ 123326 w 362309"/>
                  <a:gd name="connsiteY20" fmla="*/ 107251 h 361971"/>
                  <a:gd name="connsiteX21" fmla="*/ 129716 w 362309"/>
                  <a:gd name="connsiteY21" fmla="*/ 100867 h 361971"/>
                  <a:gd name="connsiteX22" fmla="*/ 232594 w 362309"/>
                  <a:gd name="connsiteY22" fmla="*/ 100867 h 361971"/>
                  <a:gd name="connsiteX23" fmla="*/ 238984 w 362309"/>
                  <a:gd name="connsiteY23" fmla="*/ 107251 h 361971"/>
                  <a:gd name="connsiteX24" fmla="*/ 238345 w 362309"/>
                  <a:gd name="connsiteY24" fmla="*/ 254082 h 361971"/>
                  <a:gd name="connsiteX25" fmla="*/ 267738 w 362309"/>
                  <a:gd name="connsiteY25" fmla="*/ 224716 h 361971"/>
                  <a:gd name="connsiteX26" fmla="*/ 261348 w 362309"/>
                  <a:gd name="connsiteY26" fmla="*/ 231100 h 361971"/>
                  <a:gd name="connsiteX27" fmla="*/ 254959 w 362309"/>
                  <a:gd name="connsiteY27" fmla="*/ 224716 h 361971"/>
                  <a:gd name="connsiteX28" fmla="*/ 254959 w 362309"/>
                  <a:gd name="connsiteY28" fmla="*/ 84268 h 361971"/>
                  <a:gd name="connsiteX29" fmla="*/ 159110 w 362309"/>
                  <a:gd name="connsiteY29" fmla="*/ 84268 h 361971"/>
                  <a:gd name="connsiteX30" fmla="*/ 152720 w 362309"/>
                  <a:gd name="connsiteY30" fmla="*/ 77884 h 361971"/>
                  <a:gd name="connsiteX31" fmla="*/ 159110 w 362309"/>
                  <a:gd name="connsiteY31" fmla="*/ 71500 h 361971"/>
                  <a:gd name="connsiteX32" fmla="*/ 261987 w 362309"/>
                  <a:gd name="connsiteY32" fmla="*/ 71500 h 361971"/>
                  <a:gd name="connsiteX33" fmla="*/ 268377 w 362309"/>
                  <a:gd name="connsiteY33" fmla="*/ 77884 h 361971"/>
                  <a:gd name="connsiteX34" fmla="*/ 267738 w 362309"/>
                  <a:gd name="connsiteY34" fmla="*/ 22471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2309" h="361971">
                    <a:moveTo>
                      <a:pt x="180835" y="0"/>
                    </a:moveTo>
                    <a:cubicBezTo>
                      <a:pt x="80513" y="0"/>
                      <a:pt x="0" y="81076"/>
                      <a:pt x="0" y="181305"/>
                    </a:cubicBezTo>
                    <a:cubicBezTo>
                      <a:pt x="0" y="281533"/>
                      <a:pt x="81152" y="361972"/>
                      <a:pt x="181474" y="361972"/>
                    </a:cubicBezTo>
                    <a:cubicBezTo>
                      <a:pt x="281157" y="361972"/>
                      <a:pt x="362309" y="280895"/>
                      <a:pt x="362309" y="180667"/>
                    </a:cubicBezTo>
                    <a:cubicBezTo>
                      <a:pt x="362309" y="80438"/>
                      <a:pt x="281157" y="0"/>
                      <a:pt x="180835" y="0"/>
                    </a:cubicBezTo>
                    <a:cubicBezTo>
                      <a:pt x="180835" y="0"/>
                      <a:pt x="180835" y="0"/>
                      <a:pt x="180835" y="0"/>
                    </a:cubicBezTo>
                    <a:close/>
                    <a:moveTo>
                      <a:pt x="208951" y="283449"/>
                    </a:moveTo>
                    <a:cubicBezTo>
                      <a:pt x="208951" y="287279"/>
                      <a:pt x="206395" y="289833"/>
                      <a:pt x="202561" y="289833"/>
                    </a:cubicBezTo>
                    <a:lnTo>
                      <a:pt x="100322" y="289833"/>
                    </a:lnTo>
                    <a:cubicBezTo>
                      <a:pt x="96488" y="289833"/>
                      <a:pt x="93932" y="287279"/>
                      <a:pt x="93932" y="283449"/>
                    </a:cubicBezTo>
                    <a:lnTo>
                      <a:pt x="93932" y="136617"/>
                    </a:lnTo>
                    <a:cubicBezTo>
                      <a:pt x="93932" y="132787"/>
                      <a:pt x="96488" y="130233"/>
                      <a:pt x="100322" y="130233"/>
                    </a:cubicBezTo>
                    <a:lnTo>
                      <a:pt x="203200" y="130233"/>
                    </a:lnTo>
                    <a:cubicBezTo>
                      <a:pt x="207034" y="130233"/>
                      <a:pt x="209590" y="132787"/>
                      <a:pt x="209590" y="136617"/>
                    </a:cubicBezTo>
                    <a:lnTo>
                      <a:pt x="208951" y="283449"/>
                    </a:lnTo>
                    <a:close/>
                    <a:moveTo>
                      <a:pt x="238345" y="254082"/>
                    </a:moveTo>
                    <a:cubicBezTo>
                      <a:pt x="238345" y="257913"/>
                      <a:pt x="235789" y="260466"/>
                      <a:pt x="231955" y="260466"/>
                    </a:cubicBezTo>
                    <a:cubicBezTo>
                      <a:pt x="228121" y="260466"/>
                      <a:pt x="225565" y="257913"/>
                      <a:pt x="225565" y="254082"/>
                    </a:cubicBezTo>
                    <a:lnTo>
                      <a:pt x="225565" y="113635"/>
                    </a:lnTo>
                    <a:lnTo>
                      <a:pt x="129716" y="113635"/>
                    </a:lnTo>
                    <a:cubicBezTo>
                      <a:pt x="125882" y="113635"/>
                      <a:pt x="123326" y="111081"/>
                      <a:pt x="123326" y="107251"/>
                    </a:cubicBezTo>
                    <a:cubicBezTo>
                      <a:pt x="123326" y="103420"/>
                      <a:pt x="125882" y="100867"/>
                      <a:pt x="129716" y="100867"/>
                    </a:cubicBezTo>
                    <a:lnTo>
                      <a:pt x="232594" y="100867"/>
                    </a:lnTo>
                    <a:cubicBezTo>
                      <a:pt x="236428" y="100867"/>
                      <a:pt x="238984" y="103420"/>
                      <a:pt x="238984" y="107251"/>
                    </a:cubicBezTo>
                    <a:lnTo>
                      <a:pt x="238345" y="254082"/>
                    </a:lnTo>
                    <a:close/>
                    <a:moveTo>
                      <a:pt x="267738" y="224716"/>
                    </a:moveTo>
                    <a:cubicBezTo>
                      <a:pt x="267738" y="228546"/>
                      <a:pt x="265182" y="231100"/>
                      <a:pt x="261348" y="231100"/>
                    </a:cubicBezTo>
                    <a:cubicBezTo>
                      <a:pt x="257514" y="231100"/>
                      <a:pt x="254959" y="228546"/>
                      <a:pt x="254959" y="224716"/>
                    </a:cubicBezTo>
                    <a:lnTo>
                      <a:pt x="254959" y="84268"/>
                    </a:lnTo>
                    <a:lnTo>
                      <a:pt x="159110" y="84268"/>
                    </a:lnTo>
                    <a:cubicBezTo>
                      <a:pt x="155275" y="84268"/>
                      <a:pt x="152720" y="81715"/>
                      <a:pt x="152720" y="77884"/>
                    </a:cubicBezTo>
                    <a:cubicBezTo>
                      <a:pt x="152720" y="74054"/>
                      <a:pt x="155275" y="71500"/>
                      <a:pt x="159110" y="71500"/>
                    </a:cubicBezTo>
                    <a:lnTo>
                      <a:pt x="261987" y="71500"/>
                    </a:lnTo>
                    <a:cubicBezTo>
                      <a:pt x="265821" y="71500"/>
                      <a:pt x="268377" y="74054"/>
                      <a:pt x="268377" y="77884"/>
                    </a:cubicBezTo>
                    <a:lnTo>
                      <a:pt x="267738" y="22471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grpSp>
      <p:grpSp>
        <p:nvGrpSpPr>
          <p:cNvPr id="41" name="Group 40">
            <a:extLst>
              <a:ext uri="{FF2B5EF4-FFF2-40B4-BE49-F238E27FC236}">
                <a16:creationId xmlns:a16="http://schemas.microsoft.com/office/drawing/2014/main" id="{AD0AA63C-7F88-E29C-DC6D-B311A1F41084}"/>
              </a:ext>
            </a:extLst>
          </p:cNvPr>
          <p:cNvGrpSpPr/>
          <p:nvPr/>
        </p:nvGrpSpPr>
        <p:grpSpPr>
          <a:xfrm>
            <a:off x="1129655" y="3558113"/>
            <a:ext cx="9472756" cy="540000"/>
            <a:chOff x="736115" y="3552206"/>
            <a:chExt cx="9472756" cy="540000"/>
          </a:xfrm>
        </p:grpSpPr>
        <p:grpSp>
          <p:nvGrpSpPr>
            <p:cNvPr id="36" name="Group 35">
              <a:extLst>
                <a:ext uri="{FF2B5EF4-FFF2-40B4-BE49-F238E27FC236}">
                  <a16:creationId xmlns:a16="http://schemas.microsoft.com/office/drawing/2014/main" id="{ACD622AC-E123-BFFE-5250-AEEBF99AC319}"/>
                </a:ext>
              </a:extLst>
            </p:cNvPr>
            <p:cNvGrpSpPr/>
            <p:nvPr/>
          </p:nvGrpSpPr>
          <p:grpSpPr>
            <a:xfrm>
              <a:off x="1482158" y="3560917"/>
              <a:ext cx="8726713" cy="512750"/>
              <a:chOff x="1482158" y="3560917"/>
              <a:chExt cx="8726713" cy="512750"/>
            </a:xfrm>
          </p:grpSpPr>
          <p:sp>
            <p:nvSpPr>
              <p:cNvPr id="28" name="Text 11">
                <a:extLst>
                  <a:ext uri="{FF2B5EF4-FFF2-40B4-BE49-F238E27FC236}">
                    <a16:creationId xmlns:a16="http://schemas.microsoft.com/office/drawing/2014/main" id="{65579CC2-64D2-86BA-E8F3-F4DBCAE309B1}"/>
                  </a:ext>
                </a:extLst>
              </p:cNvPr>
              <p:cNvSpPr/>
              <p:nvPr/>
            </p:nvSpPr>
            <p:spPr>
              <a:xfrm>
                <a:off x="1482158" y="3570746"/>
                <a:ext cx="8726713" cy="502921"/>
              </a:xfrm>
              <a:prstGeom prst="roundRect">
                <a:avLst/>
              </a:prstGeom>
              <a:solidFill>
                <a:schemeClr val="accent1"/>
              </a:solidFill>
              <a:ln/>
            </p:spPr>
            <p:txBody>
              <a:bodyPr wrap="square" lIns="9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Legal, privacy &amp; regulatory constraints</a:t>
                </a:r>
                <a:endParaRPr kumimoji="0" lang="en-US" sz="25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8" name="TextBox 17">
                <a:extLst>
                  <a:ext uri="{FF2B5EF4-FFF2-40B4-BE49-F238E27FC236}">
                    <a16:creationId xmlns:a16="http://schemas.microsoft.com/office/drawing/2014/main" id="{75974845-6431-C164-1ADF-ECA2C595ADA0}"/>
                  </a:ext>
                </a:extLst>
              </p:cNvPr>
              <p:cNvSpPr txBox="1"/>
              <p:nvPr/>
            </p:nvSpPr>
            <p:spPr>
              <a:xfrm>
                <a:off x="9274819" y="3560917"/>
                <a:ext cx="934052"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00" b="0" i="1"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73%</a:t>
                </a:r>
                <a:endParaRPr kumimoji="0" lang="en-CA" sz="14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grpSp>
          <p:nvGrpSpPr>
            <p:cNvPr id="31" name="Graphic 4">
              <a:extLst>
                <a:ext uri="{FF2B5EF4-FFF2-40B4-BE49-F238E27FC236}">
                  <a16:creationId xmlns:a16="http://schemas.microsoft.com/office/drawing/2014/main" id="{FF4C78AE-1230-8D93-3D11-0769C2DA0916}"/>
                </a:ext>
              </a:extLst>
            </p:cNvPr>
            <p:cNvGrpSpPr/>
            <p:nvPr/>
          </p:nvGrpSpPr>
          <p:grpSpPr>
            <a:xfrm>
              <a:off x="736115" y="3552206"/>
              <a:ext cx="540000" cy="540000"/>
              <a:chOff x="9278188" y="914709"/>
              <a:chExt cx="361674" cy="361971"/>
            </a:xfrm>
            <a:solidFill>
              <a:schemeClr val="accent1"/>
            </a:solidFill>
          </p:grpSpPr>
          <p:sp>
            <p:nvSpPr>
              <p:cNvPr id="32" name="Graphic 4">
                <a:extLst>
                  <a:ext uri="{FF2B5EF4-FFF2-40B4-BE49-F238E27FC236}">
                    <a16:creationId xmlns:a16="http://schemas.microsoft.com/office/drawing/2014/main" id="{194C3169-9C0C-9341-3546-FECE2433327C}"/>
                  </a:ext>
                </a:extLst>
              </p:cNvPr>
              <p:cNvSpPr/>
              <p:nvPr/>
            </p:nvSpPr>
            <p:spPr>
              <a:xfrm>
                <a:off x="9370203" y="1052242"/>
                <a:ext cx="46646" cy="82353"/>
              </a:xfrm>
              <a:custGeom>
                <a:avLst/>
                <a:gdLst>
                  <a:gd name="connsiteX0" fmla="*/ 0 w 46646"/>
                  <a:gd name="connsiteY0" fmla="*/ 82353 h 82353"/>
                  <a:gd name="connsiteX1" fmla="*/ 46646 w 46646"/>
                  <a:gd name="connsiteY1" fmla="*/ 82353 h 82353"/>
                  <a:gd name="connsiteX2" fmla="*/ 26199 w 46646"/>
                  <a:gd name="connsiteY2" fmla="*/ 0 h 82353"/>
                </a:gdLst>
                <a:ahLst/>
                <a:cxnLst>
                  <a:cxn ang="0">
                    <a:pos x="connsiteX0" y="connsiteY0"/>
                  </a:cxn>
                  <a:cxn ang="0">
                    <a:pos x="connsiteX1" y="connsiteY1"/>
                  </a:cxn>
                  <a:cxn ang="0">
                    <a:pos x="connsiteX2" y="connsiteY2"/>
                  </a:cxn>
                </a:cxnLst>
                <a:rect l="l" t="t" r="r" b="b"/>
                <a:pathLst>
                  <a:path w="46646" h="82353">
                    <a:moveTo>
                      <a:pt x="0" y="82353"/>
                    </a:moveTo>
                    <a:lnTo>
                      <a:pt x="46646" y="82353"/>
                    </a:lnTo>
                    <a:lnTo>
                      <a:pt x="26199"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33" name="Graphic 4">
                <a:extLst>
                  <a:ext uri="{FF2B5EF4-FFF2-40B4-BE49-F238E27FC236}">
                    <a16:creationId xmlns:a16="http://schemas.microsoft.com/office/drawing/2014/main" id="{DBE3C92F-75AA-58CE-E53C-11A363FFAA3E}"/>
                  </a:ext>
                </a:extLst>
              </p:cNvPr>
              <p:cNvSpPr/>
              <p:nvPr/>
            </p:nvSpPr>
            <p:spPr>
              <a:xfrm>
                <a:off x="9503753" y="1052242"/>
                <a:ext cx="46646" cy="82353"/>
              </a:xfrm>
              <a:custGeom>
                <a:avLst/>
                <a:gdLst>
                  <a:gd name="connsiteX0" fmla="*/ 0 w 46646"/>
                  <a:gd name="connsiteY0" fmla="*/ 82353 h 82353"/>
                  <a:gd name="connsiteX1" fmla="*/ 46646 w 46646"/>
                  <a:gd name="connsiteY1" fmla="*/ 82353 h 82353"/>
                  <a:gd name="connsiteX2" fmla="*/ 26199 w 46646"/>
                  <a:gd name="connsiteY2" fmla="*/ 0 h 82353"/>
                </a:gdLst>
                <a:ahLst/>
                <a:cxnLst>
                  <a:cxn ang="0">
                    <a:pos x="connsiteX0" y="connsiteY0"/>
                  </a:cxn>
                  <a:cxn ang="0">
                    <a:pos x="connsiteX1" y="connsiteY1"/>
                  </a:cxn>
                  <a:cxn ang="0">
                    <a:pos x="connsiteX2" y="connsiteY2"/>
                  </a:cxn>
                </a:cxnLst>
                <a:rect l="l" t="t" r="r" b="b"/>
                <a:pathLst>
                  <a:path w="46646" h="82353">
                    <a:moveTo>
                      <a:pt x="0" y="82353"/>
                    </a:moveTo>
                    <a:lnTo>
                      <a:pt x="46646" y="82353"/>
                    </a:lnTo>
                    <a:lnTo>
                      <a:pt x="26199"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34" name="Graphic 4">
                <a:extLst>
                  <a:ext uri="{FF2B5EF4-FFF2-40B4-BE49-F238E27FC236}">
                    <a16:creationId xmlns:a16="http://schemas.microsoft.com/office/drawing/2014/main" id="{B901BB5D-95B3-0B17-66B1-A9BC962E8EB3}"/>
                  </a:ext>
                </a:extLst>
              </p:cNvPr>
              <p:cNvSpPr/>
              <p:nvPr/>
            </p:nvSpPr>
            <p:spPr>
              <a:xfrm>
                <a:off x="9278188" y="914709"/>
                <a:ext cx="361674" cy="361971"/>
              </a:xfrm>
              <a:custGeom>
                <a:avLst/>
                <a:gdLst>
                  <a:gd name="connsiteX0" fmla="*/ 285630 w 361674"/>
                  <a:gd name="connsiteY0" fmla="*/ 227270 h 361971"/>
                  <a:gd name="connsiteX1" fmla="*/ 280518 w 361674"/>
                  <a:gd name="connsiteY1" fmla="*/ 229823 h 361971"/>
                  <a:gd name="connsiteX2" fmla="*/ 217258 w 361674"/>
                  <a:gd name="connsiteY2" fmla="*/ 229823 h 361971"/>
                  <a:gd name="connsiteX3" fmla="*/ 210868 w 361674"/>
                  <a:gd name="connsiteY3" fmla="*/ 223439 h 361971"/>
                  <a:gd name="connsiteX4" fmla="*/ 210868 w 361674"/>
                  <a:gd name="connsiteY4" fmla="*/ 221524 h 361971"/>
                  <a:gd name="connsiteX5" fmla="*/ 243456 w 361674"/>
                  <a:gd name="connsiteY5" fmla="*/ 117465 h 361971"/>
                  <a:gd name="connsiteX6" fmla="*/ 187864 w 361674"/>
                  <a:gd name="connsiteY6" fmla="*/ 117465 h 361971"/>
                  <a:gd name="connsiteX7" fmla="*/ 187864 w 361674"/>
                  <a:gd name="connsiteY7" fmla="*/ 273234 h 361971"/>
                  <a:gd name="connsiteX8" fmla="*/ 223648 w 361674"/>
                  <a:gd name="connsiteY8" fmla="*/ 273234 h 361971"/>
                  <a:gd name="connsiteX9" fmla="*/ 230038 w 361674"/>
                  <a:gd name="connsiteY9" fmla="*/ 279618 h 361971"/>
                  <a:gd name="connsiteX10" fmla="*/ 223648 w 361674"/>
                  <a:gd name="connsiteY10" fmla="*/ 286002 h 361971"/>
                  <a:gd name="connsiteX11" fmla="*/ 139301 w 361674"/>
                  <a:gd name="connsiteY11" fmla="*/ 286002 h 361971"/>
                  <a:gd name="connsiteX12" fmla="*/ 132911 w 361674"/>
                  <a:gd name="connsiteY12" fmla="*/ 279618 h 361971"/>
                  <a:gd name="connsiteX13" fmla="*/ 139301 w 361674"/>
                  <a:gd name="connsiteY13" fmla="*/ 273234 h 361971"/>
                  <a:gd name="connsiteX14" fmla="*/ 175084 w 361674"/>
                  <a:gd name="connsiteY14" fmla="*/ 273234 h 361971"/>
                  <a:gd name="connsiteX15" fmla="*/ 175084 w 361674"/>
                  <a:gd name="connsiteY15" fmla="*/ 117465 h 361971"/>
                  <a:gd name="connsiteX16" fmla="*/ 126521 w 361674"/>
                  <a:gd name="connsiteY16" fmla="*/ 117465 h 361971"/>
                  <a:gd name="connsiteX17" fmla="*/ 152720 w 361674"/>
                  <a:gd name="connsiteY17" fmla="*/ 222163 h 361971"/>
                  <a:gd name="connsiteX18" fmla="*/ 151441 w 361674"/>
                  <a:gd name="connsiteY18" fmla="*/ 227908 h 361971"/>
                  <a:gd name="connsiteX19" fmla="*/ 146330 w 361674"/>
                  <a:gd name="connsiteY19" fmla="*/ 230462 h 361971"/>
                  <a:gd name="connsiteX20" fmla="*/ 83069 w 361674"/>
                  <a:gd name="connsiteY20" fmla="*/ 230462 h 361971"/>
                  <a:gd name="connsiteX21" fmla="*/ 76679 w 361674"/>
                  <a:gd name="connsiteY21" fmla="*/ 224078 h 361971"/>
                  <a:gd name="connsiteX22" fmla="*/ 76679 w 361674"/>
                  <a:gd name="connsiteY22" fmla="*/ 222163 h 361971"/>
                  <a:gd name="connsiteX23" fmla="*/ 111824 w 361674"/>
                  <a:gd name="connsiteY23" fmla="*/ 109804 h 361971"/>
                  <a:gd name="connsiteX24" fmla="*/ 111824 w 361674"/>
                  <a:gd name="connsiteY24" fmla="*/ 109166 h 361971"/>
                  <a:gd name="connsiteX25" fmla="*/ 112463 w 361674"/>
                  <a:gd name="connsiteY25" fmla="*/ 108528 h 361971"/>
                  <a:gd name="connsiteX26" fmla="*/ 113102 w 361674"/>
                  <a:gd name="connsiteY26" fmla="*/ 107251 h 361971"/>
                  <a:gd name="connsiteX27" fmla="*/ 113741 w 361674"/>
                  <a:gd name="connsiteY27" fmla="*/ 106612 h 361971"/>
                  <a:gd name="connsiteX28" fmla="*/ 115019 w 361674"/>
                  <a:gd name="connsiteY28" fmla="*/ 105974 h 361971"/>
                  <a:gd name="connsiteX29" fmla="*/ 115658 w 361674"/>
                  <a:gd name="connsiteY29" fmla="*/ 105336 h 361971"/>
                  <a:gd name="connsiteX30" fmla="*/ 117575 w 361674"/>
                  <a:gd name="connsiteY30" fmla="*/ 104697 h 361971"/>
                  <a:gd name="connsiteX31" fmla="*/ 118214 w 361674"/>
                  <a:gd name="connsiteY31" fmla="*/ 104697 h 361971"/>
                  <a:gd name="connsiteX32" fmla="*/ 175084 w 361674"/>
                  <a:gd name="connsiteY32" fmla="*/ 104697 h 361971"/>
                  <a:gd name="connsiteX33" fmla="*/ 175084 w 361674"/>
                  <a:gd name="connsiteY33" fmla="*/ 82992 h 361971"/>
                  <a:gd name="connsiteX34" fmla="*/ 181474 w 361674"/>
                  <a:gd name="connsiteY34" fmla="*/ 76608 h 361971"/>
                  <a:gd name="connsiteX35" fmla="*/ 187864 w 361674"/>
                  <a:gd name="connsiteY35" fmla="*/ 82992 h 361971"/>
                  <a:gd name="connsiteX36" fmla="*/ 187864 w 361674"/>
                  <a:gd name="connsiteY36" fmla="*/ 104697 h 361971"/>
                  <a:gd name="connsiteX37" fmla="*/ 251764 w 361674"/>
                  <a:gd name="connsiteY37" fmla="*/ 104697 h 361971"/>
                  <a:gd name="connsiteX38" fmla="*/ 253680 w 361674"/>
                  <a:gd name="connsiteY38" fmla="*/ 105336 h 361971"/>
                  <a:gd name="connsiteX39" fmla="*/ 254320 w 361674"/>
                  <a:gd name="connsiteY39" fmla="*/ 105336 h 361971"/>
                  <a:gd name="connsiteX40" fmla="*/ 255597 w 361674"/>
                  <a:gd name="connsiteY40" fmla="*/ 105974 h 361971"/>
                  <a:gd name="connsiteX41" fmla="*/ 256236 w 361674"/>
                  <a:gd name="connsiteY41" fmla="*/ 106612 h 361971"/>
                  <a:gd name="connsiteX42" fmla="*/ 256875 w 361674"/>
                  <a:gd name="connsiteY42" fmla="*/ 107889 h 361971"/>
                  <a:gd name="connsiteX43" fmla="*/ 257515 w 361674"/>
                  <a:gd name="connsiteY43" fmla="*/ 108528 h 361971"/>
                  <a:gd name="connsiteX44" fmla="*/ 257515 w 361674"/>
                  <a:gd name="connsiteY44" fmla="*/ 109166 h 361971"/>
                  <a:gd name="connsiteX45" fmla="*/ 285630 w 361674"/>
                  <a:gd name="connsiteY45" fmla="*/ 221524 h 361971"/>
                  <a:gd name="connsiteX46" fmla="*/ 284352 w 361674"/>
                  <a:gd name="connsiteY46" fmla="*/ 227270 h 361971"/>
                  <a:gd name="connsiteX47" fmla="*/ 180836 w 361674"/>
                  <a:gd name="connsiteY47" fmla="*/ 0 h 361971"/>
                  <a:gd name="connsiteX48" fmla="*/ 0 w 361674"/>
                  <a:gd name="connsiteY48" fmla="*/ 180667 h 361971"/>
                  <a:gd name="connsiteX49" fmla="*/ 180836 w 361674"/>
                  <a:gd name="connsiteY49" fmla="*/ 361972 h 361971"/>
                  <a:gd name="connsiteX50" fmla="*/ 361670 w 361674"/>
                  <a:gd name="connsiteY50" fmla="*/ 181305 h 361971"/>
                  <a:gd name="connsiteX51" fmla="*/ 361670 w 361674"/>
                  <a:gd name="connsiteY51" fmla="*/ 181305 h 361971"/>
                  <a:gd name="connsiteX52" fmla="*/ 180836 w 361674"/>
                  <a:gd name="connsiteY52" fmla="*/ 0 h 361971"/>
                  <a:gd name="connsiteX53" fmla="*/ 180836 w 361674"/>
                  <a:gd name="connsiteY53"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61674" h="361971">
                    <a:moveTo>
                      <a:pt x="285630" y="227270"/>
                    </a:moveTo>
                    <a:cubicBezTo>
                      <a:pt x="284352" y="228546"/>
                      <a:pt x="282435" y="229823"/>
                      <a:pt x="280518" y="229823"/>
                    </a:cubicBezTo>
                    <a:lnTo>
                      <a:pt x="217258" y="229823"/>
                    </a:lnTo>
                    <a:cubicBezTo>
                      <a:pt x="213424" y="229823"/>
                      <a:pt x="210868" y="227270"/>
                      <a:pt x="210868" y="223439"/>
                    </a:cubicBezTo>
                    <a:cubicBezTo>
                      <a:pt x="210868" y="222801"/>
                      <a:pt x="210868" y="222163"/>
                      <a:pt x="210868" y="221524"/>
                    </a:cubicBezTo>
                    <a:lnTo>
                      <a:pt x="243456" y="117465"/>
                    </a:lnTo>
                    <a:lnTo>
                      <a:pt x="187864" y="117465"/>
                    </a:lnTo>
                    <a:lnTo>
                      <a:pt x="187864" y="273234"/>
                    </a:lnTo>
                    <a:lnTo>
                      <a:pt x="223648" y="273234"/>
                    </a:lnTo>
                    <a:cubicBezTo>
                      <a:pt x="227482" y="273234"/>
                      <a:pt x="230038" y="275788"/>
                      <a:pt x="230038" y="279618"/>
                    </a:cubicBezTo>
                    <a:cubicBezTo>
                      <a:pt x="230038" y="283449"/>
                      <a:pt x="227482" y="286002"/>
                      <a:pt x="223648" y="286002"/>
                    </a:cubicBezTo>
                    <a:lnTo>
                      <a:pt x="139301" y="286002"/>
                    </a:lnTo>
                    <a:cubicBezTo>
                      <a:pt x="135466" y="286002"/>
                      <a:pt x="132911" y="283449"/>
                      <a:pt x="132911" y="279618"/>
                    </a:cubicBezTo>
                    <a:cubicBezTo>
                      <a:pt x="132911" y="275788"/>
                      <a:pt x="135466" y="273234"/>
                      <a:pt x="139301" y="273234"/>
                    </a:cubicBezTo>
                    <a:lnTo>
                      <a:pt x="175084" y="273234"/>
                    </a:lnTo>
                    <a:lnTo>
                      <a:pt x="175084" y="117465"/>
                    </a:lnTo>
                    <a:lnTo>
                      <a:pt x="126521" y="117465"/>
                    </a:lnTo>
                    <a:lnTo>
                      <a:pt x="152720" y="222163"/>
                    </a:lnTo>
                    <a:cubicBezTo>
                      <a:pt x="153358" y="224078"/>
                      <a:pt x="152720" y="225993"/>
                      <a:pt x="151441" y="227908"/>
                    </a:cubicBezTo>
                    <a:cubicBezTo>
                      <a:pt x="150164" y="229185"/>
                      <a:pt x="148246" y="230462"/>
                      <a:pt x="146330" y="230462"/>
                    </a:cubicBezTo>
                    <a:lnTo>
                      <a:pt x="83069" y="230462"/>
                    </a:lnTo>
                    <a:cubicBezTo>
                      <a:pt x="79235" y="230462"/>
                      <a:pt x="76679" y="227908"/>
                      <a:pt x="76679" y="224078"/>
                    </a:cubicBezTo>
                    <a:cubicBezTo>
                      <a:pt x="76679" y="223439"/>
                      <a:pt x="76679" y="222801"/>
                      <a:pt x="76679" y="222163"/>
                    </a:cubicBezTo>
                    <a:lnTo>
                      <a:pt x="111824" y="109804"/>
                    </a:lnTo>
                    <a:cubicBezTo>
                      <a:pt x="111824" y="109804"/>
                      <a:pt x="111824" y="109804"/>
                      <a:pt x="111824" y="109166"/>
                    </a:cubicBezTo>
                    <a:lnTo>
                      <a:pt x="112463" y="108528"/>
                    </a:lnTo>
                    <a:lnTo>
                      <a:pt x="113102" y="107251"/>
                    </a:lnTo>
                    <a:lnTo>
                      <a:pt x="113741" y="106612"/>
                    </a:lnTo>
                    <a:lnTo>
                      <a:pt x="115019" y="105974"/>
                    </a:lnTo>
                    <a:lnTo>
                      <a:pt x="115658" y="105336"/>
                    </a:lnTo>
                    <a:cubicBezTo>
                      <a:pt x="116297" y="105336"/>
                      <a:pt x="116936" y="105336"/>
                      <a:pt x="117575" y="104697"/>
                    </a:cubicBezTo>
                    <a:lnTo>
                      <a:pt x="118214" y="104697"/>
                    </a:lnTo>
                    <a:lnTo>
                      <a:pt x="175084" y="104697"/>
                    </a:lnTo>
                    <a:lnTo>
                      <a:pt x="175084" y="82992"/>
                    </a:lnTo>
                    <a:cubicBezTo>
                      <a:pt x="175084" y="79161"/>
                      <a:pt x="177641" y="76608"/>
                      <a:pt x="181474" y="76608"/>
                    </a:cubicBezTo>
                    <a:cubicBezTo>
                      <a:pt x="185308" y="76608"/>
                      <a:pt x="187864" y="79161"/>
                      <a:pt x="187864" y="82992"/>
                    </a:cubicBezTo>
                    <a:lnTo>
                      <a:pt x="187864" y="104697"/>
                    </a:lnTo>
                    <a:lnTo>
                      <a:pt x="251764" y="104697"/>
                    </a:lnTo>
                    <a:cubicBezTo>
                      <a:pt x="252403" y="104697"/>
                      <a:pt x="253041" y="104697"/>
                      <a:pt x="253680" y="105336"/>
                    </a:cubicBezTo>
                    <a:lnTo>
                      <a:pt x="254320" y="105336"/>
                    </a:lnTo>
                    <a:cubicBezTo>
                      <a:pt x="254959" y="105336"/>
                      <a:pt x="254959" y="105974"/>
                      <a:pt x="255597" y="105974"/>
                    </a:cubicBezTo>
                    <a:cubicBezTo>
                      <a:pt x="255597" y="105974"/>
                      <a:pt x="256236" y="106612"/>
                      <a:pt x="256236" y="106612"/>
                    </a:cubicBezTo>
                    <a:cubicBezTo>
                      <a:pt x="256875" y="107251"/>
                      <a:pt x="256875" y="107251"/>
                      <a:pt x="256875" y="107889"/>
                    </a:cubicBezTo>
                    <a:lnTo>
                      <a:pt x="257515" y="108528"/>
                    </a:lnTo>
                    <a:cubicBezTo>
                      <a:pt x="257515" y="108528"/>
                      <a:pt x="257515" y="109166"/>
                      <a:pt x="257515" y="109166"/>
                    </a:cubicBezTo>
                    <a:lnTo>
                      <a:pt x="285630" y="221524"/>
                    </a:lnTo>
                    <a:cubicBezTo>
                      <a:pt x="286270" y="223439"/>
                      <a:pt x="285630" y="225355"/>
                      <a:pt x="284352" y="227270"/>
                    </a:cubicBezTo>
                    <a:moveTo>
                      <a:pt x="180836" y="0"/>
                    </a:moveTo>
                    <a:cubicBezTo>
                      <a:pt x="80513" y="0"/>
                      <a:pt x="0" y="81077"/>
                      <a:pt x="0" y="180667"/>
                    </a:cubicBezTo>
                    <a:cubicBezTo>
                      <a:pt x="0" y="280895"/>
                      <a:pt x="81152" y="361972"/>
                      <a:pt x="180836" y="361972"/>
                    </a:cubicBezTo>
                    <a:cubicBezTo>
                      <a:pt x="281157" y="361972"/>
                      <a:pt x="361670" y="280895"/>
                      <a:pt x="361670" y="181305"/>
                    </a:cubicBezTo>
                    <a:lnTo>
                      <a:pt x="361670" y="181305"/>
                    </a:lnTo>
                    <a:cubicBezTo>
                      <a:pt x="362309" y="81077"/>
                      <a:pt x="281157" y="0"/>
                      <a:pt x="180836" y="0"/>
                    </a:cubicBezTo>
                    <a:cubicBezTo>
                      <a:pt x="180836" y="0"/>
                      <a:pt x="180836" y="0"/>
                      <a:pt x="180836"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grpSp>
    </p:spTree>
    <p:extLst>
      <p:ext uri="{BB962C8B-B14F-4D97-AF65-F5344CB8AC3E}">
        <p14:creationId xmlns:p14="http://schemas.microsoft.com/office/powerpoint/2010/main" val="344666247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D6657-F529-81CC-BAD4-BDBAC82B9DE0}"/>
            </a:ext>
          </a:extLst>
        </p:cNvPr>
        <p:cNvGrpSpPr/>
        <p:nvPr/>
      </p:nvGrpSpPr>
      <p:grpSpPr>
        <a:xfrm>
          <a:off x="0" y="0"/>
          <a:ext cx="0" cy="0"/>
          <a:chOff x="0" y="0"/>
          <a:chExt cx="0" cy="0"/>
        </a:xfrm>
      </p:grpSpPr>
      <p:sp>
        <p:nvSpPr>
          <p:cNvPr id="58" name="Shape 3">
            <a:extLst>
              <a:ext uri="{FF2B5EF4-FFF2-40B4-BE49-F238E27FC236}">
                <a16:creationId xmlns:a16="http://schemas.microsoft.com/office/drawing/2014/main" id="{D1932E1D-2BA4-C4BC-6EE0-CF9D49DD1DC9}"/>
              </a:ext>
            </a:extLst>
          </p:cNvPr>
          <p:cNvSpPr/>
          <p:nvPr/>
        </p:nvSpPr>
        <p:spPr>
          <a:xfrm>
            <a:off x="0" y="2176041"/>
            <a:ext cx="12192000" cy="4688665"/>
          </a:xfrm>
          <a:prstGeom prst="roundRect">
            <a:avLst>
              <a:gd name="adj" fmla="val 1481"/>
            </a:avLst>
          </a:prstGeom>
          <a:solidFill>
            <a:schemeClr val="accent2"/>
          </a:solidFill>
          <a:ln w="10160">
            <a:solidFill>
              <a:srgbClr val="DDDDDD"/>
            </a:solidFill>
            <a:prstDash val="solid"/>
          </a:ln>
          <a:effectLst>
            <a:outerShdw blurRad="1524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E3064FC7-5780-574B-B773-6D07C437BBF5}"/>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61" name="Text 22">
            <a:extLst>
              <a:ext uri="{FF2B5EF4-FFF2-40B4-BE49-F238E27FC236}">
                <a16:creationId xmlns:a16="http://schemas.microsoft.com/office/drawing/2014/main" id="{8059B5FE-844C-B947-9761-CFCB88530352}"/>
              </a:ext>
            </a:extLst>
          </p:cNvPr>
          <p:cNvSpPr/>
          <p:nvPr/>
        </p:nvSpPr>
        <p:spPr>
          <a:xfrm>
            <a:off x="332191" y="484290"/>
            <a:ext cx="42976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 THE SOLUTION</a:t>
            </a:r>
            <a:endParaRPr kumimoji="0" lang="en-US" sz="15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63" name="Text 23">
            <a:extLst>
              <a:ext uri="{FF2B5EF4-FFF2-40B4-BE49-F238E27FC236}">
                <a16:creationId xmlns:a16="http://schemas.microsoft.com/office/drawing/2014/main" id="{35BFDFB1-38DF-FAA4-DBDA-C0382D8FA3EF}"/>
              </a:ext>
            </a:extLst>
          </p:cNvPr>
          <p:cNvSpPr/>
          <p:nvPr/>
        </p:nvSpPr>
        <p:spPr>
          <a:xfrm>
            <a:off x="332190" y="749466"/>
            <a:ext cx="8750849"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1A1A"/>
                </a:solidFill>
                <a:effectLst/>
                <a:uLnTx/>
                <a:uFillTx/>
                <a:latin typeface="Segoe UI" panose="020B0502040204020203" pitchFamily="34" charset="0"/>
                <a:ea typeface="Arial" pitchFamily="34" charset="-122"/>
                <a:cs typeface="Segoe UI" panose="020B0502040204020203" pitchFamily="34" charset="0"/>
                <a:sym typeface="Arial"/>
              </a:rPr>
              <a:t>A centralized utility turns fragmented data into trusted intelligence</a:t>
            </a:r>
          </a:p>
        </p:txBody>
      </p:sp>
      <p:sp>
        <p:nvSpPr>
          <p:cNvPr id="189" name="TextBox 188">
            <a:extLst>
              <a:ext uri="{FF2B5EF4-FFF2-40B4-BE49-F238E27FC236}">
                <a16:creationId xmlns:a16="http://schemas.microsoft.com/office/drawing/2014/main" id="{50FA3F95-19EC-0C3E-260B-D1807605DF8C}"/>
              </a:ext>
            </a:extLst>
          </p:cNvPr>
          <p:cNvSpPr txBox="1"/>
          <p:nvPr/>
        </p:nvSpPr>
        <p:spPr>
          <a:xfrm>
            <a:off x="272041" y="1106115"/>
            <a:ext cx="1170659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The findings are consistent with the barriers identified elsewhere in the survey. Across both banking and insurance respondents, </a:t>
            </a:r>
            <a:r>
              <a:rPr kumimoji="0" lang="en-US" sz="140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a centralized fraud information-sharing utility</a:t>
            </a:r>
            <a:r>
              <a:rPr kumimoji="0" lang="en-US"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 emerged as the most impactful government intervention, </a:t>
            </a:r>
            <a:r>
              <a:rPr kumimoji="0" lang="en-US" sz="140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selected by 35% of respondents</a:t>
            </a:r>
            <a:r>
              <a:rPr kumimoji="0" lang="en-US"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 while clearer legal and regulatory frameworks ranked second. Respondents appear to view a centralized utility as the most direct path to establishing common standards, improving data quality, and enabling more effective information exchange across participants.</a:t>
            </a: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grpSp>
        <p:nvGrpSpPr>
          <p:cNvPr id="56" name="Group 55">
            <a:extLst>
              <a:ext uri="{FF2B5EF4-FFF2-40B4-BE49-F238E27FC236}">
                <a16:creationId xmlns:a16="http://schemas.microsoft.com/office/drawing/2014/main" id="{99F859D1-3BC3-FA24-1FB1-A9A0F781E932}"/>
              </a:ext>
            </a:extLst>
          </p:cNvPr>
          <p:cNvGrpSpPr/>
          <p:nvPr/>
        </p:nvGrpSpPr>
        <p:grpSpPr>
          <a:xfrm>
            <a:off x="6126430" y="2546610"/>
            <a:ext cx="6052118" cy="3937261"/>
            <a:chOff x="6071239" y="2361336"/>
            <a:chExt cx="5659006" cy="3681518"/>
          </a:xfrm>
        </p:grpSpPr>
        <p:sp>
          <p:nvSpPr>
            <p:cNvPr id="11" name="Arc 10">
              <a:extLst>
                <a:ext uri="{FF2B5EF4-FFF2-40B4-BE49-F238E27FC236}">
                  <a16:creationId xmlns:a16="http://schemas.microsoft.com/office/drawing/2014/main" id="{F8CBA258-FE82-7DB5-6974-F8B9CCB20851}"/>
                </a:ext>
              </a:extLst>
            </p:cNvPr>
            <p:cNvSpPr/>
            <p:nvPr>
              <p:custDataLst>
                <p:tags r:id="rId1"/>
              </p:custDataLst>
            </p:nvPr>
          </p:nvSpPr>
          <p:spPr>
            <a:xfrm>
              <a:off x="7181095" y="2361336"/>
              <a:ext cx="3079127" cy="3082363"/>
            </a:xfrm>
            <a:prstGeom prst="arc">
              <a:avLst>
                <a:gd name="adj1" fmla="val 16473733"/>
                <a:gd name="adj2" fmla="val 15947684"/>
              </a:avLst>
            </a:prstGeom>
            <a:noFill/>
            <a:ln w="12700" cap="flat" cmpd="sng" algn="ctr">
              <a:solidFill>
                <a:srgbClr val="B4B4B4"/>
              </a:solidFill>
              <a:prstDash val="sysDash"/>
              <a:miter lim="800000"/>
              <a:headEnd type="arrow"/>
              <a:tailEnd type="arrow"/>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17" name="TextBox 16">
              <a:extLst>
                <a:ext uri="{FF2B5EF4-FFF2-40B4-BE49-F238E27FC236}">
                  <a16:creationId xmlns:a16="http://schemas.microsoft.com/office/drawing/2014/main" id="{72C8299C-9AD0-68D7-CC6F-4F427775386F}"/>
                </a:ext>
              </a:extLst>
            </p:cNvPr>
            <p:cNvSpPr txBox="1"/>
            <p:nvPr/>
          </p:nvSpPr>
          <p:spPr>
            <a:xfrm>
              <a:off x="6144747" y="4741773"/>
              <a:ext cx="1800000" cy="733852"/>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Centralized public sector repositories can share intelligence on known scammers. This helps in cross-referencing the data to identify and apprehend fraudsters.</a:t>
              </a:r>
            </a:p>
          </p:txBody>
        </p:sp>
        <p:sp>
          <p:nvSpPr>
            <p:cNvPr id="18" name="TextBox 17">
              <a:extLst>
                <a:ext uri="{FF2B5EF4-FFF2-40B4-BE49-F238E27FC236}">
                  <a16:creationId xmlns:a16="http://schemas.microsoft.com/office/drawing/2014/main" id="{0A4EC688-843D-82D6-8414-549356919849}"/>
                </a:ext>
              </a:extLst>
            </p:cNvPr>
            <p:cNvSpPr txBox="1"/>
            <p:nvPr/>
          </p:nvSpPr>
          <p:spPr>
            <a:xfrm>
              <a:off x="6071239" y="2896780"/>
              <a:ext cx="1800000" cy="733852"/>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Banks can share real-time transaction data and fraud alerts to help identify transactions and patterns that indicate potential fraudulent activity.</a:t>
              </a:r>
            </a:p>
          </p:txBody>
        </p:sp>
        <p:sp>
          <p:nvSpPr>
            <p:cNvPr id="12" name="Arc 11">
              <a:extLst>
                <a:ext uri="{FF2B5EF4-FFF2-40B4-BE49-F238E27FC236}">
                  <a16:creationId xmlns:a16="http://schemas.microsoft.com/office/drawing/2014/main" id="{011014BD-518F-C0E2-5A17-72F92974DEBB}"/>
                </a:ext>
              </a:extLst>
            </p:cNvPr>
            <p:cNvSpPr/>
            <p:nvPr>
              <p:custDataLst>
                <p:tags r:id="rId2"/>
              </p:custDataLst>
            </p:nvPr>
          </p:nvSpPr>
          <p:spPr>
            <a:xfrm>
              <a:off x="7445286" y="2627721"/>
              <a:ext cx="2550745" cy="2553426"/>
            </a:xfrm>
            <a:prstGeom prst="arc">
              <a:avLst>
                <a:gd name="adj1" fmla="val 18638933"/>
                <a:gd name="adj2" fmla="val 18630248"/>
              </a:avLst>
            </a:prstGeom>
            <a:noFill/>
            <a:ln w="12700" cap="flat" cmpd="sng" algn="ctr">
              <a:solidFill>
                <a:schemeClr val="accent1"/>
              </a:solidFill>
              <a:prstDash val="sysDash"/>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24" name="Rectangle: Rounded Corners 23">
              <a:extLst>
                <a:ext uri="{FF2B5EF4-FFF2-40B4-BE49-F238E27FC236}">
                  <a16:creationId xmlns:a16="http://schemas.microsoft.com/office/drawing/2014/main" id="{FE538A2B-B535-8C7C-F39A-014C9656D20B}"/>
                </a:ext>
              </a:extLst>
            </p:cNvPr>
            <p:cNvSpPr/>
            <p:nvPr/>
          </p:nvSpPr>
          <p:spPr bwMode="gray">
            <a:xfrm>
              <a:off x="9474167" y="246477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Telecom</a:t>
              </a:r>
            </a:p>
          </p:txBody>
        </p:sp>
        <p:sp>
          <p:nvSpPr>
            <p:cNvPr id="25" name="Rectangle: Rounded Corners 24">
              <a:extLst>
                <a:ext uri="{FF2B5EF4-FFF2-40B4-BE49-F238E27FC236}">
                  <a16:creationId xmlns:a16="http://schemas.microsoft.com/office/drawing/2014/main" id="{68D3E7F4-D186-1877-655C-65CFA6467DDA}"/>
                </a:ext>
              </a:extLst>
            </p:cNvPr>
            <p:cNvSpPr/>
            <p:nvPr/>
          </p:nvSpPr>
          <p:spPr bwMode="gray">
            <a:xfrm>
              <a:off x="6943134" y="256416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Financial Institution</a:t>
              </a:r>
            </a:p>
          </p:txBody>
        </p:sp>
        <p:sp>
          <p:nvSpPr>
            <p:cNvPr id="22" name="Rectangle: Rounded Corners 21">
              <a:extLst>
                <a:ext uri="{FF2B5EF4-FFF2-40B4-BE49-F238E27FC236}">
                  <a16:creationId xmlns:a16="http://schemas.microsoft.com/office/drawing/2014/main" id="{1337CDE0-D60C-AB86-D4B8-2649CBABC853}"/>
                </a:ext>
              </a:extLst>
            </p:cNvPr>
            <p:cNvSpPr/>
            <p:nvPr/>
          </p:nvSpPr>
          <p:spPr bwMode="gray">
            <a:xfrm>
              <a:off x="6382357" y="4445591"/>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Public Sector</a:t>
              </a:r>
            </a:p>
          </p:txBody>
        </p:sp>
        <p:sp>
          <p:nvSpPr>
            <p:cNvPr id="23" name="Rectangle: Rounded Corners 22">
              <a:extLst>
                <a:ext uri="{FF2B5EF4-FFF2-40B4-BE49-F238E27FC236}">
                  <a16:creationId xmlns:a16="http://schemas.microsoft.com/office/drawing/2014/main" id="{11F1CE87-8475-8B6B-1862-6E944D978634}"/>
                </a:ext>
              </a:extLst>
            </p:cNvPr>
            <p:cNvSpPr/>
            <p:nvPr/>
          </p:nvSpPr>
          <p:spPr bwMode="gray">
            <a:xfrm>
              <a:off x="8311914" y="5142323"/>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Digital Platform</a:t>
              </a:r>
            </a:p>
          </p:txBody>
        </p:sp>
        <p:sp>
          <p:nvSpPr>
            <p:cNvPr id="15" name="TextBox 14">
              <a:extLst>
                <a:ext uri="{FF2B5EF4-FFF2-40B4-BE49-F238E27FC236}">
                  <a16:creationId xmlns:a16="http://schemas.microsoft.com/office/drawing/2014/main" id="{59F0601B-C4E4-F532-5026-43AE54FA9A92}"/>
                </a:ext>
              </a:extLst>
            </p:cNvPr>
            <p:cNvSpPr txBox="1"/>
            <p:nvPr/>
          </p:nvSpPr>
          <p:spPr>
            <a:xfrm>
              <a:off x="9633203" y="2797390"/>
              <a:ext cx="1800000" cy="863356"/>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Telecom companies can provide data on the origin of the call and information on the device, to identify if the call was made from a legitimate source or as part of a scam.</a:t>
              </a:r>
            </a:p>
          </p:txBody>
        </p:sp>
        <p:sp>
          <p:nvSpPr>
            <p:cNvPr id="16" name="TextBox 15">
              <a:extLst>
                <a:ext uri="{FF2B5EF4-FFF2-40B4-BE49-F238E27FC236}">
                  <a16:creationId xmlns:a16="http://schemas.microsoft.com/office/drawing/2014/main" id="{C15307F6-C897-A82D-47DD-97CB8AB46618}"/>
                </a:ext>
              </a:extLst>
            </p:cNvPr>
            <p:cNvSpPr txBox="1"/>
            <p:nvPr/>
          </p:nvSpPr>
          <p:spPr>
            <a:xfrm>
              <a:off x="8299819" y="5438505"/>
              <a:ext cx="1800000" cy="604349"/>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Digital platforms can provide data on user activity, such as login attempts from unusual locations or devices. </a:t>
              </a:r>
            </a:p>
          </p:txBody>
        </p:sp>
        <p:pic>
          <p:nvPicPr>
            <p:cNvPr id="19" name="Picture 18">
              <a:extLst>
                <a:ext uri="{FF2B5EF4-FFF2-40B4-BE49-F238E27FC236}">
                  <a16:creationId xmlns:a16="http://schemas.microsoft.com/office/drawing/2014/main" id="{A306F0C2-DD05-6DDC-1899-FA07186EBE0E}"/>
                </a:ext>
              </a:extLst>
            </p:cNvPr>
            <p:cNvPicPr>
              <a:picLocks noChangeAspect="1"/>
            </p:cNvPicPr>
            <p:nvPr>
              <p:custDataLst>
                <p:tags r:id="rId3"/>
              </p:custDataLst>
            </p:nvPr>
          </p:nvPicPr>
          <p:blipFill>
            <a:blip r:embed="rId7">
              <a:grayscl/>
              <a:extLst>
                <a:ext uri="{28A0092B-C50C-407E-A947-70E740481C1C}">
                  <a14:useLocalDpi xmlns:a14="http://schemas.microsoft.com/office/drawing/2010/main"/>
                </a:ext>
              </a:extLst>
            </a:blip>
            <a:stretch>
              <a:fillRect/>
            </a:stretch>
          </p:blipFill>
          <p:spPr>
            <a:xfrm>
              <a:off x="7814272" y="3017970"/>
              <a:ext cx="1825355" cy="1834251"/>
            </a:xfrm>
            <a:prstGeom prst="rect">
              <a:avLst/>
            </a:prstGeom>
            <a:ln>
              <a:noFill/>
            </a:ln>
          </p:spPr>
        </p:pic>
        <p:sp>
          <p:nvSpPr>
            <p:cNvPr id="20" name="Oval 19">
              <a:extLst>
                <a:ext uri="{FF2B5EF4-FFF2-40B4-BE49-F238E27FC236}">
                  <a16:creationId xmlns:a16="http://schemas.microsoft.com/office/drawing/2014/main" id="{A17D1768-2D32-E2B7-B8D5-80F9580389EB}"/>
                </a:ext>
              </a:extLst>
            </p:cNvPr>
            <p:cNvSpPr/>
            <p:nvPr/>
          </p:nvSpPr>
          <p:spPr bwMode="gray">
            <a:xfrm>
              <a:off x="8299957" y="3514463"/>
              <a:ext cx="798109" cy="798109"/>
            </a:xfrm>
            <a:prstGeom prst="ellipse">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21" name="Rectangle 20">
              <a:extLst>
                <a:ext uri="{FF2B5EF4-FFF2-40B4-BE49-F238E27FC236}">
                  <a16:creationId xmlns:a16="http://schemas.microsoft.com/office/drawing/2014/main" id="{2B3B18D7-2B57-268E-38D0-CA5452D57570}"/>
                </a:ext>
              </a:extLst>
            </p:cNvPr>
            <p:cNvSpPr/>
            <p:nvPr/>
          </p:nvSpPr>
          <p:spPr bwMode="gray">
            <a:xfrm>
              <a:off x="8366219" y="3684987"/>
              <a:ext cx="677252" cy="440610"/>
            </a:xfrm>
            <a:prstGeom prst="rect">
              <a:avLst/>
            </a:prstGeom>
            <a:no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CENTRAL UTILITY</a:t>
              </a:r>
            </a:p>
          </p:txBody>
        </p:sp>
        <p:sp>
          <p:nvSpPr>
            <p:cNvPr id="45" name="Rectangle: Rounded Corners 44">
              <a:extLst>
                <a:ext uri="{FF2B5EF4-FFF2-40B4-BE49-F238E27FC236}">
                  <a16:creationId xmlns:a16="http://schemas.microsoft.com/office/drawing/2014/main" id="{EF090E4F-C2DE-3ADC-DF7F-C39D4C1A02C9}"/>
                </a:ext>
              </a:extLst>
            </p:cNvPr>
            <p:cNvSpPr/>
            <p:nvPr/>
          </p:nvSpPr>
          <p:spPr bwMode="gray">
            <a:xfrm>
              <a:off x="9942340" y="4058743"/>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Insurance</a:t>
              </a:r>
            </a:p>
          </p:txBody>
        </p:sp>
        <p:sp>
          <p:nvSpPr>
            <p:cNvPr id="47" name="TextBox 46">
              <a:extLst>
                <a:ext uri="{FF2B5EF4-FFF2-40B4-BE49-F238E27FC236}">
                  <a16:creationId xmlns:a16="http://schemas.microsoft.com/office/drawing/2014/main" id="{D4D842E6-271C-BC58-E815-33C846EAD07B}"/>
                </a:ext>
              </a:extLst>
            </p:cNvPr>
            <p:cNvSpPr txBox="1"/>
            <p:nvPr/>
          </p:nvSpPr>
          <p:spPr>
            <a:xfrm>
              <a:off x="9930245" y="4354925"/>
              <a:ext cx="1800000" cy="733852"/>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Insurance carriers can share claims, underwriting, and policy servicing intelligence to help identify, synthetic identities, and repeat fraud patterns.</a:t>
              </a:r>
            </a:p>
          </p:txBody>
        </p:sp>
      </p:grpSp>
      <p:sp>
        <p:nvSpPr>
          <p:cNvPr id="55" name="Text 4">
            <a:extLst>
              <a:ext uri="{FF2B5EF4-FFF2-40B4-BE49-F238E27FC236}">
                <a16:creationId xmlns:a16="http://schemas.microsoft.com/office/drawing/2014/main" id="{63D09AD8-13AF-EDCF-D9D0-1FB024CCA31D}"/>
              </a:ext>
            </a:extLst>
          </p:cNvPr>
          <p:cNvSpPr/>
          <p:nvPr/>
        </p:nvSpPr>
        <p:spPr>
          <a:xfrm>
            <a:off x="379666" y="2495211"/>
            <a:ext cx="4094752" cy="1737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80" normalizeH="0" baseline="0" noProof="0" dirty="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A centralized utility enables..</a:t>
            </a:r>
            <a:endParaRPr kumimoji="0" lang="en-US" sz="2000" b="0"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endParaRPr>
          </a:p>
        </p:txBody>
      </p:sp>
      <p:grpSp>
        <p:nvGrpSpPr>
          <p:cNvPr id="60" name="Group 59">
            <a:extLst>
              <a:ext uri="{FF2B5EF4-FFF2-40B4-BE49-F238E27FC236}">
                <a16:creationId xmlns:a16="http://schemas.microsoft.com/office/drawing/2014/main" id="{316D3907-7331-9B79-1801-5088F4A484CC}"/>
              </a:ext>
            </a:extLst>
          </p:cNvPr>
          <p:cNvGrpSpPr/>
          <p:nvPr/>
        </p:nvGrpSpPr>
        <p:grpSpPr>
          <a:xfrm>
            <a:off x="549835" y="6062794"/>
            <a:ext cx="5438529" cy="646331"/>
            <a:chOff x="260466" y="6109094"/>
            <a:chExt cx="5438529" cy="646331"/>
          </a:xfrm>
        </p:grpSpPr>
        <p:sp>
          <p:nvSpPr>
            <p:cNvPr id="39" name="Text 53">
              <a:extLst>
                <a:ext uri="{FF2B5EF4-FFF2-40B4-BE49-F238E27FC236}">
                  <a16:creationId xmlns:a16="http://schemas.microsoft.com/office/drawing/2014/main" id="{10CD8704-7935-0287-77A8-5DE04562388A}"/>
                </a:ext>
              </a:extLst>
            </p:cNvPr>
            <p:cNvSpPr/>
            <p:nvPr/>
          </p:nvSpPr>
          <p:spPr>
            <a:xfrm>
              <a:off x="379666" y="6294875"/>
              <a:ext cx="1184924" cy="2747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5" normalizeH="0" baseline="0" noProof="0" dirty="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THE SHIFT</a:t>
              </a:r>
              <a:endPar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41" name="Text 54">
              <a:extLst>
                <a:ext uri="{FF2B5EF4-FFF2-40B4-BE49-F238E27FC236}">
                  <a16:creationId xmlns:a16="http://schemas.microsoft.com/office/drawing/2014/main" id="{5FBFB928-F13E-8290-6223-D5A8AE067566}"/>
                </a:ext>
              </a:extLst>
            </p:cNvPr>
            <p:cNvSpPr/>
            <p:nvPr/>
          </p:nvSpPr>
          <p:spPr>
            <a:xfrm>
              <a:off x="1401393" y="6236395"/>
              <a:ext cx="4297602" cy="391729"/>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From institution-by-institution responsibility to centrally governed standards and guardrails.</a:t>
              </a:r>
              <a:endPar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59" name="Rectangle 58">
              <a:extLst>
                <a:ext uri="{FF2B5EF4-FFF2-40B4-BE49-F238E27FC236}">
                  <a16:creationId xmlns:a16="http://schemas.microsoft.com/office/drawing/2014/main" id="{0A2938C0-60DE-47E4-89B4-B9E0EE234757}"/>
                </a:ext>
              </a:extLst>
            </p:cNvPr>
            <p:cNvSpPr/>
            <p:nvPr/>
          </p:nvSpPr>
          <p:spPr>
            <a:xfrm>
              <a:off x="260466" y="6109094"/>
              <a:ext cx="5006015" cy="64633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146" name="Group 145">
            <a:extLst>
              <a:ext uri="{FF2B5EF4-FFF2-40B4-BE49-F238E27FC236}">
                <a16:creationId xmlns:a16="http://schemas.microsoft.com/office/drawing/2014/main" id="{B91205C7-32C2-AB0B-FDB4-7DC1D3EDCE42}"/>
              </a:ext>
            </a:extLst>
          </p:cNvPr>
          <p:cNvGrpSpPr/>
          <p:nvPr/>
        </p:nvGrpSpPr>
        <p:grpSpPr>
          <a:xfrm>
            <a:off x="444439" y="3095267"/>
            <a:ext cx="5447079" cy="646331"/>
            <a:chOff x="444439" y="3095267"/>
            <a:chExt cx="5447079" cy="646331"/>
          </a:xfrm>
        </p:grpSpPr>
        <p:sp>
          <p:nvSpPr>
            <p:cNvPr id="49" name="TextBox 48">
              <a:extLst>
                <a:ext uri="{FF2B5EF4-FFF2-40B4-BE49-F238E27FC236}">
                  <a16:creationId xmlns:a16="http://schemas.microsoft.com/office/drawing/2014/main" id="{166DB790-7791-E694-2E95-EC9C4D74C41C}"/>
                </a:ext>
              </a:extLst>
            </p:cNvPr>
            <p:cNvSpPr txBox="1"/>
            <p:nvPr/>
          </p:nvSpPr>
          <p:spPr>
            <a:xfrm>
              <a:off x="1169676" y="3095267"/>
              <a:ext cx="4721842" cy="646331"/>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600"/>
                </a:spcAft>
                <a:buClr>
                  <a:srgbClr val="000000"/>
                </a:buClr>
                <a:buSzTx/>
                <a:buFont typeface="Arial"/>
                <a:buNone/>
                <a:tabLst/>
                <a:defRPr/>
              </a:pPr>
              <a:r>
                <a:rPr kumimoji="0" lang="en-CA" sz="2200" b="1" i="0" u="none" strike="noStrike" kern="0" cap="none" spc="0" normalizeH="0" baseline="0" noProof="0" dirty="0">
                  <a:ln>
                    <a:noFill/>
                  </a:ln>
                  <a:solidFill>
                    <a:srgbClr val="FFFFFF"/>
                  </a:solidFill>
                  <a:effectLst/>
                  <a:uLnTx/>
                  <a:uFillTx/>
                  <a:latin typeface="Arial"/>
                  <a:cs typeface="Arial"/>
                  <a:sym typeface="Arial"/>
                </a:rPr>
                <a:t>COMMON STANDARDS</a:t>
              </a:r>
              <a:br>
                <a:rPr kumimoji="0" lang="en-CA" sz="1400" b="0" i="0" u="none" strike="noStrike" kern="0" cap="none" spc="0" normalizeH="0" baseline="0" noProof="0" dirty="0">
                  <a:ln>
                    <a:noFill/>
                  </a:ln>
                  <a:solidFill>
                    <a:srgbClr val="FFFFFF"/>
                  </a:solidFill>
                  <a:effectLst/>
                  <a:uLnTx/>
                  <a:uFillTx/>
                  <a:latin typeface="Arial"/>
                  <a:cs typeface="Arial"/>
                  <a:sym typeface="Arial"/>
                </a:rPr>
              </a:br>
              <a:r>
                <a:rPr kumimoji="0" lang="en-CA" sz="1400" b="0" i="1" u="none" strike="noStrike" kern="0" cap="none" spc="0" normalizeH="0" baseline="0" noProof="0" dirty="0">
                  <a:ln>
                    <a:noFill/>
                  </a:ln>
                  <a:solidFill>
                    <a:srgbClr val="FFFFFF"/>
                  </a:solidFill>
                  <a:effectLst/>
                  <a:uLnTx/>
                  <a:uFillTx/>
                  <a:latin typeface="Arial"/>
                  <a:cs typeface="Arial"/>
                  <a:sym typeface="Arial"/>
                </a:rPr>
                <a:t>Shared data models, definitions and taxonomies</a:t>
              </a:r>
              <a:endParaRPr kumimoji="0" lang="en-CA" sz="1400" b="0" i="0" u="none" strike="noStrike" kern="0" cap="none" spc="0" normalizeH="0" baseline="0" noProof="0" dirty="0">
                <a:ln>
                  <a:noFill/>
                </a:ln>
                <a:solidFill>
                  <a:srgbClr val="FFFFFF"/>
                </a:solidFill>
                <a:effectLst/>
                <a:uLnTx/>
                <a:uFillTx/>
                <a:latin typeface="Arial"/>
                <a:cs typeface="Arial"/>
                <a:sym typeface="Arial"/>
              </a:endParaRPr>
            </a:p>
          </p:txBody>
        </p:sp>
        <p:grpSp>
          <p:nvGrpSpPr>
            <p:cNvPr id="62" name="Graphic 4">
              <a:extLst>
                <a:ext uri="{FF2B5EF4-FFF2-40B4-BE49-F238E27FC236}">
                  <a16:creationId xmlns:a16="http://schemas.microsoft.com/office/drawing/2014/main" id="{087EB7EB-2389-8BB9-D04F-AF71FE815BEA}"/>
                </a:ext>
              </a:extLst>
            </p:cNvPr>
            <p:cNvGrpSpPr/>
            <p:nvPr/>
          </p:nvGrpSpPr>
          <p:grpSpPr>
            <a:xfrm>
              <a:off x="444439" y="3103432"/>
              <a:ext cx="630000" cy="630000"/>
              <a:chOff x="1952125" y="918179"/>
              <a:chExt cx="362313" cy="361971"/>
            </a:xfrm>
            <a:solidFill>
              <a:schemeClr val="accent1"/>
            </a:solidFill>
          </p:grpSpPr>
          <p:sp>
            <p:nvSpPr>
              <p:cNvPr id="128" name="Graphic 4">
                <a:extLst>
                  <a:ext uri="{FF2B5EF4-FFF2-40B4-BE49-F238E27FC236}">
                    <a16:creationId xmlns:a16="http://schemas.microsoft.com/office/drawing/2014/main" id="{EA5B1642-8277-7539-61AD-91E3A677DF51}"/>
                  </a:ext>
                </a:extLst>
              </p:cNvPr>
              <p:cNvSpPr/>
              <p:nvPr/>
            </p:nvSpPr>
            <p:spPr>
              <a:xfrm>
                <a:off x="2065866" y="1000532"/>
                <a:ext cx="136744" cy="196626"/>
              </a:xfrm>
              <a:custGeom>
                <a:avLst/>
                <a:gdLst>
                  <a:gd name="connsiteX0" fmla="*/ 119492 w 136744"/>
                  <a:gd name="connsiteY0" fmla="*/ 120657 h 196626"/>
                  <a:gd name="connsiteX1" fmla="*/ 113102 w 136744"/>
                  <a:gd name="connsiteY1" fmla="*/ 127041 h 196626"/>
                  <a:gd name="connsiteX2" fmla="*/ 108629 w 136744"/>
                  <a:gd name="connsiteY2" fmla="*/ 125126 h 196626"/>
                  <a:gd name="connsiteX3" fmla="*/ 90737 w 136744"/>
                  <a:gd name="connsiteY3" fmla="*/ 107251 h 196626"/>
                  <a:gd name="connsiteX4" fmla="*/ 72845 w 136744"/>
                  <a:gd name="connsiteY4" fmla="*/ 125126 h 196626"/>
                  <a:gd name="connsiteX5" fmla="*/ 68372 w 136744"/>
                  <a:gd name="connsiteY5" fmla="*/ 127041 h 196626"/>
                  <a:gd name="connsiteX6" fmla="*/ 65816 w 136744"/>
                  <a:gd name="connsiteY6" fmla="*/ 126403 h 196626"/>
                  <a:gd name="connsiteX7" fmla="*/ 61982 w 136744"/>
                  <a:gd name="connsiteY7" fmla="*/ 120657 h 196626"/>
                  <a:gd name="connsiteX8" fmla="*/ 61982 w 136744"/>
                  <a:gd name="connsiteY8" fmla="*/ 0 h 196626"/>
                  <a:gd name="connsiteX9" fmla="*/ 0 w 136744"/>
                  <a:gd name="connsiteY9" fmla="*/ 0 h 196626"/>
                  <a:gd name="connsiteX10" fmla="*/ 0 w 136744"/>
                  <a:gd name="connsiteY10" fmla="*/ 196627 h 196626"/>
                  <a:gd name="connsiteX11" fmla="*/ 136745 w 136744"/>
                  <a:gd name="connsiteY11" fmla="*/ 196627 h 196626"/>
                  <a:gd name="connsiteX12" fmla="*/ 136745 w 136744"/>
                  <a:gd name="connsiteY12" fmla="*/ 0 h 196626"/>
                  <a:gd name="connsiteX13" fmla="*/ 119492 w 136744"/>
                  <a:gd name="connsiteY13" fmla="*/ 0 h 196626"/>
                  <a:gd name="connsiteX14" fmla="*/ 119492 w 136744"/>
                  <a:gd name="connsiteY14" fmla="*/ 120657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6744" h="196626">
                    <a:moveTo>
                      <a:pt x="119492" y="120657"/>
                    </a:moveTo>
                    <a:cubicBezTo>
                      <a:pt x="119492" y="124488"/>
                      <a:pt x="116936" y="127041"/>
                      <a:pt x="113102" y="127041"/>
                    </a:cubicBezTo>
                    <a:cubicBezTo>
                      <a:pt x="111185" y="127041"/>
                      <a:pt x="109907" y="126403"/>
                      <a:pt x="108629" y="125126"/>
                    </a:cubicBezTo>
                    <a:lnTo>
                      <a:pt x="90737" y="107251"/>
                    </a:lnTo>
                    <a:lnTo>
                      <a:pt x="72845" y="125126"/>
                    </a:lnTo>
                    <a:cubicBezTo>
                      <a:pt x="71567" y="126403"/>
                      <a:pt x="70289" y="127041"/>
                      <a:pt x="68372" y="127041"/>
                    </a:cubicBezTo>
                    <a:cubicBezTo>
                      <a:pt x="67733" y="127041"/>
                      <a:pt x="66456" y="127041"/>
                      <a:pt x="65816" y="126403"/>
                    </a:cubicBezTo>
                    <a:cubicBezTo>
                      <a:pt x="63261" y="125126"/>
                      <a:pt x="61982" y="123211"/>
                      <a:pt x="61982" y="120657"/>
                    </a:cubicBezTo>
                    <a:lnTo>
                      <a:pt x="61982" y="0"/>
                    </a:lnTo>
                    <a:lnTo>
                      <a:pt x="0" y="0"/>
                    </a:lnTo>
                    <a:lnTo>
                      <a:pt x="0" y="196627"/>
                    </a:lnTo>
                    <a:lnTo>
                      <a:pt x="136745" y="196627"/>
                    </a:lnTo>
                    <a:lnTo>
                      <a:pt x="136745" y="0"/>
                    </a:lnTo>
                    <a:lnTo>
                      <a:pt x="119492" y="0"/>
                    </a:lnTo>
                    <a:lnTo>
                      <a:pt x="119492" y="1206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raphic 4">
                <a:extLst>
                  <a:ext uri="{FF2B5EF4-FFF2-40B4-BE49-F238E27FC236}">
                    <a16:creationId xmlns:a16="http://schemas.microsoft.com/office/drawing/2014/main" id="{85A2AB9D-96C9-4B0A-F4D0-F35E03E22929}"/>
                  </a:ext>
                </a:extLst>
              </p:cNvPr>
              <p:cNvSpPr/>
              <p:nvPr/>
            </p:nvSpPr>
            <p:spPr>
              <a:xfrm>
                <a:off x="2139989" y="1000532"/>
                <a:ext cx="31949" cy="105335"/>
              </a:xfrm>
              <a:custGeom>
                <a:avLst/>
                <a:gdLst>
                  <a:gd name="connsiteX0" fmla="*/ 20448 w 31949"/>
                  <a:gd name="connsiteY0" fmla="*/ 93845 h 105335"/>
                  <a:gd name="connsiteX1" fmla="*/ 31950 w 31949"/>
                  <a:gd name="connsiteY1" fmla="*/ 105336 h 105335"/>
                  <a:gd name="connsiteX2" fmla="*/ 31950 w 31949"/>
                  <a:gd name="connsiteY2" fmla="*/ 0 h 105335"/>
                  <a:gd name="connsiteX3" fmla="*/ 0 w 31949"/>
                  <a:gd name="connsiteY3" fmla="*/ 0 h 105335"/>
                  <a:gd name="connsiteX4" fmla="*/ 0 w 31949"/>
                  <a:gd name="connsiteY4" fmla="*/ 105336 h 105335"/>
                  <a:gd name="connsiteX5" fmla="*/ 11502 w 31949"/>
                  <a:gd name="connsiteY5" fmla="*/ 93845 h 105335"/>
                  <a:gd name="connsiteX6" fmla="*/ 20448 w 31949"/>
                  <a:gd name="connsiteY6" fmla="*/ 93845 h 10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49" h="105335">
                    <a:moveTo>
                      <a:pt x="20448" y="93845"/>
                    </a:moveTo>
                    <a:lnTo>
                      <a:pt x="31950" y="105336"/>
                    </a:lnTo>
                    <a:lnTo>
                      <a:pt x="31950" y="0"/>
                    </a:lnTo>
                    <a:lnTo>
                      <a:pt x="0" y="0"/>
                    </a:lnTo>
                    <a:lnTo>
                      <a:pt x="0" y="105336"/>
                    </a:lnTo>
                    <a:lnTo>
                      <a:pt x="11502" y="93845"/>
                    </a:lnTo>
                    <a:cubicBezTo>
                      <a:pt x="14697" y="91291"/>
                      <a:pt x="18531" y="91291"/>
                      <a:pt x="20448" y="93845"/>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raphic 4">
                <a:extLst>
                  <a:ext uri="{FF2B5EF4-FFF2-40B4-BE49-F238E27FC236}">
                    <a16:creationId xmlns:a16="http://schemas.microsoft.com/office/drawing/2014/main" id="{088FBF76-F36E-82F1-B7BA-F1B68B205D28}"/>
                  </a:ext>
                </a:extLst>
              </p:cNvPr>
              <p:cNvSpPr/>
              <p:nvPr/>
            </p:nvSpPr>
            <p:spPr>
              <a:xfrm>
                <a:off x="1952125" y="918179"/>
                <a:ext cx="362313" cy="361971"/>
              </a:xfrm>
              <a:custGeom>
                <a:avLst/>
                <a:gdLst>
                  <a:gd name="connsiteX0" fmla="*/ 262626 w 362313"/>
                  <a:gd name="connsiteY0" fmla="*/ 285364 h 361971"/>
                  <a:gd name="connsiteX1" fmla="*/ 256237 w 362313"/>
                  <a:gd name="connsiteY1" fmla="*/ 291748 h 361971"/>
                  <a:gd name="connsiteX2" fmla="*/ 106712 w 362313"/>
                  <a:gd name="connsiteY2" fmla="*/ 291748 h 361971"/>
                  <a:gd name="connsiteX3" fmla="*/ 100322 w 362313"/>
                  <a:gd name="connsiteY3" fmla="*/ 285364 h 361971"/>
                  <a:gd name="connsiteX4" fmla="*/ 100322 w 362313"/>
                  <a:gd name="connsiteY4" fmla="*/ 75969 h 361971"/>
                  <a:gd name="connsiteX5" fmla="*/ 106712 w 362313"/>
                  <a:gd name="connsiteY5" fmla="*/ 69585 h 361971"/>
                  <a:gd name="connsiteX6" fmla="*/ 256237 w 362313"/>
                  <a:gd name="connsiteY6" fmla="*/ 69585 h 361971"/>
                  <a:gd name="connsiteX7" fmla="*/ 262626 w 362313"/>
                  <a:gd name="connsiteY7" fmla="*/ 75969 h 361971"/>
                  <a:gd name="connsiteX8" fmla="*/ 262626 w 362313"/>
                  <a:gd name="connsiteY8" fmla="*/ 285364 h 361971"/>
                  <a:gd name="connsiteX9" fmla="*/ 181474 w 362313"/>
                  <a:gd name="connsiteY9" fmla="*/ 0 h 361971"/>
                  <a:gd name="connsiteX10" fmla="*/ 0 w 362313"/>
                  <a:gd name="connsiteY10" fmla="*/ 180667 h 361971"/>
                  <a:gd name="connsiteX11" fmla="*/ 180835 w 362313"/>
                  <a:gd name="connsiteY11" fmla="*/ 361972 h 361971"/>
                  <a:gd name="connsiteX12" fmla="*/ 362310 w 362313"/>
                  <a:gd name="connsiteY12" fmla="*/ 181305 h 361971"/>
                  <a:gd name="connsiteX13" fmla="*/ 362310 w 362313"/>
                  <a:gd name="connsiteY13" fmla="*/ 181305 h 361971"/>
                  <a:gd name="connsiteX14" fmla="*/ 181474 w 362313"/>
                  <a:gd name="connsiteY14"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2313" h="361971">
                    <a:moveTo>
                      <a:pt x="262626" y="285364"/>
                    </a:moveTo>
                    <a:cubicBezTo>
                      <a:pt x="262626" y="289194"/>
                      <a:pt x="260071" y="291748"/>
                      <a:pt x="256237" y="291748"/>
                    </a:cubicBezTo>
                    <a:lnTo>
                      <a:pt x="106712" y="291748"/>
                    </a:lnTo>
                    <a:cubicBezTo>
                      <a:pt x="102878" y="291748"/>
                      <a:pt x="100322" y="289194"/>
                      <a:pt x="100322" y="285364"/>
                    </a:cubicBezTo>
                    <a:lnTo>
                      <a:pt x="100322" y="75969"/>
                    </a:lnTo>
                    <a:cubicBezTo>
                      <a:pt x="100322" y="72139"/>
                      <a:pt x="102878" y="69585"/>
                      <a:pt x="106712" y="69585"/>
                    </a:cubicBezTo>
                    <a:lnTo>
                      <a:pt x="256237" y="69585"/>
                    </a:lnTo>
                    <a:cubicBezTo>
                      <a:pt x="260071" y="69585"/>
                      <a:pt x="262626" y="72139"/>
                      <a:pt x="262626" y="75969"/>
                    </a:cubicBezTo>
                    <a:lnTo>
                      <a:pt x="262626" y="285364"/>
                    </a:lnTo>
                    <a:close/>
                    <a:moveTo>
                      <a:pt x="181474" y="0"/>
                    </a:moveTo>
                    <a:cubicBezTo>
                      <a:pt x="81152" y="0"/>
                      <a:pt x="0" y="81077"/>
                      <a:pt x="0" y="180667"/>
                    </a:cubicBezTo>
                    <a:cubicBezTo>
                      <a:pt x="0" y="280257"/>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4" name="Group 143">
            <a:extLst>
              <a:ext uri="{FF2B5EF4-FFF2-40B4-BE49-F238E27FC236}">
                <a16:creationId xmlns:a16="http://schemas.microsoft.com/office/drawing/2014/main" id="{BC3F5F11-797A-1C39-8EDE-2A1E39D0DC6E}"/>
              </a:ext>
            </a:extLst>
          </p:cNvPr>
          <p:cNvGrpSpPr/>
          <p:nvPr/>
        </p:nvGrpSpPr>
        <p:grpSpPr>
          <a:xfrm>
            <a:off x="444439" y="4121783"/>
            <a:ext cx="5447079" cy="646331"/>
            <a:chOff x="444439" y="4181718"/>
            <a:chExt cx="5447079" cy="646331"/>
          </a:xfrm>
        </p:grpSpPr>
        <p:sp>
          <p:nvSpPr>
            <p:cNvPr id="51" name="TextBox 50">
              <a:extLst>
                <a:ext uri="{FF2B5EF4-FFF2-40B4-BE49-F238E27FC236}">
                  <a16:creationId xmlns:a16="http://schemas.microsoft.com/office/drawing/2014/main" id="{38E2870A-662A-7759-F433-FCF8B6DD197E}"/>
                </a:ext>
              </a:extLst>
            </p:cNvPr>
            <p:cNvSpPr txBox="1"/>
            <p:nvPr/>
          </p:nvSpPr>
          <p:spPr>
            <a:xfrm>
              <a:off x="1169676" y="4181718"/>
              <a:ext cx="4721842" cy="646331"/>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600"/>
                </a:spcAft>
                <a:buClr>
                  <a:srgbClr val="000000"/>
                </a:buClr>
                <a:buSzTx/>
                <a:buFont typeface="Arial"/>
                <a:buNone/>
                <a:tabLst/>
                <a:defRPr/>
              </a:pPr>
              <a:r>
                <a:rPr kumimoji="0" lang="en-CA" sz="2200" b="1" i="0" u="none" strike="noStrike" kern="0" cap="none" spc="0" normalizeH="0" baseline="0" noProof="0" dirty="0">
                  <a:ln>
                    <a:noFill/>
                  </a:ln>
                  <a:solidFill>
                    <a:srgbClr val="FFFFFF"/>
                  </a:solidFill>
                  <a:effectLst/>
                  <a:uLnTx/>
                  <a:uFillTx/>
                  <a:latin typeface="Arial"/>
                  <a:cs typeface="Arial"/>
                  <a:sym typeface="Arial"/>
                </a:rPr>
                <a:t>HIGHER QUALITY DATA</a:t>
              </a:r>
              <a:br>
                <a:rPr kumimoji="0" lang="en-CA" sz="1400" b="0" i="0" u="none" strike="noStrike" kern="0" cap="none" spc="0" normalizeH="0" baseline="0" noProof="0" dirty="0">
                  <a:ln>
                    <a:noFill/>
                  </a:ln>
                  <a:solidFill>
                    <a:srgbClr val="FFFFFF"/>
                  </a:solidFill>
                  <a:effectLst/>
                  <a:uLnTx/>
                  <a:uFillTx/>
                  <a:latin typeface="Arial"/>
                  <a:cs typeface="Arial"/>
                  <a:sym typeface="Arial"/>
                </a:rPr>
              </a:br>
              <a:r>
                <a:rPr kumimoji="0" lang="en-CA" sz="1400" b="0" i="1" u="none" strike="noStrike" kern="0" cap="none" spc="0" normalizeH="0" baseline="0" noProof="0" dirty="0">
                  <a:ln>
                    <a:noFill/>
                  </a:ln>
                  <a:solidFill>
                    <a:srgbClr val="FFFFFF"/>
                  </a:solidFill>
                  <a:effectLst/>
                  <a:uLnTx/>
                  <a:uFillTx/>
                  <a:latin typeface="Arial"/>
                  <a:cs typeface="Arial"/>
                  <a:sym typeface="Arial"/>
                </a:rPr>
                <a:t>Consistent validation, completeness and accuracy</a:t>
              </a:r>
              <a:endParaRPr kumimoji="0" lang="en-CA" sz="1400" b="0" i="0" u="none" strike="noStrike" kern="0" cap="none" spc="0" normalizeH="0" baseline="0" noProof="0" dirty="0">
                <a:ln>
                  <a:noFill/>
                </a:ln>
                <a:solidFill>
                  <a:srgbClr val="FFFFFF"/>
                </a:solidFill>
                <a:effectLst/>
                <a:uLnTx/>
                <a:uFillTx/>
                <a:latin typeface="Arial"/>
                <a:cs typeface="Arial"/>
                <a:sym typeface="Arial"/>
              </a:endParaRPr>
            </a:p>
          </p:txBody>
        </p:sp>
        <p:grpSp>
          <p:nvGrpSpPr>
            <p:cNvPr id="134" name="Graphic 4">
              <a:extLst>
                <a:ext uri="{FF2B5EF4-FFF2-40B4-BE49-F238E27FC236}">
                  <a16:creationId xmlns:a16="http://schemas.microsoft.com/office/drawing/2014/main" id="{86F73804-906F-6096-44A8-917AC534C8D5}"/>
                </a:ext>
              </a:extLst>
            </p:cNvPr>
            <p:cNvGrpSpPr/>
            <p:nvPr/>
          </p:nvGrpSpPr>
          <p:grpSpPr>
            <a:xfrm>
              <a:off x="444439" y="4189883"/>
              <a:ext cx="630000" cy="630000"/>
              <a:chOff x="10324860" y="2855717"/>
              <a:chExt cx="361670" cy="361333"/>
            </a:xfrm>
            <a:solidFill>
              <a:schemeClr val="accent1"/>
            </a:solidFill>
          </p:grpSpPr>
          <p:sp>
            <p:nvSpPr>
              <p:cNvPr id="136" name="Graphic 4">
                <a:extLst>
                  <a:ext uri="{FF2B5EF4-FFF2-40B4-BE49-F238E27FC236}">
                    <a16:creationId xmlns:a16="http://schemas.microsoft.com/office/drawing/2014/main" id="{90096A21-06B3-C6DE-770F-39DD9CB8243F}"/>
                  </a:ext>
                </a:extLst>
              </p:cNvPr>
              <p:cNvSpPr/>
              <p:nvPr/>
            </p:nvSpPr>
            <p:spPr>
              <a:xfrm>
                <a:off x="10466078" y="2951477"/>
                <a:ext cx="136450" cy="171729"/>
              </a:xfrm>
              <a:custGeom>
                <a:avLst/>
                <a:gdLst>
                  <a:gd name="connsiteX0" fmla="*/ 102239 w 136450"/>
                  <a:gd name="connsiteY0" fmla="*/ 67670 h 171729"/>
                  <a:gd name="connsiteX1" fmla="*/ 63261 w 136450"/>
                  <a:gd name="connsiteY1" fmla="*/ 67670 h 171729"/>
                  <a:gd name="connsiteX2" fmla="*/ 61982 w 136450"/>
                  <a:gd name="connsiteY2" fmla="*/ 67670 h 171729"/>
                  <a:gd name="connsiteX3" fmla="*/ 60704 w 136450"/>
                  <a:gd name="connsiteY3" fmla="*/ 67670 h 171729"/>
                  <a:gd name="connsiteX4" fmla="*/ 60704 w 136450"/>
                  <a:gd name="connsiteY4" fmla="*/ 67670 h 171729"/>
                  <a:gd name="connsiteX5" fmla="*/ 59426 w 136450"/>
                  <a:gd name="connsiteY5" fmla="*/ 67032 h 171729"/>
                  <a:gd name="connsiteX6" fmla="*/ 58787 w 136450"/>
                  <a:gd name="connsiteY6" fmla="*/ 66393 h 171729"/>
                  <a:gd name="connsiteX7" fmla="*/ 58148 w 136450"/>
                  <a:gd name="connsiteY7" fmla="*/ 65117 h 171729"/>
                  <a:gd name="connsiteX8" fmla="*/ 57509 w 136450"/>
                  <a:gd name="connsiteY8" fmla="*/ 63840 h 171729"/>
                  <a:gd name="connsiteX9" fmla="*/ 57509 w 136450"/>
                  <a:gd name="connsiteY9" fmla="*/ 62563 h 171729"/>
                  <a:gd name="connsiteX10" fmla="*/ 57509 w 136450"/>
                  <a:gd name="connsiteY10" fmla="*/ 61286 h 171729"/>
                  <a:gd name="connsiteX11" fmla="*/ 57509 w 136450"/>
                  <a:gd name="connsiteY11" fmla="*/ 61286 h 171729"/>
                  <a:gd name="connsiteX12" fmla="*/ 57509 w 136450"/>
                  <a:gd name="connsiteY12" fmla="*/ 60009 h 171729"/>
                  <a:gd name="connsiteX13" fmla="*/ 57509 w 136450"/>
                  <a:gd name="connsiteY13" fmla="*/ 58733 h 171729"/>
                  <a:gd name="connsiteX14" fmla="*/ 73484 w 136450"/>
                  <a:gd name="connsiteY14" fmla="*/ 11491 h 171729"/>
                  <a:gd name="connsiteX15" fmla="*/ 71567 w 136450"/>
                  <a:gd name="connsiteY15" fmla="*/ 0 h 171729"/>
                  <a:gd name="connsiteX16" fmla="*/ 7029 w 136450"/>
                  <a:gd name="connsiteY16" fmla="*/ 74054 h 171729"/>
                  <a:gd name="connsiteX17" fmla="*/ 7029 w 136450"/>
                  <a:gd name="connsiteY17" fmla="*/ 74054 h 171729"/>
                  <a:gd name="connsiteX18" fmla="*/ 6390 w 136450"/>
                  <a:gd name="connsiteY18" fmla="*/ 74692 h 171729"/>
                  <a:gd name="connsiteX19" fmla="*/ 0 w 136450"/>
                  <a:gd name="connsiteY19" fmla="*/ 91929 h 171729"/>
                  <a:gd name="connsiteX20" fmla="*/ 0 w 136450"/>
                  <a:gd name="connsiteY20" fmla="*/ 146832 h 171729"/>
                  <a:gd name="connsiteX21" fmla="*/ 24921 w 136450"/>
                  <a:gd name="connsiteY21" fmla="*/ 171729 h 171729"/>
                  <a:gd name="connsiteX22" fmla="*/ 95849 w 136450"/>
                  <a:gd name="connsiteY22" fmla="*/ 171729 h 171729"/>
                  <a:gd name="connsiteX23" fmla="*/ 122048 w 136450"/>
                  <a:gd name="connsiteY23" fmla="*/ 160876 h 171729"/>
                  <a:gd name="connsiteX24" fmla="*/ 136105 w 136450"/>
                  <a:gd name="connsiteY24" fmla="*/ 100228 h 171729"/>
                  <a:gd name="connsiteX25" fmla="*/ 102239 w 136450"/>
                  <a:gd name="connsiteY25" fmla="*/ 67670 h 17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6450" h="171729">
                    <a:moveTo>
                      <a:pt x="102239" y="67670"/>
                    </a:moveTo>
                    <a:lnTo>
                      <a:pt x="63261" y="67670"/>
                    </a:lnTo>
                    <a:cubicBezTo>
                      <a:pt x="62621" y="67670"/>
                      <a:pt x="62621" y="67670"/>
                      <a:pt x="61982" y="67670"/>
                    </a:cubicBezTo>
                    <a:cubicBezTo>
                      <a:pt x="61343" y="67670"/>
                      <a:pt x="61343" y="67670"/>
                      <a:pt x="60704" y="67670"/>
                    </a:cubicBezTo>
                    <a:cubicBezTo>
                      <a:pt x="60704" y="67670"/>
                      <a:pt x="60704" y="67670"/>
                      <a:pt x="60704" y="67670"/>
                    </a:cubicBezTo>
                    <a:cubicBezTo>
                      <a:pt x="60066" y="67670"/>
                      <a:pt x="60066" y="67032"/>
                      <a:pt x="59426" y="67032"/>
                    </a:cubicBezTo>
                    <a:cubicBezTo>
                      <a:pt x="59426" y="67032"/>
                      <a:pt x="58787" y="66393"/>
                      <a:pt x="58787" y="66393"/>
                    </a:cubicBezTo>
                    <a:cubicBezTo>
                      <a:pt x="58787" y="66393"/>
                      <a:pt x="58148" y="65755"/>
                      <a:pt x="58148" y="65117"/>
                    </a:cubicBezTo>
                    <a:cubicBezTo>
                      <a:pt x="58148" y="64478"/>
                      <a:pt x="57509" y="64478"/>
                      <a:pt x="57509" y="63840"/>
                    </a:cubicBezTo>
                    <a:cubicBezTo>
                      <a:pt x="57509" y="63201"/>
                      <a:pt x="57509" y="63201"/>
                      <a:pt x="57509" y="62563"/>
                    </a:cubicBezTo>
                    <a:cubicBezTo>
                      <a:pt x="57509" y="61925"/>
                      <a:pt x="57509" y="61925"/>
                      <a:pt x="57509" y="61286"/>
                    </a:cubicBezTo>
                    <a:cubicBezTo>
                      <a:pt x="57509" y="61286"/>
                      <a:pt x="57509" y="61286"/>
                      <a:pt x="57509" y="61286"/>
                    </a:cubicBezTo>
                    <a:cubicBezTo>
                      <a:pt x="57509" y="60648"/>
                      <a:pt x="57509" y="60648"/>
                      <a:pt x="57509" y="60009"/>
                    </a:cubicBezTo>
                    <a:cubicBezTo>
                      <a:pt x="57509" y="59371"/>
                      <a:pt x="57509" y="59371"/>
                      <a:pt x="57509" y="58733"/>
                    </a:cubicBezTo>
                    <a:lnTo>
                      <a:pt x="73484" y="11491"/>
                    </a:lnTo>
                    <a:cubicBezTo>
                      <a:pt x="74762" y="7661"/>
                      <a:pt x="72845" y="3192"/>
                      <a:pt x="71567" y="0"/>
                    </a:cubicBezTo>
                    <a:lnTo>
                      <a:pt x="7029" y="74054"/>
                    </a:lnTo>
                    <a:cubicBezTo>
                      <a:pt x="7029" y="74054"/>
                      <a:pt x="7029" y="74054"/>
                      <a:pt x="7029" y="74054"/>
                    </a:cubicBezTo>
                    <a:cubicBezTo>
                      <a:pt x="7029" y="74054"/>
                      <a:pt x="7029" y="74692"/>
                      <a:pt x="6390" y="74692"/>
                    </a:cubicBezTo>
                    <a:cubicBezTo>
                      <a:pt x="1917" y="79800"/>
                      <a:pt x="0" y="85545"/>
                      <a:pt x="0" y="91929"/>
                    </a:cubicBezTo>
                    <a:lnTo>
                      <a:pt x="0" y="146832"/>
                    </a:lnTo>
                    <a:cubicBezTo>
                      <a:pt x="0" y="161515"/>
                      <a:pt x="10224" y="171729"/>
                      <a:pt x="24921" y="171729"/>
                    </a:cubicBezTo>
                    <a:lnTo>
                      <a:pt x="95849" y="171729"/>
                    </a:lnTo>
                    <a:cubicBezTo>
                      <a:pt x="106712" y="171729"/>
                      <a:pt x="115658" y="167899"/>
                      <a:pt x="122048" y="160876"/>
                    </a:cubicBezTo>
                    <a:cubicBezTo>
                      <a:pt x="139940" y="141086"/>
                      <a:pt x="136105" y="100867"/>
                      <a:pt x="136105" y="100228"/>
                    </a:cubicBezTo>
                    <a:cubicBezTo>
                      <a:pt x="135466" y="86184"/>
                      <a:pt x="116935" y="67670"/>
                      <a:pt x="102239" y="6767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raphic 4">
                <a:extLst>
                  <a:ext uri="{FF2B5EF4-FFF2-40B4-BE49-F238E27FC236}">
                    <a16:creationId xmlns:a16="http://schemas.microsoft.com/office/drawing/2014/main" id="{18F80D48-E562-AB94-C15D-AE9E65370286}"/>
                  </a:ext>
                </a:extLst>
              </p:cNvPr>
              <p:cNvSpPr/>
              <p:nvPr/>
            </p:nvSpPr>
            <p:spPr>
              <a:xfrm>
                <a:off x="10409846" y="3042130"/>
                <a:ext cx="46008" cy="73415"/>
              </a:xfrm>
              <a:custGeom>
                <a:avLst/>
                <a:gdLst>
                  <a:gd name="connsiteX0" fmla="*/ 42173 w 46008"/>
                  <a:gd name="connsiteY0" fmla="*/ 56817 h 73415"/>
                  <a:gd name="connsiteX1" fmla="*/ 42173 w 46008"/>
                  <a:gd name="connsiteY1" fmla="*/ 1915 h 73415"/>
                  <a:gd name="connsiteX2" fmla="*/ 42173 w 46008"/>
                  <a:gd name="connsiteY2" fmla="*/ 0 h 73415"/>
                  <a:gd name="connsiteX3" fmla="*/ 0 w 46008"/>
                  <a:gd name="connsiteY3" fmla="*/ 0 h 73415"/>
                  <a:gd name="connsiteX4" fmla="*/ 0 w 46008"/>
                  <a:gd name="connsiteY4" fmla="*/ 73416 h 73415"/>
                  <a:gd name="connsiteX5" fmla="*/ 46008 w 46008"/>
                  <a:gd name="connsiteY5" fmla="*/ 73416 h 73415"/>
                  <a:gd name="connsiteX6" fmla="*/ 42173 w 46008"/>
                  <a:gd name="connsiteY6" fmla="*/ 56817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08" h="73415">
                    <a:moveTo>
                      <a:pt x="42173" y="56817"/>
                    </a:moveTo>
                    <a:lnTo>
                      <a:pt x="42173" y="1915"/>
                    </a:lnTo>
                    <a:cubicBezTo>
                      <a:pt x="42173" y="1277"/>
                      <a:pt x="42173" y="638"/>
                      <a:pt x="42173" y="0"/>
                    </a:cubicBezTo>
                    <a:lnTo>
                      <a:pt x="0" y="0"/>
                    </a:lnTo>
                    <a:lnTo>
                      <a:pt x="0" y="73416"/>
                    </a:lnTo>
                    <a:lnTo>
                      <a:pt x="46008" y="73416"/>
                    </a:lnTo>
                    <a:cubicBezTo>
                      <a:pt x="44091" y="68947"/>
                      <a:pt x="42173" y="63201"/>
                      <a:pt x="42173" y="5681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raphic 4">
                <a:extLst>
                  <a:ext uri="{FF2B5EF4-FFF2-40B4-BE49-F238E27FC236}">
                    <a16:creationId xmlns:a16="http://schemas.microsoft.com/office/drawing/2014/main" id="{CA7089A8-CF59-68DA-646B-09EB2D6FAE7F}"/>
                  </a:ext>
                </a:extLst>
              </p:cNvPr>
              <p:cNvSpPr/>
              <p:nvPr/>
            </p:nvSpPr>
            <p:spPr>
              <a:xfrm>
                <a:off x="10324860" y="2855717"/>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71572 w 361670"/>
                  <a:gd name="connsiteY5" fmla="*/ 266212 h 361333"/>
                  <a:gd name="connsiteX6" fmla="*/ 235788 w 361670"/>
                  <a:gd name="connsiteY6" fmla="*/ 281533 h 361333"/>
                  <a:gd name="connsiteX7" fmla="*/ 164860 w 361670"/>
                  <a:gd name="connsiteY7" fmla="*/ 281533 h 361333"/>
                  <a:gd name="connsiteX8" fmla="*/ 141217 w 361670"/>
                  <a:gd name="connsiteY8" fmla="*/ 273873 h 361333"/>
                  <a:gd name="connsiteX9" fmla="*/ 78596 w 361670"/>
                  <a:gd name="connsiteY9" fmla="*/ 273873 h 361333"/>
                  <a:gd name="connsiteX10" fmla="*/ 72206 w 361670"/>
                  <a:gd name="connsiteY10" fmla="*/ 267489 h 361333"/>
                  <a:gd name="connsiteX11" fmla="*/ 72206 w 361670"/>
                  <a:gd name="connsiteY11" fmla="*/ 180667 h 361333"/>
                  <a:gd name="connsiteX12" fmla="*/ 78596 w 361670"/>
                  <a:gd name="connsiteY12" fmla="*/ 174283 h 361333"/>
                  <a:gd name="connsiteX13" fmla="*/ 129715 w 361670"/>
                  <a:gd name="connsiteY13" fmla="*/ 174283 h 361333"/>
                  <a:gd name="connsiteX14" fmla="*/ 136744 w 361670"/>
                  <a:gd name="connsiteY14" fmla="*/ 162792 h 361333"/>
                  <a:gd name="connsiteX15" fmla="*/ 136744 w 361670"/>
                  <a:gd name="connsiteY15" fmla="*/ 162792 h 361333"/>
                  <a:gd name="connsiteX16" fmla="*/ 137384 w 361670"/>
                  <a:gd name="connsiteY16" fmla="*/ 162153 h 361333"/>
                  <a:gd name="connsiteX17" fmla="*/ 207033 w 361670"/>
                  <a:gd name="connsiteY17" fmla="*/ 82353 h 361333"/>
                  <a:gd name="connsiteX18" fmla="*/ 211507 w 361670"/>
                  <a:gd name="connsiteY18" fmla="*/ 80438 h 361333"/>
                  <a:gd name="connsiteX19" fmla="*/ 215979 w 361670"/>
                  <a:gd name="connsiteY19" fmla="*/ 82353 h 361333"/>
                  <a:gd name="connsiteX20" fmla="*/ 225564 w 361670"/>
                  <a:gd name="connsiteY20" fmla="*/ 112358 h 361333"/>
                  <a:gd name="connsiteX21" fmla="*/ 212784 w 361670"/>
                  <a:gd name="connsiteY21" fmla="*/ 151300 h 361333"/>
                  <a:gd name="connsiteX22" fmla="*/ 243456 w 361670"/>
                  <a:gd name="connsiteY22" fmla="*/ 151300 h 361333"/>
                  <a:gd name="connsiteX23" fmla="*/ 288825 w 361670"/>
                  <a:gd name="connsiteY23" fmla="*/ 196627 h 361333"/>
                  <a:gd name="connsiteX24" fmla="*/ 271572 w 361670"/>
                  <a:gd name="connsiteY24" fmla="*/ 26621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1670" h="361333">
                    <a:moveTo>
                      <a:pt x="180835" y="0"/>
                    </a:moveTo>
                    <a:cubicBezTo>
                      <a:pt x="80513" y="0"/>
                      <a:pt x="0" y="81076"/>
                      <a:pt x="0" y="180667"/>
                    </a:cubicBezTo>
                    <a:cubicBezTo>
                      <a:pt x="0" y="280257"/>
                      <a:pt x="81152" y="361333"/>
                      <a:pt x="180835" y="361333"/>
                    </a:cubicBezTo>
                    <a:cubicBezTo>
                      <a:pt x="281157" y="361333"/>
                      <a:pt x="361670" y="280257"/>
                      <a:pt x="361670" y="180667"/>
                    </a:cubicBezTo>
                    <a:cubicBezTo>
                      <a:pt x="361670" y="81076"/>
                      <a:pt x="281157" y="0"/>
                      <a:pt x="180835" y="0"/>
                    </a:cubicBezTo>
                    <a:close/>
                    <a:moveTo>
                      <a:pt x="271572" y="266212"/>
                    </a:moveTo>
                    <a:cubicBezTo>
                      <a:pt x="262626" y="276426"/>
                      <a:pt x="250485" y="281533"/>
                      <a:pt x="235788" y="281533"/>
                    </a:cubicBezTo>
                    <a:lnTo>
                      <a:pt x="164860" y="281533"/>
                    </a:lnTo>
                    <a:cubicBezTo>
                      <a:pt x="155275" y="281533"/>
                      <a:pt x="147607" y="278341"/>
                      <a:pt x="141217" y="273873"/>
                    </a:cubicBezTo>
                    <a:lnTo>
                      <a:pt x="78596" y="273873"/>
                    </a:lnTo>
                    <a:cubicBezTo>
                      <a:pt x="74762" y="273873"/>
                      <a:pt x="72206" y="271319"/>
                      <a:pt x="72206" y="267489"/>
                    </a:cubicBezTo>
                    <a:lnTo>
                      <a:pt x="72206" y="180667"/>
                    </a:lnTo>
                    <a:cubicBezTo>
                      <a:pt x="72206" y="176836"/>
                      <a:pt x="74762" y="174283"/>
                      <a:pt x="78596" y="174283"/>
                    </a:cubicBezTo>
                    <a:lnTo>
                      <a:pt x="129715" y="174283"/>
                    </a:lnTo>
                    <a:cubicBezTo>
                      <a:pt x="131633" y="170452"/>
                      <a:pt x="133549" y="166622"/>
                      <a:pt x="136744" y="162792"/>
                    </a:cubicBezTo>
                    <a:cubicBezTo>
                      <a:pt x="136744" y="162792"/>
                      <a:pt x="136744" y="162792"/>
                      <a:pt x="136744" y="162792"/>
                    </a:cubicBezTo>
                    <a:cubicBezTo>
                      <a:pt x="136744" y="162792"/>
                      <a:pt x="136744" y="162153"/>
                      <a:pt x="137384" y="162153"/>
                    </a:cubicBezTo>
                    <a:lnTo>
                      <a:pt x="207033" y="82353"/>
                    </a:lnTo>
                    <a:cubicBezTo>
                      <a:pt x="208312" y="81076"/>
                      <a:pt x="209589" y="80438"/>
                      <a:pt x="211507" y="80438"/>
                    </a:cubicBezTo>
                    <a:cubicBezTo>
                      <a:pt x="213423" y="80438"/>
                      <a:pt x="214702" y="81076"/>
                      <a:pt x="215979" y="82353"/>
                    </a:cubicBezTo>
                    <a:cubicBezTo>
                      <a:pt x="216618" y="82992"/>
                      <a:pt x="230038" y="96398"/>
                      <a:pt x="225564" y="112358"/>
                    </a:cubicBezTo>
                    <a:lnTo>
                      <a:pt x="212784" y="151300"/>
                    </a:lnTo>
                    <a:lnTo>
                      <a:pt x="243456" y="151300"/>
                    </a:lnTo>
                    <a:cubicBezTo>
                      <a:pt x="265182" y="151300"/>
                      <a:pt x="288825" y="174921"/>
                      <a:pt x="288825" y="196627"/>
                    </a:cubicBezTo>
                    <a:cubicBezTo>
                      <a:pt x="289464" y="197903"/>
                      <a:pt x="293937" y="241953"/>
                      <a:pt x="271572" y="2662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2" name="Group 141">
            <a:extLst>
              <a:ext uri="{FF2B5EF4-FFF2-40B4-BE49-F238E27FC236}">
                <a16:creationId xmlns:a16="http://schemas.microsoft.com/office/drawing/2014/main" id="{BA16AC97-B019-9ED5-BA3D-942ABD395314}"/>
              </a:ext>
            </a:extLst>
          </p:cNvPr>
          <p:cNvGrpSpPr/>
          <p:nvPr/>
        </p:nvGrpSpPr>
        <p:grpSpPr>
          <a:xfrm>
            <a:off x="444439" y="5148300"/>
            <a:ext cx="5447079" cy="646331"/>
            <a:chOff x="444439" y="5148300"/>
            <a:chExt cx="5447079" cy="646331"/>
          </a:xfrm>
        </p:grpSpPr>
        <p:sp>
          <p:nvSpPr>
            <p:cNvPr id="53" name="TextBox 52">
              <a:extLst>
                <a:ext uri="{FF2B5EF4-FFF2-40B4-BE49-F238E27FC236}">
                  <a16:creationId xmlns:a16="http://schemas.microsoft.com/office/drawing/2014/main" id="{0DBFA08D-B566-F373-AE3D-F852037B4B2E}"/>
                </a:ext>
              </a:extLst>
            </p:cNvPr>
            <p:cNvSpPr txBox="1"/>
            <p:nvPr/>
          </p:nvSpPr>
          <p:spPr>
            <a:xfrm>
              <a:off x="1169676" y="5148300"/>
              <a:ext cx="4721842" cy="646331"/>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600"/>
                </a:spcAft>
                <a:buClr>
                  <a:srgbClr val="000000"/>
                </a:buClr>
                <a:buSzTx/>
                <a:buFont typeface="Arial"/>
                <a:buNone/>
                <a:tabLst/>
                <a:defRPr/>
              </a:pPr>
              <a:r>
                <a:rPr kumimoji="0" lang="en-CA" sz="2200" b="1" i="0" u="none" strike="noStrike" kern="0" cap="none" spc="0" normalizeH="0" baseline="0" noProof="0" dirty="0">
                  <a:ln>
                    <a:noFill/>
                  </a:ln>
                  <a:solidFill>
                    <a:srgbClr val="FFFFFF"/>
                  </a:solidFill>
                  <a:effectLst/>
                  <a:uLnTx/>
                  <a:uFillTx/>
                  <a:latin typeface="Arial"/>
                  <a:cs typeface="Arial"/>
                  <a:sym typeface="Arial"/>
                </a:rPr>
                <a:t>CLEARER GUARDRAILS</a:t>
              </a:r>
              <a:br>
                <a:rPr kumimoji="0" lang="en-CA" sz="1400" b="0" i="0" u="none" strike="noStrike" kern="0" cap="none" spc="0" normalizeH="0" baseline="0" noProof="0" dirty="0">
                  <a:ln>
                    <a:noFill/>
                  </a:ln>
                  <a:solidFill>
                    <a:srgbClr val="FFFFFF"/>
                  </a:solidFill>
                  <a:effectLst/>
                  <a:uLnTx/>
                  <a:uFillTx/>
                  <a:latin typeface="Arial"/>
                  <a:cs typeface="Arial"/>
                  <a:sym typeface="Arial"/>
                </a:rPr>
              </a:br>
              <a:r>
                <a:rPr kumimoji="0" lang="en-CA" sz="1400" b="0" i="1" u="none" strike="noStrike" kern="0" cap="none" spc="0" normalizeH="0" baseline="0" noProof="0" dirty="0">
                  <a:ln>
                    <a:noFill/>
                  </a:ln>
                  <a:solidFill>
                    <a:srgbClr val="FFFFFF"/>
                  </a:solidFill>
                  <a:effectLst/>
                  <a:uLnTx/>
                  <a:uFillTx/>
                  <a:latin typeface="Arial"/>
                  <a:cs typeface="Arial"/>
                  <a:sym typeface="Arial"/>
                </a:rPr>
                <a:t>Privacy, legal and information-sharing frameworks</a:t>
              </a:r>
              <a:endParaRPr kumimoji="0" lang="en-CA" sz="1400" b="0" i="0" u="none" strike="noStrike" kern="0" cap="none" spc="0" normalizeH="0" baseline="0" noProof="0" dirty="0">
                <a:ln>
                  <a:noFill/>
                </a:ln>
                <a:solidFill>
                  <a:srgbClr val="FFFFFF"/>
                </a:solidFill>
                <a:effectLst/>
                <a:uLnTx/>
                <a:uFillTx/>
                <a:latin typeface="Segoe UI" panose="020B0502040204020203" pitchFamily="34" charset="0"/>
                <a:cs typeface="Arial"/>
                <a:sym typeface="Arial"/>
              </a:endParaRPr>
            </a:p>
          </p:txBody>
        </p:sp>
        <p:grpSp>
          <p:nvGrpSpPr>
            <p:cNvPr id="139" name="Graphic 4">
              <a:extLst>
                <a:ext uri="{FF2B5EF4-FFF2-40B4-BE49-F238E27FC236}">
                  <a16:creationId xmlns:a16="http://schemas.microsoft.com/office/drawing/2014/main" id="{A2B5847E-2C58-6599-A6D2-03F7DAE0F485}"/>
                </a:ext>
              </a:extLst>
            </p:cNvPr>
            <p:cNvGrpSpPr/>
            <p:nvPr/>
          </p:nvGrpSpPr>
          <p:grpSpPr>
            <a:xfrm>
              <a:off x="444439" y="5156465"/>
              <a:ext cx="630000" cy="630000"/>
              <a:chOff x="1952764" y="2855717"/>
              <a:chExt cx="361674" cy="361333"/>
            </a:xfrm>
            <a:solidFill>
              <a:schemeClr val="accent1"/>
            </a:solidFill>
          </p:grpSpPr>
          <p:sp>
            <p:nvSpPr>
              <p:cNvPr id="140" name="Graphic 4">
                <a:extLst>
                  <a:ext uri="{FF2B5EF4-FFF2-40B4-BE49-F238E27FC236}">
                    <a16:creationId xmlns:a16="http://schemas.microsoft.com/office/drawing/2014/main" id="{B6F8C03F-C10F-D74B-88A5-25178E00749A}"/>
                  </a:ext>
                </a:extLst>
              </p:cNvPr>
              <p:cNvSpPr/>
              <p:nvPr/>
            </p:nvSpPr>
            <p:spPr>
              <a:xfrm>
                <a:off x="1952764" y="2855717"/>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82435 w 361674"/>
                  <a:gd name="connsiteY5" fmla="*/ 221524 h 361333"/>
                  <a:gd name="connsiteX6" fmla="*/ 276045 w 361674"/>
                  <a:gd name="connsiteY6" fmla="*/ 227908 h 361333"/>
                  <a:gd name="connsiteX7" fmla="*/ 157192 w 361674"/>
                  <a:gd name="connsiteY7" fmla="*/ 227908 h 361333"/>
                  <a:gd name="connsiteX8" fmla="*/ 125243 w 361674"/>
                  <a:gd name="connsiteY8" fmla="*/ 266212 h 361333"/>
                  <a:gd name="connsiteX9" fmla="*/ 120131 w 361674"/>
                  <a:gd name="connsiteY9" fmla="*/ 268766 h 361333"/>
                  <a:gd name="connsiteX10" fmla="*/ 118214 w 361674"/>
                  <a:gd name="connsiteY10" fmla="*/ 268127 h 361333"/>
                  <a:gd name="connsiteX11" fmla="*/ 113741 w 361674"/>
                  <a:gd name="connsiteY11" fmla="*/ 262382 h 361333"/>
                  <a:gd name="connsiteX12" fmla="*/ 113741 w 361674"/>
                  <a:gd name="connsiteY12" fmla="*/ 227908 h 361333"/>
                  <a:gd name="connsiteX13" fmla="*/ 86264 w 361674"/>
                  <a:gd name="connsiteY13" fmla="*/ 227908 h 361333"/>
                  <a:gd name="connsiteX14" fmla="*/ 79874 w 361674"/>
                  <a:gd name="connsiteY14" fmla="*/ 221524 h 361333"/>
                  <a:gd name="connsiteX15" fmla="*/ 79874 w 361674"/>
                  <a:gd name="connsiteY15" fmla="*/ 99590 h 361333"/>
                  <a:gd name="connsiteX16" fmla="*/ 86264 w 361674"/>
                  <a:gd name="connsiteY16" fmla="*/ 93206 h 361333"/>
                  <a:gd name="connsiteX17" fmla="*/ 275406 w 361674"/>
                  <a:gd name="connsiteY17" fmla="*/ 93206 h 361333"/>
                  <a:gd name="connsiteX18" fmla="*/ 281796 w 361674"/>
                  <a:gd name="connsiteY18" fmla="*/ 99590 h 361333"/>
                  <a:gd name="connsiteX19" fmla="*/ 281796 w 361674"/>
                  <a:gd name="connsiteY19" fmla="*/ 22152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4"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2309" y="80438"/>
                      <a:pt x="281157" y="0"/>
                      <a:pt x="180835" y="0"/>
                    </a:cubicBezTo>
                    <a:close/>
                    <a:moveTo>
                      <a:pt x="282435" y="221524"/>
                    </a:moveTo>
                    <a:cubicBezTo>
                      <a:pt x="282435" y="225355"/>
                      <a:pt x="279879" y="227908"/>
                      <a:pt x="276045" y="227908"/>
                    </a:cubicBezTo>
                    <a:lnTo>
                      <a:pt x="157192" y="227908"/>
                    </a:lnTo>
                    <a:lnTo>
                      <a:pt x="125243" y="266212"/>
                    </a:lnTo>
                    <a:cubicBezTo>
                      <a:pt x="123965" y="267489"/>
                      <a:pt x="122048" y="268766"/>
                      <a:pt x="120131" y="268766"/>
                    </a:cubicBezTo>
                    <a:cubicBezTo>
                      <a:pt x="119492" y="268766"/>
                      <a:pt x="118853" y="268766"/>
                      <a:pt x="118214" y="268127"/>
                    </a:cubicBezTo>
                    <a:cubicBezTo>
                      <a:pt x="115658" y="267489"/>
                      <a:pt x="113741" y="264935"/>
                      <a:pt x="113741" y="262382"/>
                    </a:cubicBezTo>
                    <a:lnTo>
                      <a:pt x="113741" y="227908"/>
                    </a:lnTo>
                    <a:lnTo>
                      <a:pt x="86264" y="227908"/>
                    </a:lnTo>
                    <a:cubicBezTo>
                      <a:pt x="82430" y="227908"/>
                      <a:pt x="79874" y="225355"/>
                      <a:pt x="79874" y="221524"/>
                    </a:cubicBezTo>
                    <a:lnTo>
                      <a:pt x="79874" y="99590"/>
                    </a:lnTo>
                    <a:cubicBezTo>
                      <a:pt x="79874" y="95760"/>
                      <a:pt x="82430" y="93206"/>
                      <a:pt x="86264" y="93206"/>
                    </a:cubicBezTo>
                    <a:lnTo>
                      <a:pt x="275406" y="93206"/>
                    </a:lnTo>
                    <a:cubicBezTo>
                      <a:pt x="279240" y="93206"/>
                      <a:pt x="281796" y="95760"/>
                      <a:pt x="281796" y="99590"/>
                    </a:cubicBezTo>
                    <a:lnTo>
                      <a:pt x="281796" y="22152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raphic 4">
                <a:extLst>
                  <a:ext uri="{FF2B5EF4-FFF2-40B4-BE49-F238E27FC236}">
                    <a16:creationId xmlns:a16="http://schemas.microsoft.com/office/drawing/2014/main" id="{A0DF7336-545B-A045-92D9-7FFFEB55472C}"/>
                  </a:ext>
                </a:extLst>
              </p:cNvPr>
              <p:cNvSpPr/>
              <p:nvPr/>
            </p:nvSpPr>
            <p:spPr>
              <a:xfrm>
                <a:off x="2045418" y="2961691"/>
                <a:ext cx="177001" cy="138532"/>
              </a:xfrm>
              <a:custGeom>
                <a:avLst/>
                <a:gdLst>
                  <a:gd name="connsiteX0" fmla="*/ 0 w 177001"/>
                  <a:gd name="connsiteY0" fmla="*/ 109166 h 138532"/>
                  <a:gd name="connsiteX1" fmla="*/ 27477 w 177001"/>
                  <a:gd name="connsiteY1" fmla="*/ 109166 h 138532"/>
                  <a:gd name="connsiteX2" fmla="*/ 33867 w 177001"/>
                  <a:gd name="connsiteY2" fmla="*/ 115550 h 138532"/>
                  <a:gd name="connsiteX3" fmla="*/ 33867 w 177001"/>
                  <a:gd name="connsiteY3" fmla="*/ 138533 h 138532"/>
                  <a:gd name="connsiteX4" fmla="*/ 56231 w 177001"/>
                  <a:gd name="connsiteY4" fmla="*/ 111720 h 138532"/>
                  <a:gd name="connsiteX5" fmla="*/ 61343 w 177001"/>
                  <a:gd name="connsiteY5" fmla="*/ 109166 h 138532"/>
                  <a:gd name="connsiteX6" fmla="*/ 177001 w 177001"/>
                  <a:gd name="connsiteY6" fmla="*/ 109166 h 138532"/>
                  <a:gd name="connsiteX7" fmla="*/ 177001 w 177001"/>
                  <a:gd name="connsiteY7" fmla="*/ 0 h 138532"/>
                  <a:gd name="connsiteX8" fmla="*/ 639 w 177001"/>
                  <a:gd name="connsiteY8" fmla="*/ 0 h 138532"/>
                  <a:gd name="connsiteX9" fmla="*/ 639 w 177001"/>
                  <a:gd name="connsiteY9" fmla="*/ 109166 h 138532"/>
                  <a:gd name="connsiteX10" fmla="*/ 19170 w 177001"/>
                  <a:gd name="connsiteY10" fmla="*/ 21067 h 138532"/>
                  <a:gd name="connsiteX11" fmla="*/ 157831 w 177001"/>
                  <a:gd name="connsiteY11" fmla="*/ 21067 h 138532"/>
                  <a:gd name="connsiteX12" fmla="*/ 164221 w 177001"/>
                  <a:gd name="connsiteY12" fmla="*/ 27451 h 138532"/>
                  <a:gd name="connsiteX13" fmla="*/ 157831 w 177001"/>
                  <a:gd name="connsiteY13" fmla="*/ 33835 h 138532"/>
                  <a:gd name="connsiteX14" fmla="*/ 19170 w 177001"/>
                  <a:gd name="connsiteY14" fmla="*/ 33835 h 138532"/>
                  <a:gd name="connsiteX15" fmla="*/ 12780 w 177001"/>
                  <a:gd name="connsiteY15" fmla="*/ 27451 h 138532"/>
                  <a:gd name="connsiteX16" fmla="*/ 19170 w 177001"/>
                  <a:gd name="connsiteY16" fmla="*/ 21067 h 138532"/>
                  <a:gd name="connsiteX17" fmla="*/ 19170 w 177001"/>
                  <a:gd name="connsiteY17" fmla="*/ 48518 h 138532"/>
                  <a:gd name="connsiteX18" fmla="*/ 157831 w 177001"/>
                  <a:gd name="connsiteY18" fmla="*/ 48518 h 138532"/>
                  <a:gd name="connsiteX19" fmla="*/ 164221 w 177001"/>
                  <a:gd name="connsiteY19" fmla="*/ 54902 h 138532"/>
                  <a:gd name="connsiteX20" fmla="*/ 157831 w 177001"/>
                  <a:gd name="connsiteY20" fmla="*/ 61286 h 138532"/>
                  <a:gd name="connsiteX21" fmla="*/ 19170 w 177001"/>
                  <a:gd name="connsiteY21" fmla="*/ 61286 h 138532"/>
                  <a:gd name="connsiteX22" fmla="*/ 12780 w 177001"/>
                  <a:gd name="connsiteY22" fmla="*/ 54902 h 138532"/>
                  <a:gd name="connsiteX23" fmla="*/ 19170 w 177001"/>
                  <a:gd name="connsiteY23" fmla="*/ 48518 h 138532"/>
                  <a:gd name="connsiteX24" fmla="*/ 19170 w 177001"/>
                  <a:gd name="connsiteY24" fmla="*/ 76608 h 138532"/>
                  <a:gd name="connsiteX25" fmla="*/ 157831 w 177001"/>
                  <a:gd name="connsiteY25" fmla="*/ 76608 h 138532"/>
                  <a:gd name="connsiteX26" fmla="*/ 164221 w 177001"/>
                  <a:gd name="connsiteY26" fmla="*/ 82992 h 138532"/>
                  <a:gd name="connsiteX27" fmla="*/ 157831 w 177001"/>
                  <a:gd name="connsiteY27" fmla="*/ 89376 h 138532"/>
                  <a:gd name="connsiteX28" fmla="*/ 19170 w 177001"/>
                  <a:gd name="connsiteY28" fmla="*/ 89376 h 138532"/>
                  <a:gd name="connsiteX29" fmla="*/ 12780 w 177001"/>
                  <a:gd name="connsiteY29" fmla="*/ 82992 h 138532"/>
                  <a:gd name="connsiteX30" fmla="*/ 19170 w 177001"/>
                  <a:gd name="connsiteY30" fmla="*/ 76608 h 13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7001" h="138532">
                    <a:moveTo>
                      <a:pt x="0" y="109166"/>
                    </a:moveTo>
                    <a:lnTo>
                      <a:pt x="27477" y="109166"/>
                    </a:lnTo>
                    <a:cubicBezTo>
                      <a:pt x="31311" y="109166"/>
                      <a:pt x="33867" y="111720"/>
                      <a:pt x="33867" y="115550"/>
                    </a:cubicBezTo>
                    <a:lnTo>
                      <a:pt x="33867" y="138533"/>
                    </a:lnTo>
                    <a:lnTo>
                      <a:pt x="56231" y="111720"/>
                    </a:lnTo>
                    <a:cubicBezTo>
                      <a:pt x="57509" y="110443"/>
                      <a:pt x="59426" y="109166"/>
                      <a:pt x="61343" y="109166"/>
                    </a:cubicBezTo>
                    <a:lnTo>
                      <a:pt x="177001" y="109166"/>
                    </a:lnTo>
                    <a:lnTo>
                      <a:pt x="177001" y="0"/>
                    </a:lnTo>
                    <a:lnTo>
                      <a:pt x="639" y="0"/>
                    </a:lnTo>
                    <a:lnTo>
                      <a:pt x="639" y="109166"/>
                    </a:lnTo>
                    <a:close/>
                    <a:moveTo>
                      <a:pt x="19170" y="21067"/>
                    </a:moveTo>
                    <a:lnTo>
                      <a:pt x="157831" y="21067"/>
                    </a:lnTo>
                    <a:cubicBezTo>
                      <a:pt x="161665" y="21067"/>
                      <a:pt x="164221" y="23621"/>
                      <a:pt x="164221" y="27451"/>
                    </a:cubicBezTo>
                    <a:cubicBezTo>
                      <a:pt x="164221" y="31282"/>
                      <a:pt x="161665" y="33835"/>
                      <a:pt x="157831" y="33835"/>
                    </a:cubicBezTo>
                    <a:lnTo>
                      <a:pt x="19170" y="33835"/>
                    </a:lnTo>
                    <a:cubicBezTo>
                      <a:pt x="15336" y="33835"/>
                      <a:pt x="12780" y="31282"/>
                      <a:pt x="12780" y="27451"/>
                    </a:cubicBezTo>
                    <a:cubicBezTo>
                      <a:pt x="12780" y="23621"/>
                      <a:pt x="15336" y="21067"/>
                      <a:pt x="19170" y="21067"/>
                    </a:cubicBezTo>
                    <a:close/>
                    <a:moveTo>
                      <a:pt x="19170" y="48518"/>
                    </a:moveTo>
                    <a:lnTo>
                      <a:pt x="157831" y="48518"/>
                    </a:lnTo>
                    <a:cubicBezTo>
                      <a:pt x="161665" y="48518"/>
                      <a:pt x="164221" y="51072"/>
                      <a:pt x="164221" y="54902"/>
                    </a:cubicBezTo>
                    <a:cubicBezTo>
                      <a:pt x="164221" y="58733"/>
                      <a:pt x="161665" y="61286"/>
                      <a:pt x="157831" y="61286"/>
                    </a:cubicBezTo>
                    <a:lnTo>
                      <a:pt x="19170" y="61286"/>
                    </a:lnTo>
                    <a:cubicBezTo>
                      <a:pt x="15336" y="61286"/>
                      <a:pt x="12780" y="58733"/>
                      <a:pt x="12780" y="54902"/>
                    </a:cubicBezTo>
                    <a:cubicBezTo>
                      <a:pt x="12780" y="51072"/>
                      <a:pt x="15336" y="48518"/>
                      <a:pt x="19170" y="48518"/>
                    </a:cubicBezTo>
                    <a:close/>
                    <a:moveTo>
                      <a:pt x="19170" y="76608"/>
                    </a:moveTo>
                    <a:lnTo>
                      <a:pt x="157831" y="76608"/>
                    </a:lnTo>
                    <a:cubicBezTo>
                      <a:pt x="161665" y="76608"/>
                      <a:pt x="164221" y="79162"/>
                      <a:pt x="164221" y="82992"/>
                    </a:cubicBezTo>
                    <a:cubicBezTo>
                      <a:pt x="164221" y="86822"/>
                      <a:pt x="161665" y="89376"/>
                      <a:pt x="157831" y="89376"/>
                    </a:cubicBezTo>
                    <a:lnTo>
                      <a:pt x="19170" y="89376"/>
                    </a:lnTo>
                    <a:cubicBezTo>
                      <a:pt x="15336" y="89376"/>
                      <a:pt x="12780" y="86822"/>
                      <a:pt x="12780" y="82992"/>
                    </a:cubicBezTo>
                    <a:cubicBezTo>
                      <a:pt x="12780" y="79162"/>
                      <a:pt x="15336" y="76608"/>
                      <a:pt x="19170" y="7660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1514459228"/>
      </p:ext>
    </p:extLst>
  </p:cSld>
  <p:clrMapOvr>
    <a:masterClrMapping/>
  </p:clrMapOvr>
  <p:extLst>
    <p:ext uri="{6950BFC3-D8DA-4A85-94F7-54DA5524770B}">
      <p188:commentRel xmlns:p188="http://schemas.microsoft.com/office/powerpoint/2018/8/main" r:id="rId6"/>
    </p:ext>
  </p:extLs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B5E8CA1D-7E59-1B51-6C68-80A59E433675}"/>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08C2B63A-5DF8-1E37-A627-70A4C1927B1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3. Third-Party Fraud Risk</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“[Majority] of our clients have suffered their largest reputational impact because of failures by third parties.” –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Large Global Consulting Firm</a:t>
            </a:r>
            <a:endParaRPr kumimoji="0" lang="en-US" sz="2000" b="0"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42354067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3" name="Group 212">
            <a:extLst>
              <a:ext uri="{FF2B5EF4-FFF2-40B4-BE49-F238E27FC236}">
                <a16:creationId xmlns:a16="http://schemas.microsoft.com/office/drawing/2014/main" id="{F212CBAD-0837-DE96-B7A8-0AAD59AAE46A}"/>
              </a:ext>
            </a:extLst>
          </p:cNvPr>
          <p:cNvGrpSpPr/>
          <p:nvPr/>
        </p:nvGrpSpPr>
        <p:grpSpPr>
          <a:xfrm>
            <a:off x="294640" y="2617876"/>
            <a:ext cx="5469128" cy="2238954"/>
            <a:chOff x="335280" y="2617876"/>
            <a:chExt cx="5469128" cy="2238954"/>
          </a:xfrm>
        </p:grpSpPr>
        <p:sp>
          <p:nvSpPr>
            <p:cNvPr id="140" name="Shape 20">
              <a:extLst>
                <a:ext uri="{FF2B5EF4-FFF2-40B4-BE49-F238E27FC236}">
                  <a16:creationId xmlns:a16="http://schemas.microsoft.com/office/drawing/2014/main" id="{809FE623-0B72-1F30-0238-7F4C99069679}"/>
                </a:ext>
              </a:extLst>
            </p:cNvPr>
            <p:cNvSpPr/>
            <p:nvPr/>
          </p:nvSpPr>
          <p:spPr>
            <a:xfrm>
              <a:off x="5321581" y="3550686"/>
              <a:ext cx="482827" cy="420769"/>
            </a:xfrm>
            <a:prstGeom prst="mathPlus">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94" name="Rectangle: Rounded Corners 193">
              <a:extLst>
                <a:ext uri="{FF2B5EF4-FFF2-40B4-BE49-F238E27FC236}">
                  <a16:creationId xmlns:a16="http://schemas.microsoft.com/office/drawing/2014/main" id="{206DADC6-597A-D236-0026-A7C549DA5AB3}"/>
                </a:ext>
              </a:extLst>
            </p:cNvPr>
            <p:cNvSpPr/>
            <p:nvPr/>
          </p:nvSpPr>
          <p:spPr>
            <a:xfrm>
              <a:off x="653719" y="2617876"/>
              <a:ext cx="3840480" cy="237827"/>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500" b="1" i="0" u="none" strike="noStrike" kern="0" cap="none" spc="10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3" name="Rectangle: Rounded Corners 2">
              <a:extLst>
                <a:ext uri="{FF2B5EF4-FFF2-40B4-BE49-F238E27FC236}">
                  <a16:creationId xmlns:a16="http://schemas.microsoft.com/office/drawing/2014/main" id="{F8412A26-83C4-E880-5533-20E025C13EA7}"/>
                </a:ext>
              </a:extLst>
            </p:cNvPr>
            <p:cNvSpPr/>
            <p:nvPr/>
          </p:nvSpPr>
          <p:spPr>
            <a:xfrm>
              <a:off x="335280" y="2617876"/>
              <a:ext cx="5400000" cy="2238954"/>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9" name="Text 11">
              <a:extLst>
                <a:ext uri="{FF2B5EF4-FFF2-40B4-BE49-F238E27FC236}">
                  <a16:creationId xmlns:a16="http://schemas.microsoft.com/office/drawing/2014/main" id="{0139F2E4-BF9F-2289-165B-7509BC6822EE}"/>
                </a:ext>
              </a:extLst>
            </p:cNvPr>
            <p:cNvSpPr/>
            <p:nvPr/>
          </p:nvSpPr>
          <p:spPr>
            <a:xfrm>
              <a:off x="2376695" y="3721027"/>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4EA72E"/>
                  </a:solidFill>
                  <a:effectLst/>
                  <a:uLnTx/>
                  <a:uFillTx/>
                  <a:latin typeface="Segoe UI" panose="020B0502040204020203" pitchFamily="34" charset="0"/>
                  <a:ea typeface="Calibri" pitchFamily="34" charset="-122"/>
                  <a:cs typeface="Segoe UI" panose="020B0502040204020203" pitchFamily="34" charset="0"/>
                  <a:sym typeface="Arial"/>
                </a:rPr>
                <a:t>40%</a:t>
              </a:r>
              <a:endParaRPr kumimoji="0" lang="en-US" sz="3500" b="0"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200" name="Text 12">
              <a:extLst>
                <a:ext uri="{FF2B5EF4-FFF2-40B4-BE49-F238E27FC236}">
                  <a16:creationId xmlns:a16="http://schemas.microsoft.com/office/drawing/2014/main" id="{89B30695-E98E-E8FE-EE9E-6C3464060178}"/>
                </a:ext>
              </a:extLst>
            </p:cNvPr>
            <p:cNvSpPr/>
            <p:nvPr/>
          </p:nvSpPr>
          <p:spPr>
            <a:xfrm>
              <a:off x="976721" y="4287045"/>
              <a:ext cx="4117118"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Insurance respondents named it their top exposure — 2.5x the next-ranked category</a:t>
              </a:r>
            </a:p>
          </p:txBody>
        </p:sp>
        <p:sp>
          <p:nvSpPr>
            <p:cNvPr id="205" name="Title 2">
              <a:extLst>
                <a:ext uri="{FF2B5EF4-FFF2-40B4-BE49-F238E27FC236}">
                  <a16:creationId xmlns:a16="http://schemas.microsoft.com/office/drawing/2014/main" id="{DCF73C03-462B-4211-4DB8-2CD1EB27C0D4}"/>
                </a:ext>
              </a:extLst>
            </p:cNvPr>
            <p:cNvSpPr txBox="1">
              <a:spLocks/>
            </p:cNvSpPr>
            <p:nvPr/>
          </p:nvSpPr>
          <p:spPr>
            <a:xfrm>
              <a:off x="1320725" y="2706465"/>
              <a:ext cx="3907994" cy="6832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egoe UI" panose="020B0502040204020203" pitchFamily="34" charset="0"/>
                  <a:ea typeface="+mj-ea"/>
                  <a:cs typeface="Segoe UI" panose="020B0502040204020203" pitchFamily="34" charset="0"/>
                  <a:sym typeface="Arial"/>
                </a:rPr>
                <a:t>Health care providers</a:t>
              </a:r>
            </a:p>
          </p:txBody>
        </p:sp>
        <p:grpSp>
          <p:nvGrpSpPr>
            <p:cNvPr id="26" name="Graphic 4">
              <a:extLst>
                <a:ext uri="{FF2B5EF4-FFF2-40B4-BE49-F238E27FC236}">
                  <a16:creationId xmlns:a16="http://schemas.microsoft.com/office/drawing/2014/main" id="{5B4CA16B-5817-3CAA-91B9-6760B6CF07E0}"/>
                </a:ext>
              </a:extLst>
            </p:cNvPr>
            <p:cNvGrpSpPr/>
            <p:nvPr/>
          </p:nvGrpSpPr>
          <p:grpSpPr>
            <a:xfrm>
              <a:off x="1005315" y="2733230"/>
              <a:ext cx="630000" cy="630000"/>
              <a:chOff x="905454" y="918179"/>
              <a:chExt cx="362309" cy="361971"/>
            </a:xfrm>
            <a:solidFill>
              <a:srgbClr val="4EA72E"/>
            </a:solidFill>
          </p:grpSpPr>
          <p:sp>
            <p:nvSpPr>
              <p:cNvPr id="27" name="Graphic 4">
                <a:extLst>
                  <a:ext uri="{FF2B5EF4-FFF2-40B4-BE49-F238E27FC236}">
                    <a16:creationId xmlns:a16="http://schemas.microsoft.com/office/drawing/2014/main" id="{1844E88D-F248-BF79-EDBD-9AE669E82C0C}"/>
                  </a:ext>
                </a:extLst>
              </p:cNvPr>
              <p:cNvSpPr/>
              <p:nvPr/>
            </p:nvSpPr>
            <p:spPr>
              <a:xfrm>
                <a:off x="1003105" y="1019046"/>
                <a:ext cx="113855" cy="110442"/>
              </a:xfrm>
              <a:custGeom>
                <a:avLst/>
                <a:gdLst>
                  <a:gd name="connsiteX0" fmla="*/ 83184 w 113855"/>
                  <a:gd name="connsiteY0" fmla="*/ 0 h 110442"/>
                  <a:gd name="connsiteX1" fmla="*/ 754 w 113855"/>
                  <a:gd name="connsiteY1" fmla="*/ 15322 h 110442"/>
                  <a:gd name="connsiteX2" fmla="*/ 20563 w 113855"/>
                  <a:gd name="connsiteY2" fmla="*/ 110443 h 110442"/>
                  <a:gd name="connsiteX3" fmla="*/ 113856 w 113855"/>
                  <a:gd name="connsiteY3" fmla="*/ 17237 h 110442"/>
                  <a:gd name="connsiteX4" fmla="*/ 83184 w 113855"/>
                  <a:gd name="connsiteY4" fmla="*/ 0 h 11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5" h="110442">
                    <a:moveTo>
                      <a:pt x="83184" y="0"/>
                    </a:moveTo>
                    <a:cubicBezTo>
                      <a:pt x="60819" y="20429"/>
                      <a:pt x="28869" y="26174"/>
                      <a:pt x="754" y="15322"/>
                    </a:cubicBezTo>
                    <a:cubicBezTo>
                      <a:pt x="-2441" y="48518"/>
                      <a:pt x="4588" y="81715"/>
                      <a:pt x="20563" y="110443"/>
                    </a:cubicBezTo>
                    <a:lnTo>
                      <a:pt x="113856" y="17237"/>
                    </a:lnTo>
                    <a:cubicBezTo>
                      <a:pt x="102354" y="14045"/>
                      <a:pt x="92130" y="8299"/>
                      <a:pt x="83184"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raphic 4">
                <a:extLst>
                  <a:ext uri="{FF2B5EF4-FFF2-40B4-BE49-F238E27FC236}">
                    <a16:creationId xmlns:a16="http://schemas.microsoft.com/office/drawing/2014/main" id="{607A519B-971D-E66B-BD62-2CFBC5854F5D}"/>
                  </a:ext>
                </a:extLst>
              </p:cNvPr>
              <p:cNvSpPr/>
              <p:nvPr/>
            </p:nvSpPr>
            <p:spPr>
              <a:xfrm>
                <a:off x="1047310" y="1038836"/>
                <a:ext cx="121669" cy="153853"/>
              </a:xfrm>
              <a:custGeom>
                <a:avLst/>
                <a:gdLst>
                  <a:gd name="connsiteX0" fmla="*/ 0 w 121669"/>
                  <a:gd name="connsiteY0" fmla="*/ 121934 h 153853"/>
                  <a:gd name="connsiteX1" fmla="*/ 38979 w 121669"/>
                  <a:gd name="connsiteY1" fmla="*/ 153854 h 153853"/>
                  <a:gd name="connsiteX2" fmla="*/ 121409 w 121669"/>
                  <a:gd name="connsiteY2" fmla="*/ 0 h 153853"/>
                  <a:gd name="connsiteX3" fmla="*/ 0 w 121669"/>
                  <a:gd name="connsiteY3" fmla="*/ 121934 h 153853"/>
                </a:gdLst>
                <a:ahLst/>
                <a:cxnLst>
                  <a:cxn ang="0">
                    <a:pos x="connsiteX0" y="connsiteY0"/>
                  </a:cxn>
                  <a:cxn ang="0">
                    <a:pos x="connsiteX1" y="connsiteY1"/>
                  </a:cxn>
                  <a:cxn ang="0">
                    <a:pos x="connsiteX2" y="connsiteY2"/>
                  </a:cxn>
                  <a:cxn ang="0">
                    <a:pos x="connsiteX3" y="connsiteY3"/>
                  </a:cxn>
                </a:cxnLst>
                <a:rect l="l" t="t" r="r" b="b"/>
                <a:pathLst>
                  <a:path w="121669" h="153853">
                    <a:moveTo>
                      <a:pt x="0" y="121934"/>
                    </a:moveTo>
                    <a:cubicBezTo>
                      <a:pt x="11502" y="134702"/>
                      <a:pt x="24921" y="144916"/>
                      <a:pt x="38979" y="153854"/>
                    </a:cubicBezTo>
                    <a:cubicBezTo>
                      <a:pt x="54954" y="144916"/>
                      <a:pt x="126521" y="97037"/>
                      <a:pt x="121409" y="0"/>
                    </a:cubicBezTo>
                    <a:lnTo>
                      <a:pt x="0" y="12193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raphic 4">
                <a:extLst>
                  <a:ext uri="{FF2B5EF4-FFF2-40B4-BE49-F238E27FC236}">
                    <a16:creationId xmlns:a16="http://schemas.microsoft.com/office/drawing/2014/main" id="{2703FB0E-BA93-46F0-17C3-44ED03F39A93}"/>
                  </a:ext>
                </a:extLst>
              </p:cNvPr>
              <p:cNvSpPr/>
              <p:nvPr/>
            </p:nvSpPr>
            <p:spPr>
              <a:xfrm>
                <a:off x="1031335" y="1038836"/>
                <a:ext cx="120130" cy="112358"/>
              </a:xfrm>
              <a:custGeom>
                <a:avLst/>
                <a:gdLst>
                  <a:gd name="connsiteX0" fmla="*/ 100961 w 120130"/>
                  <a:gd name="connsiteY0" fmla="*/ 638 h 112358"/>
                  <a:gd name="connsiteX1" fmla="*/ 0 w 120130"/>
                  <a:gd name="connsiteY1" fmla="*/ 101505 h 112358"/>
                  <a:gd name="connsiteX2" fmla="*/ 7668 w 120130"/>
                  <a:gd name="connsiteY2" fmla="*/ 112358 h 112358"/>
                  <a:gd name="connsiteX3" fmla="*/ 120131 w 120130"/>
                  <a:gd name="connsiteY3" fmla="*/ 0 h 112358"/>
                  <a:gd name="connsiteX4" fmla="*/ 100961 w 120130"/>
                  <a:gd name="connsiteY4" fmla="*/ 638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30" h="112358">
                    <a:moveTo>
                      <a:pt x="100961" y="638"/>
                    </a:moveTo>
                    <a:lnTo>
                      <a:pt x="0" y="101505"/>
                    </a:lnTo>
                    <a:cubicBezTo>
                      <a:pt x="2556" y="105336"/>
                      <a:pt x="5112" y="109166"/>
                      <a:pt x="7668" y="112358"/>
                    </a:cubicBezTo>
                    <a:lnTo>
                      <a:pt x="120131" y="0"/>
                    </a:lnTo>
                    <a:cubicBezTo>
                      <a:pt x="113741" y="638"/>
                      <a:pt x="107351" y="638"/>
                      <a:pt x="100961" y="63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raphic 4">
                <a:extLst>
                  <a:ext uri="{FF2B5EF4-FFF2-40B4-BE49-F238E27FC236}">
                    <a16:creationId xmlns:a16="http://schemas.microsoft.com/office/drawing/2014/main" id="{6C2F3197-3111-AB64-6F45-A05AB75BC82F}"/>
                  </a:ext>
                </a:extLst>
              </p:cNvPr>
              <p:cNvSpPr/>
              <p:nvPr/>
            </p:nvSpPr>
            <p:spPr>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4030 w 362309"/>
                  <a:gd name="connsiteY6" fmla="*/ 287918 h 361971"/>
                  <a:gd name="connsiteX7" fmla="*/ 183391 w 362309"/>
                  <a:gd name="connsiteY7" fmla="*/ 288556 h 361971"/>
                  <a:gd name="connsiteX8" fmla="*/ 182752 w 362309"/>
                  <a:gd name="connsiteY8" fmla="*/ 288556 h 361971"/>
                  <a:gd name="connsiteX9" fmla="*/ 181474 w 362309"/>
                  <a:gd name="connsiteY9" fmla="*/ 288556 h 361971"/>
                  <a:gd name="connsiteX10" fmla="*/ 181474 w 362309"/>
                  <a:gd name="connsiteY10" fmla="*/ 288556 h 361971"/>
                  <a:gd name="connsiteX11" fmla="*/ 180196 w 362309"/>
                  <a:gd name="connsiteY11" fmla="*/ 288556 h 361971"/>
                  <a:gd name="connsiteX12" fmla="*/ 179557 w 362309"/>
                  <a:gd name="connsiteY12" fmla="*/ 288556 h 361971"/>
                  <a:gd name="connsiteX13" fmla="*/ 178918 w 362309"/>
                  <a:gd name="connsiteY13" fmla="*/ 287918 h 361971"/>
                  <a:gd name="connsiteX14" fmla="*/ 87542 w 362309"/>
                  <a:gd name="connsiteY14" fmla="*/ 105974 h 361971"/>
                  <a:gd name="connsiteX15" fmla="*/ 94571 w 362309"/>
                  <a:gd name="connsiteY15" fmla="*/ 100229 h 361971"/>
                  <a:gd name="connsiteX16" fmla="*/ 97127 w 362309"/>
                  <a:gd name="connsiteY16" fmla="*/ 100867 h 361971"/>
                  <a:gd name="connsiteX17" fmla="*/ 177640 w 362309"/>
                  <a:gd name="connsiteY17" fmla="*/ 87461 h 361971"/>
                  <a:gd name="connsiteX18" fmla="*/ 186586 w 362309"/>
                  <a:gd name="connsiteY18" fmla="*/ 87461 h 361971"/>
                  <a:gd name="connsiteX19" fmla="*/ 186586 w 362309"/>
                  <a:gd name="connsiteY19" fmla="*/ 87461 h 361971"/>
                  <a:gd name="connsiteX20" fmla="*/ 267099 w 362309"/>
                  <a:gd name="connsiteY20" fmla="*/ 100867 h 361971"/>
                  <a:gd name="connsiteX21" fmla="*/ 272850 w 362309"/>
                  <a:gd name="connsiteY21" fmla="*/ 100867 h 361971"/>
                  <a:gd name="connsiteX22" fmla="*/ 276684 w 362309"/>
                  <a:gd name="connsiteY22" fmla="*/ 105974 h 361971"/>
                  <a:gd name="connsiteX23" fmla="*/ 184030 w 362309"/>
                  <a:gd name="connsiteY23" fmla="*/ 287918 h 361971"/>
                  <a:gd name="connsiteX24" fmla="*/ 184030 w 362309"/>
                  <a:gd name="connsiteY24" fmla="*/ 2879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184030" y="287918"/>
                    </a:moveTo>
                    <a:lnTo>
                      <a:pt x="183391" y="288556"/>
                    </a:lnTo>
                    <a:lnTo>
                      <a:pt x="182752" y="288556"/>
                    </a:lnTo>
                    <a:cubicBezTo>
                      <a:pt x="182113" y="288556"/>
                      <a:pt x="181474" y="288556"/>
                      <a:pt x="181474" y="288556"/>
                    </a:cubicBezTo>
                    <a:lnTo>
                      <a:pt x="181474" y="288556"/>
                    </a:lnTo>
                    <a:cubicBezTo>
                      <a:pt x="180835" y="288556"/>
                      <a:pt x="180196" y="288556"/>
                      <a:pt x="180196" y="288556"/>
                    </a:cubicBezTo>
                    <a:lnTo>
                      <a:pt x="179557" y="288556"/>
                    </a:lnTo>
                    <a:lnTo>
                      <a:pt x="178918" y="287918"/>
                    </a:lnTo>
                    <a:cubicBezTo>
                      <a:pt x="177640" y="287279"/>
                      <a:pt x="72845" y="231739"/>
                      <a:pt x="87542" y="105974"/>
                    </a:cubicBezTo>
                    <a:cubicBezTo>
                      <a:pt x="88181" y="102782"/>
                      <a:pt x="91376" y="100229"/>
                      <a:pt x="94571" y="100229"/>
                    </a:cubicBezTo>
                    <a:cubicBezTo>
                      <a:pt x="95210" y="100229"/>
                      <a:pt x="96488" y="100867"/>
                      <a:pt x="97127" y="100867"/>
                    </a:cubicBezTo>
                    <a:cubicBezTo>
                      <a:pt x="123965" y="114912"/>
                      <a:pt x="156553" y="109166"/>
                      <a:pt x="177640" y="87461"/>
                    </a:cubicBezTo>
                    <a:cubicBezTo>
                      <a:pt x="180196" y="84907"/>
                      <a:pt x="184030" y="84907"/>
                      <a:pt x="186586" y="87461"/>
                    </a:cubicBezTo>
                    <a:cubicBezTo>
                      <a:pt x="186586" y="87461"/>
                      <a:pt x="186586" y="87461"/>
                      <a:pt x="186586" y="87461"/>
                    </a:cubicBezTo>
                    <a:cubicBezTo>
                      <a:pt x="207034" y="109804"/>
                      <a:pt x="240262" y="114912"/>
                      <a:pt x="267099" y="100867"/>
                    </a:cubicBezTo>
                    <a:cubicBezTo>
                      <a:pt x="269016" y="99590"/>
                      <a:pt x="270933" y="99590"/>
                      <a:pt x="272850" y="100867"/>
                    </a:cubicBezTo>
                    <a:cubicBezTo>
                      <a:pt x="274767" y="102144"/>
                      <a:pt x="276045" y="103420"/>
                      <a:pt x="276684" y="105974"/>
                    </a:cubicBezTo>
                    <a:cubicBezTo>
                      <a:pt x="290103" y="231739"/>
                      <a:pt x="185308" y="287279"/>
                      <a:pt x="184030" y="287918"/>
                    </a:cubicBezTo>
                    <a:lnTo>
                      <a:pt x="184030" y="28791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9" name="Rectangle: Rounded Corners 38">
              <a:extLst>
                <a:ext uri="{FF2B5EF4-FFF2-40B4-BE49-F238E27FC236}">
                  <a16:creationId xmlns:a16="http://schemas.microsoft.com/office/drawing/2014/main" id="{9D946869-4C12-38A9-6EAF-37DE5A2C2578}"/>
                </a:ext>
              </a:extLst>
            </p:cNvPr>
            <p:cNvSpPr/>
            <p:nvPr/>
          </p:nvSpPr>
          <p:spPr>
            <a:xfrm>
              <a:off x="1551525" y="3438567"/>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INSURANCE</a:t>
              </a:r>
            </a:p>
          </p:txBody>
        </p:sp>
      </p:grpSp>
      <p:grpSp>
        <p:nvGrpSpPr>
          <p:cNvPr id="196" name="Group 195">
            <a:extLst>
              <a:ext uri="{FF2B5EF4-FFF2-40B4-BE49-F238E27FC236}">
                <a16:creationId xmlns:a16="http://schemas.microsoft.com/office/drawing/2014/main" id="{7CCD1F68-CA68-A6B1-C6B5-B07883EFE29E}"/>
              </a:ext>
            </a:extLst>
          </p:cNvPr>
          <p:cNvGrpSpPr/>
          <p:nvPr/>
        </p:nvGrpSpPr>
        <p:grpSpPr>
          <a:xfrm>
            <a:off x="6269377" y="2608997"/>
            <a:ext cx="5572891" cy="2249452"/>
            <a:chOff x="6066177" y="2608997"/>
            <a:chExt cx="5572891" cy="2249452"/>
          </a:xfrm>
        </p:grpSpPr>
        <p:sp>
          <p:nvSpPr>
            <p:cNvPr id="6" name="Rectangle: Rounded Corners 5">
              <a:extLst>
                <a:ext uri="{FF2B5EF4-FFF2-40B4-BE49-F238E27FC236}">
                  <a16:creationId xmlns:a16="http://schemas.microsoft.com/office/drawing/2014/main" id="{C3317A4F-5C18-A569-B5E7-FB5BE255CD87}"/>
                </a:ext>
              </a:extLst>
            </p:cNvPr>
            <p:cNvSpPr/>
            <p:nvPr/>
          </p:nvSpPr>
          <p:spPr>
            <a:xfrm>
              <a:off x="6152622" y="2608997"/>
              <a:ext cx="5400000" cy="2249452"/>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1" name="Title 2">
              <a:extLst>
                <a:ext uri="{FF2B5EF4-FFF2-40B4-BE49-F238E27FC236}">
                  <a16:creationId xmlns:a16="http://schemas.microsoft.com/office/drawing/2014/main" id="{1ECE2AED-70C0-65CD-7D18-DBC895111BC7}"/>
                </a:ext>
              </a:extLst>
            </p:cNvPr>
            <p:cNvSpPr txBox="1">
              <a:spLocks/>
            </p:cNvSpPr>
            <p:nvPr/>
          </p:nvSpPr>
          <p:spPr>
            <a:xfrm>
              <a:off x="7385771" y="2831115"/>
              <a:ext cx="3197863" cy="433965"/>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 typeface="Arial"/>
                <a:buNone/>
                <a:tabLst/>
                <a:defRPr/>
              </a:pPr>
              <a:r>
                <a:rPr kumimoji="0" lang="en-US" sz="1800" b="1" i="0" u="none" strike="noStrike" kern="1200" cap="none" spc="0" normalizeH="0" baseline="0" noProof="0" dirty="0">
                  <a:ln>
                    <a:noFill/>
                  </a:ln>
                  <a:solidFill>
                    <a:srgbClr val="000000"/>
                  </a:solidFill>
                  <a:effectLst/>
                  <a:uLnTx/>
                  <a:uFillTx/>
                  <a:latin typeface="Segoe UI" panose="020B0502040204020203" pitchFamily="34" charset="0"/>
                  <a:ea typeface="+mj-ea"/>
                  <a:cs typeface="Segoe UI" panose="020B0502040204020203" pitchFamily="34" charset="0"/>
                  <a:sym typeface="Arial"/>
                </a:rPr>
                <a:t>Banking's Risk Is Diffuse</a:t>
              </a:r>
            </a:p>
          </p:txBody>
        </p:sp>
        <p:grpSp>
          <p:nvGrpSpPr>
            <p:cNvPr id="32" name="Graphic 4">
              <a:extLst>
                <a:ext uri="{FF2B5EF4-FFF2-40B4-BE49-F238E27FC236}">
                  <a16:creationId xmlns:a16="http://schemas.microsoft.com/office/drawing/2014/main" id="{D4F02F25-C3A9-A734-6C59-421DDC54AAC8}"/>
                </a:ext>
              </a:extLst>
            </p:cNvPr>
            <p:cNvGrpSpPr/>
            <p:nvPr/>
          </p:nvGrpSpPr>
          <p:grpSpPr>
            <a:xfrm>
              <a:off x="6940848" y="2733230"/>
              <a:ext cx="630000" cy="630000"/>
              <a:chOff x="9279466" y="1402244"/>
              <a:chExt cx="362309" cy="362450"/>
            </a:xfrm>
            <a:solidFill>
              <a:srgbClr val="4EA72E"/>
            </a:solidFill>
          </p:grpSpPr>
          <p:sp>
            <p:nvSpPr>
              <p:cNvPr id="33" name="Graphic 4">
                <a:extLst>
                  <a:ext uri="{FF2B5EF4-FFF2-40B4-BE49-F238E27FC236}">
                    <a16:creationId xmlns:a16="http://schemas.microsoft.com/office/drawing/2014/main" id="{D8A0F2E4-7FAC-F205-F5AE-7ADA80EAAB8B}"/>
                  </a:ext>
                </a:extLst>
              </p:cNvPr>
              <p:cNvSpPr/>
              <p:nvPr/>
            </p:nvSpPr>
            <p:spPr>
              <a:xfrm rot="-2700000">
                <a:off x="9402917" y="1531993"/>
                <a:ext cx="105432" cy="54901"/>
              </a:xfrm>
              <a:custGeom>
                <a:avLst/>
                <a:gdLst>
                  <a:gd name="connsiteX0" fmla="*/ 0 w 105432"/>
                  <a:gd name="connsiteY0" fmla="*/ 0 h 54901"/>
                  <a:gd name="connsiteX1" fmla="*/ 105433 w 105432"/>
                  <a:gd name="connsiteY1" fmla="*/ 0 h 54901"/>
                  <a:gd name="connsiteX2" fmla="*/ 105433 w 105432"/>
                  <a:gd name="connsiteY2" fmla="*/ 54902 h 54901"/>
                  <a:gd name="connsiteX3" fmla="*/ 0 w 105432"/>
                  <a:gd name="connsiteY3" fmla="*/ 54902 h 54901"/>
                </a:gdLst>
                <a:ahLst/>
                <a:cxnLst>
                  <a:cxn ang="0">
                    <a:pos x="connsiteX0" y="connsiteY0"/>
                  </a:cxn>
                  <a:cxn ang="0">
                    <a:pos x="connsiteX1" y="connsiteY1"/>
                  </a:cxn>
                  <a:cxn ang="0">
                    <a:pos x="connsiteX2" y="connsiteY2"/>
                  </a:cxn>
                  <a:cxn ang="0">
                    <a:pos x="connsiteX3" y="connsiteY3"/>
                  </a:cxn>
                </a:cxnLst>
                <a:rect l="l" t="t" r="r" b="b"/>
                <a:pathLst>
                  <a:path w="105432" h="54901">
                    <a:moveTo>
                      <a:pt x="0" y="0"/>
                    </a:moveTo>
                    <a:lnTo>
                      <a:pt x="105433" y="0"/>
                    </a:lnTo>
                    <a:lnTo>
                      <a:pt x="105433" y="54902"/>
                    </a:lnTo>
                    <a:lnTo>
                      <a:pt x="0" y="549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raphic 4">
                <a:extLst>
                  <a:ext uri="{FF2B5EF4-FFF2-40B4-BE49-F238E27FC236}">
                    <a16:creationId xmlns:a16="http://schemas.microsoft.com/office/drawing/2014/main" id="{E43066F7-62F4-1DA1-DCB3-183FA1BA7325}"/>
                  </a:ext>
                </a:extLst>
              </p:cNvPr>
              <p:cNvSpPr/>
              <p:nvPr/>
            </p:nvSpPr>
            <p:spPr>
              <a:xfrm>
                <a:off x="9279466" y="1402244"/>
                <a:ext cx="362309" cy="362450"/>
              </a:xfrm>
              <a:custGeom>
                <a:avLst/>
                <a:gdLst>
                  <a:gd name="connsiteX0" fmla="*/ 286270 w 362309"/>
                  <a:gd name="connsiteY0" fmla="*/ 268606 h 362450"/>
                  <a:gd name="connsiteX1" fmla="*/ 281797 w 362309"/>
                  <a:gd name="connsiteY1" fmla="*/ 270521 h 362450"/>
                  <a:gd name="connsiteX2" fmla="*/ 277323 w 362309"/>
                  <a:gd name="connsiteY2" fmla="*/ 268606 h 362450"/>
                  <a:gd name="connsiteX3" fmla="*/ 199367 w 362309"/>
                  <a:gd name="connsiteY3" fmla="*/ 190083 h 362450"/>
                  <a:gd name="connsiteX4" fmla="*/ 166778 w 362309"/>
                  <a:gd name="connsiteY4" fmla="*/ 222641 h 362450"/>
                  <a:gd name="connsiteX5" fmla="*/ 168056 w 362309"/>
                  <a:gd name="connsiteY5" fmla="*/ 223918 h 362450"/>
                  <a:gd name="connsiteX6" fmla="*/ 168056 w 362309"/>
                  <a:gd name="connsiteY6" fmla="*/ 232856 h 362450"/>
                  <a:gd name="connsiteX7" fmla="*/ 159110 w 362309"/>
                  <a:gd name="connsiteY7" fmla="*/ 232856 h 362450"/>
                  <a:gd name="connsiteX8" fmla="*/ 159110 w 362309"/>
                  <a:gd name="connsiteY8" fmla="*/ 232856 h 362450"/>
                  <a:gd name="connsiteX9" fmla="*/ 153358 w 362309"/>
                  <a:gd name="connsiteY9" fmla="*/ 227110 h 362450"/>
                  <a:gd name="connsiteX10" fmla="*/ 105434 w 362309"/>
                  <a:gd name="connsiteY10" fmla="*/ 179230 h 362450"/>
                  <a:gd name="connsiteX11" fmla="*/ 105434 w 362309"/>
                  <a:gd name="connsiteY11" fmla="*/ 179230 h 362450"/>
                  <a:gd name="connsiteX12" fmla="*/ 99684 w 362309"/>
                  <a:gd name="connsiteY12" fmla="*/ 173485 h 362450"/>
                  <a:gd name="connsiteX13" fmla="*/ 99684 w 362309"/>
                  <a:gd name="connsiteY13" fmla="*/ 164547 h 362450"/>
                  <a:gd name="connsiteX14" fmla="*/ 99684 w 362309"/>
                  <a:gd name="connsiteY14" fmla="*/ 164547 h 362450"/>
                  <a:gd name="connsiteX15" fmla="*/ 108629 w 362309"/>
                  <a:gd name="connsiteY15" fmla="*/ 164547 h 362450"/>
                  <a:gd name="connsiteX16" fmla="*/ 109907 w 362309"/>
                  <a:gd name="connsiteY16" fmla="*/ 165824 h 362450"/>
                  <a:gd name="connsiteX17" fmla="*/ 184669 w 362309"/>
                  <a:gd name="connsiteY17" fmla="*/ 91770 h 362450"/>
                  <a:gd name="connsiteX18" fmla="*/ 183392 w 362309"/>
                  <a:gd name="connsiteY18" fmla="*/ 90493 h 362450"/>
                  <a:gd name="connsiteX19" fmla="*/ 183392 w 362309"/>
                  <a:gd name="connsiteY19" fmla="*/ 81555 h 362450"/>
                  <a:gd name="connsiteX20" fmla="*/ 183392 w 362309"/>
                  <a:gd name="connsiteY20" fmla="*/ 81555 h 362450"/>
                  <a:gd name="connsiteX21" fmla="*/ 192338 w 362309"/>
                  <a:gd name="connsiteY21" fmla="*/ 81555 h 362450"/>
                  <a:gd name="connsiteX22" fmla="*/ 198088 w 362309"/>
                  <a:gd name="connsiteY22" fmla="*/ 87301 h 362450"/>
                  <a:gd name="connsiteX23" fmla="*/ 198088 w 362309"/>
                  <a:gd name="connsiteY23" fmla="*/ 87301 h 362450"/>
                  <a:gd name="connsiteX24" fmla="*/ 246013 w 362309"/>
                  <a:gd name="connsiteY24" fmla="*/ 135181 h 362450"/>
                  <a:gd name="connsiteX25" fmla="*/ 246013 w 362309"/>
                  <a:gd name="connsiteY25" fmla="*/ 135181 h 362450"/>
                  <a:gd name="connsiteX26" fmla="*/ 251764 w 362309"/>
                  <a:gd name="connsiteY26" fmla="*/ 140926 h 362450"/>
                  <a:gd name="connsiteX27" fmla="*/ 251764 w 362309"/>
                  <a:gd name="connsiteY27" fmla="*/ 149864 h 362450"/>
                  <a:gd name="connsiteX28" fmla="*/ 242818 w 362309"/>
                  <a:gd name="connsiteY28" fmla="*/ 149864 h 362450"/>
                  <a:gd name="connsiteX29" fmla="*/ 241540 w 362309"/>
                  <a:gd name="connsiteY29" fmla="*/ 148587 h 362450"/>
                  <a:gd name="connsiteX30" fmla="*/ 208951 w 362309"/>
                  <a:gd name="connsiteY30" fmla="*/ 181145 h 362450"/>
                  <a:gd name="connsiteX31" fmla="*/ 286908 w 362309"/>
                  <a:gd name="connsiteY31" fmla="*/ 259669 h 362450"/>
                  <a:gd name="connsiteX32" fmla="*/ 286270 w 362309"/>
                  <a:gd name="connsiteY32" fmla="*/ 268606 h 362450"/>
                  <a:gd name="connsiteX33" fmla="*/ 286270 w 362309"/>
                  <a:gd name="connsiteY33" fmla="*/ 268606 h 362450"/>
                  <a:gd name="connsiteX34" fmla="*/ 180836 w 362309"/>
                  <a:gd name="connsiteY34" fmla="*/ 270521 h 362450"/>
                  <a:gd name="connsiteX35" fmla="*/ 79874 w 362309"/>
                  <a:gd name="connsiteY35" fmla="*/ 270521 h 362450"/>
                  <a:gd name="connsiteX36" fmla="*/ 73484 w 362309"/>
                  <a:gd name="connsiteY36" fmla="*/ 264137 h 362450"/>
                  <a:gd name="connsiteX37" fmla="*/ 79874 w 362309"/>
                  <a:gd name="connsiteY37" fmla="*/ 257753 h 362450"/>
                  <a:gd name="connsiteX38" fmla="*/ 180836 w 362309"/>
                  <a:gd name="connsiteY38" fmla="*/ 257753 h 362450"/>
                  <a:gd name="connsiteX39" fmla="*/ 187225 w 362309"/>
                  <a:gd name="connsiteY39" fmla="*/ 264137 h 362450"/>
                  <a:gd name="connsiteX40" fmla="*/ 180836 w 362309"/>
                  <a:gd name="connsiteY40" fmla="*/ 270521 h 362450"/>
                  <a:gd name="connsiteX41" fmla="*/ 180836 w 362309"/>
                  <a:gd name="connsiteY41" fmla="*/ 479 h 362450"/>
                  <a:gd name="connsiteX42" fmla="*/ 0 w 362309"/>
                  <a:gd name="connsiteY42" fmla="*/ 181784 h 362450"/>
                  <a:gd name="connsiteX43" fmla="*/ 181474 w 362309"/>
                  <a:gd name="connsiteY43" fmla="*/ 362451 h 362450"/>
                  <a:gd name="connsiteX44" fmla="*/ 362310 w 362309"/>
                  <a:gd name="connsiteY44" fmla="*/ 181145 h 362450"/>
                  <a:gd name="connsiteX45" fmla="*/ 362310 w 362309"/>
                  <a:gd name="connsiteY45" fmla="*/ 181145 h 362450"/>
                  <a:gd name="connsiteX46" fmla="*/ 180836 w 362309"/>
                  <a:gd name="connsiteY46" fmla="*/ 479 h 362450"/>
                  <a:gd name="connsiteX47" fmla="*/ 180836 w 362309"/>
                  <a:gd name="connsiteY47" fmla="*/ 479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2450">
                    <a:moveTo>
                      <a:pt x="286270" y="268606"/>
                    </a:moveTo>
                    <a:cubicBezTo>
                      <a:pt x="284992" y="269883"/>
                      <a:pt x="283713" y="270521"/>
                      <a:pt x="281797" y="270521"/>
                    </a:cubicBezTo>
                    <a:cubicBezTo>
                      <a:pt x="279880" y="270521"/>
                      <a:pt x="278602" y="269883"/>
                      <a:pt x="277323" y="268606"/>
                    </a:cubicBezTo>
                    <a:lnTo>
                      <a:pt x="199367" y="190083"/>
                    </a:lnTo>
                    <a:lnTo>
                      <a:pt x="166778" y="222641"/>
                    </a:lnTo>
                    <a:lnTo>
                      <a:pt x="168056" y="223918"/>
                    </a:lnTo>
                    <a:cubicBezTo>
                      <a:pt x="170612" y="226472"/>
                      <a:pt x="170612" y="230302"/>
                      <a:pt x="168056" y="232856"/>
                    </a:cubicBezTo>
                    <a:cubicBezTo>
                      <a:pt x="165500" y="235409"/>
                      <a:pt x="161666" y="235409"/>
                      <a:pt x="159110" y="232856"/>
                    </a:cubicBezTo>
                    <a:lnTo>
                      <a:pt x="159110" y="232856"/>
                    </a:lnTo>
                    <a:lnTo>
                      <a:pt x="153358" y="227110"/>
                    </a:lnTo>
                    <a:lnTo>
                      <a:pt x="105434" y="179230"/>
                    </a:lnTo>
                    <a:lnTo>
                      <a:pt x="105434" y="179230"/>
                    </a:lnTo>
                    <a:lnTo>
                      <a:pt x="99684" y="173485"/>
                    </a:lnTo>
                    <a:cubicBezTo>
                      <a:pt x="97128" y="170931"/>
                      <a:pt x="97128" y="167101"/>
                      <a:pt x="99684" y="164547"/>
                    </a:cubicBezTo>
                    <a:cubicBezTo>
                      <a:pt x="99684" y="164547"/>
                      <a:pt x="99684" y="164547"/>
                      <a:pt x="99684" y="164547"/>
                    </a:cubicBezTo>
                    <a:cubicBezTo>
                      <a:pt x="102239" y="161994"/>
                      <a:pt x="106074" y="161994"/>
                      <a:pt x="108629" y="164547"/>
                    </a:cubicBezTo>
                    <a:lnTo>
                      <a:pt x="109907" y="165824"/>
                    </a:lnTo>
                    <a:lnTo>
                      <a:pt x="184669" y="91770"/>
                    </a:lnTo>
                    <a:lnTo>
                      <a:pt x="183392" y="90493"/>
                    </a:lnTo>
                    <a:cubicBezTo>
                      <a:pt x="180836" y="87939"/>
                      <a:pt x="180836" y="84109"/>
                      <a:pt x="183392" y="81555"/>
                    </a:cubicBezTo>
                    <a:cubicBezTo>
                      <a:pt x="183392" y="81555"/>
                      <a:pt x="183392" y="81555"/>
                      <a:pt x="183392" y="81555"/>
                    </a:cubicBezTo>
                    <a:cubicBezTo>
                      <a:pt x="185948" y="79002"/>
                      <a:pt x="189782" y="79002"/>
                      <a:pt x="192338" y="81555"/>
                    </a:cubicBezTo>
                    <a:lnTo>
                      <a:pt x="198088" y="87301"/>
                    </a:lnTo>
                    <a:lnTo>
                      <a:pt x="198088" y="87301"/>
                    </a:lnTo>
                    <a:lnTo>
                      <a:pt x="246013" y="135181"/>
                    </a:lnTo>
                    <a:lnTo>
                      <a:pt x="246013" y="135181"/>
                    </a:lnTo>
                    <a:lnTo>
                      <a:pt x="251764" y="140926"/>
                    </a:lnTo>
                    <a:cubicBezTo>
                      <a:pt x="254320" y="143480"/>
                      <a:pt x="254320" y="147310"/>
                      <a:pt x="251764" y="149864"/>
                    </a:cubicBezTo>
                    <a:cubicBezTo>
                      <a:pt x="249208" y="152418"/>
                      <a:pt x="245374" y="152418"/>
                      <a:pt x="242818" y="149864"/>
                    </a:cubicBezTo>
                    <a:lnTo>
                      <a:pt x="241540" y="148587"/>
                    </a:lnTo>
                    <a:lnTo>
                      <a:pt x="208951" y="181145"/>
                    </a:lnTo>
                    <a:lnTo>
                      <a:pt x="286908" y="259669"/>
                    </a:lnTo>
                    <a:cubicBezTo>
                      <a:pt x="288826" y="262222"/>
                      <a:pt x="288826" y="266053"/>
                      <a:pt x="286270" y="268606"/>
                    </a:cubicBezTo>
                    <a:cubicBezTo>
                      <a:pt x="286270" y="268606"/>
                      <a:pt x="286270" y="268606"/>
                      <a:pt x="286270" y="268606"/>
                    </a:cubicBezTo>
                    <a:moveTo>
                      <a:pt x="180836" y="270521"/>
                    </a:moveTo>
                    <a:lnTo>
                      <a:pt x="79874" y="270521"/>
                    </a:lnTo>
                    <a:cubicBezTo>
                      <a:pt x="76040" y="270521"/>
                      <a:pt x="73484" y="267968"/>
                      <a:pt x="73484" y="264137"/>
                    </a:cubicBezTo>
                    <a:cubicBezTo>
                      <a:pt x="73484" y="260307"/>
                      <a:pt x="76040" y="257753"/>
                      <a:pt x="79874" y="257753"/>
                    </a:cubicBezTo>
                    <a:lnTo>
                      <a:pt x="180836" y="257753"/>
                    </a:lnTo>
                    <a:cubicBezTo>
                      <a:pt x="184669" y="257753"/>
                      <a:pt x="187225" y="260307"/>
                      <a:pt x="187225" y="264137"/>
                    </a:cubicBezTo>
                    <a:cubicBezTo>
                      <a:pt x="187225" y="267968"/>
                      <a:pt x="184031" y="270521"/>
                      <a:pt x="180836" y="270521"/>
                    </a:cubicBezTo>
                    <a:moveTo>
                      <a:pt x="180836" y="479"/>
                    </a:moveTo>
                    <a:cubicBezTo>
                      <a:pt x="80514" y="479"/>
                      <a:pt x="0" y="81555"/>
                      <a:pt x="0" y="181784"/>
                    </a:cubicBezTo>
                    <a:cubicBezTo>
                      <a:pt x="0" y="282013"/>
                      <a:pt x="81153" y="362451"/>
                      <a:pt x="181474" y="362451"/>
                    </a:cubicBezTo>
                    <a:cubicBezTo>
                      <a:pt x="281797" y="362451"/>
                      <a:pt x="362310" y="281374"/>
                      <a:pt x="362310" y="181145"/>
                    </a:cubicBezTo>
                    <a:cubicBezTo>
                      <a:pt x="362310" y="181145"/>
                      <a:pt x="362310" y="181145"/>
                      <a:pt x="362310" y="181145"/>
                    </a:cubicBezTo>
                    <a:cubicBezTo>
                      <a:pt x="361671" y="80917"/>
                      <a:pt x="280518" y="-160"/>
                      <a:pt x="180836" y="479"/>
                    </a:cubicBezTo>
                    <a:cubicBezTo>
                      <a:pt x="180836" y="-160"/>
                      <a:pt x="180836" y="-160"/>
                      <a:pt x="180836" y="479"/>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2" name="Group 191">
              <a:extLst>
                <a:ext uri="{FF2B5EF4-FFF2-40B4-BE49-F238E27FC236}">
                  <a16:creationId xmlns:a16="http://schemas.microsoft.com/office/drawing/2014/main" id="{DEFC4407-59BB-4FCA-BDD8-847874A319DF}"/>
                </a:ext>
              </a:extLst>
            </p:cNvPr>
            <p:cNvGrpSpPr/>
            <p:nvPr/>
          </p:nvGrpSpPr>
          <p:grpSpPr>
            <a:xfrm>
              <a:off x="6066177" y="3438567"/>
              <a:ext cx="5572891" cy="1217810"/>
              <a:chOff x="6073158" y="3438567"/>
              <a:chExt cx="5572891" cy="1217810"/>
            </a:xfrm>
          </p:grpSpPr>
          <p:sp>
            <p:nvSpPr>
              <p:cNvPr id="148" name="Text 24">
                <a:extLst>
                  <a:ext uri="{FF2B5EF4-FFF2-40B4-BE49-F238E27FC236}">
                    <a16:creationId xmlns:a16="http://schemas.microsoft.com/office/drawing/2014/main" id="{E0BC1267-2A82-B5FB-9D57-F064A1306D94}"/>
                  </a:ext>
                </a:extLst>
              </p:cNvPr>
              <p:cNvSpPr/>
              <p:nvPr/>
            </p:nvSpPr>
            <p:spPr>
              <a:xfrm>
                <a:off x="7364076" y="3458911"/>
                <a:ext cx="2025122" cy="42062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1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9" name="Text 12">
                <a:extLst>
                  <a:ext uri="{FF2B5EF4-FFF2-40B4-BE49-F238E27FC236}">
                    <a16:creationId xmlns:a16="http://schemas.microsoft.com/office/drawing/2014/main" id="{FD78DFCC-BB06-0CE4-2E89-9B7D91C3FF6E}"/>
                  </a:ext>
                </a:extLst>
              </p:cNvPr>
              <p:cNvSpPr/>
              <p:nvPr/>
            </p:nvSpPr>
            <p:spPr>
              <a:xfrm>
                <a:off x="6073158" y="4287045"/>
                <a:ext cx="2836177"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respondents identified </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f</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Arial" pitchFamily="34" charset="-122"/>
                    <a:cs typeface="Segoe UI" panose="020B0502040204020203" pitchFamily="34" charset="0"/>
                    <a:sym typeface="Arial"/>
                  </a:rPr>
                  <a:t>intech partners</a:t>
                </a: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 as the top exposure</a:t>
                </a:r>
                <a:endPar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146" name="Text 23">
                <a:extLst>
                  <a:ext uri="{FF2B5EF4-FFF2-40B4-BE49-F238E27FC236}">
                    <a16:creationId xmlns:a16="http://schemas.microsoft.com/office/drawing/2014/main" id="{D0053BEE-6AD9-B5D0-F28C-8B82C0F17CF4}"/>
                  </a:ext>
                </a:extLst>
              </p:cNvPr>
              <p:cNvSpPr/>
              <p:nvPr/>
            </p:nvSpPr>
            <p:spPr>
              <a:xfrm>
                <a:off x="6938940" y="3821167"/>
                <a:ext cx="1104612" cy="3383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28%</a:t>
                </a:r>
                <a:endParaRPr kumimoji="0" lang="en-US" sz="35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195" name="Rectangle: Rounded Corners 194">
                <a:extLst>
                  <a:ext uri="{FF2B5EF4-FFF2-40B4-BE49-F238E27FC236}">
                    <a16:creationId xmlns:a16="http://schemas.microsoft.com/office/drawing/2014/main" id="{ED605401-8E5F-7851-291D-FF82103A0FD7}"/>
                  </a:ext>
                </a:extLst>
              </p:cNvPr>
              <p:cNvSpPr/>
              <p:nvPr/>
            </p:nvSpPr>
            <p:spPr>
              <a:xfrm>
                <a:off x="6585870" y="3438567"/>
                <a:ext cx="1810752" cy="29819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#1 BANKING</a:t>
                </a:r>
              </a:p>
            </p:txBody>
          </p:sp>
          <p:sp>
            <p:nvSpPr>
              <p:cNvPr id="155" name="Text 27">
                <a:extLst>
                  <a:ext uri="{FF2B5EF4-FFF2-40B4-BE49-F238E27FC236}">
                    <a16:creationId xmlns:a16="http://schemas.microsoft.com/office/drawing/2014/main" id="{33CE4793-A172-5507-1BC6-94B03CE6CEED}"/>
                  </a:ext>
                </a:extLst>
              </p:cNvPr>
              <p:cNvSpPr/>
              <p:nvPr/>
            </p:nvSpPr>
            <p:spPr>
              <a:xfrm>
                <a:off x="9653743" y="3821167"/>
                <a:ext cx="1104612" cy="3383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24%</a:t>
                </a:r>
                <a:endParaRPr kumimoji="0" lang="en-US" sz="35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20" name="Text 12">
                <a:extLst>
                  <a:ext uri="{FF2B5EF4-FFF2-40B4-BE49-F238E27FC236}">
                    <a16:creationId xmlns:a16="http://schemas.microsoft.com/office/drawing/2014/main" id="{6A203CD1-8D74-8C0D-D1AE-824B87374AAF}"/>
                  </a:ext>
                </a:extLst>
              </p:cNvPr>
              <p:cNvSpPr/>
              <p:nvPr/>
            </p:nvSpPr>
            <p:spPr>
              <a:xfrm>
                <a:off x="8766049" y="4287045"/>
                <a:ext cx="2880000"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respondents identified </a:t>
                </a:r>
                <a:r>
                  <a:rPr kumimoji="0" lang="en-US" sz="1200" b="1"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business &amp; commercial clients</a:t>
                </a:r>
                <a:endParaRPr kumimoji="0" lang="en-US" sz="1200" b="0" i="1"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197" name="Rectangle: Rounded Corners 196">
                <a:extLst>
                  <a:ext uri="{FF2B5EF4-FFF2-40B4-BE49-F238E27FC236}">
                    <a16:creationId xmlns:a16="http://schemas.microsoft.com/office/drawing/2014/main" id="{B4B39F92-B5B3-F4F4-17A4-FB952EA150EB}"/>
                  </a:ext>
                </a:extLst>
              </p:cNvPr>
              <p:cNvSpPr/>
              <p:nvPr/>
            </p:nvSpPr>
            <p:spPr>
              <a:xfrm>
                <a:off x="9300673" y="3438567"/>
                <a:ext cx="1810752" cy="29819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#2 BANKING</a:t>
                </a:r>
              </a:p>
            </p:txBody>
          </p:sp>
          <p:cxnSp>
            <p:nvCxnSpPr>
              <p:cNvPr id="136" name="Straight Connector 135">
                <a:extLst>
                  <a:ext uri="{FF2B5EF4-FFF2-40B4-BE49-F238E27FC236}">
                    <a16:creationId xmlns:a16="http://schemas.microsoft.com/office/drawing/2014/main" id="{BD346051-0E8A-4750-30DC-8AA474730657}"/>
                  </a:ext>
                </a:extLst>
              </p:cNvPr>
              <p:cNvCxnSpPr>
                <a:cxnSpLocks/>
              </p:cNvCxnSpPr>
              <p:nvPr/>
            </p:nvCxnSpPr>
            <p:spPr>
              <a:xfrm>
                <a:off x="8857489" y="3458911"/>
                <a:ext cx="0" cy="1082609"/>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165" name="Shape 30">
            <a:extLst>
              <a:ext uri="{FF2B5EF4-FFF2-40B4-BE49-F238E27FC236}">
                <a16:creationId xmlns:a16="http://schemas.microsoft.com/office/drawing/2014/main" id="{8ECCCA8C-3C45-9640-FB0A-6AA356EE454F}"/>
              </a:ext>
            </a:extLst>
          </p:cNvPr>
          <p:cNvSpPr/>
          <p:nvPr/>
        </p:nvSpPr>
        <p:spPr>
          <a:xfrm>
            <a:off x="7378130" y="5425503"/>
            <a:ext cx="4377692" cy="1129315"/>
          </a:xfrm>
          <a:prstGeom prst="roundRect">
            <a:avLst>
              <a:gd name="adj" fmla="val 3810"/>
            </a:avLst>
          </a:prstGeom>
          <a:solidFill>
            <a:srgbClr val="F0F2F2"/>
          </a:solidFill>
          <a:ln w="889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41" name="Shape 30">
            <a:extLst>
              <a:ext uri="{FF2B5EF4-FFF2-40B4-BE49-F238E27FC236}">
                <a16:creationId xmlns:a16="http://schemas.microsoft.com/office/drawing/2014/main" id="{B8DF8AA7-DF33-087D-D999-557FA946A3C6}"/>
              </a:ext>
            </a:extLst>
          </p:cNvPr>
          <p:cNvSpPr/>
          <p:nvPr/>
        </p:nvSpPr>
        <p:spPr>
          <a:xfrm>
            <a:off x="3259326" y="5140168"/>
            <a:ext cx="4086405" cy="1413031"/>
          </a:xfrm>
          <a:prstGeom prst="roundRect">
            <a:avLst>
              <a:gd name="adj" fmla="val 3810"/>
            </a:avLst>
          </a:prstGeom>
          <a:solidFill>
            <a:srgbClr val="F0F2F2"/>
          </a:solidFill>
          <a:ln w="889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34" name="Shape 30">
            <a:extLst>
              <a:ext uri="{FF2B5EF4-FFF2-40B4-BE49-F238E27FC236}">
                <a16:creationId xmlns:a16="http://schemas.microsoft.com/office/drawing/2014/main" id="{6ED0690D-5095-30D4-B4A6-AA3D45976EEF}"/>
              </a:ext>
            </a:extLst>
          </p:cNvPr>
          <p:cNvSpPr/>
          <p:nvPr/>
        </p:nvSpPr>
        <p:spPr>
          <a:xfrm>
            <a:off x="305235" y="5140168"/>
            <a:ext cx="2954091" cy="1603091"/>
          </a:xfrm>
          <a:prstGeom prst="roundRect">
            <a:avLst>
              <a:gd name="adj" fmla="val 3810"/>
            </a:avLst>
          </a:prstGeom>
          <a:solidFill>
            <a:srgbClr val="4EA72E"/>
          </a:solidFill>
          <a:ln w="8890">
            <a:solidFill>
              <a:srgbClr val="D8D8D8"/>
            </a:solidFill>
            <a:prstDash val="solid"/>
          </a:ln>
        </p:spPr>
        <p:txBody>
          <a:bodyPr anchor="ctr"/>
          <a:lstStyle/>
          <a:p>
            <a:pPr marL="0" marR="0" lvl="0" indent="0" algn="r" defTabSz="914400" rtl="0" eaLnBrk="1" fontAlgn="auto" latinLnBrk="0" hangingPunct="1">
              <a:lnSpc>
                <a:spcPct val="110000"/>
              </a:lnSpc>
              <a:spcBef>
                <a:spcPts val="0"/>
              </a:spcBef>
              <a:spcAft>
                <a:spcPts val="600"/>
              </a:spcAft>
              <a:buClr>
                <a:srgbClr val="000000"/>
              </a:buClr>
              <a:buSzTx/>
              <a:buFont typeface="Arial"/>
              <a:buNone/>
              <a:tabLst/>
              <a:defRPr/>
            </a:pPr>
            <a:r>
              <a:rPr kumimoji="0" lang="en-US" sz="2000" b="0"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DIVERGE: </a:t>
            </a:r>
            <a:r>
              <a:rPr kumimoji="0" lang="en-US" sz="20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The Drop-Off</a:t>
            </a:r>
            <a:r>
              <a:rPr kumimoji="0" lang="en-US" sz="20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
            </a:r>
            <a:endParaRPr kumimoji="0" lang="en-US" sz="20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endParaRPr>
          </a:p>
        </p:txBody>
      </p:sp>
      <p:sp>
        <p:nvSpPr>
          <p:cNvPr id="2" name="Rectangle 1">
            <a:extLst>
              <a:ext uri="{FF2B5EF4-FFF2-40B4-BE49-F238E27FC236}">
                <a16:creationId xmlns:a16="http://schemas.microsoft.com/office/drawing/2014/main" id="{85AFB5D3-7234-0C65-7802-94DEC4E59269}"/>
              </a:ext>
            </a:extLst>
          </p:cNvPr>
          <p:cNvSpPr/>
          <p:nvPr/>
        </p:nvSpPr>
        <p:spPr>
          <a:xfrm>
            <a:off x="249638" y="739894"/>
            <a:ext cx="11651914" cy="8538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Banks and insurers now route core customer activity through an expanding web of external partners — fintechs, brokers, administrators, and service providers — and each relationship is a potential point of failure. Because the two sectors rely on entirely different third-party ecosystems, the survey asked each about its own distinct set of external parties.</a:t>
            </a:r>
            <a:r>
              <a:rPr kumimoji="0" lang="en-US" sz="1300" b="0" i="0" u="none" strike="noStrike" kern="1200" cap="none" spc="0" normalizeH="0" baseline="3000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a:r>
            <a:r>
              <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a: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The question that matters is where that exposure concentrates most for each sector today.</a:t>
            </a:r>
            <a:endParaRPr kumimoji="0" lang="en-US" sz="13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855256EE-FFB5-215C-3021-3B06F95434FE}"/>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THIRD-PARTY FRAUD RISK</a:t>
            </a:r>
          </a:p>
        </p:txBody>
      </p:sp>
      <p:sp>
        <p:nvSpPr>
          <p:cNvPr id="19" name="Text 22">
            <a:extLst>
              <a:ext uri="{FF2B5EF4-FFF2-40B4-BE49-F238E27FC236}">
                <a16:creationId xmlns:a16="http://schemas.microsoft.com/office/drawing/2014/main" id="{42A555F3-C5B4-11AE-5809-0163DF93A1C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THIRD-PARTY RISK SITS IN A DIFFERENT PLACE FOR EVERY SECTOR.</a:t>
            </a:r>
          </a:p>
        </p:txBody>
      </p:sp>
      <p:sp>
        <p:nvSpPr>
          <p:cNvPr id="56" name="Text 4">
            <a:extLst>
              <a:ext uri="{FF2B5EF4-FFF2-40B4-BE49-F238E27FC236}">
                <a16:creationId xmlns:a16="http://schemas.microsoft.com/office/drawing/2014/main" id="{76CB0E9E-D613-ED54-6DBE-5CF89BD7D623}"/>
              </a:ext>
            </a:extLst>
          </p:cNvPr>
          <p:cNvSpPr/>
          <p:nvPr/>
        </p:nvSpPr>
        <p:spPr>
          <a:xfrm>
            <a:off x="494707" y="2056068"/>
            <a:ext cx="4094752" cy="1737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86BC25"/>
              </a:solidFill>
              <a:effectLst/>
              <a:uLnTx/>
              <a:uFillTx/>
              <a:latin typeface="Arial"/>
              <a:ea typeface="+mn-ea"/>
              <a:cs typeface="Arial"/>
              <a:sym typeface="Arial"/>
            </a:endParaRPr>
          </a:p>
        </p:txBody>
      </p:sp>
      <p:sp>
        <p:nvSpPr>
          <p:cNvPr id="129" name="Text 15">
            <a:extLst>
              <a:ext uri="{FF2B5EF4-FFF2-40B4-BE49-F238E27FC236}">
                <a16:creationId xmlns:a16="http://schemas.microsoft.com/office/drawing/2014/main" id="{358A7ACF-EF12-B33E-8CEB-182099CBA6B9}"/>
              </a:ext>
            </a:extLst>
          </p:cNvPr>
          <p:cNvSpPr/>
          <p:nvPr/>
        </p:nvSpPr>
        <p:spPr>
          <a:xfrm>
            <a:off x="494707" y="1898346"/>
            <a:ext cx="10813806" cy="53584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111111"/>
                </a:solidFill>
                <a:effectLst/>
                <a:uLnTx/>
                <a:uFillTx/>
                <a:latin typeface="Segoe UI" panose="020B0502040204020203" pitchFamily="34" charset="0"/>
                <a:ea typeface="Arial" pitchFamily="34" charset="-122"/>
                <a:cs typeface="Segoe UI" panose="020B0502040204020203" pitchFamily="34" charset="0"/>
                <a:sym typeface="Arial"/>
              </a:rPr>
              <a:t>The Shape of the Risk: </a:t>
            </a:r>
            <a:r>
              <a:rPr kumimoji="0" lang="en-US" sz="1800" b="0" i="0" u="none" strike="noStrike" kern="0" cap="none" spc="0" normalizeH="0" baseline="0" noProof="0" dirty="0">
                <a:ln>
                  <a:noFill/>
                </a:ln>
                <a:solidFill>
                  <a:srgbClr val="111111"/>
                </a:solidFill>
                <a:effectLst/>
                <a:uLnTx/>
                <a:uFillTx/>
                <a:latin typeface="Segoe UI" panose="020B0502040204020203" pitchFamily="34" charset="0"/>
                <a:ea typeface="Arial" pitchFamily="34" charset="-122"/>
                <a:cs typeface="Segoe UI" panose="020B0502040204020203" pitchFamily="34" charset="0"/>
                <a:sym typeface="Arial"/>
              </a:rPr>
              <a:t>Concentrated in Insurance, diffuse in Banking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404040"/>
                </a:solidFill>
                <a:effectLst/>
                <a:uLnTx/>
                <a:uFillTx/>
                <a:latin typeface="Segoe UI" panose="020B0502040204020203" pitchFamily="34" charset="0"/>
                <a:ea typeface="Arial" pitchFamily="34" charset="-122"/>
                <a:cs typeface="Segoe UI" panose="020B0502040204020203" pitchFamily="34" charset="0"/>
                <a:sym typeface="Arial"/>
              </a:rPr>
              <a:t>Insurance's greatest third-party exposure sits overwhelmingly in one place. Banking's is spread across several partner types, none of which dominates.</a:t>
            </a:r>
            <a:endParaRPr kumimoji="0" lang="en-US" sz="1400" b="0" i="0" u="none" strike="noStrike" kern="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endParaRPr>
          </a:p>
        </p:txBody>
      </p:sp>
      <p:sp>
        <p:nvSpPr>
          <p:cNvPr id="52" name="Text 33">
            <a:extLst>
              <a:ext uri="{FF2B5EF4-FFF2-40B4-BE49-F238E27FC236}">
                <a16:creationId xmlns:a16="http://schemas.microsoft.com/office/drawing/2014/main" id="{CB2143FE-ED69-1931-F081-9E79D9F79B57}"/>
              </a:ext>
            </a:extLst>
          </p:cNvPr>
          <p:cNvSpPr/>
          <p:nvPr/>
        </p:nvSpPr>
        <p:spPr>
          <a:xfrm>
            <a:off x="3547017" y="5556989"/>
            <a:ext cx="3922056" cy="323984"/>
          </a:xfrm>
          <a:prstGeom prst="rect">
            <a:avLst/>
          </a:prstGeom>
          <a:noFill/>
          <a:ln/>
        </p:spPr>
        <p:txBody>
          <a:bodyPr wrap="square" lIns="90000" tIns="0" rIns="0" bIns="0" rtlCol="0" anchor="b"/>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Insurance: 16%</a:t>
            </a:r>
            <a:endParaRPr kumimoji="0" lang="en-US" sz="40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grpSp>
        <p:nvGrpSpPr>
          <p:cNvPr id="138" name="Graphic 1100">
            <a:extLst>
              <a:ext uri="{FF2B5EF4-FFF2-40B4-BE49-F238E27FC236}">
                <a16:creationId xmlns:a16="http://schemas.microsoft.com/office/drawing/2014/main" id="{13DB528D-4BA4-B473-2DA3-ADE83545B4EB}"/>
              </a:ext>
            </a:extLst>
          </p:cNvPr>
          <p:cNvGrpSpPr/>
          <p:nvPr/>
        </p:nvGrpSpPr>
        <p:grpSpPr>
          <a:xfrm>
            <a:off x="584015" y="5732591"/>
            <a:ext cx="630000" cy="630000"/>
            <a:chOff x="467104" y="2375167"/>
            <a:chExt cx="362309" cy="362610"/>
          </a:xfrm>
          <a:solidFill>
            <a:schemeClr val="bg1"/>
          </a:solidFill>
        </p:grpSpPr>
        <p:sp>
          <p:nvSpPr>
            <p:cNvPr id="139" name="Graphic 1100">
              <a:extLst>
                <a:ext uri="{FF2B5EF4-FFF2-40B4-BE49-F238E27FC236}">
                  <a16:creationId xmlns:a16="http://schemas.microsoft.com/office/drawing/2014/main" id="{6D7F7867-2B6C-B010-F1E0-4958345296CB}"/>
                </a:ext>
              </a:extLst>
            </p:cNvPr>
            <p:cNvSpPr/>
            <p:nvPr/>
          </p:nvSpPr>
          <p:spPr>
            <a:xfrm>
              <a:off x="467104" y="2375167"/>
              <a:ext cx="362309" cy="36261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raphic 1100">
              <a:extLst>
                <a:ext uri="{FF2B5EF4-FFF2-40B4-BE49-F238E27FC236}">
                  <a16:creationId xmlns:a16="http://schemas.microsoft.com/office/drawing/2014/main" id="{97A06CE6-AED4-650B-8F9E-984243865BAB}"/>
                </a:ext>
              </a:extLst>
            </p:cNvPr>
            <p:cNvSpPr/>
            <p:nvPr/>
          </p:nvSpPr>
          <p:spPr>
            <a:xfrm>
              <a:off x="548895" y="2431346"/>
              <a:ext cx="198727" cy="250251"/>
            </a:xfrm>
            <a:custGeom>
              <a:avLst/>
              <a:gdLst>
                <a:gd name="connsiteX0" fmla="*/ 99683 w 198727"/>
                <a:gd name="connsiteY0" fmla="*/ 0 h 250251"/>
                <a:gd name="connsiteX1" fmla="*/ 0 w 198727"/>
                <a:gd name="connsiteY1" fmla="*/ 99590 h 250251"/>
                <a:gd name="connsiteX2" fmla="*/ 0 w 198727"/>
                <a:gd name="connsiteY2" fmla="*/ 171729 h 250251"/>
                <a:gd name="connsiteX3" fmla="*/ 19170 w 198727"/>
                <a:gd name="connsiteY3" fmla="*/ 190881 h 250251"/>
                <a:gd name="connsiteX4" fmla="*/ 27477 w 198727"/>
                <a:gd name="connsiteY4" fmla="*/ 190881 h 250251"/>
                <a:gd name="connsiteX5" fmla="*/ 46647 w 198727"/>
                <a:gd name="connsiteY5" fmla="*/ 171729 h 250251"/>
                <a:gd name="connsiteX6" fmla="*/ 46647 w 198727"/>
                <a:gd name="connsiteY6" fmla="*/ 112358 h 250251"/>
                <a:gd name="connsiteX7" fmla="*/ 27477 w 198727"/>
                <a:gd name="connsiteY7" fmla="*/ 93206 h 250251"/>
                <a:gd name="connsiteX8" fmla="*/ 19170 w 198727"/>
                <a:gd name="connsiteY8" fmla="*/ 93206 h 250251"/>
                <a:gd name="connsiteX9" fmla="*/ 12780 w 198727"/>
                <a:gd name="connsiteY9" fmla="*/ 94483 h 250251"/>
                <a:gd name="connsiteX10" fmla="*/ 104795 w 198727"/>
                <a:gd name="connsiteY10" fmla="*/ 13406 h 250251"/>
                <a:gd name="connsiteX11" fmla="*/ 185947 w 198727"/>
                <a:gd name="connsiteY11" fmla="*/ 94483 h 250251"/>
                <a:gd name="connsiteX12" fmla="*/ 179557 w 198727"/>
                <a:gd name="connsiteY12" fmla="*/ 93206 h 250251"/>
                <a:gd name="connsiteX13" fmla="*/ 171250 w 198727"/>
                <a:gd name="connsiteY13" fmla="*/ 93206 h 250251"/>
                <a:gd name="connsiteX14" fmla="*/ 152080 w 198727"/>
                <a:gd name="connsiteY14" fmla="*/ 112358 h 250251"/>
                <a:gd name="connsiteX15" fmla="*/ 152080 w 198727"/>
                <a:gd name="connsiteY15" fmla="*/ 171729 h 250251"/>
                <a:gd name="connsiteX16" fmla="*/ 171250 w 198727"/>
                <a:gd name="connsiteY16" fmla="*/ 190881 h 250251"/>
                <a:gd name="connsiteX17" fmla="*/ 179557 w 198727"/>
                <a:gd name="connsiteY17" fmla="*/ 190881 h 250251"/>
                <a:gd name="connsiteX18" fmla="*/ 184669 w 198727"/>
                <a:gd name="connsiteY18" fmla="*/ 190243 h 250251"/>
                <a:gd name="connsiteX19" fmla="*/ 123326 w 198727"/>
                <a:gd name="connsiteY19" fmla="*/ 236207 h 250251"/>
                <a:gd name="connsiteX20" fmla="*/ 99044 w 198727"/>
                <a:gd name="connsiteY20" fmla="*/ 227270 h 250251"/>
                <a:gd name="connsiteX21" fmla="*/ 74123 w 198727"/>
                <a:gd name="connsiteY21" fmla="*/ 238761 h 250251"/>
                <a:gd name="connsiteX22" fmla="*/ 99044 w 198727"/>
                <a:gd name="connsiteY22" fmla="*/ 250252 h 250251"/>
                <a:gd name="connsiteX23" fmla="*/ 102878 w 198727"/>
                <a:gd name="connsiteY23" fmla="*/ 250252 h 250251"/>
                <a:gd name="connsiteX24" fmla="*/ 198727 w 198727"/>
                <a:gd name="connsiteY24" fmla="*/ 176198 h 250251"/>
                <a:gd name="connsiteX25" fmla="*/ 198727 w 198727"/>
                <a:gd name="connsiteY25" fmla="*/ 99590 h 250251"/>
                <a:gd name="connsiteX26" fmla="*/ 99683 w 198727"/>
                <a:gd name="connsiteY26" fmla="*/ 0 h 250251"/>
                <a:gd name="connsiteX27" fmla="*/ 19170 w 198727"/>
                <a:gd name="connsiteY27" fmla="*/ 105336 h 250251"/>
                <a:gd name="connsiteX28" fmla="*/ 27477 w 198727"/>
                <a:gd name="connsiteY28" fmla="*/ 105336 h 250251"/>
                <a:gd name="connsiteX29" fmla="*/ 33867 w 198727"/>
                <a:gd name="connsiteY29" fmla="*/ 111720 h 250251"/>
                <a:gd name="connsiteX30" fmla="*/ 33867 w 198727"/>
                <a:gd name="connsiteY30" fmla="*/ 171091 h 250251"/>
                <a:gd name="connsiteX31" fmla="*/ 27477 w 198727"/>
                <a:gd name="connsiteY31" fmla="*/ 177475 h 250251"/>
                <a:gd name="connsiteX32" fmla="*/ 19170 w 198727"/>
                <a:gd name="connsiteY32" fmla="*/ 177475 h 250251"/>
                <a:gd name="connsiteX33" fmla="*/ 12780 w 198727"/>
                <a:gd name="connsiteY33" fmla="*/ 171091 h 250251"/>
                <a:gd name="connsiteX34" fmla="*/ 12780 w 198727"/>
                <a:gd name="connsiteY34" fmla="*/ 111720 h 250251"/>
                <a:gd name="connsiteX35" fmla="*/ 19170 w 198727"/>
                <a:gd name="connsiteY35" fmla="*/ 105336 h 250251"/>
                <a:gd name="connsiteX36" fmla="*/ 186586 w 198727"/>
                <a:gd name="connsiteY36" fmla="*/ 124488 h 250251"/>
                <a:gd name="connsiteX37" fmla="*/ 186586 w 198727"/>
                <a:gd name="connsiteY37" fmla="*/ 171091 h 250251"/>
                <a:gd name="connsiteX38" fmla="*/ 180196 w 198727"/>
                <a:gd name="connsiteY38" fmla="*/ 177475 h 250251"/>
                <a:gd name="connsiteX39" fmla="*/ 171889 w 198727"/>
                <a:gd name="connsiteY39" fmla="*/ 177475 h 250251"/>
                <a:gd name="connsiteX40" fmla="*/ 165499 w 198727"/>
                <a:gd name="connsiteY40" fmla="*/ 171091 h 250251"/>
                <a:gd name="connsiteX41" fmla="*/ 165499 w 198727"/>
                <a:gd name="connsiteY41" fmla="*/ 111720 h 250251"/>
                <a:gd name="connsiteX42" fmla="*/ 171889 w 198727"/>
                <a:gd name="connsiteY42" fmla="*/ 105336 h 250251"/>
                <a:gd name="connsiteX43" fmla="*/ 180196 w 198727"/>
                <a:gd name="connsiteY43" fmla="*/ 105336 h 250251"/>
                <a:gd name="connsiteX44" fmla="*/ 186586 w 198727"/>
                <a:gd name="connsiteY44" fmla="*/ 111720 h 250251"/>
                <a:gd name="connsiteX45" fmla="*/ 186586 w 198727"/>
                <a:gd name="connsiteY45" fmla="*/ 124488 h 2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8727" h="250251">
                  <a:moveTo>
                    <a:pt x="99683" y="0"/>
                  </a:moveTo>
                  <a:cubicBezTo>
                    <a:pt x="44730" y="0"/>
                    <a:pt x="0" y="44688"/>
                    <a:pt x="0" y="99590"/>
                  </a:cubicBezTo>
                  <a:lnTo>
                    <a:pt x="0" y="171729"/>
                  </a:lnTo>
                  <a:cubicBezTo>
                    <a:pt x="0" y="182582"/>
                    <a:pt x="8307" y="190881"/>
                    <a:pt x="19170" y="190881"/>
                  </a:cubicBezTo>
                  <a:lnTo>
                    <a:pt x="27477" y="190881"/>
                  </a:lnTo>
                  <a:cubicBezTo>
                    <a:pt x="38340" y="190881"/>
                    <a:pt x="46647" y="182582"/>
                    <a:pt x="46647" y="171729"/>
                  </a:cubicBezTo>
                  <a:lnTo>
                    <a:pt x="46647" y="112358"/>
                  </a:lnTo>
                  <a:cubicBezTo>
                    <a:pt x="46647" y="101505"/>
                    <a:pt x="38340" y="93206"/>
                    <a:pt x="27477" y="93206"/>
                  </a:cubicBezTo>
                  <a:lnTo>
                    <a:pt x="19170" y="93206"/>
                  </a:lnTo>
                  <a:cubicBezTo>
                    <a:pt x="17253" y="93206"/>
                    <a:pt x="14697" y="93844"/>
                    <a:pt x="12780" y="94483"/>
                  </a:cubicBezTo>
                  <a:cubicBezTo>
                    <a:pt x="15975" y="46603"/>
                    <a:pt x="56870" y="10214"/>
                    <a:pt x="104795" y="13406"/>
                  </a:cubicBezTo>
                  <a:cubicBezTo>
                    <a:pt x="148886" y="15960"/>
                    <a:pt x="183391" y="51072"/>
                    <a:pt x="185947" y="94483"/>
                  </a:cubicBezTo>
                  <a:cubicBezTo>
                    <a:pt x="184030" y="93844"/>
                    <a:pt x="181474" y="93206"/>
                    <a:pt x="179557" y="93206"/>
                  </a:cubicBezTo>
                  <a:lnTo>
                    <a:pt x="171250" y="93206"/>
                  </a:lnTo>
                  <a:cubicBezTo>
                    <a:pt x="160387" y="93206"/>
                    <a:pt x="152080" y="101505"/>
                    <a:pt x="152080" y="112358"/>
                  </a:cubicBezTo>
                  <a:lnTo>
                    <a:pt x="152080" y="171729"/>
                  </a:lnTo>
                  <a:cubicBezTo>
                    <a:pt x="152080" y="182582"/>
                    <a:pt x="160387" y="190881"/>
                    <a:pt x="171250" y="190881"/>
                  </a:cubicBezTo>
                  <a:lnTo>
                    <a:pt x="179557" y="190881"/>
                  </a:lnTo>
                  <a:cubicBezTo>
                    <a:pt x="181474" y="190881"/>
                    <a:pt x="182752" y="190881"/>
                    <a:pt x="184669" y="190243"/>
                  </a:cubicBezTo>
                  <a:cubicBezTo>
                    <a:pt x="178279" y="220247"/>
                    <a:pt x="152080" y="232377"/>
                    <a:pt x="123326" y="236207"/>
                  </a:cubicBezTo>
                  <a:cubicBezTo>
                    <a:pt x="120770" y="228546"/>
                    <a:pt x="106073" y="227270"/>
                    <a:pt x="99044" y="227270"/>
                  </a:cubicBezTo>
                  <a:cubicBezTo>
                    <a:pt x="92015" y="227270"/>
                    <a:pt x="74123" y="228546"/>
                    <a:pt x="74123" y="238761"/>
                  </a:cubicBezTo>
                  <a:cubicBezTo>
                    <a:pt x="74123" y="248975"/>
                    <a:pt x="91376" y="250252"/>
                    <a:pt x="99044" y="250252"/>
                  </a:cubicBezTo>
                  <a:lnTo>
                    <a:pt x="102878" y="250252"/>
                  </a:lnTo>
                  <a:cubicBezTo>
                    <a:pt x="164860" y="248975"/>
                    <a:pt x="198727" y="222801"/>
                    <a:pt x="198727" y="176198"/>
                  </a:cubicBezTo>
                  <a:lnTo>
                    <a:pt x="198727" y="99590"/>
                  </a:lnTo>
                  <a:cubicBezTo>
                    <a:pt x="198727" y="44688"/>
                    <a:pt x="153997" y="0"/>
                    <a:pt x="99683" y="0"/>
                  </a:cubicBezTo>
                  <a:close/>
                  <a:moveTo>
                    <a:pt x="19170" y="105336"/>
                  </a:moveTo>
                  <a:lnTo>
                    <a:pt x="27477" y="105336"/>
                  </a:lnTo>
                  <a:cubicBezTo>
                    <a:pt x="31311" y="105336"/>
                    <a:pt x="33867" y="107889"/>
                    <a:pt x="33867" y="111720"/>
                  </a:cubicBezTo>
                  <a:lnTo>
                    <a:pt x="33867" y="171091"/>
                  </a:lnTo>
                  <a:cubicBezTo>
                    <a:pt x="33867" y="174921"/>
                    <a:pt x="31311" y="177475"/>
                    <a:pt x="27477" y="177475"/>
                  </a:cubicBezTo>
                  <a:lnTo>
                    <a:pt x="19170" y="177475"/>
                  </a:lnTo>
                  <a:cubicBezTo>
                    <a:pt x="15336" y="177475"/>
                    <a:pt x="12780" y="174921"/>
                    <a:pt x="12780" y="171091"/>
                  </a:cubicBezTo>
                  <a:lnTo>
                    <a:pt x="12780" y="111720"/>
                  </a:lnTo>
                  <a:cubicBezTo>
                    <a:pt x="12780" y="108528"/>
                    <a:pt x="15336" y="105336"/>
                    <a:pt x="19170" y="105336"/>
                  </a:cubicBezTo>
                  <a:close/>
                  <a:moveTo>
                    <a:pt x="186586" y="124488"/>
                  </a:moveTo>
                  <a:lnTo>
                    <a:pt x="186586" y="171091"/>
                  </a:lnTo>
                  <a:cubicBezTo>
                    <a:pt x="186586" y="174921"/>
                    <a:pt x="184030" y="177475"/>
                    <a:pt x="180196" y="177475"/>
                  </a:cubicBezTo>
                  <a:lnTo>
                    <a:pt x="171889" y="177475"/>
                  </a:lnTo>
                  <a:cubicBezTo>
                    <a:pt x="168055" y="177475"/>
                    <a:pt x="165499" y="174921"/>
                    <a:pt x="165499" y="171091"/>
                  </a:cubicBezTo>
                  <a:lnTo>
                    <a:pt x="165499" y="111720"/>
                  </a:lnTo>
                  <a:cubicBezTo>
                    <a:pt x="165499" y="107889"/>
                    <a:pt x="168055" y="105336"/>
                    <a:pt x="171889" y="105336"/>
                  </a:cubicBezTo>
                  <a:lnTo>
                    <a:pt x="180196" y="105336"/>
                  </a:lnTo>
                  <a:cubicBezTo>
                    <a:pt x="184030" y="105336"/>
                    <a:pt x="186586" y="107889"/>
                    <a:pt x="186586" y="111720"/>
                  </a:cubicBezTo>
                  <a:lnTo>
                    <a:pt x="186586" y="12448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4" name="TextBox 143">
            <a:extLst>
              <a:ext uri="{FF2B5EF4-FFF2-40B4-BE49-F238E27FC236}">
                <a16:creationId xmlns:a16="http://schemas.microsoft.com/office/drawing/2014/main" id="{B3A021CD-29BB-C180-7834-B7A77A2DFDCB}"/>
              </a:ext>
            </a:extLst>
          </p:cNvPr>
          <p:cNvSpPr txBox="1"/>
          <p:nvPr/>
        </p:nvSpPr>
        <p:spPr>
          <a:xfrm>
            <a:off x="3547017" y="5794610"/>
            <a:ext cx="381705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3rd-ranked: automotive &amp; broker partners</a:t>
            </a:r>
          </a:p>
        </p:txBody>
      </p:sp>
      <p:sp>
        <p:nvSpPr>
          <p:cNvPr id="151" name="TextBox 150">
            <a:extLst>
              <a:ext uri="{FF2B5EF4-FFF2-40B4-BE49-F238E27FC236}">
                <a16:creationId xmlns:a16="http://schemas.microsoft.com/office/drawing/2014/main" id="{E2920B90-6F8F-A5CE-DA09-0FD21835D1B8}"/>
              </a:ext>
            </a:extLst>
          </p:cNvPr>
          <p:cNvSpPr txBox="1"/>
          <p:nvPr/>
        </p:nvSpPr>
        <p:spPr>
          <a:xfrm>
            <a:off x="7463302" y="5794610"/>
            <a:ext cx="45864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3rd-ranked: dealers &amp; indirect lending partners</a:t>
            </a:r>
          </a:p>
        </p:txBody>
      </p:sp>
      <p:sp>
        <p:nvSpPr>
          <p:cNvPr id="154" name="Text 33">
            <a:extLst>
              <a:ext uri="{FF2B5EF4-FFF2-40B4-BE49-F238E27FC236}">
                <a16:creationId xmlns:a16="http://schemas.microsoft.com/office/drawing/2014/main" id="{CB26C02C-2447-C08B-9655-5E164FD14D42}"/>
              </a:ext>
            </a:extLst>
          </p:cNvPr>
          <p:cNvSpPr/>
          <p:nvPr/>
        </p:nvSpPr>
        <p:spPr>
          <a:xfrm>
            <a:off x="7463302" y="5556989"/>
            <a:ext cx="3922056" cy="323984"/>
          </a:xfrm>
          <a:prstGeom prst="rect">
            <a:avLst/>
          </a:prstGeom>
          <a:noFill/>
          <a:ln/>
        </p:spPr>
        <p:txBody>
          <a:bodyPr wrap="square" lIns="90000" tIns="0" rIns="0" bIns="0" rtlCol="0" anchor="b"/>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Banking: 20%</a:t>
            </a:r>
            <a:endParaRPr kumimoji="0" lang="en-US" sz="2800" b="0" i="0" u="none" strike="noStrike" kern="0" cap="none" spc="0" normalizeH="0" baseline="0" noProof="0" dirty="0">
              <a:ln>
                <a:noFill/>
              </a:ln>
              <a:solidFill>
                <a:srgbClr val="4EA72E"/>
              </a:solidFill>
              <a:effectLst/>
              <a:uLnTx/>
              <a:uFillTx/>
              <a:latin typeface="Segoe UI" panose="020B0502040204020203" pitchFamily="34" charset="0"/>
              <a:cs typeface="Segoe UI" panose="020B0502040204020203" pitchFamily="34" charset="0"/>
              <a:sym typeface="Arial"/>
            </a:endParaRPr>
          </a:p>
        </p:txBody>
      </p:sp>
      <p:sp>
        <p:nvSpPr>
          <p:cNvPr id="172" name="TextBox 171">
            <a:extLst>
              <a:ext uri="{FF2B5EF4-FFF2-40B4-BE49-F238E27FC236}">
                <a16:creationId xmlns:a16="http://schemas.microsoft.com/office/drawing/2014/main" id="{2D8A6CCD-27D1-8CD9-89E2-0693EB8285B5}"/>
              </a:ext>
            </a:extLst>
          </p:cNvPr>
          <p:cNvSpPr txBox="1"/>
          <p:nvPr/>
        </p:nvSpPr>
        <p:spPr>
          <a:xfrm>
            <a:off x="3249166" y="6086768"/>
            <a:ext cx="8512634" cy="646331"/>
          </a:xfrm>
          <a:prstGeom prst="rect">
            <a:avLst/>
          </a:prstGeom>
          <a:solidFill>
            <a:schemeClr val="bg1"/>
          </a:solidFill>
          <a:ln w="28575">
            <a:solidFill>
              <a:schemeClr val="accent1"/>
            </a:solidFill>
          </a:ln>
        </p:spPr>
        <p:txBody>
          <a:bodyPr wrap="square">
            <a:spAutoFit/>
          </a:bodyPr>
          <a:lstStyle/>
          <a:p>
            <a:pPr marL="0" marR="0" lvl="0" indent="0" algn="ctr" defTabSz="914400" rtl="0" eaLnBrk="1" fontAlgn="t"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rPr>
              <a:t>Insurance's risk drops off sharply outside health care providers, reinforcing how concentrated its exposure really is. Banking's risk declines only gradually — fintech, commercial clients, and dealers each carry meaningful weight, so no single relationship is the whole story.</a:t>
            </a:r>
          </a:p>
        </p:txBody>
      </p:sp>
      <p:sp>
        <p:nvSpPr>
          <p:cNvPr id="215" name="Cross 214">
            <a:extLst>
              <a:ext uri="{FF2B5EF4-FFF2-40B4-BE49-F238E27FC236}">
                <a16:creationId xmlns:a16="http://schemas.microsoft.com/office/drawing/2014/main" id="{8CE99000-901D-488D-7133-EE48B384BE25}"/>
              </a:ext>
            </a:extLst>
          </p:cNvPr>
          <p:cNvSpPr/>
          <p:nvPr/>
        </p:nvSpPr>
        <p:spPr>
          <a:xfrm>
            <a:off x="5822892" y="3446554"/>
            <a:ext cx="427490" cy="459199"/>
          </a:xfrm>
          <a:prstGeom prst="plus">
            <a:avLst>
              <a:gd name="adj" fmla="val 3683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a:ln>
                <a:noFill/>
              </a:ln>
              <a:solidFill>
                <a:srgbClr val="FFFFFF"/>
              </a:solidFill>
              <a:effectLst/>
              <a:uLnTx/>
              <a:uFillTx/>
              <a:latin typeface="Arial"/>
              <a:ea typeface="+mn-ea"/>
              <a:cs typeface="+mn-cs"/>
              <a:sym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a:extLst>
              <a:ext uri="{FF2B5EF4-FFF2-40B4-BE49-F238E27FC236}">
                <a16:creationId xmlns:a16="http://schemas.microsoft.com/office/drawing/2014/main" id="{39C03118-E7DB-ADF1-D4CB-7321CF52B7EC}"/>
              </a:ext>
            </a:extLst>
          </p:cNvPr>
          <p:cNvSpPr/>
          <p:nvPr/>
        </p:nvSpPr>
        <p:spPr>
          <a:xfrm>
            <a:off x="4000041" y="365456"/>
            <a:ext cx="8191055" cy="6127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3" name="Rectangle 152">
            <a:extLst>
              <a:ext uri="{FF2B5EF4-FFF2-40B4-BE49-F238E27FC236}">
                <a16:creationId xmlns:a16="http://schemas.microsoft.com/office/drawing/2014/main" id="{C36A8106-5332-337E-3703-DB45D0AE18BB}"/>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THIRD-PARTY FRAUD RISK</a:t>
            </a:r>
          </a:p>
        </p:txBody>
      </p:sp>
      <p:sp>
        <p:nvSpPr>
          <p:cNvPr id="2" name="Rectangle 1">
            <a:extLst>
              <a:ext uri="{FF2B5EF4-FFF2-40B4-BE49-F238E27FC236}">
                <a16:creationId xmlns:a16="http://schemas.microsoft.com/office/drawing/2014/main" id="{3A9F9E70-1C57-13CB-294C-34B7FA34982A}"/>
              </a:ext>
            </a:extLst>
          </p:cNvPr>
          <p:cNvSpPr/>
          <p:nvPr/>
        </p:nvSpPr>
        <p:spPr>
          <a:xfrm>
            <a:off x="4000944" y="365456"/>
            <a:ext cx="8191055" cy="15165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5760" tIns="182880" rIns="36576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endParaRPr kumimoji="0" lang="en-US" sz="14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8" name="TextBox 7">
            <a:extLst>
              <a:ext uri="{FF2B5EF4-FFF2-40B4-BE49-F238E27FC236}">
                <a16:creationId xmlns:a16="http://schemas.microsoft.com/office/drawing/2014/main" id="{70238CC7-E07C-5F81-753F-65D65177F70E}"/>
              </a:ext>
            </a:extLst>
          </p:cNvPr>
          <p:cNvSpPr txBox="1"/>
          <p:nvPr/>
        </p:nvSpPr>
        <p:spPr>
          <a:xfrm>
            <a:off x="8198696" y="355729"/>
            <a:ext cx="3992400" cy="6492543"/>
          </a:xfrm>
          <a:prstGeom prst="rect">
            <a:avLst/>
          </a:prstGeom>
          <a:solidFill>
            <a:schemeClr val="accent2"/>
          </a:solidFill>
          <a:ln>
            <a:noFill/>
          </a:ln>
        </p:spPr>
        <p:txBody>
          <a:bodyPr wrap="square" lIns="274320" tIns="548640" rIns="274320" anchor="ctr">
            <a:noAutofit/>
          </a:bodyPr>
          <a:lstStyle/>
          <a:p>
            <a:pPr marL="0" marR="0" lvl="0" indent="0" algn="l" defTabSz="914400" rtl="0" eaLnBrk="1" fontAlgn="t" latinLnBrk="0" hangingPunct="1">
              <a:lnSpc>
                <a:spcPct val="110000"/>
              </a:lnSpc>
              <a:spcBef>
                <a:spcPts val="0"/>
              </a:spcBef>
              <a:spcAft>
                <a:spcPts val="1300"/>
              </a:spcAft>
              <a:buClr>
                <a:srgbClr val="000000"/>
              </a:buClr>
              <a:buSzTx/>
              <a:buFont typeface="Arial"/>
              <a:buNone/>
              <a:tabLst/>
              <a:defRPr/>
            </a:pPr>
            <a:r>
              <a:rPr kumimoji="0" lang="en-CA" sz="1400" b="0" i="1" u="none" strike="noStrike" kern="0" cap="none" spc="0" normalizeH="0" baseline="0" noProof="0" dirty="0">
                <a:ln>
                  <a:noFill/>
                </a:ln>
                <a:solidFill>
                  <a:srgbClr val="FFFFFF"/>
                </a:solidFill>
                <a:effectLst/>
                <a:uLnTx/>
                <a:uFillTx/>
                <a:latin typeface="Arial"/>
                <a:cs typeface="Arial"/>
                <a:sym typeface="Arial"/>
              </a:rPr>
              <a:t>Banking leans hardest on </a:t>
            </a:r>
            <a:r>
              <a:rPr kumimoji="0" lang="en-CA" sz="1400" b="1" i="1" u="none" strike="noStrike" kern="0" cap="none" spc="0" normalizeH="0" baseline="0" noProof="0" dirty="0">
                <a:ln>
                  <a:noFill/>
                </a:ln>
                <a:solidFill>
                  <a:srgbClr val="FFFFFF"/>
                </a:solidFill>
                <a:effectLst/>
                <a:uLnTx/>
                <a:uFillTx/>
                <a:latin typeface="Arial"/>
                <a:cs typeface="Arial"/>
                <a:sym typeface="Arial"/>
              </a:rPr>
              <a:t>information sharing</a:t>
            </a:r>
            <a:r>
              <a:rPr kumimoji="0" lang="en-CA" sz="1400" b="0" i="1" u="none" strike="noStrike" kern="0" cap="none" spc="0" normalizeH="0" baseline="0" noProof="0" dirty="0">
                <a:ln>
                  <a:noFill/>
                </a:ln>
                <a:solidFill>
                  <a:srgbClr val="FFFFFF"/>
                </a:solidFill>
                <a:effectLst/>
                <a:uLnTx/>
                <a:uFillTx/>
                <a:latin typeface="Arial"/>
                <a:cs typeface="Arial"/>
                <a:sym typeface="Arial"/>
              </a:rPr>
              <a:t> (33%). Insurance ranks it last of all four levers — behind </a:t>
            </a:r>
            <a:r>
              <a:rPr kumimoji="0" lang="en-CA" sz="1600" b="0" i="1" u="none" strike="noStrike" kern="0" cap="none" spc="0" normalizeH="0" baseline="0" noProof="0" dirty="0">
                <a:ln>
                  <a:noFill/>
                </a:ln>
                <a:solidFill>
                  <a:srgbClr val="FFFFFF"/>
                </a:solidFill>
                <a:effectLst/>
                <a:uLnTx/>
                <a:uFillTx/>
                <a:latin typeface="Arial"/>
                <a:cs typeface="Arial"/>
                <a:sym typeface="Arial"/>
              </a:rPr>
              <a:t>monitoring (32%), onboarding (24%), and oversight (24%).</a:t>
            </a:r>
            <a:br>
              <a:rPr kumimoji="0" lang="en-CA" sz="1600" b="0" i="1" u="none" strike="noStrike" kern="0" cap="none" spc="0" normalizeH="0" baseline="0" noProof="0" dirty="0">
                <a:ln>
                  <a:noFill/>
                </a:ln>
                <a:solidFill>
                  <a:srgbClr val="FFFFFF"/>
                </a:solidFill>
                <a:effectLst/>
                <a:uLnTx/>
                <a:uFillTx/>
                <a:latin typeface="Arial"/>
                <a:cs typeface="Arial"/>
                <a:sym typeface="Arial"/>
              </a:rPr>
            </a:br>
            <a:br>
              <a:rPr kumimoji="0" lang="en-CA" sz="1600" b="0" i="1" u="none" strike="noStrike" kern="0" cap="none" spc="0" normalizeH="0" baseline="0" noProof="0" dirty="0">
                <a:ln>
                  <a:noFill/>
                </a:ln>
                <a:solidFill>
                  <a:srgbClr val="FFFFFF"/>
                </a:solidFill>
                <a:effectLst/>
                <a:uLnTx/>
                <a:uFillTx/>
                <a:latin typeface="Arial"/>
                <a:cs typeface="Arial"/>
                <a:sym typeface="Arial"/>
              </a:rPr>
            </a:br>
            <a:r>
              <a:rPr kumimoji="0" lang="en-CA" sz="1800" b="1" i="1" u="none" strike="noStrike" kern="0" cap="none" spc="0" normalizeH="0" baseline="0" noProof="0" dirty="0">
                <a:ln>
                  <a:noFill/>
                </a:ln>
                <a:solidFill>
                  <a:srgbClr val="86BC25"/>
                </a:solidFill>
                <a:effectLst/>
                <a:uLnTx/>
                <a:uFillTx/>
                <a:latin typeface="Arial"/>
                <a:cs typeface="Arial"/>
                <a:sym typeface="Arial"/>
              </a:rPr>
              <a:t>No sector treats onboarding verification as its top lever.</a:t>
            </a:r>
            <a:endParaRPr kumimoji="0" lang="en-CA" sz="1800" b="1" i="1" u="none" strike="noStrike" kern="0" cap="none" spc="0" normalizeH="0" baseline="0" noProof="0" dirty="0">
              <a:ln>
                <a:noFill/>
              </a:ln>
              <a:solidFill>
                <a:srgbClr val="86BC25"/>
              </a:solidFill>
              <a:effectLst/>
              <a:uLnTx/>
              <a:uFillTx/>
              <a:latin typeface="Segoe UI" panose="020B0502040204020203" pitchFamily="34" charset="0"/>
              <a:cs typeface="Arial"/>
              <a:sym typeface="Arial"/>
            </a:endParaRPr>
          </a:p>
        </p:txBody>
      </p:sp>
      <p:sp>
        <p:nvSpPr>
          <p:cNvPr id="6" name="TextBox 5">
            <a:extLst>
              <a:ext uri="{FF2B5EF4-FFF2-40B4-BE49-F238E27FC236}">
                <a16:creationId xmlns:a16="http://schemas.microsoft.com/office/drawing/2014/main" id="{224E2A91-5F7E-21E9-FC5B-510FD4ADBDC1}"/>
              </a:ext>
            </a:extLst>
          </p:cNvPr>
          <p:cNvSpPr txBox="1"/>
          <p:nvPr/>
        </p:nvSpPr>
        <p:spPr>
          <a:xfrm>
            <a:off x="364323" y="624507"/>
            <a:ext cx="7855226" cy="59093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No single fix dominates third-party risk. Respondents identified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as the leading </a:t>
            </a:r>
            <a:r>
              <a:rPr kumimoji="0" lang="en-US" sz="27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levers</a:t>
            </a:r>
            <a:r>
              <a:rPr kumimoji="0" lang="en-US" sz="27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 to reduce third-party risk, each selected by 19% to 30% of respondents.</a:t>
            </a:r>
          </a:p>
        </p:txBody>
      </p:sp>
      <p:grpSp>
        <p:nvGrpSpPr>
          <p:cNvPr id="54" name="Group 53">
            <a:extLst>
              <a:ext uri="{FF2B5EF4-FFF2-40B4-BE49-F238E27FC236}">
                <a16:creationId xmlns:a16="http://schemas.microsoft.com/office/drawing/2014/main" id="{8C252FFC-67C4-500B-5CC6-B725E292DF4A}"/>
              </a:ext>
            </a:extLst>
          </p:cNvPr>
          <p:cNvGrpSpPr/>
          <p:nvPr/>
        </p:nvGrpSpPr>
        <p:grpSpPr>
          <a:xfrm>
            <a:off x="1299576" y="2746590"/>
            <a:ext cx="6117224" cy="630000"/>
            <a:chOff x="1299576" y="3062831"/>
            <a:chExt cx="6117224" cy="630000"/>
          </a:xfrm>
        </p:grpSpPr>
        <p:sp>
          <p:nvSpPr>
            <p:cNvPr id="9" name="TextBox 8">
              <a:extLst>
                <a:ext uri="{FF2B5EF4-FFF2-40B4-BE49-F238E27FC236}">
                  <a16:creationId xmlns:a16="http://schemas.microsoft.com/office/drawing/2014/main" id="{658DAB7C-D0B7-1127-9251-8E31DB6DE550}"/>
                </a:ext>
              </a:extLst>
            </p:cNvPr>
            <p:cNvSpPr txBox="1"/>
            <p:nvPr/>
          </p:nvSpPr>
          <p:spPr>
            <a:xfrm>
              <a:off x="2081473" y="3100832"/>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Ongoing Monitoring</a:t>
              </a:r>
              <a:r>
                <a:rPr kumimoji="0" lang="en-US" sz="3000" b="1" i="0" u="none" strike="noStrike" kern="1200" cap="none" spc="0" normalizeH="0" baseline="0" noProof="0" dirty="0" err="1">
                  <a:ln>
                    <a:noFill/>
                  </a:ln>
                  <a:solidFill>
                    <a:srgbClr val="86BC25"/>
                  </a:solidFill>
                  <a:effectLst/>
                  <a:uLnTx/>
                  <a:uFillTx/>
                  <a:latin typeface="Segoe UI" panose="020B0502040204020203" pitchFamily="34" charset="0"/>
                  <a:ea typeface="+mn-ea"/>
                  <a:cs typeface="Segoe UI" panose="020B0502040204020203" pitchFamily="34" charset="0"/>
                  <a:sym typeface="Arial"/>
                </a:rPr>
                <a:t/>
              </a: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7" name="Graphic 4">
              <a:extLst>
                <a:ext uri="{FF2B5EF4-FFF2-40B4-BE49-F238E27FC236}">
                  <a16:creationId xmlns:a16="http://schemas.microsoft.com/office/drawing/2014/main" id="{513F206B-B2E7-858E-B26F-737BD89A2B1A}"/>
                </a:ext>
              </a:extLst>
            </p:cNvPr>
            <p:cNvGrpSpPr/>
            <p:nvPr/>
          </p:nvGrpSpPr>
          <p:grpSpPr>
            <a:xfrm>
              <a:off x="1299576" y="3062831"/>
              <a:ext cx="630000" cy="630000"/>
              <a:chOff x="3607758" y="918179"/>
              <a:chExt cx="362313" cy="361971"/>
            </a:xfrm>
            <a:solidFill>
              <a:schemeClr val="accent1"/>
            </a:solidFill>
          </p:grpSpPr>
          <p:sp>
            <p:nvSpPr>
              <p:cNvPr id="28" name="Graphic 4">
                <a:extLst>
                  <a:ext uri="{FF2B5EF4-FFF2-40B4-BE49-F238E27FC236}">
                    <a16:creationId xmlns:a16="http://schemas.microsoft.com/office/drawing/2014/main" id="{6D30F525-3A53-C116-464C-78A38C2685C5}"/>
                  </a:ext>
                </a:extLst>
              </p:cNvPr>
              <p:cNvSpPr/>
              <p:nvPr/>
            </p:nvSpPr>
            <p:spPr>
              <a:xfrm>
                <a:off x="3607758" y="918179"/>
                <a:ext cx="362313" cy="361971"/>
              </a:xfrm>
              <a:custGeom>
                <a:avLst/>
                <a:gdLst>
                  <a:gd name="connsiteX0" fmla="*/ 181474 w 362313"/>
                  <a:gd name="connsiteY0" fmla="*/ 0 h 361971"/>
                  <a:gd name="connsiteX1" fmla="*/ 0 w 362313"/>
                  <a:gd name="connsiteY1" fmla="*/ 180667 h 361971"/>
                  <a:gd name="connsiteX2" fmla="*/ 180836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181474 w 362313"/>
                  <a:gd name="connsiteY7" fmla="*/ 349204 h 361971"/>
                  <a:gd name="connsiteX8" fmla="*/ 12780 w 362313"/>
                  <a:gd name="connsiteY8" fmla="*/ 181305 h 361971"/>
                  <a:gd name="connsiteX9" fmla="*/ 180836 w 362313"/>
                  <a:gd name="connsiteY9" fmla="*/ 12768 h 361971"/>
                  <a:gd name="connsiteX10" fmla="*/ 349530 w 362313"/>
                  <a:gd name="connsiteY10" fmla="*/ 180667 h 361971"/>
                  <a:gd name="connsiteX11" fmla="*/ 349530 w 362313"/>
                  <a:gd name="connsiteY11" fmla="*/ 180667 h 361971"/>
                  <a:gd name="connsiteX12" fmla="*/ 181474 w 362313"/>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3" h="361971">
                    <a:moveTo>
                      <a:pt x="181474" y="0"/>
                    </a:moveTo>
                    <a:cubicBezTo>
                      <a:pt x="81152" y="0"/>
                      <a:pt x="0" y="81077"/>
                      <a:pt x="0" y="180667"/>
                    </a:cubicBezTo>
                    <a:cubicBezTo>
                      <a:pt x="0" y="280257"/>
                      <a:pt x="81152" y="361972"/>
                      <a:pt x="180836" y="361972"/>
                    </a:cubicBezTo>
                    <a:cubicBezTo>
                      <a:pt x="280518" y="361972"/>
                      <a:pt x="362310" y="280895"/>
                      <a:pt x="362310" y="181305"/>
                    </a:cubicBezTo>
                    <a:lnTo>
                      <a:pt x="362310" y="181305"/>
                    </a:lnTo>
                    <a:cubicBezTo>
                      <a:pt x="362949" y="81077"/>
                      <a:pt x="281796" y="0"/>
                      <a:pt x="181474" y="0"/>
                    </a:cubicBezTo>
                    <a:cubicBezTo>
                      <a:pt x="181474" y="0"/>
                      <a:pt x="181474" y="0"/>
                      <a:pt x="181474" y="0"/>
                    </a:cubicBezTo>
                    <a:close/>
                    <a:moveTo>
                      <a:pt x="181474" y="349204"/>
                    </a:moveTo>
                    <a:cubicBezTo>
                      <a:pt x="88181" y="349204"/>
                      <a:pt x="12780" y="273873"/>
                      <a:pt x="12780" y="181305"/>
                    </a:cubicBezTo>
                    <a:cubicBezTo>
                      <a:pt x="12780" y="88737"/>
                      <a:pt x="88181" y="12768"/>
                      <a:pt x="180836" y="12768"/>
                    </a:cubicBezTo>
                    <a:cubicBezTo>
                      <a:pt x="274128" y="12768"/>
                      <a:pt x="349530" y="88099"/>
                      <a:pt x="349530" y="180667"/>
                    </a:cubicBezTo>
                    <a:lnTo>
                      <a:pt x="349530" y="180667"/>
                    </a:lnTo>
                    <a:cubicBezTo>
                      <a:pt x="349530" y="273873"/>
                      <a:pt x="274128"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raphic 4">
                <a:extLst>
                  <a:ext uri="{FF2B5EF4-FFF2-40B4-BE49-F238E27FC236}">
                    <a16:creationId xmlns:a16="http://schemas.microsoft.com/office/drawing/2014/main" id="{4D710F34-9B3A-163F-B59B-49A1B023F646}"/>
                  </a:ext>
                </a:extLst>
              </p:cNvPr>
              <p:cNvSpPr/>
              <p:nvPr/>
            </p:nvSpPr>
            <p:spPr>
              <a:xfrm>
                <a:off x="3680603" y="1045220"/>
                <a:ext cx="136744" cy="158961"/>
              </a:xfrm>
              <a:custGeom>
                <a:avLst/>
                <a:gdLst>
                  <a:gd name="connsiteX0" fmla="*/ 118853 w 136744"/>
                  <a:gd name="connsiteY0" fmla="*/ 82992 h 158961"/>
                  <a:gd name="connsiteX1" fmla="*/ 118853 w 136744"/>
                  <a:gd name="connsiteY1" fmla="*/ 63840 h 158961"/>
                  <a:gd name="connsiteX2" fmla="*/ 75401 w 136744"/>
                  <a:gd name="connsiteY2" fmla="*/ 14683 h 158961"/>
                  <a:gd name="connsiteX3" fmla="*/ 75401 w 136744"/>
                  <a:gd name="connsiteY3" fmla="*/ 6384 h 158961"/>
                  <a:gd name="connsiteX4" fmla="*/ 69011 w 136744"/>
                  <a:gd name="connsiteY4" fmla="*/ 0 h 158961"/>
                  <a:gd name="connsiteX5" fmla="*/ 62621 w 136744"/>
                  <a:gd name="connsiteY5" fmla="*/ 6384 h 158961"/>
                  <a:gd name="connsiteX6" fmla="*/ 62621 w 136744"/>
                  <a:gd name="connsiteY6" fmla="*/ 14683 h 158961"/>
                  <a:gd name="connsiteX7" fmla="*/ 19170 w 136744"/>
                  <a:gd name="connsiteY7" fmla="*/ 63840 h 158961"/>
                  <a:gd name="connsiteX8" fmla="*/ 19170 w 136744"/>
                  <a:gd name="connsiteY8" fmla="*/ 82992 h 158961"/>
                  <a:gd name="connsiteX9" fmla="*/ 1917 w 136744"/>
                  <a:gd name="connsiteY9" fmla="*/ 121296 h 158961"/>
                  <a:gd name="connsiteX10" fmla="*/ 0 w 136744"/>
                  <a:gd name="connsiteY10" fmla="*/ 125764 h 158961"/>
                  <a:gd name="connsiteX11" fmla="*/ 0 w 136744"/>
                  <a:gd name="connsiteY11" fmla="*/ 135340 h 158961"/>
                  <a:gd name="connsiteX12" fmla="*/ 6390 w 136744"/>
                  <a:gd name="connsiteY12" fmla="*/ 141724 h 158961"/>
                  <a:gd name="connsiteX13" fmla="*/ 47925 w 136744"/>
                  <a:gd name="connsiteY13" fmla="*/ 141724 h 158961"/>
                  <a:gd name="connsiteX14" fmla="*/ 47925 w 136744"/>
                  <a:gd name="connsiteY14" fmla="*/ 143001 h 158961"/>
                  <a:gd name="connsiteX15" fmla="*/ 68372 w 136744"/>
                  <a:gd name="connsiteY15" fmla="*/ 158961 h 158961"/>
                  <a:gd name="connsiteX16" fmla="*/ 88820 w 136744"/>
                  <a:gd name="connsiteY16" fmla="*/ 143001 h 158961"/>
                  <a:gd name="connsiteX17" fmla="*/ 88820 w 136744"/>
                  <a:gd name="connsiteY17" fmla="*/ 141724 h 158961"/>
                  <a:gd name="connsiteX18" fmla="*/ 130355 w 136744"/>
                  <a:gd name="connsiteY18" fmla="*/ 141724 h 158961"/>
                  <a:gd name="connsiteX19" fmla="*/ 136745 w 136744"/>
                  <a:gd name="connsiteY19" fmla="*/ 135340 h 158961"/>
                  <a:gd name="connsiteX20" fmla="*/ 136745 w 136744"/>
                  <a:gd name="connsiteY20" fmla="*/ 125764 h 158961"/>
                  <a:gd name="connsiteX21" fmla="*/ 134828 w 136744"/>
                  <a:gd name="connsiteY21" fmla="*/ 121296 h 158961"/>
                  <a:gd name="connsiteX22" fmla="*/ 118853 w 136744"/>
                  <a:gd name="connsiteY22" fmla="*/ 82992 h 158961"/>
                  <a:gd name="connsiteX23" fmla="*/ 77318 w 136744"/>
                  <a:gd name="connsiteY23" fmla="*/ 143640 h 158961"/>
                  <a:gd name="connsiteX24" fmla="*/ 69650 w 136744"/>
                  <a:gd name="connsiteY24" fmla="*/ 146832 h 158961"/>
                  <a:gd name="connsiteX25" fmla="*/ 61982 w 136744"/>
                  <a:gd name="connsiteY25" fmla="*/ 143640 h 158961"/>
                  <a:gd name="connsiteX26" fmla="*/ 61982 w 136744"/>
                  <a:gd name="connsiteY26" fmla="*/ 142363 h 158961"/>
                  <a:gd name="connsiteX27" fmla="*/ 78596 w 136744"/>
                  <a:gd name="connsiteY27" fmla="*/ 142363 h 158961"/>
                  <a:gd name="connsiteX28" fmla="*/ 77318 w 136744"/>
                  <a:gd name="connsiteY28" fmla="*/ 143640 h 158961"/>
                  <a:gd name="connsiteX29" fmla="*/ 125243 w 136744"/>
                  <a:gd name="connsiteY29" fmla="*/ 129595 h 158961"/>
                  <a:gd name="connsiteX30" fmla="*/ 13419 w 136744"/>
                  <a:gd name="connsiteY30" fmla="*/ 129595 h 158961"/>
                  <a:gd name="connsiteX31" fmla="*/ 13419 w 136744"/>
                  <a:gd name="connsiteY31" fmla="*/ 128956 h 158961"/>
                  <a:gd name="connsiteX32" fmla="*/ 32589 w 136744"/>
                  <a:gd name="connsiteY32" fmla="*/ 82992 h 158961"/>
                  <a:gd name="connsiteX33" fmla="*/ 32589 w 136744"/>
                  <a:gd name="connsiteY33" fmla="*/ 63840 h 158961"/>
                  <a:gd name="connsiteX34" fmla="*/ 69650 w 136744"/>
                  <a:gd name="connsiteY34" fmla="*/ 26813 h 158961"/>
                  <a:gd name="connsiteX35" fmla="*/ 106712 w 136744"/>
                  <a:gd name="connsiteY35" fmla="*/ 63840 h 158961"/>
                  <a:gd name="connsiteX36" fmla="*/ 106712 w 136744"/>
                  <a:gd name="connsiteY36" fmla="*/ 82992 h 158961"/>
                  <a:gd name="connsiteX37" fmla="*/ 125243 w 136744"/>
                  <a:gd name="connsiteY37" fmla="*/ 129595 h 158961"/>
                  <a:gd name="connsiteX38" fmla="*/ 125243 w 136744"/>
                  <a:gd name="connsiteY38" fmla="*/ 129595 h 158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6744" h="158961">
                    <a:moveTo>
                      <a:pt x="118853" y="82992"/>
                    </a:moveTo>
                    <a:lnTo>
                      <a:pt x="118853" y="63840"/>
                    </a:lnTo>
                    <a:cubicBezTo>
                      <a:pt x="118853" y="38942"/>
                      <a:pt x="100322" y="17875"/>
                      <a:pt x="75401" y="14683"/>
                    </a:cubicBezTo>
                    <a:lnTo>
                      <a:pt x="75401" y="6384"/>
                    </a:lnTo>
                    <a:cubicBezTo>
                      <a:pt x="75401" y="2554"/>
                      <a:pt x="72845" y="0"/>
                      <a:pt x="69011" y="0"/>
                    </a:cubicBezTo>
                    <a:cubicBezTo>
                      <a:pt x="65177" y="0"/>
                      <a:pt x="62621" y="2554"/>
                      <a:pt x="62621" y="6384"/>
                    </a:cubicBezTo>
                    <a:lnTo>
                      <a:pt x="62621" y="14683"/>
                    </a:lnTo>
                    <a:cubicBezTo>
                      <a:pt x="37701" y="17875"/>
                      <a:pt x="19809" y="38942"/>
                      <a:pt x="19170" y="63840"/>
                    </a:cubicBezTo>
                    <a:lnTo>
                      <a:pt x="19170" y="82992"/>
                    </a:lnTo>
                    <a:cubicBezTo>
                      <a:pt x="19170" y="99590"/>
                      <a:pt x="15336" y="107889"/>
                      <a:pt x="1917" y="121296"/>
                    </a:cubicBezTo>
                    <a:cubicBezTo>
                      <a:pt x="639" y="122572"/>
                      <a:pt x="0" y="123849"/>
                      <a:pt x="0" y="125764"/>
                    </a:cubicBezTo>
                    <a:lnTo>
                      <a:pt x="0" y="135340"/>
                    </a:lnTo>
                    <a:cubicBezTo>
                      <a:pt x="0" y="139171"/>
                      <a:pt x="2556" y="141724"/>
                      <a:pt x="6390" y="141724"/>
                    </a:cubicBezTo>
                    <a:lnTo>
                      <a:pt x="47925" y="141724"/>
                    </a:lnTo>
                    <a:cubicBezTo>
                      <a:pt x="47925" y="142363"/>
                      <a:pt x="47925" y="143001"/>
                      <a:pt x="47925" y="143001"/>
                    </a:cubicBezTo>
                    <a:cubicBezTo>
                      <a:pt x="47925" y="151939"/>
                      <a:pt x="56871" y="158961"/>
                      <a:pt x="68372" y="158961"/>
                    </a:cubicBezTo>
                    <a:cubicBezTo>
                      <a:pt x="79874" y="158961"/>
                      <a:pt x="88820" y="151939"/>
                      <a:pt x="88820" y="143001"/>
                    </a:cubicBezTo>
                    <a:cubicBezTo>
                      <a:pt x="88820" y="142363"/>
                      <a:pt x="88820" y="141724"/>
                      <a:pt x="88820" y="141724"/>
                    </a:cubicBezTo>
                    <a:lnTo>
                      <a:pt x="130355" y="141724"/>
                    </a:lnTo>
                    <a:cubicBezTo>
                      <a:pt x="134189" y="141724"/>
                      <a:pt x="136745" y="139171"/>
                      <a:pt x="136745" y="135340"/>
                    </a:cubicBezTo>
                    <a:lnTo>
                      <a:pt x="136745" y="125764"/>
                    </a:lnTo>
                    <a:cubicBezTo>
                      <a:pt x="136745" y="123849"/>
                      <a:pt x="136106" y="122572"/>
                      <a:pt x="134828" y="121296"/>
                    </a:cubicBezTo>
                    <a:cubicBezTo>
                      <a:pt x="122048" y="107889"/>
                      <a:pt x="118853" y="100229"/>
                      <a:pt x="118853" y="82992"/>
                    </a:cubicBezTo>
                    <a:close/>
                    <a:moveTo>
                      <a:pt x="77318" y="143640"/>
                    </a:moveTo>
                    <a:cubicBezTo>
                      <a:pt x="77318" y="144278"/>
                      <a:pt x="74762" y="146832"/>
                      <a:pt x="69650" y="146832"/>
                    </a:cubicBezTo>
                    <a:cubicBezTo>
                      <a:pt x="64538" y="146832"/>
                      <a:pt x="61982" y="144278"/>
                      <a:pt x="61982" y="143640"/>
                    </a:cubicBezTo>
                    <a:cubicBezTo>
                      <a:pt x="61982" y="143001"/>
                      <a:pt x="61982" y="142363"/>
                      <a:pt x="61982" y="142363"/>
                    </a:cubicBezTo>
                    <a:lnTo>
                      <a:pt x="78596" y="142363"/>
                    </a:lnTo>
                    <a:cubicBezTo>
                      <a:pt x="77318" y="143001"/>
                      <a:pt x="77318" y="143640"/>
                      <a:pt x="77318" y="143640"/>
                    </a:cubicBezTo>
                    <a:close/>
                    <a:moveTo>
                      <a:pt x="125243" y="129595"/>
                    </a:moveTo>
                    <a:lnTo>
                      <a:pt x="13419" y="129595"/>
                    </a:lnTo>
                    <a:lnTo>
                      <a:pt x="13419" y="128956"/>
                    </a:lnTo>
                    <a:cubicBezTo>
                      <a:pt x="28116" y="113635"/>
                      <a:pt x="32589" y="102782"/>
                      <a:pt x="32589" y="82992"/>
                    </a:cubicBezTo>
                    <a:lnTo>
                      <a:pt x="32589" y="63840"/>
                    </a:lnTo>
                    <a:cubicBezTo>
                      <a:pt x="32589" y="43411"/>
                      <a:pt x="49203" y="26813"/>
                      <a:pt x="69650" y="26813"/>
                    </a:cubicBezTo>
                    <a:cubicBezTo>
                      <a:pt x="90098" y="26813"/>
                      <a:pt x="106712" y="43411"/>
                      <a:pt x="106712" y="63840"/>
                    </a:cubicBezTo>
                    <a:lnTo>
                      <a:pt x="106712" y="82992"/>
                    </a:lnTo>
                    <a:cubicBezTo>
                      <a:pt x="106073" y="102782"/>
                      <a:pt x="110546" y="113635"/>
                      <a:pt x="125243" y="129595"/>
                    </a:cubicBezTo>
                    <a:lnTo>
                      <a:pt x="125243" y="12959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raphic 4">
                <a:extLst>
                  <a:ext uri="{FF2B5EF4-FFF2-40B4-BE49-F238E27FC236}">
                    <a16:creationId xmlns:a16="http://schemas.microsoft.com/office/drawing/2014/main" id="{D11647FE-5349-161A-5499-37DB45907226}"/>
                  </a:ext>
                </a:extLst>
              </p:cNvPr>
              <p:cNvSpPr/>
              <p:nvPr/>
            </p:nvSpPr>
            <p:spPr>
              <a:xfrm>
                <a:off x="3778978" y="993011"/>
                <a:ext cx="130585" cy="132009"/>
              </a:xfrm>
              <a:custGeom>
                <a:avLst/>
                <a:gdLst>
                  <a:gd name="connsiteX0" fmla="*/ 128468 w 130585"/>
                  <a:gd name="connsiteY0" fmla="*/ 114772 h 132009"/>
                  <a:gd name="connsiteX1" fmla="*/ 56901 w 130585"/>
                  <a:gd name="connsiteY1" fmla="*/ 4968 h 132009"/>
                  <a:gd name="connsiteX2" fmla="*/ 39648 w 130585"/>
                  <a:gd name="connsiteY2" fmla="*/ 2414 h 132009"/>
                  <a:gd name="connsiteX3" fmla="*/ 37092 w 130585"/>
                  <a:gd name="connsiteY3" fmla="*/ 4968 h 132009"/>
                  <a:gd name="connsiteX4" fmla="*/ 1308 w 130585"/>
                  <a:gd name="connsiteY4" fmla="*/ 59870 h 132009"/>
                  <a:gd name="connsiteX5" fmla="*/ 2586 w 130585"/>
                  <a:gd name="connsiteY5" fmla="*/ 68808 h 132009"/>
                  <a:gd name="connsiteX6" fmla="*/ 11532 w 130585"/>
                  <a:gd name="connsiteY6" fmla="*/ 67531 h 132009"/>
                  <a:gd name="connsiteX7" fmla="*/ 12171 w 130585"/>
                  <a:gd name="connsiteY7" fmla="*/ 66893 h 132009"/>
                  <a:gd name="connsiteX8" fmla="*/ 47316 w 130585"/>
                  <a:gd name="connsiteY8" fmla="*/ 13267 h 132009"/>
                  <a:gd name="connsiteX9" fmla="*/ 116327 w 130585"/>
                  <a:gd name="connsiteY9" fmla="*/ 119241 h 132009"/>
                  <a:gd name="connsiteX10" fmla="*/ 32619 w 130585"/>
                  <a:gd name="connsiteY10" fmla="*/ 119241 h 132009"/>
                  <a:gd name="connsiteX11" fmla="*/ 26229 w 130585"/>
                  <a:gd name="connsiteY11" fmla="*/ 125625 h 132009"/>
                  <a:gd name="connsiteX12" fmla="*/ 32619 w 130585"/>
                  <a:gd name="connsiteY12" fmla="*/ 132009 h 132009"/>
                  <a:gd name="connsiteX13" fmla="*/ 118883 w 130585"/>
                  <a:gd name="connsiteY13" fmla="*/ 132009 h 132009"/>
                  <a:gd name="connsiteX14" fmla="*/ 129746 w 130585"/>
                  <a:gd name="connsiteY14" fmla="*/ 125625 h 132009"/>
                  <a:gd name="connsiteX15" fmla="*/ 128468 w 130585"/>
                  <a:gd name="connsiteY15" fmla="*/ 114772 h 132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585" h="132009">
                    <a:moveTo>
                      <a:pt x="128468" y="114772"/>
                    </a:moveTo>
                    <a:lnTo>
                      <a:pt x="56901" y="4968"/>
                    </a:lnTo>
                    <a:cubicBezTo>
                      <a:pt x="53067" y="-778"/>
                      <a:pt x="44760" y="-1416"/>
                      <a:pt x="39648" y="2414"/>
                    </a:cubicBezTo>
                    <a:cubicBezTo>
                      <a:pt x="39009" y="3053"/>
                      <a:pt x="37731" y="3691"/>
                      <a:pt x="37092" y="4968"/>
                    </a:cubicBezTo>
                    <a:lnTo>
                      <a:pt x="1308" y="59870"/>
                    </a:lnTo>
                    <a:cubicBezTo>
                      <a:pt x="-609" y="62424"/>
                      <a:pt x="-609" y="66893"/>
                      <a:pt x="2586" y="68808"/>
                    </a:cubicBezTo>
                    <a:cubicBezTo>
                      <a:pt x="5142" y="70723"/>
                      <a:pt x="9615" y="70723"/>
                      <a:pt x="11532" y="67531"/>
                    </a:cubicBezTo>
                    <a:cubicBezTo>
                      <a:pt x="11532" y="67531"/>
                      <a:pt x="12171" y="66893"/>
                      <a:pt x="12171" y="66893"/>
                    </a:cubicBezTo>
                    <a:lnTo>
                      <a:pt x="47316" y="13267"/>
                    </a:lnTo>
                    <a:lnTo>
                      <a:pt x="116327" y="119241"/>
                    </a:lnTo>
                    <a:lnTo>
                      <a:pt x="32619" y="119241"/>
                    </a:lnTo>
                    <a:cubicBezTo>
                      <a:pt x="28785" y="119241"/>
                      <a:pt x="26229" y="121795"/>
                      <a:pt x="26229" y="125625"/>
                    </a:cubicBezTo>
                    <a:cubicBezTo>
                      <a:pt x="26229" y="129456"/>
                      <a:pt x="28785" y="132009"/>
                      <a:pt x="32619" y="132009"/>
                    </a:cubicBezTo>
                    <a:lnTo>
                      <a:pt x="118883" y="132009"/>
                    </a:lnTo>
                    <a:cubicBezTo>
                      <a:pt x="123356" y="132009"/>
                      <a:pt x="127190" y="129456"/>
                      <a:pt x="129746" y="125625"/>
                    </a:cubicBezTo>
                    <a:cubicBezTo>
                      <a:pt x="131024" y="122433"/>
                      <a:pt x="131024" y="117964"/>
                      <a:pt x="128468" y="11477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raphic 4">
                <a:extLst>
                  <a:ext uri="{FF2B5EF4-FFF2-40B4-BE49-F238E27FC236}">
                    <a16:creationId xmlns:a16="http://schemas.microsoft.com/office/drawing/2014/main" id="{E4410A30-B8A7-AD6D-9657-4CC4E75037EA}"/>
                  </a:ext>
                </a:extLst>
              </p:cNvPr>
              <p:cNvSpPr/>
              <p:nvPr/>
            </p:nvSpPr>
            <p:spPr>
              <a:xfrm>
                <a:off x="3819904" y="1031175"/>
                <a:ext cx="12779" cy="50433"/>
              </a:xfrm>
              <a:custGeom>
                <a:avLst/>
                <a:gdLst>
                  <a:gd name="connsiteX0" fmla="*/ 6390 w 12779"/>
                  <a:gd name="connsiteY0" fmla="*/ 50434 h 50433"/>
                  <a:gd name="connsiteX1" fmla="*/ 12780 w 12779"/>
                  <a:gd name="connsiteY1" fmla="*/ 44050 h 50433"/>
                  <a:gd name="connsiteX2" fmla="*/ 12780 w 12779"/>
                  <a:gd name="connsiteY2" fmla="*/ 6384 h 50433"/>
                  <a:gd name="connsiteX3" fmla="*/ 6390 w 12779"/>
                  <a:gd name="connsiteY3" fmla="*/ 0 h 50433"/>
                  <a:gd name="connsiteX4" fmla="*/ 0 w 12779"/>
                  <a:gd name="connsiteY4" fmla="*/ 6384 h 50433"/>
                  <a:gd name="connsiteX5" fmla="*/ 0 w 12779"/>
                  <a:gd name="connsiteY5" fmla="*/ 44050 h 50433"/>
                  <a:gd name="connsiteX6" fmla="*/ 6390 w 12779"/>
                  <a:gd name="connsiteY6" fmla="*/ 50434 h 5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50433">
                    <a:moveTo>
                      <a:pt x="6390" y="50434"/>
                    </a:moveTo>
                    <a:cubicBezTo>
                      <a:pt x="10224" y="50434"/>
                      <a:pt x="12780" y="47880"/>
                      <a:pt x="12780" y="44050"/>
                    </a:cubicBezTo>
                    <a:lnTo>
                      <a:pt x="12780" y="6384"/>
                    </a:lnTo>
                    <a:cubicBezTo>
                      <a:pt x="12780" y="2554"/>
                      <a:pt x="10224" y="0"/>
                      <a:pt x="6390" y="0"/>
                    </a:cubicBezTo>
                    <a:cubicBezTo>
                      <a:pt x="2556" y="0"/>
                      <a:pt x="0" y="2554"/>
                      <a:pt x="0" y="6384"/>
                    </a:cubicBezTo>
                    <a:lnTo>
                      <a:pt x="0" y="44050"/>
                    </a:lnTo>
                    <a:cubicBezTo>
                      <a:pt x="0" y="47880"/>
                      <a:pt x="3195" y="50434"/>
                      <a:pt x="6390" y="5043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raphic 4">
                <a:extLst>
                  <a:ext uri="{FF2B5EF4-FFF2-40B4-BE49-F238E27FC236}">
                    <a16:creationId xmlns:a16="http://schemas.microsoft.com/office/drawing/2014/main" id="{8B6A42BF-CF4E-59C5-49A4-8A03D71532C4}"/>
                  </a:ext>
                </a:extLst>
              </p:cNvPr>
              <p:cNvSpPr/>
              <p:nvPr/>
            </p:nvSpPr>
            <p:spPr>
              <a:xfrm>
                <a:off x="3819904" y="1085439"/>
                <a:ext cx="12779" cy="20428"/>
              </a:xfrm>
              <a:custGeom>
                <a:avLst/>
                <a:gdLst>
                  <a:gd name="connsiteX0" fmla="*/ 0 w 12779"/>
                  <a:gd name="connsiteY0" fmla="*/ 14045 h 20428"/>
                  <a:gd name="connsiteX1" fmla="*/ 6390 w 12779"/>
                  <a:gd name="connsiteY1" fmla="*/ 20429 h 20428"/>
                  <a:gd name="connsiteX2" fmla="*/ 12780 w 12779"/>
                  <a:gd name="connsiteY2" fmla="*/ 14045 h 20428"/>
                  <a:gd name="connsiteX3" fmla="*/ 12780 w 12779"/>
                  <a:gd name="connsiteY3" fmla="*/ 6384 h 20428"/>
                  <a:gd name="connsiteX4" fmla="*/ 6390 w 12779"/>
                  <a:gd name="connsiteY4" fmla="*/ 0 h 20428"/>
                  <a:gd name="connsiteX5" fmla="*/ 0 w 12779"/>
                  <a:gd name="connsiteY5" fmla="*/ 6384 h 20428"/>
                  <a:gd name="connsiteX6" fmla="*/ 0 w 12779"/>
                  <a:gd name="connsiteY6" fmla="*/ 14045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0428">
                    <a:moveTo>
                      <a:pt x="0" y="14045"/>
                    </a:moveTo>
                    <a:cubicBezTo>
                      <a:pt x="0" y="17875"/>
                      <a:pt x="2556" y="20429"/>
                      <a:pt x="6390" y="20429"/>
                    </a:cubicBezTo>
                    <a:cubicBezTo>
                      <a:pt x="10224" y="20429"/>
                      <a:pt x="12780" y="17875"/>
                      <a:pt x="12780" y="14045"/>
                    </a:cubicBezTo>
                    <a:lnTo>
                      <a:pt x="12780" y="6384"/>
                    </a:lnTo>
                    <a:cubicBezTo>
                      <a:pt x="12780" y="2554"/>
                      <a:pt x="10224" y="0"/>
                      <a:pt x="6390" y="0"/>
                    </a:cubicBezTo>
                    <a:cubicBezTo>
                      <a:pt x="2556" y="0"/>
                      <a:pt x="0" y="2554"/>
                      <a:pt x="0" y="6384"/>
                    </a:cubicBezTo>
                    <a:lnTo>
                      <a:pt x="0" y="1404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3" name="Group 52">
            <a:extLst>
              <a:ext uri="{FF2B5EF4-FFF2-40B4-BE49-F238E27FC236}">
                <a16:creationId xmlns:a16="http://schemas.microsoft.com/office/drawing/2014/main" id="{5E22976E-4F1B-A61B-2C3F-8BCF09AD21FC}"/>
              </a:ext>
            </a:extLst>
          </p:cNvPr>
          <p:cNvGrpSpPr/>
          <p:nvPr/>
        </p:nvGrpSpPr>
        <p:grpSpPr>
          <a:xfrm>
            <a:off x="1299576" y="1790789"/>
            <a:ext cx="6117223" cy="630000"/>
            <a:chOff x="1299577" y="2237829"/>
            <a:chExt cx="6117223" cy="630000"/>
          </a:xfrm>
        </p:grpSpPr>
        <p:sp>
          <p:nvSpPr>
            <p:cNvPr id="15" name="TextBox 14">
              <a:extLst>
                <a:ext uri="{FF2B5EF4-FFF2-40B4-BE49-F238E27FC236}">
                  <a16:creationId xmlns:a16="http://schemas.microsoft.com/office/drawing/2014/main" id="{431A9C8B-15A0-D509-28B2-BF2DBFD755C7}"/>
                </a:ext>
              </a:extLst>
            </p:cNvPr>
            <p:cNvSpPr txBox="1"/>
            <p:nvPr/>
          </p:nvSpPr>
          <p:spPr>
            <a:xfrm>
              <a:off x="2081473" y="2275830"/>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Information Sharing</a:t>
              </a:r>
              <a:r>
                <a:rPr kumimoji="0" lang="en-US" sz="3000" b="1" i="0" u="none" strike="noStrike" kern="1200" cap="none" spc="0" normalizeH="0" baseline="0" noProof="0" dirty="0" err="1">
                  <a:ln>
                    <a:noFill/>
                  </a:ln>
                  <a:solidFill>
                    <a:srgbClr val="86BC25"/>
                  </a:solidFill>
                  <a:effectLst/>
                  <a:uLnTx/>
                  <a:uFillTx/>
                  <a:latin typeface="Segoe UI" panose="020B0502040204020203" pitchFamily="34" charset="0"/>
                  <a:ea typeface="+mn-ea"/>
                  <a:cs typeface="Segoe UI" panose="020B0502040204020203" pitchFamily="34" charset="0"/>
                  <a:sym typeface="Arial"/>
                </a:rPr>
                <a:t/>
              </a: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33" name="Graphic 4">
              <a:extLst>
                <a:ext uri="{FF2B5EF4-FFF2-40B4-BE49-F238E27FC236}">
                  <a16:creationId xmlns:a16="http://schemas.microsoft.com/office/drawing/2014/main" id="{3C965E2E-69E2-F8D5-33C6-564951532413}"/>
                </a:ext>
              </a:extLst>
            </p:cNvPr>
            <p:cNvGrpSpPr/>
            <p:nvPr/>
          </p:nvGrpSpPr>
          <p:grpSpPr>
            <a:xfrm>
              <a:off x="1299577" y="2237829"/>
              <a:ext cx="630000" cy="630000"/>
              <a:chOff x="467743" y="3339623"/>
              <a:chExt cx="361670" cy="361333"/>
            </a:xfrm>
            <a:solidFill>
              <a:schemeClr val="accent1"/>
            </a:solidFill>
          </p:grpSpPr>
          <p:sp>
            <p:nvSpPr>
              <p:cNvPr id="42" name="Graphic 4">
                <a:extLst>
                  <a:ext uri="{FF2B5EF4-FFF2-40B4-BE49-F238E27FC236}">
                    <a16:creationId xmlns:a16="http://schemas.microsoft.com/office/drawing/2014/main" id="{E59F6E86-CE69-9421-1A9E-538B37B69F9D}"/>
                  </a:ext>
                </a:extLst>
              </p:cNvPr>
              <p:cNvSpPr/>
              <p:nvPr/>
            </p:nvSpPr>
            <p:spPr>
              <a:xfrm>
                <a:off x="467743" y="333962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8"/>
                      <a:pt x="88181" y="13406"/>
                      <a:pt x="180835" y="13406"/>
                    </a:cubicBezTo>
                    <a:cubicBezTo>
                      <a:pt x="273489" y="13406"/>
                      <a:pt x="348891" y="88738"/>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raphic 4">
                <a:extLst>
                  <a:ext uri="{FF2B5EF4-FFF2-40B4-BE49-F238E27FC236}">
                    <a16:creationId xmlns:a16="http://schemas.microsoft.com/office/drawing/2014/main" id="{CD890451-B26E-8D46-C39A-A23C07087FF4}"/>
                  </a:ext>
                </a:extLst>
              </p:cNvPr>
              <p:cNvSpPr/>
              <p:nvPr/>
            </p:nvSpPr>
            <p:spPr>
              <a:xfrm>
                <a:off x="668155" y="3455808"/>
                <a:ext cx="108483" cy="130875"/>
              </a:xfrm>
              <a:custGeom>
                <a:avLst/>
                <a:gdLst>
                  <a:gd name="connsiteX0" fmla="*/ 105027 w 108483"/>
                  <a:gd name="connsiteY0" fmla="*/ 118746 h 130875"/>
                  <a:gd name="connsiteX1" fmla="*/ 83941 w 108483"/>
                  <a:gd name="connsiteY1" fmla="*/ 113000 h 130875"/>
                  <a:gd name="connsiteX2" fmla="*/ 71161 w 108483"/>
                  <a:gd name="connsiteY2" fmla="*/ 109808 h 130875"/>
                  <a:gd name="connsiteX3" fmla="*/ 65410 w 108483"/>
                  <a:gd name="connsiteY3" fmla="*/ 92572 h 130875"/>
                  <a:gd name="connsiteX4" fmla="*/ 79468 w 108483"/>
                  <a:gd name="connsiteY4" fmla="*/ 60013 h 130875"/>
                  <a:gd name="connsiteX5" fmla="*/ 73717 w 108483"/>
                  <a:gd name="connsiteY5" fmla="*/ 14687 h 130875"/>
                  <a:gd name="connsiteX6" fmla="*/ 41128 w 108483"/>
                  <a:gd name="connsiteY6" fmla="*/ 4 h 130875"/>
                  <a:gd name="connsiteX7" fmla="*/ 8539 w 108483"/>
                  <a:gd name="connsiteY7" fmla="*/ 14687 h 130875"/>
                  <a:gd name="connsiteX8" fmla="*/ 2788 w 108483"/>
                  <a:gd name="connsiteY8" fmla="*/ 60013 h 130875"/>
                  <a:gd name="connsiteX9" fmla="*/ 16846 w 108483"/>
                  <a:gd name="connsiteY9" fmla="*/ 92572 h 130875"/>
                  <a:gd name="connsiteX10" fmla="*/ 11734 w 108483"/>
                  <a:gd name="connsiteY10" fmla="*/ 109808 h 130875"/>
                  <a:gd name="connsiteX11" fmla="*/ 10456 w 108483"/>
                  <a:gd name="connsiteY11" fmla="*/ 118746 h 130875"/>
                  <a:gd name="connsiteX12" fmla="*/ 19402 w 108483"/>
                  <a:gd name="connsiteY12" fmla="*/ 120023 h 130875"/>
                  <a:gd name="connsiteX13" fmla="*/ 27709 w 108483"/>
                  <a:gd name="connsiteY13" fmla="*/ 84911 h 130875"/>
                  <a:gd name="connsiteX14" fmla="*/ 15568 w 108483"/>
                  <a:gd name="connsiteY14" fmla="*/ 56821 h 130875"/>
                  <a:gd name="connsiteX15" fmla="*/ 18763 w 108483"/>
                  <a:gd name="connsiteY15" fmla="*/ 22348 h 130875"/>
                  <a:gd name="connsiteX16" fmla="*/ 41767 w 108483"/>
                  <a:gd name="connsiteY16" fmla="*/ 12772 h 130875"/>
                  <a:gd name="connsiteX17" fmla="*/ 64132 w 108483"/>
                  <a:gd name="connsiteY17" fmla="*/ 22348 h 130875"/>
                  <a:gd name="connsiteX18" fmla="*/ 67327 w 108483"/>
                  <a:gd name="connsiteY18" fmla="*/ 56821 h 130875"/>
                  <a:gd name="connsiteX19" fmla="*/ 55186 w 108483"/>
                  <a:gd name="connsiteY19" fmla="*/ 84911 h 130875"/>
                  <a:gd name="connsiteX20" fmla="*/ 64132 w 108483"/>
                  <a:gd name="connsiteY20" fmla="*/ 120023 h 130875"/>
                  <a:gd name="connsiteX21" fmla="*/ 82663 w 108483"/>
                  <a:gd name="connsiteY21" fmla="*/ 125130 h 130875"/>
                  <a:gd name="connsiteX22" fmla="*/ 98637 w 108483"/>
                  <a:gd name="connsiteY22" fmla="*/ 129599 h 130875"/>
                  <a:gd name="connsiteX23" fmla="*/ 101832 w 108483"/>
                  <a:gd name="connsiteY23" fmla="*/ 130875 h 130875"/>
                  <a:gd name="connsiteX24" fmla="*/ 107583 w 108483"/>
                  <a:gd name="connsiteY24" fmla="*/ 127683 h 130875"/>
                  <a:gd name="connsiteX25" fmla="*/ 105027 w 108483"/>
                  <a:gd name="connsiteY25" fmla="*/ 118746 h 13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483" h="130875">
                    <a:moveTo>
                      <a:pt x="105027" y="118746"/>
                    </a:moveTo>
                    <a:cubicBezTo>
                      <a:pt x="98637" y="114915"/>
                      <a:pt x="90969" y="113639"/>
                      <a:pt x="83941" y="113000"/>
                    </a:cubicBezTo>
                    <a:cubicBezTo>
                      <a:pt x="78829" y="112362"/>
                      <a:pt x="73078" y="111723"/>
                      <a:pt x="71161" y="109808"/>
                    </a:cubicBezTo>
                    <a:cubicBezTo>
                      <a:pt x="65410" y="105339"/>
                      <a:pt x="64771" y="95125"/>
                      <a:pt x="65410" y="92572"/>
                    </a:cubicBezTo>
                    <a:cubicBezTo>
                      <a:pt x="71161" y="84911"/>
                      <a:pt x="76912" y="71504"/>
                      <a:pt x="79468" y="60013"/>
                    </a:cubicBezTo>
                    <a:cubicBezTo>
                      <a:pt x="83941" y="40223"/>
                      <a:pt x="82024" y="25540"/>
                      <a:pt x="73717" y="14687"/>
                    </a:cubicBezTo>
                    <a:cubicBezTo>
                      <a:pt x="61576" y="4"/>
                      <a:pt x="41767" y="4"/>
                      <a:pt x="41128" y="4"/>
                    </a:cubicBezTo>
                    <a:cubicBezTo>
                      <a:pt x="40489" y="4"/>
                      <a:pt x="20680" y="-635"/>
                      <a:pt x="8539" y="14687"/>
                    </a:cubicBezTo>
                    <a:cubicBezTo>
                      <a:pt x="-407" y="25540"/>
                      <a:pt x="-2324" y="40861"/>
                      <a:pt x="2788" y="60013"/>
                    </a:cubicBezTo>
                    <a:cubicBezTo>
                      <a:pt x="5344" y="71504"/>
                      <a:pt x="11095" y="84911"/>
                      <a:pt x="16846" y="92572"/>
                    </a:cubicBezTo>
                    <a:cubicBezTo>
                      <a:pt x="18124" y="94487"/>
                      <a:pt x="17485" y="105339"/>
                      <a:pt x="11734" y="109808"/>
                    </a:cubicBezTo>
                    <a:cubicBezTo>
                      <a:pt x="9178" y="111723"/>
                      <a:pt x="8539" y="116192"/>
                      <a:pt x="10456" y="118746"/>
                    </a:cubicBezTo>
                    <a:cubicBezTo>
                      <a:pt x="12373" y="121299"/>
                      <a:pt x="16846" y="121938"/>
                      <a:pt x="19402" y="120023"/>
                    </a:cubicBezTo>
                    <a:cubicBezTo>
                      <a:pt x="30904" y="111085"/>
                      <a:pt x="32821" y="92572"/>
                      <a:pt x="27709" y="84911"/>
                    </a:cubicBezTo>
                    <a:cubicBezTo>
                      <a:pt x="23236" y="78527"/>
                      <a:pt x="18124" y="67036"/>
                      <a:pt x="15568" y="56821"/>
                    </a:cubicBezTo>
                    <a:cubicBezTo>
                      <a:pt x="11734" y="41500"/>
                      <a:pt x="13012" y="30009"/>
                      <a:pt x="18763" y="22348"/>
                    </a:cubicBezTo>
                    <a:cubicBezTo>
                      <a:pt x="26431" y="12772"/>
                      <a:pt x="41128" y="12772"/>
                      <a:pt x="41767" y="12772"/>
                    </a:cubicBezTo>
                    <a:cubicBezTo>
                      <a:pt x="41767" y="12772"/>
                      <a:pt x="56464" y="12772"/>
                      <a:pt x="64132" y="22348"/>
                    </a:cubicBezTo>
                    <a:cubicBezTo>
                      <a:pt x="69883" y="30009"/>
                      <a:pt x="71161" y="41500"/>
                      <a:pt x="67327" y="56821"/>
                    </a:cubicBezTo>
                    <a:cubicBezTo>
                      <a:pt x="64771" y="67036"/>
                      <a:pt x="59659" y="78527"/>
                      <a:pt x="55186" y="84911"/>
                    </a:cubicBezTo>
                    <a:cubicBezTo>
                      <a:pt x="50074" y="91933"/>
                      <a:pt x="51352" y="111085"/>
                      <a:pt x="64132" y="120023"/>
                    </a:cubicBezTo>
                    <a:cubicBezTo>
                      <a:pt x="69244" y="123215"/>
                      <a:pt x="75634" y="123853"/>
                      <a:pt x="82663" y="125130"/>
                    </a:cubicBezTo>
                    <a:cubicBezTo>
                      <a:pt x="88414" y="125768"/>
                      <a:pt x="94803" y="127045"/>
                      <a:pt x="98637" y="129599"/>
                    </a:cubicBezTo>
                    <a:cubicBezTo>
                      <a:pt x="99915" y="130237"/>
                      <a:pt x="100554" y="130875"/>
                      <a:pt x="101832" y="130875"/>
                    </a:cubicBezTo>
                    <a:cubicBezTo>
                      <a:pt x="103749" y="130875"/>
                      <a:pt x="106305" y="129599"/>
                      <a:pt x="107583" y="127683"/>
                    </a:cubicBezTo>
                    <a:cubicBezTo>
                      <a:pt x="109500" y="124491"/>
                      <a:pt x="108222" y="120661"/>
                      <a:pt x="105027" y="118746"/>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raphic 4">
                <a:extLst>
                  <a:ext uri="{FF2B5EF4-FFF2-40B4-BE49-F238E27FC236}">
                    <a16:creationId xmlns:a16="http://schemas.microsoft.com/office/drawing/2014/main" id="{99A9BAD6-7B17-1FC1-95DD-4EA5865C7B69}"/>
                  </a:ext>
                </a:extLst>
              </p:cNvPr>
              <p:cNvSpPr/>
              <p:nvPr/>
            </p:nvSpPr>
            <p:spPr>
              <a:xfrm>
                <a:off x="520929" y="3437934"/>
                <a:ext cx="168945" cy="164070"/>
              </a:xfrm>
              <a:custGeom>
                <a:avLst/>
                <a:gdLst>
                  <a:gd name="connsiteX0" fmla="*/ 164711 w 168945"/>
                  <a:gd name="connsiteY0" fmla="*/ 152580 h 164070"/>
                  <a:gd name="connsiteX1" fmla="*/ 135317 w 168945"/>
                  <a:gd name="connsiteY1" fmla="*/ 146196 h 164070"/>
                  <a:gd name="connsiteX2" fmla="*/ 121899 w 168945"/>
                  <a:gd name="connsiteY2" fmla="*/ 143642 h 164070"/>
                  <a:gd name="connsiteX3" fmla="*/ 111675 w 168945"/>
                  <a:gd name="connsiteY3" fmla="*/ 116191 h 164070"/>
                  <a:gd name="connsiteX4" fmla="*/ 129566 w 168945"/>
                  <a:gd name="connsiteY4" fmla="*/ 74695 h 164070"/>
                  <a:gd name="connsiteX5" fmla="*/ 122538 w 168945"/>
                  <a:gd name="connsiteY5" fmla="*/ 17239 h 164070"/>
                  <a:gd name="connsiteX6" fmla="*/ 84198 w 168945"/>
                  <a:gd name="connsiteY6" fmla="*/ 3 h 164070"/>
                  <a:gd name="connsiteX7" fmla="*/ 45858 w 168945"/>
                  <a:gd name="connsiteY7" fmla="*/ 17239 h 164070"/>
                  <a:gd name="connsiteX8" fmla="*/ 38829 w 168945"/>
                  <a:gd name="connsiteY8" fmla="*/ 74695 h 164070"/>
                  <a:gd name="connsiteX9" fmla="*/ 56721 w 168945"/>
                  <a:gd name="connsiteY9" fmla="*/ 115553 h 164070"/>
                  <a:gd name="connsiteX10" fmla="*/ 46497 w 168945"/>
                  <a:gd name="connsiteY10" fmla="*/ 143004 h 164070"/>
                  <a:gd name="connsiteX11" fmla="*/ 33078 w 168945"/>
                  <a:gd name="connsiteY11" fmla="*/ 145558 h 164070"/>
                  <a:gd name="connsiteX12" fmla="*/ 3685 w 168945"/>
                  <a:gd name="connsiteY12" fmla="*/ 151942 h 164070"/>
                  <a:gd name="connsiteX13" fmla="*/ 490 w 168945"/>
                  <a:gd name="connsiteY13" fmla="*/ 160241 h 164070"/>
                  <a:gd name="connsiteX14" fmla="*/ 8797 w 168945"/>
                  <a:gd name="connsiteY14" fmla="*/ 163433 h 164070"/>
                  <a:gd name="connsiteX15" fmla="*/ 33717 w 168945"/>
                  <a:gd name="connsiteY15" fmla="*/ 158326 h 164070"/>
                  <a:gd name="connsiteX16" fmla="*/ 52887 w 168945"/>
                  <a:gd name="connsiteY16" fmla="*/ 154495 h 164070"/>
                  <a:gd name="connsiteX17" fmla="*/ 68862 w 168945"/>
                  <a:gd name="connsiteY17" fmla="*/ 128959 h 164070"/>
                  <a:gd name="connsiteX18" fmla="*/ 67584 w 168945"/>
                  <a:gd name="connsiteY18" fmla="*/ 108531 h 164070"/>
                  <a:gd name="connsiteX19" fmla="*/ 51609 w 168945"/>
                  <a:gd name="connsiteY19" fmla="*/ 71503 h 164070"/>
                  <a:gd name="connsiteX20" fmla="*/ 56082 w 168945"/>
                  <a:gd name="connsiteY20" fmla="*/ 24900 h 164070"/>
                  <a:gd name="connsiteX21" fmla="*/ 84837 w 168945"/>
                  <a:gd name="connsiteY21" fmla="*/ 12771 h 164070"/>
                  <a:gd name="connsiteX22" fmla="*/ 112953 w 168945"/>
                  <a:gd name="connsiteY22" fmla="*/ 24900 h 164070"/>
                  <a:gd name="connsiteX23" fmla="*/ 117426 w 168945"/>
                  <a:gd name="connsiteY23" fmla="*/ 71503 h 164070"/>
                  <a:gd name="connsiteX24" fmla="*/ 101451 w 168945"/>
                  <a:gd name="connsiteY24" fmla="*/ 108531 h 164070"/>
                  <a:gd name="connsiteX25" fmla="*/ 100173 w 168945"/>
                  <a:gd name="connsiteY25" fmla="*/ 128959 h 164070"/>
                  <a:gd name="connsiteX26" fmla="*/ 116148 w 168945"/>
                  <a:gd name="connsiteY26" fmla="*/ 154495 h 164070"/>
                  <a:gd name="connsiteX27" fmla="*/ 135317 w 168945"/>
                  <a:gd name="connsiteY27" fmla="*/ 158326 h 164070"/>
                  <a:gd name="connsiteX28" fmla="*/ 160238 w 168945"/>
                  <a:gd name="connsiteY28" fmla="*/ 163433 h 164070"/>
                  <a:gd name="connsiteX29" fmla="*/ 162794 w 168945"/>
                  <a:gd name="connsiteY29" fmla="*/ 164071 h 164070"/>
                  <a:gd name="connsiteX30" fmla="*/ 168545 w 168945"/>
                  <a:gd name="connsiteY30" fmla="*/ 160241 h 164070"/>
                  <a:gd name="connsiteX31" fmla="*/ 164711 w 168945"/>
                  <a:gd name="connsiteY31" fmla="*/ 152580 h 1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945" h="164070">
                    <a:moveTo>
                      <a:pt x="164711" y="152580"/>
                    </a:moveTo>
                    <a:cubicBezTo>
                      <a:pt x="153209" y="147473"/>
                      <a:pt x="142985" y="146834"/>
                      <a:pt x="135317" y="146196"/>
                    </a:cubicBezTo>
                    <a:cubicBezTo>
                      <a:pt x="129566" y="146196"/>
                      <a:pt x="125093" y="145558"/>
                      <a:pt x="121899" y="143642"/>
                    </a:cubicBezTo>
                    <a:cubicBezTo>
                      <a:pt x="114870" y="139812"/>
                      <a:pt x="109758" y="120660"/>
                      <a:pt x="111675" y="116191"/>
                    </a:cubicBezTo>
                    <a:cubicBezTo>
                      <a:pt x="118704" y="106615"/>
                      <a:pt x="125732" y="89379"/>
                      <a:pt x="129566" y="74695"/>
                    </a:cubicBezTo>
                    <a:cubicBezTo>
                      <a:pt x="135317" y="49798"/>
                      <a:pt x="133400" y="30007"/>
                      <a:pt x="122538" y="17239"/>
                    </a:cubicBezTo>
                    <a:cubicBezTo>
                      <a:pt x="108480" y="3"/>
                      <a:pt x="85476" y="3"/>
                      <a:pt x="84198" y="3"/>
                    </a:cubicBezTo>
                    <a:cubicBezTo>
                      <a:pt x="83559" y="3"/>
                      <a:pt x="59916" y="-636"/>
                      <a:pt x="45858" y="17239"/>
                    </a:cubicBezTo>
                    <a:cubicBezTo>
                      <a:pt x="34995" y="30646"/>
                      <a:pt x="32439" y="49798"/>
                      <a:pt x="38829" y="74695"/>
                    </a:cubicBezTo>
                    <a:cubicBezTo>
                      <a:pt x="42663" y="89379"/>
                      <a:pt x="49692" y="106615"/>
                      <a:pt x="56721" y="115553"/>
                    </a:cubicBezTo>
                    <a:cubicBezTo>
                      <a:pt x="58638" y="120022"/>
                      <a:pt x="53526" y="139174"/>
                      <a:pt x="46497" y="143004"/>
                    </a:cubicBezTo>
                    <a:cubicBezTo>
                      <a:pt x="43302" y="144919"/>
                      <a:pt x="38829" y="144919"/>
                      <a:pt x="33078" y="145558"/>
                    </a:cubicBezTo>
                    <a:cubicBezTo>
                      <a:pt x="24772" y="146196"/>
                      <a:pt x="15187" y="146196"/>
                      <a:pt x="3685" y="151942"/>
                    </a:cubicBezTo>
                    <a:cubicBezTo>
                      <a:pt x="490" y="153218"/>
                      <a:pt x="-788" y="157049"/>
                      <a:pt x="490" y="160241"/>
                    </a:cubicBezTo>
                    <a:cubicBezTo>
                      <a:pt x="1768" y="163433"/>
                      <a:pt x="5602" y="164710"/>
                      <a:pt x="8797" y="163433"/>
                    </a:cubicBezTo>
                    <a:cubicBezTo>
                      <a:pt x="17743" y="158964"/>
                      <a:pt x="26049" y="158964"/>
                      <a:pt x="33717" y="158326"/>
                    </a:cubicBezTo>
                    <a:cubicBezTo>
                      <a:pt x="40746" y="157687"/>
                      <a:pt x="47136" y="157687"/>
                      <a:pt x="52887" y="154495"/>
                    </a:cubicBezTo>
                    <a:cubicBezTo>
                      <a:pt x="61194" y="150026"/>
                      <a:pt x="66306" y="138535"/>
                      <a:pt x="68862" y="128959"/>
                    </a:cubicBezTo>
                    <a:cubicBezTo>
                      <a:pt x="70140" y="122575"/>
                      <a:pt x="71418" y="113638"/>
                      <a:pt x="67584" y="108531"/>
                    </a:cubicBezTo>
                    <a:cubicBezTo>
                      <a:pt x="61833" y="100231"/>
                      <a:pt x="54804" y="84910"/>
                      <a:pt x="51609" y="71503"/>
                    </a:cubicBezTo>
                    <a:cubicBezTo>
                      <a:pt x="46497" y="50436"/>
                      <a:pt x="47775" y="35115"/>
                      <a:pt x="56082" y="24900"/>
                    </a:cubicBezTo>
                    <a:cubicBezTo>
                      <a:pt x="66306" y="12132"/>
                      <a:pt x="84198" y="12771"/>
                      <a:pt x="84837" y="12771"/>
                    </a:cubicBezTo>
                    <a:cubicBezTo>
                      <a:pt x="84837" y="12771"/>
                      <a:pt x="102729" y="12771"/>
                      <a:pt x="112953" y="24900"/>
                    </a:cubicBezTo>
                    <a:cubicBezTo>
                      <a:pt x="121260" y="35115"/>
                      <a:pt x="122538" y="50436"/>
                      <a:pt x="117426" y="71503"/>
                    </a:cubicBezTo>
                    <a:cubicBezTo>
                      <a:pt x="114231" y="84271"/>
                      <a:pt x="107841" y="100231"/>
                      <a:pt x="101451" y="108531"/>
                    </a:cubicBezTo>
                    <a:cubicBezTo>
                      <a:pt x="97617" y="113638"/>
                      <a:pt x="98895" y="122575"/>
                      <a:pt x="100173" y="128959"/>
                    </a:cubicBezTo>
                    <a:cubicBezTo>
                      <a:pt x="102090" y="138535"/>
                      <a:pt x="107841" y="150026"/>
                      <a:pt x="116148" y="154495"/>
                    </a:cubicBezTo>
                    <a:cubicBezTo>
                      <a:pt x="121899" y="157687"/>
                      <a:pt x="128288" y="157687"/>
                      <a:pt x="135317" y="158326"/>
                    </a:cubicBezTo>
                    <a:cubicBezTo>
                      <a:pt x="142985" y="158964"/>
                      <a:pt x="150653" y="158964"/>
                      <a:pt x="160238" y="163433"/>
                    </a:cubicBezTo>
                    <a:cubicBezTo>
                      <a:pt x="160877" y="164071"/>
                      <a:pt x="162155" y="164071"/>
                      <a:pt x="162794" y="164071"/>
                    </a:cubicBezTo>
                    <a:cubicBezTo>
                      <a:pt x="165350" y="164071"/>
                      <a:pt x="167267" y="162794"/>
                      <a:pt x="168545" y="160241"/>
                    </a:cubicBezTo>
                    <a:cubicBezTo>
                      <a:pt x="169823" y="157687"/>
                      <a:pt x="167906" y="153857"/>
                      <a:pt x="164711" y="15258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6" name="Group 55">
            <a:extLst>
              <a:ext uri="{FF2B5EF4-FFF2-40B4-BE49-F238E27FC236}">
                <a16:creationId xmlns:a16="http://schemas.microsoft.com/office/drawing/2014/main" id="{633D66D9-6860-52D5-19A2-B6B02F6A3D08}"/>
              </a:ext>
            </a:extLst>
          </p:cNvPr>
          <p:cNvGrpSpPr/>
          <p:nvPr/>
        </p:nvGrpSpPr>
        <p:grpSpPr>
          <a:xfrm>
            <a:off x="1299576" y="4658192"/>
            <a:ext cx="6117223" cy="630000"/>
            <a:chOff x="1299577" y="4678512"/>
            <a:chExt cx="6117223" cy="630000"/>
          </a:xfrm>
        </p:grpSpPr>
        <p:sp>
          <p:nvSpPr>
            <p:cNvPr id="26" name="TextBox 25">
              <a:extLst>
                <a:ext uri="{FF2B5EF4-FFF2-40B4-BE49-F238E27FC236}">
                  <a16:creationId xmlns:a16="http://schemas.microsoft.com/office/drawing/2014/main" id="{3C1DB4A1-789A-7251-22C5-35D8436C548F}"/>
                </a:ext>
              </a:extLst>
            </p:cNvPr>
            <p:cNvSpPr txBox="1"/>
            <p:nvPr/>
          </p:nvSpPr>
          <p:spPr>
            <a:xfrm>
              <a:off x="2081473" y="4716513"/>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3rd-Party Oversight</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45" name="Graphic 4">
              <a:extLst>
                <a:ext uri="{FF2B5EF4-FFF2-40B4-BE49-F238E27FC236}">
                  <a16:creationId xmlns:a16="http://schemas.microsoft.com/office/drawing/2014/main" id="{25127CCA-5C53-2F77-0674-E3B2861CB5C6}"/>
                </a:ext>
              </a:extLst>
            </p:cNvPr>
            <p:cNvGrpSpPr/>
            <p:nvPr/>
          </p:nvGrpSpPr>
          <p:grpSpPr>
            <a:xfrm>
              <a:off x="1299577" y="4678512"/>
              <a:ext cx="630000" cy="630000"/>
              <a:chOff x="6753524" y="4792617"/>
              <a:chExt cx="361670" cy="361333"/>
            </a:xfrm>
            <a:solidFill>
              <a:schemeClr val="accent1"/>
            </a:solidFill>
          </p:grpSpPr>
          <p:sp>
            <p:nvSpPr>
              <p:cNvPr id="46" name="Graphic 4">
                <a:extLst>
                  <a:ext uri="{FF2B5EF4-FFF2-40B4-BE49-F238E27FC236}">
                    <a16:creationId xmlns:a16="http://schemas.microsoft.com/office/drawing/2014/main" id="{25509BFC-BCE2-3D86-4E06-86CB0AF28208}"/>
                  </a:ext>
                </a:extLst>
              </p:cNvPr>
              <p:cNvSpPr/>
              <p:nvPr/>
            </p:nvSpPr>
            <p:spPr>
              <a:xfrm>
                <a:off x="6753524"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1157" y="0"/>
                      <a:pt x="180835" y="0"/>
                    </a:cubicBezTo>
                    <a:close/>
                    <a:moveTo>
                      <a:pt x="180835" y="349204"/>
                    </a:moveTo>
                    <a:cubicBezTo>
                      <a:pt x="88181" y="349204"/>
                      <a:pt x="12780" y="273873"/>
                      <a:pt x="12780" y="181305"/>
                    </a:cubicBezTo>
                    <a:cubicBezTo>
                      <a:pt x="12780" y="88738"/>
                      <a:pt x="88181" y="13407"/>
                      <a:pt x="180835" y="13407"/>
                    </a:cubicBezTo>
                    <a:cubicBezTo>
                      <a:pt x="273489" y="13407"/>
                      <a:pt x="348890" y="88738"/>
                      <a:pt x="348890" y="181305"/>
                    </a:cubicBezTo>
                    <a:cubicBezTo>
                      <a:pt x="348890" y="273873"/>
                      <a:pt x="274128"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raphic 4">
                <a:extLst>
                  <a:ext uri="{FF2B5EF4-FFF2-40B4-BE49-F238E27FC236}">
                    <a16:creationId xmlns:a16="http://schemas.microsoft.com/office/drawing/2014/main" id="{50598E0F-D451-8E89-E566-24C4A4F7D34C}"/>
                  </a:ext>
                </a:extLst>
              </p:cNvPr>
              <p:cNvSpPr/>
              <p:nvPr/>
            </p:nvSpPr>
            <p:spPr>
              <a:xfrm>
                <a:off x="6816785" y="4887101"/>
                <a:ext cx="235788" cy="173644"/>
              </a:xfrm>
              <a:custGeom>
                <a:avLst/>
                <a:gdLst>
                  <a:gd name="connsiteX0" fmla="*/ 228120 w 235788"/>
                  <a:gd name="connsiteY0" fmla="*/ 12768 h 173644"/>
                  <a:gd name="connsiteX1" fmla="*/ 229398 w 235788"/>
                  <a:gd name="connsiteY1" fmla="*/ 12768 h 173644"/>
                  <a:gd name="connsiteX2" fmla="*/ 235788 w 235788"/>
                  <a:gd name="connsiteY2" fmla="*/ 6384 h 173644"/>
                  <a:gd name="connsiteX3" fmla="*/ 229398 w 235788"/>
                  <a:gd name="connsiteY3" fmla="*/ 0 h 173644"/>
                  <a:gd name="connsiteX4" fmla="*/ 221731 w 235788"/>
                  <a:gd name="connsiteY4" fmla="*/ 0 h 173644"/>
                  <a:gd name="connsiteX5" fmla="*/ 215341 w 235788"/>
                  <a:gd name="connsiteY5" fmla="*/ 6384 h 173644"/>
                  <a:gd name="connsiteX6" fmla="*/ 215341 w 235788"/>
                  <a:gd name="connsiteY6" fmla="*/ 23620 h 173644"/>
                  <a:gd name="connsiteX7" fmla="*/ 182752 w 235788"/>
                  <a:gd name="connsiteY7" fmla="*/ 23620 h 173644"/>
                  <a:gd name="connsiteX8" fmla="*/ 127799 w 235788"/>
                  <a:gd name="connsiteY8" fmla="*/ 7660 h 173644"/>
                  <a:gd name="connsiteX9" fmla="*/ 123325 w 235788"/>
                  <a:gd name="connsiteY9" fmla="*/ 8299 h 173644"/>
                  <a:gd name="connsiteX10" fmla="*/ 95209 w 235788"/>
                  <a:gd name="connsiteY10" fmla="*/ 23620 h 173644"/>
                  <a:gd name="connsiteX11" fmla="*/ 94571 w 235788"/>
                  <a:gd name="connsiteY11" fmla="*/ 23620 h 173644"/>
                  <a:gd name="connsiteX12" fmla="*/ 20447 w 235788"/>
                  <a:gd name="connsiteY12" fmla="*/ 23620 h 173644"/>
                  <a:gd name="connsiteX13" fmla="*/ 20447 w 235788"/>
                  <a:gd name="connsiteY13" fmla="*/ 6384 h 173644"/>
                  <a:gd name="connsiteX14" fmla="*/ 14058 w 235788"/>
                  <a:gd name="connsiteY14" fmla="*/ 0 h 173644"/>
                  <a:gd name="connsiteX15" fmla="*/ 6390 w 235788"/>
                  <a:gd name="connsiteY15" fmla="*/ 0 h 173644"/>
                  <a:gd name="connsiteX16" fmla="*/ 0 w 235788"/>
                  <a:gd name="connsiteY16" fmla="*/ 6384 h 173644"/>
                  <a:gd name="connsiteX17" fmla="*/ 6390 w 235788"/>
                  <a:gd name="connsiteY17" fmla="*/ 12768 h 173644"/>
                  <a:gd name="connsiteX18" fmla="*/ 7668 w 235788"/>
                  <a:gd name="connsiteY18" fmla="*/ 12768 h 173644"/>
                  <a:gd name="connsiteX19" fmla="*/ 7668 w 235788"/>
                  <a:gd name="connsiteY19" fmla="*/ 127680 h 173644"/>
                  <a:gd name="connsiteX20" fmla="*/ 6390 w 235788"/>
                  <a:gd name="connsiteY20" fmla="*/ 127680 h 173644"/>
                  <a:gd name="connsiteX21" fmla="*/ 0 w 235788"/>
                  <a:gd name="connsiteY21" fmla="*/ 134064 h 173644"/>
                  <a:gd name="connsiteX22" fmla="*/ 6390 w 235788"/>
                  <a:gd name="connsiteY22" fmla="*/ 140448 h 173644"/>
                  <a:gd name="connsiteX23" fmla="*/ 14058 w 235788"/>
                  <a:gd name="connsiteY23" fmla="*/ 140448 h 173644"/>
                  <a:gd name="connsiteX24" fmla="*/ 20447 w 235788"/>
                  <a:gd name="connsiteY24" fmla="*/ 134064 h 173644"/>
                  <a:gd name="connsiteX25" fmla="*/ 20447 w 235788"/>
                  <a:gd name="connsiteY25" fmla="*/ 124488 h 173644"/>
                  <a:gd name="connsiteX26" fmla="*/ 34505 w 235788"/>
                  <a:gd name="connsiteY26" fmla="*/ 124488 h 173644"/>
                  <a:gd name="connsiteX27" fmla="*/ 56870 w 235788"/>
                  <a:gd name="connsiteY27" fmla="*/ 161515 h 173644"/>
                  <a:gd name="connsiteX28" fmla="*/ 70928 w 235788"/>
                  <a:gd name="connsiteY28" fmla="*/ 172368 h 173644"/>
                  <a:gd name="connsiteX29" fmla="*/ 77957 w 235788"/>
                  <a:gd name="connsiteY29" fmla="*/ 173644 h 173644"/>
                  <a:gd name="connsiteX30" fmla="*/ 88820 w 235788"/>
                  <a:gd name="connsiteY30" fmla="*/ 170452 h 173644"/>
                  <a:gd name="connsiteX31" fmla="*/ 95849 w 235788"/>
                  <a:gd name="connsiteY31" fmla="*/ 164068 h 173644"/>
                  <a:gd name="connsiteX32" fmla="*/ 107989 w 235788"/>
                  <a:gd name="connsiteY32" fmla="*/ 171729 h 173644"/>
                  <a:gd name="connsiteX33" fmla="*/ 113740 w 235788"/>
                  <a:gd name="connsiteY33" fmla="*/ 172368 h 173644"/>
                  <a:gd name="connsiteX34" fmla="*/ 125881 w 235788"/>
                  <a:gd name="connsiteY34" fmla="*/ 169176 h 173644"/>
                  <a:gd name="connsiteX35" fmla="*/ 133549 w 235788"/>
                  <a:gd name="connsiteY35" fmla="*/ 161515 h 173644"/>
                  <a:gd name="connsiteX36" fmla="*/ 152080 w 235788"/>
                  <a:gd name="connsiteY36" fmla="*/ 170452 h 173644"/>
                  <a:gd name="connsiteX37" fmla="*/ 163582 w 235788"/>
                  <a:gd name="connsiteY37" fmla="*/ 167260 h 173644"/>
                  <a:gd name="connsiteX38" fmla="*/ 173806 w 235788"/>
                  <a:gd name="connsiteY38" fmla="*/ 153216 h 173644"/>
                  <a:gd name="connsiteX39" fmla="*/ 173806 w 235788"/>
                  <a:gd name="connsiteY39" fmla="*/ 153216 h 173644"/>
                  <a:gd name="connsiteX40" fmla="*/ 179557 w 235788"/>
                  <a:gd name="connsiteY40" fmla="*/ 153854 h 173644"/>
                  <a:gd name="connsiteX41" fmla="*/ 191698 w 235788"/>
                  <a:gd name="connsiteY41" fmla="*/ 150662 h 173644"/>
                  <a:gd name="connsiteX42" fmla="*/ 202561 w 235788"/>
                  <a:gd name="connsiteY42" fmla="*/ 124488 h 173644"/>
                  <a:gd name="connsiteX43" fmla="*/ 214063 w 235788"/>
                  <a:gd name="connsiteY43" fmla="*/ 124488 h 173644"/>
                  <a:gd name="connsiteX44" fmla="*/ 215341 w 235788"/>
                  <a:gd name="connsiteY44" fmla="*/ 123849 h 173644"/>
                  <a:gd name="connsiteX45" fmla="*/ 215341 w 235788"/>
                  <a:gd name="connsiteY45" fmla="*/ 133425 h 173644"/>
                  <a:gd name="connsiteX46" fmla="*/ 221731 w 235788"/>
                  <a:gd name="connsiteY46" fmla="*/ 139809 h 173644"/>
                  <a:gd name="connsiteX47" fmla="*/ 229398 w 235788"/>
                  <a:gd name="connsiteY47" fmla="*/ 139809 h 173644"/>
                  <a:gd name="connsiteX48" fmla="*/ 235788 w 235788"/>
                  <a:gd name="connsiteY48" fmla="*/ 133425 h 173644"/>
                  <a:gd name="connsiteX49" fmla="*/ 229398 w 235788"/>
                  <a:gd name="connsiteY49" fmla="*/ 127041 h 173644"/>
                  <a:gd name="connsiteX50" fmla="*/ 228120 w 235788"/>
                  <a:gd name="connsiteY50" fmla="*/ 127041 h 173644"/>
                  <a:gd name="connsiteX51" fmla="*/ 228120 w 235788"/>
                  <a:gd name="connsiteY51" fmla="*/ 12768 h 173644"/>
                  <a:gd name="connsiteX52" fmla="*/ 189781 w 235788"/>
                  <a:gd name="connsiteY52" fmla="*/ 132787 h 173644"/>
                  <a:gd name="connsiteX53" fmla="*/ 184669 w 235788"/>
                  <a:gd name="connsiteY53" fmla="*/ 139171 h 173644"/>
                  <a:gd name="connsiteX54" fmla="*/ 177001 w 235788"/>
                  <a:gd name="connsiteY54" fmla="*/ 140448 h 173644"/>
                  <a:gd name="connsiteX55" fmla="*/ 170611 w 235788"/>
                  <a:gd name="connsiteY55" fmla="*/ 135340 h 173644"/>
                  <a:gd name="connsiteX56" fmla="*/ 145051 w 235788"/>
                  <a:gd name="connsiteY56" fmla="*/ 91929 h 173644"/>
                  <a:gd name="connsiteX57" fmla="*/ 136105 w 235788"/>
                  <a:gd name="connsiteY57" fmla="*/ 89376 h 173644"/>
                  <a:gd name="connsiteX58" fmla="*/ 133549 w 235788"/>
                  <a:gd name="connsiteY58" fmla="*/ 98313 h 173644"/>
                  <a:gd name="connsiteX59" fmla="*/ 159109 w 235788"/>
                  <a:gd name="connsiteY59" fmla="*/ 141724 h 173644"/>
                  <a:gd name="connsiteX60" fmla="*/ 156553 w 235788"/>
                  <a:gd name="connsiteY60" fmla="*/ 155769 h 173644"/>
                  <a:gd name="connsiteX61" fmla="*/ 141856 w 235788"/>
                  <a:gd name="connsiteY61" fmla="*/ 151939 h 173644"/>
                  <a:gd name="connsiteX62" fmla="*/ 132910 w 235788"/>
                  <a:gd name="connsiteY62" fmla="*/ 137256 h 173644"/>
                  <a:gd name="connsiteX63" fmla="*/ 132910 w 235788"/>
                  <a:gd name="connsiteY63" fmla="*/ 136617 h 173644"/>
                  <a:gd name="connsiteX64" fmla="*/ 132910 w 235788"/>
                  <a:gd name="connsiteY64" fmla="*/ 136617 h 173644"/>
                  <a:gd name="connsiteX65" fmla="*/ 120769 w 235788"/>
                  <a:gd name="connsiteY65" fmla="*/ 115550 h 173644"/>
                  <a:gd name="connsiteX66" fmla="*/ 120130 w 235788"/>
                  <a:gd name="connsiteY66" fmla="*/ 114912 h 173644"/>
                  <a:gd name="connsiteX67" fmla="*/ 118214 w 235788"/>
                  <a:gd name="connsiteY67" fmla="*/ 111081 h 173644"/>
                  <a:gd name="connsiteX68" fmla="*/ 109268 w 235788"/>
                  <a:gd name="connsiteY68" fmla="*/ 109166 h 173644"/>
                  <a:gd name="connsiteX69" fmla="*/ 107350 w 235788"/>
                  <a:gd name="connsiteY69" fmla="*/ 118104 h 173644"/>
                  <a:gd name="connsiteX70" fmla="*/ 122686 w 235788"/>
                  <a:gd name="connsiteY70" fmla="*/ 143640 h 173644"/>
                  <a:gd name="connsiteX71" fmla="*/ 118853 w 235788"/>
                  <a:gd name="connsiteY71" fmla="*/ 157684 h 173644"/>
                  <a:gd name="connsiteX72" fmla="*/ 111184 w 235788"/>
                  <a:gd name="connsiteY72" fmla="*/ 158961 h 173644"/>
                  <a:gd name="connsiteX73" fmla="*/ 104794 w 235788"/>
                  <a:gd name="connsiteY73" fmla="*/ 153854 h 173644"/>
                  <a:gd name="connsiteX74" fmla="*/ 104794 w 235788"/>
                  <a:gd name="connsiteY74" fmla="*/ 153854 h 173644"/>
                  <a:gd name="connsiteX75" fmla="*/ 95849 w 235788"/>
                  <a:gd name="connsiteY75" fmla="*/ 139171 h 173644"/>
                  <a:gd name="connsiteX76" fmla="*/ 95849 w 235788"/>
                  <a:gd name="connsiteY76" fmla="*/ 139171 h 173644"/>
                  <a:gd name="connsiteX77" fmla="*/ 95849 w 235788"/>
                  <a:gd name="connsiteY77" fmla="*/ 139171 h 173644"/>
                  <a:gd name="connsiteX78" fmla="*/ 90098 w 235788"/>
                  <a:gd name="connsiteY78" fmla="*/ 130872 h 173644"/>
                  <a:gd name="connsiteX79" fmla="*/ 81152 w 235788"/>
                  <a:gd name="connsiteY79" fmla="*/ 128956 h 173644"/>
                  <a:gd name="connsiteX80" fmla="*/ 79235 w 235788"/>
                  <a:gd name="connsiteY80" fmla="*/ 137894 h 173644"/>
                  <a:gd name="connsiteX81" fmla="*/ 84986 w 235788"/>
                  <a:gd name="connsiteY81" fmla="*/ 146193 h 173644"/>
                  <a:gd name="connsiteX82" fmla="*/ 86264 w 235788"/>
                  <a:gd name="connsiteY82" fmla="*/ 153854 h 173644"/>
                  <a:gd name="connsiteX83" fmla="*/ 81791 w 235788"/>
                  <a:gd name="connsiteY83" fmla="*/ 159600 h 173644"/>
                  <a:gd name="connsiteX84" fmla="*/ 74123 w 235788"/>
                  <a:gd name="connsiteY84" fmla="*/ 160238 h 173644"/>
                  <a:gd name="connsiteX85" fmla="*/ 67094 w 235788"/>
                  <a:gd name="connsiteY85" fmla="*/ 154492 h 173644"/>
                  <a:gd name="connsiteX86" fmla="*/ 43451 w 235788"/>
                  <a:gd name="connsiteY86" fmla="*/ 114912 h 173644"/>
                  <a:gd name="connsiteX87" fmla="*/ 37700 w 235788"/>
                  <a:gd name="connsiteY87" fmla="*/ 111720 h 173644"/>
                  <a:gd name="connsiteX88" fmla="*/ 20447 w 235788"/>
                  <a:gd name="connsiteY88" fmla="*/ 111720 h 173644"/>
                  <a:gd name="connsiteX89" fmla="*/ 20447 w 235788"/>
                  <a:gd name="connsiteY89" fmla="*/ 37027 h 173644"/>
                  <a:gd name="connsiteX90" fmla="*/ 70928 w 235788"/>
                  <a:gd name="connsiteY90" fmla="*/ 37027 h 173644"/>
                  <a:gd name="connsiteX91" fmla="*/ 58787 w 235788"/>
                  <a:gd name="connsiteY91" fmla="*/ 43411 h 173644"/>
                  <a:gd name="connsiteX92" fmla="*/ 47925 w 235788"/>
                  <a:gd name="connsiteY92" fmla="*/ 62563 h 173644"/>
                  <a:gd name="connsiteX93" fmla="*/ 55592 w 235788"/>
                  <a:gd name="connsiteY93" fmla="*/ 80438 h 173644"/>
                  <a:gd name="connsiteX94" fmla="*/ 71567 w 235788"/>
                  <a:gd name="connsiteY94" fmla="*/ 84907 h 173644"/>
                  <a:gd name="connsiteX95" fmla="*/ 157831 w 235788"/>
                  <a:gd name="connsiteY95" fmla="*/ 70224 h 173644"/>
                  <a:gd name="connsiteX96" fmla="*/ 189142 w 235788"/>
                  <a:gd name="connsiteY96" fmla="*/ 125126 h 173644"/>
                  <a:gd name="connsiteX97" fmla="*/ 189781 w 235788"/>
                  <a:gd name="connsiteY97" fmla="*/ 132787 h 173644"/>
                  <a:gd name="connsiteX98" fmla="*/ 213423 w 235788"/>
                  <a:gd name="connsiteY98" fmla="*/ 111720 h 173644"/>
                  <a:gd name="connsiteX99" fmla="*/ 197448 w 235788"/>
                  <a:gd name="connsiteY99" fmla="*/ 111720 h 173644"/>
                  <a:gd name="connsiteX100" fmla="*/ 195532 w 235788"/>
                  <a:gd name="connsiteY100" fmla="*/ 112358 h 173644"/>
                  <a:gd name="connsiteX101" fmla="*/ 166138 w 235788"/>
                  <a:gd name="connsiteY101" fmla="*/ 60009 h 173644"/>
                  <a:gd name="connsiteX102" fmla="*/ 159748 w 235788"/>
                  <a:gd name="connsiteY102" fmla="*/ 56817 h 173644"/>
                  <a:gd name="connsiteX103" fmla="*/ 69011 w 235788"/>
                  <a:gd name="connsiteY103" fmla="*/ 72139 h 173644"/>
                  <a:gd name="connsiteX104" fmla="*/ 63260 w 235788"/>
                  <a:gd name="connsiteY104" fmla="*/ 70862 h 173644"/>
                  <a:gd name="connsiteX105" fmla="*/ 60065 w 235788"/>
                  <a:gd name="connsiteY105" fmla="*/ 62563 h 173644"/>
                  <a:gd name="connsiteX106" fmla="*/ 64538 w 235788"/>
                  <a:gd name="connsiteY106" fmla="*/ 54902 h 173644"/>
                  <a:gd name="connsiteX107" fmla="*/ 125881 w 235788"/>
                  <a:gd name="connsiteY107" fmla="*/ 21705 h 173644"/>
                  <a:gd name="connsiteX108" fmla="*/ 178918 w 235788"/>
                  <a:gd name="connsiteY108" fmla="*/ 37027 h 173644"/>
                  <a:gd name="connsiteX109" fmla="*/ 180835 w 235788"/>
                  <a:gd name="connsiteY109" fmla="*/ 37027 h 173644"/>
                  <a:gd name="connsiteX110" fmla="*/ 214063 w 235788"/>
                  <a:gd name="connsiteY110" fmla="*/ 37027 h 173644"/>
                  <a:gd name="connsiteX111" fmla="*/ 214063 w 235788"/>
                  <a:gd name="connsiteY111" fmla="*/ 112358 h 173644"/>
                  <a:gd name="connsiteX112" fmla="*/ 213423 w 235788"/>
                  <a:gd name="connsiteY112" fmla="*/ 111720 h 173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35788" h="173644">
                    <a:moveTo>
                      <a:pt x="228120" y="12768"/>
                    </a:moveTo>
                    <a:lnTo>
                      <a:pt x="229398" y="12768"/>
                    </a:lnTo>
                    <a:cubicBezTo>
                      <a:pt x="233233" y="12768"/>
                      <a:pt x="235788" y="10214"/>
                      <a:pt x="235788" y="6384"/>
                    </a:cubicBezTo>
                    <a:cubicBezTo>
                      <a:pt x="235788" y="2553"/>
                      <a:pt x="233233" y="0"/>
                      <a:pt x="229398" y="0"/>
                    </a:cubicBezTo>
                    <a:lnTo>
                      <a:pt x="221731" y="0"/>
                    </a:lnTo>
                    <a:cubicBezTo>
                      <a:pt x="217897" y="0"/>
                      <a:pt x="215341" y="2553"/>
                      <a:pt x="215341" y="6384"/>
                    </a:cubicBezTo>
                    <a:lnTo>
                      <a:pt x="215341" y="23620"/>
                    </a:lnTo>
                    <a:lnTo>
                      <a:pt x="182752" y="23620"/>
                    </a:lnTo>
                    <a:lnTo>
                      <a:pt x="127799" y="7660"/>
                    </a:lnTo>
                    <a:cubicBezTo>
                      <a:pt x="126520" y="7022"/>
                      <a:pt x="124604" y="7660"/>
                      <a:pt x="123325" y="8299"/>
                    </a:cubicBezTo>
                    <a:lnTo>
                      <a:pt x="95209" y="23620"/>
                    </a:lnTo>
                    <a:cubicBezTo>
                      <a:pt x="95209" y="23620"/>
                      <a:pt x="95209" y="23620"/>
                      <a:pt x="94571" y="23620"/>
                    </a:cubicBezTo>
                    <a:lnTo>
                      <a:pt x="20447" y="23620"/>
                    </a:lnTo>
                    <a:lnTo>
                      <a:pt x="20447" y="6384"/>
                    </a:lnTo>
                    <a:cubicBezTo>
                      <a:pt x="20447" y="2553"/>
                      <a:pt x="17891" y="0"/>
                      <a:pt x="14058" y="0"/>
                    </a:cubicBezTo>
                    <a:lnTo>
                      <a:pt x="6390" y="0"/>
                    </a:lnTo>
                    <a:cubicBezTo>
                      <a:pt x="2555" y="0"/>
                      <a:pt x="0" y="2553"/>
                      <a:pt x="0" y="6384"/>
                    </a:cubicBezTo>
                    <a:cubicBezTo>
                      <a:pt x="0" y="10214"/>
                      <a:pt x="2555" y="12768"/>
                      <a:pt x="6390" y="12768"/>
                    </a:cubicBezTo>
                    <a:lnTo>
                      <a:pt x="7668" y="12768"/>
                    </a:lnTo>
                    <a:lnTo>
                      <a:pt x="7668" y="127680"/>
                    </a:lnTo>
                    <a:lnTo>
                      <a:pt x="6390" y="127680"/>
                    </a:lnTo>
                    <a:cubicBezTo>
                      <a:pt x="2555" y="127680"/>
                      <a:pt x="0" y="130233"/>
                      <a:pt x="0" y="134064"/>
                    </a:cubicBezTo>
                    <a:cubicBezTo>
                      <a:pt x="0" y="137894"/>
                      <a:pt x="2555" y="140448"/>
                      <a:pt x="6390" y="140448"/>
                    </a:cubicBezTo>
                    <a:lnTo>
                      <a:pt x="14058" y="140448"/>
                    </a:lnTo>
                    <a:cubicBezTo>
                      <a:pt x="17891" y="140448"/>
                      <a:pt x="20447" y="137894"/>
                      <a:pt x="20447" y="134064"/>
                    </a:cubicBezTo>
                    <a:lnTo>
                      <a:pt x="20447" y="124488"/>
                    </a:lnTo>
                    <a:lnTo>
                      <a:pt x="34505" y="124488"/>
                    </a:lnTo>
                    <a:lnTo>
                      <a:pt x="56870" y="161515"/>
                    </a:lnTo>
                    <a:cubicBezTo>
                      <a:pt x="60065" y="166622"/>
                      <a:pt x="65177" y="170452"/>
                      <a:pt x="70928" y="172368"/>
                    </a:cubicBezTo>
                    <a:cubicBezTo>
                      <a:pt x="73484" y="173006"/>
                      <a:pt x="75401" y="173644"/>
                      <a:pt x="77957" y="173644"/>
                    </a:cubicBezTo>
                    <a:cubicBezTo>
                      <a:pt x="81791" y="173644"/>
                      <a:pt x="85625" y="172368"/>
                      <a:pt x="88820" y="170452"/>
                    </a:cubicBezTo>
                    <a:cubicBezTo>
                      <a:pt x="92014" y="168537"/>
                      <a:pt x="93932" y="166622"/>
                      <a:pt x="95849" y="164068"/>
                    </a:cubicBezTo>
                    <a:cubicBezTo>
                      <a:pt x="99044" y="167899"/>
                      <a:pt x="102878" y="170452"/>
                      <a:pt x="107989" y="171729"/>
                    </a:cubicBezTo>
                    <a:cubicBezTo>
                      <a:pt x="109907" y="172368"/>
                      <a:pt x="111824" y="172368"/>
                      <a:pt x="113740" y="172368"/>
                    </a:cubicBezTo>
                    <a:cubicBezTo>
                      <a:pt x="117574" y="172368"/>
                      <a:pt x="122048" y="171091"/>
                      <a:pt x="125881" y="169176"/>
                    </a:cubicBezTo>
                    <a:cubicBezTo>
                      <a:pt x="129076" y="167260"/>
                      <a:pt x="131633" y="164707"/>
                      <a:pt x="133549" y="161515"/>
                    </a:cubicBezTo>
                    <a:cubicBezTo>
                      <a:pt x="138022" y="167260"/>
                      <a:pt x="145051" y="170452"/>
                      <a:pt x="152080" y="170452"/>
                    </a:cubicBezTo>
                    <a:cubicBezTo>
                      <a:pt x="155914" y="170452"/>
                      <a:pt x="159748" y="169176"/>
                      <a:pt x="163582" y="167260"/>
                    </a:cubicBezTo>
                    <a:cubicBezTo>
                      <a:pt x="169333" y="164068"/>
                      <a:pt x="172528" y="158961"/>
                      <a:pt x="173806" y="153216"/>
                    </a:cubicBezTo>
                    <a:cubicBezTo>
                      <a:pt x="173806" y="153216"/>
                      <a:pt x="173806" y="153216"/>
                      <a:pt x="173806" y="153216"/>
                    </a:cubicBezTo>
                    <a:cubicBezTo>
                      <a:pt x="175723" y="153854"/>
                      <a:pt x="177640" y="153854"/>
                      <a:pt x="179557" y="153854"/>
                    </a:cubicBezTo>
                    <a:cubicBezTo>
                      <a:pt x="183391" y="153854"/>
                      <a:pt x="187864" y="152577"/>
                      <a:pt x="191698" y="150662"/>
                    </a:cubicBezTo>
                    <a:cubicBezTo>
                      <a:pt x="200643" y="145555"/>
                      <a:pt x="205117" y="134702"/>
                      <a:pt x="202561" y="124488"/>
                    </a:cubicBezTo>
                    <a:lnTo>
                      <a:pt x="214063" y="124488"/>
                    </a:lnTo>
                    <a:cubicBezTo>
                      <a:pt x="214702" y="124488"/>
                      <a:pt x="215341" y="124488"/>
                      <a:pt x="215341" y="123849"/>
                    </a:cubicBezTo>
                    <a:lnTo>
                      <a:pt x="215341" y="133425"/>
                    </a:lnTo>
                    <a:cubicBezTo>
                      <a:pt x="215341" y="137256"/>
                      <a:pt x="217897" y="139809"/>
                      <a:pt x="221731" y="139809"/>
                    </a:cubicBezTo>
                    <a:lnTo>
                      <a:pt x="229398" y="139809"/>
                    </a:lnTo>
                    <a:cubicBezTo>
                      <a:pt x="233233" y="139809"/>
                      <a:pt x="235788" y="137256"/>
                      <a:pt x="235788" y="133425"/>
                    </a:cubicBezTo>
                    <a:cubicBezTo>
                      <a:pt x="235788" y="129595"/>
                      <a:pt x="233233" y="127041"/>
                      <a:pt x="229398" y="127041"/>
                    </a:cubicBezTo>
                    <a:lnTo>
                      <a:pt x="228120" y="127041"/>
                    </a:lnTo>
                    <a:lnTo>
                      <a:pt x="228120" y="12768"/>
                    </a:lnTo>
                    <a:close/>
                    <a:moveTo>
                      <a:pt x="189781" y="132787"/>
                    </a:moveTo>
                    <a:cubicBezTo>
                      <a:pt x="189142" y="135340"/>
                      <a:pt x="187225" y="137894"/>
                      <a:pt x="184669" y="139171"/>
                    </a:cubicBezTo>
                    <a:cubicBezTo>
                      <a:pt x="182113" y="140448"/>
                      <a:pt x="179557" y="141086"/>
                      <a:pt x="177001" y="140448"/>
                    </a:cubicBezTo>
                    <a:cubicBezTo>
                      <a:pt x="174445" y="139809"/>
                      <a:pt x="171889" y="137894"/>
                      <a:pt x="170611" y="135340"/>
                    </a:cubicBezTo>
                    <a:lnTo>
                      <a:pt x="145051" y="91929"/>
                    </a:lnTo>
                    <a:cubicBezTo>
                      <a:pt x="143134" y="88737"/>
                      <a:pt x="139300" y="88099"/>
                      <a:pt x="136105" y="89376"/>
                    </a:cubicBezTo>
                    <a:cubicBezTo>
                      <a:pt x="132910" y="90652"/>
                      <a:pt x="132271" y="95121"/>
                      <a:pt x="133549" y="98313"/>
                    </a:cubicBezTo>
                    <a:lnTo>
                      <a:pt x="159109" y="141724"/>
                    </a:lnTo>
                    <a:cubicBezTo>
                      <a:pt x="161665" y="146193"/>
                      <a:pt x="161665" y="152577"/>
                      <a:pt x="156553" y="155769"/>
                    </a:cubicBezTo>
                    <a:cubicBezTo>
                      <a:pt x="151441" y="158961"/>
                      <a:pt x="145051" y="157046"/>
                      <a:pt x="141856" y="151939"/>
                    </a:cubicBezTo>
                    <a:lnTo>
                      <a:pt x="132910" y="137256"/>
                    </a:lnTo>
                    <a:cubicBezTo>
                      <a:pt x="132910" y="137256"/>
                      <a:pt x="132910" y="137256"/>
                      <a:pt x="132910" y="136617"/>
                    </a:cubicBezTo>
                    <a:cubicBezTo>
                      <a:pt x="132910" y="136617"/>
                      <a:pt x="132910" y="136617"/>
                      <a:pt x="132910" y="136617"/>
                    </a:cubicBezTo>
                    <a:lnTo>
                      <a:pt x="120769" y="115550"/>
                    </a:lnTo>
                    <a:cubicBezTo>
                      <a:pt x="120769" y="115550"/>
                      <a:pt x="120130" y="114912"/>
                      <a:pt x="120130" y="114912"/>
                    </a:cubicBezTo>
                    <a:lnTo>
                      <a:pt x="118214" y="111081"/>
                    </a:lnTo>
                    <a:cubicBezTo>
                      <a:pt x="116297" y="107889"/>
                      <a:pt x="112463" y="107251"/>
                      <a:pt x="109268" y="109166"/>
                    </a:cubicBezTo>
                    <a:cubicBezTo>
                      <a:pt x="106073" y="111081"/>
                      <a:pt x="105434" y="114912"/>
                      <a:pt x="107350" y="118104"/>
                    </a:cubicBezTo>
                    <a:lnTo>
                      <a:pt x="122686" y="143640"/>
                    </a:lnTo>
                    <a:cubicBezTo>
                      <a:pt x="125243" y="148747"/>
                      <a:pt x="123964" y="154492"/>
                      <a:pt x="118853" y="157684"/>
                    </a:cubicBezTo>
                    <a:cubicBezTo>
                      <a:pt x="116297" y="158961"/>
                      <a:pt x="113740" y="159600"/>
                      <a:pt x="111184" y="158961"/>
                    </a:cubicBezTo>
                    <a:cubicBezTo>
                      <a:pt x="108629" y="158323"/>
                      <a:pt x="106073" y="156408"/>
                      <a:pt x="104794" y="153854"/>
                    </a:cubicBezTo>
                    <a:cubicBezTo>
                      <a:pt x="104794" y="153854"/>
                      <a:pt x="104794" y="153854"/>
                      <a:pt x="104794" y="153854"/>
                    </a:cubicBezTo>
                    <a:lnTo>
                      <a:pt x="95849" y="139171"/>
                    </a:lnTo>
                    <a:cubicBezTo>
                      <a:pt x="95849" y="139171"/>
                      <a:pt x="95849" y="139171"/>
                      <a:pt x="95849" y="139171"/>
                    </a:cubicBezTo>
                    <a:cubicBezTo>
                      <a:pt x="95849" y="139171"/>
                      <a:pt x="95849" y="139171"/>
                      <a:pt x="95849" y="139171"/>
                    </a:cubicBezTo>
                    <a:lnTo>
                      <a:pt x="90098" y="130872"/>
                    </a:lnTo>
                    <a:cubicBezTo>
                      <a:pt x="88181" y="127680"/>
                      <a:pt x="84347" y="127041"/>
                      <a:pt x="81152" y="128956"/>
                    </a:cubicBezTo>
                    <a:cubicBezTo>
                      <a:pt x="77957" y="130872"/>
                      <a:pt x="77318" y="134702"/>
                      <a:pt x="79235" y="137894"/>
                    </a:cubicBezTo>
                    <a:lnTo>
                      <a:pt x="84986" y="146193"/>
                    </a:lnTo>
                    <a:cubicBezTo>
                      <a:pt x="86264" y="148747"/>
                      <a:pt x="86903" y="151300"/>
                      <a:pt x="86264" y="153854"/>
                    </a:cubicBezTo>
                    <a:cubicBezTo>
                      <a:pt x="85625" y="156408"/>
                      <a:pt x="84347" y="158323"/>
                      <a:pt x="81791" y="159600"/>
                    </a:cubicBezTo>
                    <a:cubicBezTo>
                      <a:pt x="79874" y="160876"/>
                      <a:pt x="76679" y="160876"/>
                      <a:pt x="74123" y="160238"/>
                    </a:cubicBezTo>
                    <a:cubicBezTo>
                      <a:pt x="71567" y="159600"/>
                      <a:pt x="69011" y="157684"/>
                      <a:pt x="67094" y="154492"/>
                    </a:cubicBezTo>
                    <a:lnTo>
                      <a:pt x="43451" y="114912"/>
                    </a:lnTo>
                    <a:cubicBezTo>
                      <a:pt x="42173" y="112996"/>
                      <a:pt x="40256" y="111720"/>
                      <a:pt x="37700" y="111720"/>
                    </a:cubicBezTo>
                    <a:lnTo>
                      <a:pt x="20447" y="111720"/>
                    </a:lnTo>
                    <a:lnTo>
                      <a:pt x="20447" y="37027"/>
                    </a:lnTo>
                    <a:lnTo>
                      <a:pt x="70928" y="37027"/>
                    </a:lnTo>
                    <a:lnTo>
                      <a:pt x="58787" y="43411"/>
                    </a:lnTo>
                    <a:cubicBezTo>
                      <a:pt x="51758" y="47241"/>
                      <a:pt x="47925" y="54264"/>
                      <a:pt x="47925" y="62563"/>
                    </a:cubicBezTo>
                    <a:cubicBezTo>
                      <a:pt x="47925" y="69585"/>
                      <a:pt x="50480" y="75969"/>
                      <a:pt x="55592" y="80438"/>
                    </a:cubicBezTo>
                    <a:cubicBezTo>
                      <a:pt x="60065" y="84268"/>
                      <a:pt x="65177" y="85545"/>
                      <a:pt x="71567" y="84907"/>
                    </a:cubicBezTo>
                    <a:lnTo>
                      <a:pt x="157831" y="70224"/>
                    </a:lnTo>
                    <a:lnTo>
                      <a:pt x="189142" y="125126"/>
                    </a:lnTo>
                    <a:cubicBezTo>
                      <a:pt x="189781" y="127680"/>
                      <a:pt x="190420" y="130233"/>
                      <a:pt x="189781" y="132787"/>
                    </a:cubicBezTo>
                    <a:close/>
                    <a:moveTo>
                      <a:pt x="213423" y="111720"/>
                    </a:moveTo>
                    <a:lnTo>
                      <a:pt x="197448" y="111720"/>
                    </a:lnTo>
                    <a:cubicBezTo>
                      <a:pt x="196810" y="111720"/>
                      <a:pt x="196171" y="111720"/>
                      <a:pt x="195532" y="112358"/>
                    </a:cubicBezTo>
                    <a:lnTo>
                      <a:pt x="166138" y="60009"/>
                    </a:lnTo>
                    <a:cubicBezTo>
                      <a:pt x="164860" y="57456"/>
                      <a:pt x="162304" y="56179"/>
                      <a:pt x="159748" y="56817"/>
                    </a:cubicBezTo>
                    <a:lnTo>
                      <a:pt x="69011" y="72139"/>
                    </a:lnTo>
                    <a:cubicBezTo>
                      <a:pt x="66455" y="72777"/>
                      <a:pt x="65177" y="72139"/>
                      <a:pt x="63260" y="70862"/>
                    </a:cubicBezTo>
                    <a:cubicBezTo>
                      <a:pt x="61343" y="68947"/>
                      <a:pt x="60065" y="65755"/>
                      <a:pt x="60065" y="62563"/>
                    </a:cubicBezTo>
                    <a:cubicBezTo>
                      <a:pt x="60065" y="59371"/>
                      <a:pt x="61982" y="56179"/>
                      <a:pt x="64538" y="54902"/>
                    </a:cubicBezTo>
                    <a:lnTo>
                      <a:pt x="125881" y="21705"/>
                    </a:lnTo>
                    <a:lnTo>
                      <a:pt x="178918" y="37027"/>
                    </a:lnTo>
                    <a:cubicBezTo>
                      <a:pt x="179557" y="37027"/>
                      <a:pt x="180196" y="37027"/>
                      <a:pt x="180835" y="37027"/>
                    </a:cubicBezTo>
                    <a:lnTo>
                      <a:pt x="214063" y="37027"/>
                    </a:lnTo>
                    <a:lnTo>
                      <a:pt x="214063" y="112358"/>
                    </a:lnTo>
                    <a:cubicBezTo>
                      <a:pt x="214702" y="111720"/>
                      <a:pt x="214063" y="111720"/>
                      <a:pt x="213423" y="11172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5" name="Group 54">
            <a:extLst>
              <a:ext uri="{FF2B5EF4-FFF2-40B4-BE49-F238E27FC236}">
                <a16:creationId xmlns:a16="http://schemas.microsoft.com/office/drawing/2014/main" id="{DAEC2FD3-DA8F-0C79-1015-7C65C40DE9B8}"/>
              </a:ext>
            </a:extLst>
          </p:cNvPr>
          <p:cNvGrpSpPr/>
          <p:nvPr/>
        </p:nvGrpSpPr>
        <p:grpSpPr>
          <a:xfrm>
            <a:off x="1299576" y="3702391"/>
            <a:ext cx="6117223" cy="630000"/>
            <a:chOff x="1299577" y="3870831"/>
            <a:chExt cx="6117223" cy="630000"/>
          </a:xfrm>
        </p:grpSpPr>
        <p:sp>
          <p:nvSpPr>
            <p:cNvPr id="24" name="TextBox 23">
              <a:extLst>
                <a:ext uri="{FF2B5EF4-FFF2-40B4-BE49-F238E27FC236}">
                  <a16:creationId xmlns:a16="http://schemas.microsoft.com/office/drawing/2014/main" id="{5ED33911-F88C-438E-3EA2-46DDCDFE80F0}"/>
                </a:ext>
              </a:extLst>
            </p:cNvPr>
            <p:cNvSpPr txBox="1"/>
            <p:nvPr/>
          </p:nvSpPr>
          <p:spPr>
            <a:xfrm>
              <a:off x="2081473" y="3908832"/>
              <a:ext cx="5335327"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Onboarding Verification</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48" name="Graphic 4">
              <a:extLst>
                <a:ext uri="{FF2B5EF4-FFF2-40B4-BE49-F238E27FC236}">
                  <a16:creationId xmlns:a16="http://schemas.microsoft.com/office/drawing/2014/main" id="{ADD1FA1B-A8AB-828D-C6E3-2536752A1466}"/>
                </a:ext>
              </a:extLst>
            </p:cNvPr>
            <p:cNvGrpSpPr/>
            <p:nvPr/>
          </p:nvGrpSpPr>
          <p:grpSpPr>
            <a:xfrm>
              <a:off x="1299577" y="3870831"/>
              <a:ext cx="630000" cy="630000"/>
              <a:chOff x="467743" y="4308712"/>
              <a:chExt cx="361670" cy="361333"/>
            </a:xfrm>
            <a:solidFill>
              <a:schemeClr val="accent1"/>
            </a:solidFill>
          </p:grpSpPr>
          <p:sp>
            <p:nvSpPr>
              <p:cNvPr id="49" name="Graphic 4">
                <a:extLst>
                  <a:ext uri="{FF2B5EF4-FFF2-40B4-BE49-F238E27FC236}">
                    <a16:creationId xmlns:a16="http://schemas.microsoft.com/office/drawing/2014/main" id="{B6E7FE16-89F7-A6B8-70F3-F0B5A4A09198}"/>
                  </a:ext>
                </a:extLst>
              </p:cNvPr>
              <p:cNvSpPr/>
              <p:nvPr/>
            </p:nvSpPr>
            <p:spPr>
              <a:xfrm>
                <a:off x="467743" y="4308712"/>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80835" y="349204"/>
                    </a:moveTo>
                    <a:cubicBezTo>
                      <a:pt x="88181" y="349204"/>
                      <a:pt x="12780" y="273873"/>
                      <a:pt x="12780" y="181305"/>
                    </a:cubicBezTo>
                    <a:cubicBezTo>
                      <a:pt x="12780" y="88738"/>
                      <a:pt x="88181" y="13407"/>
                      <a:pt x="180835" y="13407"/>
                    </a:cubicBezTo>
                    <a:cubicBezTo>
                      <a:pt x="273489" y="13407"/>
                      <a:pt x="348891" y="88738"/>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raphic 4">
                <a:extLst>
                  <a:ext uri="{FF2B5EF4-FFF2-40B4-BE49-F238E27FC236}">
                    <a16:creationId xmlns:a16="http://schemas.microsoft.com/office/drawing/2014/main" id="{45119362-7BA1-054F-132A-82A631892653}"/>
                  </a:ext>
                </a:extLst>
              </p:cNvPr>
              <p:cNvSpPr/>
              <p:nvPr/>
            </p:nvSpPr>
            <p:spPr>
              <a:xfrm>
                <a:off x="534198" y="4421070"/>
                <a:ext cx="228120" cy="137255"/>
              </a:xfrm>
              <a:custGeom>
                <a:avLst/>
                <a:gdLst>
                  <a:gd name="connsiteX0" fmla="*/ 227482 w 228120"/>
                  <a:gd name="connsiteY0" fmla="*/ 65116 h 137255"/>
                  <a:gd name="connsiteX1" fmla="*/ 114380 w 228120"/>
                  <a:gd name="connsiteY1" fmla="*/ 0 h 137255"/>
                  <a:gd name="connsiteX2" fmla="*/ 1278 w 228120"/>
                  <a:gd name="connsiteY2" fmla="*/ 64478 h 137255"/>
                  <a:gd name="connsiteX3" fmla="*/ 0 w 228120"/>
                  <a:gd name="connsiteY3" fmla="*/ 68947 h 137255"/>
                  <a:gd name="connsiteX4" fmla="*/ 639 w 228120"/>
                  <a:gd name="connsiteY4" fmla="*/ 72139 h 137255"/>
                  <a:gd name="connsiteX5" fmla="*/ 113741 w 228120"/>
                  <a:gd name="connsiteY5" fmla="*/ 137256 h 137255"/>
                  <a:gd name="connsiteX6" fmla="*/ 226843 w 228120"/>
                  <a:gd name="connsiteY6" fmla="*/ 72777 h 137255"/>
                  <a:gd name="connsiteX7" fmla="*/ 228121 w 228120"/>
                  <a:gd name="connsiteY7" fmla="*/ 68308 h 137255"/>
                  <a:gd name="connsiteX8" fmla="*/ 227482 w 228120"/>
                  <a:gd name="connsiteY8" fmla="*/ 65116 h 137255"/>
                  <a:gd name="connsiteX9" fmla="*/ 114380 w 228120"/>
                  <a:gd name="connsiteY9" fmla="*/ 123849 h 137255"/>
                  <a:gd name="connsiteX10" fmla="*/ 14058 w 228120"/>
                  <a:gd name="connsiteY10" fmla="*/ 68308 h 137255"/>
                  <a:gd name="connsiteX11" fmla="*/ 114380 w 228120"/>
                  <a:gd name="connsiteY11" fmla="*/ 12768 h 137255"/>
                  <a:gd name="connsiteX12" fmla="*/ 214702 w 228120"/>
                  <a:gd name="connsiteY12" fmla="*/ 68308 h 137255"/>
                  <a:gd name="connsiteX13" fmla="*/ 114380 w 228120"/>
                  <a:gd name="connsiteY13" fmla="*/ 123849 h 137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120" h="137255">
                    <a:moveTo>
                      <a:pt x="227482" y="65116"/>
                    </a:moveTo>
                    <a:cubicBezTo>
                      <a:pt x="211507" y="40857"/>
                      <a:pt x="169972" y="0"/>
                      <a:pt x="114380" y="0"/>
                    </a:cubicBezTo>
                    <a:cubicBezTo>
                      <a:pt x="63260" y="0"/>
                      <a:pt x="22365" y="33196"/>
                      <a:pt x="1278" y="64478"/>
                    </a:cubicBezTo>
                    <a:cubicBezTo>
                      <a:pt x="639" y="65755"/>
                      <a:pt x="0" y="67032"/>
                      <a:pt x="0" y="68947"/>
                    </a:cubicBezTo>
                    <a:cubicBezTo>
                      <a:pt x="0" y="70224"/>
                      <a:pt x="0" y="71500"/>
                      <a:pt x="639" y="72139"/>
                    </a:cubicBezTo>
                    <a:cubicBezTo>
                      <a:pt x="16614" y="96398"/>
                      <a:pt x="58148" y="137256"/>
                      <a:pt x="113741" y="137256"/>
                    </a:cubicBezTo>
                    <a:cubicBezTo>
                      <a:pt x="164860" y="137256"/>
                      <a:pt x="205756" y="104059"/>
                      <a:pt x="226843" y="72777"/>
                    </a:cubicBezTo>
                    <a:cubicBezTo>
                      <a:pt x="227482" y="71500"/>
                      <a:pt x="228121" y="70224"/>
                      <a:pt x="228121" y="68308"/>
                    </a:cubicBezTo>
                    <a:cubicBezTo>
                      <a:pt x="228121" y="67032"/>
                      <a:pt x="228121" y="65755"/>
                      <a:pt x="227482" y="65116"/>
                    </a:cubicBezTo>
                    <a:close/>
                    <a:moveTo>
                      <a:pt x="114380" y="123849"/>
                    </a:moveTo>
                    <a:cubicBezTo>
                      <a:pt x="66455" y="123849"/>
                      <a:pt x="30033" y="90014"/>
                      <a:pt x="14058" y="68308"/>
                    </a:cubicBezTo>
                    <a:cubicBezTo>
                      <a:pt x="33867" y="40857"/>
                      <a:pt x="70289" y="12768"/>
                      <a:pt x="114380" y="12768"/>
                    </a:cubicBezTo>
                    <a:cubicBezTo>
                      <a:pt x="162304" y="12768"/>
                      <a:pt x="198727" y="46603"/>
                      <a:pt x="214702" y="68308"/>
                    </a:cubicBezTo>
                    <a:cubicBezTo>
                      <a:pt x="194254" y="95760"/>
                      <a:pt x="158470" y="123849"/>
                      <a:pt x="114380" y="12384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raphic 4">
                <a:extLst>
                  <a:ext uri="{FF2B5EF4-FFF2-40B4-BE49-F238E27FC236}">
                    <a16:creationId xmlns:a16="http://schemas.microsoft.com/office/drawing/2014/main" id="{71DCBD07-6C37-F765-CF2B-C7083F76CABD}"/>
                  </a:ext>
                </a:extLst>
              </p:cNvPr>
              <p:cNvSpPr/>
              <p:nvPr/>
            </p:nvSpPr>
            <p:spPr>
              <a:xfrm>
                <a:off x="610238" y="4452351"/>
                <a:ext cx="75401" cy="75330"/>
              </a:xfrm>
              <a:custGeom>
                <a:avLst/>
                <a:gdLst>
                  <a:gd name="connsiteX0" fmla="*/ 37701 w 75401"/>
                  <a:gd name="connsiteY0" fmla="*/ 0 h 75330"/>
                  <a:gd name="connsiteX1" fmla="*/ 0 w 75401"/>
                  <a:gd name="connsiteY1" fmla="*/ 37666 h 75330"/>
                  <a:gd name="connsiteX2" fmla="*/ 37701 w 75401"/>
                  <a:gd name="connsiteY2" fmla="*/ 75331 h 75330"/>
                  <a:gd name="connsiteX3" fmla="*/ 75401 w 75401"/>
                  <a:gd name="connsiteY3" fmla="*/ 37666 h 75330"/>
                  <a:gd name="connsiteX4" fmla="*/ 37701 w 75401"/>
                  <a:gd name="connsiteY4" fmla="*/ 0 h 75330"/>
                  <a:gd name="connsiteX5" fmla="*/ 37701 w 75401"/>
                  <a:gd name="connsiteY5" fmla="*/ 61925 h 75330"/>
                  <a:gd name="connsiteX6" fmla="*/ 12780 w 75401"/>
                  <a:gd name="connsiteY6" fmla="*/ 37027 h 75330"/>
                  <a:gd name="connsiteX7" fmla="*/ 37701 w 75401"/>
                  <a:gd name="connsiteY7" fmla="*/ 12130 h 75330"/>
                  <a:gd name="connsiteX8" fmla="*/ 62621 w 75401"/>
                  <a:gd name="connsiteY8" fmla="*/ 37027 h 75330"/>
                  <a:gd name="connsiteX9" fmla="*/ 37701 w 75401"/>
                  <a:gd name="connsiteY9" fmla="*/ 61925 h 7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401" h="75330">
                    <a:moveTo>
                      <a:pt x="37701" y="0"/>
                    </a:moveTo>
                    <a:cubicBezTo>
                      <a:pt x="17253" y="0"/>
                      <a:pt x="0" y="16599"/>
                      <a:pt x="0" y="37666"/>
                    </a:cubicBezTo>
                    <a:cubicBezTo>
                      <a:pt x="0" y="58733"/>
                      <a:pt x="16614" y="75331"/>
                      <a:pt x="37701" y="75331"/>
                    </a:cubicBezTo>
                    <a:cubicBezTo>
                      <a:pt x="58787" y="75331"/>
                      <a:pt x="75401" y="58733"/>
                      <a:pt x="75401" y="37666"/>
                    </a:cubicBezTo>
                    <a:cubicBezTo>
                      <a:pt x="75401" y="16599"/>
                      <a:pt x="58148" y="0"/>
                      <a:pt x="37701" y="0"/>
                    </a:cubicBezTo>
                    <a:close/>
                    <a:moveTo>
                      <a:pt x="37701" y="61925"/>
                    </a:moveTo>
                    <a:cubicBezTo>
                      <a:pt x="24282" y="61925"/>
                      <a:pt x="12780" y="51072"/>
                      <a:pt x="12780" y="37027"/>
                    </a:cubicBezTo>
                    <a:cubicBezTo>
                      <a:pt x="12780" y="23621"/>
                      <a:pt x="23643" y="12130"/>
                      <a:pt x="37701" y="12130"/>
                    </a:cubicBezTo>
                    <a:cubicBezTo>
                      <a:pt x="51758" y="12130"/>
                      <a:pt x="62621" y="22983"/>
                      <a:pt x="62621" y="37027"/>
                    </a:cubicBezTo>
                    <a:cubicBezTo>
                      <a:pt x="61982" y="50434"/>
                      <a:pt x="51119" y="61925"/>
                      <a:pt x="37701" y="6192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ags/tag3.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1_Office Theme">
  <a:themeElements>
    <a:clrScheme name="Custom 2">
      <a:dk1>
        <a:srgbClr val="000000"/>
      </a:dk1>
      <a:lt1>
        <a:srgbClr val="FFFFFF"/>
      </a:lt1>
      <a:dk2>
        <a:srgbClr val="000000"/>
      </a:dk2>
      <a:lt2>
        <a:srgbClr val="FFFFFF"/>
      </a:lt2>
      <a:accent1>
        <a:srgbClr val="86BC25"/>
      </a:accent1>
      <a:accent2>
        <a:srgbClr val="046A38"/>
      </a:accent2>
      <a:accent3>
        <a:srgbClr val="134406"/>
      </a:accent3>
      <a:accent4>
        <a:srgbClr val="43B02A"/>
      </a:accent4>
      <a:accent5>
        <a:srgbClr val="0D8390"/>
      </a:accent5>
      <a:accent6>
        <a:srgbClr val="007C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TotalTime>
  <Words>975</Words>
  <Application>Microsoft Office PowerPoint</Application>
  <PresentationFormat>Widescreen</PresentationFormat>
  <Paragraphs>106</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Open Sans</vt:lpstr>
      <vt:lpstr>Segoe UI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1</cp:revision>
  <dcterms:created xsi:type="dcterms:W3CDTF">2026-10-01T01:36:03Z</dcterms:created>
  <dcterms:modified xsi:type="dcterms:W3CDTF">2026-10-01T01:37:17Z</dcterms:modified>
</cp:coreProperties>
</file>