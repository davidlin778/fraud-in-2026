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2743200"/>
            <a:ext cx="4937760" cy="237744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5A5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20840" y="2688336"/>
            <a:ext cx="4937760" cy="237744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2633472"/>
            <a:ext cx="4937760" cy="237744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5A5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12280" y="2578608"/>
            <a:ext cx="4937760" cy="237744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2523744"/>
            <a:ext cx="4937760" cy="237744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5A5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2468880"/>
            <a:ext cx="4937760" cy="237744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0" y="2414016"/>
            <a:ext cx="4937760" cy="237744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5A5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5160" y="2359152"/>
            <a:ext cx="4937760" cy="237744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2304288"/>
            <a:ext cx="4937760" cy="237744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5A5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86600" y="2249424"/>
            <a:ext cx="4937760" cy="237744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19659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Landscape Survey — Workback Plan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Field-to-final path from survey launch to Forum-ready deck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5394960"/>
            <a:ext cx="4480560" cy="11887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55321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basis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 fielding (parallel skeleton build) → 1 week populate → 1 week review → final QA
</a:t>
            </a:r>
            <a:pPr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illustrative — confirm launch date to lock calendar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Six-week path: fielding and deck-build run in parallel, then populate, review, and final QA run sequentially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651760" y="1965960"/>
            <a:ext cx="0" cy="329184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60520" y="1965960"/>
            <a:ext cx="0" cy="329184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1965960"/>
            <a:ext cx="0" cy="329184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78040" y="1965960"/>
            <a:ext cx="0" cy="329184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0" y="1965960"/>
            <a:ext cx="0" cy="329184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95560" y="1965960"/>
            <a:ext cx="0" cy="329184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04320" y="1965960"/>
            <a:ext cx="0" cy="329184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67335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31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60520" y="167335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167335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78040" y="167335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0" y="167335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195560" y="167335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011680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F4F4F4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01168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&amp; Launch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56032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— Survey Fielding (GLG)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F4F4F4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10896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— Deck Skeleton Build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65760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Findings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F4F4F4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20624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Revise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754880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75488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QA / Dry Run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79192" y="2066544"/>
            <a:ext cx="548640" cy="365760"/>
          </a:xfrm>
          <a:prstGeom prst="roundRect">
            <a:avLst>
              <a:gd name="adj" fmla="val 12500"/>
            </a:avLst>
          </a:prstGeom>
          <a:solidFill>
            <a:srgbClr val="4C7A1E"/>
          </a:solidFill>
          <a:ln/>
        </p:spPr>
      </p:sp>
      <p:sp>
        <p:nvSpPr>
          <p:cNvPr id="31" name="Text 29"/>
          <p:cNvSpPr/>
          <p:nvPr/>
        </p:nvSpPr>
        <p:spPr>
          <a:xfrm>
            <a:off x="2752344" y="2066544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679192" y="2615184"/>
            <a:ext cx="4471416" cy="365760"/>
          </a:xfrm>
          <a:prstGeom prst="roundRect">
            <a:avLst>
              <a:gd name="adj" fmla="val 12500"/>
            </a:avLst>
          </a:prstGeom>
          <a:solidFill>
            <a:srgbClr val="86BC25"/>
          </a:solidFill>
          <a:ln/>
        </p:spPr>
      </p:sp>
      <p:sp>
        <p:nvSpPr>
          <p:cNvPr id="33" name="Text 31"/>
          <p:cNvSpPr/>
          <p:nvPr/>
        </p:nvSpPr>
        <p:spPr>
          <a:xfrm>
            <a:off x="2752344" y="2615184"/>
            <a:ext cx="4325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Fielding open — monitor &amp; manage quotas (GLG)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679192" y="3163824"/>
            <a:ext cx="4471416" cy="365760"/>
          </a:xfrm>
          <a:prstGeom prst="roundRect">
            <a:avLst>
              <a:gd name="adj" fmla="val 12500"/>
            </a:avLst>
          </a:prstGeom>
          <a:solidFill>
            <a:srgbClr val="2E2E2E"/>
          </a:solidFill>
          <a:ln/>
        </p:spPr>
      </p:sp>
      <p:sp>
        <p:nvSpPr>
          <p:cNvPr id="35" name="Text 33"/>
          <p:cNvSpPr/>
          <p:nvPr/>
        </p:nvSpPr>
        <p:spPr>
          <a:xfrm>
            <a:off x="2752344" y="3163824"/>
            <a:ext cx="4325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refine deck skeleton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205472" y="3712464"/>
            <a:ext cx="1453896" cy="365760"/>
          </a:xfrm>
          <a:prstGeom prst="roundRect">
            <a:avLst>
              <a:gd name="adj" fmla="val 12500"/>
            </a:avLst>
          </a:prstGeom>
          <a:solidFill>
            <a:srgbClr val="4C7A1E"/>
          </a:solidFill>
          <a:ln/>
        </p:spPr>
      </p:sp>
      <p:sp>
        <p:nvSpPr>
          <p:cNvPr id="37" name="Text 35"/>
          <p:cNvSpPr/>
          <p:nvPr/>
        </p:nvSpPr>
        <p:spPr>
          <a:xfrm>
            <a:off x="7278624" y="3712464"/>
            <a:ext cx="1307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Tabulate + populate skeleton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714232" y="4261104"/>
            <a:ext cx="1453896" cy="365760"/>
          </a:xfrm>
          <a:prstGeom prst="roundRect">
            <a:avLst>
              <a:gd name="adj" fmla="val 12500"/>
            </a:avLst>
          </a:prstGeom>
          <a:solidFill>
            <a:srgbClr val="9AC24B"/>
          </a:solidFill>
          <a:ln/>
        </p:spPr>
      </p:sp>
      <p:sp>
        <p:nvSpPr>
          <p:cNvPr id="39" name="Text 37"/>
          <p:cNvSpPr/>
          <p:nvPr/>
        </p:nvSpPr>
        <p:spPr>
          <a:xfrm>
            <a:off x="8787384" y="4261104"/>
            <a:ext cx="1307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+ partner review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0222992" y="4809744"/>
            <a:ext cx="548640" cy="365760"/>
          </a:xfrm>
          <a:prstGeom prst="roundRect">
            <a:avLst>
              <a:gd name="adj" fmla="val 12500"/>
            </a:avLst>
          </a:prstGeom>
          <a:solidFill>
            <a:srgbClr val="BDBDBD"/>
          </a:solidFill>
          <a:ln/>
        </p:spPr>
      </p:sp>
      <p:sp>
        <p:nvSpPr>
          <p:cNvPr id="41" name="Text 39"/>
          <p:cNvSpPr/>
          <p:nvPr/>
        </p:nvSpPr>
        <p:spPr>
          <a:xfrm>
            <a:off x="10296144" y="4809744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dry run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799064" y="1993392"/>
            <a:ext cx="201168" cy="201168"/>
          </a:xfrm>
          <a:prstGeom prst="diamond">
            <a:avLst/>
          </a:prstGeom>
          <a:solidFill>
            <a:srgbClr val="0A0A0A"/>
          </a:solidFill>
          <a:ln/>
        </p:spPr>
      </p:sp>
      <p:sp>
        <p:nvSpPr>
          <p:cNvPr id="43" name="Text 41"/>
          <p:cNvSpPr/>
          <p:nvPr/>
        </p:nvSpPr>
        <p:spPr>
          <a:xfrm>
            <a:off x="10250424" y="17190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Forum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 TBD]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54406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86BC25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54132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651760" y="54406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E2E2E"/>
          </a:solidFill>
          <a:ln/>
        </p:spPr>
      </p:sp>
      <p:sp>
        <p:nvSpPr>
          <p:cNvPr id="47" name="Text 45"/>
          <p:cNvSpPr/>
          <p:nvPr/>
        </p:nvSpPr>
        <p:spPr>
          <a:xfrm>
            <a:off x="2926080" y="54132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build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46320" y="54406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4C7A1E"/>
          </a:solidFill>
          <a:ln/>
        </p:spPr>
      </p:sp>
      <p:sp>
        <p:nvSpPr>
          <p:cNvPr id="49" name="Text 47"/>
          <p:cNvSpPr/>
          <p:nvPr/>
        </p:nvSpPr>
        <p:spPr>
          <a:xfrm>
            <a:off x="5120640" y="54132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040880" y="54406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9AC24B"/>
          </a:solidFill>
          <a:ln/>
        </p:spPr>
      </p:sp>
      <p:sp>
        <p:nvSpPr>
          <p:cNvPr id="51" name="Text 49"/>
          <p:cNvSpPr/>
          <p:nvPr/>
        </p:nvSpPr>
        <p:spPr>
          <a:xfrm>
            <a:off x="7315200" y="54132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235440" y="54406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BDBDBD"/>
          </a:solidFill>
          <a:ln/>
        </p:spPr>
      </p:sp>
      <p:sp>
        <p:nvSpPr>
          <p:cNvPr id="53" name="Text 51"/>
          <p:cNvSpPr/>
          <p:nvPr/>
        </p:nvSpPr>
        <p:spPr>
          <a:xfrm>
            <a:off x="9509760" y="54132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buffer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 run fielding and deck-build in parallel so the skeleton is ready to receive data the moment results close — eliminating dead time between fielding close and first draft.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Fraud Landscape Survey  |  WORKBACK PLAN — DRAFT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WORKBACK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Phase-by-phase tasks, timing, ownership, and deliverables from kickoff to Forum-ready deck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234440"/>
                <a:gridCol w="4800600"/>
                <a:gridCol w="1874520"/>
                <a:gridCol w="14904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Tasks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4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Kickoff &amp; Launch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31–Sep 1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Finalize survey instrument &amp; screener logic; confirm GLG quotas; launch fielding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[Project Lead]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survey link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4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Fielding — Wk 1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1–5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daily response volume &amp; quota fill; QC early responses for data quality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[Research Lead]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Fielding status report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4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Skeleton Build — Wk 1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1–5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slide structure, section flow, governing-thought placeholders per theme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[Deck Lead]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skeleton v1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4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Fielding — Wk 2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8–12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Mid-field check; rebalance quotas (banking/insurance, geography); chase gaps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[Research Lead]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Mid-field quota report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4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Skeleton Build — Wk 2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8–12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Finalize chart placeholders &amp; categories per question; refine visual design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[Deck Lead]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skeleton v2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4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Fielding — Wk 3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15–19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push to close remaining quotas; close fielding; validate &amp; clean data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[Research Lead]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Closed, cleaned dataset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4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Skeleton Build — Wk 3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15–19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Finalize full skeleton incl. appendix/methodology; internal skeleton walkthrough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[Deck Lead]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skeleton, data-ready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4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Populate Findings — Wk 4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22–26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Tabulate &amp; cross-tab results by segment; populate charts/stats; draft headlines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[Analytics + Deck Lead]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full draft deck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4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&amp; Revise — Wk 5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29–Oct 3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team review; incorporate feedback; partner/leadership sign-off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[Full Team + Partner]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 near-final deck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4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QA &amp; Dry Run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5–7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Proofread &amp; formatting QA; dry-run presentation; final sign-off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[Project Lead]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Forum-ready deck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4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D.fend Forum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[TBD]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survey findings to Forum audience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[Presenter]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Fraud Landscape Survey  |  WORKBACK PLAN — DRAFT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Plan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2026-08-25T13:58:51Z</dcterms:created>
  <dcterms:modified xsi:type="dcterms:W3CDTF">2026-08-25T13:58:51Z</dcterms:modified>
</cp:coreProperties>
</file>