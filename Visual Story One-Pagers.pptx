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50" kern="0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SHARING   ·   Q4 &amp; Q5   ·   n=100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Already Won the Internal Argument. What's Missing Is the Plumbing.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11094415" cy="0"/>
          </a:xfrm>
          <a:prstGeom prst="line">
            <a:avLst/>
          </a:prstGeom>
          <a:noFill/>
          <a:ln w="12700">
            <a:solidFill>
              <a:srgbClr val="1C241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9806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share citing STRUCTURAL barriers — data standardization, legal &amp; privacy rules, lack of external participation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21408"/>
            <a:ext cx="1036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B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613855" y="173736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8B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6613855" y="279806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share citing INTERNAL barriers — unclear governance, difficulty proving ROI, insufficient budget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32841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resistance isn't inside the building anymore — it's the space between institutions.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94176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43B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FIX MATCHES THE DIAGNOSIS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5410048" cy="566928"/>
          </a:xfrm>
          <a:prstGeom prst="roundRect">
            <a:avLst>
              <a:gd name="adj" fmla="val 8065"/>
            </a:avLst>
          </a:prstGeom>
          <a:solidFill>
            <a:srgbClr val="10160D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986784"/>
            <a:ext cx="54864" cy="566928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07822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4078224"/>
            <a:ext cx="399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 centralized fraud information-sharing platform or utility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33008" y="3986784"/>
            <a:ext cx="5410048" cy="566928"/>
          </a:xfrm>
          <a:prstGeom prst="roundRect">
            <a:avLst>
              <a:gd name="adj" fmla="val 8065"/>
            </a:avLst>
          </a:prstGeom>
          <a:solidFill>
            <a:srgbClr val="10160D"/>
          </a:solidFill>
          <a:ln/>
        </p:spPr>
      </p:sp>
      <p:sp>
        <p:nvSpPr>
          <p:cNvPr id="17" name="Shape 15"/>
          <p:cNvSpPr/>
          <p:nvPr/>
        </p:nvSpPr>
        <p:spPr>
          <a:xfrm>
            <a:off x="6233008" y="3986784"/>
            <a:ext cx="54864" cy="566928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34176" y="407822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467448" y="4078224"/>
            <a:ext cx="399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clearer legal &amp; regulatory frameworks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64515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most-requested fixes map directly onto the two most structural barriers.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92624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43B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DIAGNOSIS ISN'T UNIVERSAL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321808"/>
            <a:ext cx="82296" cy="27432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5285232"/>
            <a:ext cx="1089324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reads it differently. 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43% flag lack of participation as a barrier, vs. 74% in the U.S. and 61% in Canada — pointing to an infrastructure and data-quality problem, not a willingness one.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724144"/>
            <a:ext cx="82296" cy="27432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" y="5687568"/>
            <a:ext cx="1089324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insurers flag something no one else does. 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governance and ownership rank unusually high there — accountability, not appetite, is what's unresolved.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6126480"/>
            <a:ext cx="82296" cy="274320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" y="6089904"/>
            <a:ext cx="1089324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skips regulatory reform entirely.  </a:t>
            </a:r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only market that doesn't rank clearer legal frameworks among its top fixes, leaning instead on platform infrastructure and public-private collaboration.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6537960"/>
            <a:ext cx="11094415" cy="0"/>
          </a:xfrm>
          <a:prstGeom prst="line">
            <a:avLst/>
          </a:prstGeom>
          <a:noFill/>
          <a:ln w="9525">
            <a:solidFill>
              <a:srgbClr val="1C241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6592824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B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D.fend Fin Crime Forum Fraud Survey · n=100 (Banking n=75 · Insurance n=25) · Q4 &amp; Q5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2026-09-27T23:28:42Z</dcterms:created>
  <dcterms:modified xsi:type="dcterms:W3CDTF">2026-09-27T23:28:42Z</dcterms:modified>
</cp:coreProperties>
</file>