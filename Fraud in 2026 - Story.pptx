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Banking (n=75)</c:v>
                </c:pt>
              </c:strCache>
            </c:strRef>
          </c:tx>
          <c:spPr>
            <a:solidFill>
              <a:srgbClr val="86BC2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Staff training</c:v>
                  </c:pt>
                  <c:pt idx="1">
                    <c:v>ID verification</c:v>
                  </c:pt>
                  <c:pt idx="2">
                    <c:v>Detection tech</c:v>
                  </c:pt>
                  <c:pt idx="3">
                    <c:v>3rd-party intel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</c:v>
                </c:pt>
                <c:pt idx="1">
                  <c:v>51</c:v>
                </c:pt>
                <c:pt idx="2">
                  <c:v>48</c:v>
                </c:pt>
                <c:pt idx="3">
                  <c:v>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Insurance (n=25)</c:v>
                </c:pt>
              </c:strCache>
            </c:strRef>
          </c:tx>
          <c:spPr>
            <a:solidFill>
              <a:srgbClr val="046A3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Staff training</c:v>
                  </c:pt>
                  <c:pt idx="1">
                    <c:v>ID verification</c:v>
                  </c:pt>
                  <c:pt idx="2">
                    <c:v>Detection tech</c:v>
                  </c:pt>
                  <c:pt idx="3">
                    <c:v>3rd-party intel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64</c:v>
                </c:pt>
                <c:pt idx="1">
                  <c:v>48</c:v>
                </c:pt>
                <c:pt idx="2">
                  <c:v>40</c:v>
                </c:pt>
                <c:pt idx="3">
                  <c:v>44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356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Banking</c:v>
                </c:pt>
              </c:strCache>
            </c:strRef>
          </c:tx>
          <c:spPr>
            <a:solidFill>
              <a:srgbClr val="86BC2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Fintech partners</c:v>
                  </c:pt>
                  <c:pt idx="1">
                    <c:v>Business &amp; commercial clients</c:v>
                  </c:pt>
                  <c:pt idx="2">
                    <c:v>Dealers &amp; indirect lending partners</c:v>
                  </c:pt>
                  <c:pt idx="3">
                    <c:v>Mortgage brokers</c:v>
                  </c:pt>
                  <c:pt idx="4">
                    <c:v>Merchants</c:v>
                  </c:pt>
                  <c:pt idx="5">
                    <c:v>Appraisers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24</c:v>
                </c:pt>
                <c:pt idx="2">
                  <c:v>20</c:v>
                </c:pt>
                <c:pt idx="3">
                  <c:v>16</c:v>
                </c:pt>
                <c:pt idx="4">
                  <c:v>7</c:v>
                </c:pt>
                <c:pt idx="5">
                  <c:v>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356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Insurance</c:v>
                </c:pt>
              </c:strCache>
            </c:strRef>
          </c:tx>
          <c:spPr>
            <a:solidFill>
              <a:srgbClr val="046A3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Health care providers</c:v>
                  </c:pt>
                  <c:pt idx="1">
                    <c:v>Automotive service providers</c:v>
                  </c:pt>
                  <c:pt idx="2">
                    <c:v>Brokers &amp; distribution partners</c:v>
                  </c:pt>
                  <c:pt idx="3">
                    <c:v>Third-party administrators (TPAs)</c:v>
                  </c:pt>
                  <c:pt idx="4">
                    <c:v>Property claims service providers</c:v>
                  </c:pt>
                  <c:pt idx="5">
                    <c:v>Legal representatives &amp; paralegals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16</c:v>
                </c:pt>
                <c:pt idx="2">
                  <c:v>16</c:v>
                </c:pt>
                <c:pt idx="3">
                  <c:v>12</c:v>
                </c:pt>
                <c:pt idx="4">
                  <c:v>12</c:v>
                </c:pt>
                <c:pt idx="5">
                  <c:v>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356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Banking (n=75)</c:v>
                </c:pt>
              </c:strCache>
            </c:strRef>
          </c:tx>
          <c:spPr>
            <a:solidFill>
              <a:srgbClr val="86BC2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Reactive</c:v>
                  </c:pt>
                  <c:pt idx="1">
                    <c:v>Foundational</c:v>
                  </c:pt>
                  <c:pt idx="2">
                    <c:v>Managed</c:v>
                  </c:pt>
                  <c:pt idx="3">
                    <c:v>Integrated</c:v>
                  </c:pt>
                  <c:pt idx="4">
                    <c:v>Advanced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5</c:v>
                </c:pt>
                <c:pt idx="2">
                  <c:v>9</c:v>
                </c:pt>
                <c:pt idx="3">
                  <c:v>48</c:v>
                </c:pt>
                <c:pt idx="4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Insurance (n=25)</c:v>
                </c:pt>
              </c:strCache>
            </c:strRef>
          </c:tx>
          <c:spPr>
            <a:solidFill>
              <a:srgbClr val="046A3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Reactive</c:v>
                  </c:pt>
                  <c:pt idx="1">
                    <c:v>Foundational</c:v>
                  </c:pt>
                  <c:pt idx="2">
                    <c:v>Managed</c:v>
                  </c:pt>
                  <c:pt idx="3">
                    <c:v>Integrated</c:v>
                  </c:pt>
                  <c:pt idx="4">
                    <c:v>Advanced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20</c:v>
                </c:pt>
                <c:pt idx="3">
                  <c:v>32</c:v>
                </c:pt>
                <c:pt idx="4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356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approach</c:v>
                </c:pt>
              </c:strCache>
            </c:strRef>
          </c:tx>
          <c:spPr>
            <a:solidFill>
              <a:srgbClr val="86BC2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AI-enabled tools augmentation</c:v>
                  </c:pt>
                  <c:pt idx="1">
                    <c:v>Automating workflows</c:v>
                  </c:pt>
                  <c:pt idx="2">
                    <c:v>Redesigning processes &amp; playbooks</c:v>
                  </c:pt>
                  <c:pt idx="3">
                    <c:v>Outsourcing</c:v>
                  </c:pt>
                  <c:pt idx="4">
                    <c:v>Hiring / workforce expansion</c:v>
                  </c:pt>
                  <c:pt idx="5">
                    <c:v>Combination of approaches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29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3-year focus</c:v>
                </c:pt>
              </c:strCache>
            </c:strRef>
          </c:tx>
          <c:spPr>
            <a:solidFill>
              <a:srgbClr val="046A3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AI-enabled tools augmentation</c:v>
                  </c:pt>
                  <c:pt idx="1">
                    <c:v>Automating workflows</c:v>
                  </c:pt>
                  <c:pt idx="2">
                    <c:v>Redesigning processes &amp; playbooks</c:v>
                  </c:pt>
                  <c:pt idx="3">
                    <c:v>Outsourcing</c:v>
                  </c:pt>
                  <c:pt idx="4">
                    <c:v>Hiring / workforce expansion</c:v>
                  </c:pt>
                  <c:pt idx="5">
                    <c:v>Combination of approaches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41</c:v>
                </c:pt>
                <c:pt idx="1">
                  <c:v>27</c:v>
                </c:pt>
                <c:pt idx="2">
                  <c:v>18</c:v>
                </c:pt>
                <c:pt idx="3">
                  <c:v>7</c:v>
                </c:pt>
                <c:pt idx="4">
                  <c:v>5</c:v>
                </c:pt>
                <c:pt idx="5">
                  <c:v>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356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457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800454" y="598932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" name="Shape 2"/>
          <p:cNvSpPr/>
          <p:nvPr/>
        </p:nvSpPr>
        <p:spPr>
          <a:xfrm>
            <a:off x="3392424" y="731520"/>
            <a:ext cx="5404104" cy="5404104"/>
          </a:xfrm>
          <a:prstGeom prst="rect">
            <a:avLst/>
          </a:prstGeom>
          <a:solidFill>
            <a:srgbClr val="0B1C14"/>
          </a:solidFill>
          <a:ln w="9525">
            <a:solidFill>
              <a:srgbClr val="86BC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92424" y="731520"/>
            <a:ext cx="5404104" cy="5404104"/>
          </a:xfrm>
          <a:prstGeom prst="rect">
            <a:avLst/>
          </a:prstGeom>
          <a:ln w="12700">
            <a:solidFill>
              <a:srgbClr val="86BC2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776472" y="1115568"/>
            <a:ext cx="4636008" cy="4636008"/>
          </a:xfrm>
          <a:prstGeom prst="rect">
            <a:avLst/>
          </a:prstGeom>
          <a:ln w="12700">
            <a:solidFill>
              <a:srgbClr val="0D839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160520" y="1499616"/>
            <a:ext cx="3867912" cy="3867912"/>
          </a:xfrm>
          <a:prstGeom prst="rect">
            <a:avLst/>
          </a:prstGeom>
          <a:ln w="12700">
            <a:solidFill>
              <a:srgbClr val="86BC2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544568" y="1883664"/>
            <a:ext cx="3099816" cy="3099816"/>
          </a:xfrm>
          <a:prstGeom prst="rect">
            <a:avLst/>
          </a:prstGeom>
          <a:ln w="12700">
            <a:solidFill>
              <a:srgbClr val="0D839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928616" y="2267712"/>
            <a:ext cx="2331720" cy="2331720"/>
          </a:xfrm>
          <a:prstGeom prst="rect">
            <a:avLst/>
          </a:prstGeom>
          <a:ln w="12700">
            <a:solidFill>
              <a:srgbClr val="86BC2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312664" y="2651760"/>
            <a:ext cx="1563624" cy="1563624"/>
          </a:xfrm>
          <a:prstGeom prst="rect">
            <a:avLst/>
          </a:prstGeom>
          <a:ln w="12700">
            <a:solidFill>
              <a:srgbClr val="0D839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392424" y="2656332"/>
            <a:ext cx="5404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3392424" y="3451860"/>
            <a:ext cx="5404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LEADERS SURVEYED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006" y="4901184"/>
            <a:ext cx="9601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 2026: A Deloitte Perspective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02006" y="587044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Insurance Fraud Landscape Survey — n=100, fielding complete
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AI, information sharing, third-party risk, and operating model change are reshaping fraud leadership  ·  Fielded via GLG for the D.fend Fin Crime Forum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256032"/>
            <a:ext cx="111885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8348" y="1508760"/>
            <a:ext cx="777240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89788" y="1591056"/>
            <a:ext cx="402336" cy="40233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9788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8428" y="150876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8348" y="2203704"/>
            <a:ext cx="777240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589788" y="2286000"/>
            <a:ext cx="402336" cy="40233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38428" y="2203704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&amp; Emerging AI Risk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8348" y="2898648"/>
            <a:ext cx="777240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589788" y="2980944"/>
            <a:ext cx="402336" cy="40233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9788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38428" y="2898648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Information Sharing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8348" y="3593592"/>
            <a:ext cx="777240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589788" y="3675888"/>
            <a:ext cx="402336" cy="40233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9788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38428" y="3593592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Fraud Risk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" y="4288536"/>
            <a:ext cx="777240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Shape 19"/>
          <p:cNvSpPr/>
          <p:nvPr/>
        </p:nvSpPr>
        <p:spPr>
          <a:xfrm>
            <a:off x="589788" y="4370832"/>
            <a:ext cx="402336" cy="40233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9788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38428" y="4288536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Transformation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" y="4983480"/>
            <a:ext cx="777240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Shape 23"/>
          <p:cNvSpPr/>
          <p:nvPr/>
        </p:nvSpPr>
        <p:spPr>
          <a:xfrm>
            <a:off x="589788" y="5065776"/>
            <a:ext cx="402336" cy="40233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9788" y="5065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38428" y="4983480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Market Change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8348" y="5678424"/>
            <a:ext cx="7772400" cy="56692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Shape 27"/>
          <p:cNvSpPr/>
          <p:nvPr/>
        </p:nvSpPr>
        <p:spPr>
          <a:xfrm>
            <a:off x="589788" y="5760720"/>
            <a:ext cx="402336" cy="402336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9788" y="5760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138428" y="5678424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 Three Years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506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006" y="164592"/>
            <a:ext cx="111885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006" y="384048"/>
            <a:ext cx="111885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accelerating faster than most programs can keep pace — GenAI-enabled fraud losses in the U.S. alone are projected to reach $40 billion by 2027, up from $12.3 billion in 2023.¹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006" y="1517904"/>
            <a:ext cx="11188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understand how banking and insurance fraud leaders are actually responding, Deloitte surveyed 100 senior fraud leaders worldwide across five emerging fronts reshaping the discipline. Here's what we found on each: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006" y="2185416"/>
            <a:ext cx="384048" cy="3840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006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32358" y="21488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&amp; Emerging AI Risk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433926" y="2148840"/>
            <a:ext cx="72566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is rising across nearly every channel — managing it takes a coordinated response.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006" y="2843784"/>
            <a:ext cx="384048" cy="3840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006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32358" y="280720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Information Sharing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433926" y="2807208"/>
            <a:ext cx="72566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are ready to share more; data quality and legal barriers are what's in the way.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006" y="3502152"/>
            <a:ext cx="384048" cy="3840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006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32358" y="346557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Fraud Risk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33926" y="3465576"/>
            <a:ext cx="72566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runs in both directions, and the right fix differs by sector.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006" y="4160520"/>
            <a:ext cx="384048" cy="3840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006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32358" y="412394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Transformation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433926" y="4123944"/>
            <a:ext cx="72566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are being rebuilt around AI — sometimes at the cost of balance.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006" y="4818888"/>
            <a:ext cx="384048" cy="3840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006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32358" y="478231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Market Change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433926" y="4782312"/>
            <a:ext cx="72566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expectations are shifting faster than most programs can remediate.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2006" y="5532120"/>
            <a:ext cx="107313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Deloitte, “Managing Gen AI Risks,” Deloitte Insights, 2025.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457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800454" y="598932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006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BC2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006" y="129844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&amp; Emerging AI Risk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006" y="2240280"/>
            <a:ext cx="5532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where the pressure is showing up first: inside the fraud program itself, as AI reshapes what a convincing attack looks like.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2514600"/>
            <a:ext cx="457200" cy="457200"/>
          </a:xfrm>
          <a:prstGeom prst="ellipse">
            <a:avLst/>
          </a:prstGeom>
          <a:solidFill>
            <a:srgbClr val="0B1C1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46520" y="2788920"/>
            <a:ext cx="5239512" cy="2514600"/>
          </a:xfrm>
          <a:prstGeom prst="rect">
            <a:avLst/>
          </a:prstGeom>
          <a:ln w="12700">
            <a:solidFill>
              <a:srgbClr val="D0D0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3017520"/>
            <a:ext cx="4690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convergence of genAI, synthetic identities and real time digital identity verification. This will matter significantly because fraudsters will become AI-native, identity becomes the new battleground, fraud prevention will replace fraud detection, and the winners will use AI against AI.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484632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· INSURANCE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5394960"/>
            <a:ext cx="4690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survey's open-ended question, in the respondent's own words.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16736"/>
          </a:xfrm>
          <a:prstGeom prst="rect">
            <a:avLst/>
          </a:prstGeom>
          <a:solidFill>
            <a:srgbClr val="0506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006" y="201168"/>
            <a:ext cx="111885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DEEPFAKE &amp; EMERGING AI RISK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006" y="438912"/>
            <a:ext cx="111885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fraud is raising vulnerability almost everywhere at once — not in one predictable channel.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006" y="1463040"/>
            <a:ext cx="0" cy="457200"/>
          </a:xfrm>
          <a:prstGeom prst="line">
            <a:avLst/>
          </a:prstGeom>
          <a:noFill/>
          <a:ln w="25400">
            <a:solidFill>
              <a:srgbClr val="D0D0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8310" y="1463040"/>
            <a:ext cx="1104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46A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Q2  </a:t>
            </a:r>
            <a:pPr algn="l"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area of your organization has experienced the greatest increase in vulnerability to fraud enabled by deepfakes and other advanced or frontier AI capabilities over the past 12 months?”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006" y="2066544"/>
            <a:ext cx="111885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GenAI-enabled fraud losses are on pace to nearly triple by 2027 (see Executive Summary) — inside the fraud program, we wanted to know exactly where that pressure is landing. Five of six areas cluster within range of one another; the one clear exception is video meetings and remote advisory.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006" y="2724912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462126" y="2779776"/>
            <a:ext cx="0" cy="39319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006" y="2724912"/>
            <a:ext cx="431413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onboarding, KYC &amp; identity verification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096305" y="2724912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056425" y="2779776"/>
            <a:ext cx="0" cy="39319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39305" y="2724912"/>
            <a:ext cx="431413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wire &amp; transaction approvals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02006" y="3319272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462126" y="3374136"/>
            <a:ext cx="0" cy="39319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006" y="3319272"/>
            <a:ext cx="431413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Claims, underwriting &amp; lending review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096305" y="3319272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056425" y="3374136"/>
            <a:ext cx="0" cy="39319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39305" y="3319272"/>
            <a:ext cx="431413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center / phone-based authentication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02006" y="3913632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1462126" y="3968496"/>
            <a:ext cx="0" cy="39319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45006" y="3913632"/>
            <a:ext cx="431413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/ employee / broker impersonation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096305" y="3913632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056425" y="3968496"/>
            <a:ext cx="0" cy="39319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39305" y="3913632"/>
            <a:ext cx="431413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meetings &amp; remote advisory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02006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SECTOR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006" y="4800600"/>
            <a:ext cx="5486400" cy="475488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8310" y="4892040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(tied)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8310" y="5276088"/>
            <a:ext cx="5193792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(n=75): Digital onboarding/KYC and Payment/wire approvals — an exact tie for the top spot.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4800600"/>
            <a:ext cx="5020056" cy="475488"/>
          </a:xfrm>
          <a:prstGeom prst="roundRect">
            <a:avLst>
              <a:gd name="adj" fmla="val 9615"/>
            </a:avLst>
          </a:prstGeom>
          <a:solidFill>
            <a:srgbClr val="F2F2F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18504" y="489204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318504" y="5276088"/>
            <a:ext cx="4727448" cy="-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(n=25): Contact center / phone-based authentication is the clear #1.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006" y="5404104"/>
            <a:ext cx="11188598" cy="0"/>
          </a:xfrm>
          <a:prstGeom prst="line">
            <a:avLst/>
          </a:prstGeom>
          <a:noFill/>
          <a:ln w="9525">
            <a:solidFill>
              <a:srgbClr val="D0D0C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2006" y="5458968"/>
            <a:ext cx="111885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top 3 — % of respondents who placed the option anywhere in their top 3 (not mutually exclusive; figures don't sum to 100%). Response options as fielded: “Contact center / phone-based authentication” · “Digital onboarding, KYC, and identity verification” · “Claims, underwriting, lending, or application review” · “Payment, wire, or transaction approvals” · “Video meetings and remote advisory interactions” · “Executive, employee, broker, or advisor impersonation”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16736"/>
          </a:xfrm>
          <a:prstGeom prst="rect">
            <a:avLst/>
          </a:prstGeom>
          <a:solidFill>
            <a:srgbClr val="0506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006" y="201168"/>
            <a:ext cx="111885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DEEPFAKE &amp; EMERGING AI RISK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006" y="438912"/>
            <a:ext cx="111885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it takes a coordinated response — no single lever stands out, in either sector.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006" y="1463040"/>
            <a:ext cx="0" cy="457200"/>
          </a:xfrm>
          <a:prstGeom prst="line">
            <a:avLst/>
          </a:prstGeom>
          <a:noFill/>
          <a:ln w="25400">
            <a:solidFill>
              <a:srgbClr val="D0D0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8310" y="1463040"/>
            <a:ext cx="1104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46A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Q3  </a:t>
            </a:r>
            <a:pPr algn="l"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key obstacles to managing fraud risks created or amplified by advanced and frontier AI capabilities (e.g., deepfakes, synthetic identities, AI-enabled impersonation, and autonomous AI agents)?”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006" y="2066544"/>
            <a:ext cx="11188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controls, detection technology, third-party intelligence, and staff training all land within 10 points of each other overall — and neither sector leans on just one fix.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006" y="2633472"/>
            <a:ext cx="914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62126" y="2688336"/>
            <a:ext cx="0" cy="48463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006" y="2633472"/>
            <a:ext cx="431413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staff awareness &amp; training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6305" y="2633472"/>
            <a:ext cx="914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056425" y="2688336"/>
            <a:ext cx="0" cy="48463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39305" y="2633472"/>
            <a:ext cx="431413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identity verification / prevention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006" y="3319272"/>
            <a:ext cx="914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462126" y="3374136"/>
            <a:ext cx="0" cy="48463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006" y="3319272"/>
            <a:ext cx="431413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fraud detection technology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6305" y="3319272"/>
            <a:ext cx="914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056425" y="3374136"/>
            <a:ext cx="0" cy="48463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39305" y="3319272"/>
            <a:ext cx="431413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3rd-party intel / consortium data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006" y="4142232"/>
            <a:ext cx="111885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SECTOR — Insurance leans hardest on the training gap (64%); Banking spreads its concern evenly.</a:t>
            </a:r>
            <a:endParaRPr lang="en-US" sz="9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02006" y="4361688"/>
          <a:ext cx="11188598" cy="11978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502006" y="5669280"/>
            <a:ext cx="11188598" cy="0"/>
          </a:xfrm>
          <a:prstGeom prst="line">
            <a:avLst/>
          </a:prstGeom>
          <a:noFill/>
          <a:ln w="9525">
            <a:solidFill>
              <a:srgbClr val="D0D0C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006" y="5724144"/>
            <a:ext cx="11188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all that apply — figures don't sum to 100%. Response options as fielded: “Insufficient identity verification or prevention capabilities in the existing environment” · “Lack of fraud detection technology in the existing environment” · “Limited or no available 3rd party fraud intelligence and/or consortium information” · “Limited staff awareness and training on deepfake-related fraud risk”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457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800454" y="598932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006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BC2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006" y="129844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Information Sharing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006" y="2240280"/>
            <a:ext cx="5532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technology gaps are one obstacle to fighting AI-driven fraud, information sharing is the next — and it's less about willingness than plumbing. Leaders want to share more; what's stopping them is structural.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2514600"/>
            <a:ext cx="457200" cy="457200"/>
          </a:xfrm>
          <a:prstGeom prst="ellipse">
            <a:avLst/>
          </a:prstGeom>
          <a:solidFill>
            <a:srgbClr val="0B1C1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46520" y="2788920"/>
            <a:ext cx="5239512" cy="2514600"/>
          </a:xfrm>
          <a:prstGeom prst="rect">
            <a:avLst/>
          </a:prstGeom>
          <a:ln w="12700">
            <a:solidFill>
              <a:srgbClr val="D0D0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3017520"/>
            <a:ext cx="4690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really feel that fraud intelligence sharing can make a difference, but there are still practical barriers to doing it well.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484632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SVP · INSURANCE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5394960"/>
            <a:ext cx="4690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survey's open-ended question, in the respondent's own words.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16736"/>
          </a:xfrm>
          <a:prstGeom prst="rect">
            <a:avLst/>
          </a:prstGeom>
          <a:solidFill>
            <a:srgbClr val="0506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006" y="201168"/>
            <a:ext cx="111885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FRAUD INFORMATION SHARING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006" y="438912"/>
            <a:ext cx="111885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industry, data sharing is already seen as fraud's single most effective lever — our survey shows leaders are ready, and the barriers are structural, not willingness.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006" y="1463040"/>
            <a:ext cx="0" cy="457200"/>
          </a:xfrm>
          <a:prstGeom prst="line">
            <a:avLst/>
          </a:prstGeom>
          <a:noFill/>
          <a:ln w="25400">
            <a:solidFill>
              <a:srgbClr val="D0D0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8310" y="1463040"/>
            <a:ext cx="1104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46A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Q5  </a:t>
            </a:r>
            <a:pPr algn="l"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biggest barriers to enable effective fraud information sharing?”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006" y="2066544"/>
            <a:ext cx="111885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fraud and risk professionals call data sharing the most effective way to strengthen fraud risk mitigation.¹ Inside our own survey, limited data standardization and poor quality (77%) now edges out legal, privacy, and regulatory constraints (73%) as the top-cited barrier.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006" y="2688336"/>
            <a:ext cx="91440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62126" y="2743200"/>
            <a:ext cx="0" cy="54559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006" y="2688336"/>
            <a:ext cx="4314139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 standardization &amp; poor quality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6305" y="2688336"/>
            <a:ext cx="91440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056425" y="2743200"/>
            <a:ext cx="0" cy="54559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39305" y="2688336"/>
            <a:ext cx="4314139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privacy or regulatory constraints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006" y="3435096"/>
            <a:ext cx="91440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462126" y="3489960"/>
            <a:ext cx="0" cy="54559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006" y="3435096"/>
            <a:ext cx="4314139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external industry participation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6305" y="3435096"/>
            <a:ext cx="91440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056425" y="3489960"/>
            <a:ext cx="0" cy="54559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39305" y="3435096"/>
            <a:ext cx="4314139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budget or resources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006" y="4181856"/>
            <a:ext cx="91440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462126" y="4236720"/>
            <a:ext cx="0" cy="54559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45006" y="4181856"/>
            <a:ext cx="4314139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demonstrating ROI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096305" y="4181856"/>
            <a:ext cx="914400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056425" y="4236720"/>
            <a:ext cx="0" cy="54559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39305" y="4181856"/>
            <a:ext cx="4314139" cy="67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internal ownership / governance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006" y="5303520"/>
            <a:ext cx="11188598" cy="0"/>
          </a:xfrm>
          <a:prstGeom prst="line">
            <a:avLst/>
          </a:prstGeom>
          <a:noFill/>
          <a:ln w="9525">
            <a:solidFill>
              <a:srgbClr val="D0D0C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006" y="5376672"/>
            <a:ext cx="1118859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top 3 — shown as % of respondents who placed the option anywhere in their top 3 (not mutually exclusive; figures don't sum to 100%). 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options as fielded: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“Legal, privacy, or regulatory constraints”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“Limited data standardization, poor quality, and different definitions”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“Insufficient budget or resource investment”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“Lack of external industry participation or collaboration”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“Unclear internal ownership or governance”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“Difficulty demonstrating ROI or business value”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02006" y="6236208"/>
            <a:ext cx="107313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EBAday 2026 survey, reported by Finextra.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16736"/>
          </a:xfrm>
          <a:prstGeom prst="rect">
            <a:avLst/>
          </a:prstGeom>
          <a:solidFill>
            <a:srgbClr val="0506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006" y="201168"/>
            <a:ext cx="111885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FRAUD INFORMATION SHARING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006" y="438912"/>
            <a:ext cx="111885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leaders want isn't just new rules — it's shared infrastructure government can help build and operate.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006" y="1463040"/>
            <a:ext cx="0" cy="457200"/>
          </a:xfrm>
          <a:prstGeom prst="line">
            <a:avLst/>
          </a:prstGeom>
          <a:noFill/>
          <a:ln w="25400">
            <a:solidFill>
              <a:srgbClr val="D0D0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8310" y="1463040"/>
            <a:ext cx="1104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46A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Q4  </a:t>
            </a:r>
            <a:pPr algn="l"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government action would have or has had the greatest impact on enabling more effective fraud information sharing?”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006" y="2066544"/>
            <a:ext cx="111885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fraud information-sharing platform or utility is the single most-cited action — ahead of clearer legal frameworks. Beyond policy-setting, leaders are asking government to take an active operating role in making collaboration possible.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2006" y="2596896"/>
            <a:ext cx="914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462126" y="2651760"/>
            <a:ext cx="0" cy="57607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006" y="2596896"/>
            <a:ext cx="431413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fraud info-sharing platform / utility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6305" y="2596896"/>
            <a:ext cx="914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056425" y="2651760"/>
            <a:ext cx="0" cy="57607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39305" y="2596896"/>
            <a:ext cx="431413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legal &amp; regulatory frameworks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006" y="3374136"/>
            <a:ext cx="914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462126" y="3429000"/>
            <a:ext cx="0" cy="57607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006" y="3374136"/>
            <a:ext cx="431413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data standards &amp; definitions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6305" y="3374136"/>
            <a:ext cx="914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056425" y="3429000"/>
            <a:ext cx="0" cy="57607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39305" y="3374136"/>
            <a:ext cx="431413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public-private collaboration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006" y="4151376"/>
            <a:ext cx="914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462126" y="4206240"/>
            <a:ext cx="0" cy="57607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45006" y="4151376"/>
            <a:ext cx="431413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industry use cases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096305" y="4151376"/>
            <a:ext cx="914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056425" y="4206240"/>
            <a:ext cx="0" cy="57607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39305" y="4151376"/>
            <a:ext cx="4314139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or incentives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006" y="5303520"/>
            <a:ext cx="11188598" cy="0"/>
          </a:xfrm>
          <a:prstGeom prst="line">
            <a:avLst/>
          </a:prstGeom>
          <a:noFill/>
          <a:ln w="9525">
            <a:solidFill>
              <a:srgbClr val="D0D0C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006" y="5376672"/>
            <a:ext cx="1118859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select. 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options as fielded: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“Establish clearer legal and regulatory frameworks for information sharing”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“Develop common data standards and definitions”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 centralized fraud information-sharing platform or utility”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“Facilitate greater public-private collaboration and coordination”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“Provide funding or incentives to support participation”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“Identify and prioritize industry use cases for fraud information sharing”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457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800454" y="598932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006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BC2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006" y="129844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Fraud Risk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006" y="2240280"/>
            <a:ext cx="5532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 only goes so far when the exposure itself sits outside the organization's four walls — and that exposure is growing fastest at the edges of the ecosystem.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2514600"/>
            <a:ext cx="457200" cy="457200"/>
          </a:xfrm>
          <a:prstGeom prst="ellipse">
            <a:avLst/>
          </a:prstGeom>
          <a:solidFill>
            <a:srgbClr val="0B1C1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46520" y="2788920"/>
            <a:ext cx="5239512" cy="2514600"/>
          </a:xfrm>
          <a:prstGeom prst="rect">
            <a:avLst/>
          </a:prstGeom>
          <a:ln w="12700">
            <a:solidFill>
              <a:srgbClr val="D0D0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3017520"/>
            <a:ext cx="4690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the fraud risk intelligence as much in-house as possible — the intelligence today is spread across multiple solutions, vendors, and platforms.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484632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C-LEVEL · BANKING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5394960"/>
            <a:ext cx="4690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survey's open-ended question, in the respondent's own words.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16736"/>
          </a:xfrm>
          <a:prstGeom prst="rect">
            <a:avLst/>
          </a:prstGeom>
          <a:solidFill>
            <a:srgbClr val="0506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006" y="201168"/>
            <a:ext cx="111885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THIRD-PARTY FRAUD RISK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006" y="438912"/>
            <a:ext cx="111885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ecosystems are expanding faster than oversight models can keep up.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006" y="1600200"/>
            <a:ext cx="111885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sectors already name an external partner as their single greatest fraud exposure. Three shifts explain why that risk is accelerating now: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006" y="2148840"/>
            <a:ext cx="91440" cy="62179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1462" y="2103120"/>
            <a:ext cx="109691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commerce is scaling fast.  </a:t>
            </a:r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transaction traffic rose roughly 450% in 2025, with 63% of merchants now exploring agentic payments — a fast-growing surface with few established controls.¹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006" y="2971800"/>
            <a:ext cx="91440" cy="62179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1462" y="2926080"/>
            <a:ext cx="109691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ecosystems are fragmented.  </a:t>
            </a:r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partners, claims vendors, brokers, and service providers each represent a separate point of entry, often governed by inconsistent standards.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006" y="3794760"/>
            <a:ext cx="91440" cy="621792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1462" y="3749040"/>
            <a:ext cx="109691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models are outdated.  </a:t>
            </a:r>
            <a:pPr algn="l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third-party risk frameworks weren't built for adaptive, AI-driven vendors and agents transacting on a customer's behalf.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006" y="4663440"/>
            <a:ext cx="11188598" cy="6858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6598" y="4663440"/>
            <a:ext cx="10859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sections that follow take each sector in turn: where the exposure concentrates, and which strategy fraud leaders trust most to reduce it.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2006" y="5486400"/>
            <a:ext cx="107313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GR4VY and Merchant Risk Council (MRC), agentic commerce adoption data, 2025–2026.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16736"/>
          </a:xfrm>
          <a:prstGeom prst="rect">
            <a:avLst/>
          </a:prstGeom>
          <a:solidFill>
            <a:srgbClr val="0506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006" y="201168"/>
            <a:ext cx="111885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THIRD-PARTY FRAUD RISK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006" y="438912"/>
            <a:ext cx="111885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Banking, the exposure is fintech partners — and the fix leaders trust most is sharper intelligence sharing, not tighter gatekeeping.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006" y="1463040"/>
            <a:ext cx="0" cy="457200"/>
          </a:xfrm>
          <a:prstGeom prst="line">
            <a:avLst/>
          </a:prstGeom>
          <a:noFill/>
          <a:ln w="25400">
            <a:solidFill>
              <a:srgbClr val="D0D0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8310" y="1463040"/>
            <a:ext cx="1104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46A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Q6a  </a:t>
            </a:r>
            <a:pPr algn="l"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external party currently presents the greatest fraud risk exposure to your organization? (Banking, n=75)”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006" y="2112264"/>
          <a:ext cx="69494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726680" y="2112264"/>
            <a:ext cx="3465576" cy="2103120"/>
          </a:xfrm>
          <a:prstGeom prst="roundRect">
            <a:avLst>
              <a:gd name="adj" fmla="val 2174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72984" y="220370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TOP-RATED STRATEGY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872984" y="2404872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872984" y="2788920"/>
            <a:ext cx="31729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information sharing &amp; intelligence is Banking's #1 strategy to reduce third-party fraud risk over the next three years.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006" y="4352544"/>
            <a:ext cx="11188598" cy="658368"/>
          </a:xfrm>
          <a:prstGeom prst="roundRect">
            <a:avLst>
              <a:gd name="adj" fmla="val 6944"/>
            </a:avLst>
          </a:prstGeom>
          <a:solidFill>
            <a:srgbClr val="F7F9F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8310" y="4425696"/>
            <a:ext cx="108959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 </a:t>
            </a:r>
            <a:pPr algn="l" indent="0" marL="0">
              <a:lnSpc>
                <a:spcPct val="116000"/>
              </a:lnSpc>
              <a:buNone/>
            </a:pPr>
            <a:r>
              <a:rPr lang="en-US" sz="9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fintech partner's onboarding API accepts a synthetic-identity application without full verification — the account is later used to receive and quickly move fraudulent transfers.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02006" y="5138928"/>
            <a:ext cx="11188598" cy="0"/>
          </a:xfrm>
          <a:prstGeom prst="line">
            <a:avLst/>
          </a:prstGeom>
          <a:noFill/>
          <a:ln w="9525">
            <a:solidFill>
              <a:srgbClr val="D0D0C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006" y="5193792"/>
            <a:ext cx="111885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Q6a response options: “Mortgage brokers” · “Merchants” · “Fintech Partners” · “Dealers &amp; Indirect Lending Partners” · “Business &amp; Commercial Clients” · “Appraisers.” Q7 single select; illustrative scenario written to show how the channel is typically exploited, not sourced from a specific response.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16736"/>
          </a:xfrm>
          <a:prstGeom prst="rect">
            <a:avLst/>
          </a:prstGeom>
          <a:solidFill>
            <a:srgbClr val="0506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006" y="201168"/>
            <a:ext cx="111885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THIRD-PARTY FRAUD RISK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006" y="438912"/>
            <a:ext cx="111885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Insurance, the exposure is healthcare providers — and the fix leaders trust most is sharper ongoing monitoring, not new gatekeeping rules.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006" y="1463040"/>
            <a:ext cx="0" cy="457200"/>
          </a:xfrm>
          <a:prstGeom prst="line">
            <a:avLst/>
          </a:prstGeom>
          <a:noFill/>
          <a:ln w="25400">
            <a:solidFill>
              <a:srgbClr val="D0D0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8310" y="1463040"/>
            <a:ext cx="1104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46A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Q6b  </a:t>
            </a:r>
            <a:pPr algn="l"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external party currently presents the greatest fraud risk exposure to your organization? (Insurance, n=25)”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006" y="2112264"/>
          <a:ext cx="69494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726680" y="2112264"/>
            <a:ext cx="3465576" cy="2103120"/>
          </a:xfrm>
          <a:prstGeom prst="roundRect">
            <a:avLst>
              <a:gd name="adj" fmla="val 2174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72984" y="220370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TOP-RATED STRATEGY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872984" y="2404872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872984" y="2788920"/>
            <a:ext cx="317296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ongoing monitoring &amp; detection is Insurance's #1 strategy to reduce third-party fraud risk over the next three years (tied with oversight &amp; accountability at 24% for Banking's #2/#3, by contrast).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006" y="4352544"/>
            <a:ext cx="11188598" cy="658368"/>
          </a:xfrm>
          <a:prstGeom prst="roundRect">
            <a:avLst>
              <a:gd name="adj" fmla="val 6944"/>
            </a:avLst>
          </a:prstGeom>
          <a:solidFill>
            <a:srgbClr val="F7F9F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8310" y="4425696"/>
            <a:ext cx="108959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 </a:t>
            </a:r>
            <a:pPr algn="l" indent="0" marL="0">
              <a:lnSpc>
                <a:spcPct val="116000"/>
              </a:lnSpc>
              <a:buNone/>
            </a:pPr>
            <a:r>
              <a:rPr lang="en-US" sz="9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provider submits inflated or duplicate billing codes for services that were never rendered, and the claim clears before pattern-level review catches it.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02006" y="5138928"/>
            <a:ext cx="11188598" cy="0"/>
          </a:xfrm>
          <a:prstGeom prst="line">
            <a:avLst/>
          </a:prstGeom>
          <a:noFill/>
          <a:ln w="9525">
            <a:solidFill>
              <a:srgbClr val="D0D0C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006" y="5193792"/>
            <a:ext cx="111885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Q6b response options: “Brokers and distribution partners” · “Health care providers” · “Automotive service providers” · “Legal representatives and paralegals” · “Third-party administrators (TPAs)” · “Property claims service providers.” Q7 single select; illustrative scenario written to show how the channel is typically exploited, not sourced from a specific response.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457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800454" y="598932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006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BC2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006" y="129844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Transformation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006" y="2240280"/>
            <a:ext cx="5532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 third-party risk gets addressed, someone still has to run the fraud program day to day — and as fraud gets more complex, that program has to evolve too.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2514600"/>
            <a:ext cx="457200" cy="457200"/>
          </a:xfrm>
          <a:prstGeom prst="ellipse">
            <a:avLst/>
          </a:prstGeom>
          <a:solidFill>
            <a:srgbClr val="0B1C1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46520" y="2788920"/>
            <a:ext cx="5239512" cy="2514600"/>
          </a:xfrm>
          <a:prstGeom prst="rect">
            <a:avLst/>
          </a:prstGeom>
          <a:ln w="12700">
            <a:solidFill>
              <a:srgbClr val="D0D0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3017520"/>
            <a:ext cx="4690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will shift fraud management from reactive investigation toward more predictive prevention, which should help us identify risks before losses occur.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484632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· BANKING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5394960"/>
            <a:ext cx="4690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survey's open-ended question, in the respondent's own words.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16736"/>
          </a:xfrm>
          <a:prstGeom prst="rect">
            <a:avLst/>
          </a:prstGeom>
          <a:solidFill>
            <a:srgbClr val="0506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006" y="201168"/>
            <a:ext cx="111885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OPERATING MODEL TRANSFORMATION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006" y="438912"/>
            <a:ext cx="111885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and Insurance both call their fraud programs mature — but they're climbing different ends of the ladder.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006" y="1463040"/>
            <a:ext cx="0" cy="457200"/>
          </a:xfrm>
          <a:prstGeom prst="line">
            <a:avLst/>
          </a:prstGeom>
          <a:noFill/>
          <a:ln w="25400">
            <a:solidFill>
              <a:srgbClr val="D0D0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8310" y="1463040"/>
            <a:ext cx="1104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46A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  </a:t>
            </a:r>
            <a:pPr algn="l"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statement best describes the current maturity of your organization's fraud program? (Banking vs. Insurance)”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006" y="2157984"/>
          <a:ext cx="11188598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02006" y="5303520"/>
            <a:ext cx="11188598" cy="0"/>
          </a:xfrm>
          <a:prstGeom prst="line">
            <a:avLst/>
          </a:prstGeom>
          <a:noFill/>
          <a:ln w="9525">
            <a:solidFill>
              <a:srgbClr val="D0D0C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006" y="5376672"/>
            <a:ext cx="1118859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select · low → high maturity. 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options as fielded: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“Reactive: Primarily incident-driven”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“Foundational: Controls established within individual business units”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“Managed: Enterprise standards and governance are in place”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“Integrated: Data, analytics, and operations are integrated across major fraud types”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“Advanced: Predictive intelligence and ecosystem collaboration are embedded”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16736"/>
          </a:xfrm>
          <a:prstGeom prst="rect">
            <a:avLst/>
          </a:prstGeom>
          <a:solidFill>
            <a:srgbClr val="0506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006" y="201168"/>
            <a:ext cx="111885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OPERATING MODEL TRANSFORMATION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006" y="438912"/>
            <a:ext cx="111885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teams are going all-in on AI — often at the expense of a more balanced playbook.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006" y="1463040"/>
            <a:ext cx="0" cy="457200"/>
          </a:xfrm>
          <a:prstGeom prst="line">
            <a:avLst/>
          </a:prstGeom>
          <a:noFill/>
          <a:ln w="25400">
            <a:solidFill>
              <a:srgbClr val="D0D0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8310" y="1463040"/>
            <a:ext cx="1104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46A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Q8 / Q9  </a:t>
            </a:r>
            <a:pPr algn="l"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statement best describes your current approach to scaling fraud/investigations operations as fraud volume and complexity increases? / Which area do you expect will receive the greatest focus for operations transformation over the next three years?”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006" y="2066544"/>
            <a:ext cx="111885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tools augmentation is already the top way teams scale today and grows further over the next three years, while hiring, outsourcing, and blended approaches all shrink.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006" y="2542032"/>
          <a:ext cx="11188598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02006" y="4855464"/>
            <a:ext cx="11188598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8310" y="4910328"/>
            <a:ext cx="108959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5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 </a:t>
            </a:r>
            <a:pPr algn="l" indent="0" marL="0">
              <a:lnSpc>
                <a:spcPct val="114000"/>
              </a:lnSpc>
              <a:buNone/>
            </a:pPr>
            <a:r>
              <a:rPr lang="en-US" sz="9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2% expect to rely on a combination of levers in three years, down from 7% today. Programs that concentrate around a single lever — even a powerful one like AI — risk losing the flexibility a diversified operating model provides.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2006" y="5513832"/>
            <a:ext cx="11188598" cy="0"/>
          </a:xfrm>
          <a:prstGeom prst="line">
            <a:avLst/>
          </a:prstGeom>
          <a:noFill/>
          <a:ln w="9525">
            <a:solidFill>
              <a:srgbClr val="D0D0C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006" y="5568696"/>
            <a:ext cx="111885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select, asked twice. Response options as fielded: “Adding capacity through hiring full-time employees and workforce expansion” · “Adding capacity through outsourcing arrangements (e.g., contractors)” · “Automating workflows and minimizing manual activities” · “Augmenting existing capacity with AI-enabled tools” · “Redesigning operation processes and playbooks across the lifecycle” · “Pursuing a combination of the above approaches.”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457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800454" y="598932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006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BC2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006" y="129844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Market Change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006" y="2240280"/>
            <a:ext cx="5532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fraud program built around AI still has to operate inside a regulatory perimeter that's shifting under its feet — and it's shifting faster than most programs can absorb.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2514600"/>
            <a:ext cx="457200" cy="457200"/>
          </a:xfrm>
          <a:prstGeom prst="ellipse">
            <a:avLst/>
          </a:prstGeom>
          <a:solidFill>
            <a:srgbClr val="0B1C1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46520" y="2788920"/>
            <a:ext cx="5239512" cy="2514600"/>
          </a:xfrm>
          <a:prstGeom prst="rect">
            <a:avLst/>
          </a:prstGeom>
          <a:ln w="12700">
            <a:solidFill>
              <a:srgbClr val="D0D0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3017520"/>
            <a:ext cx="4690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regulatory framework to address liability and risks due to AI and crypto currency will be biggest lookout for fraud risks.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484632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· BANKING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5394960"/>
            <a:ext cx="4690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survey's open-ended question, in the respondent's own words.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16736"/>
          </a:xfrm>
          <a:prstGeom prst="rect">
            <a:avLst/>
          </a:prstGeom>
          <a:solidFill>
            <a:srgbClr val="0506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006" y="201168"/>
            <a:ext cx="111885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REGULATORY &amp; MARKET CHANGE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006" y="438912"/>
            <a:ext cx="111885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and market expectations are both moving faster than most fraud programs can absorb.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006" y="1691640"/>
            <a:ext cx="91440" cy="5120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1462" y="1645920"/>
            <a:ext cx="109691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—  </a:t>
            </a:r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GENIUS Act (2025) creates the first federal framework for stablecoins, pulling tokenized payments into regulated territory.¹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006" y="2404872"/>
            <a:ext cx="91440" cy="5120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1462" y="2359152"/>
            <a:ext cx="109691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 —  </a:t>
            </a:r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Instant Payments Regulation now requires real-time payee-verification checks on every instant transfer.²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006" y="3118104"/>
            <a:ext cx="91440" cy="5120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1462" y="3072384"/>
            <a:ext cx="109691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—  </a:t>
            </a:r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Real-Time Rail launches Q4 2026 as the first real-time payment system built with a centralized fraud utility from day one.³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006" y="3831336"/>
            <a:ext cx="91440" cy="5120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1462" y="3785616"/>
            <a:ext cx="1096914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 —  </a:t>
            </a:r>
            <a:pPr algn="l"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MiCA's final transitional deadlines land in 2026, pulling crypto-asset service providers fully into supervised oversight.⁴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006" y="4617720"/>
            <a:ext cx="11188598" cy="777240"/>
          </a:xfrm>
          <a:prstGeom prst="roundRect">
            <a:avLst>
              <a:gd name="adj" fmla="val 5882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6598" y="4617720"/>
            <a:ext cx="108594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time, customers expect fraud checks to feel instant and invisible — raising the bar for real-time decisioning just as the rulebook keeps changing underneath it.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006" y="5504688"/>
            <a:ext cx="107313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ABA Banking Journal, 2026.  ² EU Instant Payments Regulation.  ³ Payments Canada, 2026.  ⁴ Grant Thornton, 2026.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16736"/>
          </a:xfrm>
          <a:prstGeom prst="rect">
            <a:avLst/>
          </a:prstGeom>
          <a:solidFill>
            <a:srgbClr val="0506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006" y="201168"/>
            <a:ext cx="111885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REGULATORY &amp; MARKET CHANGE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006" y="438912"/>
            <a:ext cx="111885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programs are under real strain: identity, privacy, and payment innovation top the list of expected disruptions — while 48% are still remediating yesterday's compliance gaps.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006" y="1463040"/>
            <a:ext cx="0" cy="457200"/>
          </a:xfrm>
          <a:prstGeom prst="line">
            <a:avLst/>
          </a:prstGeom>
          <a:noFill/>
          <a:ln w="25400">
            <a:solidFill>
              <a:srgbClr val="D0D0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8310" y="1463040"/>
            <a:ext cx="1104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46A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Q10 / Q11  </a:t>
            </a:r>
            <a:pPr algn="l"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upcoming regulatory or market changes is expected to have the greatest impact on your fraud program? / How is your organization allocating fraud-related investment?”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006" y="215798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62126" y="2212848"/>
            <a:ext cx="0" cy="43891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006" y="215798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identity, authentication &amp; digital trust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2006" y="279806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462126" y="2852928"/>
            <a:ext cx="0" cy="43891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45006" y="279806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data-sharing &amp; AI governance requirements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2006" y="343814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462126" y="3493008"/>
            <a:ext cx="0" cy="438912"/>
          </a:xfrm>
          <a:prstGeom prst="line">
            <a:avLst/>
          </a:prstGeom>
          <a:noFill/>
          <a:ln w="15875">
            <a:solidFill>
              <a:srgbClr val="D0D0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45006" y="343814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innovation (RTP, stablecoins, agentic payments)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26680" y="2157984"/>
            <a:ext cx="3465576" cy="1920240"/>
          </a:xfrm>
          <a:prstGeom prst="roundRect">
            <a:avLst>
              <a:gd name="adj" fmla="val 2381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72984" y="224942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872984" y="2450592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7872984" y="2834640"/>
            <a:ext cx="31729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are still investing primarily to remediate existing compliance gaps — not to get ahead of what's coming next.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006" y="4306824"/>
            <a:ext cx="11188598" cy="777240"/>
          </a:xfrm>
          <a:prstGeom prst="roundRect">
            <a:avLst>
              <a:gd name="adj" fmla="val 5882"/>
            </a:avLst>
          </a:prstGeom>
          <a:solidFill>
            <a:srgbClr val="046A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0606" y="4306824"/>
            <a:ext cx="107313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fraud program can track every shift alone — which is exactly the gap a partner like Deloitte is built to close.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006" y="5212080"/>
            <a:ext cx="11188598" cy="0"/>
          </a:xfrm>
          <a:prstGeom prst="line">
            <a:avLst/>
          </a:prstGeom>
          <a:noFill/>
          <a:ln w="9525">
            <a:solidFill>
              <a:srgbClr val="D0D0C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006" y="5266944"/>
            <a:ext cx="1118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ranked top 3 — % of respondents who placed the option anywhere in their top 3 (not mutually exclusive). Q10 single select.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457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800454" y="598932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006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BC2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006" y="129844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 Three Years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006" y="2240280"/>
            <a:ext cx="5532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pillar above is a leader's answer to a structured question. Asked to answer in their own words about the next three years, respondents converge on the same handful of ideas — unprompted.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2514600"/>
            <a:ext cx="457200" cy="457200"/>
          </a:xfrm>
          <a:prstGeom prst="ellipse">
            <a:avLst/>
          </a:prstGeom>
          <a:solidFill>
            <a:srgbClr val="0B1C14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46520" y="2788920"/>
            <a:ext cx="5239512" cy="2514600"/>
          </a:xfrm>
          <a:prstGeom prst="rect">
            <a:avLst/>
          </a:prstGeom>
          <a:ln w="12700">
            <a:solidFill>
              <a:srgbClr val="D0D0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3017520"/>
            <a:ext cx="4690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see the future being more about proactive fraud prevention than investigation after the loss.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484632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MANAGER · INSURANCE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5394960"/>
            <a:ext cx="4690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survey's open-ended question, in the respondent's own words.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16736"/>
          </a:xfrm>
          <a:prstGeom prst="rect">
            <a:avLst/>
          </a:prstGeom>
          <a:solidFill>
            <a:srgbClr val="05060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006" y="201168"/>
            <a:ext cx="111885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LOOKING AHEAD THREE YEARS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006" y="438912"/>
            <a:ext cx="1118859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to answer in their own words, leaders converge on the same trend running through every closed-ended question above.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1346790" y="6537960"/>
            <a:ext cx="34381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006" y="1463040"/>
            <a:ext cx="0" cy="457200"/>
          </a:xfrm>
          <a:prstGeom prst="line">
            <a:avLst/>
          </a:prstGeom>
          <a:noFill/>
          <a:ln w="25400">
            <a:solidFill>
              <a:srgbClr val="D0D0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8310" y="1463040"/>
            <a:ext cx="1104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046A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Q12  </a:t>
            </a:r>
            <a:pPr algn="l" indent="0" marL="0">
              <a:lnSpc>
                <a:spcPct val="106000"/>
              </a:lnSpc>
              <a:buNone/>
            </a:pPr>
            <a:r>
              <a:rPr lang="en-US" sz="1000" i="1" dirty="0">
                <a:solidFill>
                  <a:srgbClr val="57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“Looking ahead three years, what development do you believe will have the greatest impact on fraud risk management, and why? (open-ended)”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006" y="2112264"/>
            <a:ext cx="11188598" cy="868680"/>
          </a:xfrm>
          <a:prstGeom prst="roundRect">
            <a:avLst>
              <a:gd name="adj" fmla="val 6316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6326" y="2112264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100/100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970886" y="2157984"/>
            <a:ext cx="844539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35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 answered in their own words — a full response rate on an open text field. The same convergence of GenAI, synthetic identity, and real-time payments keeps recurring, not just in this open-end but throughout the survey.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006" y="3118104"/>
            <a:ext cx="5457139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4886" y="3246120"/>
            <a:ext cx="5091379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biggest impact will come from combining AI with human expertise rather than replacing fraud analysts.”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4886" y="4379976"/>
            <a:ext cx="50913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SVP · Insurance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3465" y="3118104"/>
            <a:ext cx="5457139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16345" y="3246120"/>
            <a:ext cx="5091379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“Well, behavioral analytics sounds promising, but getting the data quality right will be the real challenge.”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16345" y="4379976"/>
            <a:ext cx="50913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Director · Banking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006" y="4855464"/>
            <a:ext cx="5457139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4886" y="4983480"/>
            <a:ext cx="5091379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is going to be huge, both for us and for fraudsters, so it will probably change the whole fraud landscape.”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4886" y="6117336"/>
            <a:ext cx="50913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Director · Banking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3465" y="4855464"/>
            <a:ext cx="5457139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6345" y="4983480"/>
            <a:ext cx="5091379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“Companies are moving away from regular passwords towards decentralized digital credentials and biometric passkeys, as this would minimize phishing and account hacking.”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16345" y="6117336"/>
            <a:ext cx="509137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565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Senior Manager · Banking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006" y="457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800454" y="598932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006" y="4215384"/>
            <a:ext cx="8531352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
</a:t>
            </a:r>
            <a:endParaRPr lang="en-US" sz="2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
</a:t>
            </a:r>
            <a:endParaRPr lang="en-US" sz="2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 | Practice]
</a:t>
            </a:r>
            <a:endParaRPr lang="en-US" sz="2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[email@deloitte.com]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372600" y="4215384"/>
            <a:ext cx="2322576" cy="1728216"/>
          </a:xfrm>
          <a:prstGeom prst="rect">
            <a:avLst/>
          </a:prstGeom>
          <a:solidFill>
            <a:srgbClr val="0B1C14"/>
          </a:solidFill>
          <a:ln w="9525">
            <a:solidFill>
              <a:srgbClr val="86BC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72600" y="4892040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370771" y="6016752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Crime Forum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2026-09-20T20:40:13Z</dcterms:created>
  <dcterms:modified xsi:type="dcterms:W3CDTF">2026-09-20T20:40:13Z</dcterms:modified>
</cp:coreProperties>
</file>