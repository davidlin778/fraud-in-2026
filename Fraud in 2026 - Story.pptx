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United States (n=34)</c:v>
                </c:pt>
              </c:strCache>
            </c:strRef>
          </c:tx>
          <c:spPr>
            <a:solidFill>
              <a:srgbClr val="86BC25"/>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ID verification / prevention</c:v>
                  </c:pt>
                  <c:pt idx="1">
                    <c:v>Fraud detection technology</c:v>
                  </c:pt>
                  <c:pt idx="2">
                    <c:v>3rd-party intel / consortium</c:v>
                  </c:pt>
                  <c:pt idx="3">
                    <c:v>Staff awareness &amp; training</c:v>
                  </c:pt>
                </c:lvl>
              </c:multiLvlStrCache>
            </c:multiLvlStrRef>
          </c:cat>
          <c:val>
            <c:numRef>
              <c:f>Sheet1!$B$2:$B$5</c:f>
              <c:numCache>
                <c:formatCode>General</c:formatCode>
                <c:ptCount val="4"/>
                <c:pt idx="0">
                  <c:v>53</c:v>
                </c:pt>
                <c:pt idx="1">
                  <c:v>47</c:v>
                </c:pt>
                <c:pt idx="2">
                  <c:v>26</c:v>
                </c:pt>
                <c:pt idx="3">
                  <c:v>50</c:v>
                </c:pt>
              </c:numCache>
            </c:numRef>
          </c:val>
        </c:ser>
        <c:ser>
          <c:idx val="1"/>
          <c:order val="1"/>
          <c:tx>
            <c:strRef>
              <c:f>Sheet1!$C$1</c:f>
              <c:strCache>
                <c:ptCount val="1"/>
                <c:pt idx="0">
                  <c:v>Canada (n=18)</c:v>
                </c:pt>
              </c:strCache>
            </c:strRef>
          </c:tx>
          <c:spPr>
            <a:solidFill>
              <a:srgbClr val="43B02A"/>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ID verification / prevention</c:v>
                  </c:pt>
                  <c:pt idx="1">
                    <c:v>Fraud detection technology</c:v>
                  </c:pt>
                  <c:pt idx="2">
                    <c:v>3rd-party intel / consortium</c:v>
                  </c:pt>
                  <c:pt idx="3">
                    <c:v>Staff awareness &amp; training</c:v>
                  </c:pt>
                </c:lvl>
              </c:multiLvlStrCache>
            </c:multiLvlStrRef>
          </c:cat>
          <c:val>
            <c:numRef>
              <c:f>Sheet1!$C$2:$C$5</c:f>
              <c:numCache>
                <c:formatCode>General</c:formatCode>
                <c:ptCount val="4"/>
                <c:pt idx="0">
                  <c:v>56</c:v>
                </c:pt>
                <c:pt idx="1">
                  <c:v>50</c:v>
                </c:pt>
                <c:pt idx="2">
                  <c:v>61</c:v>
                </c:pt>
                <c:pt idx="3">
                  <c:v>67</c:v>
                </c:pt>
              </c:numCache>
            </c:numRef>
          </c:val>
        </c:ser>
        <c:ser>
          <c:idx val="2"/>
          <c:order val="2"/>
          <c:tx>
            <c:strRef>
              <c:f>Sheet1!$D$1</c:f>
              <c:strCache>
                <c:ptCount val="1"/>
                <c:pt idx="0">
                  <c:v>Europe — EU+UK (n=12)</c:v>
                </c:pt>
              </c:strCache>
            </c:strRef>
          </c:tx>
          <c:spPr>
            <a:solidFill>
              <a:srgbClr val="046A38"/>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ID verification / prevention</c:v>
                  </c:pt>
                  <c:pt idx="1">
                    <c:v>Fraud detection technology</c:v>
                  </c:pt>
                  <c:pt idx="2">
                    <c:v>3rd-party intel / consortium</c:v>
                  </c:pt>
                  <c:pt idx="3">
                    <c:v>Staff awareness &amp; training</c:v>
                  </c:pt>
                </c:lvl>
              </c:multiLvlStrCache>
            </c:multiLvlStrRef>
          </c:cat>
          <c:val>
            <c:numRef>
              <c:f>Sheet1!$D$2:$D$5</c:f>
              <c:numCache>
                <c:formatCode>General</c:formatCode>
                <c:ptCount val="4"/>
                <c:pt idx="0">
                  <c:v>50</c:v>
                </c:pt>
                <c:pt idx="1">
                  <c:v>50</c:v>
                </c:pt>
                <c:pt idx="2">
                  <c:v>42</c:v>
                </c:pt>
                <c:pt idx="3">
                  <c:v>33</c:v>
                </c:pt>
              </c:numCache>
            </c:numRef>
          </c:val>
        </c:ser>
        <c:ser>
          <c:idx val="3"/>
          <c:order val="3"/>
          <c:tx>
            <c:strRef>
              <c:f>Sheet1!$E$1</c:f>
              <c:strCache>
                <c:ptCount val="1"/>
                <c:pt idx="0">
                  <c:v>Australia (n=7)</c:v>
                </c:pt>
              </c:strCache>
            </c:strRef>
          </c:tx>
          <c:spPr>
            <a:solidFill>
              <a:srgbClr val="0D8390"/>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ID verification / prevention</c:v>
                  </c:pt>
                  <c:pt idx="1">
                    <c:v>Fraud detection technology</c:v>
                  </c:pt>
                  <c:pt idx="2">
                    <c:v>3rd-party intel / consortium</c:v>
                  </c:pt>
                  <c:pt idx="3">
                    <c:v>Staff awareness &amp; training</c:v>
                  </c:pt>
                </c:lvl>
              </c:multiLvlStrCache>
            </c:multiLvlStrRef>
          </c:cat>
          <c:val>
            <c:numRef>
              <c:f>Sheet1!$E$2:$E$5</c:f>
              <c:numCache>
                <c:formatCode>General</c:formatCode>
                <c:ptCount val="4"/>
                <c:pt idx="0">
                  <c:v>29</c:v>
                </c:pt>
                <c:pt idx="1">
                  <c:v>43</c:v>
                </c:pt>
                <c:pt idx="2">
                  <c:v>71</c:v>
                </c:pt>
                <c:pt idx="3">
                  <c:v>29</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ID verification / prevention</c:v>
                  </c:pt>
                  <c:pt idx="1">
                    <c:v>Fraud detection technology</c:v>
                  </c:pt>
                  <c:pt idx="2">
                    <c:v>3rd-party intel / consortium</c:v>
                  </c:pt>
                  <c:pt idx="3">
                    <c:v>Staff awareness &amp; training</c:v>
                  </c:pt>
                </c:lvl>
              </c:multiLvlStrCache>
            </c:multiLvlStrRef>
          </c:cat>
          <c:val>
            <c:numRef>
              <c:f>Sheet1!$F$2:$F$5</c:f>
              <c:numCache>
                <c:formatCode>General</c:formatCode>
                <c:ptCount val="4"/>
                <c:pt idx="0">
                  <c:v>50</c:v>
                </c:pt>
                <c:pt idx="1">
                  <c:v>50</c:v>
                </c:pt>
                <c:pt idx="2">
                  <c:v>50</c:v>
                </c:pt>
                <c:pt idx="3">
                  <c:v>50</c:v>
                </c:pt>
              </c:numCache>
            </c:numRef>
          </c:val>
        </c:ser>
        <c:dLbls>
          <c:numFmt formatCode="0&quot;%&quot;" sourceLinked="0"/>
          <c:txPr>
            <a:bodyPr/>
            <a:lstStyle/>
            <a:p>
              <a:pPr>
                <a:defRPr b="0" i="0" strike="noStrike" sz="6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United States (n=10)</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ID verification / prevention</c:v>
                  </c:pt>
                  <c:pt idx="1">
                    <c:v>Fraud detection technology</c:v>
                  </c:pt>
                  <c:pt idx="2">
                    <c:v>3rd-party intel / consortium</c:v>
                  </c:pt>
                  <c:pt idx="3">
                    <c:v>Staff awareness &amp; training</c:v>
                  </c:pt>
                </c:lvl>
              </c:multiLvlStrCache>
            </c:multiLvlStrRef>
          </c:cat>
          <c:val>
            <c:numRef>
              <c:f>Sheet1!$B$2:$B$5</c:f>
              <c:numCache>
                <c:formatCode>General</c:formatCode>
                <c:ptCount val="4"/>
                <c:pt idx="0">
                  <c:v>60</c:v>
                </c:pt>
                <c:pt idx="1">
                  <c:v>20</c:v>
                </c:pt>
                <c:pt idx="2">
                  <c:v>50</c:v>
                </c:pt>
                <c:pt idx="3">
                  <c:v>50</c:v>
                </c:pt>
              </c:numCache>
            </c:numRef>
          </c:val>
        </c:ser>
        <c:ser>
          <c:idx val="1"/>
          <c:order val="1"/>
          <c:tx>
            <c:strRef>
              <c:f>Sheet1!$C$1</c:f>
              <c:strCache>
                <c:ptCount val="1"/>
                <c:pt idx="0">
                  <c:v>Canada (n=12)</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ID verification / prevention</c:v>
                  </c:pt>
                  <c:pt idx="1">
                    <c:v>Fraud detection technology</c:v>
                  </c:pt>
                  <c:pt idx="2">
                    <c:v>3rd-party intel / consortium</c:v>
                  </c:pt>
                  <c:pt idx="3">
                    <c:v>Staff awareness &amp; training</c:v>
                  </c:pt>
                </c:lvl>
              </c:multiLvlStrCache>
            </c:multiLvlStrRef>
          </c:cat>
          <c:val>
            <c:numRef>
              <c:f>Sheet1!$C$2:$C$5</c:f>
              <c:numCache>
                <c:formatCode>General</c:formatCode>
                <c:ptCount val="4"/>
                <c:pt idx="0">
                  <c:v>42</c:v>
                </c:pt>
                <c:pt idx="1">
                  <c:v>58</c:v>
                </c:pt>
                <c:pt idx="2">
                  <c:v>42</c:v>
                </c:pt>
                <c:pt idx="3">
                  <c:v>75</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A Deloitte Perspective</a:t>
            </a:r>
            <a:endParaRPr lang="en-US" sz="2800" dirty="0"/>
          </a:p>
        </p:txBody>
      </p:sp>
      <p:sp>
        <p:nvSpPr>
          <p:cNvPr id="14" name="Text 12"/>
          <p:cNvSpPr txBox="1"/>
          <p:nvPr/>
        </p:nvSpPr>
        <p:spPr>
          <a:xfrm>
            <a:off x="502006" y="5870448"/>
            <a:ext cx="9692640" cy="822960"/>
          </a:xfrm>
          <a:prstGeom prst="rect">
            <a:avLst/>
          </a:prstGeom>
          <a:noFill/>
          <a:ln/>
        </p:spPr>
        <p:txBody>
          <a:bodyPr wrap="square" lIns="0" tIns="0" rIns="0" bIns="0" rtlCol="0" anchor="t"/>
          <a:lstStyle/>
          <a:p>
            <a:pPr algn="l" indent="0" marL="0">
              <a:lnSpc>
                <a:spcPct val="115000"/>
              </a:lnSpc>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lnSpc>
                <a:spcPct val="115000"/>
              </a:lnSpc>
              <a:buNone/>
            </a:pPr>
            <a:r>
              <a:rPr lang="en-US" sz="1250" dirty="0">
                <a:solidFill>
                  <a:srgbClr val="D0D0CE"/>
                </a:solidFill>
                <a:latin typeface="Calibri" pitchFamily="34" charset="0"/>
                <a:ea typeface="Calibri" pitchFamily="34" charset="-122"/>
                <a:cs typeface="Calibri" pitchFamily="34" charset="-120"/>
              </a:rPr>
              <a:t>How AI, information sharing, third-party risk, and operating model change are reshaping fraud leadership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66928"/>
          </a:xfrm>
          <a:prstGeom prst="rect">
            <a:avLst/>
          </a:prstGeom>
          <a:solidFill>
            <a:srgbClr val="F2F2F2"/>
          </a:solidFill>
          <a:ln/>
        </p:spPr>
      </p:sp>
      <p:sp>
        <p:nvSpPr>
          <p:cNvPr id="5" name="Shape 3"/>
          <p:cNvSpPr/>
          <p:nvPr/>
        </p:nvSpPr>
        <p:spPr>
          <a:xfrm>
            <a:off x="589788" y="1591056"/>
            <a:ext cx="402336" cy="402336"/>
          </a:xfrm>
          <a:prstGeom prst="rect">
            <a:avLst/>
          </a:prstGeom>
          <a:solidFill>
            <a:srgbClr val="86BC25"/>
          </a:solidFill>
          <a:ln/>
        </p:spPr>
      </p:sp>
      <p:sp>
        <p:nvSpPr>
          <p:cNvPr id="6" name="Text 4"/>
          <p:cNvSpPr txBox="1"/>
          <p:nvPr/>
        </p:nvSpPr>
        <p:spPr>
          <a:xfrm>
            <a:off x="589788" y="15910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7" name="Text 5"/>
          <p:cNvSpPr txBox="1"/>
          <p:nvPr/>
        </p:nvSpPr>
        <p:spPr>
          <a:xfrm>
            <a:off x="1138428" y="1508760"/>
            <a:ext cx="6995160" cy="566928"/>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Executive Summary</a:t>
            </a:r>
            <a:endParaRPr lang="en-US" sz="1400" dirty="0"/>
          </a:p>
        </p:txBody>
      </p:sp>
      <p:sp>
        <p:nvSpPr>
          <p:cNvPr id="8" name="Shape 6"/>
          <p:cNvSpPr/>
          <p:nvPr/>
        </p:nvSpPr>
        <p:spPr>
          <a:xfrm>
            <a:off x="498348" y="2203704"/>
            <a:ext cx="7772400" cy="566928"/>
          </a:xfrm>
          <a:prstGeom prst="rect">
            <a:avLst/>
          </a:prstGeom>
          <a:solidFill>
            <a:srgbClr val="F2F2F2"/>
          </a:solidFill>
          <a:ln/>
        </p:spPr>
      </p:sp>
      <p:sp>
        <p:nvSpPr>
          <p:cNvPr id="9" name="Shape 7"/>
          <p:cNvSpPr/>
          <p:nvPr/>
        </p:nvSpPr>
        <p:spPr>
          <a:xfrm>
            <a:off x="589788" y="2286000"/>
            <a:ext cx="402336" cy="402336"/>
          </a:xfrm>
          <a:prstGeom prst="rect">
            <a:avLst/>
          </a:prstGeom>
          <a:solidFill>
            <a:srgbClr val="86BC25"/>
          </a:solidFill>
          <a:ln/>
        </p:spPr>
      </p:sp>
      <p:sp>
        <p:nvSpPr>
          <p:cNvPr id="10" name="Text 8"/>
          <p:cNvSpPr txBox="1"/>
          <p:nvPr/>
        </p:nvSpPr>
        <p:spPr>
          <a:xfrm>
            <a:off x="589788" y="22860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11" name="Text 9"/>
          <p:cNvSpPr txBox="1"/>
          <p:nvPr/>
        </p:nvSpPr>
        <p:spPr>
          <a:xfrm>
            <a:off x="1138428" y="2203704"/>
            <a:ext cx="6995160" cy="566928"/>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98648"/>
            <a:ext cx="7772400" cy="566928"/>
          </a:xfrm>
          <a:prstGeom prst="rect">
            <a:avLst/>
          </a:prstGeom>
          <a:solidFill>
            <a:srgbClr val="F2F2F2"/>
          </a:solidFill>
          <a:ln/>
        </p:spPr>
      </p:sp>
      <p:sp>
        <p:nvSpPr>
          <p:cNvPr id="13" name="Shape 11"/>
          <p:cNvSpPr/>
          <p:nvPr/>
        </p:nvSpPr>
        <p:spPr>
          <a:xfrm>
            <a:off x="589788" y="2980944"/>
            <a:ext cx="402336" cy="402336"/>
          </a:xfrm>
          <a:prstGeom prst="rect">
            <a:avLst/>
          </a:prstGeom>
          <a:solidFill>
            <a:srgbClr val="86BC25"/>
          </a:solidFill>
          <a:ln/>
        </p:spPr>
      </p:sp>
      <p:sp>
        <p:nvSpPr>
          <p:cNvPr id="14" name="Text 12"/>
          <p:cNvSpPr txBox="1"/>
          <p:nvPr/>
        </p:nvSpPr>
        <p:spPr>
          <a:xfrm>
            <a:off x="589788" y="298094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5" name="Text 13"/>
          <p:cNvSpPr txBox="1"/>
          <p:nvPr/>
        </p:nvSpPr>
        <p:spPr>
          <a:xfrm>
            <a:off x="1138428" y="2898648"/>
            <a:ext cx="6995160" cy="566928"/>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93592"/>
            <a:ext cx="7772400" cy="566928"/>
          </a:xfrm>
          <a:prstGeom prst="rect">
            <a:avLst/>
          </a:prstGeom>
          <a:solidFill>
            <a:srgbClr val="F2F2F2"/>
          </a:solidFill>
          <a:ln/>
        </p:spPr>
      </p:sp>
      <p:sp>
        <p:nvSpPr>
          <p:cNvPr id="17" name="Shape 15"/>
          <p:cNvSpPr/>
          <p:nvPr/>
        </p:nvSpPr>
        <p:spPr>
          <a:xfrm>
            <a:off x="589788" y="3675888"/>
            <a:ext cx="402336" cy="402336"/>
          </a:xfrm>
          <a:prstGeom prst="rect">
            <a:avLst/>
          </a:prstGeom>
          <a:solidFill>
            <a:srgbClr val="86BC25"/>
          </a:solidFill>
          <a:ln/>
        </p:spPr>
      </p:sp>
      <p:sp>
        <p:nvSpPr>
          <p:cNvPr id="18" name="Text 16"/>
          <p:cNvSpPr txBox="1"/>
          <p:nvPr/>
        </p:nvSpPr>
        <p:spPr>
          <a:xfrm>
            <a:off x="589788" y="367588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9" name="Text 17"/>
          <p:cNvSpPr txBox="1"/>
          <p:nvPr/>
        </p:nvSpPr>
        <p:spPr>
          <a:xfrm>
            <a:off x="1138428" y="3593592"/>
            <a:ext cx="6995160" cy="566928"/>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88536"/>
            <a:ext cx="7772400" cy="566928"/>
          </a:xfrm>
          <a:prstGeom prst="rect">
            <a:avLst/>
          </a:prstGeom>
          <a:solidFill>
            <a:srgbClr val="F2F2F2"/>
          </a:solidFill>
          <a:ln/>
        </p:spPr>
      </p:sp>
      <p:sp>
        <p:nvSpPr>
          <p:cNvPr id="21" name="Shape 19"/>
          <p:cNvSpPr/>
          <p:nvPr/>
        </p:nvSpPr>
        <p:spPr>
          <a:xfrm>
            <a:off x="589788" y="4370832"/>
            <a:ext cx="402336" cy="402336"/>
          </a:xfrm>
          <a:prstGeom prst="rect">
            <a:avLst/>
          </a:prstGeom>
          <a:solidFill>
            <a:srgbClr val="86BC25"/>
          </a:solidFill>
          <a:ln/>
        </p:spPr>
      </p:sp>
      <p:sp>
        <p:nvSpPr>
          <p:cNvPr id="22" name="Text 20"/>
          <p:cNvSpPr txBox="1"/>
          <p:nvPr/>
        </p:nvSpPr>
        <p:spPr>
          <a:xfrm>
            <a:off x="589788" y="437083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3" name="Text 21"/>
          <p:cNvSpPr txBox="1"/>
          <p:nvPr/>
        </p:nvSpPr>
        <p:spPr>
          <a:xfrm>
            <a:off x="1138428" y="4288536"/>
            <a:ext cx="6995160" cy="566928"/>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983480"/>
            <a:ext cx="7772400" cy="566928"/>
          </a:xfrm>
          <a:prstGeom prst="rect">
            <a:avLst/>
          </a:prstGeom>
          <a:solidFill>
            <a:srgbClr val="F2F2F2"/>
          </a:solidFill>
          <a:ln/>
        </p:spPr>
      </p:sp>
      <p:sp>
        <p:nvSpPr>
          <p:cNvPr id="25" name="Shape 23"/>
          <p:cNvSpPr/>
          <p:nvPr/>
        </p:nvSpPr>
        <p:spPr>
          <a:xfrm>
            <a:off x="589788" y="5065776"/>
            <a:ext cx="402336" cy="402336"/>
          </a:xfrm>
          <a:prstGeom prst="rect">
            <a:avLst/>
          </a:prstGeom>
          <a:solidFill>
            <a:srgbClr val="86BC25"/>
          </a:solidFill>
          <a:ln/>
        </p:spPr>
      </p:sp>
      <p:sp>
        <p:nvSpPr>
          <p:cNvPr id="26" name="Text 24"/>
          <p:cNvSpPr txBox="1"/>
          <p:nvPr/>
        </p:nvSpPr>
        <p:spPr>
          <a:xfrm>
            <a:off x="589788" y="50657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138428" y="4983480"/>
            <a:ext cx="6995160" cy="566928"/>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678424"/>
            <a:ext cx="7772400" cy="566928"/>
          </a:xfrm>
          <a:prstGeom prst="rect">
            <a:avLst/>
          </a:prstGeom>
          <a:solidFill>
            <a:srgbClr val="F2F2F2"/>
          </a:solidFill>
          <a:ln/>
        </p:spPr>
      </p:sp>
      <p:sp>
        <p:nvSpPr>
          <p:cNvPr id="29" name="Shape 27"/>
          <p:cNvSpPr/>
          <p:nvPr/>
        </p:nvSpPr>
        <p:spPr>
          <a:xfrm>
            <a:off x="589788" y="5760720"/>
            <a:ext cx="402336" cy="402336"/>
          </a:xfrm>
          <a:prstGeom prst="rect">
            <a:avLst/>
          </a:prstGeom>
          <a:solidFill>
            <a:srgbClr val="86BC25"/>
          </a:solidFill>
          <a:ln/>
        </p:spPr>
      </p:sp>
      <p:sp>
        <p:nvSpPr>
          <p:cNvPr id="30" name="Text 28"/>
          <p:cNvSpPr txBox="1"/>
          <p:nvPr/>
        </p:nvSpPr>
        <p:spPr>
          <a:xfrm>
            <a:off x="589788" y="57607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31" name="Text 29"/>
          <p:cNvSpPr txBox="1"/>
          <p:nvPr/>
        </p:nvSpPr>
        <p:spPr>
          <a:xfrm>
            <a:off x="1138428" y="5678424"/>
            <a:ext cx="6995160" cy="566928"/>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50607"/>
          </a:solidFill>
          <a:ln/>
        </p:spPr>
      </p:sp>
      <p:sp>
        <p:nvSpPr>
          <p:cNvPr id="3" name="Text 1"/>
          <p:cNvSpPr txBox="1"/>
          <p:nvPr/>
        </p:nvSpPr>
        <p:spPr>
          <a:xfrm>
            <a:off x="502006" y="164592"/>
            <a:ext cx="11188598" cy="182880"/>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EXECUTIVE SUMMARY</a:t>
            </a:r>
            <a:endParaRPr lang="en-US" sz="900" dirty="0"/>
          </a:p>
        </p:txBody>
      </p:sp>
      <p:sp>
        <p:nvSpPr>
          <p:cNvPr id="4" name="Text 2"/>
          <p:cNvSpPr txBox="1"/>
          <p:nvPr/>
        </p:nvSpPr>
        <p:spPr>
          <a:xfrm>
            <a:off x="502006" y="384048"/>
            <a:ext cx="11188598" cy="914400"/>
          </a:xfrm>
          <a:prstGeom prst="rect">
            <a:avLst/>
          </a:prstGeom>
          <a:noFill/>
          <a:ln/>
        </p:spPr>
        <p:txBody>
          <a:bodyPr wrap="square" lIns="0" tIns="0" rIns="0" bIns="0" rtlCol="0" anchor="t"/>
          <a:lstStyle/>
          <a:p>
            <a:pPr algn="l" indent="0" marL="0">
              <a:lnSpc>
                <a:spcPct val="114000"/>
              </a:lnSpc>
              <a:buNone/>
            </a:pPr>
            <a:r>
              <a:rPr lang="en-US" sz="1800" b="1" dirty="0">
                <a:solidFill>
                  <a:srgbClr val="FFFFFF"/>
                </a:solidFill>
                <a:latin typeface="Calibri" pitchFamily="34" charset="0"/>
                <a:ea typeface="Calibri" pitchFamily="34" charset="-122"/>
                <a:cs typeface="Calibri" pitchFamily="34" charset="-120"/>
              </a:rPr>
              <a:t>Fraud is accelerating faster than most programs can keep pace — GenAI-enabled fraud losses in the U.S. alone are projected to reach $40 billion by 2027, up from $12.3 billion in 2023.¹</a:t>
            </a:r>
            <a:endParaRPr lang="en-US" sz="18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6" name="Text 4"/>
          <p:cNvSpPr txBox="1"/>
          <p:nvPr/>
        </p:nvSpPr>
        <p:spPr>
          <a:xfrm>
            <a:off x="502006" y="1517904"/>
            <a:ext cx="11188598" cy="502920"/>
          </a:xfrm>
          <a:prstGeom prst="rect">
            <a:avLst/>
          </a:prstGeom>
          <a:noFill/>
          <a:ln/>
        </p:spPr>
        <p:txBody>
          <a:bodyPr wrap="square" lIns="0" tIns="0" rIns="0" bIns="0" rtlCol="0" anchor="t"/>
          <a:lstStyle/>
          <a:p>
            <a:pPr algn="l" indent="0" marL="0">
              <a:lnSpc>
                <a:spcPct val="120000"/>
              </a:lnSpc>
              <a:buNone/>
            </a:pPr>
            <a:r>
              <a:rPr lang="en-US" sz="1200" dirty="0">
                <a:solidFill>
                  <a:srgbClr val="000000"/>
                </a:solidFill>
                <a:latin typeface="Calibri" pitchFamily="34" charset="0"/>
                <a:ea typeface="Calibri" pitchFamily="34" charset="-122"/>
                <a:cs typeface="Calibri" pitchFamily="34" charset="-120"/>
              </a:rPr>
              <a:t>To understand how banking and insurance fraud leaders are actually responding, Deloitte surveyed 100 senior fraud leaders worldwide across five emerging fronts reshaping the discipline. Each is summarized below:</a:t>
            </a:r>
            <a:endParaRPr lang="en-US" sz="1200" dirty="0"/>
          </a:p>
        </p:txBody>
      </p:sp>
      <p:sp>
        <p:nvSpPr>
          <p:cNvPr id="7" name="Shape 5"/>
          <p:cNvSpPr/>
          <p:nvPr/>
        </p:nvSpPr>
        <p:spPr>
          <a:xfrm>
            <a:off x="502006" y="2185416"/>
            <a:ext cx="384048" cy="384048"/>
          </a:xfrm>
          <a:prstGeom prst="rect">
            <a:avLst/>
          </a:prstGeom>
          <a:solidFill>
            <a:srgbClr val="86BC25"/>
          </a:solidFill>
          <a:ln/>
        </p:spPr>
      </p:sp>
      <p:sp>
        <p:nvSpPr>
          <p:cNvPr id="8" name="Text 6"/>
          <p:cNvSpPr txBox="1"/>
          <p:nvPr/>
        </p:nvSpPr>
        <p:spPr>
          <a:xfrm>
            <a:off x="502006" y="21854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9" name="Text 7"/>
          <p:cNvSpPr txBox="1"/>
          <p:nvPr/>
        </p:nvSpPr>
        <p:spPr>
          <a:xfrm>
            <a:off x="1032358" y="2148840"/>
            <a:ext cx="3246120" cy="566928"/>
          </a:xfrm>
          <a:prstGeom prst="rect">
            <a:avLst/>
          </a:prstGeom>
          <a:noFill/>
          <a:ln/>
        </p:spPr>
        <p:txBody>
          <a:bodyPr wrap="square" lIns="0" tIns="0" rIns="0" bIns="0" rtlCol="0" anchor="ctr"/>
          <a:lstStyle/>
          <a:p>
            <a:pPr algn="l" indent="0" marL="0">
              <a:lnSpc>
                <a:spcPct val="105000"/>
              </a:lnSpc>
              <a:buNone/>
            </a:pPr>
            <a:r>
              <a:rPr lang="en-US" sz="1250" b="1" dirty="0">
                <a:solidFill>
                  <a:srgbClr val="000000"/>
                </a:solidFill>
                <a:latin typeface="Calibri" pitchFamily="34" charset="0"/>
                <a:ea typeface="Calibri" pitchFamily="34" charset="-122"/>
                <a:cs typeface="Calibri" pitchFamily="34" charset="-120"/>
              </a:rPr>
              <a:t>Deepfake &amp; Emerging AI Risk</a:t>
            </a:r>
            <a:endParaRPr lang="en-US" sz="1250" dirty="0"/>
          </a:p>
        </p:txBody>
      </p:sp>
      <p:sp>
        <p:nvSpPr>
          <p:cNvPr id="10" name="Text 8"/>
          <p:cNvSpPr txBox="1"/>
          <p:nvPr/>
        </p:nvSpPr>
        <p:spPr>
          <a:xfrm>
            <a:off x="4433926" y="2148840"/>
            <a:ext cx="7256678" cy="566928"/>
          </a:xfrm>
          <a:prstGeom prst="rect">
            <a:avLst/>
          </a:prstGeom>
          <a:noFill/>
          <a:ln/>
        </p:spPr>
        <p:txBody>
          <a:bodyPr wrap="square" lIns="0" tIns="0" rIns="0" bIns="0" rtlCol="0" anchor="ctr"/>
          <a:lstStyle/>
          <a:p>
            <a:pPr algn="l" indent="0" marL="0">
              <a:lnSpc>
                <a:spcPct val="110000"/>
              </a:lnSpc>
              <a:buNone/>
            </a:pPr>
            <a:r>
              <a:rPr lang="en-US" sz="1100" dirty="0">
                <a:solidFill>
                  <a:srgbClr val="53565A"/>
                </a:solidFill>
                <a:latin typeface="Calibri" pitchFamily="34" charset="0"/>
                <a:ea typeface="Calibri" pitchFamily="34" charset="-122"/>
                <a:cs typeface="Calibri" pitchFamily="34" charset="-120"/>
              </a:rPr>
              <a:t>Vulnerability is rising across nearly every channel — managing it takes a coordinated response.</a:t>
            </a:r>
            <a:endParaRPr lang="en-US" sz="1100" dirty="0"/>
          </a:p>
        </p:txBody>
      </p:sp>
      <p:sp>
        <p:nvSpPr>
          <p:cNvPr id="11" name="Shape 9"/>
          <p:cNvSpPr/>
          <p:nvPr/>
        </p:nvSpPr>
        <p:spPr>
          <a:xfrm>
            <a:off x="502006" y="2843784"/>
            <a:ext cx="384048" cy="384048"/>
          </a:xfrm>
          <a:prstGeom prst="rect">
            <a:avLst/>
          </a:prstGeom>
          <a:solidFill>
            <a:srgbClr val="86BC25"/>
          </a:solidFill>
          <a:ln/>
        </p:spPr>
      </p:sp>
      <p:sp>
        <p:nvSpPr>
          <p:cNvPr id="12" name="Text 10"/>
          <p:cNvSpPr txBox="1"/>
          <p:nvPr/>
        </p:nvSpPr>
        <p:spPr>
          <a:xfrm>
            <a:off x="502006" y="28437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3" name="Text 11"/>
          <p:cNvSpPr txBox="1"/>
          <p:nvPr/>
        </p:nvSpPr>
        <p:spPr>
          <a:xfrm>
            <a:off x="1032358" y="2807208"/>
            <a:ext cx="3246120" cy="566928"/>
          </a:xfrm>
          <a:prstGeom prst="rect">
            <a:avLst/>
          </a:prstGeom>
          <a:noFill/>
          <a:ln/>
        </p:spPr>
        <p:txBody>
          <a:bodyPr wrap="square" lIns="0" tIns="0" rIns="0" bIns="0" rtlCol="0" anchor="ctr"/>
          <a:lstStyle/>
          <a:p>
            <a:pPr algn="l" indent="0" marL="0">
              <a:lnSpc>
                <a:spcPct val="105000"/>
              </a:lnSpc>
              <a:buNone/>
            </a:pPr>
            <a:r>
              <a:rPr lang="en-US" sz="1250" b="1" dirty="0">
                <a:solidFill>
                  <a:srgbClr val="000000"/>
                </a:solidFill>
                <a:latin typeface="Calibri" pitchFamily="34" charset="0"/>
                <a:ea typeface="Calibri" pitchFamily="34" charset="-122"/>
                <a:cs typeface="Calibri" pitchFamily="34" charset="-120"/>
              </a:rPr>
              <a:t>Fraud Information Sharing</a:t>
            </a:r>
            <a:endParaRPr lang="en-US" sz="1250" dirty="0"/>
          </a:p>
        </p:txBody>
      </p:sp>
      <p:sp>
        <p:nvSpPr>
          <p:cNvPr id="14" name="Text 12"/>
          <p:cNvSpPr txBox="1"/>
          <p:nvPr/>
        </p:nvSpPr>
        <p:spPr>
          <a:xfrm>
            <a:off x="4433926" y="2807208"/>
            <a:ext cx="7256678" cy="566928"/>
          </a:xfrm>
          <a:prstGeom prst="rect">
            <a:avLst/>
          </a:prstGeom>
          <a:noFill/>
          <a:ln/>
        </p:spPr>
        <p:txBody>
          <a:bodyPr wrap="square" lIns="0" tIns="0" rIns="0" bIns="0" rtlCol="0" anchor="ctr"/>
          <a:lstStyle/>
          <a:p>
            <a:pPr algn="l" indent="0" marL="0">
              <a:lnSpc>
                <a:spcPct val="110000"/>
              </a:lnSpc>
              <a:buNone/>
            </a:pPr>
            <a:r>
              <a:rPr lang="en-US" sz="1100" dirty="0">
                <a:solidFill>
                  <a:srgbClr val="53565A"/>
                </a:solidFill>
                <a:latin typeface="Calibri" pitchFamily="34" charset="0"/>
                <a:ea typeface="Calibri" pitchFamily="34" charset="-122"/>
                <a:cs typeface="Calibri" pitchFamily="34" charset="-120"/>
              </a:rPr>
              <a:t>Leaders are ready to share more; data quality and legal barriers are what's in the way.</a:t>
            </a:r>
            <a:endParaRPr lang="en-US" sz="1100" dirty="0"/>
          </a:p>
        </p:txBody>
      </p:sp>
      <p:sp>
        <p:nvSpPr>
          <p:cNvPr id="15" name="Shape 13"/>
          <p:cNvSpPr/>
          <p:nvPr/>
        </p:nvSpPr>
        <p:spPr>
          <a:xfrm>
            <a:off x="502006" y="3502152"/>
            <a:ext cx="384048" cy="384048"/>
          </a:xfrm>
          <a:prstGeom prst="rect">
            <a:avLst/>
          </a:prstGeom>
          <a:solidFill>
            <a:srgbClr val="86BC25"/>
          </a:solidFill>
          <a:ln/>
        </p:spPr>
      </p:sp>
      <p:sp>
        <p:nvSpPr>
          <p:cNvPr id="16" name="Text 14"/>
          <p:cNvSpPr txBox="1"/>
          <p:nvPr/>
        </p:nvSpPr>
        <p:spPr>
          <a:xfrm>
            <a:off x="502006" y="3502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7" name="Text 15"/>
          <p:cNvSpPr txBox="1"/>
          <p:nvPr/>
        </p:nvSpPr>
        <p:spPr>
          <a:xfrm>
            <a:off x="1032358" y="3465576"/>
            <a:ext cx="3246120" cy="566928"/>
          </a:xfrm>
          <a:prstGeom prst="rect">
            <a:avLst/>
          </a:prstGeom>
          <a:noFill/>
          <a:ln/>
        </p:spPr>
        <p:txBody>
          <a:bodyPr wrap="square" lIns="0" tIns="0" rIns="0" bIns="0" rtlCol="0" anchor="ctr"/>
          <a:lstStyle/>
          <a:p>
            <a:pPr algn="l" indent="0" marL="0">
              <a:lnSpc>
                <a:spcPct val="105000"/>
              </a:lnSpc>
              <a:buNone/>
            </a:pPr>
            <a:r>
              <a:rPr lang="en-US" sz="1250" b="1" dirty="0">
                <a:solidFill>
                  <a:srgbClr val="000000"/>
                </a:solidFill>
                <a:latin typeface="Calibri" pitchFamily="34" charset="0"/>
                <a:ea typeface="Calibri" pitchFamily="34" charset="-122"/>
                <a:cs typeface="Calibri" pitchFamily="34" charset="-120"/>
              </a:rPr>
              <a:t>Third-Party Fraud Risk</a:t>
            </a:r>
            <a:endParaRPr lang="en-US" sz="1250" dirty="0"/>
          </a:p>
        </p:txBody>
      </p:sp>
      <p:sp>
        <p:nvSpPr>
          <p:cNvPr id="18" name="Text 16"/>
          <p:cNvSpPr txBox="1"/>
          <p:nvPr/>
        </p:nvSpPr>
        <p:spPr>
          <a:xfrm>
            <a:off x="4433926" y="3465576"/>
            <a:ext cx="7256678" cy="566928"/>
          </a:xfrm>
          <a:prstGeom prst="rect">
            <a:avLst/>
          </a:prstGeom>
          <a:noFill/>
          <a:ln/>
        </p:spPr>
        <p:txBody>
          <a:bodyPr wrap="square" lIns="0" tIns="0" rIns="0" bIns="0" rtlCol="0" anchor="ctr"/>
          <a:lstStyle/>
          <a:p>
            <a:pPr algn="l" indent="0" marL="0">
              <a:lnSpc>
                <a:spcPct val="110000"/>
              </a:lnSpc>
              <a:buNone/>
            </a:pPr>
            <a:r>
              <a:rPr lang="en-US" sz="1100" dirty="0">
                <a:solidFill>
                  <a:srgbClr val="53565A"/>
                </a:solidFill>
                <a:latin typeface="Calibri" pitchFamily="34" charset="0"/>
                <a:ea typeface="Calibri" pitchFamily="34" charset="-122"/>
                <a:cs typeface="Calibri" pitchFamily="34" charset="-120"/>
              </a:rPr>
              <a:t>Exposure runs in both directions, and the right fix differs by sector.</a:t>
            </a:r>
            <a:endParaRPr lang="en-US" sz="1100" dirty="0"/>
          </a:p>
        </p:txBody>
      </p:sp>
      <p:sp>
        <p:nvSpPr>
          <p:cNvPr id="19" name="Shape 17"/>
          <p:cNvSpPr/>
          <p:nvPr/>
        </p:nvSpPr>
        <p:spPr>
          <a:xfrm>
            <a:off x="502006" y="4160520"/>
            <a:ext cx="384048" cy="384048"/>
          </a:xfrm>
          <a:prstGeom prst="rect">
            <a:avLst/>
          </a:prstGeom>
          <a:solidFill>
            <a:srgbClr val="86BC25"/>
          </a:solidFill>
          <a:ln/>
        </p:spPr>
      </p:sp>
      <p:sp>
        <p:nvSpPr>
          <p:cNvPr id="20" name="Text 18"/>
          <p:cNvSpPr txBox="1"/>
          <p:nvPr/>
        </p:nvSpPr>
        <p:spPr>
          <a:xfrm>
            <a:off x="502006" y="4160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1" name="Text 19"/>
          <p:cNvSpPr txBox="1"/>
          <p:nvPr/>
        </p:nvSpPr>
        <p:spPr>
          <a:xfrm>
            <a:off x="1032358" y="4123944"/>
            <a:ext cx="3246120" cy="566928"/>
          </a:xfrm>
          <a:prstGeom prst="rect">
            <a:avLst/>
          </a:prstGeom>
          <a:noFill/>
          <a:ln/>
        </p:spPr>
        <p:txBody>
          <a:bodyPr wrap="square" lIns="0" tIns="0" rIns="0" bIns="0" rtlCol="0" anchor="ctr"/>
          <a:lstStyle/>
          <a:p>
            <a:pPr algn="l" indent="0" marL="0">
              <a:lnSpc>
                <a:spcPct val="105000"/>
              </a:lnSpc>
              <a:buNone/>
            </a:pPr>
            <a:r>
              <a:rPr lang="en-US" sz="1250" b="1" dirty="0">
                <a:solidFill>
                  <a:srgbClr val="000000"/>
                </a:solidFill>
                <a:latin typeface="Calibri" pitchFamily="34" charset="0"/>
                <a:ea typeface="Calibri" pitchFamily="34" charset="-122"/>
                <a:cs typeface="Calibri" pitchFamily="34" charset="-120"/>
              </a:rPr>
              <a:t>Operating Model Transformation</a:t>
            </a:r>
            <a:endParaRPr lang="en-US" sz="1250" dirty="0"/>
          </a:p>
        </p:txBody>
      </p:sp>
      <p:sp>
        <p:nvSpPr>
          <p:cNvPr id="22" name="Text 20"/>
          <p:cNvSpPr txBox="1"/>
          <p:nvPr/>
        </p:nvSpPr>
        <p:spPr>
          <a:xfrm>
            <a:off x="4433926" y="4123944"/>
            <a:ext cx="7256678" cy="566928"/>
          </a:xfrm>
          <a:prstGeom prst="rect">
            <a:avLst/>
          </a:prstGeom>
          <a:noFill/>
          <a:ln/>
        </p:spPr>
        <p:txBody>
          <a:bodyPr wrap="square" lIns="0" tIns="0" rIns="0" bIns="0" rtlCol="0" anchor="ctr"/>
          <a:lstStyle/>
          <a:p>
            <a:pPr algn="l" indent="0" marL="0">
              <a:lnSpc>
                <a:spcPct val="110000"/>
              </a:lnSpc>
              <a:buNone/>
            </a:pPr>
            <a:r>
              <a:rPr lang="en-US" sz="1100" dirty="0">
                <a:solidFill>
                  <a:srgbClr val="53565A"/>
                </a:solidFill>
                <a:latin typeface="Calibri" pitchFamily="34" charset="0"/>
                <a:ea typeface="Calibri" pitchFamily="34" charset="-122"/>
                <a:cs typeface="Calibri" pitchFamily="34" charset="-120"/>
              </a:rPr>
              <a:t>Programs are being rebuilt around AI — sometimes at the cost of balance.</a:t>
            </a:r>
            <a:endParaRPr lang="en-US" sz="1100" dirty="0"/>
          </a:p>
        </p:txBody>
      </p:sp>
      <p:sp>
        <p:nvSpPr>
          <p:cNvPr id="23" name="Shape 21"/>
          <p:cNvSpPr/>
          <p:nvPr/>
        </p:nvSpPr>
        <p:spPr>
          <a:xfrm>
            <a:off x="502006" y="4818888"/>
            <a:ext cx="384048" cy="384048"/>
          </a:xfrm>
          <a:prstGeom prst="rect">
            <a:avLst/>
          </a:prstGeom>
          <a:solidFill>
            <a:srgbClr val="86BC25"/>
          </a:solidFill>
          <a:ln/>
        </p:spPr>
      </p:sp>
      <p:sp>
        <p:nvSpPr>
          <p:cNvPr id="24" name="Text 22"/>
          <p:cNvSpPr txBox="1"/>
          <p:nvPr/>
        </p:nvSpPr>
        <p:spPr>
          <a:xfrm>
            <a:off x="502006" y="4818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25" name="Text 23"/>
          <p:cNvSpPr txBox="1"/>
          <p:nvPr/>
        </p:nvSpPr>
        <p:spPr>
          <a:xfrm>
            <a:off x="1032358" y="4782312"/>
            <a:ext cx="3246120" cy="566928"/>
          </a:xfrm>
          <a:prstGeom prst="rect">
            <a:avLst/>
          </a:prstGeom>
          <a:noFill/>
          <a:ln/>
        </p:spPr>
        <p:txBody>
          <a:bodyPr wrap="square" lIns="0" tIns="0" rIns="0" bIns="0" rtlCol="0" anchor="ctr"/>
          <a:lstStyle/>
          <a:p>
            <a:pPr algn="l" indent="0" marL="0">
              <a:lnSpc>
                <a:spcPct val="105000"/>
              </a:lnSpc>
              <a:buNone/>
            </a:pPr>
            <a:r>
              <a:rPr lang="en-US" sz="1250" b="1" dirty="0">
                <a:solidFill>
                  <a:srgbClr val="000000"/>
                </a:solidFill>
                <a:latin typeface="Calibri" pitchFamily="34" charset="0"/>
                <a:ea typeface="Calibri" pitchFamily="34" charset="-122"/>
                <a:cs typeface="Calibri" pitchFamily="34" charset="-120"/>
              </a:rPr>
              <a:t>Regulatory &amp; Market Change</a:t>
            </a:r>
            <a:endParaRPr lang="en-US" sz="1250" dirty="0"/>
          </a:p>
        </p:txBody>
      </p:sp>
      <p:sp>
        <p:nvSpPr>
          <p:cNvPr id="26" name="Text 24"/>
          <p:cNvSpPr txBox="1"/>
          <p:nvPr/>
        </p:nvSpPr>
        <p:spPr>
          <a:xfrm>
            <a:off x="4433926" y="4782312"/>
            <a:ext cx="7256678" cy="566928"/>
          </a:xfrm>
          <a:prstGeom prst="rect">
            <a:avLst/>
          </a:prstGeom>
          <a:noFill/>
          <a:ln/>
        </p:spPr>
        <p:txBody>
          <a:bodyPr wrap="square" lIns="0" tIns="0" rIns="0" bIns="0" rtlCol="0" anchor="ctr"/>
          <a:lstStyle/>
          <a:p>
            <a:pPr algn="l" indent="0" marL="0">
              <a:lnSpc>
                <a:spcPct val="110000"/>
              </a:lnSpc>
              <a:buNone/>
            </a:pPr>
            <a:r>
              <a:rPr lang="en-US" sz="1100" dirty="0">
                <a:solidFill>
                  <a:srgbClr val="53565A"/>
                </a:solidFill>
                <a:latin typeface="Calibri" pitchFamily="34" charset="0"/>
                <a:ea typeface="Calibri" pitchFamily="34" charset="-122"/>
                <a:cs typeface="Calibri" pitchFamily="34" charset="-120"/>
              </a:rPr>
              <a:t>Rules and expectations are shifting faster than most programs can remediate.</a:t>
            </a:r>
            <a:endParaRPr lang="en-US" sz="1100" dirty="0"/>
          </a:p>
        </p:txBody>
      </p:sp>
      <p:sp>
        <p:nvSpPr>
          <p:cNvPr id="27" name="Text 25"/>
          <p:cNvSpPr txBox="1"/>
          <p:nvPr/>
        </p:nvSpPr>
        <p:spPr>
          <a:xfrm>
            <a:off x="502006" y="5532120"/>
            <a:ext cx="10731398" cy="201168"/>
          </a:xfrm>
          <a:prstGeom prst="rect">
            <a:avLst/>
          </a:prstGeom>
          <a:noFill/>
          <a:ln/>
        </p:spPr>
        <p:txBody>
          <a:bodyPr wrap="square" lIns="0" tIns="0" rIns="0" bIns="0" rtlCol="0" anchor="ctr"/>
          <a:lstStyle/>
          <a:p>
            <a:pPr algn="l" indent="0" marL="0">
              <a:buNone/>
            </a:pPr>
            <a:r>
              <a:rPr lang="en-US" sz="750" i="1" dirty="0">
                <a:solidFill>
                  <a:srgbClr val="53565A"/>
                </a:solidFill>
                <a:latin typeface="Calibri" pitchFamily="34" charset="0"/>
                <a:ea typeface="Calibri" pitchFamily="34" charset="-122"/>
                <a:cs typeface="Calibri" pitchFamily="34" charset="-120"/>
              </a:rPr>
              <a:t>¹ Deloitte, “Managing Gen AI Risks,” Deloitte Insights, 2025.</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914400"/>
            <a:ext cx="1828800" cy="365760"/>
          </a:xfrm>
          <a:prstGeom prst="rect">
            <a:avLst/>
          </a:prstGeom>
          <a:noFill/>
          <a:ln/>
        </p:spPr>
        <p:txBody>
          <a:bodyPr wrap="square" lIns="0" tIns="0" rIns="0" bIns="0" rtlCol="0" anchor="ctr"/>
          <a:lstStyle/>
          <a:p>
            <a:pPr indent="0" marL="0">
              <a:buNone/>
            </a:pPr>
            <a:r>
              <a:rPr lang="en-US" sz="1400" b="1" dirty="0">
                <a:solidFill>
                  <a:srgbClr val="86BC25"/>
                </a:solidFill>
                <a:latin typeface="IBM Plex Mono" pitchFamily="34" charset="0"/>
                <a:ea typeface="IBM Plex Mono" pitchFamily="34" charset="-122"/>
                <a:cs typeface="IBM Plex Mono" pitchFamily="34" charset="-120"/>
              </a:rPr>
              <a:t>01</a:t>
            </a:r>
            <a:endParaRPr lang="en-US" sz="1400" dirty="0"/>
          </a:p>
        </p:txBody>
      </p:sp>
      <p:sp>
        <p:nvSpPr>
          <p:cNvPr id="5" name="Text 3"/>
          <p:cNvSpPr txBox="1"/>
          <p:nvPr/>
        </p:nvSpPr>
        <p:spPr>
          <a:xfrm>
            <a:off x="502006" y="1298448"/>
            <a:ext cx="5577840" cy="777240"/>
          </a:xfrm>
          <a:prstGeom prst="rect">
            <a:avLst/>
          </a:prstGeom>
          <a:noFill/>
          <a:ln/>
        </p:spPr>
        <p:txBody>
          <a:bodyPr wrap="square" lIns="0" tIns="0" rIns="0" bIns="0" rtlCol="0" anchor="t"/>
          <a:lstStyle/>
          <a:p>
            <a:pPr algn="l" indent="0" marL="0">
              <a:lnSpc>
                <a:spcPct val="105000"/>
              </a:lnSpc>
              <a:buNone/>
            </a:pPr>
            <a:r>
              <a:rPr lang="en-US" sz="2800" b="1" dirty="0">
                <a:solidFill>
                  <a:srgbClr val="FFFFFF"/>
                </a:solidFill>
                <a:latin typeface="Calibri" pitchFamily="34" charset="0"/>
                <a:ea typeface="Calibri" pitchFamily="34" charset="-122"/>
                <a:cs typeface="Calibri" pitchFamily="34" charset="-120"/>
              </a:rPr>
              <a:t>Deepfake &amp; Emerging AI Risk</a:t>
            </a:r>
            <a:endParaRPr lang="en-US" sz="2800" dirty="0"/>
          </a:p>
        </p:txBody>
      </p:sp>
      <p:sp>
        <p:nvSpPr>
          <p:cNvPr id="6" name="Text 4"/>
          <p:cNvSpPr txBox="1"/>
          <p:nvPr/>
        </p:nvSpPr>
        <p:spPr>
          <a:xfrm>
            <a:off x="502006" y="2240280"/>
            <a:ext cx="5532120" cy="2103120"/>
          </a:xfrm>
          <a:prstGeom prst="rect">
            <a:avLst/>
          </a:prstGeom>
          <a:noFill/>
          <a:ln/>
        </p:spPr>
        <p:txBody>
          <a:bodyPr wrap="square" lIns="0" tIns="0" rIns="0" bIns="0" rtlCol="0" anchor="t"/>
          <a:lstStyle/>
          <a:p>
            <a:pPr algn="l" indent="0" marL="0">
              <a:lnSpc>
                <a:spcPct val="130000"/>
              </a:lnSpc>
              <a:buNone/>
            </a:pPr>
            <a:r>
              <a:rPr lang="en-US" sz="1250" dirty="0">
                <a:solidFill>
                  <a:srgbClr val="D0D0CE"/>
                </a:solidFill>
                <a:latin typeface="Calibri" pitchFamily="34" charset="0"/>
                <a:ea typeface="Calibri" pitchFamily="34" charset="-122"/>
                <a:cs typeface="Calibri" pitchFamily="34" charset="-120"/>
              </a:rPr>
              <a:t>This analysis starts where the pressure is showing up first: inside the fraud program itself, as AI reshapes what a convincing attack looks like.</a:t>
            </a:r>
            <a:endParaRPr lang="en-US" sz="1250" dirty="0"/>
          </a:p>
        </p:txBody>
      </p:sp>
      <p:sp>
        <p:nvSpPr>
          <p:cNvPr id="7" name="Shape 5"/>
          <p:cNvSpPr/>
          <p:nvPr/>
        </p:nvSpPr>
        <p:spPr>
          <a:xfrm>
            <a:off x="6400800" y="2514600"/>
            <a:ext cx="457200" cy="457200"/>
          </a:xfrm>
          <a:prstGeom prst="ellipse">
            <a:avLst/>
          </a:prstGeom>
          <a:solidFill>
            <a:srgbClr val="0B1C14"/>
          </a:solidFill>
          <a:ln w="12700">
            <a:solidFill>
              <a:srgbClr val="86BC25"/>
            </a:solidFill>
            <a:prstDash val="solid"/>
          </a:ln>
        </p:spPr>
      </p:sp>
      <p:sp>
        <p:nvSpPr>
          <p:cNvPr id="8" name="Text 6"/>
          <p:cNvSpPr txBox="1"/>
          <p:nvPr/>
        </p:nvSpPr>
        <p:spPr>
          <a:xfrm>
            <a:off x="6400800" y="2441448"/>
            <a:ext cx="457200" cy="457200"/>
          </a:xfrm>
          <a:prstGeom prst="rect">
            <a:avLst/>
          </a:prstGeom>
          <a:noFill/>
          <a:ln/>
        </p:spPr>
        <p:txBody>
          <a:bodyPr wrap="square" lIns="0" tIns="0" rIns="0" bIns="0" rtlCol="0" anchor="ctr"/>
          <a:lstStyle/>
          <a:p>
            <a:pPr algn="ctr" indent="0" marL="0">
              <a:buNone/>
            </a:pPr>
            <a:r>
              <a:rPr lang="en-US" sz="2200" b="1" dirty="0">
                <a:solidFill>
                  <a:srgbClr val="86BC25"/>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6446520" y="2788920"/>
            <a:ext cx="5239512" cy="2514600"/>
          </a:xfrm>
          <a:prstGeom prst="rect">
            <a:avLst/>
          </a:prstGeom>
          <a:ln w="12700">
            <a:solidFill>
              <a:srgbClr val="D0D0CE"/>
            </a:solidFill>
            <a:prstDash val="solid"/>
          </a:ln>
        </p:spPr>
      </p:sp>
      <p:sp>
        <p:nvSpPr>
          <p:cNvPr id="10" name="Text 8"/>
          <p:cNvSpPr txBox="1"/>
          <p:nvPr/>
        </p:nvSpPr>
        <p:spPr>
          <a:xfrm>
            <a:off x="6720840" y="3017520"/>
            <a:ext cx="4690872" cy="1737360"/>
          </a:xfrm>
          <a:prstGeom prst="rect">
            <a:avLst/>
          </a:prstGeom>
          <a:noFill/>
          <a:ln/>
        </p:spPr>
        <p:txBody>
          <a:bodyPr wrap="square" lIns="0" tIns="0" rIns="0" bIns="0" rtlCol="0" anchor="t"/>
          <a:lstStyle/>
          <a:p>
            <a:pPr algn="l" indent="0" marL="0">
              <a:lnSpc>
                <a:spcPct val="124000"/>
              </a:lnSpc>
              <a:buNone/>
            </a:pPr>
            <a:r>
              <a:rPr lang="en-US" sz="1350" i="1" dirty="0">
                <a:solidFill>
                  <a:srgbClr val="FFFFFF"/>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350" dirty="0"/>
          </a:p>
        </p:txBody>
      </p:sp>
      <p:sp>
        <p:nvSpPr>
          <p:cNvPr id="11" name="Text 9"/>
          <p:cNvSpPr txBox="1"/>
          <p:nvPr/>
        </p:nvSpPr>
        <p:spPr>
          <a:xfrm>
            <a:off x="6720840" y="4846320"/>
            <a:ext cx="4690872" cy="320040"/>
          </a:xfrm>
          <a:prstGeom prst="rect">
            <a:avLst/>
          </a:prstGeom>
          <a:noFill/>
          <a:ln/>
        </p:spPr>
        <p:txBody>
          <a:bodyPr wrap="square" lIns="0" tIns="0" rIns="0" bIns="0" rtlCol="0" anchor="ctr"/>
          <a:lstStyle/>
          <a:p>
            <a:pPr algn="l" indent="0" marL="0">
              <a:buNone/>
            </a:pPr>
            <a:r>
              <a:rPr lang="en-US" sz="1050" i="1" dirty="0">
                <a:solidFill>
                  <a:srgbClr val="D0D0CE"/>
                </a:solidFill>
                <a:latin typeface="Calibri" pitchFamily="34" charset="0"/>
                <a:ea typeface="Calibri" pitchFamily="34" charset="-122"/>
                <a:cs typeface="Calibri" pitchFamily="34" charset="-120"/>
              </a:rPr>
              <a:t>DIRECTOR · INSURANCE</a:t>
            </a:r>
            <a:endParaRPr lang="en-US" sz="1050" dirty="0"/>
          </a:p>
        </p:txBody>
      </p:sp>
      <p:sp>
        <p:nvSpPr>
          <p:cNvPr id="12" name="Text 10"/>
          <p:cNvSpPr txBox="1"/>
          <p:nvPr/>
        </p:nvSpPr>
        <p:spPr>
          <a:xfrm>
            <a:off x="6720840" y="5394960"/>
            <a:ext cx="4690872" cy="228600"/>
          </a:xfrm>
          <a:prstGeom prst="rect">
            <a:avLst/>
          </a:prstGeom>
          <a:noFill/>
          <a:ln/>
        </p:spPr>
        <p:txBody>
          <a:bodyPr wrap="square" lIns="0" tIns="0" rIns="0" bIns="0" rtlCol="0" anchor="ctr"/>
          <a:lstStyle/>
          <a:p>
            <a:pPr indent="0" marL="0">
              <a:buNone/>
            </a:pPr>
            <a:r>
              <a:rPr lang="en-US" sz="800" i="1" dirty="0">
                <a:solidFill>
                  <a:srgbClr val="53565A"/>
                </a:solidFill>
                <a:latin typeface="Calibri" pitchFamily="34" charset="0"/>
                <a:ea typeface="Calibri" pitchFamily="34" charset="-122"/>
                <a:cs typeface="Calibri" pitchFamily="34" charset="-120"/>
              </a:rPr>
              <a:t>From the survey's open-ended question, in the respondent's own words.</a:t>
            </a:r>
            <a:endParaRPr lang="en-US" sz="800" dirty="0"/>
          </a:p>
        </p:txBody>
      </p:sp>
      <p:sp>
        <p:nvSpPr>
          <p:cNvPr id="13" name="Text 1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01   DEEPFAKE &amp; EMERGING AI RISK</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AI-enabled fraud is raising vulnerability almost everywhere at once — not in one predictable channel.</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8" name="Text 6"/>
          <p:cNvSpPr txBox="1"/>
          <p:nvPr/>
        </p:nvSpPr>
        <p:spPr>
          <a:xfrm>
            <a:off x="502006" y="2066544"/>
            <a:ext cx="11188598" cy="914400"/>
          </a:xfrm>
          <a:prstGeom prst="rect">
            <a:avLst/>
          </a:prstGeom>
          <a:noFill/>
          <a:ln/>
        </p:spPr>
        <p:txBody>
          <a:bodyPr wrap="square" lIns="0" tIns="0" rIns="0" bIns="0" rtlCol="0" anchor="t"/>
          <a:lstStyle/>
          <a:p>
            <a:pPr algn="l" indent="0" marL="0">
              <a:lnSpc>
                <a:spcPct val="118000"/>
              </a:lnSpc>
              <a:buNone/>
            </a:pPr>
            <a:r>
              <a:rPr lang="en-US" sz="1100" dirty="0">
                <a:solidFill>
                  <a:srgbClr val="53565A"/>
                </a:solidFill>
                <a:latin typeface="Calibri" pitchFamily="34" charset="0"/>
                <a:ea typeface="Calibri" pitchFamily="34" charset="-122"/>
                <a:cs typeface="Calibri" pitchFamily="34" charset="-120"/>
              </a:rPr>
              <a:t>GenAI-enabled fraud is no longer a future risk. In the U.S. alone, losses tied to generative AI are projected to climb from $12.3 billion in 2023 to roughly $40 billion by 2027,¹ as deepfakes, synthetic identities, and AI-enabled impersonation make fraud faster to produce and harder to catch than ever before. Inside the fraud program, we wanted to know exactly where that pressure is actually landing today. The answer: almost everywhere at once. Five of six areas cluster within range of one another, led by digital onboarding and KYC — the one clear exception is video meetings and remote advisory, which respondents flagged far less often.</a:t>
            </a:r>
            <a:endParaRPr lang="en-US" sz="1100" dirty="0"/>
          </a:p>
        </p:txBody>
      </p:sp>
      <p:sp>
        <p:nvSpPr>
          <p:cNvPr id="9" name="Text 7"/>
          <p:cNvSpPr txBox="1"/>
          <p:nvPr/>
        </p:nvSpPr>
        <p:spPr>
          <a:xfrm>
            <a:off x="502006" y="3054096"/>
            <a:ext cx="914400" cy="384048"/>
          </a:xfrm>
          <a:prstGeom prst="rect">
            <a:avLst/>
          </a:prstGeom>
          <a:noFill/>
          <a:ln/>
        </p:spPr>
        <p:txBody>
          <a:bodyPr wrap="square" lIns="0" tIns="0" rIns="0" bIns="0" rtlCol="0" anchor="ctr"/>
          <a:lstStyle/>
          <a:p>
            <a:pPr algn="l" indent="0" marL="0">
              <a:buNone/>
            </a:pPr>
            <a:r>
              <a:rPr lang="en-US" sz="1700" b="1" i="1" dirty="0">
                <a:solidFill>
                  <a:srgbClr val="046A38"/>
                </a:solidFill>
                <a:latin typeface="Calibri" pitchFamily="34" charset="0"/>
                <a:ea typeface="Calibri" pitchFamily="34" charset="-122"/>
                <a:cs typeface="Calibri" pitchFamily="34" charset="-120"/>
              </a:rPr>
              <a:t>70%</a:t>
            </a:r>
            <a:endParaRPr lang="en-US" sz="1700" dirty="0"/>
          </a:p>
        </p:txBody>
      </p:sp>
      <p:sp>
        <p:nvSpPr>
          <p:cNvPr id="10" name="Shape 8"/>
          <p:cNvSpPr/>
          <p:nvPr/>
        </p:nvSpPr>
        <p:spPr>
          <a:xfrm>
            <a:off x="1462126" y="3108960"/>
            <a:ext cx="0" cy="256032"/>
          </a:xfrm>
          <a:prstGeom prst="line">
            <a:avLst/>
          </a:prstGeom>
          <a:noFill/>
          <a:ln w="15875">
            <a:solidFill>
              <a:srgbClr val="D0D0CE"/>
            </a:solidFill>
            <a:prstDash val="solid"/>
          </a:ln>
        </p:spPr>
      </p:sp>
      <p:sp>
        <p:nvSpPr>
          <p:cNvPr id="11" name="Text 9"/>
          <p:cNvSpPr txBox="1"/>
          <p:nvPr/>
        </p:nvSpPr>
        <p:spPr>
          <a:xfrm>
            <a:off x="1645006" y="3054096"/>
            <a:ext cx="4314139" cy="384048"/>
          </a:xfrm>
          <a:prstGeom prst="rect">
            <a:avLst/>
          </a:prstGeom>
          <a:noFill/>
          <a:ln/>
        </p:spPr>
        <p:txBody>
          <a:bodyPr wrap="square" lIns="0" tIns="0" rIns="0" bIns="0" rtlCol="0" anchor="ctr"/>
          <a:lstStyle/>
          <a:p>
            <a:pPr indent="0" marL="0">
              <a:lnSpc>
                <a:spcPct val="105000"/>
              </a:lnSpc>
              <a:buNone/>
            </a:pPr>
            <a:r>
              <a:rPr lang="en-US" sz="950" dirty="0">
                <a:solidFill>
                  <a:srgbClr val="000000"/>
                </a:solidFill>
                <a:latin typeface="Calibri" pitchFamily="34" charset="0"/>
                <a:ea typeface="Calibri" pitchFamily="34" charset="-122"/>
                <a:cs typeface="Calibri" pitchFamily="34" charset="-120"/>
              </a:rPr>
              <a:t>Digital onboarding, KYC &amp; identity verification</a:t>
            </a:r>
            <a:endParaRPr lang="en-US" sz="950" dirty="0"/>
          </a:p>
        </p:txBody>
      </p:sp>
      <p:sp>
        <p:nvSpPr>
          <p:cNvPr id="12" name="Text 10"/>
          <p:cNvSpPr txBox="1"/>
          <p:nvPr/>
        </p:nvSpPr>
        <p:spPr>
          <a:xfrm>
            <a:off x="6096305" y="3054096"/>
            <a:ext cx="914400" cy="384048"/>
          </a:xfrm>
          <a:prstGeom prst="rect">
            <a:avLst/>
          </a:prstGeom>
          <a:noFill/>
          <a:ln/>
        </p:spPr>
        <p:txBody>
          <a:bodyPr wrap="square" lIns="0" tIns="0" rIns="0" bIns="0" rtlCol="0" anchor="ctr"/>
          <a:lstStyle/>
          <a:p>
            <a:pPr algn="l" indent="0" marL="0">
              <a:buNone/>
            </a:pPr>
            <a:r>
              <a:rPr lang="en-US" sz="1700" b="1" i="1" dirty="0">
                <a:solidFill>
                  <a:srgbClr val="046A38"/>
                </a:solidFill>
                <a:latin typeface="Calibri" pitchFamily="34" charset="0"/>
                <a:ea typeface="Calibri" pitchFamily="34" charset="-122"/>
                <a:cs typeface="Calibri" pitchFamily="34" charset="-120"/>
              </a:rPr>
              <a:t>64%</a:t>
            </a:r>
            <a:endParaRPr lang="en-US" sz="1700" dirty="0"/>
          </a:p>
        </p:txBody>
      </p:sp>
      <p:sp>
        <p:nvSpPr>
          <p:cNvPr id="13" name="Shape 11"/>
          <p:cNvSpPr/>
          <p:nvPr/>
        </p:nvSpPr>
        <p:spPr>
          <a:xfrm>
            <a:off x="7056425" y="3108960"/>
            <a:ext cx="0" cy="256032"/>
          </a:xfrm>
          <a:prstGeom prst="line">
            <a:avLst/>
          </a:prstGeom>
          <a:noFill/>
          <a:ln w="15875">
            <a:solidFill>
              <a:srgbClr val="D0D0CE"/>
            </a:solidFill>
            <a:prstDash val="solid"/>
          </a:ln>
        </p:spPr>
      </p:sp>
      <p:sp>
        <p:nvSpPr>
          <p:cNvPr id="14" name="Text 12"/>
          <p:cNvSpPr txBox="1"/>
          <p:nvPr/>
        </p:nvSpPr>
        <p:spPr>
          <a:xfrm>
            <a:off x="7239305" y="3054096"/>
            <a:ext cx="4314139" cy="384048"/>
          </a:xfrm>
          <a:prstGeom prst="rect">
            <a:avLst/>
          </a:prstGeom>
          <a:noFill/>
          <a:ln/>
        </p:spPr>
        <p:txBody>
          <a:bodyPr wrap="square" lIns="0" tIns="0" rIns="0" bIns="0" rtlCol="0" anchor="ctr"/>
          <a:lstStyle/>
          <a:p>
            <a:pPr indent="0" marL="0">
              <a:lnSpc>
                <a:spcPct val="105000"/>
              </a:lnSpc>
              <a:buNone/>
            </a:pPr>
            <a:r>
              <a:rPr lang="en-US" sz="950" dirty="0">
                <a:solidFill>
                  <a:srgbClr val="000000"/>
                </a:solidFill>
                <a:latin typeface="Calibri" pitchFamily="34" charset="0"/>
                <a:ea typeface="Calibri" pitchFamily="34" charset="-122"/>
                <a:cs typeface="Calibri" pitchFamily="34" charset="-120"/>
              </a:rPr>
              <a:t>Payment, wire &amp; transaction approvals</a:t>
            </a:r>
            <a:endParaRPr lang="en-US" sz="950" dirty="0"/>
          </a:p>
        </p:txBody>
      </p:sp>
      <p:sp>
        <p:nvSpPr>
          <p:cNvPr id="15" name="Text 13"/>
          <p:cNvSpPr txBox="1"/>
          <p:nvPr/>
        </p:nvSpPr>
        <p:spPr>
          <a:xfrm>
            <a:off x="502006" y="3511296"/>
            <a:ext cx="914400" cy="384048"/>
          </a:xfrm>
          <a:prstGeom prst="rect">
            <a:avLst/>
          </a:prstGeom>
          <a:noFill/>
          <a:ln/>
        </p:spPr>
        <p:txBody>
          <a:bodyPr wrap="square" lIns="0" tIns="0" rIns="0" bIns="0" rtlCol="0" anchor="ctr"/>
          <a:lstStyle/>
          <a:p>
            <a:pPr algn="l" indent="0" marL="0">
              <a:buNone/>
            </a:pPr>
            <a:r>
              <a:rPr lang="en-US" sz="1700" b="1" i="1" dirty="0">
                <a:solidFill>
                  <a:srgbClr val="046A38"/>
                </a:solidFill>
                <a:latin typeface="Calibri" pitchFamily="34" charset="0"/>
                <a:ea typeface="Calibri" pitchFamily="34" charset="-122"/>
                <a:cs typeface="Calibri" pitchFamily="34" charset="-120"/>
              </a:rPr>
              <a:t>53%</a:t>
            </a:r>
            <a:endParaRPr lang="en-US" sz="1700" dirty="0"/>
          </a:p>
        </p:txBody>
      </p:sp>
      <p:sp>
        <p:nvSpPr>
          <p:cNvPr id="16" name="Shape 14"/>
          <p:cNvSpPr/>
          <p:nvPr/>
        </p:nvSpPr>
        <p:spPr>
          <a:xfrm>
            <a:off x="1462126" y="3566160"/>
            <a:ext cx="0" cy="256032"/>
          </a:xfrm>
          <a:prstGeom prst="line">
            <a:avLst/>
          </a:prstGeom>
          <a:noFill/>
          <a:ln w="15875">
            <a:solidFill>
              <a:srgbClr val="D0D0CE"/>
            </a:solidFill>
            <a:prstDash val="solid"/>
          </a:ln>
        </p:spPr>
      </p:sp>
      <p:sp>
        <p:nvSpPr>
          <p:cNvPr id="17" name="Text 15"/>
          <p:cNvSpPr txBox="1"/>
          <p:nvPr/>
        </p:nvSpPr>
        <p:spPr>
          <a:xfrm>
            <a:off x="1645006" y="3511296"/>
            <a:ext cx="4314139" cy="384048"/>
          </a:xfrm>
          <a:prstGeom prst="rect">
            <a:avLst/>
          </a:prstGeom>
          <a:noFill/>
          <a:ln/>
        </p:spPr>
        <p:txBody>
          <a:bodyPr wrap="square" lIns="0" tIns="0" rIns="0" bIns="0" rtlCol="0" anchor="ctr"/>
          <a:lstStyle/>
          <a:p>
            <a:pPr indent="0" marL="0">
              <a:lnSpc>
                <a:spcPct val="105000"/>
              </a:lnSpc>
              <a:buNone/>
            </a:pPr>
            <a:r>
              <a:rPr lang="en-US" sz="950" dirty="0">
                <a:solidFill>
                  <a:srgbClr val="000000"/>
                </a:solidFill>
                <a:latin typeface="Calibri" pitchFamily="34" charset="0"/>
                <a:ea typeface="Calibri" pitchFamily="34" charset="-122"/>
                <a:cs typeface="Calibri" pitchFamily="34" charset="-120"/>
              </a:rPr>
              <a:t>Claims, underwriting &amp; lending review</a:t>
            </a:r>
            <a:endParaRPr lang="en-US" sz="950" dirty="0"/>
          </a:p>
        </p:txBody>
      </p:sp>
      <p:sp>
        <p:nvSpPr>
          <p:cNvPr id="18" name="Text 16"/>
          <p:cNvSpPr txBox="1"/>
          <p:nvPr/>
        </p:nvSpPr>
        <p:spPr>
          <a:xfrm>
            <a:off x="6096305" y="3511296"/>
            <a:ext cx="914400" cy="384048"/>
          </a:xfrm>
          <a:prstGeom prst="rect">
            <a:avLst/>
          </a:prstGeom>
          <a:noFill/>
          <a:ln/>
        </p:spPr>
        <p:txBody>
          <a:bodyPr wrap="square" lIns="0" tIns="0" rIns="0" bIns="0" rtlCol="0" anchor="ctr"/>
          <a:lstStyle/>
          <a:p>
            <a:pPr algn="l" indent="0" marL="0">
              <a:buNone/>
            </a:pPr>
            <a:r>
              <a:rPr lang="en-US" sz="1700" b="1" i="1" dirty="0">
                <a:solidFill>
                  <a:srgbClr val="046A38"/>
                </a:solidFill>
                <a:latin typeface="Calibri" pitchFamily="34" charset="0"/>
                <a:ea typeface="Calibri" pitchFamily="34" charset="-122"/>
                <a:cs typeface="Calibri" pitchFamily="34" charset="-120"/>
              </a:rPr>
              <a:t>52%</a:t>
            </a:r>
            <a:endParaRPr lang="en-US" sz="1700" dirty="0"/>
          </a:p>
        </p:txBody>
      </p:sp>
      <p:sp>
        <p:nvSpPr>
          <p:cNvPr id="19" name="Shape 17"/>
          <p:cNvSpPr/>
          <p:nvPr/>
        </p:nvSpPr>
        <p:spPr>
          <a:xfrm>
            <a:off x="7056425" y="3566160"/>
            <a:ext cx="0" cy="256032"/>
          </a:xfrm>
          <a:prstGeom prst="line">
            <a:avLst/>
          </a:prstGeom>
          <a:noFill/>
          <a:ln w="15875">
            <a:solidFill>
              <a:srgbClr val="D0D0CE"/>
            </a:solidFill>
            <a:prstDash val="solid"/>
          </a:ln>
        </p:spPr>
      </p:sp>
      <p:sp>
        <p:nvSpPr>
          <p:cNvPr id="20" name="Text 18"/>
          <p:cNvSpPr txBox="1"/>
          <p:nvPr/>
        </p:nvSpPr>
        <p:spPr>
          <a:xfrm>
            <a:off x="7239305" y="3511296"/>
            <a:ext cx="4314139" cy="384048"/>
          </a:xfrm>
          <a:prstGeom prst="rect">
            <a:avLst/>
          </a:prstGeom>
          <a:noFill/>
          <a:ln/>
        </p:spPr>
        <p:txBody>
          <a:bodyPr wrap="square" lIns="0" tIns="0" rIns="0" bIns="0" rtlCol="0" anchor="ctr"/>
          <a:lstStyle/>
          <a:p>
            <a:pPr indent="0" marL="0">
              <a:lnSpc>
                <a:spcPct val="105000"/>
              </a:lnSpc>
              <a:buNone/>
            </a:pPr>
            <a:r>
              <a:rPr lang="en-US" sz="950" dirty="0">
                <a:solidFill>
                  <a:srgbClr val="000000"/>
                </a:solidFill>
                <a:latin typeface="Calibri" pitchFamily="34" charset="0"/>
                <a:ea typeface="Calibri" pitchFamily="34" charset="-122"/>
                <a:cs typeface="Calibri" pitchFamily="34" charset="-120"/>
              </a:rPr>
              <a:t>Contact center / phone-based authentication</a:t>
            </a:r>
            <a:endParaRPr lang="en-US" sz="950" dirty="0"/>
          </a:p>
        </p:txBody>
      </p:sp>
      <p:sp>
        <p:nvSpPr>
          <p:cNvPr id="21" name="Text 19"/>
          <p:cNvSpPr txBox="1"/>
          <p:nvPr/>
        </p:nvSpPr>
        <p:spPr>
          <a:xfrm>
            <a:off x="502006" y="3968496"/>
            <a:ext cx="914400" cy="384048"/>
          </a:xfrm>
          <a:prstGeom prst="rect">
            <a:avLst/>
          </a:prstGeom>
          <a:noFill/>
          <a:ln/>
        </p:spPr>
        <p:txBody>
          <a:bodyPr wrap="square" lIns="0" tIns="0" rIns="0" bIns="0" rtlCol="0" anchor="ctr"/>
          <a:lstStyle/>
          <a:p>
            <a:pPr algn="l" indent="0" marL="0">
              <a:buNone/>
            </a:pPr>
            <a:r>
              <a:rPr lang="en-US" sz="1700" b="1" i="1" dirty="0">
                <a:solidFill>
                  <a:srgbClr val="046A38"/>
                </a:solidFill>
                <a:latin typeface="Calibri" pitchFamily="34" charset="0"/>
                <a:ea typeface="Calibri" pitchFamily="34" charset="-122"/>
                <a:cs typeface="Calibri" pitchFamily="34" charset="-120"/>
              </a:rPr>
              <a:t>43%</a:t>
            </a:r>
            <a:endParaRPr lang="en-US" sz="1700" dirty="0"/>
          </a:p>
        </p:txBody>
      </p:sp>
      <p:sp>
        <p:nvSpPr>
          <p:cNvPr id="22" name="Shape 20"/>
          <p:cNvSpPr/>
          <p:nvPr/>
        </p:nvSpPr>
        <p:spPr>
          <a:xfrm>
            <a:off x="1462126" y="4023360"/>
            <a:ext cx="0" cy="256032"/>
          </a:xfrm>
          <a:prstGeom prst="line">
            <a:avLst/>
          </a:prstGeom>
          <a:noFill/>
          <a:ln w="15875">
            <a:solidFill>
              <a:srgbClr val="D0D0CE"/>
            </a:solidFill>
            <a:prstDash val="solid"/>
          </a:ln>
        </p:spPr>
      </p:sp>
      <p:sp>
        <p:nvSpPr>
          <p:cNvPr id="23" name="Text 21"/>
          <p:cNvSpPr txBox="1"/>
          <p:nvPr/>
        </p:nvSpPr>
        <p:spPr>
          <a:xfrm>
            <a:off x="1645006" y="3968496"/>
            <a:ext cx="4314139" cy="384048"/>
          </a:xfrm>
          <a:prstGeom prst="rect">
            <a:avLst/>
          </a:prstGeom>
          <a:noFill/>
          <a:ln/>
        </p:spPr>
        <p:txBody>
          <a:bodyPr wrap="square" lIns="0" tIns="0" rIns="0" bIns="0" rtlCol="0" anchor="ctr"/>
          <a:lstStyle/>
          <a:p>
            <a:pPr indent="0" marL="0">
              <a:lnSpc>
                <a:spcPct val="105000"/>
              </a:lnSpc>
              <a:buNone/>
            </a:pPr>
            <a:r>
              <a:rPr lang="en-US" sz="950" dirty="0">
                <a:solidFill>
                  <a:srgbClr val="000000"/>
                </a:solidFill>
                <a:latin typeface="Calibri" pitchFamily="34" charset="0"/>
                <a:ea typeface="Calibri" pitchFamily="34" charset="-122"/>
                <a:cs typeface="Calibri" pitchFamily="34" charset="-120"/>
              </a:rPr>
              <a:t>Executive / employee / broker impersonation</a:t>
            </a:r>
            <a:endParaRPr lang="en-US" sz="950" dirty="0"/>
          </a:p>
        </p:txBody>
      </p:sp>
      <p:sp>
        <p:nvSpPr>
          <p:cNvPr id="24" name="Text 22"/>
          <p:cNvSpPr txBox="1"/>
          <p:nvPr/>
        </p:nvSpPr>
        <p:spPr>
          <a:xfrm>
            <a:off x="6096305" y="3968496"/>
            <a:ext cx="914400" cy="384048"/>
          </a:xfrm>
          <a:prstGeom prst="rect">
            <a:avLst/>
          </a:prstGeom>
          <a:noFill/>
          <a:ln/>
        </p:spPr>
        <p:txBody>
          <a:bodyPr wrap="square" lIns="0" tIns="0" rIns="0" bIns="0" rtlCol="0" anchor="ctr"/>
          <a:lstStyle/>
          <a:p>
            <a:pPr algn="l" indent="0" marL="0">
              <a:buNone/>
            </a:pPr>
            <a:r>
              <a:rPr lang="en-US" sz="1700" b="1" i="1" dirty="0">
                <a:solidFill>
                  <a:srgbClr val="046A38"/>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7056425" y="4023360"/>
            <a:ext cx="0" cy="256032"/>
          </a:xfrm>
          <a:prstGeom prst="line">
            <a:avLst/>
          </a:prstGeom>
          <a:noFill/>
          <a:ln w="15875">
            <a:solidFill>
              <a:srgbClr val="D0D0CE"/>
            </a:solidFill>
            <a:prstDash val="solid"/>
          </a:ln>
        </p:spPr>
      </p:sp>
      <p:sp>
        <p:nvSpPr>
          <p:cNvPr id="26" name="Text 24"/>
          <p:cNvSpPr txBox="1"/>
          <p:nvPr/>
        </p:nvSpPr>
        <p:spPr>
          <a:xfrm>
            <a:off x="7239305" y="3968496"/>
            <a:ext cx="4314139" cy="384048"/>
          </a:xfrm>
          <a:prstGeom prst="rect">
            <a:avLst/>
          </a:prstGeom>
          <a:noFill/>
          <a:ln/>
        </p:spPr>
        <p:txBody>
          <a:bodyPr wrap="square" lIns="0" tIns="0" rIns="0" bIns="0" rtlCol="0" anchor="ctr"/>
          <a:lstStyle/>
          <a:p>
            <a:pPr indent="0" marL="0">
              <a:lnSpc>
                <a:spcPct val="105000"/>
              </a:lnSpc>
              <a:buNone/>
            </a:pPr>
            <a:r>
              <a:rPr lang="en-US" sz="950" dirty="0">
                <a:solidFill>
                  <a:srgbClr val="000000"/>
                </a:solidFill>
                <a:latin typeface="Calibri" pitchFamily="34" charset="0"/>
                <a:ea typeface="Calibri" pitchFamily="34" charset="-122"/>
                <a:cs typeface="Calibri" pitchFamily="34" charset="-120"/>
              </a:rPr>
              <a:t>Video meetings &amp; remote advisory</a:t>
            </a:r>
            <a:endParaRPr lang="en-US" sz="950" dirty="0"/>
          </a:p>
        </p:txBody>
      </p:sp>
      <p:sp>
        <p:nvSpPr>
          <p:cNvPr id="27" name="Text 25"/>
          <p:cNvSpPr txBox="1"/>
          <p:nvPr/>
        </p:nvSpPr>
        <p:spPr>
          <a:xfrm>
            <a:off x="502006" y="4517136"/>
            <a:ext cx="1828800" cy="182880"/>
          </a:xfrm>
          <a:prstGeom prst="rect">
            <a:avLst/>
          </a:prstGeom>
          <a:noFill/>
          <a:ln/>
        </p:spPr>
        <p:txBody>
          <a:bodyPr wrap="square" lIns="0" tIns="0" rIns="0" bIns="0" rtlCol="0" anchor="ctr"/>
          <a:lstStyle/>
          <a:p>
            <a:pPr indent="0" marL="0">
              <a:buNone/>
            </a:pPr>
            <a:r>
              <a:rPr lang="en-US" sz="800" b="1" dirty="0">
                <a:solidFill>
                  <a:srgbClr val="53565A"/>
                </a:solidFill>
                <a:latin typeface="Calibri" pitchFamily="34" charset="0"/>
                <a:ea typeface="Calibri" pitchFamily="34" charset="-122"/>
                <a:cs typeface="Calibri" pitchFamily="34" charset="-120"/>
              </a:rPr>
              <a:t>BY SECTOR</a:t>
            </a:r>
            <a:endParaRPr lang="en-US" sz="800" dirty="0"/>
          </a:p>
        </p:txBody>
      </p:sp>
      <p:sp>
        <p:nvSpPr>
          <p:cNvPr id="28" name="Shape 26"/>
          <p:cNvSpPr/>
          <p:nvPr/>
        </p:nvSpPr>
        <p:spPr>
          <a:xfrm>
            <a:off x="502006" y="4718304"/>
            <a:ext cx="5486400" cy="713232"/>
          </a:xfrm>
          <a:prstGeom prst="roundRect">
            <a:avLst>
              <a:gd name="adj" fmla="val 6410"/>
            </a:avLst>
          </a:prstGeom>
          <a:solidFill>
            <a:srgbClr val="F2F2F2"/>
          </a:solidFill>
          <a:ln/>
        </p:spPr>
      </p:sp>
      <p:sp>
        <p:nvSpPr>
          <p:cNvPr id="29" name="Text 27"/>
          <p:cNvSpPr txBox="1"/>
          <p:nvPr/>
        </p:nvSpPr>
        <p:spPr>
          <a:xfrm>
            <a:off x="648310" y="4791456"/>
            <a:ext cx="5193792" cy="269875"/>
          </a:xfrm>
          <a:prstGeom prst="rect">
            <a:avLst/>
          </a:prstGeom>
          <a:noFill/>
          <a:ln/>
        </p:spPr>
        <p:txBody>
          <a:bodyPr wrap="square" lIns="0" tIns="0" rIns="0" bIns="0" rtlCol="0" anchor="t"/>
          <a:lstStyle/>
          <a:p>
            <a:pPr indent="0" marL="0">
              <a:buNone/>
            </a:pPr>
            <a:r>
              <a:rPr lang="en-US" sz="1700" b="1" dirty="0">
                <a:solidFill>
                  <a:srgbClr val="046A38"/>
                </a:solidFill>
                <a:latin typeface="Calibri" pitchFamily="34" charset="0"/>
                <a:ea typeface="Calibri" pitchFamily="34" charset="-122"/>
                <a:cs typeface="Calibri" pitchFamily="34" charset="-120"/>
              </a:rPr>
              <a:t>73% (tied)</a:t>
            </a:r>
            <a:endParaRPr lang="en-US" sz="1700" dirty="0"/>
          </a:p>
        </p:txBody>
      </p:sp>
      <p:sp>
        <p:nvSpPr>
          <p:cNvPr id="30" name="Text 28"/>
          <p:cNvSpPr txBox="1"/>
          <p:nvPr/>
        </p:nvSpPr>
        <p:spPr>
          <a:xfrm>
            <a:off x="648310" y="5079619"/>
            <a:ext cx="5193792" cy="297053"/>
          </a:xfrm>
          <a:prstGeom prst="rect">
            <a:avLst/>
          </a:prstGeom>
          <a:noFill/>
          <a:ln/>
        </p:spPr>
        <p:txBody>
          <a:bodyPr wrap="square" lIns="0" tIns="0" rIns="0" bIns="0" rtlCol="0" anchor="t"/>
          <a:lstStyle/>
          <a:p>
            <a:pPr indent="0" marL="0">
              <a:lnSpc>
                <a:spcPct val="110000"/>
              </a:lnSpc>
              <a:buNone/>
            </a:pPr>
            <a:r>
              <a:rPr lang="en-US" sz="900" dirty="0">
                <a:solidFill>
                  <a:srgbClr val="53565A"/>
                </a:solidFill>
                <a:latin typeface="Calibri" pitchFamily="34" charset="0"/>
                <a:ea typeface="Calibri" pitchFamily="34" charset="-122"/>
                <a:cs typeface="Calibri" pitchFamily="34" charset="-120"/>
              </a:rPr>
              <a:t>Banking (n=75): Digital onboarding/KYC and Payment/wire approvals — an exact tie for the top spot.</a:t>
            </a:r>
            <a:endParaRPr lang="en-US" sz="900" dirty="0"/>
          </a:p>
        </p:txBody>
      </p:sp>
      <p:sp>
        <p:nvSpPr>
          <p:cNvPr id="31" name="Shape 29"/>
          <p:cNvSpPr/>
          <p:nvPr/>
        </p:nvSpPr>
        <p:spPr>
          <a:xfrm>
            <a:off x="6172200" y="4718304"/>
            <a:ext cx="5020056" cy="713232"/>
          </a:xfrm>
          <a:prstGeom prst="roundRect">
            <a:avLst>
              <a:gd name="adj" fmla="val 6410"/>
            </a:avLst>
          </a:prstGeom>
          <a:solidFill>
            <a:srgbClr val="F2F2F2"/>
          </a:solidFill>
          <a:ln/>
        </p:spPr>
      </p:sp>
      <p:sp>
        <p:nvSpPr>
          <p:cNvPr id="32" name="Text 30"/>
          <p:cNvSpPr txBox="1"/>
          <p:nvPr/>
        </p:nvSpPr>
        <p:spPr>
          <a:xfrm>
            <a:off x="6318504" y="4791456"/>
            <a:ext cx="4727448" cy="269875"/>
          </a:xfrm>
          <a:prstGeom prst="rect">
            <a:avLst/>
          </a:prstGeom>
          <a:noFill/>
          <a:ln/>
        </p:spPr>
        <p:txBody>
          <a:bodyPr wrap="square" lIns="0" tIns="0" rIns="0" bIns="0" rtlCol="0" anchor="t"/>
          <a:lstStyle/>
          <a:p>
            <a:pPr indent="0" marL="0">
              <a:buNone/>
            </a:pPr>
            <a:r>
              <a:rPr lang="en-US" sz="1700" b="1" dirty="0">
                <a:solidFill>
                  <a:srgbClr val="046A38"/>
                </a:solidFill>
                <a:latin typeface="Calibri" pitchFamily="34" charset="0"/>
                <a:ea typeface="Calibri" pitchFamily="34" charset="-122"/>
                <a:cs typeface="Calibri" pitchFamily="34" charset="-120"/>
              </a:rPr>
              <a:t>72%</a:t>
            </a:r>
            <a:endParaRPr lang="en-US" sz="1700" dirty="0"/>
          </a:p>
        </p:txBody>
      </p:sp>
      <p:sp>
        <p:nvSpPr>
          <p:cNvPr id="33" name="Text 31"/>
          <p:cNvSpPr txBox="1"/>
          <p:nvPr/>
        </p:nvSpPr>
        <p:spPr>
          <a:xfrm>
            <a:off x="6318504" y="5079619"/>
            <a:ext cx="4727448" cy="297053"/>
          </a:xfrm>
          <a:prstGeom prst="rect">
            <a:avLst/>
          </a:prstGeom>
          <a:noFill/>
          <a:ln/>
        </p:spPr>
        <p:txBody>
          <a:bodyPr wrap="square" lIns="0" tIns="0" rIns="0" bIns="0" rtlCol="0" anchor="t"/>
          <a:lstStyle/>
          <a:p>
            <a:pPr indent="0" marL="0">
              <a:lnSpc>
                <a:spcPct val="110000"/>
              </a:lnSpc>
              <a:buNone/>
            </a:pPr>
            <a:r>
              <a:rPr lang="en-US" sz="900" dirty="0">
                <a:solidFill>
                  <a:srgbClr val="53565A"/>
                </a:solidFill>
                <a:latin typeface="Calibri" pitchFamily="34" charset="0"/>
                <a:ea typeface="Calibri" pitchFamily="34" charset="-122"/>
                <a:cs typeface="Calibri" pitchFamily="34" charset="-120"/>
              </a:rPr>
              <a:t>Insurance (n=25): Contact center / phone-based authentication is the clear #1.</a:t>
            </a:r>
            <a:endParaRPr lang="en-US" sz="900" dirty="0"/>
          </a:p>
        </p:txBody>
      </p:sp>
      <p:sp>
        <p:nvSpPr>
          <p:cNvPr id="34" name="Shape 32"/>
          <p:cNvSpPr/>
          <p:nvPr/>
        </p:nvSpPr>
        <p:spPr>
          <a:xfrm>
            <a:off x="502006" y="5541264"/>
            <a:ext cx="11188598" cy="0"/>
          </a:xfrm>
          <a:prstGeom prst="line">
            <a:avLst/>
          </a:prstGeom>
          <a:noFill/>
          <a:ln w="9525">
            <a:solidFill>
              <a:srgbClr val="D0D0CE"/>
            </a:solidFill>
            <a:prstDash val="solid"/>
          </a:ln>
        </p:spPr>
      </p:sp>
      <p:sp>
        <p:nvSpPr>
          <p:cNvPr id="35" name="Text 33"/>
          <p:cNvSpPr txBox="1"/>
          <p:nvPr/>
        </p:nvSpPr>
        <p:spPr>
          <a:xfrm>
            <a:off x="502006" y="5596128"/>
            <a:ext cx="11188598" cy="502920"/>
          </a:xfrm>
          <a:prstGeom prst="rect">
            <a:avLst/>
          </a:prstGeom>
          <a:noFill/>
          <a:ln/>
        </p:spPr>
        <p:txBody>
          <a:bodyPr wrap="square" lIns="0" tIns="0" rIns="0" bIns="0" rtlCol="0" anchor="t"/>
          <a:lstStyle/>
          <a:p>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Ranked top 3 — % of respondents who placed the option anywhere in their top 3 (not mutually exclusive; figures don't sum to 100%). Response options as fielded: “Contact center / phone-based authentication” · “Digital onboarding, KYC, and identity verification” · “Claims, underwriting, lending, or application review” · “Payment, wire, or transaction approvals” · “Video meetings and remote advisory interactions” · “Executive, employee, broker, or advisor impersonation”</a:t>
            </a:r>
            <a:endParaRPr lang="en-US" sz="850" dirty="0"/>
          </a:p>
        </p:txBody>
      </p:sp>
      <p:sp>
        <p:nvSpPr>
          <p:cNvPr id="36" name="Text 34"/>
          <p:cNvSpPr txBox="1"/>
          <p:nvPr/>
        </p:nvSpPr>
        <p:spPr>
          <a:xfrm>
            <a:off x="502006" y="6062472"/>
            <a:ext cx="10731398" cy="201168"/>
          </a:xfrm>
          <a:prstGeom prst="rect">
            <a:avLst/>
          </a:prstGeom>
          <a:noFill/>
          <a:ln/>
        </p:spPr>
        <p:txBody>
          <a:bodyPr wrap="square" lIns="0" tIns="0" rIns="0" bIns="0" rtlCol="0" anchor="ctr"/>
          <a:lstStyle/>
          <a:p>
            <a:pPr algn="l" indent="0" marL="0">
              <a:buNone/>
            </a:pPr>
            <a:r>
              <a:rPr lang="en-US" sz="750" i="1" dirty="0">
                <a:solidFill>
                  <a:srgbClr val="53565A"/>
                </a:solidFill>
                <a:latin typeface="Calibri" pitchFamily="34" charset="0"/>
                <a:ea typeface="Calibri" pitchFamily="34" charset="-122"/>
                <a:cs typeface="Calibri" pitchFamily="34" charset="-120"/>
              </a:rPr>
              <a:t>¹ Deloitte, “Managing Gen AI Risks,” Deloitte Insights, 2025.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01   DEEPFAKE &amp; EMERGING AI RISK</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Managing it takes a coordinated response — no single lever stands out, in either sector.</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8" name="Text 6"/>
          <p:cNvSpPr txBox="1"/>
          <p:nvPr/>
        </p:nvSpPr>
        <p:spPr>
          <a:xfrm>
            <a:off x="502006" y="2066544"/>
            <a:ext cx="11188598" cy="457200"/>
          </a:xfrm>
          <a:prstGeom prst="rect">
            <a:avLst/>
          </a:prstGeom>
          <a:noFill/>
          <a:ln/>
        </p:spPr>
        <p:txBody>
          <a:bodyPr wrap="square" lIns="0" tIns="0" rIns="0" bIns="0" rtlCol="0" anchor="t"/>
          <a:lstStyle/>
          <a:p>
            <a:pPr algn="l" indent="0" marL="0">
              <a:lnSpc>
                <a:spcPct val="118000"/>
              </a:lnSpc>
              <a:buNone/>
            </a:pPr>
            <a:r>
              <a:rPr lang="en-US" sz="1100" dirty="0">
                <a:solidFill>
                  <a:srgbClr val="53565A"/>
                </a:solidFill>
                <a:latin typeface="Calibri" pitchFamily="34" charset="0"/>
                <a:ea typeface="Calibri" pitchFamily="34" charset="-122"/>
                <a:cs typeface="Calibri" pitchFamily="34" charset="-120"/>
              </a:rPr>
              <a:t>Prevention controls, detection technology, third-party intelligence, and staff training all land within 10 points of each other overall — and neither sector leans on just one fix.</a:t>
            </a:r>
            <a:endParaRPr lang="en-US" sz="1100" dirty="0"/>
          </a:p>
        </p:txBody>
      </p:sp>
      <p:sp>
        <p:nvSpPr>
          <p:cNvPr id="9" name="Text 7"/>
          <p:cNvSpPr txBox="1"/>
          <p:nvPr/>
        </p:nvSpPr>
        <p:spPr>
          <a:xfrm>
            <a:off x="502006" y="2633472"/>
            <a:ext cx="914400" cy="61264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53%</a:t>
            </a:r>
            <a:endParaRPr lang="en-US" sz="2200" dirty="0"/>
          </a:p>
        </p:txBody>
      </p:sp>
      <p:sp>
        <p:nvSpPr>
          <p:cNvPr id="10" name="Shape 8"/>
          <p:cNvSpPr/>
          <p:nvPr/>
        </p:nvSpPr>
        <p:spPr>
          <a:xfrm>
            <a:off x="1462126" y="2688336"/>
            <a:ext cx="0" cy="484632"/>
          </a:xfrm>
          <a:prstGeom prst="line">
            <a:avLst/>
          </a:prstGeom>
          <a:noFill/>
          <a:ln w="15875">
            <a:solidFill>
              <a:srgbClr val="D0D0CE"/>
            </a:solidFill>
            <a:prstDash val="solid"/>
          </a:ln>
        </p:spPr>
      </p:sp>
      <p:sp>
        <p:nvSpPr>
          <p:cNvPr id="11" name="Text 9"/>
          <p:cNvSpPr txBox="1"/>
          <p:nvPr/>
        </p:nvSpPr>
        <p:spPr>
          <a:xfrm>
            <a:off x="1645006" y="2633472"/>
            <a:ext cx="4314139" cy="61264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Limited staff awareness &amp; training</a:t>
            </a:r>
            <a:endParaRPr lang="en-US" sz="1000" dirty="0"/>
          </a:p>
        </p:txBody>
      </p:sp>
      <p:sp>
        <p:nvSpPr>
          <p:cNvPr id="12" name="Text 10"/>
          <p:cNvSpPr txBox="1"/>
          <p:nvPr/>
        </p:nvSpPr>
        <p:spPr>
          <a:xfrm>
            <a:off x="6096305" y="2633472"/>
            <a:ext cx="914400" cy="61264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50%</a:t>
            </a:r>
            <a:endParaRPr lang="en-US" sz="2200" dirty="0"/>
          </a:p>
        </p:txBody>
      </p:sp>
      <p:sp>
        <p:nvSpPr>
          <p:cNvPr id="13" name="Shape 11"/>
          <p:cNvSpPr/>
          <p:nvPr/>
        </p:nvSpPr>
        <p:spPr>
          <a:xfrm>
            <a:off x="7056425" y="2688336"/>
            <a:ext cx="0" cy="484632"/>
          </a:xfrm>
          <a:prstGeom prst="line">
            <a:avLst/>
          </a:prstGeom>
          <a:noFill/>
          <a:ln w="15875">
            <a:solidFill>
              <a:srgbClr val="D0D0CE"/>
            </a:solidFill>
            <a:prstDash val="solid"/>
          </a:ln>
        </p:spPr>
      </p:sp>
      <p:sp>
        <p:nvSpPr>
          <p:cNvPr id="14" name="Text 12"/>
          <p:cNvSpPr txBox="1"/>
          <p:nvPr/>
        </p:nvSpPr>
        <p:spPr>
          <a:xfrm>
            <a:off x="7239305" y="2633472"/>
            <a:ext cx="4314139" cy="61264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Insufficient identity verification / prevention</a:t>
            </a:r>
            <a:endParaRPr lang="en-US" sz="1000" dirty="0"/>
          </a:p>
        </p:txBody>
      </p:sp>
      <p:sp>
        <p:nvSpPr>
          <p:cNvPr id="15" name="Text 13"/>
          <p:cNvSpPr txBox="1"/>
          <p:nvPr/>
        </p:nvSpPr>
        <p:spPr>
          <a:xfrm>
            <a:off x="502006" y="3319272"/>
            <a:ext cx="914400" cy="61264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46%</a:t>
            </a:r>
            <a:endParaRPr lang="en-US" sz="2200" dirty="0"/>
          </a:p>
        </p:txBody>
      </p:sp>
      <p:sp>
        <p:nvSpPr>
          <p:cNvPr id="16" name="Shape 14"/>
          <p:cNvSpPr/>
          <p:nvPr/>
        </p:nvSpPr>
        <p:spPr>
          <a:xfrm>
            <a:off x="1462126" y="3374136"/>
            <a:ext cx="0" cy="484632"/>
          </a:xfrm>
          <a:prstGeom prst="line">
            <a:avLst/>
          </a:prstGeom>
          <a:noFill/>
          <a:ln w="15875">
            <a:solidFill>
              <a:srgbClr val="D0D0CE"/>
            </a:solidFill>
            <a:prstDash val="solid"/>
          </a:ln>
        </p:spPr>
      </p:sp>
      <p:sp>
        <p:nvSpPr>
          <p:cNvPr id="17" name="Text 15"/>
          <p:cNvSpPr txBox="1"/>
          <p:nvPr/>
        </p:nvSpPr>
        <p:spPr>
          <a:xfrm>
            <a:off x="1645006" y="3319272"/>
            <a:ext cx="4314139" cy="61264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Lack of fraud detection technology</a:t>
            </a:r>
            <a:endParaRPr lang="en-US" sz="1000" dirty="0"/>
          </a:p>
        </p:txBody>
      </p:sp>
      <p:sp>
        <p:nvSpPr>
          <p:cNvPr id="18" name="Text 16"/>
          <p:cNvSpPr txBox="1"/>
          <p:nvPr/>
        </p:nvSpPr>
        <p:spPr>
          <a:xfrm>
            <a:off x="6096305" y="3319272"/>
            <a:ext cx="914400" cy="61264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43%</a:t>
            </a:r>
            <a:endParaRPr lang="en-US" sz="2200" dirty="0"/>
          </a:p>
        </p:txBody>
      </p:sp>
      <p:sp>
        <p:nvSpPr>
          <p:cNvPr id="19" name="Shape 17"/>
          <p:cNvSpPr/>
          <p:nvPr/>
        </p:nvSpPr>
        <p:spPr>
          <a:xfrm>
            <a:off x="7056425" y="3374136"/>
            <a:ext cx="0" cy="484632"/>
          </a:xfrm>
          <a:prstGeom prst="line">
            <a:avLst/>
          </a:prstGeom>
          <a:noFill/>
          <a:ln w="15875">
            <a:solidFill>
              <a:srgbClr val="D0D0CE"/>
            </a:solidFill>
            <a:prstDash val="solid"/>
          </a:ln>
        </p:spPr>
      </p:sp>
      <p:sp>
        <p:nvSpPr>
          <p:cNvPr id="20" name="Text 18"/>
          <p:cNvSpPr txBox="1"/>
          <p:nvPr/>
        </p:nvSpPr>
        <p:spPr>
          <a:xfrm>
            <a:off x="7239305" y="3319272"/>
            <a:ext cx="4314139" cy="61264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Limited 3rd-party intel / consortium data</a:t>
            </a:r>
            <a:endParaRPr lang="en-US" sz="1000" dirty="0"/>
          </a:p>
        </p:txBody>
      </p:sp>
      <p:sp>
        <p:nvSpPr>
          <p:cNvPr id="21" name="Text 19"/>
          <p:cNvSpPr txBox="1"/>
          <p:nvPr/>
        </p:nvSpPr>
        <p:spPr>
          <a:xfrm>
            <a:off x="502006" y="4142232"/>
            <a:ext cx="11188598" cy="201168"/>
          </a:xfrm>
          <a:prstGeom prst="rect">
            <a:avLst/>
          </a:prstGeom>
          <a:noFill/>
          <a:ln/>
        </p:spPr>
        <p:txBody>
          <a:bodyPr wrap="square" lIns="0" tIns="0" rIns="0" bIns="0" rtlCol="0" anchor="ctr"/>
          <a:lstStyle/>
          <a:p>
            <a:pPr indent="0" marL="0">
              <a:buNone/>
            </a:pPr>
            <a:r>
              <a:rPr lang="en-US" sz="900" b="1" dirty="0">
                <a:solidFill>
                  <a:srgbClr val="53565A"/>
                </a:solidFill>
                <a:latin typeface="Calibri" pitchFamily="34" charset="0"/>
                <a:ea typeface="Calibri" pitchFamily="34" charset="-122"/>
                <a:cs typeface="Calibri" pitchFamily="34" charset="-120"/>
              </a:rPr>
              <a:t>BY SECTOR — Insurance leans hardest on the training gap (64%); Banking spreads its concern evenly.</a:t>
            </a:r>
            <a:endParaRPr lang="en-US" sz="900" dirty="0"/>
          </a:p>
        </p:txBody>
      </p:sp>
      <p:graphicFrame>
        <p:nvGraphicFramePr>
          <p:cNvPr id="22" name="Chart 0" descr=""/>
          <p:cNvGraphicFramePr/>
          <p:nvPr/>
        </p:nvGraphicFramePr>
        <p:xfrm>
          <a:off x="502006" y="4361688"/>
          <a:ext cx="11188598" cy="1197864"/>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502006" y="5669280"/>
            <a:ext cx="11188598" cy="0"/>
          </a:xfrm>
          <a:prstGeom prst="line">
            <a:avLst/>
          </a:prstGeom>
          <a:noFill/>
          <a:ln w="9525">
            <a:solidFill>
              <a:srgbClr val="D0D0CE"/>
            </a:solidFill>
            <a:prstDash val="solid"/>
          </a:ln>
        </p:spPr>
      </p:sp>
      <p:sp>
        <p:nvSpPr>
          <p:cNvPr id="24" name="Text 21"/>
          <p:cNvSpPr txBox="1"/>
          <p:nvPr/>
        </p:nvSpPr>
        <p:spPr>
          <a:xfrm>
            <a:off x="502006" y="5724144"/>
            <a:ext cx="11188598" cy="457200"/>
          </a:xfrm>
          <a:prstGeom prst="rect">
            <a:avLst/>
          </a:prstGeom>
          <a:noFill/>
          <a:ln/>
        </p:spPr>
        <p:txBody>
          <a:bodyPr wrap="square" lIns="0" tIns="0" rIns="0" bIns="0" rtlCol="0" anchor="t"/>
          <a:lstStyle/>
          <a:p>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Select all that apply — figures don't sum to 100%. Response options as fielded: “Insufficient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01   DEEPFAKE &amp; EMERGING AI RISK</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The obstacle mix shifts somewhat by region within each sector — though small samples in several markets warrant caution in reading too far into the differences.</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02006" y="1600200"/>
            <a:ext cx="11188598" cy="201168"/>
          </a:xfrm>
          <a:prstGeom prst="rect">
            <a:avLst/>
          </a:prstGeom>
          <a:noFill/>
          <a:ln/>
        </p:spPr>
        <p:txBody>
          <a:bodyPr wrap="square" lIns="0" tIns="0" rIns="0" bIns="0" rtlCol="0" anchor="ctr"/>
          <a:lstStyle/>
          <a:p>
            <a:pPr indent="0" marL="0">
              <a:buNone/>
            </a:pPr>
            <a:r>
              <a:rPr lang="en-US" sz="900" b="1" dirty="0">
                <a:solidFill>
                  <a:srgbClr val="53565A"/>
                </a:solidFill>
                <a:latin typeface="Calibri" pitchFamily="34" charset="0"/>
                <a:ea typeface="Calibri" pitchFamily="34" charset="-122"/>
                <a:cs typeface="Calibri" pitchFamily="34" charset="-120"/>
              </a:rPr>
              <a:t>BANKING, BY REGION</a:t>
            </a:r>
            <a:endParaRPr lang="en-US" sz="900" dirty="0"/>
          </a:p>
        </p:txBody>
      </p:sp>
      <p:graphicFrame>
        <p:nvGraphicFramePr>
          <p:cNvPr id="7" name="Chart 0" descr=""/>
          <p:cNvGraphicFramePr/>
          <p:nvPr/>
        </p:nvGraphicFramePr>
        <p:xfrm>
          <a:off x="502006" y="1819656"/>
          <a:ext cx="11188598" cy="21488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02006" y="4096512"/>
            <a:ext cx="11188598" cy="201168"/>
          </a:xfrm>
          <a:prstGeom prst="rect">
            <a:avLst/>
          </a:prstGeom>
          <a:noFill/>
          <a:ln/>
        </p:spPr>
        <p:txBody>
          <a:bodyPr wrap="square" lIns="0" tIns="0" rIns="0" bIns="0" rtlCol="0" anchor="ctr"/>
          <a:lstStyle/>
          <a:p>
            <a:pPr indent="0" marL="0">
              <a:buNone/>
            </a:pPr>
            <a:r>
              <a:rPr lang="en-US" sz="900" b="1" dirty="0">
                <a:solidFill>
                  <a:srgbClr val="53565A"/>
                </a:solidFill>
                <a:latin typeface="Calibri" pitchFamily="34" charset="0"/>
                <a:ea typeface="Calibri" pitchFamily="34" charset="-122"/>
                <a:cs typeface="Calibri" pitchFamily="34" charset="-120"/>
              </a:rPr>
              <a:t>INSURANCE, BY REGION (US &amp; Canada only — other regions had insufficient sample)</a:t>
            </a:r>
            <a:endParaRPr lang="en-US" sz="900" dirty="0"/>
          </a:p>
        </p:txBody>
      </p:sp>
      <p:graphicFrame>
        <p:nvGraphicFramePr>
          <p:cNvPr id="9" name="Chart 1" descr=""/>
          <p:cNvGraphicFramePr/>
          <p:nvPr/>
        </p:nvGraphicFramePr>
        <p:xfrm>
          <a:off x="502006" y="4315968"/>
          <a:ext cx="11188598" cy="109728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502006" y="5522976"/>
            <a:ext cx="11188598" cy="0"/>
          </a:xfrm>
          <a:prstGeom prst="line">
            <a:avLst/>
          </a:prstGeom>
          <a:noFill/>
          <a:ln w="9525">
            <a:solidFill>
              <a:srgbClr val="D0D0CE"/>
            </a:solidFill>
            <a:prstDash val="solid"/>
          </a:ln>
        </p:spPr>
      </p:sp>
      <p:sp>
        <p:nvSpPr>
          <p:cNvPr id="11" name="Text 7"/>
          <p:cNvSpPr txBox="1"/>
          <p:nvPr/>
        </p:nvSpPr>
        <p:spPr>
          <a:xfrm>
            <a:off x="502006" y="5577840"/>
            <a:ext cx="11188598" cy="566928"/>
          </a:xfrm>
          <a:prstGeom prst="rect">
            <a:avLst/>
          </a:prstGeom>
          <a:noFill/>
          <a:ln/>
        </p:spPr>
        <p:txBody>
          <a:bodyPr wrap="square" lIns="0" tIns="0" rIns="0" bIns="0" rtlCol="0" anchor="t"/>
          <a:lstStyle/>
          <a:p>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Select all that apply — figures don't sum to 100%. Banking/Australia (n=7) and Banking/Singapore (n=4) are directional only given small base sizes. Insurance/Europe (n=2), Insurance/Australia (n=1), and Insurance/Singapore (n=0) are excluded here for insufficient sample size — see Q3 overall for the full-sample view. Response options as fielded: “Insufficient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914400"/>
            <a:ext cx="1828800" cy="365760"/>
          </a:xfrm>
          <a:prstGeom prst="rect">
            <a:avLst/>
          </a:prstGeom>
          <a:noFill/>
          <a:ln/>
        </p:spPr>
        <p:txBody>
          <a:bodyPr wrap="square" lIns="0" tIns="0" rIns="0" bIns="0" rtlCol="0" anchor="ctr"/>
          <a:lstStyle/>
          <a:p>
            <a:pPr indent="0" marL="0">
              <a:buNone/>
            </a:pPr>
            <a:r>
              <a:rPr lang="en-US" sz="1400" b="1" dirty="0">
                <a:solidFill>
                  <a:srgbClr val="86BC25"/>
                </a:solidFill>
                <a:latin typeface="IBM Plex Mono" pitchFamily="34" charset="0"/>
                <a:ea typeface="IBM Plex Mono" pitchFamily="34" charset="-122"/>
                <a:cs typeface="IBM Plex Mono" pitchFamily="34" charset="-120"/>
              </a:rPr>
              <a:t>02</a:t>
            </a:r>
            <a:endParaRPr lang="en-US" sz="1400" dirty="0"/>
          </a:p>
        </p:txBody>
      </p:sp>
      <p:sp>
        <p:nvSpPr>
          <p:cNvPr id="5" name="Text 3"/>
          <p:cNvSpPr txBox="1"/>
          <p:nvPr/>
        </p:nvSpPr>
        <p:spPr>
          <a:xfrm>
            <a:off x="502006" y="1298448"/>
            <a:ext cx="5577840" cy="777240"/>
          </a:xfrm>
          <a:prstGeom prst="rect">
            <a:avLst/>
          </a:prstGeom>
          <a:noFill/>
          <a:ln/>
        </p:spPr>
        <p:txBody>
          <a:bodyPr wrap="square" lIns="0" tIns="0" rIns="0" bIns="0" rtlCol="0" anchor="t"/>
          <a:lstStyle/>
          <a:p>
            <a:pPr algn="l" indent="0" marL="0">
              <a:lnSpc>
                <a:spcPct val="105000"/>
              </a:lnSpc>
              <a:buNone/>
            </a:pPr>
            <a:r>
              <a:rPr lang="en-US" sz="2800" b="1" dirty="0">
                <a:solidFill>
                  <a:srgbClr val="FFFFFF"/>
                </a:solidFill>
                <a:latin typeface="Calibri" pitchFamily="34" charset="0"/>
                <a:ea typeface="Calibri" pitchFamily="34" charset="-122"/>
                <a:cs typeface="Calibri" pitchFamily="34" charset="-120"/>
              </a:rPr>
              <a:t>Fraud Information Sharing</a:t>
            </a:r>
            <a:endParaRPr lang="en-US" sz="2800" dirty="0"/>
          </a:p>
        </p:txBody>
      </p:sp>
      <p:sp>
        <p:nvSpPr>
          <p:cNvPr id="6" name="Text 4"/>
          <p:cNvSpPr txBox="1"/>
          <p:nvPr/>
        </p:nvSpPr>
        <p:spPr>
          <a:xfrm>
            <a:off x="502006" y="2240280"/>
            <a:ext cx="5532120" cy="2103120"/>
          </a:xfrm>
          <a:prstGeom prst="rect">
            <a:avLst/>
          </a:prstGeom>
          <a:noFill/>
          <a:ln/>
        </p:spPr>
        <p:txBody>
          <a:bodyPr wrap="square" lIns="0" tIns="0" rIns="0" bIns="0" rtlCol="0" anchor="t"/>
          <a:lstStyle/>
          <a:p>
            <a:pPr algn="l" indent="0" marL="0">
              <a:lnSpc>
                <a:spcPct val="130000"/>
              </a:lnSpc>
              <a:buNone/>
            </a:pPr>
            <a:r>
              <a:rPr lang="en-US" sz="1250" dirty="0">
                <a:solidFill>
                  <a:srgbClr val="D0D0CE"/>
                </a:solidFill>
                <a:latin typeface="Calibri" pitchFamily="34" charset="0"/>
                <a:ea typeface="Calibri" pitchFamily="34" charset="-122"/>
                <a:cs typeface="Calibri" pitchFamily="34" charset="-120"/>
              </a:rPr>
              <a:t>If technology gaps are one obstacle to fighting AI-driven fraud, information sharing is the next — and it's less about willingness than plumbing. Leaders want to share more; what's stopping them is structural.</a:t>
            </a:r>
            <a:endParaRPr lang="en-US" sz="1250" dirty="0"/>
          </a:p>
        </p:txBody>
      </p:sp>
      <p:sp>
        <p:nvSpPr>
          <p:cNvPr id="7" name="Shape 5"/>
          <p:cNvSpPr/>
          <p:nvPr/>
        </p:nvSpPr>
        <p:spPr>
          <a:xfrm>
            <a:off x="6400800" y="2514600"/>
            <a:ext cx="457200" cy="457200"/>
          </a:xfrm>
          <a:prstGeom prst="ellipse">
            <a:avLst/>
          </a:prstGeom>
          <a:solidFill>
            <a:srgbClr val="0B1C14"/>
          </a:solidFill>
          <a:ln w="12700">
            <a:solidFill>
              <a:srgbClr val="86BC25"/>
            </a:solidFill>
            <a:prstDash val="solid"/>
          </a:ln>
        </p:spPr>
      </p:sp>
      <p:sp>
        <p:nvSpPr>
          <p:cNvPr id="8" name="Text 6"/>
          <p:cNvSpPr txBox="1"/>
          <p:nvPr/>
        </p:nvSpPr>
        <p:spPr>
          <a:xfrm>
            <a:off x="6400800" y="2441448"/>
            <a:ext cx="457200" cy="457200"/>
          </a:xfrm>
          <a:prstGeom prst="rect">
            <a:avLst/>
          </a:prstGeom>
          <a:noFill/>
          <a:ln/>
        </p:spPr>
        <p:txBody>
          <a:bodyPr wrap="square" lIns="0" tIns="0" rIns="0" bIns="0" rtlCol="0" anchor="ctr"/>
          <a:lstStyle/>
          <a:p>
            <a:pPr algn="ctr" indent="0" marL="0">
              <a:buNone/>
            </a:pPr>
            <a:r>
              <a:rPr lang="en-US" sz="2200" b="1" dirty="0">
                <a:solidFill>
                  <a:srgbClr val="86BC25"/>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6446520" y="2788920"/>
            <a:ext cx="5239512" cy="2514600"/>
          </a:xfrm>
          <a:prstGeom prst="rect">
            <a:avLst/>
          </a:prstGeom>
          <a:ln w="12700">
            <a:solidFill>
              <a:srgbClr val="D0D0CE"/>
            </a:solidFill>
            <a:prstDash val="solid"/>
          </a:ln>
        </p:spPr>
      </p:sp>
      <p:sp>
        <p:nvSpPr>
          <p:cNvPr id="10" name="Text 8"/>
          <p:cNvSpPr txBox="1"/>
          <p:nvPr/>
        </p:nvSpPr>
        <p:spPr>
          <a:xfrm>
            <a:off x="6720840" y="3017520"/>
            <a:ext cx="4690872" cy="1737360"/>
          </a:xfrm>
          <a:prstGeom prst="rect">
            <a:avLst/>
          </a:prstGeom>
          <a:noFill/>
          <a:ln/>
        </p:spPr>
        <p:txBody>
          <a:bodyPr wrap="square" lIns="0" tIns="0" rIns="0" bIns="0" rtlCol="0" anchor="t"/>
          <a:lstStyle/>
          <a:p>
            <a:pPr algn="l" indent="0" marL="0">
              <a:lnSpc>
                <a:spcPct val="124000"/>
              </a:lnSpc>
              <a:buNone/>
            </a:pPr>
            <a:r>
              <a:rPr lang="en-US" sz="1350" i="1" dirty="0">
                <a:solidFill>
                  <a:srgbClr val="FFFFFF"/>
                </a:solidFill>
                <a:latin typeface="Calibri" pitchFamily="34" charset="0"/>
                <a:ea typeface="Calibri" pitchFamily="34" charset="-122"/>
                <a:cs typeface="Calibri" pitchFamily="34" charset="-120"/>
              </a:rPr>
              <a:t>I really feel that fraud intelligence sharing can make a difference, but there are still practical barriers to doing it well.</a:t>
            </a:r>
            <a:endParaRPr lang="en-US" sz="1350" dirty="0"/>
          </a:p>
        </p:txBody>
      </p:sp>
      <p:sp>
        <p:nvSpPr>
          <p:cNvPr id="11" name="Text 9"/>
          <p:cNvSpPr txBox="1"/>
          <p:nvPr/>
        </p:nvSpPr>
        <p:spPr>
          <a:xfrm>
            <a:off x="6720840" y="4846320"/>
            <a:ext cx="4690872" cy="320040"/>
          </a:xfrm>
          <a:prstGeom prst="rect">
            <a:avLst/>
          </a:prstGeom>
          <a:noFill/>
          <a:ln/>
        </p:spPr>
        <p:txBody>
          <a:bodyPr wrap="square" lIns="0" tIns="0" rIns="0" bIns="0" rtlCol="0" anchor="ctr"/>
          <a:lstStyle/>
          <a:p>
            <a:pPr algn="l" indent="0" marL="0">
              <a:buNone/>
            </a:pPr>
            <a:r>
              <a:rPr lang="en-US" sz="1050" i="1" dirty="0">
                <a:solidFill>
                  <a:srgbClr val="D0D0CE"/>
                </a:solidFill>
                <a:latin typeface="Calibri" pitchFamily="34" charset="0"/>
                <a:ea typeface="Calibri" pitchFamily="34" charset="-122"/>
                <a:cs typeface="Calibri" pitchFamily="34" charset="-120"/>
              </a:rPr>
              <a:t>SVP · INSURANCE</a:t>
            </a:r>
            <a:endParaRPr lang="en-US" sz="1050" dirty="0"/>
          </a:p>
        </p:txBody>
      </p:sp>
      <p:sp>
        <p:nvSpPr>
          <p:cNvPr id="12" name="Text 10"/>
          <p:cNvSpPr txBox="1"/>
          <p:nvPr/>
        </p:nvSpPr>
        <p:spPr>
          <a:xfrm>
            <a:off x="6720840" y="5394960"/>
            <a:ext cx="4690872" cy="228600"/>
          </a:xfrm>
          <a:prstGeom prst="rect">
            <a:avLst/>
          </a:prstGeom>
          <a:noFill/>
          <a:ln/>
        </p:spPr>
        <p:txBody>
          <a:bodyPr wrap="square" lIns="0" tIns="0" rIns="0" bIns="0" rtlCol="0" anchor="ctr"/>
          <a:lstStyle/>
          <a:p>
            <a:pPr indent="0" marL="0">
              <a:buNone/>
            </a:pPr>
            <a:r>
              <a:rPr lang="en-US" sz="800" i="1" dirty="0">
                <a:solidFill>
                  <a:srgbClr val="53565A"/>
                </a:solidFill>
                <a:latin typeface="Calibri" pitchFamily="34" charset="0"/>
                <a:ea typeface="Calibri" pitchFamily="34" charset="-122"/>
                <a:cs typeface="Calibri" pitchFamily="34" charset="-120"/>
              </a:rPr>
              <a:t>From the survey's open-ended question, in the respondent's own words.</a:t>
            </a:r>
            <a:endParaRPr lang="en-US" sz="800" dirty="0"/>
          </a:p>
        </p:txBody>
      </p:sp>
      <p:sp>
        <p:nvSpPr>
          <p:cNvPr id="13" name="Text 1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02   FRAUD INFORMATION SHARING</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Across the industry, data sharing is already seen as fraud's single most effective lever — our survey shows leaders are ready, and the barriers are structural, not willingness.</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8" name="Text 6"/>
          <p:cNvSpPr txBox="1"/>
          <p:nvPr/>
        </p:nvSpPr>
        <p:spPr>
          <a:xfrm>
            <a:off x="502006" y="2066544"/>
            <a:ext cx="11188598" cy="530352"/>
          </a:xfrm>
          <a:prstGeom prst="rect">
            <a:avLst/>
          </a:prstGeom>
          <a:noFill/>
          <a:ln/>
        </p:spPr>
        <p:txBody>
          <a:bodyPr wrap="square" lIns="0" tIns="0" rIns="0" bIns="0" rtlCol="0" anchor="t"/>
          <a:lstStyle/>
          <a:p>
            <a:pPr algn="l" indent="0" marL="0">
              <a:lnSpc>
                <a:spcPct val="118000"/>
              </a:lnSpc>
              <a:buNone/>
            </a:pPr>
            <a:r>
              <a:rPr lang="en-US" sz="1100" dirty="0">
                <a:solidFill>
                  <a:srgbClr val="53565A"/>
                </a:solidFill>
                <a:latin typeface="Calibri" pitchFamily="34" charset="0"/>
                <a:ea typeface="Calibri" pitchFamily="34" charset="-122"/>
                <a:cs typeface="Calibri" pitchFamily="34" charset="-120"/>
              </a:rPr>
              <a:t>78% of fraud and risk professionals call data sharing the most effective way to strengthen fraud risk mitigation.¹ Inside our own survey, limited data standardization and poor quality (77%) now edges out legal, privacy, and regulatory constraints (73%) as the top-cited barrier.</a:t>
            </a:r>
            <a:endParaRPr lang="en-US" sz="1100" dirty="0"/>
          </a:p>
        </p:txBody>
      </p:sp>
      <p:sp>
        <p:nvSpPr>
          <p:cNvPr id="9" name="Text 7"/>
          <p:cNvSpPr txBox="1"/>
          <p:nvPr/>
        </p:nvSpPr>
        <p:spPr>
          <a:xfrm>
            <a:off x="502006" y="2688336"/>
            <a:ext cx="914400" cy="67360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77%</a:t>
            </a:r>
            <a:endParaRPr lang="en-US" sz="2200" dirty="0"/>
          </a:p>
        </p:txBody>
      </p:sp>
      <p:sp>
        <p:nvSpPr>
          <p:cNvPr id="10" name="Shape 8"/>
          <p:cNvSpPr/>
          <p:nvPr/>
        </p:nvSpPr>
        <p:spPr>
          <a:xfrm>
            <a:off x="1462126" y="2743200"/>
            <a:ext cx="0" cy="545592"/>
          </a:xfrm>
          <a:prstGeom prst="line">
            <a:avLst/>
          </a:prstGeom>
          <a:noFill/>
          <a:ln w="15875">
            <a:solidFill>
              <a:srgbClr val="D0D0CE"/>
            </a:solidFill>
            <a:prstDash val="solid"/>
          </a:ln>
        </p:spPr>
      </p:sp>
      <p:sp>
        <p:nvSpPr>
          <p:cNvPr id="11" name="Text 9"/>
          <p:cNvSpPr txBox="1"/>
          <p:nvPr/>
        </p:nvSpPr>
        <p:spPr>
          <a:xfrm>
            <a:off x="1645006" y="2688336"/>
            <a:ext cx="4314139" cy="67360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Limited data standardization &amp; poor quality</a:t>
            </a:r>
            <a:endParaRPr lang="en-US" sz="1000" dirty="0"/>
          </a:p>
        </p:txBody>
      </p:sp>
      <p:sp>
        <p:nvSpPr>
          <p:cNvPr id="12" name="Text 10"/>
          <p:cNvSpPr txBox="1"/>
          <p:nvPr/>
        </p:nvSpPr>
        <p:spPr>
          <a:xfrm>
            <a:off x="6096305" y="2688336"/>
            <a:ext cx="914400" cy="67360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73%</a:t>
            </a:r>
            <a:endParaRPr lang="en-US" sz="2200" dirty="0"/>
          </a:p>
        </p:txBody>
      </p:sp>
      <p:sp>
        <p:nvSpPr>
          <p:cNvPr id="13" name="Shape 11"/>
          <p:cNvSpPr/>
          <p:nvPr/>
        </p:nvSpPr>
        <p:spPr>
          <a:xfrm>
            <a:off x="7056425" y="2743200"/>
            <a:ext cx="0" cy="545592"/>
          </a:xfrm>
          <a:prstGeom prst="line">
            <a:avLst/>
          </a:prstGeom>
          <a:noFill/>
          <a:ln w="15875">
            <a:solidFill>
              <a:srgbClr val="D0D0CE"/>
            </a:solidFill>
            <a:prstDash val="solid"/>
          </a:ln>
        </p:spPr>
      </p:sp>
      <p:sp>
        <p:nvSpPr>
          <p:cNvPr id="14" name="Text 12"/>
          <p:cNvSpPr txBox="1"/>
          <p:nvPr/>
        </p:nvSpPr>
        <p:spPr>
          <a:xfrm>
            <a:off x="7239305" y="2688336"/>
            <a:ext cx="4314139" cy="67360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Legal, privacy or regulatory constraints</a:t>
            </a:r>
            <a:endParaRPr lang="en-US" sz="1000" dirty="0"/>
          </a:p>
        </p:txBody>
      </p:sp>
      <p:sp>
        <p:nvSpPr>
          <p:cNvPr id="15" name="Text 13"/>
          <p:cNvSpPr txBox="1"/>
          <p:nvPr/>
        </p:nvSpPr>
        <p:spPr>
          <a:xfrm>
            <a:off x="502006" y="3435096"/>
            <a:ext cx="914400" cy="67360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60%</a:t>
            </a:r>
            <a:endParaRPr lang="en-US" sz="2200" dirty="0"/>
          </a:p>
        </p:txBody>
      </p:sp>
      <p:sp>
        <p:nvSpPr>
          <p:cNvPr id="16" name="Shape 14"/>
          <p:cNvSpPr/>
          <p:nvPr/>
        </p:nvSpPr>
        <p:spPr>
          <a:xfrm>
            <a:off x="1462126" y="3489960"/>
            <a:ext cx="0" cy="545592"/>
          </a:xfrm>
          <a:prstGeom prst="line">
            <a:avLst/>
          </a:prstGeom>
          <a:noFill/>
          <a:ln w="15875">
            <a:solidFill>
              <a:srgbClr val="D0D0CE"/>
            </a:solidFill>
            <a:prstDash val="solid"/>
          </a:ln>
        </p:spPr>
      </p:sp>
      <p:sp>
        <p:nvSpPr>
          <p:cNvPr id="17" name="Text 15"/>
          <p:cNvSpPr txBox="1"/>
          <p:nvPr/>
        </p:nvSpPr>
        <p:spPr>
          <a:xfrm>
            <a:off x="1645006" y="3435096"/>
            <a:ext cx="4314139" cy="67360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Lack of external industry participation</a:t>
            </a:r>
            <a:endParaRPr lang="en-US" sz="1000" dirty="0"/>
          </a:p>
        </p:txBody>
      </p:sp>
      <p:sp>
        <p:nvSpPr>
          <p:cNvPr id="18" name="Text 16"/>
          <p:cNvSpPr txBox="1"/>
          <p:nvPr/>
        </p:nvSpPr>
        <p:spPr>
          <a:xfrm>
            <a:off x="6096305" y="3435096"/>
            <a:ext cx="914400" cy="67360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36%</a:t>
            </a:r>
            <a:endParaRPr lang="en-US" sz="2200" dirty="0"/>
          </a:p>
        </p:txBody>
      </p:sp>
      <p:sp>
        <p:nvSpPr>
          <p:cNvPr id="19" name="Shape 17"/>
          <p:cNvSpPr/>
          <p:nvPr/>
        </p:nvSpPr>
        <p:spPr>
          <a:xfrm>
            <a:off x="7056425" y="3489960"/>
            <a:ext cx="0" cy="545592"/>
          </a:xfrm>
          <a:prstGeom prst="line">
            <a:avLst/>
          </a:prstGeom>
          <a:noFill/>
          <a:ln w="15875">
            <a:solidFill>
              <a:srgbClr val="D0D0CE"/>
            </a:solidFill>
            <a:prstDash val="solid"/>
          </a:ln>
        </p:spPr>
      </p:sp>
      <p:sp>
        <p:nvSpPr>
          <p:cNvPr id="20" name="Text 18"/>
          <p:cNvSpPr txBox="1"/>
          <p:nvPr/>
        </p:nvSpPr>
        <p:spPr>
          <a:xfrm>
            <a:off x="7239305" y="3435096"/>
            <a:ext cx="4314139" cy="67360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Insufficient budget or resources</a:t>
            </a:r>
            <a:endParaRPr lang="en-US" sz="1000" dirty="0"/>
          </a:p>
        </p:txBody>
      </p:sp>
      <p:sp>
        <p:nvSpPr>
          <p:cNvPr id="21" name="Text 19"/>
          <p:cNvSpPr txBox="1"/>
          <p:nvPr/>
        </p:nvSpPr>
        <p:spPr>
          <a:xfrm>
            <a:off x="502006" y="4181856"/>
            <a:ext cx="914400" cy="67360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27%</a:t>
            </a:r>
            <a:endParaRPr lang="en-US" sz="2200" dirty="0"/>
          </a:p>
        </p:txBody>
      </p:sp>
      <p:sp>
        <p:nvSpPr>
          <p:cNvPr id="22" name="Shape 20"/>
          <p:cNvSpPr/>
          <p:nvPr/>
        </p:nvSpPr>
        <p:spPr>
          <a:xfrm>
            <a:off x="1462126" y="4236720"/>
            <a:ext cx="0" cy="545592"/>
          </a:xfrm>
          <a:prstGeom prst="line">
            <a:avLst/>
          </a:prstGeom>
          <a:noFill/>
          <a:ln w="15875">
            <a:solidFill>
              <a:srgbClr val="D0D0CE"/>
            </a:solidFill>
            <a:prstDash val="solid"/>
          </a:ln>
        </p:spPr>
      </p:sp>
      <p:sp>
        <p:nvSpPr>
          <p:cNvPr id="23" name="Text 21"/>
          <p:cNvSpPr txBox="1"/>
          <p:nvPr/>
        </p:nvSpPr>
        <p:spPr>
          <a:xfrm>
            <a:off x="1645006" y="4181856"/>
            <a:ext cx="4314139" cy="67360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Difficulty demonstrating ROI</a:t>
            </a:r>
            <a:endParaRPr lang="en-US" sz="1000" dirty="0"/>
          </a:p>
        </p:txBody>
      </p:sp>
      <p:sp>
        <p:nvSpPr>
          <p:cNvPr id="24" name="Text 22"/>
          <p:cNvSpPr txBox="1"/>
          <p:nvPr/>
        </p:nvSpPr>
        <p:spPr>
          <a:xfrm>
            <a:off x="6096305" y="4181856"/>
            <a:ext cx="914400" cy="67360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26%</a:t>
            </a:r>
            <a:endParaRPr lang="en-US" sz="2200" dirty="0"/>
          </a:p>
        </p:txBody>
      </p:sp>
      <p:sp>
        <p:nvSpPr>
          <p:cNvPr id="25" name="Shape 23"/>
          <p:cNvSpPr/>
          <p:nvPr/>
        </p:nvSpPr>
        <p:spPr>
          <a:xfrm>
            <a:off x="7056425" y="4236720"/>
            <a:ext cx="0" cy="545592"/>
          </a:xfrm>
          <a:prstGeom prst="line">
            <a:avLst/>
          </a:prstGeom>
          <a:noFill/>
          <a:ln w="15875">
            <a:solidFill>
              <a:srgbClr val="D0D0CE"/>
            </a:solidFill>
            <a:prstDash val="solid"/>
          </a:ln>
        </p:spPr>
      </p:sp>
      <p:sp>
        <p:nvSpPr>
          <p:cNvPr id="26" name="Text 24"/>
          <p:cNvSpPr txBox="1"/>
          <p:nvPr/>
        </p:nvSpPr>
        <p:spPr>
          <a:xfrm>
            <a:off x="7239305" y="4181856"/>
            <a:ext cx="4314139" cy="67360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Unclear internal ownership / governance</a:t>
            </a:r>
            <a:endParaRPr lang="en-US" sz="1000" dirty="0"/>
          </a:p>
        </p:txBody>
      </p:sp>
      <p:sp>
        <p:nvSpPr>
          <p:cNvPr id="27" name="Shape 25"/>
          <p:cNvSpPr/>
          <p:nvPr/>
        </p:nvSpPr>
        <p:spPr>
          <a:xfrm>
            <a:off x="502006" y="5303520"/>
            <a:ext cx="11188598" cy="0"/>
          </a:xfrm>
          <a:prstGeom prst="line">
            <a:avLst/>
          </a:prstGeom>
          <a:noFill/>
          <a:ln w="9525">
            <a:solidFill>
              <a:srgbClr val="D0D0CE"/>
            </a:solidFill>
            <a:prstDash val="solid"/>
          </a:ln>
        </p:spPr>
      </p:sp>
      <p:sp>
        <p:nvSpPr>
          <p:cNvPr id="28" name="Text 26"/>
          <p:cNvSpPr txBox="1"/>
          <p:nvPr/>
        </p:nvSpPr>
        <p:spPr>
          <a:xfrm>
            <a:off x="502006" y="5376672"/>
            <a:ext cx="11188598" cy="84124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figures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
        <p:nvSpPr>
          <p:cNvPr id="29" name="Text 27"/>
          <p:cNvSpPr txBox="1"/>
          <p:nvPr/>
        </p:nvSpPr>
        <p:spPr>
          <a:xfrm>
            <a:off x="502006" y="6236208"/>
            <a:ext cx="10731398" cy="201168"/>
          </a:xfrm>
          <a:prstGeom prst="rect">
            <a:avLst/>
          </a:prstGeom>
          <a:noFill/>
          <a:ln/>
        </p:spPr>
        <p:txBody>
          <a:bodyPr wrap="square" lIns="0" tIns="0" rIns="0" bIns="0" rtlCol="0" anchor="ctr"/>
          <a:lstStyle/>
          <a:p>
            <a:pPr algn="l" indent="0" marL="0">
              <a:buNone/>
            </a:pPr>
            <a:r>
              <a:rPr lang="en-US" sz="750" i="1" dirty="0">
                <a:solidFill>
                  <a:srgbClr val="53565A"/>
                </a:solidFill>
                <a:latin typeface="Calibri" pitchFamily="34" charset="0"/>
                <a:ea typeface="Calibri" pitchFamily="34" charset="-122"/>
                <a:cs typeface="Calibri" pitchFamily="34" charset="-120"/>
              </a:rPr>
              <a:t>¹ EBAday 2026 survey, reported by Finextra.</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02   FRAUD INFORMATION SHARING</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The fix leaders want isn't just new rules — it's shared infrastructure government can help build and operate.</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8" name="Text 6"/>
          <p:cNvSpPr txBox="1"/>
          <p:nvPr/>
        </p:nvSpPr>
        <p:spPr>
          <a:xfrm>
            <a:off x="502006" y="2066544"/>
            <a:ext cx="11188598" cy="457200"/>
          </a:xfrm>
          <a:prstGeom prst="rect">
            <a:avLst/>
          </a:prstGeom>
          <a:noFill/>
          <a:ln/>
        </p:spPr>
        <p:txBody>
          <a:bodyPr wrap="square" lIns="0" tIns="0" rIns="0" bIns="0" rtlCol="0" anchor="t"/>
          <a:lstStyle/>
          <a:p>
            <a:pPr algn="l" indent="0" marL="0">
              <a:lnSpc>
                <a:spcPct val="118000"/>
              </a:lnSpc>
              <a:buNone/>
            </a:pPr>
            <a:r>
              <a:rPr lang="en-US" sz="1100" dirty="0">
                <a:solidFill>
                  <a:srgbClr val="53565A"/>
                </a:solidFill>
                <a:latin typeface="Calibri" pitchFamily="34" charset="0"/>
                <a:ea typeface="Calibri" pitchFamily="34" charset="-122"/>
                <a:cs typeface="Calibri" pitchFamily="34" charset="-120"/>
              </a:rPr>
              <a:t>A centralized fraud information-sharing platform or utility is the single most-cited action — ahead of clearer legal frameworks. Beyond policy-setting, leaders are asking government to take an active operating role in making collaboration possible.</a:t>
            </a:r>
            <a:endParaRPr lang="en-US" sz="1100" dirty="0"/>
          </a:p>
        </p:txBody>
      </p:sp>
      <p:sp>
        <p:nvSpPr>
          <p:cNvPr id="9" name="Text 7"/>
          <p:cNvSpPr txBox="1"/>
          <p:nvPr/>
        </p:nvSpPr>
        <p:spPr>
          <a:xfrm>
            <a:off x="502006" y="2596896"/>
            <a:ext cx="914400" cy="70408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35%</a:t>
            </a:r>
            <a:endParaRPr lang="en-US" sz="2200" dirty="0"/>
          </a:p>
        </p:txBody>
      </p:sp>
      <p:sp>
        <p:nvSpPr>
          <p:cNvPr id="10" name="Shape 8"/>
          <p:cNvSpPr/>
          <p:nvPr/>
        </p:nvSpPr>
        <p:spPr>
          <a:xfrm>
            <a:off x="1462126" y="2651760"/>
            <a:ext cx="0" cy="576072"/>
          </a:xfrm>
          <a:prstGeom prst="line">
            <a:avLst/>
          </a:prstGeom>
          <a:noFill/>
          <a:ln w="15875">
            <a:solidFill>
              <a:srgbClr val="D0D0CE"/>
            </a:solidFill>
            <a:prstDash val="solid"/>
          </a:ln>
        </p:spPr>
      </p:sp>
      <p:sp>
        <p:nvSpPr>
          <p:cNvPr id="11" name="Text 9"/>
          <p:cNvSpPr txBox="1"/>
          <p:nvPr/>
        </p:nvSpPr>
        <p:spPr>
          <a:xfrm>
            <a:off x="1645006" y="2596896"/>
            <a:ext cx="4314139" cy="70408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Centralized fraud info-sharing platform / utility</a:t>
            </a:r>
            <a:endParaRPr lang="en-US" sz="1000" dirty="0"/>
          </a:p>
        </p:txBody>
      </p:sp>
      <p:sp>
        <p:nvSpPr>
          <p:cNvPr id="12" name="Text 10"/>
          <p:cNvSpPr txBox="1"/>
          <p:nvPr/>
        </p:nvSpPr>
        <p:spPr>
          <a:xfrm>
            <a:off x="6096305" y="2596896"/>
            <a:ext cx="914400" cy="70408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26%</a:t>
            </a:r>
            <a:endParaRPr lang="en-US" sz="2200" dirty="0"/>
          </a:p>
        </p:txBody>
      </p:sp>
      <p:sp>
        <p:nvSpPr>
          <p:cNvPr id="13" name="Shape 11"/>
          <p:cNvSpPr/>
          <p:nvPr/>
        </p:nvSpPr>
        <p:spPr>
          <a:xfrm>
            <a:off x="7056425" y="2651760"/>
            <a:ext cx="0" cy="576072"/>
          </a:xfrm>
          <a:prstGeom prst="line">
            <a:avLst/>
          </a:prstGeom>
          <a:noFill/>
          <a:ln w="15875">
            <a:solidFill>
              <a:srgbClr val="D0D0CE"/>
            </a:solidFill>
            <a:prstDash val="solid"/>
          </a:ln>
        </p:spPr>
      </p:sp>
      <p:sp>
        <p:nvSpPr>
          <p:cNvPr id="14" name="Text 12"/>
          <p:cNvSpPr txBox="1"/>
          <p:nvPr/>
        </p:nvSpPr>
        <p:spPr>
          <a:xfrm>
            <a:off x="7239305" y="2596896"/>
            <a:ext cx="4314139" cy="70408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Clearer legal &amp; regulatory frameworks</a:t>
            </a:r>
            <a:endParaRPr lang="en-US" sz="1000" dirty="0"/>
          </a:p>
        </p:txBody>
      </p:sp>
      <p:sp>
        <p:nvSpPr>
          <p:cNvPr id="15" name="Text 13"/>
          <p:cNvSpPr txBox="1"/>
          <p:nvPr/>
        </p:nvSpPr>
        <p:spPr>
          <a:xfrm>
            <a:off x="502006" y="3374136"/>
            <a:ext cx="914400" cy="70408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14%</a:t>
            </a:r>
            <a:endParaRPr lang="en-US" sz="2200" dirty="0"/>
          </a:p>
        </p:txBody>
      </p:sp>
      <p:sp>
        <p:nvSpPr>
          <p:cNvPr id="16" name="Shape 14"/>
          <p:cNvSpPr/>
          <p:nvPr/>
        </p:nvSpPr>
        <p:spPr>
          <a:xfrm>
            <a:off x="1462126" y="3429000"/>
            <a:ext cx="0" cy="576072"/>
          </a:xfrm>
          <a:prstGeom prst="line">
            <a:avLst/>
          </a:prstGeom>
          <a:noFill/>
          <a:ln w="15875">
            <a:solidFill>
              <a:srgbClr val="D0D0CE"/>
            </a:solidFill>
            <a:prstDash val="solid"/>
          </a:ln>
        </p:spPr>
      </p:sp>
      <p:sp>
        <p:nvSpPr>
          <p:cNvPr id="17" name="Text 15"/>
          <p:cNvSpPr txBox="1"/>
          <p:nvPr/>
        </p:nvSpPr>
        <p:spPr>
          <a:xfrm>
            <a:off x="1645006" y="3374136"/>
            <a:ext cx="4314139" cy="70408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Common data standards &amp; definitions</a:t>
            </a:r>
            <a:endParaRPr lang="en-US" sz="1000" dirty="0"/>
          </a:p>
        </p:txBody>
      </p:sp>
      <p:sp>
        <p:nvSpPr>
          <p:cNvPr id="18" name="Text 16"/>
          <p:cNvSpPr txBox="1"/>
          <p:nvPr/>
        </p:nvSpPr>
        <p:spPr>
          <a:xfrm>
            <a:off x="6096305" y="3374136"/>
            <a:ext cx="914400" cy="70408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13%</a:t>
            </a:r>
            <a:endParaRPr lang="en-US" sz="2200" dirty="0"/>
          </a:p>
        </p:txBody>
      </p:sp>
      <p:sp>
        <p:nvSpPr>
          <p:cNvPr id="19" name="Shape 17"/>
          <p:cNvSpPr/>
          <p:nvPr/>
        </p:nvSpPr>
        <p:spPr>
          <a:xfrm>
            <a:off x="7056425" y="3429000"/>
            <a:ext cx="0" cy="576072"/>
          </a:xfrm>
          <a:prstGeom prst="line">
            <a:avLst/>
          </a:prstGeom>
          <a:noFill/>
          <a:ln w="15875">
            <a:solidFill>
              <a:srgbClr val="D0D0CE"/>
            </a:solidFill>
            <a:prstDash val="solid"/>
          </a:ln>
        </p:spPr>
      </p:sp>
      <p:sp>
        <p:nvSpPr>
          <p:cNvPr id="20" name="Text 18"/>
          <p:cNvSpPr txBox="1"/>
          <p:nvPr/>
        </p:nvSpPr>
        <p:spPr>
          <a:xfrm>
            <a:off x="7239305" y="3374136"/>
            <a:ext cx="4314139" cy="70408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Greater public-private collaboration</a:t>
            </a:r>
            <a:endParaRPr lang="en-US" sz="1000" dirty="0"/>
          </a:p>
        </p:txBody>
      </p:sp>
      <p:sp>
        <p:nvSpPr>
          <p:cNvPr id="21" name="Text 19"/>
          <p:cNvSpPr txBox="1"/>
          <p:nvPr/>
        </p:nvSpPr>
        <p:spPr>
          <a:xfrm>
            <a:off x="502006" y="4151376"/>
            <a:ext cx="914400" cy="70408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9%</a:t>
            </a:r>
            <a:endParaRPr lang="en-US" sz="2200" dirty="0"/>
          </a:p>
        </p:txBody>
      </p:sp>
      <p:sp>
        <p:nvSpPr>
          <p:cNvPr id="22" name="Shape 20"/>
          <p:cNvSpPr/>
          <p:nvPr/>
        </p:nvSpPr>
        <p:spPr>
          <a:xfrm>
            <a:off x="1462126" y="4206240"/>
            <a:ext cx="0" cy="576072"/>
          </a:xfrm>
          <a:prstGeom prst="line">
            <a:avLst/>
          </a:prstGeom>
          <a:noFill/>
          <a:ln w="15875">
            <a:solidFill>
              <a:srgbClr val="D0D0CE"/>
            </a:solidFill>
            <a:prstDash val="solid"/>
          </a:ln>
        </p:spPr>
      </p:sp>
      <p:sp>
        <p:nvSpPr>
          <p:cNvPr id="23" name="Text 21"/>
          <p:cNvSpPr txBox="1"/>
          <p:nvPr/>
        </p:nvSpPr>
        <p:spPr>
          <a:xfrm>
            <a:off x="1645006" y="4151376"/>
            <a:ext cx="4314139" cy="70408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Prioritized industry use cases</a:t>
            </a:r>
            <a:endParaRPr lang="en-US" sz="1000" dirty="0"/>
          </a:p>
        </p:txBody>
      </p:sp>
      <p:sp>
        <p:nvSpPr>
          <p:cNvPr id="24" name="Text 22"/>
          <p:cNvSpPr txBox="1"/>
          <p:nvPr/>
        </p:nvSpPr>
        <p:spPr>
          <a:xfrm>
            <a:off x="6096305" y="4151376"/>
            <a:ext cx="914400" cy="704088"/>
          </a:xfrm>
          <a:prstGeom prst="rect">
            <a:avLst/>
          </a:prstGeom>
          <a:noFill/>
          <a:ln/>
        </p:spPr>
        <p:txBody>
          <a:bodyPr wrap="square" lIns="0" tIns="0" rIns="0" bIns="0" rtlCol="0" anchor="ctr"/>
          <a:lstStyle/>
          <a:p>
            <a:pPr algn="l" indent="0" marL="0">
              <a:buNone/>
            </a:pPr>
            <a:r>
              <a:rPr lang="en-US" sz="2200" b="1" i="1" dirty="0">
                <a:solidFill>
                  <a:srgbClr val="046A38"/>
                </a:solidFill>
                <a:latin typeface="Calibri" pitchFamily="34" charset="0"/>
                <a:ea typeface="Calibri" pitchFamily="34" charset="-122"/>
                <a:cs typeface="Calibri" pitchFamily="34" charset="-120"/>
              </a:rPr>
              <a:t>3%</a:t>
            </a:r>
            <a:endParaRPr lang="en-US" sz="2200" dirty="0"/>
          </a:p>
        </p:txBody>
      </p:sp>
      <p:sp>
        <p:nvSpPr>
          <p:cNvPr id="25" name="Shape 23"/>
          <p:cNvSpPr/>
          <p:nvPr/>
        </p:nvSpPr>
        <p:spPr>
          <a:xfrm>
            <a:off x="7056425" y="4206240"/>
            <a:ext cx="0" cy="576072"/>
          </a:xfrm>
          <a:prstGeom prst="line">
            <a:avLst/>
          </a:prstGeom>
          <a:noFill/>
          <a:ln w="15875">
            <a:solidFill>
              <a:srgbClr val="D0D0CE"/>
            </a:solidFill>
            <a:prstDash val="solid"/>
          </a:ln>
        </p:spPr>
      </p:sp>
      <p:sp>
        <p:nvSpPr>
          <p:cNvPr id="26" name="Text 24"/>
          <p:cNvSpPr txBox="1"/>
          <p:nvPr/>
        </p:nvSpPr>
        <p:spPr>
          <a:xfrm>
            <a:off x="7239305" y="4151376"/>
            <a:ext cx="4314139" cy="704088"/>
          </a:xfrm>
          <a:prstGeom prst="rect">
            <a:avLst/>
          </a:prstGeom>
          <a:noFill/>
          <a:ln/>
        </p:spPr>
        <p:txBody>
          <a:bodyPr wrap="square" lIns="0" tIns="0" rIns="0" bIns="0" rtlCol="0" anchor="ctr"/>
          <a:lstStyle/>
          <a:p>
            <a:pPr indent="0" marL="0">
              <a:lnSpc>
                <a:spcPct val="105000"/>
              </a:lnSpc>
              <a:buNone/>
            </a:pPr>
            <a:r>
              <a:rPr lang="en-US" sz="1000" dirty="0">
                <a:solidFill>
                  <a:srgbClr val="000000"/>
                </a:solidFill>
                <a:latin typeface="Calibri" pitchFamily="34" charset="0"/>
                <a:ea typeface="Calibri" pitchFamily="34" charset="-122"/>
                <a:cs typeface="Calibri" pitchFamily="34" charset="-120"/>
              </a:rPr>
              <a:t>Funding or incentives</a:t>
            </a:r>
            <a:endParaRPr lang="en-US" sz="1000" dirty="0"/>
          </a:p>
        </p:txBody>
      </p:sp>
      <p:sp>
        <p:nvSpPr>
          <p:cNvPr id="27" name="Shape 25"/>
          <p:cNvSpPr/>
          <p:nvPr/>
        </p:nvSpPr>
        <p:spPr>
          <a:xfrm>
            <a:off x="502006" y="5303520"/>
            <a:ext cx="11188598" cy="0"/>
          </a:xfrm>
          <a:prstGeom prst="line">
            <a:avLst/>
          </a:prstGeom>
          <a:noFill/>
          <a:ln w="9525">
            <a:solidFill>
              <a:srgbClr val="D0D0CE"/>
            </a:solidFill>
            <a:prstDash val="solid"/>
          </a:ln>
        </p:spPr>
      </p:sp>
      <p:sp>
        <p:nvSpPr>
          <p:cNvPr id="28" name="Text 26"/>
          <p:cNvSpPr txBox="1"/>
          <p:nvPr/>
        </p:nvSpPr>
        <p:spPr>
          <a:xfrm>
            <a:off x="502006" y="5376672"/>
            <a:ext cx="11188598" cy="84124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914400"/>
            <a:ext cx="1828800" cy="365760"/>
          </a:xfrm>
          <a:prstGeom prst="rect">
            <a:avLst/>
          </a:prstGeom>
          <a:noFill/>
          <a:ln/>
        </p:spPr>
        <p:txBody>
          <a:bodyPr wrap="square" lIns="0" tIns="0" rIns="0" bIns="0" rtlCol="0" anchor="ctr"/>
          <a:lstStyle/>
          <a:p>
            <a:pPr indent="0" marL="0">
              <a:buNone/>
            </a:pPr>
            <a:r>
              <a:rPr lang="en-US" sz="1400" b="1" dirty="0">
                <a:solidFill>
                  <a:srgbClr val="86BC25"/>
                </a:solidFill>
                <a:latin typeface="IBM Plex Mono" pitchFamily="34" charset="0"/>
                <a:ea typeface="IBM Plex Mono" pitchFamily="34" charset="-122"/>
                <a:cs typeface="IBM Plex Mono" pitchFamily="34" charset="-120"/>
              </a:rPr>
              <a:t>03</a:t>
            </a:r>
            <a:endParaRPr lang="en-US" sz="1400" dirty="0"/>
          </a:p>
        </p:txBody>
      </p:sp>
      <p:sp>
        <p:nvSpPr>
          <p:cNvPr id="5" name="Text 3"/>
          <p:cNvSpPr txBox="1"/>
          <p:nvPr/>
        </p:nvSpPr>
        <p:spPr>
          <a:xfrm>
            <a:off x="502006" y="1298448"/>
            <a:ext cx="5577840" cy="777240"/>
          </a:xfrm>
          <a:prstGeom prst="rect">
            <a:avLst/>
          </a:prstGeom>
          <a:noFill/>
          <a:ln/>
        </p:spPr>
        <p:txBody>
          <a:bodyPr wrap="square" lIns="0" tIns="0" rIns="0" bIns="0" rtlCol="0" anchor="t"/>
          <a:lstStyle/>
          <a:p>
            <a:pPr algn="l" indent="0" marL="0">
              <a:lnSpc>
                <a:spcPct val="105000"/>
              </a:lnSpc>
              <a:buNone/>
            </a:pPr>
            <a:r>
              <a:rPr lang="en-US" sz="2800" b="1" dirty="0">
                <a:solidFill>
                  <a:srgbClr val="FFFFFF"/>
                </a:solidFill>
                <a:latin typeface="Calibri" pitchFamily="34" charset="0"/>
                <a:ea typeface="Calibri" pitchFamily="34" charset="-122"/>
                <a:cs typeface="Calibri" pitchFamily="34" charset="-120"/>
              </a:rPr>
              <a:t>Third-Party Fraud Risk</a:t>
            </a:r>
            <a:endParaRPr lang="en-US" sz="2800" dirty="0"/>
          </a:p>
        </p:txBody>
      </p:sp>
      <p:sp>
        <p:nvSpPr>
          <p:cNvPr id="6" name="Text 4"/>
          <p:cNvSpPr txBox="1"/>
          <p:nvPr/>
        </p:nvSpPr>
        <p:spPr>
          <a:xfrm>
            <a:off x="502006" y="2240280"/>
            <a:ext cx="5532120" cy="2103120"/>
          </a:xfrm>
          <a:prstGeom prst="rect">
            <a:avLst/>
          </a:prstGeom>
          <a:noFill/>
          <a:ln/>
        </p:spPr>
        <p:txBody>
          <a:bodyPr wrap="square" lIns="0" tIns="0" rIns="0" bIns="0" rtlCol="0" anchor="t"/>
          <a:lstStyle/>
          <a:p>
            <a:pPr algn="l" indent="0" marL="0">
              <a:lnSpc>
                <a:spcPct val="130000"/>
              </a:lnSpc>
              <a:buNone/>
            </a:pPr>
            <a:r>
              <a:rPr lang="en-US" sz="1250" dirty="0">
                <a:solidFill>
                  <a:srgbClr val="D0D0CE"/>
                </a:solidFill>
                <a:latin typeface="Calibri" pitchFamily="34" charset="0"/>
                <a:ea typeface="Calibri" pitchFamily="34" charset="-122"/>
                <a:cs typeface="Calibri" pitchFamily="34" charset="-120"/>
              </a:rPr>
              <a:t>Shared infrastructure only goes so far when the exposure itself sits outside the organization's four walls — and that exposure is growing fastest at the edges of the ecosystem.</a:t>
            </a:r>
            <a:endParaRPr lang="en-US" sz="1250" dirty="0"/>
          </a:p>
        </p:txBody>
      </p:sp>
      <p:sp>
        <p:nvSpPr>
          <p:cNvPr id="7" name="Shape 5"/>
          <p:cNvSpPr/>
          <p:nvPr/>
        </p:nvSpPr>
        <p:spPr>
          <a:xfrm>
            <a:off x="6400800" y="2514600"/>
            <a:ext cx="457200" cy="457200"/>
          </a:xfrm>
          <a:prstGeom prst="ellipse">
            <a:avLst/>
          </a:prstGeom>
          <a:solidFill>
            <a:srgbClr val="0B1C14"/>
          </a:solidFill>
          <a:ln w="12700">
            <a:solidFill>
              <a:srgbClr val="86BC25"/>
            </a:solidFill>
            <a:prstDash val="solid"/>
          </a:ln>
        </p:spPr>
      </p:sp>
      <p:sp>
        <p:nvSpPr>
          <p:cNvPr id="8" name="Text 6"/>
          <p:cNvSpPr txBox="1"/>
          <p:nvPr/>
        </p:nvSpPr>
        <p:spPr>
          <a:xfrm>
            <a:off x="6400800" y="2441448"/>
            <a:ext cx="457200" cy="457200"/>
          </a:xfrm>
          <a:prstGeom prst="rect">
            <a:avLst/>
          </a:prstGeom>
          <a:noFill/>
          <a:ln/>
        </p:spPr>
        <p:txBody>
          <a:bodyPr wrap="square" lIns="0" tIns="0" rIns="0" bIns="0" rtlCol="0" anchor="ctr"/>
          <a:lstStyle/>
          <a:p>
            <a:pPr algn="ctr" indent="0" marL="0">
              <a:buNone/>
            </a:pPr>
            <a:r>
              <a:rPr lang="en-US" sz="2200" b="1" dirty="0">
                <a:solidFill>
                  <a:srgbClr val="86BC25"/>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6446520" y="2788920"/>
            <a:ext cx="5239512" cy="2514600"/>
          </a:xfrm>
          <a:prstGeom prst="rect">
            <a:avLst/>
          </a:prstGeom>
          <a:ln w="12700">
            <a:solidFill>
              <a:srgbClr val="D0D0CE"/>
            </a:solidFill>
            <a:prstDash val="solid"/>
          </a:ln>
        </p:spPr>
      </p:sp>
      <p:sp>
        <p:nvSpPr>
          <p:cNvPr id="10" name="Text 8"/>
          <p:cNvSpPr txBox="1"/>
          <p:nvPr/>
        </p:nvSpPr>
        <p:spPr>
          <a:xfrm>
            <a:off x="6720840" y="3017520"/>
            <a:ext cx="4690872" cy="1737360"/>
          </a:xfrm>
          <a:prstGeom prst="rect">
            <a:avLst/>
          </a:prstGeom>
          <a:noFill/>
          <a:ln/>
        </p:spPr>
        <p:txBody>
          <a:bodyPr wrap="square" lIns="0" tIns="0" rIns="0" bIns="0" rtlCol="0" anchor="t"/>
          <a:lstStyle/>
          <a:p>
            <a:pPr algn="l" indent="0" marL="0">
              <a:lnSpc>
                <a:spcPct val="124000"/>
              </a:lnSpc>
              <a:buNone/>
            </a:pPr>
            <a:r>
              <a:rPr lang="en-US" sz="1350" i="1" dirty="0">
                <a:solidFill>
                  <a:srgbClr val="FFFFFF"/>
                </a:solidFill>
                <a:latin typeface="Calibri" pitchFamily="34" charset="0"/>
                <a:ea typeface="Calibri" pitchFamily="34" charset="-122"/>
                <a:cs typeface="Calibri" pitchFamily="34" charset="-120"/>
              </a:rPr>
              <a:t>Owning the fraud risk intelligence as much in-house as possible — the intelligence today is spread across multiple solutions, vendors, and platforms.</a:t>
            </a:r>
            <a:endParaRPr lang="en-US" sz="1350" dirty="0"/>
          </a:p>
        </p:txBody>
      </p:sp>
      <p:sp>
        <p:nvSpPr>
          <p:cNvPr id="11" name="Text 9"/>
          <p:cNvSpPr txBox="1"/>
          <p:nvPr/>
        </p:nvSpPr>
        <p:spPr>
          <a:xfrm>
            <a:off x="6720840" y="4846320"/>
            <a:ext cx="4690872" cy="320040"/>
          </a:xfrm>
          <a:prstGeom prst="rect">
            <a:avLst/>
          </a:prstGeom>
          <a:noFill/>
          <a:ln/>
        </p:spPr>
        <p:txBody>
          <a:bodyPr wrap="square" lIns="0" tIns="0" rIns="0" bIns="0" rtlCol="0" anchor="ctr"/>
          <a:lstStyle/>
          <a:p>
            <a:pPr algn="l" indent="0" marL="0">
              <a:buNone/>
            </a:pPr>
            <a:r>
              <a:rPr lang="en-US" sz="1050" i="1" dirty="0">
                <a:solidFill>
                  <a:srgbClr val="D0D0CE"/>
                </a:solidFill>
                <a:latin typeface="Calibri" pitchFamily="34" charset="0"/>
                <a:ea typeface="Calibri" pitchFamily="34" charset="-122"/>
                <a:cs typeface="Calibri" pitchFamily="34" charset="-120"/>
              </a:rPr>
              <a:t>C-LEVEL · BANKING</a:t>
            </a:r>
            <a:endParaRPr lang="en-US" sz="1050" dirty="0"/>
          </a:p>
        </p:txBody>
      </p:sp>
      <p:sp>
        <p:nvSpPr>
          <p:cNvPr id="12" name="Text 10"/>
          <p:cNvSpPr txBox="1"/>
          <p:nvPr/>
        </p:nvSpPr>
        <p:spPr>
          <a:xfrm>
            <a:off x="6720840" y="5394960"/>
            <a:ext cx="4690872" cy="228600"/>
          </a:xfrm>
          <a:prstGeom prst="rect">
            <a:avLst/>
          </a:prstGeom>
          <a:noFill/>
          <a:ln/>
        </p:spPr>
        <p:txBody>
          <a:bodyPr wrap="square" lIns="0" tIns="0" rIns="0" bIns="0" rtlCol="0" anchor="ctr"/>
          <a:lstStyle/>
          <a:p>
            <a:pPr indent="0" marL="0">
              <a:buNone/>
            </a:pPr>
            <a:r>
              <a:rPr lang="en-US" sz="800" i="1" dirty="0">
                <a:solidFill>
                  <a:srgbClr val="53565A"/>
                </a:solidFill>
                <a:latin typeface="Calibri" pitchFamily="34" charset="0"/>
                <a:ea typeface="Calibri" pitchFamily="34" charset="-122"/>
                <a:cs typeface="Calibri" pitchFamily="34" charset="-120"/>
              </a:rPr>
              <a:t>From the survey's open-ended question, in the respondent's own words.</a:t>
            </a:r>
            <a:endParaRPr lang="en-US" sz="800" dirty="0"/>
          </a:p>
        </p:txBody>
      </p:sp>
      <p:sp>
        <p:nvSpPr>
          <p:cNvPr id="13" name="Text 1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03   THIRD-PARTY FRAUD RISK</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Third-party ecosystems are expanding faster than oversight models can keep up.</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02006" y="1600200"/>
            <a:ext cx="11188598" cy="365760"/>
          </a:xfrm>
          <a:prstGeom prst="rect">
            <a:avLst/>
          </a:prstGeom>
          <a:noFill/>
          <a:ln/>
        </p:spPr>
        <p:txBody>
          <a:bodyPr wrap="square" lIns="0" tIns="0" rIns="0" bIns="0" rtlCol="0" anchor="t"/>
          <a:lstStyle/>
          <a:p>
            <a:pPr algn="l" indent="0" marL="0">
              <a:lnSpc>
                <a:spcPct val="118000"/>
              </a:lnSpc>
              <a:buNone/>
            </a:pPr>
            <a:r>
              <a:rPr lang="en-US" sz="1100" dirty="0">
                <a:solidFill>
                  <a:srgbClr val="53565A"/>
                </a:solidFill>
                <a:latin typeface="Calibri" pitchFamily="34" charset="0"/>
                <a:ea typeface="Calibri" pitchFamily="34" charset="-122"/>
                <a:cs typeface="Calibri" pitchFamily="34" charset="-120"/>
              </a:rPr>
              <a:t>Both sectors already name an external partner as their single greatest fraud exposure. Three shifts explain why that risk is accelerating now:</a:t>
            </a:r>
            <a:endParaRPr lang="en-US" sz="1100" dirty="0"/>
          </a:p>
        </p:txBody>
      </p:sp>
      <p:sp>
        <p:nvSpPr>
          <p:cNvPr id="7" name="Shape 5"/>
          <p:cNvSpPr/>
          <p:nvPr/>
        </p:nvSpPr>
        <p:spPr>
          <a:xfrm>
            <a:off x="502006" y="2148840"/>
            <a:ext cx="91440" cy="621792"/>
          </a:xfrm>
          <a:prstGeom prst="rect">
            <a:avLst/>
          </a:prstGeom>
          <a:solidFill>
            <a:srgbClr val="86BC25"/>
          </a:solidFill>
          <a:ln/>
        </p:spPr>
      </p:sp>
      <p:sp>
        <p:nvSpPr>
          <p:cNvPr id="8" name="Text 6"/>
          <p:cNvSpPr txBox="1"/>
          <p:nvPr/>
        </p:nvSpPr>
        <p:spPr>
          <a:xfrm>
            <a:off x="721462" y="2103120"/>
            <a:ext cx="10969142" cy="731520"/>
          </a:xfrm>
          <a:prstGeom prst="rect">
            <a:avLst/>
          </a:prstGeom>
          <a:noFill/>
          <a:ln/>
        </p:spPr>
        <p:txBody>
          <a:bodyPr wrap="square" lIns="0" tIns="0" rIns="0" bIns="0" rtlCol="0" anchor="t"/>
          <a:lstStyle/>
          <a:p>
            <a:pPr algn="l" indent="0" marL="0">
              <a:lnSpc>
                <a:spcPct val="114000"/>
              </a:lnSpc>
              <a:buNone/>
            </a:pPr>
            <a:r>
              <a:rPr lang="en-US" sz="1200" b="1" dirty="0">
                <a:solidFill>
                  <a:srgbClr val="000000"/>
                </a:solidFill>
                <a:latin typeface="Calibri" pitchFamily="34" charset="0"/>
                <a:ea typeface="Calibri" pitchFamily="34" charset="-122"/>
                <a:cs typeface="Calibri" pitchFamily="34" charset="-120"/>
              </a:rPr>
              <a:t>Agentic commerce is scaling fast.  </a:t>
            </a:r>
            <a:pPr algn="l" indent="0" marL="0">
              <a:lnSpc>
                <a:spcPct val="114000"/>
              </a:lnSpc>
              <a:buNone/>
            </a:pPr>
            <a:r>
              <a:rPr lang="en-US" sz="1200" dirty="0">
                <a:solidFill>
                  <a:srgbClr val="53565A"/>
                </a:solidFill>
                <a:latin typeface="Calibri" pitchFamily="34" charset="0"/>
                <a:ea typeface="Calibri" pitchFamily="34" charset="-122"/>
                <a:cs typeface="Calibri" pitchFamily="34" charset="-120"/>
              </a:rPr>
              <a:t>Agentic transaction traffic rose roughly 450% in 2025, with 63% of merchants now exploring agentic payments — a fast-growing surface with few established controls.¹</a:t>
            </a:r>
            <a:endParaRPr lang="en-US" sz="1200" dirty="0"/>
          </a:p>
        </p:txBody>
      </p:sp>
      <p:sp>
        <p:nvSpPr>
          <p:cNvPr id="9" name="Shape 7"/>
          <p:cNvSpPr/>
          <p:nvPr/>
        </p:nvSpPr>
        <p:spPr>
          <a:xfrm>
            <a:off x="502006" y="2971800"/>
            <a:ext cx="91440" cy="621792"/>
          </a:xfrm>
          <a:prstGeom prst="rect">
            <a:avLst/>
          </a:prstGeom>
          <a:solidFill>
            <a:srgbClr val="86BC25"/>
          </a:solidFill>
          <a:ln/>
        </p:spPr>
      </p:sp>
      <p:sp>
        <p:nvSpPr>
          <p:cNvPr id="10" name="Text 8"/>
          <p:cNvSpPr txBox="1"/>
          <p:nvPr/>
        </p:nvSpPr>
        <p:spPr>
          <a:xfrm>
            <a:off x="721462" y="2926080"/>
            <a:ext cx="10969142" cy="731520"/>
          </a:xfrm>
          <a:prstGeom prst="rect">
            <a:avLst/>
          </a:prstGeom>
          <a:noFill/>
          <a:ln/>
        </p:spPr>
        <p:txBody>
          <a:bodyPr wrap="square" lIns="0" tIns="0" rIns="0" bIns="0" rtlCol="0" anchor="t"/>
          <a:lstStyle/>
          <a:p>
            <a:pPr algn="l" indent="0" marL="0">
              <a:lnSpc>
                <a:spcPct val="114000"/>
              </a:lnSpc>
              <a:buNone/>
            </a:pPr>
            <a:r>
              <a:rPr lang="en-US" sz="1200" b="1" dirty="0">
                <a:solidFill>
                  <a:srgbClr val="000000"/>
                </a:solidFill>
                <a:latin typeface="Calibri" pitchFamily="34" charset="0"/>
                <a:ea typeface="Calibri" pitchFamily="34" charset="-122"/>
                <a:cs typeface="Calibri" pitchFamily="34" charset="-120"/>
              </a:rPr>
              <a:t>Vendor ecosystems are fragmented.  </a:t>
            </a:r>
            <a:pPr algn="l" indent="0" marL="0">
              <a:lnSpc>
                <a:spcPct val="114000"/>
              </a:lnSpc>
              <a:buNone/>
            </a:pPr>
            <a:r>
              <a:rPr lang="en-US" sz="1200" dirty="0">
                <a:solidFill>
                  <a:srgbClr val="53565A"/>
                </a:solidFill>
                <a:latin typeface="Calibri" pitchFamily="34" charset="0"/>
                <a:ea typeface="Calibri" pitchFamily="34" charset="-122"/>
                <a:cs typeface="Calibri" pitchFamily="34" charset="-120"/>
              </a:rPr>
              <a:t>Fintech partners, claims vendors, brokers, and service providers each represent a separate point of entry, often governed by inconsistent standards.</a:t>
            </a:r>
            <a:endParaRPr lang="en-US" sz="1200" dirty="0"/>
          </a:p>
        </p:txBody>
      </p:sp>
      <p:sp>
        <p:nvSpPr>
          <p:cNvPr id="11" name="Shape 9"/>
          <p:cNvSpPr/>
          <p:nvPr/>
        </p:nvSpPr>
        <p:spPr>
          <a:xfrm>
            <a:off x="502006" y="3794760"/>
            <a:ext cx="91440" cy="621792"/>
          </a:xfrm>
          <a:prstGeom prst="rect">
            <a:avLst/>
          </a:prstGeom>
          <a:solidFill>
            <a:srgbClr val="86BC25"/>
          </a:solidFill>
          <a:ln/>
        </p:spPr>
      </p:sp>
      <p:sp>
        <p:nvSpPr>
          <p:cNvPr id="12" name="Text 10"/>
          <p:cNvSpPr txBox="1"/>
          <p:nvPr/>
        </p:nvSpPr>
        <p:spPr>
          <a:xfrm>
            <a:off x="721462" y="3749040"/>
            <a:ext cx="10969142" cy="731520"/>
          </a:xfrm>
          <a:prstGeom prst="rect">
            <a:avLst/>
          </a:prstGeom>
          <a:noFill/>
          <a:ln/>
        </p:spPr>
        <p:txBody>
          <a:bodyPr wrap="square" lIns="0" tIns="0" rIns="0" bIns="0" rtlCol="0" anchor="t"/>
          <a:lstStyle/>
          <a:p>
            <a:pPr algn="l" indent="0" marL="0">
              <a:lnSpc>
                <a:spcPct val="114000"/>
              </a:lnSpc>
              <a:buNone/>
            </a:pPr>
            <a:r>
              <a:rPr lang="en-US" sz="1200" b="1" dirty="0">
                <a:solidFill>
                  <a:srgbClr val="000000"/>
                </a:solidFill>
                <a:latin typeface="Calibri" pitchFamily="34" charset="0"/>
                <a:ea typeface="Calibri" pitchFamily="34" charset="-122"/>
                <a:cs typeface="Calibri" pitchFamily="34" charset="-120"/>
              </a:rPr>
              <a:t>Oversight models are outdated.  </a:t>
            </a:r>
            <a:pPr algn="l" indent="0" marL="0">
              <a:lnSpc>
                <a:spcPct val="114000"/>
              </a:lnSpc>
              <a:buNone/>
            </a:pPr>
            <a:r>
              <a:rPr lang="en-US" sz="1200" dirty="0">
                <a:solidFill>
                  <a:srgbClr val="53565A"/>
                </a:solidFill>
                <a:latin typeface="Calibri" pitchFamily="34" charset="0"/>
                <a:ea typeface="Calibri" pitchFamily="34" charset="-122"/>
                <a:cs typeface="Calibri" pitchFamily="34" charset="-120"/>
              </a:rPr>
              <a:t>Traditional third-party risk frameworks weren't built for adaptive, AI-driven vendors and agents transacting on a customer's behalf.</a:t>
            </a:r>
            <a:endParaRPr lang="en-US" sz="1200" dirty="0"/>
          </a:p>
        </p:txBody>
      </p:sp>
      <p:sp>
        <p:nvSpPr>
          <p:cNvPr id="13" name="Shape 11"/>
          <p:cNvSpPr/>
          <p:nvPr/>
        </p:nvSpPr>
        <p:spPr>
          <a:xfrm>
            <a:off x="502006" y="4663440"/>
            <a:ext cx="11188598" cy="685800"/>
          </a:xfrm>
          <a:prstGeom prst="roundRect">
            <a:avLst>
              <a:gd name="adj" fmla="val 6667"/>
            </a:avLst>
          </a:prstGeom>
          <a:solidFill>
            <a:srgbClr val="F2F2F2"/>
          </a:solidFill>
          <a:ln/>
        </p:spPr>
      </p:sp>
      <p:sp>
        <p:nvSpPr>
          <p:cNvPr id="14" name="Text 12"/>
          <p:cNvSpPr txBox="1"/>
          <p:nvPr/>
        </p:nvSpPr>
        <p:spPr>
          <a:xfrm>
            <a:off x="666598" y="4663440"/>
            <a:ext cx="10859414" cy="685800"/>
          </a:xfrm>
          <a:prstGeom prst="rect">
            <a:avLst/>
          </a:prstGeom>
          <a:noFill/>
          <a:ln/>
        </p:spPr>
        <p:txBody>
          <a:bodyPr wrap="square" lIns="0" tIns="0" rIns="0" bIns="0" rtlCol="0" anchor="ctr"/>
          <a:lstStyle/>
          <a:p>
            <a:pPr indent="0" marL="0">
              <a:lnSpc>
                <a:spcPct val="115000"/>
              </a:lnSpc>
              <a:buNone/>
            </a:pPr>
            <a:r>
              <a:rPr lang="en-US" sz="1100" i="1" dirty="0">
                <a:solidFill>
                  <a:srgbClr val="53565A"/>
                </a:solidFill>
                <a:latin typeface="Calibri" pitchFamily="34" charset="0"/>
                <a:ea typeface="Calibri" pitchFamily="34" charset="-122"/>
                <a:cs typeface="Calibri" pitchFamily="34" charset="-120"/>
              </a:rPr>
              <a:t>The two sections that follow take each sector in turn: where the exposure concentrates, and which strategy fraud leaders trust most to reduce it.</a:t>
            </a:r>
            <a:endParaRPr lang="en-US" sz="1100" dirty="0"/>
          </a:p>
        </p:txBody>
      </p:sp>
      <p:sp>
        <p:nvSpPr>
          <p:cNvPr id="15" name="Text 13"/>
          <p:cNvSpPr txBox="1"/>
          <p:nvPr/>
        </p:nvSpPr>
        <p:spPr>
          <a:xfrm>
            <a:off x="502006" y="5486400"/>
            <a:ext cx="10731398" cy="201168"/>
          </a:xfrm>
          <a:prstGeom prst="rect">
            <a:avLst/>
          </a:prstGeom>
          <a:noFill/>
          <a:ln/>
        </p:spPr>
        <p:txBody>
          <a:bodyPr wrap="square" lIns="0" tIns="0" rIns="0" bIns="0" rtlCol="0" anchor="ctr"/>
          <a:lstStyle/>
          <a:p>
            <a:pPr algn="l" indent="0" marL="0">
              <a:buNone/>
            </a:pPr>
            <a:r>
              <a:rPr lang="en-US" sz="750" i="1" dirty="0">
                <a:solidFill>
                  <a:srgbClr val="53565A"/>
                </a:solidFill>
                <a:latin typeface="Calibri" pitchFamily="34" charset="0"/>
                <a:ea typeface="Calibri" pitchFamily="34" charset="-122"/>
                <a:cs typeface="Calibri" pitchFamily="34" charset="-120"/>
              </a:rPr>
              <a:t>¹ GR4VY and Merchant Risk Council (MRC), agentic commerce adoption data, 2025–2026.</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03   THIRD-PARTY FRAUD RISK</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For Banking, the exposure is fintech partners — and the fix leaders trust most is sharper intelligence sharing, not tighter gatekeeping.</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(Banking, n=75)”</a:t>
            </a:r>
            <a:endParaRPr lang="en-US" sz="1000" dirty="0"/>
          </a:p>
        </p:txBody>
      </p:sp>
      <p:graphicFrame>
        <p:nvGraphicFramePr>
          <p:cNvPr id="8" name="Chart 0" descr=""/>
          <p:cNvGraphicFramePr/>
          <p:nvPr/>
        </p:nvGraphicFramePr>
        <p:xfrm>
          <a:off x="502006" y="2112264"/>
          <a:ext cx="6949440" cy="21031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726680" y="2112264"/>
            <a:ext cx="3465576" cy="2103120"/>
          </a:xfrm>
          <a:prstGeom prst="roundRect">
            <a:avLst>
              <a:gd name="adj" fmla="val 2174"/>
            </a:avLst>
          </a:prstGeom>
          <a:solidFill>
            <a:srgbClr val="F2F2F2"/>
          </a:solidFill>
          <a:ln/>
        </p:spPr>
      </p:sp>
      <p:sp>
        <p:nvSpPr>
          <p:cNvPr id="10" name="Text 7"/>
          <p:cNvSpPr txBox="1"/>
          <p:nvPr/>
        </p:nvSpPr>
        <p:spPr>
          <a:xfrm>
            <a:off x="7872984" y="2185416"/>
            <a:ext cx="3172968" cy="182880"/>
          </a:xfrm>
          <a:prstGeom prst="rect">
            <a:avLst/>
          </a:prstGeom>
          <a:noFill/>
          <a:ln/>
        </p:spPr>
        <p:txBody>
          <a:bodyPr wrap="square" lIns="0" tIns="0" rIns="0" bIns="0" rtlCol="0" anchor="ctr"/>
          <a:lstStyle/>
          <a:p>
            <a:pPr indent="0" marL="0">
              <a:buNone/>
            </a:pPr>
            <a:r>
              <a:rPr lang="en-US" sz="800" b="1" dirty="0">
                <a:solidFill>
                  <a:srgbClr val="046A38"/>
                </a:solidFill>
                <a:latin typeface="Calibri" pitchFamily="34" charset="0"/>
                <a:ea typeface="Calibri" pitchFamily="34" charset="-122"/>
                <a:cs typeface="Calibri" pitchFamily="34" charset="-120"/>
              </a:rPr>
              <a:t>Q7 — TOP-RATED STRATEGY</a:t>
            </a:r>
            <a:endParaRPr lang="en-US" sz="800" dirty="0"/>
          </a:p>
        </p:txBody>
      </p:sp>
      <p:sp>
        <p:nvSpPr>
          <p:cNvPr id="11" name="Text 8"/>
          <p:cNvSpPr txBox="1"/>
          <p:nvPr/>
        </p:nvSpPr>
        <p:spPr>
          <a:xfrm>
            <a:off x="7872984" y="2386584"/>
            <a:ext cx="3172968" cy="476250"/>
          </a:xfrm>
          <a:prstGeom prst="rect">
            <a:avLst/>
          </a:prstGeom>
          <a:noFill/>
          <a:ln/>
        </p:spPr>
        <p:txBody>
          <a:bodyPr wrap="square" lIns="0" tIns="0" rIns="0" bIns="0" rtlCol="0" anchor="t"/>
          <a:lstStyle/>
          <a:p>
            <a:pPr indent="0" marL="0">
              <a:buNone/>
            </a:pPr>
            <a:r>
              <a:rPr lang="en-US" sz="3000" b="1" dirty="0">
                <a:solidFill>
                  <a:srgbClr val="046A38"/>
                </a:solidFill>
                <a:latin typeface="Calibri" pitchFamily="34" charset="0"/>
                <a:ea typeface="Calibri" pitchFamily="34" charset="-122"/>
                <a:cs typeface="Calibri" pitchFamily="34" charset="-120"/>
              </a:rPr>
              <a:t>33%</a:t>
            </a:r>
            <a:endParaRPr lang="en-US" sz="3000" dirty="0"/>
          </a:p>
        </p:txBody>
      </p:sp>
      <p:sp>
        <p:nvSpPr>
          <p:cNvPr id="12" name="Text 9"/>
          <p:cNvSpPr txBox="1"/>
          <p:nvPr/>
        </p:nvSpPr>
        <p:spPr>
          <a:xfrm>
            <a:off x="7872984" y="2881122"/>
            <a:ext cx="3172968" cy="1279398"/>
          </a:xfrm>
          <a:prstGeom prst="rect">
            <a:avLst/>
          </a:prstGeom>
          <a:noFill/>
          <a:ln/>
        </p:spPr>
        <p:txBody>
          <a:bodyPr wrap="square" lIns="0" tIns="0" rIns="0" bIns="0" rtlCol="0" anchor="t"/>
          <a:lstStyle/>
          <a:p>
            <a:pPr indent="0" marL="0">
              <a:lnSpc>
                <a:spcPct val="110000"/>
              </a:lnSpc>
              <a:buNone/>
            </a:pPr>
            <a:r>
              <a:rPr lang="en-US" sz="900" dirty="0">
                <a:solidFill>
                  <a:srgbClr val="53565A"/>
                </a:solidFill>
                <a:latin typeface="Calibri" pitchFamily="34" charset="0"/>
                <a:ea typeface="Calibri" pitchFamily="34" charset="-122"/>
                <a:cs typeface="Calibri" pitchFamily="34" charset="-120"/>
              </a:rPr>
              <a:t>Increase information sharing &amp; intelligence is Banking's #1 strategy to reduce third-party fraud risk over the next three years.</a:t>
            </a:r>
            <a:endParaRPr lang="en-US" sz="900" dirty="0"/>
          </a:p>
        </p:txBody>
      </p:sp>
      <p:sp>
        <p:nvSpPr>
          <p:cNvPr id="13" name="Shape 10"/>
          <p:cNvSpPr/>
          <p:nvPr/>
        </p:nvSpPr>
        <p:spPr>
          <a:xfrm>
            <a:off x="502006" y="4352544"/>
            <a:ext cx="11188598" cy="658368"/>
          </a:xfrm>
          <a:prstGeom prst="roundRect">
            <a:avLst>
              <a:gd name="adj" fmla="val 6944"/>
            </a:avLst>
          </a:prstGeom>
          <a:solidFill>
            <a:srgbClr val="F7F9F1"/>
          </a:solidFill>
          <a:ln/>
        </p:spPr>
      </p:sp>
      <p:sp>
        <p:nvSpPr>
          <p:cNvPr id="14" name="Text 11"/>
          <p:cNvSpPr txBox="1"/>
          <p:nvPr/>
        </p:nvSpPr>
        <p:spPr>
          <a:xfrm>
            <a:off x="648310" y="4425696"/>
            <a:ext cx="10895990" cy="512064"/>
          </a:xfrm>
          <a:prstGeom prst="rect">
            <a:avLst/>
          </a:prstGeom>
          <a:noFill/>
          <a:ln/>
        </p:spPr>
        <p:txBody>
          <a:bodyPr wrap="square" lIns="0" tIns="0" rIns="0" bIns="0" rtlCol="0" anchor="t"/>
          <a:lstStyle/>
          <a:p>
            <a:pPr algn="l" indent="0" marL="0">
              <a:lnSpc>
                <a:spcPct val="116000"/>
              </a:lnSpc>
              <a:buNone/>
            </a:pPr>
            <a:r>
              <a:rPr lang="en-US" sz="800" b="1" dirty="0">
                <a:solidFill>
                  <a:srgbClr val="046A38"/>
                </a:solidFill>
                <a:latin typeface="Calibri" pitchFamily="34" charset="0"/>
                <a:ea typeface="Calibri" pitchFamily="34" charset="-122"/>
                <a:cs typeface="Calibri" pitchFamily="34" charset="-120"/>
              </a:rPr>
              <a:t>ILLUSTRATIVE EXAMPLE  </a:t>
            </a:r>
            <a:pPr algn="l" indent="0" marL="0">
              <a:lnSpc>
                <a:spcPct val="116000"/>
              </a:lnSpc>
              <a:buNone/>
            </a:pPr>
            <a:r>
              <a:rPr lang="en-US" sz="950" i="1" dirty="0">
                <a:solidFill>
                  <a:srgbClr val="53565A"/>
                </a:solidFill>
                <a:latin typeface="Calibri" pitchFamily="34" charset="0"/>
                <a:ea typeface="Calibri" pitchFamily="34" charset="-122"/>
                <a:cs typeface="Calibri" pitchFamily="34" charset="-120"/>
              </a:rPr>
              <a:t>A fintech partner's onboarding API accepts a synthetic-identity application without full verification — the account is later used to receive and quickly move fraudulent transfers.</a:t>
            </a:r>
            <a:endParaRPr lang="en-US" sz="800" dirty="0"/>
          </a:p>
        </p:txBody>
      </p:sp>
      <p:sp>
        <p:nvSpPr>
          <p:cNvPr id="15" name="Shape 12"/>
          <p:cNvSpPr/>
          <p:nvPr/>
        </p:nvSpPr>
        <p:spPr>
          <a:xfrm>
            <a:off x="502006" y="5138928"/>
            <a:ext cx="11188598" cy="0"/>
          </a:xfrm>
          <a:prstGeom prst="line">
            <a:avLst/>
          </a:prstGeom>
          <a:noFill/>
          <a:ln w="9525">
            <a:solidFill>
              <a:srgbClr val="D0D0CE"/>
            </a:solidFill>
            <a:prstDash val="solid"/>
          </a:ln>
        </p:spPr>
      </p:sp>
      <p:sp>
        <p:nvSpPr>
          <p:cNvPr id="16" name="Text 13"/>
          <p:cNvSpPr txBox="1"/>
          <p:nvPr/>
        </p:nvSpPr>
        <p:spPr>
          <a:xfrm>
            <a:off x="502006" y="5193792"/>
            <a:ext cx="11188598" cy="420624"/>
          </a:xfrm>
          <a:prstGeom prst="rect">
            <a:avLst/>
          </a:prstGeom>
          <a:noFill/>
          <a:ln/>
        </p:spPr>
        <p:txBody>
          <a:bodyPr wrap="square" lIns="0" tIns="0" rIns="0" bIns="0" rtlCol="0" anchor="t"/>
          <a:lstStyle/>
          <a:p>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Q6a response options: “Mortgage brokers” · “Merchants” · “Fintech Partners” · “Dealers &amp; Indirect Lending Partners” · “Business &amp; Commercial Clients” · “Appraisers.” Q7 single select; illustrative scenario written to show how the channel is typically exploited, not sourced from a specific response.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03   THIRD-PARTY FRAUD RISK</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For Insurance, the exposure is healthcare providers — and the fix leaders trust most is sharper ongoing monitoring, not new gatekeeping rules.</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(Insurance, n=25)”</a:t>
            </a:r>
            <a:endParaRPr lang="en-US" sz="1000" dirty="0"/>
          </a:p>
        </p:txBody>
      </p:sp>
      <p:graphicFrame>
        <p:nvGraphicFramePr>
          <p:cNvPr id="8" name="Chart 0" descr=""/>
          <p:cNvGraphicFramePr/>
          <p:nvPr/>
        </p:nvGraphicFramePr>
        <p:xfrm>
          <a:off x="502006" y="2112264"/>
          <a:ext cx="6949440" cy="21031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726680" y="2112264"/>
            <a:ext cx="3465576" cy="2103120"/>
          </a:xfrm>
          <a:prstGeom prst="roundRect">
            <a:avLst>
              <a:gd name="adj" fmla="val 2174"/>
            </a:avLst>
          </a:prstGeom>
          <a:solidFill>
            <a:srgbClr val="F2F2F2"/>
          </a:solidFill>
          <a:ln/>
        </p:spPr>
      </p:sp>
      <p:sp>
        <p:nvSpPr>
          <p:cNvPr id="10" name="Text 7"/>
          <p:cNvSpPr txBox="1"/>
          <p:nvPr/>
        </p:nvSpPr>
        <p:spPr>
          <a:xfrm>
            <a:off x="7872984" y="2185416"/>
            <a:ext cx="3172968" cy="182880"/>
          </a:xfrm>
          <a:prstGeom prst="rect">
            <a:avLst/>
          </a:prstGeom>
          <a:noFill/>
          <a:ln/>
        </p:spPr>
        <p:txBody>
          <a:bodyPr wrap="square" lIns="0" tIns="0" rIns="0" bIns="0" rtlCol="0" anchor="ctr"/>
          <a:lstStyle/>
          <a:p>
            <a:pPr indent="0" marL="0">
              <a:buNone/>
            </a:pPr>
            <a:r>
              <a:rPr lang="en-US" sz="800" b="1" dirty="0">
                <a:solidFill>
                  <a:srgbClr val="046A38"/>
                </a:solidFill>
                <a:latin typeface="Calibri" pitchFamily="34" charset="0"/>
                <a:ea typeface="Calibri" pitchFamily="34" charset="-122"/>
                <a:cs typeface="Calibri" pitchFamily="34" charset="-120"/>
              </a:rPr>
              <a:t>Q7 — TOP-RATED STRATEGY</a:t>
            </a:r>
            <a:endParaRPr lang="en-US" sz="800" dirty="0"/>
          </a:p>
        </p:txBody>
      </p:sp>
      <p:sp>
        <p:nvSpPr>
          <p:cNvPr id="11" name="Text 8"/>
          <p:cNvSpPr txBox="1"/>
          <p:nvPr/>
        </p:nvSpPr>
        <p:spPr>
          <a:xfrm>
            <a:off x="7872984" y="2386584"/>
            <a:ext cx="3172968" cy="476250"/>
          </a:xfrm>
          <a:prstGeom prst="rect">
            <a:avLst/>
          </a:prstGeom>
          <a:noFill/>
          <a:ln/>
        </p:spPr>
        <p:txBody>
          <a:bodyPr wrap="square" lIns="0" tIns="0" rIns="0" bIns="0" rtlCol="0" anchor="t"/>
          <a:lstStyle/>
          <a:p>
            <a:pPr indent="0" marL="0">
              <a:buNone/>
            </a:pPr>
            <a:r>
              <a:rPr lang="en-US" sz="3000" b="1" dirty="0">
                <a:solidFill>
                  <a:srgbClr val="046A38"/>
                </a:solidFill>
                <a:latin typeface="Calibri" pitchFamily="34" charset="0"/>
                <a:ea typeface="Calibri" pitchFamily="34" charset="-122"/>
                <a:cs typeface="Calibri" pitchFamily="34" charset="-120"/>
              </a:rPr>
              <a:t>32%</a:t>
            </a:r>
            <a:endParaRPr lang="en-US" sz="3000" dirty="0"/>
          </a:p>
        </p:txBody>
      </p:sp>
      <p:sp>
        <p:nvSpPr>
          <p:cNvPr id="12" name="Text 9"/>
          <p:cNvSpPr txBox="1"/>
          <p:nvPr/>
        </p:nvSpPr>
        <p:spPr>
          <a:xfrm>
            <a:off x="7872984" y="2881122"/>
            <a:ext cx="3172968" cy="1279398"/>
          </a:xfrm>
          <a:prstGeom prst="rect">
            <a:avLst/>
          </a:prstGeom>
          <a:noFill/>
          <a:ln/>
        </p:spPr>
        <p:txBody>
          <a:bodyPr wrap="square" lIns="0" tIns="0" rIns="0" bIns="0" rtlCol="0" anchor="t"/>
          <a:lstStyle/>
          <a:p>
            <a:pPr indent="0" marL="0">
              <a:lnSpc>
                <a:spcPct val="110000"/>
              </a:lnSpc>
              <a:buNone/>
            </a:pPr>
            <a:r>
              <a:rPr lang="en-US" sz="900" dirty="0">
                <a:solidFill>
                  <a:srgbClr val="53565A"/>
                </a:solidFill>
                <a:latin typeface="Calibri" pitchFamily="34" charset="0"/>
                <a:ea typeface="Calibri" pitchFamily="34" charset="-122"/>
                <a:cs typeface="Calibri" pitchFamily="34" charset="-120"/>
              </a:rPr>
              <a:t>Enhance ongoing monitoring &amp; detection is Insurance's #1 strategy to reduce third-party fraud risk over the next three years (tied with oversight &amp; accountability at 24% for Banking's #2/#3, by contrast).</a:t>
            </a:r>
            <a:endParaRPr lang="en-US" sz="900" dirty="0"/>
          </a:p>
        </p:txBody>
      </p:sp>
      <p:sp>
        <p:nvSpPr>
          <p:cNvPr id="13" name="Shape 10"/>
          <p:cNvSpPr/>
          <p:nvPr/>
        </p:nvSpPr>
        <p:spPr>
          <a:xfrm>
            <a:off x="502006" y="4352544"/>
            <a:ext cx="11188598" cy="658368"/>
          </a:xfrm>
          <a:prstGeom prst="roundRect">
            <a:avLst>
              <a:gd name="adj" fmla="val 6944"/>
            </a:avLst>
          </a:prstGeom>
          <a:solidFill>
            <a:srgbClr val="F7F9F1"/>
          </a:solidFill>
          <a:ln/>
        </p:spPr>
      </p:sp>
      <p:sp>
        <p:nvSpPr>
          <p:cNvPr id="14" name="Text 11"/>
          <p:cNvSpPr txBox="1"/>
          <p:nvPr/>
        </p:nvSpPr>
        <p:spPr>
          <a:xfrm>
            <a:off x="648310" y="4425696"/>
            <a:ext cx="10895990" cy="512064"/>
          </a:xfrm>
          <a:prstGeom prst="rect">
            <a:avLst/>
          </a:prstGeom>
          <a:noFill/>
          <a:ln/>
        </p:spPr>
        <p:txBody>
          <a:bodyPr wrap="square" lIns="0" tIns="0" rIns="0" bIns="0" rtlCol="0" anchor="t"/>
          <a:lstStyle/>
          <a:p>
            <a:pPr algn="l" indent="0" marL="0">
              <a:lnSpc>
                <a:spcPct val="116000"/>
              </a:lnSpc>
              <a:buNone/>
            </a:pPr>
            <a:r>
              <a:rPr lang="en-US" sz="800" b="1" dirty="0">
                <a:solidFill>
                  <a:srgbClr val="046A38"/>
                </a:solidFill>
                <a:latin typeface="Calibri" pitchFamily="34" charset="0"/>
                <a:ea typeface="Calibri" pitchFamily="34" charset="-122"/>
                <a:cs typeface="Calibri" pitchFamily="34" charset="-120"/>
              </a:rPr>
              <a:t>ILLUSTRATIVE EXAMPLE  </a:t>
            </a:r>
            <a:pPr algn="l" indent="0" marL="0">
              <a:lnSpc>
                <a:spcPct val="116000"/>
              </a:lnSpc>
              <a:buNone/>
            </a:pPr>
            <a:r>
              <a:rPr lang="en-US" sz="950" i="1" dirty="0">
                <a:solidFill>
                  <a:srgbClr val="53565A"/>
                </a:solidFill>
                <a:latin typeface="Calibri" pitchFamily="34" charset="0"/>
                <a:ea typeface="Calibri" pitchFamily="34" charset="-122"/>
                <a:cs typeface="Calibri" pitchFamily="34" charset="-120"/>
              </a:rPr>
              <a:t>A network provider submits inflated or duplicate billing codes for services that were never rendered, and the claim clears before pattern-level review catches it.</a:t>
            </a:r>
            <a:endParaRPr lang="en-US" sz="800" dirty="0"/>
          </a:p>
        </p:txBody>
      </p:sp>
      <p:sp>
        <p:nvSpPr>
          <p:cNvPr id="15" name="Shape 12"/>
          <p:cNvSpPr/>
          <p:nvPr/>
        </p:nvSpPr>
        <p:spPr>
          <a:xfrm>
            <a:off x="502006" y="5138928"/>
            <a:ext cx="11188598" cy="0"/>
          </a:xfrm>
          <a:prstGeom prst="line">
            <a:avLst/>
          </a:prstGeom>
          <a:noFill/>
          <a:ln w="9525">
            <a:solidFill>
              <a:srgbClr val="D0D0CE"/>
            </a:solidFill>
            <a:prstDash val="solid"/>
          </a:ln>
        </p:spPr>
      </p:sp>
      <p:sp>
        <p:nvSpPr>
          <p:cNvPr id="16" name="Text 13"/>
          <p:cNvSpPr txBox="1"/>
          <p:nvPr/>
        </p:nvSpPr>
        <p:spPr>
          <a:xfrm>
            <a:off x="502006" y="5193792"/>
            <a:ext cx="11188598" cy="420624"/>
          </a:xfrm>
          <a:prstGeom prst="rect">
            <a:avLst/>
          </a:prstGeom>
          <a:noFill/>
          <a:ln/>
        </p:spPr>
        <p:txBody>
          <a:bodyPr wrap="square" lIns="0" tIns="0" rIns="0" bIns="0" rtlCol="0" anchor="t"/>
          <a:lstStyle/>
          <a:p>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Q6b response options: “Brokers and distribution partners” · “Health care providers” · “Automotive service providers” · “Legal representatives and paralegals” · “Third-party administrators (TPAs)” · “Property claims service providers.” Q7 single select; illustrative scenario written to show how the channel is typically exploited, not sourced from a specific response.</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914400"/>
            <a:ext cx="1828800" cy="365760"/>
          </a:xfrm>
          <a:prstGeom prst="rect">
            <a:avLst/>
          </a:prstGeom>
          <a:noFill/>
          <a:ln/>
        </p:spPr>
        <p:txBody>
          <a:bodyPr wrap="square" lIns="0" tIns="0" rIns="0" bIns="0" rtlCol="0" anchor="ctr"/>
          <a:lstStyle/>
          <a:p>
            <a:pPr indent="0" marL="0">
              <a:buNone/>
            </a:pPr>
            <a:r>
              <a:rPr lang="en-US" sz="1400" b="1" dirty="0">
                <a:solidFill>
                  <a:srgbClr val="86BC25"/>
                </a:solidFill>
                <a:latin typeface="IBM Plex Mono" pitchFamily="34" charset="0"/>
                <a:ea typeface="IBM Plex Mono" pitchFamily="34" charset="-122"/>
                <a:cs typeface="IBM Plex Mono" pitchFamily="34" charset="-120"/>
              </a:rPr>
              <a:t>04</a:t>
            </a:r>
            <a:endParaRPr lang="en-US" sz="1400" dirty="0"/>
          </a:p>
        </p:txBody>
      </p:sp>
      <p:sp>
        <p:nvSpPr>
          <p:cNvPr id="5" name="Text 3"/>
          <p:cNvSpPr txBox="1"/>
          <p:nvPr/>
        </p:nvSpPr>
        <p:spPr>
          <a:xfrm>
            <a:off x="502006" y="1298448"/>
            <a:ext cx="5577840" cy="777240"/>
          </a:xfrm>
          <a:prstGeom prst="rect">
            <a:avLst/>
          </a:prstGeom>
          <a:noFill/>
          <a:ln/>
        </p:spPr>
        <p:txBody>
          <a:bodyPr wrap="square" lIns="0" tIns="0" rIns="0" bIns="0" rtlCol="0" anchor="t"/>
          <a:lstStyle/>
          <a:p>
            <a:pPr algn="l" indent="0" marL="0">
              <a:lnSpc>
                <a:spcPct val="105000"/>
              </a:lnSpc>
              <a:buNone/>
            </a:pPr>
            <a:r>
              <a:rPr lang="en-US" sz="2800" b="1" dirty="0">
                <a:solidFill>
                  <a:srgbClr val="FFFFFF"/>
                </a:solidFill>
                <a:latin typeface="Calibri" pitchFamily="34" charset="0"/>
                <a:ea typeface="Calibri" pitchFamily="34" charset="-122"/>
                <a:cs typeface="Calibri" pitchFamily="34" charset="-120"/>
              </a:rPr>
              <a:t>Operating Model Transformation</a:t>
            </a:r>
            <a:endParaRPr lang="en-US" sz="2800" dirty="0"/>
          </a:p>
        </p:txBody>
      </p:sp>
      <p:sp>
        <p:nvSpPr>
          <p:cNvPr id="6" name="Text 4"/>
          <p:cNvSpPr txBox="1"/>
          <p:nvPr/>
        </p:nvSpPr>
        <p:spPr>
          <a:xfrm>
            <a:off x="502006" y="2240280"/>
            <a:ext cx="5532120" cy="2103120"/>
          </a:xfrm>
          <a:prstGeom prst="rect">
            <a:avLst/>
          </a:prstGeom>
          <a:noFill/>
          <a:ln/>
        </p:spPr>
        <p:txBody>
          <a:bodyPr wrap="square" lIns="0" tIns="0" rIns="0" bIns="0" rtlCol="0" anchor="t"/>
          <a:lstStyle/>
          <a:p>
            <a:pPr algn="l" indent="0" marL="0">
              <a:lnSpc>
                <a:spcPct val="130000"/>
              </a:lnSpc>
              <a:buNone/>
            </a:pPr>
            <a:r>
              <a:rPr lang="en-US" sz="1250" dirty="0">
                <a:solidFill>
                  <a:srgbClr val="D0D0CE"/>
                </a:solidFill>
                <a:latin typeface="Calibri" pitchFamily="34" charset="0"/>
                <a:ea typeface="Calibri" pitchFamily="34" charset="-122"/>
                <a:cs typeface="Calibri" pitchFamily="34" charset="-120"/>
              </a:rPr>
              <a:t>However third-party risk gets addressed, someone still has to run the fraud program day to day — and as fraud gets more complex, that program has to evolve too.</a:t>
            </a:r>
            <a:endParaRPr lang="en-US" sz="1250" dirty="0"/>
          </a:p>
        </p:txBody>
      </p:sp>
      <p:sp>
        <p:nvSpPr>
          <p:cNvPr id="7" name="Shape 5"/>
          <p:cNvSpPr/>
          <p:nvPr/>
        </p:nvSpPr>
        <p:spPr>
          <a:xfrm>
            <a:off x="6400800" y="2514600"/>
            <a:ext cx="457200" cy="457200"/>
          </a:xfrm>
          <a:prstGeom prst="ellipse">
            <a:avLst/>
          </a:prstGeom>
          <a:solidFill>
            <a:srgbClr val="0B1C14"/>
          </a:solidFill>
          <a:ln w="12700">
            <a:solidFill>
              <a:srgbClr val="86BC25"/>
            </a:solidFill>
            <a:prstDash val="solid"/>
          </a:ln>
        </p:spPr>
      </p:sp>
      <p:sp>
        <p:nvSpPr>
          <p:cNvPr id="8" name="Text 6"/>
          <p:cNvSpPr txBox="1"/>
          <p:nvPr/>
        </p:nvSpPr>
        <p:spPr>
          <a:xfrm>
            <a:off x="6400800" y="2441448"/>
            <a:ext cx="457200" cy="457200"/>
          </a:xfrm>
          <a:prstGeom prst="rect">
            <a:avLst/>
          </a:prstGeom>
          <a:noFill/>
          <a:ln/>
        </p:spPr>
        <p:txBody>
          <a:bodyPr wrap="square" lIns="0" tIns="0" rIns="0" bIns="0" rtlCol="0" anchor="ctr"/>
          <a:lstStyle/>
          <a:p>
            <a:pPr algn="ctr" indent="0" marL="0">
              <a:buNone/>
            </a:pPr>
            <a:r>
              <a:rPr lang="en-US" sz="2200" b="1" dirty="0">
                <a:solidFill>
                  <a:srgbClr val="86BC25"/>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6446520" y="2788920"/>
            <a:ext cx="5239512" cy="2514600"/>
          </a:xfrm>
          <a:prstGeom prst="rect">
            <a:avLst/>
          </a:prstGeom>
          <a:ln w="12700">
            <a:solidFill>
              <a:srgbClr val="D0D0CE"/>
            </a:solidFill>
            <a:prstDash val="solid"/>
          </a:ln>
        </p:spPr>
      </p:sp>
      <p:sp>
        <p:nvSpPr>
          <p:cNvPr id="10" name="Text 8"/>
          <p:cNvSpPr txBox="1"/>
          <p:nvPr/>
        </p:nvSpPr>
        <p:spPr>
          <a:xfrm>
            <a:off x="6720840" y="3017520"/>
            <a:ext cx="4690872" cy="1737360"/>
          </a:xfrm>
          <a:prstGeom prst="rect">
            <a:avLst/>
          </a:prstGeom>
          <a:noFill/>
          <a:ln/>
        </p:spPr>
        <p:txBody>
          <a:bodyPr wrap="square" lIns="0" tIns="0" rIns="0" bIns="0" rtlCol="0" anchor="t"/>
          <a:lstStyle/>
          <a:p>
            <a:pPr algn="l" indent="0" marL="0">
              <a:lnSpc>
                <a:spcPct val="124000"/>
              </a:lnSpc>
              <a:buNone/>
            </a:pPr>
            <a:r>
              <a:rPr lang="en-US" sz="1350" i="1" dirty="0">
                <a:solidFill>
                  <a:srgbClr val="FFFFFF"/>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350" dirty="0"/>
          </a:p>
        </p:txBody>
      </p:sp>
      <p:sp>
        <p:nvSpPr>
          <p:cNvPr id="11" name="Text 9"/>
          <p:cNvSpPr txBox="1"/>
          <p:nvPr/>
        </p:nvSpPr>
        <p:spPr>
          <a:xfrm>
            <a:off x="6720840" y="4846320"/>
            <a:ext cx="4690872" cy="320040"/>
          </a:xfrm>
          <a:prstGeom prst="rect">
            <a:avLst/>
          </a:prstGeom>
          <a:noFill/>
          <a:ln/>
        </p:spPr>
        <p:txBody>
          <a:bodyPr wrap="square" lIns="0" tIns="0" rIns="0" bIns="0" rtlCol="0" anchor="ctr"/>
          <a:lstStyle/>
          <a:p>
            <a:pPr algn="l" indent="0" marL="0">
              <a:buNone/>
            </a:pPr>
            <a:r>
              <a:rPr lang="en-US" sz="1050" i="1" dirty="0">
                <a:solidFill>
                  <a:srgbClr val="D0D0CE"/>
                </a:solidFill>
                <a:latin typeface="Calibri" pitchFamily="34" charset="0"/>
                <a:ea typeface="Calibri" pitchFamily="34" charset="-122"/>
                <a:cs typeface="Calibri" pitchFamily="34" charset="-120"/>
              </a:rPr>
              <a:t>VP · BANKING</a:t>
            </a:r>
            <a:endParaRPr lang="en-US" sz="1050" dirty="0"/>
          </a:p>
        </p:txBody>
      </p:sp>
      <p:sp>
        <p:nvSpPr>
          <p:cNvPr id="12" name="Text 10"/>
          <p:cNvSpPr txBox="1"/>
          <p:nvPr/>
        </p:nvSpPr>
        <p:spPr>
          <a:xfrm>
            <a:off x="6720840" y="5394960"/>
            <a:ext cx="4690872" cy="228600"/>
          </a:xfrm>
          <a:prstGeom prst="rect">
            <a:avLst/>
          </a:prstGeom>
          <a:noFill/>
          <a:ln/>
        </p:spPr>
        <p:txBody>
          <a:bodyPr wrap="square" lIns="0" tIns="0" rIns="0" bIns="0" rtlCol="0" anchor="ctr"/>
          <a:lstStyle/>
          <a:p>
            <a:pPr indent="0" marL="0">
              <a:buNone/>
            </a:pPr>
            <a:r>
              <a:rPr lang="en-US" sz="800" i="1" dirty="0">
                <a:solidFill>
                  <a:srgbClr val="53565A"/>
                </a:solidFill>
                <a:latin typeface="Calibri" pitchFamily="34" charset="0"/>
                <a:ea typeface="Calibri" pitchFamily="34" charset="-122"/>
                <a:cs typeface="Calibri" pitchFamily="34" charset="-120"/>
              </a:rPr>
              <a:t>From the survey's open-ended question, in the respondent's own words.</a:t>
            </a:r>
            <a:endParaRPr lang="en-US" sz="800" dirty="0"/>
          </a:p>
        </p:txBody>
      </p:sp>
      <p:sp>
        <p:nvSpPr>
          <p:cNvPr id="13" name="Text 1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04   OPERATING MODEL TRANSFORMATION</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Banking and Insurance both call their fraud programs mature — but they're climbing different ends of the ladder.</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graphicFrame>
        <p:nvGraphicFramePr>
          <p:cNvPr id="8" name="Chart 0" descr=""/>
          <p:cNvGraphicFramePr/>
          <p:nvPr/>
        </p:nvGraphicFramePr>
        <p:xfrm>
          <a:off x="502006" y="2157984"/>
          <a:ext cx="11188598" cy="30175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02006" y="5303520"/>
            <a:ext cx="11188598" cy="0"/>
          </a:xfrm>
          <a:prstGeom prst="line">
            <a:avLst/>
          </a:prstGeom>
          <a:noFill/>
          <a:ln w="9525">
            <a:solidFill>
              <a:srgbClr val="D0D0CE"/>
            </a:solidFill>
            <a:prstDash val="solid"/>
          </a:ln>
        </p:spPr>
      </p:sp>
      <p:sp>
        <p:nvSpPr>
          <p:cNvPr id="10" name="Text 7"/>
          <p:cNvSpPr txBox="1"/>
          <p:nvPr/>
        </p:nvSpPr>
        <p:spPr>
          <a:xfrm>
            <a:off x="502006" y="5376672"/>
            <a:ext cx="11188598" cy="84124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04   OPERATING MODEL TRANSFORMATION</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Fraud teams are going all-in on AI — often at the expense of a more balanced playbook.</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8" name="Text 6"/>
          <p:cNvSpPr txBox="1"/>
          <p:nvPr/>
        </p:nvSpPr>
        <p:spPr>
          <a:xfrm>
            <a:off x="502006" y="2066544"/>
            <a:ext cx="11188598" cy="384048"/>
          </a:xfrm>
          <a:prstGeom prst="rect">
            <a:avLst/>
          </a:prstGeom>
          <a:noFill/>
          <a:ln/>
        </p:spPr>
        <p:txBody>
          <a:bodyPr wrap="square" lIns="0" tIns="0" rIns="0" bIns="0" rtlCol="0" anchor="t"/>
          <a:lstStyle/>
          <a:p>
            <a:pPr algn="l" indent="0" marL="0">
              <a:lnSpc>
                <a:spcPct val="118000"/>
              </a:lnSpc>
              <a:buNone/>
            </a:pPr>
            <a:r>
              <a:rPr lang="en-US" sz="1100" dirty="0">
                <a:solidFill>
                  <a:srgbClr val="53565A"/>
                </a:solidFill>
                <a:latin typeface="Calibri" pitchFamily="34" charset="0"/>
                <a:ea typeface="Calibri" pitchFamily="34" charset="-122"/>
                <a:cs typeface="Calibri" pitchFamily="34" charset="-120"/>
              </a:rPr>
              <a:t>AI-enabled tools augmentation is already the top way teams scale today and grows further over the next three years, while hiring, outsourcing, and blended approaches all shrink.</a:t>
            </a:r>
            <a:endParaRPr lang="en-US" sz="1100" dirty="0"/>
          </a:p>
        </p:txBody>
      </p:sp>
      <p:graphicFrame>
        <p:nvGraphicFramePr>
          <p:cNvPr id="9" name="Chart 0" descr=""/>
          <p:cNvGraphicFramePr/>
          <p:nvPr/>
        </p:nvGraphicFramePr>
        <p:xfrm>
          <a:off x="502006" y="2542032"/>
          <a:ext cx="11188598" cy="21488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02006" y="4855464"/>
            <a:ext cx="11188598" cy="548640"/>
          </a:xfrm>
          <a:prstGeom prst="roundRect">
            <a:avLst>
              <a:gd name="adj" fmla="val 8333"/>
            </a:avLst>
          </a:prstGeom>
          <a:solidFill>
            <a:srgbClr val="F2F2F2"/>
          </a:solidFill>
          <a:ln/>
        </p:spPr>
      </p:sp>
      <p:sp>
        <p:nvSpPr>
          <p:cNvPr id="11" name="Text 8"/>
          <p:cNvSpPr txBox="1"/>
          <p:nvPr/>
        </p:nvSpPr>
        <p:spPr>
          <a:xfrm>
            <a:off x="648310" y="4910328"/>
            <a:ext cx="10895990" cy="438912"/>
          </a:xfrm>
          <a:prstGeom prst="rect">
            <a:avLst/>
          </a:prstGeom>
          <a:noFill/>
          <a:ln/>
        </p:spPr>
        <p:txBody>
          <a:bodyPr wrap="square" lIns="0" tIns="0" rIns="0" bIns="0" rtlCol="0" anchor="t"/>
          <a:lstStyle/>
          <a:p>
            <a:pPr algn="l" indent="0" marL="0">
              <a:lnSpc>
                <a:spcPct val="114000"/>
              </a:lnSpc>
              <a:buNone/>
            </a:pPr>
            <a:r>
              <a:rPr lang="en-US" sz="850" b="1" dirty="0">
                <a:solidFill>
                  <a:srgbClr val="046A38"/>
                </a:solidFill>
                <a:latin typeface="Calibri" pitchFamily="34" charset="0"/>
                <a:ea typeface="Calibri" pitchFamily="34" charset="-122"/>
                <a:cs typeface="Calibri" pitchFamily="34" charset="-120"/>
              </a:rPr>
              <a:t>WHAT THIS MEANS  </a:t>
            </a:r>
            <a:pPr algn="l" indent="0" marL="0">
              <a:lnSpc>
                <a:spcPct val="114000"/>
              </a:lnSpc>
              <a:buNone/>
            </a:pPr>
            <a:r>
              <a:rPr lang="en-US" sz="950" i="1" dirty="0">
                <a:solidFill>
                  <a:srgbClr val="53565A"/>
                </a:solidFill>
                <a:latin typeface="Calibri" pitchFamily="34" charset="0"/>
                <a:ea typeface="Calibri" pitchFamily="34" charset="-122"/>
                <a:cs typeface="Calibri" pitchFamily="34" charset="-120"/>
              </a:rPr>
              <a:t>Just 2% expect to rely on a combination of levers in three years, down from 7% today. Programs that concentrate around a single lever — even a powerful one like AI — risk losing the flexibility a diversified operating model provides.</a:t>
            </a:r>
            <a:endParaRPr lang="en-US" sz="850" dirty="0"/>
          </a:p>
        </p:txBody>
      </p:sp>
      <p:sp>
        <p:nvSpPr>
          <p:cNvPr id="12" name="Shape 9"/>
          <p:cNvSpPr/>
          <p:nvPr/>
        </p:nvSpPr>
        <p:spPr>
          <a:xfrm>
            <a:off x="502006" y="5513832"/>
            <a:ext cx="11188598" cy="0"/>
          </a:xfrm>
          <a:prstGeom prst="line">
            <a:avLst/>
          </a:prstGeom>
          <a:noFill/>
          <a:ln w="9525">
            <a:solidFill>
              <a:srgbClr val="D0D0CE"/>
            </a:solidFill>
            <a:prstDash val="solid"/>
          </a:ln>
        </p:spPr>
      </p:sp>
      <p:sp>
        <p:nvSpPr>
          <p:cNvPr id="13" name="Text 10"/>
          <p:cNvSpPr txBox="1"/>
          <p:nvPr/>
        </p:nvSpPr>
        <p:spPr>
          <a:xfrm>
            <a:off x="502006" y="5568696"/>
            <a:ext cx="11188598" cy="502920"/>
          </a:xfrm>
          <a:prstGeom prst="rect">
            <a:avLst/>
          </a:prstGeom>
          <a:noFill/>
          <a:ln/>
        </p:spPr>
        <p:txBody>
          <a:bodyPr wrap="square" lIns="0" tIns="0" rIns="0" bIns="0" rtlCol="0" anchor="t"/>
          <a:lstStyle/>
          <a:p>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Single select, asked twice. Response options as fielded: “Adding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914400"/>
            <a:ext cx="1828800" cy="365760"/>
          </a:xfrm>
          <a:prstGeom prst="rect">
            <a:avLst/>
          </a:prstGeom>
          <a:noFill/>
          <a:ln/>
        </p:spPr>
        <p:txBody>
          <a:bodyPr wrap="square" lIns="0" tIns="0" rIns="0" bIns="0" rtlCol="0" anchor="ctr"/>
          <a:lstStyle/>
          <a:p>
            <a:pPr indent="0" marL="0">
              <a:buNone/>
            </a:pPr>
            <a:r>
              <a:rPr lang="en-US" sz="1400" b="1" dirty="0">
                <a:solidFill>
                  <a:srgbClr val="86BC25"/>
                </a:solidFill>
                <a:latin typeface="IBM Plex Mono" pitchFamily="34" charset="0"/>
                <a:ea typeface="IBM Plex Mono" pitchFamily="34" charset="-122"/>
                <a:cs typeface="IBM Plex Mono" pitchFamily="34" charset="-120"/>
              </a:rPr>
              <a:t>05</a:t>
            </a:r>
            <a:endParaRPr lang="en-US" sz="1400" dirty="0"/>
          </a:p>
        </p:txBody>
      </p:sp>
      <p:sp>
        <p:nvSpPr>
          <p:cNvPr id="5" name="Text 3"/>
          <p:cNvSpPr txBox="1"/>
          <p:nvPr/>
        </p:nvSpPr>
        <p:spPr>
          <a:xfrm>
            <a:off x="502006" y="1298448"/>
            <a:ext cx="5577840" cy="777240"/>
          </a:xfrm>
          <a:prstGeom prst="rect">
            <a:avLst/>
          </a:prstGeom>
          <a:noFill/>
          <a:ln/>
        </p:spPr>
        <p:txBody>
          <a:bodyPr wrap="square" lIns="0" tIns="0" rIns="0" bIns="0" rtlCol="0" anchor="t"/>
          <a:lstStyle/>
          <a:p>
            <a:pPr algn="l" indent="0" marL="0">
              <a:lnSpc>
                <a:spcPct val="105000"/>
              </a:lnSpc>
              <a:buNone/>
            </a:pPr>
            <a:r>
              <a:rPr lang="en-US" sz="2800" b="1" dirty="0">
                <a:solidFill>
                  <a:srgbClr val="FFFFFF"/>
                </a:solidFill>
                <a:latin typeface="Calibri" pitchFamily="34" charset="0"/>
                <a:ea typeface="Calibri" pitchFamily="34" charset="-122"/>
                <a:cs typeface="Calibri" pitchFamily="34" charset="-120"/>
              </a:rPr>
              <a:t>Regulatory &amp; Market Change</a:t>
            </a:r>
            <a:endParaRPr lang="en-US" sz="2800" dirty="0"/>
          </a:p>
        </p:txBody>
      </p:sp>
      <p:sp>
        <p:nvSpPr>
          <p:cNvPr id="6" name="Text 4"/>
          <p:cNvSpPr txBox="1"/>
          <p:nvPr/>
        </p:nvSpPr>
        <p:spPr>
          <a:xfrm>
            <a:off x="502006" y="2240280"/>
            <a:ext cx="5532120" cy="2103120"/>
          </a:xfrm>
          <a:prstGeom prst="rect">
            <a:avLst/>
          </a:prstGeom>
          <a:noFill/>
          <a:ln/>
        </p:spPr>
        <p:txBody>
          <a:bodyPr wrap="square" lIns="0" tIns="0" rIns="0" bIns="0" rtlCol="0" anchor="t"/>
          <a:lstStyle/>
          <a:p>
            <a:pPr algn="l" indent="0" marL="0">
              <a:lnSpc>
                <a:spcPct val="130000"/>
              </a:lnSpc>
              <a:buNone/>
            </a:pPr>
            <a:r>
              <a:rPr lang="en-US" sz="1250" dirty="0">
                <a:solidFill>
                  <a:srgbClr val="D0D0CE"/>
                </a:solidFill>
                <a:latin typeface="Calibri" pitchFamily="34" charset="0"/>
                <a:ea typeface="Calibri" pitchFamily="34" charset="-122"/>
                <a:cs typeface="Calibri" pitchFamily="34" charset="-120"/>
              </a:rPr>
              <a:t>A fraud program built around AI still has to operate inside a regulatory perimeter that's shifting under its feet — and it's shifting faster than most programs can absorb.</a:t>
            </a:r>
            <a:endParaRPr lang="en-US" sz="1250" dirty="0"/>
          </a:p>
        </p:txBody>
      </p:sp>
      <p:sp>
        <p:nvSpPr>
          <p:cNvPr id="7" name="Shape 5"/>
          <p:cNvSpPr/>
          <p:nvPr/>
        </p:nvSpPr>
        <p:spPr>
          <a:xfrm>
            <a:off x="6400800" y="2514600"/>
            <a:ext cx="457200" cy="457200"/>
          </a:xfrm>
          <a:prstGeom prst="ellipse">
            <a:avLst/>
          </a:prstGeom>
          <a:solidFill>
            <a:srgbClr val="0B1C14"/>
          </a:solidFill>
          <a:ln w="12700">
            <a:solidFill>
              <a:srgbClr val="86BC25"/>
            </a:solidFill>
            <a:prstDash val="solid"/>
          </a:ln>
        </p:spPr>
      </p:sp>
      <p:sp>
        <p:nvSpPr>
          <p:cNvPr id="8" name="Text 6"/>
          <p:cNvSpPr txBox="1"/>
          <p:nvPr/>
        </p:nvSpPr>
        <p:spPr>
          <a:xfrm>
            <a:off x="6400800" y="2441448"/>
            <a:ext cx="457200" cy="457200"/>
          </a:xfrm>
          <a:prstGeom prst="rect">
            <a:avLst/>
          </a:prstGeom>
          <a:noFill/>
          <a:ln/>
        </p:spPr>
        <p:txBody>
          <a:bodyPr wrap="square" lIns="0" tIns="0" rIns="0" bIns="0" rtlCol="0" anchor="ctr"/>
          <a:lstStyle/>
          <a:p>
            <a:pPr algn="ctr" indent="0" marL="0">
              <a:buNone/>
            </a:pPr>
            <a:r>
              <a:rPr lang="en-US" sz="2200" b="1" dirty="0">
                <a:solidFill>
                  <a:srgbClr val="86BC25"/>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6446520" y="2788920"/>
            <a:ext cx="5239512" cy="2514600"/>
          </a:xfrm>
          <a:prstGeom prst="rect">
            <a:avLst/>
          </a:prstGeom>
          <a:ln w="12700">
            <a:solidFill>
              <a:srgbClr val="D0D0CE"/>
            </a:solidFill>
            <a:prstDash val="solid"/>
          </a:ln>
        </p:spPr>
      </p:sp>
      <p:sp>
        <p:nvSpPr>
          <p:cNvPr id="10" name="Text 8"/>
          <p:cNvSpPr txBox="1"/>
          <p:nvPr/>
        </p:nvSpPr>
        <p:spPr>
          <a:xfrm>
            <a:off x="6720840" y="3017520"/>
            <a:ext cx="4690872" cy="1737360"/>
          </a:xfrm>
          <a:prstGeom prst="rect">
            <a:avLst/>
          </a:prstGeom>
          <a:noFill/>
          <a:ln/>
        </p:spPr>
        <p:txBody>
          <a:bodyPr wrap="square" lIns="0" tIns="0" rIns="0" bIns="0" rtlCol="0" anchor="t"/>
          <a:lstStyle/>
          <a:p>
            <a:pPr algn="l" indent="0" marL="0">
              <a:lnSpc>
                <a:spcPct val="124000"/>
              </a:lnSpc>
              <a:buNone/>
            </a:pPr>
            <a:r>
              <a:rPr lang="en-US" sz="1350" i="1" dirty="0">
                <a:solidFill>
                  <a:srgbClr val="FFFFFF"/>
                </a:solidFill>
                <a:latin typeface="Calibri" pitchFamily="34" charset="0"/>
                <a:ea typeface="Calibri" pitchFamily="34" charset="-122"/>
                <a:cs typeface="Calibri" pitchFamily="34" charset="-120"/>
              </a:rPr>
              <a:t>Proper regulatory framework to address liability and risks due to AI and crypto currency will be biggest lookout for fraud risks.</a:t>
            </a:r>
            <a:endParaRPr lang="en-US" sz="1350" dirty="0"/>
          </a:p>
        </p:txBody>
      </p:sp>
      <p:sp>
        <p:nvSpPr>
          <p:cNvPr id="11" name="Text 9"/>
          <p:cNvSpPr txBox="1"/>
          <p:nvPr/>
        </p:nvSpPr>
        <p:spPr>
          <a:xfrm>
            <a:off x="6720840" y="4846320"/>
            <a:ext cx="4690872" cy="320040"/>
          </a:xfrm>
          <a:prstGeom prst="rect">
            <a:avLst/>
          </a:prstGeom>
          <a:noFill/>
          <a:ln/>
        </p:spPr>
        <p:txBody>
          <a:bodyPr wrap="square" lIns="0" tIns="0" rIns="0" bIns="0" rtlCol="0" anchor="ctr"/>
          <a:lstStyle/>
          <a:p>
            <a:pPr algn="l" indent="0" marL="0">
              <a:buNone/>
            </a:pPr>
            <a:r>
              <a:rPr lang="en-US" sz="1050" i="1" dirty="0">
                <a:solidFill>
                  <a:srgbClr val="D0D0CE"/>
                </a:solidFill>
                <a:latin typeface="Calibri" pitchFamily="34" charset="0"/>
                <a:ea typeface="Calibri" pitchFamily="34" charset="-122"/>
                <a:cs typeface="Calibri" pitchFamily="34" charset="-120"/>
              </a:rPr>
              <a:t>VP · BANKING</a:t>
            </a:r>
            <a:endParaRPr lang="en-US" sz="1050" dirty="0"/>
          </a:p>
        </p:txBody>
      </p:sp>
      <p:sp>
        <p:nvSpPr>
          <p:cNvPr id="12" name="Text 10"/>
          <p:cNvSpPr txBox="1"/>
          <p:nvPr/>
        </p:nvSpPr>
        <p:spPr>
          <a:xfrm>
            <a:off x="6720840" y="5394960"/>
            <a:ext cx="4690872" cy="228600"/>
          </a:xfrm>
          <a:prstGeom prst="rect">
            <a:avLst/>
          </a:prstGeom>
          <a:noFill/>
          <a:ln/>
        </p:spPr>
        <p:txBody>
          <a:bodyPr wrap="square" lIns="0" tIns="0" rIns="0" bIns="0" rtlCol="0" anchor="ctr"/>
          <a:lstStyle/>
          <a:p>
            <a:pPr indent="0" marL="0">
              <a:buNone/>
            </a:pPr>
            <a:r>
              <a:rPr lang="en-US" sz="800" i="1" dirty="0">
                <a:solidFill>
                  <a:srgbClr val="53565A"/>
                </a:solidFill>
                <a:latin typeface="Calibri" pitchFamily="34" charset="0"/>
                <a:ea typeface="Calibri" pitchFamily="34" charset="-122"/>
                <a:cs typeface="Calibri" pitchFamily="34" charset="-120"/>
              </a:rPr>
              <a:t>From the survey's open-ended question, in the respondent's own words.</a:t>
            </a:r>
            <a:endParaRPr lang="en-US" sz="800" dirty="0"/>
          </a:p>
        </p:txBody>
      </p:sp>
      <p:sp>
        <p:nvSpPr>
          <p:cNvPr id="13" name="Text 1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05   REGULATORY &amp; MARKET CHANGE</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Regulation and market expectations are both moving faster than most fraud programs can absorb.</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502006" y="1691640"/>
            <a:ext cx="91440" cy="512064"/>
          </a:xfrm>
          <a:prstGeom prst="rect">
            <a:avLst/>
          </a:prstGeom>
          <a:solidFill>
            <a:srgbClr val="86BC25"/>
          </a:solidFill>
          <a:ln/>
        </p:spPr>
      </p:sp>
      <p:sp>
        <p:nvSpPr>
          <p:cNvPr id="7" name="Text 5"/>
          <p:cNvSpPr txBox="1"/>
          <p:nvPr/>
        </p:nvSpPr>
        <p:spPr>
          <a:xfrm>
            <a:off x="721462" y="1645920"/>
            <a:ext cx="10969142" cy="621792"/>
          </a:xfrm>
          <a:prstGeom prst="rect">
            <a:avLst/>
          </a:prstGeom>
          <a:noFill/>
          <a:ln/>
        </p:spPr>
        <p:txBody>
          <a:bodyPr wrap="square" lIns="0" tIns="0" rIns="0" bIns="0" rtlCol="0" anchor="t"/>
          <a:lstStyle/>
          <a:p>
            <a:pPr algn="l" indent="0" marL="0">
              <a:lnSpc>
                <a:spcPct val="114000"/>
              </a:lnSpc>
              <a:buNone/>
            </a:pPr>
            <a:r>
              <a:rPr lang="en-US" sz="1150" b="1" dirty="0">
                <a:solidFill>
                  <a:srgbClr val="000000"/>
                </a:solidFill>
                <a:latin typeface="Calibri" pitchFamily="34" charset="0"/>
                <a:ea typeface="Calibri" pitchFamily="34" charset="-122"/>
                <a:cs typeface="Calibri" pitchFamily="34" charset="-120"/>
              </a:rPr>
              <a:t>United States —  </a:t>
            </a:r>
            <a:pPr algn="l" indent="0" marL="0">
              <a:lnSpc>
                <a:spcPct val="114000"/>
              </a:lnSpc>
              <a:buNone/>
            </a:pPr>
            <a:r>
              <a:rPr lang="en-US" sz="1150" dirty="0">
                <a:solidFill>
                  <a:srgbClr val="53565A"/>
                </a:solidFill>
                <a:latin typeface="Calibri" pitchFamily="34" charset="0"/>
                <a:ea typeface="Calibri" pitchFamily="34" charset="-122"/>
                <a:cs typeface="Calibri" pitchFamily="34" charset="-120"/>
              </a:rPr>
              <a:t>the GENIUS Act (2025) creates the first federal framework for stablecoins, pulling tokenized payments into regulated territory.¹</a:t>
            </a:r>
            <a:endParaRPr lang="en-US" sz="1150" dirty="0"/>
          </a:p>
        </p:txBody>
      </p:sp>
      <p:sp>
        <p:nvSpPr>
          <p:cNvPr id="8" name="Shape 6"/>
          <p:cNvSpPr/>
          <p:nvPr/>
        </p:nvSpPr>
        <p:spPr>
          <a:xfrm>
            <a:off x="502006" y="2404872"/>
            <a:ext cx="91440" cy="512064"/>
          </a:xfrm>
          <a:prstGeom prst="rect">
            <a:avLst/>
          </a:prstGeom>
          <a:solidFill>
            <a:srgbClr val="86BC25"/>
          </a:solidFill>
          <a:ln/>
        </p:spPr>
      </p:sp>
      <p:sp>
        <p:nvSpPr>
          <p:cNvPr id="9" name="Text 7"/>
          <p:cNvSpPr txBox="1"/>
          <p:nvPr/>
        </p:nvSpPr>
        <p:spPr>
          <a:xfrm>
            <a:off x="721462" y="2359152"/>
            <a:ext cx="10969142" cy="621792"/>
          </a:xfrm>
          <a:prstGeom prst="rect">
            <a:avLst/>
          </a:prstGeom>
          <a:noFill/>
          <a:ln/>
        </p:spPr>
        <p:txBody>
          <a:bodyPr wrap="square" lIns="0" tIns="0" rIns="0" bIns="0" rtlCol="0" anchor="t"/>
          <a:lstStyle/>
          <a:p>
            <a:pPr algn="l" indent="0" marL="0">
              <a:lnSpc>
                <a:spcPct val="114000"/>
              </a:lnSpc>
              <a:buNone/>
            </a:pPr>
            <a:r>
              <a:rPr lang="en-US" sz="1150" b="1" dirty="0">
                <a:solidFill>
                  <a:srgbClr val="000000"/>
                </a:solidFill>
                <a:latin typeface="Calibri" pitchFamily="34" charset="0"/>
                <a:ea typeface="Calibri" pitchFamily="34" charset="-122"/>
                <a:cs typeface="Calibri" pitchFamily="34" charset="-120"/>
              </a:rPr>
              <a:t>European Union —  </a:t>
            </a:r>
            <a:pPr algn="l" indent="0" marL="0">
              <a:lnSpc>
                <a:spcPct val="114000"/>
              </a:lnSpc>
              <a:buNone/>
            </a:pPr>
            <a:r>
              <a:rPr lang="en-US" sz="1150" dirty="0">
                <a:solidFill>
                  <a:srgbClr val="53565A"/>
                </a:solidFill>
                <a:latin typeface="Calibri" pitchFamily="34" charset="0"/>
                <a:ea typeface="Calibri" pitchFamily="34" charset="-122"/>
                <a:cs typeface="Calibri" pitchFamily="34" charset="-120"/>
              </a:rPr>
              <a:t>the Instant Payments Regulation now requires real-time payee-verification checks on every instant transfer.²</a:t>
            </a:r>
            <a:endParaRPr lang="en-US" sz="1150" dirty="0"/>
          </a:p>
        </p:txBody>
      </p:sp>
      <p:sp>
        <p:nvSpPr>
          <p:cNvPr id="10" name="Shape 8"/>
          <p:cNvSpPr/>
          <p:nvPr/>
        </p:nvSpPr>
        <p:spPr>
          <a:xfrm>
            <a:off x="502006" y="3118104"/>
            <a:ext cx="91440" cy="512064"/>
          </a:xfrm>
          <a:prstGeom prst="rect">
            <a:avLst/>
          </a:prstGeom>
          <a:solidFill>
            <a:srgbClr val="86BC25"/>
          </a:solidFill>
          <a:ln/>
        </p:spPr>
      </p:sp>
      <p:sp>
        <p:nvSpPr>
          <p:cNvPr id="11" name="Text 9"/>
          <p:cNvSpPr txBox="1"/>
          <p:nvPr/>
        </p:nvSpPr>
        <p:spPr>
          <a:xfrm>
            <a:off x="721462" y="3072384"/>
            <a:ext cx="10969142" cy="621792"/>
          </a:xfrm>
          <a:prstGeom prst="rect">
            <a:avLst/>
          </a:prstGeom>
          <a:noFill/>
          <a:ln/>
        </p:spPr>
        <p:txBody>
          <a:bodyPr wrap="square" lIns="0" tIns="0" rIns="0" bIns="0" rtlCol="0" anchor="t"/>
          <a:lstStyle/>
          <a:p>
            <a:pPr algn="l" indent="0" marL="0">
              <a:lnSpc>
                <a:spcPct val="114000"/>
              </a:lnSpc>
              <a:buNone/>
            </a:pPr>
            <a:r>
              <a:rPr lang="en-US" sz="1150" b="1" dirty="0">
                <a:solidFill>
                  <a:srgbClr val="000000"/>
                </a:solidFill>
                <a:latin typeface="Calibri" pitchFamily="34" charset="0"/>
                <a:ea typeface="Calibri" pitchFamily="34" charset="-122"/>
                <a:cs typeface="Calibri" pitchFamily="34" charset="-120"/>
              </a:rPr>
              <a:t>Canada —  </a:t>
            </a:r>
            <a:pPr algn="l" indent="0" marL="0">
              <a:lnSpc>
                <a:spcPct val="114000"/>
              </a:lnSpc>
              <a:buNone/>
            </a:pPr>
            <a:r>
              <a:rPr lang="en-US" sz="1150" dirty="0">
                <a:solidFill>
                  <a:srgbClr val="53565A"/>
                </a:solidFill>
                <a:latin typeface="Calibri" pitchFamily="34" charset="0"/>
                <a:ea typeface="Calibri" pitchFamily="34" charset="-122"/>
                <a:cs typeface="Calibri" pitchFamily="34" charset="-120"/>
              </a:rPr>
              <a:t>the new Real-Time Rail launches Q4 2026 as the first real-time payment system built with a centralized fraud utility from day one.³</a:t>
            </a:r>
            <a:endParaRPr lang="en-US" sz="1150" dirty="0"/>
          </a:p>
        </p:txBody>
      </p:sp>
      <p:sp>
        <p:nvSpPr>
          <p:cNvPr id="12" name="Shape 10"/>
          <p:cNvSpPr/>
          <p:nvPr/>
        </p:nvSpPr>
        <p:spPr>
          <a:xfrm>
            <a:off x="502006" y="3831336"/>
            <a:ext cx="91440" cy="512064"/>
          </a:xfrm>
          <a:prstGeom prst="rect">
            <a:avLst/>
          </a:prstGeom>
          <a:solidFill>
            <a:srgbClr val="86BC25"/>
          </a:solidFill>
          <a:ln/>
        </p:spPr>
      </p:sp>
      <p:sp>
        <p:nvSpPr>
          <p:cNvPr id="13" name="Text 11"/>
          <p:cNvSpPr txBox="1"/>
          <p:nvPr/>
        </p:nvSpPr>
        <p:spPr>
          <a:xfrm>
            <a:off x="721462" y="3785616"/>
            <a:ext cx="10969142" cy="621792"/>
          </a:xfrm>
          <a:prstGeom prst="rect">
            <a:avLst/>
          </a:prstGeom>
          <a:noFill/>
          <a:ln/>
        </p:spPr>
        <p:txBody>
          <a:bodyPr wrap="square" lIns="0" tIns="0" rIns="0" bIns="0" rtlCol="0" anchor="t"/>
          <a:lstStyle/>
          <a:p>
            <a:pPr algn="l" indent="0" marL="0">
              <a:lnSpc>
                <a:spcPct val="114000"/>
              </a:lnSpc>
              <a:buNone/>
            </a:pPr>
            <a:r>
              <a:rPr lang="en-US" sz="1150" b="1" dirty="0">
                <a:solidFill>
                  <a:srgbClr val="000000"/>
                </a:solidFill>
                <a:latin typeface="Calibri" pitchFamily="34" charset="0"/>
                <a:ea typeface="Calibri" pitchFamily="34" charset="-122"/>
                <a:cs typeface="Calibri" pitchFamily="34" charset="-120"/>
              </a:rPr>
              <a:t>European Union —  </a:t>
            </a:r>
            <a:pPr algn="l" indent="0" marL="0">
              <a:lnSpc>
                <a:spcPct val="114000"/>
              </a:lnSpc>
              <a:buNone/>
            </a:pPr>
            <a:r>
              <a:rPr lang="en-US" sz="1150" dirty="0">
                <a:solidFill>
                  <a:srgbClr val="53565A"/>
                </a:solidFill>
                <a:latin typeface="Calibri" pitchFamily="34" charset="0"/>
                <a:ea typeface="Calibri" pitchFamily="34" charset="-122"/>
                <a:cs typeface="Calibri" pitchFamily="34" charset="-120"/>
              </a:rPr>
              <a:t>MiCA's final transitional deadlines land in 2026, pulling crypto-asset service providers fully into supervised oversight.⁴</a:t>
            </a:r>
            <a:endParaRPr lang="en-US" sz="1150" dirty="0"/>
          </a:p>
        </p:txBody>
      </p:sp>
      <p:sp>
        <p:nvSpPr>
          <p:cNvPr id="14" name="Shape 12"/>
          <p:cNvSpPr/>
          <p:nvPr/>
        </p:nvSpPr>
        <p:spPr>
          <a:xfrm>
            <a:off x="502006" y="4617720"/>
            <a:ext cx="11188598" cy="777240"/>
          </a:xfrm>
          <a:prstGeom prst="roundRect">
            <a:avLst>
              <a:gd name="adj" fmla="val 5882"/>
            </a:avLst>
          </a:prstGeom>
          <a:solidFill>
            <a:srgbClr val="F2F2F2"/>
          </a:solidFill>
          <a:ln/>
        </p:spPr>
      </p:sp>
      <p:sp>
        <p:nvSpPr>
          <p:cNvPr id="15" name="Text 13"/>
          <p:cNvSpPr txBox="1"/>
          <p:nvPr/>
        </p:nvSpPr>
        <p:spPr>
          <a:xfrm>
            <a:off x="666598" y="4617720"/>
            <a:ext cx="10859414" cy="777240"/>
          </a:xfrm>
          <a:prstGeom prst="rect">
            <a:avLst/>
          </a:prstGeom>
          <a:noFill/>
          <a:ln/>
        </p:spPr>
        <p:txBody>
          <a:bodyPr wrap="square" lIns="0" tIns="0" rIns="0" bIns="0" rtlCol="0" anchor="ctr"/>
          <a:lstStyle/>
          <a:p>
            <a:pPr indent="0" marL="0">
              <a:lnSpc>
                <a:spcPct val="118000"/>
              </a:lnSpc>
              <a:buNone/>
            </a:pPr>
            <a:r>
              <a:rPr lang="en-US" sz="1150" i="1" dirty="0">
                <a:solidFill>
                  <a:srgbClr val="53565A"/>
                </a:solidFill>
                <a:latin typeface="Calibri" pitchFamily="34" charset="0"/>
                <a:ea typeface="Calibri" pitchFamily="34" charset="-122"/>
                <a:cs typeface="Calibri" pitchFamily="34" charset="-120"/>
              </a:rPr>
              <a:t>At the same time, customers expect fraud checks to feel instant and invisible — raising the bar for real-time decisioning just as the rulebook keeps changing underneath it.</a:t>
            </a:r>
            <a:endParaRPr lang="en-US" sz="1150" dirty="0"/>
          </a:p>
        </p:txBody>
      </p:sp>
      <p:sp>
        <p:nvSpPr>
          <p:cNvPr id="16" name="Text 14"/>
          <p:cNvSpPr txBox="1"/>
          <p:nvPr/>
        </p:nvSpPr>
        <p:spPr>
          <a:xfrm>
            <a:off x="502006" y="5504688"/>
            <a:ext cx="10731398" cy="201168"/>
          </a:xfrm>
          <a:prstGeom prst="rect">
            <a:avLst/>
          </a:prstGeom>
          <a:noFill/>
          <a:ln/>
        </p:spPr>
        <p:txBody>
          <a:bodyPr wrap="square" lIns="0" tIns="0" rIns="0" bIns="0" rtlCol="0" anchor="ctr"/>
          <a:lstStyle/>
          <a:p>
            <a:pPr algn="l" indent="0" marL="0">
              <a:buNone/>
            </a:pPr>
            <a:r>
              <a:rPr lang="en-US" sz="750" i="1" dirty="0">
                <a:solidFill>
                  <a:srgbClr val="53565A"/>
                </a:solidFill>
                <a:latin typeface="Calibri" pitchFamily="34" charset="0"/>
                <a:ea typeface="Calibri" pitchFamily="34" charset="-122"/>
                <a:cs typeface="Calibri" pitchFamily="34" charset="-120"/>
              </a:rPr>
              <a:t>¹ ABA Banking Journal, 2026.  ² EU Instant Payments Regulation.  ³ Payments Canada, 2026.  ⁴ Grant Thornton, 2026.</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05   REGULATORY &amp; MARKET CHANGE</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Fraud programs are under real strain: identity, privacy, and payment innovation top the list of expected disruptions — while 48% are still remediating yesterday's compliance gaps.</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 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 How is your organization allocating fraud-related investment?”</a:t>
            </a:r>
            <a:endParaRPr lang="en-US" sz="1000" dirty="0"/>
          </a:p>
        </p:txBody>
      </p:sp>
      <p:sp>
        <p:nvSpPr>
          <p:cNvPr id="8" name="Text 6"/>
          <p:cNvSpPr txBox="1"/>
          <p:nvPr/>
        </p:nvSpPr>
        <p:spPr>
          <a:xfrm>
            <a:off x="502006" y="2157984"/>
            <a:ext cx="914400" cy="566928"/>
          </a:xfrm>
          <a:prstGeom prst="rect">
            <a:avLst/>
          </a:prstGeom>
          <a:noFill/>
          <a:ln/>
        </p:spPr>
        <p:txBody>
          <a:bodyPr wrap="square" lIns="0" tIns="0" rIns="0" bIns="0" rtlCol="0" anchor="ctr"/>
          <a:lstStyle/>
          <a:p>
            <a:pPr algn="l" indent="0" marL="0">
              <a:buNone/>
            </a:pPr>
            <a:r>
              <a:rPr lang="en-US" sz="2000" b="1" i="1" dirty="0">
                <a:solidFill>
                  <a:srgbClr val="046A38"/>
                </a:solidFill>
                <a:latin typeface="Calibri" pitchFamily="34" charset="0"/>
                <a:ea typeface="Calibri" pitchFamily="34" charset="-122"/>
                <a:cs typeface="Calibri" pitchFamily="34" charset="-120"/>
              </a:rPr>
              <a:t>71%</a:t>
            </a:r>
            <a:endParaRPr lang="en-US" sz="2000" dirty="0"/>
          </a:p>
        </p:txBody>
      </p:sp>
      <p:sp>
        <p:nvSpPr>
          <p:cNvPr id="9" name="Shape 7"/>
          <p:cNvSpPr/>
          <p:nvPr/>
        </p:nvSpPr>
        <p:spPr>
          <a:xfrm>
            <a:off x="1462126" y="2212848"/>
            <a:ext cx="0" cy="438912"/>
          </a:xfrm>
          <a:prstGeom prst="line">
            <a:avLst/>
          </a:prstGeom>
          <a:noFill/>
          <a:ln w="15875">
            <a:solidFill>
              <a:srgbClr val="D0D0CE"/>
            </a:solidFill>
            <a:prstDash val="solid"/>
          </a:ln>
        </p:spPr>
      </p:sp>
      <p:sp>
        <p:nvSpPr>
          <p:cNvPr id="10" name="Text 8"/>
          <p:cNvSpPr txBox="1"/>
          <p:nvPr/>
        </p:nvSpPr>
        <p:spPr>
          <a:xfrm>
            <a:off x="1645006" y="2157984"/>
            <a:ext cx="5669280" cy="566928"/>
          </a:xfrm>
          <a:prstGeom prst="rect">
            <a:avLst/>
          </a:prstGeom>
          <a:noFill/>
          <a:ln/>
        </p:spPr>
        <p:txBody>
          <a:bodyPr wrap="square" lIns="0" tIns="0" rIns="0" bIns="0" rtlCol="0" anchor="ctr"/>
          <a:lstStyle/>
          <a:p>
            <a:pPr indent="0" marL="0">
              <a:lnSpc>
                <a:spcPct val="105000"/>
              </a:lnSpc>
              <a:buNone/>
            </a:pPr>
            <a:r>
              <a:rPr lang="en-US" sz="1050" dirty="0">
                <a:solidFill>
                  <a:srgbClr val="000000"/>
                </a:solidFill>
                <a:latin typeface="Calibri" pitchFamily="34" charset="0"/>
                <a:ea typeface="Calibri" pitchFamily="34" charset="-122"/>
                <a:cs typeface="Calibri" pitchFamily="34" charset="-120"/>
              </a:rPr>
              <a:t>Customer identity, authentication &amp; digital trust</a:t>
            </a:r>
            <a:endParaRPr lang="en-US" sz="1050" dirty="0"/>
          </a:p>
        </p:txBody>
      </p:sp>
      <p:sp>
        <p:nvSpPr>
          <p:cNvPr id="11" name="Text 9"/>
          <p:cNvSpPr txBox="1"/>
          <p:nvPr/>
        </p:nvSpPr>
        <p:spPr>
          <a:xfrm>
            <a:off x="502006" y="2798064"/>
            <a:ext cx="914400" cy="566928"/>
          </a:xfrm>
          <a:prstGeom prst="rect">
            <a:avLst/>
          </a:prstGeom>
          <a:noFill/>
          <a:ln/>
        </p:spPr>
        <p:txBody>
          <a:bodyPr wrap="square" lIns="0" tIns="0" rIns="0" bIns="0" rtlCol="0" anchor="ctr"/>
          <a:lstStyle/>
          <a:p>
            <a:pPr algn="l" indent="0" marL="0">
              <a:buNone/>
            </a:pPr>
            <a:r>
              <a:rPr lang="en-US" sz="2000" b="1" i="1" dirty="0">
                <a:solidFill>
                  <a:srgbClr val="046A38"/>
                </a:solidFill>
                <a:latin typeface="Calibri" pitchFamily="34" charset="0"/>
                <a:ea typeface="Calibri" pitchFamily="34" charset="-122"/>
                <a:cs typeface="Calibri" pitchFamily="34" charset="-120"/>
              </a:rPr>
              <a:t>66%</a:t>
            </a:r>
            <a:endParaRPr lang="en-US" sz="2000" dirty="0"/>
          </a:p>
        </p:txBody>
      </p:sp>
      <p:sp>
        <p:nvSpPr>
          <p:cNvPr id="12" name="Shape 10"/>
          <p:cNvSpPr/>
          <p:nvPr/>
        </p:nvSpPr>
        <p:spPr>
          <a:xfrm>
            <a:off x="1462126" y="2852928"/>
            <a:ext cx="0" cy="438912"/>
          </a:xfrm>
          <a:prstGeom prst="line">
            <a:avLst/>
          </a:prstGeom>
          <a:noFill/>
          <a:ln w="15875">
            <a:solidFill>
              <a:srgbClr val="D0D0CE"/>
            </a:solidFill>
            <a:prstDash val="solid"/>
          </a:ln>
        </p:spPr>
      </p:sp>
      <p:sp>
        <p:nvSpPr>
          <p:cNvPr id="13" name="Text 11"/>
          <p:cNvSpPr txBox="1"/>
          <p:nvPr/>
        </p:nvSpPr>
        <p:spPr>
          <a:xfrm>
            <a:off x="1645006" y="2798064"/>
            <a:ext cx="5669280" cy="566928"/>
          </a:xfrm>
          <a:prstGeom prst="rect">
            <a:avLst/>
          </a:prstGeom>
          <a:noFill/>
          <a:ln/>
        </p:spPr>
        <p:txBody>
          <a:bodyPr wrap="square" lIns="0" tIns="0" rIns="0" bIns="0" rtlCol="0" anchor="ctr"/>
          <a:lstStyle/>
          <a:p>
            <a:pPr indent="0" marL="0">
              <a:lnSpc>
                <a:spcPct val="105000"/>
              </a:lnSpc>
              <a:buNone/>
            </a:pPr>
            <a:r>
              <a:rPr lang="en-US" sz="1050" dirty="0">
                <a:solidFill>
                  <a:srgbClr val="000000"/>
                </a:solidFill>
                <a:latin typeface="Calibri" pitchFamily="34" charset="0"/>
                <a:ea typeface="Calibri" pitchFamily="34" charset="-122"/>
                <a:cs typeface="Calibri" pitchFamily="34" charset="-120"/>
              </a:rPr>
              <a:t>Privacy, data-sharing &amp; AI governance requirements</a:t>
            </a:r>
            <a:endParaRPr lang="en-US" sz="1050" dirty="0"/>
          </a:p>
        </p:txBody>
      </p:sp>
      <p:sp>
        <p:nvSpPr>
          <p:cNvPr id="14" name="Text 12"/>
          <p:cNvSpPr txBox="1"/>
          <p:nvPr/>
        </p:nvSpPr>
        <p:spPr>
          <a:xfrm>
            <a:off x="502006" y="3438144"/>
            <a:ext cx="914400" cy="566928"/>
          </a:xfrm>
          <a:prstGeom prst="rect">
            <a:avLst/>
          </a:prstGeom>
          <a:noFill/>
          <a:ln/>
        </p:spPr>
        <p:txBody>
          <a:bodyPr wrap="square" lIns="0" tIns="0" rIns="0" bIns="0" rtlCol="0" anchor="ctr"/>
          <a:lstStyle/>
          <a:p>
            <a:pPr algn="l" indent="0" marL="0">
              <a:buNone/>
            </a:pPr>
            <a:r>
              <a:rPr lang="en-US" sz="2000" b="1" i="1" dirty="0">
                <a:solidFill>
                  <a:srgbClr val="046A38"/>
                </a:solidFill>
                <a:latin typeface="Calibri" pitchFamily="34" charset="0"/>
                <a:ea typeface="Calibri" pitchFamily="34" charset="-122"/>
                <a:cs typeface="Calibri" pitchFamily="34" charset="-120"/>
              </a:rPr>
              <a:t>65%</a:t>
            </a:r>
            <a:endParaRPr lang="en-US" sz="2000" dirty="0"/>
          </a:p>
        </p:txBody>
      </p:sp>
      <p:sp>
        <p:nvSpPr>
          <p:cNvPr id="15" name="Shape 13"/>
          <p:cNvSpPr/>
          <p:nvPr/>
        </p:nvSpPr>
        <p:spPr>
          <a:xfrm>
            <a:off x="1462126" y="3493008"/>
            <a:ext cx="0" cy="438912"/>
          </a:xfrm>
          <a:prstGeom prst="line">
            <a:avLst/>
          </a:prstGeom>
          <a:noFill/>
          <a:ln w="15875">
            <a:solidFill>
              <a:srgbClr val="D0D0CE"/>
            </a:solidFill>
            <a:prstDash val="solid"/>
          </a:ln>
        </p:spPr>
      </p:sp>
      <p:sp>
        <p:nvSpPr>
          <p:cNvPr id="16" name="Text 14"/>
          <p:cNvSpPr txBox="1"/>
          <p:nvPr/>
        </p:nvSpPr>
        <p:spPr>
          <a:xfrm>
            <a:off x="1645006" y="3438144"/>
            <a:ext cx="5669280" cy="566928"/>
          </a:xfrm>
          <a:prstGeom prst="rect">
            <a:avLst/>
          </a:prstGeom>
          <a:noFill/>
          <a:ln/>
        </p:spPr>
        <p:txBody>
          <a:bodyPr wrap="square" lIns="0" tIns="0" rIns="0" bIns="0" rtlCol="0" anchor="ctr"/>
          <a:lstStyle/>
          <a:p>
            <a:pPr indent="0" marL="0">
              <a:lnSpc>
                <a:spcPct val="105000"/>
              </a:lnSpc>
              <a:buNone/>
            </a:pPr>
            <a:r>
              <a:rPr lang="en-US" sz="1050" dirty="0">
                <a:solidFill>
                  <a:srgbClr val="000000"/>
                </a:solidFill>
                <a:latin typeface="Calibri" pitchFamily="34" charset="0"/>
                <a:ea typeface="Calibri" pitchFamily="34" charset="-122"/>
                <a:cs typeface="Calibri" pitchFamily="34" charset="-120"/>
              </a:rPr>
              <a:t>Payment innovation (RTP, stablecoins, agentic payments)</a:t>
            </a:r>
            <a:endParaRPr lang="en-US" sz="1050" dirty="0"/>
          </a:p>
        </p:txBody>
      </p:sp>
      <p:sp>
        <p:nvSpPr>
          <p:cNvPr id="17" name="Shape 15"/>
          <p:cNvSpPr/>
          <p:nvPr/>
        </p:nvSpPr>
        <p:spPr>
          <a:xfrm>
            <a:off x="7726680" y="2157984"/>
            <a:ext cx="3465576" cy="1920240"/>
          </a:xfrm>
          <a:prstGeom prst="roundRect">
            <a:avLst>
              <a:gd name="adj" fmla="val 2381"/>
            </a:avLst>
          </a:prstGeom>
          <a:solidFill>
            <a:srgbClr val="F2F2F2"/>
          </a:solidFill>
          <a:ln/>
        </p:spPr>
      </p:sp>
      <p:sp>
        <p:nvSpPr>
          <p:cNvPr id="18" name="Text 16"/>
          <p:cNvSpPr txBox="1"/>
          <p:nvPr/>
        </p:nvSpPr>
        <p:spPr>
          <a:xfrm>
            <a:off x="7872984" y="2231136"/>
            <a:ext cx="3172968" cy="182880"/>
          </a:xfrm>
          <a:prstGeom prst="rect">
            <a:avLst/>
          </a:prstGeom>
          <a:noFill/>
          <a:ln/>
        </p:spPr>
        <p:txBody>
          <a:bodyPr wrap="square" lIns="0" tIns="0" rIns="0" bIns="0" rtlCol="0" anchor="ctr"/>
          <a:lstStyle/>
          <a:p>
            <a:pPr indent="0" marL="0">
              <a:buNone/>
            </a:pPr>
            <a:r>
              <a:rPr lang="en-US" sz="800" b="1" dirty="0">
                <a:solidFill>
                  <a:srgbClr val="046A38"/>
                </a:solidFill>
                <a:latin typeface="Calibri" pitchFamily="34" charset="0"/>
                <a:ea typeface="Calibri" pitchFamily="34" charset="-122"/>
                <a:cs typeface="Calibri" pitchFamily="34" charset="-120"/>
              </a:rPr>
              <a:t>Q10</a:t>
            </a:r>
            <a:endParaRPr lang="en-US" sz="800" dirty="0"/>
          </a:p>
        </p:txBody>
      </p:sp>
      <p:sp>
        <p:nvSpPr>
          <p:cNvPr id="19" name="Text 17"/>
          <p:cNvSpPr txBox="1"/>
          <p:nvPr/>
        </p:nvSpPr>
        <p:spPr>
          <a:xfrm>
            <a:off x="7872984" y="2432304"/>
            <a:ext cx="3172968" cy="539750"/>
          </a:xfrm>
          <a:prstGeom prst="rect">
            <a:avLst/>
          </a:prstGeom>
          <a:noFill/>
          <a:ln/>
        </p:spPr>
        <p:txBody>
          <a:bodyPr wrap="square" lIns="0" tIns="0" rIns="0" bIns="0" rtlCol="0" anchor="t"/>
          <a:lstStyle/>
          <a:p>
            <a:pPr indent="0" marL="0">
              <a:buNone/>
            </a:pPr>
            <a:r>
              <a:rPr lang="en-US" sz="3400" b="1" dirty="0">
                <a:solidFill>
                  <a:srgbClr val="046A38"/>
                </a:solidFill>
                <a:latin typeface="Calibri" pitchFamily="34" charset="0"/>
                <a:ea typeface="Calibri" pitchFamily="34" charset="-122"/>
                <a:cs typeface="Calibri" pitchFamily="34" charset="-120"/>
              </a:rPr>
              <a:t>48%</a:t>
            </a:r>
            <a:endParaRPr lang="en-US" sz="3400" dirty="0"/>
          </a:p>
        </p:txBody>
      </p:sp>
      <p:sp>
        <p:nvSpPr>
          <p:cNvPr id="20" name="Text 18"/>
          <p:cNvSpPr txBox="1"/>
          <p:nvPr/>
        </p:nvSpPr>
        <p:spPr>
          <a:xfrm>
            <a:off x="7872984" y="2990342"/>
            <a:ext cx="3172968" cy="1033018"/>
          </a:xfrm>
          <a:prstGeom prst="rect">
            <a:avLst/>
          </a:prstGeom>
          <a:noFill/>
          <a:ln/>
        </p:spPr>
        <p:txBody>
          <a:bodyPr wrap="square" lIns="0" tIns="0" rIns="0" bIns="0" rtlCol="0" anchor="t"/>
          <a:lstStyle/>
          <a:p>
            <a:pPr indent="0" marL="0">
              <a:lnSpc>
                <a:spcPct val="110000"/>
              </a:lnSpc>
              <a:buNone/>
            </a:pPr>
            <a:r>
              <a:rPr lang="en-US" sz="900" dirty="0">
                <a:solidFill>
                  <a:srgbClr val="53565A"/>
                </a:solidFill>
                <a:latin typeface="Calibri" pitchFamily="34" charset="0"/>
                <a:ea typeface="Calibri" pitchFamily="34" charset="-122"/>
                <a:cs typeface="Calibri" pitchFamily="34" charset="-120"/>
              </a:rPr>
              <a:t>of organizations are still investing primarily to remediate existing compliance gaps — not to get ahead of what's coming next.</a:t>
            </a:r>
            <a:endParaRPr lang="en-US" sz="900" dirty="0"/>
          </a:p>
        </p:txBody>
      </p:sp>
      <p:sp>
        <p:nvSpPr>
          <p:cNvPr id="21" name="Shape 19"/>
          <p:cNvSpPr/>
          <p:nvPr/>
        </p:nvSpPr>
        <p:spPr>
          <a:xfrm>
            <a:off x="502006" y="4306824"/>
            <a:ext cx="11188598" cy="777240"/>
          </a:xfrm>
          <a:prstGeom prst="roundRect">
            <a:avLst>
              <a:gd name="adj" fmla="val 5882"/>
            </a:avLst>
          </a:prstGeom>
          <a:solidFill>
            <a:srgbClr val="046A38"/>
          </a:solidFill>
          <a:ln/>
        </p:spPr>
      </p:sp>
      <p:sp>
        <p:nvSpPr>
          <p:cNvPr id="22" name="Text 20"/>
          <p:cNvSpPr txBox="1"/>
          <p:nvPr/>
        </p:nvSpPr>
        <p:spPr>
          <a:xfrm>
            <a:off x="730606" y="4306824"/>
            <a:ext cx="10731398" cy="777240"/>
          </a:xfrm>
          <a:prstGeom prst="rect">
            <a:avLst/>
          </a:prstGeom>
          <a:noFill/>
          <a:ln/>
        </p:spPr>
        <p:txBody>
          <a:bodyPr wrap="square" lIns="0" tIns="0" rIns="0" bIns="0" rtlCol="0" anchor="ctr"/>
          <a:lstStyle/>
          <a:p>
            <a:pPr algn="l" indent="0" marL="0">
              <a:lnSpc>
                <a:spcPct val="115000"/>
              </a:lnSpc>
              <a:buNone/>
            </a:pPr>
            <a:r>
              <a:rPr lang="en-US" sz="1400" b="1" i="1" dirty="0">
                <a:solidFill>
                  <a:srgbClr val="FFFFFF"/>
                </a:solidFill>
                <a:latin typeface="Calibri" pitchFamily="34" charset="0"/>
                <a:ea typeface="Calibri" pitchFamily="34" charset="-122"/>
                <a:cs typeface="Calibri" pitchFamily="34" charset="-120"/>
              </a:rPr>
              <a:t>No single fraud program can track every shift alone — which is exactly the gap a partner like Deloitte is built to close.</a:t>
            </a:r>
            <a:endParaRPr lang="en-US" sz="1400" dirty="0"/>
          </a:p>
        </p:txBody>
      </p:sp>
      <p:sp>
        <p:nvSpPr>
          <p:cNvPr id="23" name="Shape 21"/>
          <p:cNvSpPr/>
          <p:nvPr/>
        </p:nvSpPr>
        <p:spPr>
          <a:xfrm>
            <a:off x="502006" y="5212080"/>
            <a:ext cx="11188598" cy="0"/>
          </a:xfrm>
          <a:prstGeom prst="line">
            <a:avLst/>
          </a:prstGeom>
          <a:noFill/>
          <a:ln w="9525">
            <a:solidFill>
              <a:srgbClr val="D0D0CE"/>
            </a:solidFill>
            <a:prstDash val="solid"/>
          </a:ln>
        </p:spPr>
      </p:sp>
      <p:sp>
        <p:nvSpPr>
          <p:cNvPr id="24" name="Text 22"/>
          <p:cNvSpPr txBox="1"/>
          <p:nvPr/>
        </p:nvSpPr>
        <p:spPr>
          <a:xfrm>
            <a:off x="502006" y="5266944"/>
            <a:ext cx="11188598" cy="274320"/>
          </a:xfrm>
          <a:prstGeom prst="rect">
            <a:avLst/>
          </a:prstGeom>
          <a:noFill/>
          <a:ln/>
        </p:spPr>
        <p:txBody>
          <a:bodyPr wrap="square" lIns="0" tIns="0" rIns="0" bIns="0" rtlCol="0" anchor="t"/>
          <a:lstStyle/>
          <a:p>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Q11 ranked top 3 — % of respondents who placed the option anywhere in their top 3 (not mutually exclusive). Q10 single select.</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914400"/>
            <a:ext cx="1828800" cy="365760"/>
          </a:xfrm>
          <a:prstGeom prst="rect">
            <a:avLst/>
          </a:prstGeom>
          <a:noFill/>
          <a:ln/>
        </p:spPr>
        <p:txBody>
          <a:bodyPr wrap="square" lIns="0" tIns="0" rIns="0" bIns="0" rtlCol="0" anchor="ctr"/>
          <a:lstStyle/>
          <a:p>
            <a:pPr indent="0" marL="0">
              <a:buNone/>
            </a:pPr>
            <a:r>
              <a:rPr lang="en-US" sz="1400" b="1" dirty="0">
                <a:solidFill>
                  <a:srgbClr val="86BC25"/>
                </a:solidFill>
                <a:latin typeface="IBM Plex Mono" pitchFamily="34" charset="0"/>
                <a:ea typeface="IBM Plex Mono" pitchFamily="34" charset="-122"/>
                <a:cs typeface="IBM Plex Mono" pitchFamily="34" charset="-120"/>
              </a:rPr>
              <a:t>06</a:t>
            </a:r>
            <a:endParaRPr lang="en-US" sz="1400" dirty="0"/>
          </a:p>
        </p:txBody>
      </p:sp>
      <p:sp>
        <p:nvSpPr>
          <p:cNvPr id="5" name="Text 3"/>
          <p:cNvSpPr txBox="1"/>
          <p:nvPr/>
        </p:nvSpPr>
        <p:spPr>
          <a:xfrm>
            <a:off x="502006" y="1298448"/>
            <a:ext cx="5577840" cy="777240"/>
          </a:xfrm>
          <a:prstGeom prst="rect">
            <a:avLst/>
          </a:prstGeom>
          <a:noFill/>
          <a:ln/>
        </p:spPr>
        <p:txBody>
          <a:bodyPr wrap="square" lIns="0" tIns="0" rIns="0" bIns="0" rtlCol="0" anchor="t"/>
          <a:lstStyle/>
          <a:p>
            <a:pPr algn="l" indent="0" marL="0">
              <a:lnSpc>
                <a:spcPct val="105000"/>
              </a:lnSpc>
              <a:buNone/>
            </a:pPr>
            <a:r>
              <a:rPr lang="en-US" sz="2800" b="1" dirty="0">
                <a:solidFill>
                  <a:srgbClr val="FFFFFF"/>
                </a:solidFill>
                <a:latin typeface="Calibri" pitchFamily="34" charset="0"/>
                <a:ea typeface="Calibri" pitchFamily="34" charset="-122"/>
                <a:cs typeface="Calibri" pitchFamily="34" charset="-120"/>
              </a:rPr>
              <a:t>Looking Ahead Three Years</a:t>
            </a:r>
            <a:endParaRPr lang="en-US" sz="2800" dirty="0"/>
          </a:p>
        </p:txBody>
      </p:sp>
      <p:sp>
        <p:nvSpPr>
          <p:cNvPr id="6" name="Text 4"/>
          <p:cNvSpPr txBox="1"/>
          <p:nvPr/>
        </p:nvSpPr>
        <p:spPr>
          <a:xfrm>
            <a:off x="502006" y="2240280"/>
            <a:ext cx="5532120" cy="2103120"/>
          </a:xfrm>
          <a:prstGeom prst="rect">
            <a:avLst/>
          </a:prstGeom>
          <a:noFill/>
          <a:ln/>
        </p:spPr>
        <p:txBody>
          <a:bodyPr wrap="square" lIns="0" tIns="0" rIns="0" bIns="0" rtlCol="0" anchor="t"/>
          <a:lstStyle/>
          <a:p>
            <a:pPr algn="l" indent="0" marL="0">
              <a:lnSpc>
                <a:spcPct val="130000"/>
              </a:lnSpc>
              <a:buNone/>
            </a:pPr>
            <a:r>
              <a:rPr lang="en-US" sz="1250" dirty="0">
                <a:solidFill>
                  <a:srgbClr val="D0D0CE"/>
                </a:solidFill>
                <a:latin typeface="Calibri" pitchFamily="34" charset="0"/>
                <a:ea typeface="Calibri" pitchFamily="34" charset="-122"/>
                <a:cs typeface="Calibri" pitchFamily="34" charset="-120"/>
              </a:rPr>
              <a:t>Every pillar above is a leader's answer to a structured question. Asked to answer in their own words about the next three years, respondents converge on the same handful of ideas — unprompted.</a:t>
            </a:r>
            <a:endParaRPr lang="en-US" sz="1250" dirty="0"/>
          </a:p>
        </p:txBody>
      </p:sp>
      <p:sp>
        <p:nvSpPr>
          <p:cNvPr id="7" name="Shape 5"/>
          <p:cNvSpPr/>
          <p:nvPr/>
        </p:nvSpPr>
        <p:spPr>
          <a:xfrm>
            <a:off x="6400800" y="2514600"/>
            <a:ext cx="457200" cy="457200"/>
          </a:xfrm>
          <a:prstGeom prst="ellipse">
            <a:avLst/>
          </a:prstGeom>
          <a:solidFill>
            <a:srgbClr val="0B1C14"/>
          </a:solidFill>
          <a:ln w="12700">
            <a:solidFill>
              <a:srgbClr val="86BC25"/>
            </a:solidFill>
            <a:prstDash val="solid"/>
          </a:ln>
        </p:spPr>
      </p:sp>
      <p:sp>
        <p:nvSpPr>
          <p:cNvPr id="8" name="Text 6"/>
          <p:cNvSpPr txBox="1"/>
          <p:nvPr/>
        </p:nvSpPr>
        <p:spPr>
          <a:xfrm>
            <a:off x="6400800" y="2441448"/>
            <a:ext cx="457200" cy="457200"/>
          </a:xfrm>
          <a:prstGeom prst="rect">
            <a:avLst/>
          </a:prstGeom>
          <a:noFill/>
          <a:ln/>
        </p:spPr>
        <p:txBody>
          <a:bodyPr wrap="square" lIns="0" tIns="0" rIns="0" bIns="0" rtlCol="0" anchor="ctr"/>
          <a:lstStyle/>
          <a:p>
            <a:pPr algn="ctr" indent="0" marL="0">
              <a:buNone/>
            </a:pPr>
            <a:r>
              <a:rPr lang="en-US" sz="2200" b="1" dirty="0">
                <a:solidFill>
                  <a:srgbClr val="86BC25"/>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6446520" y="2788920"/>
            <a:ext cx="5239512" cy="2514600"/>
          </a:xfrm>
          <a:prstGeom prst="rect">
            <a:avLst/>
          </a:prstGeom>
          <a:ln w="12700">
            <a:solidFill>
              <a:srgbClr val="D0D0CE"/>
            </a:solidFill>
            <a:prstDash val="solid"/>
          </a:ln>
        </p:spPr>
      </p:sp>
      <p:sp>
        <p:nvSpPr>
          <p:cNvPr id="10" name="Text 8"/>
          <p:cNvSpPr txBox="1"/>
          <p:nvPr/>
        </p:nvSpPr>
        <p:spPr>
          <a:xfrm>
            <a:off x="6720840" y="3017520"/>
            <a:ext cx="4690872" cy="1737360"/>
          </a:xfrm>
          <a:prstGeom prst="rect">
            <a:avLst/>
          </a:prstGeom>
          <a:noFill/>
          <a:ln/>
        </p:spPr>
        <p:txBody>
          <a:bodyPr wrap="square" lIns="0" tIns="0" rIns="0" bIns="0" rtlCol="0" anchor="t"/>
          <a:lstStyle/>
          <a:p>
            <a:pPr algn="l" indent="0" marL="0">
              <a:lnSpc>
                <a:spcPct val="124000"/>
              </a:lnSpc>
              <a:buNone/>
            </a:pPr>
            <a:r>
              <a:rPr lang="en-US" sz="1350" i="1" dirty="0">
                <a:solidFill>
                  <a:srgbClr val="FFFFFF"/>
                </a:solidFill>
                <a:latin typeface="Calibri" pitchFamily="34" charset="0"/>
                <a:ea typeface="Calibri" pitchFamily="34" charset="-122"/>
                <a:cs typeface="Calibri" pitchFamily="34" charset="-120"/>
              </a:rPr>
              <a:t>I see the future being more about proactive fraud prevention than investigation after the loss.</a:t>
            </a:r>
            <a:endParaRPr lang="en-US" sz="1350" dirty="0"/>
          </a:p>
        </p:txBody>
      </p:sp>
      <p:sp>
        <p:nvSpPr>
          <p:cNvPr id="11" name="Text 9"/>
          <p:cNvSpPr txBox="1"/>
          <p:nvPr/>
        </p:nvSpPr>
        <p:spPr>
          <a:xfrm>
            <a:off x="6720840" y="4846320"/>
            <a:ext cx="4690872" cy="320040"/>
          </a:xfrm>
          <a:prstGeom prst="rect">
            <a:avLst/>
          </a:prstGeom>
          <a:noFill/>
          <a:ln/>
        </p:spPr>
        <p:txBody>
          <a:bodyPr wrap="square" lIns="0" tIns="0" rIns="0" bIns="0" rtlCol="0" anchor="ctr"/>
          <a:lstStyle/>
          <a:p>
            <a:pPr algn="l" indent="0" marL="0">
              <a:buNone/>
            </a:pPr>
            <a:r>
              <a:rPr lang="en-US" sz="1050" i="1" dirty="0">
                <a:solidFill>
                  <a:srgbClr val="D0D0CE"/>
                </a:solidFill>
                <a:latin typeface="Calibri" pitchFamily="34" charset="0"/>
                <a:ea typeface="Calibri" pitchFamily="34" charset="-122"/>
                <a:cs typeface="Calibri" pitchFamily="34" charset="-120"/>
              </a:rPr>
              <a:t>SENIOR MANAGER · INSURANCE</a:t>
            </a:r>
            <a:endParaRPr lang="en-US" sz="1050" dirty="0"/>
          </a:p>
        </p:txBody>
      </p:sp>
      <p:sp>
        <p:nvSpPr>
          <p:cNvPr id="12" name="Text 10"/>
          <p:cNvSpPr txBox="1"/>
          <p:nvPr/>
        </p:nvSpPr>
        <p:spPr>
          <a:xfrm>
            <a:off x="6720840" y="5394960"/>
            <a:ext cx="4690872" cy="228600"/>
          </a:xfrm>
          <a:prstGeom prst="rect">
            <a:avLst/>
          </a:prstGeom>
          <a:noFill/>
          <a:ln/>
        </p:spPr>
        <p:txBody>
          <a:bodyPr wrap="square" lIns="0" tIns="0" rIns="0" bIns="0" rtlCol="0" anchor="ctr"/>
          <a:lstStyle/>
          <a:p>
            <a:pPr indent="0" marL="0">
              <a:buNone/>
            </a:pPr>
            <a:r>
              <a:rPr lang="en-US" sz="800" i="1" dirty="0">
                <a:solidFill>
                  <a:srgbClr val="53565A"/>
                </a:solidFill>
                <a:latin typeface="Calibri" pitchFamily="34" charset="0"/>
                <a:ea typeface="Calibri" pitchFamily="34" charset="-122"/>
                <a:cs typeface="Calibri" pitchFamily="34" charset="-120"/>
              </a:rPr>
              <a:t>From the survey's open-ended question, in the respondent's own words.</a:t>
            </a:r>
            <a:endParaRPr lang="en-US" sz="800" dirty="0"/>
          </a:p>
        </p:txBody>
      </p:sp>
      <p:sp>
        <p:nvSpPr>
          <p:cNvPr id="13" name="Text 1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316736"/>
          </a:xfrm>
          <a:prstGeom prst="rect">
            <a:avLst/>
          </a:prstGeom>
          <a:solidFill>
            <a:srgbClr val="050607"/>
          </a:solidFill>
          <a:ln/>
        </p:spPr>
      </p:sp>
      <p:sp>
        <p:nvSpPr>
          <p:cNvPr id="3" name="Text 1"/>
          <p:cNvSpPr txBox="1"/>
          <p:nvPr/>
        </p:nvSpPr>
        <p:spPr>
          <a:xfrm>
            <a:off x="502006" y="201168"/>
            <a:ext cx="11188598" cy="201168"/>
          </a:xfrm>
          <a:prstGeom prst="rect">
            <a:avLst/>
          </a:prstGeom>
          <a:noFill/>
          <a:ln/>
        </p:spPr>
        <p:txBody>
          <a:bodyPr wrap="square" lIns="0" tIns="0" rIns="0" bIns="0" rtlCol="0" anchor="ctr"/>
          <a:lstStyle/>
          <a:p>
            <a:pPr algn="l" indent="0" marL="0">
              <a:buNone/>
            </a:pPr>
            <a:r>
              <a:rPr lang="en-US" sz="900" b="1" dirty="0">
                <a:solidFill>
                  <a:srgbClr val="86BC25"/>
                </a:solidFill>
                <a:latin typeface="Calibri" pitchFamily="34" charset="0"/>
                <a:ea typeface="Calibri" pitchFamily="34" charset="-122"/>
                <a:cs typeface="Calibri" pitchFamily="34" charset="-120"/>
              </a:rPr>
              <a:t>06   LOOKING AHEAD THREE YEARS</a:t>
            </a:r>
            <a:endParaRPr lang="en-US" sz="900" dirty="0"/>
          </a:p>
        </p:txBody>
      </p:sp>
      <p:sp>
        <p:nvSpPr>
          <p:cNvPr id="4" name="Text 2"/>
          <p:cNvSpPr txBox="1"/>
          <p:nvPr/>
        </p:nvSpPr>
        <p:spPr>
          <a:xfrm>
            <a:off x="502006" y="438912"/>
            <a:ext cx="11188598" cy="804672"/>
          </a:xfrm>
          <a:prstGeom prst="rect">
            <a:avLst/>
          </a:prstGeom>
          <a:noFill/>
          <a:ln/>
        </p:spPr>
        <p:txBody>
          <a:bodyPr wrap="square" lIns="0" tIns="0" rIns="0" bIns="0" rtlCol="0" anchor="t"/>
          <a:lstStyle/>
          <a:p>
            <a:pPr algn="l" indent="0" marL="0">
              <a:lnSpc>
                <a:spcPct val="108000"/>
              </a:lnSpc>
              <a:buNone/>
            </a:pPr>
            <a:r>
              <a:rPr lang="en-US" sz="1900" b="1" dirty="0">
                <a:solidFill>
                  <a:srgbClr val="FFFFFF"/>
                </a:solidFill>
                <a:latin typeface="Calibri" pitchFamily="34" charset="0"/>
                <a:ea typeface="Calibri" pitchFamily="34" charset="-122"/>
                <a:cs typeface="Calibri" pitchFamily="34" charset="-120"/>
              </a:rPr>
              <a:t>Left to answer in their own words, leaders converge on the same trend running through every closed-ended question above.</a:t>
            </a:r>
            <a:endParaRPr lang="en-US" sz="1900" dirty="0"/>
          </a:p>
        </p:txBody>
      </p:sp>
      <p:sp>
        <p:nvSpPr>
          <p:cNvPr id="5" name="Text 3"/>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502006" y="1463040"/>
            <a:ext cx="0" cy="457200"/>
          </a:xfrm>
          <a:prstGeom prst="line">
            <a:avLst/>
          </a:prstGeom>
          <a:noFill/>
          <a:ln w="25400">
            <a:solidFill>
              <a:srgbClr val="D0D0CE"/>
            </a:solidFill>
            <a:prstDash val="solid"/>
          </a:ln>
        </p:spPr>
      </p:sp>
      <p:sp>
        <p:nvSpPr>
          <p:cNvPr id="7" name="Text 5"/>
          <p:cNvSpPr txBox="1"/>
          <p:nvPr/>
        </p:nvSpPr>
        <p:spPr>
          <a:xfrm>
            <a:off x="648310" y="1463040"/>
            <a:ext cx="11042294" cy="457200"/>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8" name="Shape 6"/>
          <p:cNvSpPr/>
          <p:nvPr/>
        </p:nvSpPr>
        <p:spPr>
          <a:xfrm>
            <a:off x="502006" y="2112264"/>
            <a:ext cx="11188598" cy="868680"/>
          </a:xfrm>
          <a:prstGeom prst="roundRect">
            <a:avLst>
              <a:gd name="adj" fmla="val 6316"/>
            </a:avLst>
          </a:prstGeom>
          <a:solidFill>
            <a:srgbClr val="F2F2F2"/>
          </a:solidFill>
          <a:ln/>
        </p:spPr>
      </p:sp>
      <p:sp>
        <p:nvSpPr>
          <p:cNvPr id="9" name="Text 7"/>
          <p:cNvSpPr txBox="1"/>
          <p:nvPr/>
        </p:nvSpPr>
        <p:spPr>
          <a:xfrm>
            <a:off x="776326" y="2112264"/>
            <a:ext cx="2011680" cy="868680"/>
          </a:xfrm>
          <a:prstGeom prst="rect">
            <a:avLst/>
          </a:prstGeom>
          <a:noFill/>
          <a:ln/>
        </p:spPr>
        <p:txBody>
          <a:bodyPr wrap="square" rtlCol="0" anchor="ctr"/>
          <a:lstStyle/>
          <a:p>
            <a:pPr indent="0" marL="0">
              <a:buNone/>
            </a:pPr>
            <a:r>
              <a:rPr lang="en-US" sz="2800" b="1" dirty="0">
                <a:solidFill>
                  <a:srgbClr val="046A38"/>
                </a:solidFill>
                <a:latin typeface="Calibri" pitchFamily="34" charset="0"/>
                <a:ea typeface="Calibri" pitchFamily="34" charset="-122"/>
                <a:cs typeface="Calibri" pitchFamily="34" charset="-120"/>
              </a:rPr>
              <a:t>100/100</a:t>
            </a:r>
            <a:endParaRPr lang="en-US" sz="2800" dirty="0"/>
          </a:p>
        </p:txBody>
      </p:sp>
      <p:sp>
        <p:nvSpPr>
          <p:cNvPr id="10" name="Text 8"/>
          <p:cNvSpPr txBox="1"/>
          <p:nvPr/>
        </p:nvSpPr>
        <p:spPr>
          <a:xfrm>
            <a:off x="2970886" y="2157984"/>
            <a:ext cx="8445398" cy="777240"/>
          </a:xfrm>
          <a:prstGeom prst="rect">
            <a:avLst/>
          </a:prstGeom>
          <a:noFill/>
          <a:ln/>
        </p:spPr>
        <p:txBody>
          <a:bodyPr wrap="square" rtlCol="0" anchor="ctr"/>
          <a:lstStyle/>
          <a:p>
            <a:pPr indent="0" marL="0">
              <a:lnSpc>
                <a:spcPct val="110000"/>
              </a:lnSpc>
              <a:buNone/>
            </a:pPr>
            <a:r>
              <a:rPr lang="en-US" sz="110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same convergence of GenAI, synthetic identity, and real-time payments keeps recurring, not just in this open-end but throughout the survey.</a:t>
            </a:r>
            <a:endParaRPr lang="en-US" sz="1100" dirty="0"/>
          </a:p>
        </p:txBody>
      </p:sp>
      <p:sp>
        <p:nvSpPr>
          <p:cNvPr id="11" name="Shape 9"/>
          <p:cNvSpPr/>
          <p:nvPr/>
        </p:nvSpPr>
        <p:spPr>
          <a:xfrm>
            <a:off x="502006" y="3118104"/>
            <a:ext cx="5457139" cy="1554480"/>
          </a:xfrm>
          <a:prstGeom prst="roundRect">
            <a:avLst>
              <a:gd name="adj" fmla="val 2941"/>
            </a:avLst>
          </a:prstGeom>
          <a:solidFill>
            <a:srgbClr val="FFFFFF"/>
          </a:solidFill>
          <a:ln w="9525">
            <a:solidFill>
              <a:srgbClr val="D0D0CE"/>
            </a:solidFill>
            <a:prstDash val="solid"/>
          </a:ln>
        </p:spPr>
      </p:sp>
      <p:sp>
        <p:nvSpPr>
          <p:cNvPr id="12" name="Text 10"/>
          <p:cNvSpPr txBox="1"/>
          <p:nvPr/>
        </p:nvSpPr>
        <p:spPr>
          <a:xfrm>
            <a:off x="684886" y="3246120"/>
            <a:ext cx="5091379" cy="1115568"/>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impact will come from combining AI with human expertise rather than replacing fraud analysts.”</a:t>
            </a:r>
            <a:endParaRPr lang="en-US" sz="1000" dirty="0"/>
          </a:p>
        </p:txBody>
      </p:sp>
      <p:sp>
        <p:nvSpPr>
          <p:cNvPr id="13" name="Text 11"/>
          <p:cNvSpPr txBox="1"/>
          <p:nvPr/>
        </p:nvSpPr>
        <p:spPr>
          <a:xfrm>
            <a:off x="684886" y="4379976"/>
            <a:ext cx="5091379" cy="237744"/>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SVP · Insurance</a:t>
            </a:r>
            <a:endParaRPr lang="en-US" sz="900" dirty="0"/>
          </a:p>
        </p:txBody>
      </p:sp>
      <p:sp>
        <p:nvSpPr>
          <p:cNvPr id="14" name="Shape 12"/>
          <p:cNvSpPr/>
          <p:nvPr/>
        </p:nvSpPr>
        <p:spPr>
          <a:xfrm>
            <a:off x="6233465" y="3118104"/>
            <a:ext cx="5457139" cy="1554480"/>
          </a:xfrm>
          <a:prstGeom prst="roundRect">
            <a:avLst>
              <a:gd name="adj" fmla="val 2941"/>
            </a:avLst>
          </a:prstGeom>
          <a:solidFill>
            <a:srgbClr val="FFFFFF"/>
          </a:solidFill>
          <a:ln w="9525">
            <a:solidFill>
              <a:srgbClr val="D0D0CE"/>
            </a:solidFill>
            <a:prstDash val="solid"/>
          </a:ln>
        </p:spPr>
      </p:sp>
      <p:sp>
        <p:nvSpPr>
          <p:cNvPr id="15" name="Text 13"/>
          <p:cNvSpPr txBox="1"/>
          <p:nvPr/>
        </p:nvSpPr>
        <p:spPr>
          <a:xfrm>
            <a:off x="6416345" y="3246120"/>
            <a:ext cx="5091379" cy="1115568"/>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“Well, behavioral analytics sounds promising, but getting the data quality right will be the real challenge.”</a:t>
            </a:r>
            <a:endParaRPr lang="en-US" sz="1000" dirty="0"/>
          </a:p>
        </p:txBody>
      </p:sp>
      <p:sp>
        <p:nvSpPr>
          <p:cNvPr id="16" name="Text 14"/>
          <p:cNvSpPr txBox="1"/>
          <p:nvPr/>
        </p:nvSpPr>
        <p:spPr>
          <a:xfrm>
            <a:off x="6416345" y="4379976"/>
            <a:ext cx="5091379" cy="237744"/>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Banking</a:t>
            </a:r>
            <a:endParaRPr lang="en-US" sz="900" dirty="0"/>
          </a:p>
        </p:txBody>
      </p:sp>
      <p:sp>
        <p:nvSpPr>
          <p:cNvPr id="17" name="Shape 15"/>
          <p:cNvSpPr/>
          <p:nvPr/>
        </p:nvSpPr>
        <p:spPr>
          <a:xfrm>
            <a:off x="502006" y="4855464"/>
            <a:ext cx="5457139" cy="1554480"/>
          </a:xfrm>
          <a:prstGeom prst="roundRect">
            <a:avLst>
              <a:gd name="adj" fmla="val 2941"/>
            </a:avLst>
          </a:prstGeom>
          <a:solidFill>
            <a:srgbClr val="FFFFFF"/>
          </a:solidFill>
          <a:ln w="9525">
            <a:solidFill>
              <a:srgbClr val="D0D0CE"/>
            </a:solidFill>
            <a:prstDash val="solid"/>
          </a:ln>
        </p:spPr>
      </p:sp>
      <p:sp>
        <p:nvSpPr>
          <p:cNvPr id="18" name="Text 16"/>
          <p:cNvSpPr txBox="1"/>
          <p:nvPr/>
        </p:nvSpPr>
        <p:spPr>
          <a:xfrm>
            <a:off x="684886" y="4983480"/>
            <a:ext cx="5091379" cy="1115568"/>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is going to be huge, both for us and for fraudsters, so it will probably change the whole fraud landscape.”</a:t>
            </a:r>
            <a:endParaRPr lang="en-US" sz="1000" dirty="0"/>
          </a:p>
        </p:txBody>
      </p:sp>
      <p:sp>
        <p:nvSpPr>
          <p:cNvPr id="19" name="Text 17"/>
          <p:cNvSpPr txBox="1"/>
          <p:nvPr/>
        </p:nvSpPr>
        <p:spPr>
          <a:xfrm>
            <a:off x="684886" y="6117336"/>
            <a:ext cx="5091379" cy="237744"/>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Banking</a:t>
            </a:r>
            <a:endParaRPr lang="en-US" sz="900" dirty="0"/>
          </a:p>
        </p:txBody>
      </p:sp>
      <p:sp>
        <p:nvSpPr>
          <p:cNvPr id="20" name="Shape 18"/>
          <p:cNvSpPr/>
          <p:nvPr/>
        </p:nvSpPr>
        <p:spPr>
          <a:xfrm>
            <a:off x="6233465" y="4855464"/>
            <a:ext cx="5457139" cy="1554480"/>
          </a:xfrm>
          <a:prstGeom prst="roundRect">
            <a:avLst>
              <a:gd name="adj" fmla="val 2941"/>
            </a:avLst>
          </a:prstGeom>
          <a:solidFill>
            <a:srgbClr val="FFFFFF"/>
          </a:solidFill>
          <a:ln w="9525">
            <a:solidFill>
              <a:srgbClr val="D0D0CE"/>
            </a:solidFill>
            <a:prstDash val="solid"/>
          </a:ln>
        </p:spPr>
      </p:sp>
      <p:sp>
        <p:nvSpPr>
          <p:cNvPr id="21" name="Text 19"/>
          <p:cNvSpPr txBox="1"/>
          <p:nvPr/>
        </p:nvSpPr>
        <p:spPr>
          <a:xfrm>
            <a:off x="6416345" y="4983480"/>
            <a:ext cx="5091379" cy="1115568"/>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22" name="Text 20"/>
          <p:cNvSpPr txBox="1"/>
          <p:nvPr/>
        </p:nvSpPr>
        <p:spPr>
          <a:xfrm>
            <a:off x="6416345" y="6117336"/>
            <a:ext cx="5091379" cy="237744"/>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2026-09-25T15:33:18Z</dcterms:created>
  <dcterms:modified xsi:type="dcterms:W3CDTF">2026-09-25T15:33:18Z</dcterms:modified>
</cp:coreProperties>
</file>