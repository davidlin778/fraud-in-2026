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8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9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0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Banking (n=75)</c:v>
                </c:pt>
              </c:strCache>
            </c:strRef>
          </c:tx>
          <c:spPr>
            <a:solidFill>
              <a:srgbClr val="86BC2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United States</c:v>
                  </c:pt>
                  <c:pt idx="1">
                    <c:v>Canada</c:v>
                  </c:pt>
                  <c:pt idx="2">
                    <c:v>United Kingdom</c:v>
                  </c:pt>
                  <c:pt idx="3">
                    <c:v>Australia</c:v>
                  </c:pt>
                  <c:pt idx="4">
                    <c:v>Singapore</c:v>
                  </c:pt>
                  <c:pt idx="5">
                    <c:v>EU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</c:v>
                </c:pt>
                <c:pt idx="1">
                  <c:v>24</c:v>
                </c:pt>
                <c:pt idx="2">
                  <c:v>12</c:v>
                </c:pt>
                <c:pt idx="3">
                  <c:v>9</c:v>
                </c:pt>
                <c:pt idx="4">
                  <c:v>5</c:v>
                </c:pt>
                <c:pt idx="5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Insurance (n=25)</c:v>
                </c:pt>
              </c:strCache>
            </c:strRef>
          </c:tx>
          <c:spPr>
            <a:solidFill>
              <a:srgbClr val="046A3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United States</c:v>
                  </c:pt>
                  <c:pt idx="1">
                    <c:v>Canada</c:v>
                  </c:pt>
                  <c:pt idx="2">
                    <c:v>United Kingdom</c:v>
                  </c:pt>
                  <c:pt idx="3">
                    <c:v>Australia</c:v>
                  </c:pt>
                  <c:pt idx="4">
                    <c:v>Singapore</c:v>
                  </c:pt>
                  <c:pt idx="5">
                    <c:v>EU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</c:v>
                </c:pt>
                <c:pt idx="1">
                  <c:v>48</c:v>
                </c:pt>
                <c:pt idx="2">
                  <c:v>8</c:v>
                </c:pt>
                <c:pt idx="3">
                  <c:v>4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356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Banking (n=75)</c:v>
                </c:pt>
              </c:strCache>
            </c:strRef>
          </c:tx>
          <c:spPr>
            <a:solidFill>
              <a:srgbClr val="86BC2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Fraud Operations</c:v>
                  </c:pt>
                  <c:pt idx="1">
                    <c:v>Fraud Analytics/Intelligence</c:v>
                  </c:pt>
                  <c:pt idx="2">
                    <c:v>Fraud Strategy &amp; Transformation</c:v>
                  </c:pt>
                  <c:pt idx="3">
                    <c:v>Fraud Risk &amp; Governance</c:v>
                  </c:pt>
                  <c:pt idx="4">
                    <c:v>Fraud Investigations Unit</c:v>
                  </c:pt>
                  <c:pt idx="5">
                    <c:v>Special Investigations Unit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</c:v>
                </c:pt>
                <c:pt idx="1">
                  <c:v>20</c:v>
                </c:pt>
                <c:pt idx="2">
                  <c:v>20</c:v>
                </c:pt>
                <c:pt idx="3">
                  <c:v>19</c:v>
                </c:pt>
                <c:pt idx="4">
                  <c:v>8</c:v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Insurance (n=25)</c:v>
                </c:pt>
              </c:strCache>
            </c:strRef>
          </c:tx>
          <c:spPr>
            <a:solidFill>
              <a:srgbClr val="046A3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Fraud Operations</c:v>
                  </c:pt>
                  <c:pt idx="1">
                    <c:v>Fraud Analytics/Intelligence</c:v>
                  </c:pt>
                  <c:pt idx="2">
                    <c:v>Fraud Strategy &amp; Transformation</c:v>
                  </c:pt>
                  <c:pt idx="3">
                    <c:v>Fraud Risk &amp; Governance</c:v>
                  </c:pt>
                  <c:pt idx="4">
                    <c:v>Fraud Investigations Unit</c:v>
                  </c:pt>
                  <c:pt idx="5">
                    <c:v>Special Investigations Unit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20</c:v>
                </c:pt>
                <c:pt idx="1">
                  <c:v>8</c:v>
                </c:pt>
                <c:pt idx="2">
                  <c:v>12</c:v>
                </c:pt>
                <c:pt idx="3">
                  <c:v>32</c:v>
                </c:pt>
                <c:pt idx="4">
                  <c:v>12</c:v>
                </c:pt>
                <c:pt idx="5">
                  <c:v>16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356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Banking</c:v>
                </c:pt>
              </c:strCache>
            </c:strRef>
          </c:tx>
          <c:spPr>
            <a:solidFill>
              <a:srgbClr val="86BC2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Digital onboarding &amp; KYC</c:v>
                  </c:pt>
                  <c:pt idx="1">
                    <c:v>Payment / wire approvals</c:v>
                  </c:pt>
                  <c:pt idx="2">
                    <c:v>Claims &amp; underwriting review</c:v>
                  </c:pt>
                  <c:pt idx="3">
                    <c:v>Contact center / phone auth</c:v>
                  </c:pt>
                  <c:pt idx="4">
                    <c:v>Exec / employee impersonation</c:v>
                  </c:pt>
                  <c:pt idx="5">
                    <c:v>Video meetings &amp; remote advisory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73</c:v>
                </c:pt>
                <c:pt idx="1">
                  <c:v>73</c:v>
                </c:pt>
                <c:pt idx="2">
                  <c:v>48</c:v>
                </c:pt>
                <c:pt idx="3">
                  <c:v>47</c:v>
                </c:pt>
                <c:pt idx="4">
                  <c:v>40</c:v>
                </c:pt>
                <c:pt idx="5">
                  <c:v>15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356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Insurance</c:v>
                </c:pt>
              </c:strCache>
            </c:strRef>
          </c:tx>
          <c:spPr>
            <a:solidFill>
              <a:srgbClr val="046A3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Contact center / phone auth</c:v>
                  </c:pt>
                  <c:pt idx="1">
                    <c:v>Claims &amp; underwriting review</c:v>
                  </c:pt>
                  <c:pt idx="2">
                    <c:v>Exec / employee impersonation</c:v>
                  </c:pt>
                  <c:pt idx="3">
                    <c:v>Digital onboarding &amp; KYC</c:v>
                  </c:pt>
                  <c:pt idx="4">
                    <c:v>Payment / wire approvals</c:v>
                  </c:pt>
                  <c:pt idx="5">
                    <c:v>Video meetings &amp; remote advisory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72</c:v>
                </c:pt>
                <c:pt idx="1">
                  <c:v>64</c:v>
                </c:pt>
                <c:pt idx="2">
                  <c:v>60</c:v>
                </c:pt>
                <c:pt idx="3">
                  <c:v>52</c:v>
                </c:pt>
                <c:pt idx="4">
                  <c:v>36</c:v>
                </c:pt>
                <c:pt idx="5">
                  <c:v>16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356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Banking (n=75)</c:v>
                </c:pt>
              </c:strCache>
            </c:strRef>
          </c:tx>
          <c:spPr>
            <a:solidFill>
              <a:srgbClr val="86BC2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Limited staff awareness &amp; training</c:v>
                  </c:pt>
                  <c:pt idx="1">
                    <c:v>Insufficient ID verification / prevention</c:v>
                  </c:pt>
                  <c:pt idx="2">
                    <c:v>Lack of fraud detection technology</c:v>
                  </c:pt>
                  <c:pt idx="3">
                    <c:v>Limited 3rd-party intel / consortium data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49</c:v>
                </c:pt>
                <c:pt idx="1">
                  <c:v>51</c:v>
                </c:pt>
                <c:pt idx="2">
                  <c:v>48</c:v>
                </c:pt>
                <c:pt idx="3">
                  <c:v>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Insurance (n=25)</c:v>
                </c:pt>
              </c:strCache>
            </c:strRef>
          </c:tx>
          <c:spPr>
            <a:solidFill>
              <a:srgbClr val="046A3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Limited staff awareness &amp; training</c:v>
                  </c:pt>
                  <c:pt idx="1">
                    <c:v>Insufficient ID verification / prevention</c:v>
                  </c:pt>
                  <c:pt idx="2">
                    <c:v>Lack of fraud detection technology</c:v>
                  </c:pt>
                  <c:pt idx="3">
                    <c:v>Limited 3rd-party intel / consortium data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64</c:v>
                </c:pt>
                <c:pt idx="1">
                  <c:v>48</c:v>
                </c:pt>
                <c:pt idx="2">
                  <c:v>40</c:v>
                </c:pt>
                <c:pt idx="3">
                  <c:v>44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356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Banking</c:v>
                </c:pt>
              </c:strCache>
            </c:strRef>
          </c:tx>
          <c:spPr>
            <a:solidFill>
              <a:srgbClr val="86BC2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Fintech partners</c:v>
                  </c:pt>
                  <c:pt idx="1">
                    <c:v>Business &amp; commercial clients</c:v>
                  </c:pt>
                  <c:pt idx="2">
                    <c:v>Dealers &amp; indirect lending partners</c:v>
                  </c:pt>
                  <c:pt idx="3">
                    <c:v>Mortgage brokers</c:v>
                  </c:pt>
                  <c:pt idx="4">
                    <c:v>Merchants</c:v>
                  </c:pt>
                  <c:pt idx="5">
                    <c:v>Appraisers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</c:v>
                </c:pt>
                <c:pt idx="1">
                  <c:v>24</c:v>
                </c:pt>
                <c:pt idx="2">
                  <c:v>20</c:v>
                </c:pt>
                <c:pt idx="3">
                  <c:v>16</c:v>
                </c:pt>
                <c:pt idx="4">
                  <c:v>7</c:v>
                </c:pt>
                <c:pt idx="5">
                  <c:v>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356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Insurance</c:v>
                </c:pt>
              </c:strCache>
            </c:strRef>
          </c:tx>
          <c:spPr>
            <a:solidFill>
              <a:srgbClr val="046A3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Health care providers</c:v>
                  </c:pt>
                  <c:pt idx="1">
                    <c:v>Automotive service providers</c:v>
                  </c:pt>
                  <c:pt idx="2">
                    <c:v>Brokers &amp; distribution partners</c:v>
                  </c:pt>
                  <c:pt idx="3">
                    <c:v>Third-party administrators (TPAs)</c:v>
                  </c:pt>
                  <c:pt idx="4">
                    <c:v>Property claims service providers</c:v>
                  </c:pt>
                  <c:pt idx="5">
                    <c:v>Legal representatives &amp; paralegals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16</c:v>
                </c:pt>
                <c:pt idx="2">
                  <c:v>16</c:v>
                </c:pt>
                <c:pt idx="3">
                  <c:v>12</c:v>
                </c:pt>
                <c:pt idx="4">
                  <c:v>12</c:v>
                </c:pt>
                <c:pt idx="5">
                  <c:v>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356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Banking (n=75)</c:v>
                </c:pt>
              </c:strCache>
            </c:strRef>
          </c:tx>
          <c:spPr>
            <a:solidFill>
              <a:srgbClr val="86BC2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Increase info sharing &amp; intelligence</c:v>
                  </c:pt>
                  <c:pt idx="1">
                    <c:v>Enhance ongoing monitoring &amp; detection</c:v>
                  </c:pt>
                  <c:pt idx="2">
                    <c:v>Strengthen onboarding verification &amp; due diligence</c:v>
                  </c:pt>
                  <c:pt idx="3">
                    <c:v>Strengthen 3rd-party oversight &amp; accountability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33</c:v>
                </c:pt>
                <c:pt idx="1">
                  <c:v>25</c:v>
                </c:pt>
                <c:pt idx="2">
                  <c:v>23</c:v>
                </c:pt>
                <c:pt idx="3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Insurance (n=25)</c:v>
                </c:pt>
              </c:strCache>
            </c:strRef>
          </c:tx>
          <c:spPr>
            <a:solidFill>
              <a:srgbClr val="046A3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Increase info sharing &amp; intelligence</c:v>
                  </c:pt>
                  <c:pt idx="1">
                    <c:v>Enhance ongoing monitoring &amp; detection</c:v>
                  </c:pt>
                  <c:pt idx="2">
                    <c:v>Strengthen onboarding verification &amp; due diligence</c:v>
                  </c:pt>
                  <c:pt idx="3">
                    <c:v>Strengthen 3rd-party oversight &amp; accountability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32</c:v>
                </c:pt>
                <c:pt idx="2">
                  <c:v>24</c:v>
                </c:pt>
                <c:pt idx="3">
                  <c:v>24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356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Banking (n=75)</c:v>
                </c:pt>
              </c:strCache>
            </c:strRef>
          </c:tx>
          <c:spPr>
            <a:solidFill>
              <a:srgbClr val="86BC2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Reactive</c:v>
                  </c:pt>
                  <c:pt idx="1">
                    <c:v>Foundational</c:v>
                  </c:pt>
                  <c:pt idx="2">
                    <c:v>Managed</c:v>
                  </c:pt>
                  <c:pt idx="3">
                    <c:v>Integrated</c:v>
                  </c:pt>
                  <c:pt idx="4">
                    <c:v>Advanced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5</c:v>
                </c:pt>
                <c:pt idx="2">
                  <c:v>9</c:v>
                </c:pt>
                <c:pt idx="3">
                  <c:v>48</c:v>
                </c:pt>
                <c:pt idx="4">
                  <c:v>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Insurance (n=25)</c:v>
                </c:pt>
              </c:strCache>
            </c:strRef>
          </c:tx>
          <c:spPr>
            <a:solidFill>
              <a:srgbClr val="046A3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Reactive</c:v>
                  </c:pt>
                  <c:pt idx="1">
                    <c:v>Foundational</c:v>
                  </c:pt>
                  <c:pt idx="2">
                    <c:v>Managed</c:v>
                  </c:pt>
                  <c:pt idx="3">
                    <c:v>Integrated</c:v>
                  </c:pt>
                  <c:pt idx="4">
                    <c:v>Advanced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</c:v>
                </c:pt>
                <c:pt idx="1">
                  <c:v>4</c:v>
                </c:pt>
                <c:pt idx="2">
                  <c:v>20</c:v>
                </c:pt>
                <c:pt idx="3">
                  <c:v>32</c:v>
                </c:pt>
                <c:pt idx="4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356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Current approach</c:v>
                </c:pt>
              </c:strCache>
            </c:strRef>
          </c:tx>
          <c:spPr>
            <a:solidFill>
              <a:srgbClr val="86BC2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AI-enabled tools augmentation</c:v>
                  </c:pt>
                  <c:pt idx="1">
                    <c:v>Automating workflows</c:v>
                  </c:pt>
                  <c:pt idx="2">
                    <c:v>Redesigning processes &amp; playbooks</c:v>
                  </c:pt>
                  <c:pt idx="3">
                    <c:v>Outsourcing</c:v>
                  </c:pt>
                  <c:pt idx="4">
                    <c:v>Hiring / workforce expansion</c:v>
                  </c:pt>
                  <c:pt idx="5">
                    <c:v>Combination of approaches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34</c:v>
                </c:pt>
                <c:pt idx="1">
                  <c:v>29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3-year focus</c:v>
                </c:pt>
              </c:strCache>
            </c:strRef>
          </c:tx>
          <c:spPr>
            <a:solidFill>
              <a:srgbClr val="046A3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AI-enabled tools augmentation</c:v>
                  </c:pt>
                  <c:pt idx="1">
                    <c:v>Automating workflows</c:v>
                  </c:pt>
                  <c:pt idx="2">
                    <c:v>Redesigning processes &amp; playbooks</c:v>
                  </c:pt>
                  <c:pt idx="3">
                    <c:v>Outsourcing</c:v>
                  </c:pt>
                  <c:pt idx="4">
                    <c:v>Hiring / workforce expansion</c:v>
                  </c:pt>
                  <c:pt idx="5">
                    <c:v>Combination of approaches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41</c:v>
                </c:pt>
                <c:pt idx="1">
                  <c:v>27</c:v>
                </c:pt>
                <c:pt idx="2">
                  <c:v>18</c:v>
                </c:pt>
                <c:pt idx="3">
                  <c:v>7</c:v>
                </c:pt>
                <c:pt idx="4">
                  <c:v>5</c:v>
                </c:pt>
                <c:pt idx="5">
                  <c:v>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356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6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006" y="4572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800454" y="598932"/>
            <a:ext cx="82296" cy="82296"/>
          </a:xfrm>
          <a:prstGeom prst="ellipse">
            <a:avLst/>
          </a:prstGeom>
          <a:solidFill>
            <a:srgbClr val="86BC25"/>
          </a:solidFill>
          <a:ln/>
        </p:spPr>
      </p:sp>
      <p:sp>
        <p:nvSpPr>
          <p:cNvPr id="4" name="Shape 2"/>
          <p:cNvSpPr/>
          <p:nvPr/>
        </p:nvSpPr>
        <p:spPr>
          <a:xfrm>
            <a:off x="3392424" y="731520"/>
            <a:ext cx="5404104" cy="5404104"/>
          </a:xfrm>
          <a:prstGeom prst="rect">
            <a:avLst/>
          </a:prstGeom>
          <a:solidFill>
            <a:srgbClr val="0B1C14"/>
          </a:solidFill>
          <a:ln w="9525">
            <a:solidFill>
              <a:srgbClr val="86BC2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92424" y="731520"/>
            <a:ext cx="5404104" cy="5404104"/>
          </a:xfrm>
          <a:prstGeom prst="rect">
            <a:avLst/>
          </a:prstGeom>
          <a:ln w="12700">
            <a:solidFill>
              <a:srgbClr val="86BC25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3776472" y="1115568"/>
            <a:ext cx="4636008" cy="4636008"/>
          </a:xfrm>
          <a:prstGeom prst="rect">
            <a:avLst/>
          </a:prstGeom>
          <a:ln w="12700">
            <a:solidFill>
              <a:srgbClr val="0D8390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4160520" y="1499616"/>
            <a:ext cx="3867912" cy="3867912"/>
          </a:xfrm>
          <a:prstGeom prst="rect">
            <a:avLst/>
          </a:prstGeom>
          <a:ln w="12700">
            <a:solidFill>
              <a:srgbClr val="86BC25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4544568" y="1883664"/>
            <a:ext cx="3099816" cy="3099816"/>
          </a:xfrm>
          <a:prstGeom prst="rect">
            <a:avLst/>
          </a:prstGeom>
          <a:ln w="12700">
            <a:solidFill>
              <a:srgbClr val="0D8390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4928616" y="2267712"/>
            <a:ext cx="2331720" cy="2331720"/>
          </a:xfrm>
          <a:prstGeom prst="rect">
            <a:avLst/>
          </a:prstGeom>
          <a:ln w="12700">
            <a:solidFill>
              <a:srgbClr val="86BC25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5312664" y="2651760"/>
            <a:ext cx="1563624" cy="1563624"/>
          </a:xfrm>
          <a:prstGeom prst="rect">
            <a:avLst/>
          </a:prstGeom>
          <a:ln w="12700">
            <a:solidFill>
              <a:srgbClr val="0D8390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3392424" y="2656332"/>
            <a:ext cx="540410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3392424" y="3451860"/>
            <a:ext cx="5404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LEADERS SURVEYED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02006" y="4901184"/>
            <a:ext cx="9601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in 2026: A Deloitte Perspective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502006" y="5870448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&amp; Insurance Fraud Landscape Survey — n=100, fielding complete
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AI, information sharing, third-party risk, and operating model change are reshaping fraud leadership  ·  Fielded via GLG for the D.fend Fin Crime Forum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006" y="256032"/>
            <a:ext cx="111885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Contents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11346790" y="6537960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98348" y="1371600"/>
            <a:ext cx="7772400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5" name="Shape 3"/>
          <p:cNvSpPr/>
          <p:nvPr/>
        </p:nvSpPr>
        <p:spPr>
          <a:xfrm>
            <a:off x="589788" y="1444752"/>
            <a:ext cx="365760" cy="365760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89788" y="1444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92708" y="1371600"/>
            <a:ext cx="7040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 in Brief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98348" y="1984248"/>
            <a:ext cx="7772400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Shape 7"/>
          <p:cNvSpPr/>
          <p:nvPr/>
        </p:nvSpPr>
        <p:spPr>
          <a:xfrm>
            <a:off x="589788" y="2057400"/>
            <a:ext cx="365760" cy="365760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9788" y="2057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2708" y="1984248"/>
            <a:ext cx="7040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Respondent Profile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98348" y="2596896"/>
            <a:ext cx="7772400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3" name="Shape 11"/>
          <p:cNvSpPr/>
          <p:nvPr/>
        </p:nvSpPr>
        <p:spPr>
          <a:xfrm>
            <a:off x="589788" y="2670048"/>
            <a:ext cx="365760" cy="365760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9788" y="2670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2708" y="2596896"/>
            <a:ext cx="7040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&amp; Emerging AI Risk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98348" y="3209544"/>
            <a:ext cx="7772400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7" name="Shape 15"/>
          <p:cNvSpPr/>
          <p:nvPr/>
        </p:nvSpPr>
        <p:spPr>
          <a:xfrm>
            <a:off x="589788" y="3282696"/>
            <a:ext cx="365760" cy="365760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9788" y="32826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2708" y="3209544"/>
            <a:ext cx="7040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Information Sharing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98348" y="3822192"/>
            <a:ext cx="7772400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1" name="Shape 19"/>
          <p:cNvSpPr/>
          <p:nvPr/>
        </p:nvSpPr>
        <p:spPr>
          <a:xfrm>
            <a:off x="589788" y="3895344"/>
            <a:ext cx="365760" cy="365760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9788" y="3895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2708" y="3822192"/>
            <a:ext cx="7040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Fraud Risk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98348" y="4434840"/>
            <a:ext cx="7772400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5" name="Shape 23"/>
          <p:cNvSpPr/>
          <p:nvPr/>
        </p:nvSpPr>
        <p:spPr>
          <a:xfrm>
            <a:off x="589788" y="4507992"/>
            <a:ext cx="365760" cy="365760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89788" y="4507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092708" y="4434840"/>
            <a:ext cx="7040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Model Transformation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498348" y="5047488"/>
            <a:ext cx="7772400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9" name="Shape 27"/>
          <p:cNvSpPr/>
          <p:nvPr/>
        </p:nvSpPr>
        <p:spPr>
          <a:xfrm>
            <a:off x="589788" y="5120640"/>
            <a:ext cx="365760" cy="365760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89788" y="5120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92708" y="5047488"/>
            <a:ext cx="7040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&amp; Market Change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498348" y="5660136"/>
            <a:ext cx="7772400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3" name="Shape 31"/>
          <p:cNvSpPr/>
          <p:nvPr/>
        </p:nvSpPr>
        <p:spPr>
          <a:xfrm>
            <a:off x="589788" y="5733288"/>
            <a:ext cx="365760" cy="365760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89788" y="5733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1092708" y="5660136"/>
            <a:ext cx="7040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 Three Years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05060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006" y="182880"/>
            <a:ext cx="111885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 IN BRIEF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006" y="420624"/>
            <a:ext cx="111885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has already redrawn the fraud map. The real test now is whether banks and insurers can close ranks around messy data and a maturing operating model fast enough to keep up.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11346790" y="6537960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006" y="1709928"/>
            <a:ext cx="111885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100 senior fraud leaders at banks and insurers worldwide, one theme recurs in every section of this survey: the front end of the customer relationship — onboarding, authentication, and payment approval — is now the most contested ground in fraud. Leaders broadly agree on what needs to happen next: closer information sharing, smarter third-party oversight, and a fraud operating model built around AI. What divides them is less appetite than infrastructure — clean, standardized data, clear legal footing, and a workforce trained to keep pace.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006" y="3246120"/>
            <a:ext cx="2606040" cy="12344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6598" y="3374136"/>
            <a:ext cx="2276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666598" y="3813048"/>
            <a:ext cx="22768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rising AI/deepfake vulnerability in digital onboarding &amp; KYC — the single most-cited area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64078" y="3246120"/>
            <a:ext cx="2606040" cy="12344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28670" y="3374136"/>
            <a:ext cx="2276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528670" y="3813048"/>
            <a:ext cx="22768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to poor data standardization as the top barrier to fraud information sharing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26150" y="3246120"/>
            <a:ext cx="2606040" cy="12344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90742" y="3374136"/>
            <a:ext cx="2276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390742" y="3813048"/>
            <a:ext cx="22768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Banking's top two third-party exposures — onboarding/KYC and payment/wire — are an exact tie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88222" y="3246120"/>
            <a:ext cx="2606040" cy="12344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252814" y="3374136"/>
            <a:ext cx="2276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9252814" y="3813048"/>
            <a:ext cx="22768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self-rate their fraud program “Integrated” or “Advanced” in maturity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16736"/>
          </a:xfrm>
          <a:prstGeom prst="rect">
            <a:avLst/>
          </a:prstGeom>
          <a:solidFill>
            <a:srgbClr val="05060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006" y="438912"/>
            <a:ext cx="1118859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the D.fend Fin Crime Forum agenda in what fraud leaders are actually seeing — not assumptions about it.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1346790" y="6537960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02006" y="1600200"/>
            <a:ext cx="111885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Fielded via GLG among senior fraud leaders at banks and insurers globally — fielding closed at exactly the target sample size and mix.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006" y="2057400"/>
            <a:ext cx="251460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006" y="2148840"/>
            <a:ext cx="2514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02006" y="2587752"/>
            <a:ext cx="2514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respondents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6646" y="2057400"/>
            <a:ext cx="251460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36646" y="2148840"/>
            <a:ext cx="2514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/ 25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336646" y="2587752"/>
            <a:ext cx="2514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Banking / Insurance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71286" y="2057400"/>
            <a:ext cx="251460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71286" y="2148840"/>
            <a:ext cx="2514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171286" y="2587752"/>
            <a:ext cx="2514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Director-level or above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005926" y="2057400"/>
            <a:ext cx="251460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005926" y="2148840"/>
            <a:ext cx="2514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005926" y="2587752"/>
            <a:ext cx="2514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Answered the open-end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02006" y="3026664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S6  </a:t>
            </a:r>
            <a:pPr indent="0" marL="0">
              <a:buNone/>
            </a:pPr>
            <a:r>
              <a:rPr lang="en-US" sz="95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market best describes your primary area of responsibility for fraud risk management?”</a:t>
            </a:r>
            <a:endParaRPr lang="en-US" sz="9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502006" y="3337560"/>
          <a:ext cx="54864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6172200" y="3026664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S4  </a:t>
            </a:r>
            <a:pPr indent="0" marL="0">
              <a:buNone/>
            </a:pPr>
            <a:r>
              <a:rPr lang="en-US" sz="95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of the following best describes your department within your organization?”</a:t>
            </a:r>
            <a:endParaRPr lang="en-US" sz="9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6172200" y="3337560"/>
          <a:ext cx="54864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6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006" y="4572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800454" y="598932"/>
            <a:ext cx="82296" cy="82296"/>
          </a:xfrm>
          <a:prstGeom prst="ellipse">
            <a:avLst/>
          </a:prstGeom>
          <a:solidFill>
            <a:srgbClr val="86BC2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006" y="914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6BC2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02006" y="1298448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&amp; Emerging AI Risk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02006" y="2240280"/>
            <a:ext cx="5532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research pillar in this survey ultimately traces back to one shift: AI has made fraud cheaper to produce and harder to distinguish from the real thing. We start where that shift is being felt first — inside the fraud program itself.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2514600"/>
            <a:ext cx="457200" cy="457200"/>
          </a:xfrm>
          <a:prstGeom prst="ellipse">
            <a:avLst/>
          </a:prstGeom>
          <a:solidFill>
            <a:srgbClr val="0B1C14"/>
          </a:solidFill>
          <a:ln w="12700">
            <a:solidFill>
              <a:srgbClr val="86BC2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2441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46520" y="2788920"/>
            <a:ext cx="5239512" cy="2514600"/>
          </a:xfrm>
          <a:prstGeom prst="rect">
            <a:avLst/>
          </a:prstGeom>
          <a:ln w="12700">
            <a:solidFill>
              <a:srgbClr val="D0D0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20840" y="3017520"/>
            <a:ext cx="46908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convergence of genAI, synthetic identities and real time digital identity verification. This will matter significantly because fraudsters will become AI-native, identity becomes the new battleground, fraud prevention will replace fraud detection, and the winners will use AI against AI.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4846320"/>
            <a:ext cx="4690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· INSURANCE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5394960"/>
            <a:ext cx="46908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survey's open-ended question, in the respondent's own words.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11346790" y="6537960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16736"/>
          </a:xfrm>
          <a:prstGeom prst="rect">
            <a:avLst/>
          </a:prstGeom>
          <a:solidFill>
            <a:srgbClr val="05060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006" y="201168"/>
            <a:ext cx="111885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 DEEPFAKE &amp; EMERGING AI RISK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006" y="438912"/>
            <a:ext cx="1118859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AI-enabled fraud is raising vulnerability almost everywhere at once — not in one predictable channel.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1346790" y="6537960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006" y="1463040"/>
            <a:ext cx="0" cy="45720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8310" y="1463040"/>
            <a:ext cx="110422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Q2  </a:t>
            </a:r>
            <a:pPr algn="l" indent="0" marL="0">
              <a:lnSpc>
                <a:spcPct val="106000"/>
              </a:lnSpc>
              <a:buNone/>
            </a:pPr>
            <a:r>
              <a:rPr lang="en-US" sz="100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area of your organization has experienced the greatest increase in vulnerability to fraud enabled by deepfakes and other advanced or frontier AI capabilities over the past 12 months?”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02006" y="2066544"/>
            <a:ext cx="111885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of six areas cluster within range of one another, led by digital onboarding and KYC. The one clear exception is video meetings and remote advisory — cited by less than a fifth as often.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02006" y="2596896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599286" y="2670048"/>
            <a:ext cx="0" cy="53949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782166" y="2596896"/>
            <a:ext cx="41769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onboarding, KYC &amp; identity verification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096305" y="2596896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64%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7193585" y="2670048"/>
            <a:ext cx="0" cy="53949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76465" y="2596896"/>
            <a:ext cx="41769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Payment, wire &amp; transaction approvals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02006" y="3374136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599286" y="3447288"/>
            <a:ext cx="0" cy="53949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82166" y="3374136"/>
            <a:ext cx="41769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Claims, underwriting &amp; lending review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096305" y="3374136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7193585" y="3447288"/>
            <a:ext cx="0" cy="53949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76465" y="3374136"/>
            <a:ext cx="41769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center / phone-based authentication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02006" y="4151376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1599286" y="4224528"/>
            <a:ext cx="0" cy="53949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782166" y="4151376"/>
            <a:ext cx="41769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/ employee / broker impersonation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6305" y="4151376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7193585" y="4224528"/>
            <a:ext cx="0" cy="53949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76465" y="4151376"/>
            <a:ext cx="41769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meetings &amp; remote advisory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2006" y="5303520"/>
            <a:ext cx="11188598" cy="0"/>
          </a:xfrm>
          <a:prstGeom prst="line">
            <a:avLst/>
          </a:prstGeom>
          <a:noFill/>
          <a:ln w="9525">
            <a:solidFill>
              <a:srgbClr val="D0D0C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2006" y="5376672"/>
            <a:ext cx="1118859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top 3 — shown as % of respondents who placed the option anywhere in their top 3 (not mutually exclusive; figures don't sum to 100%).  </a:t>
            </a:r>
            <a:pPr algn="l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options as fielded: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“Contact center / phone-based authentication”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“Digital onboarding, KYC, and identity verification”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“Claims, underwriting, lending, or application review”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“Payment, wire, or transaction approvals”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“Video meetings and remote advisory interactions”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“Executive, employee, broker, or advisor impersonation”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16736"/>
          </a:xfrm>
          <a:prstGeom prst="rect">
            <a:avLst/>
          </a:prstGeom>
          <a:solidFill>
            <a:srgbClr val="05060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006" y="201168"/>
            <a:ext cx="111885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 DEEPFAKE &amp; EMERGING AI RISK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006" y="438912"/>
            <a:ext cx="1118859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overall #1 area masks a real split: Banking's top exposure is an exact tie between onboarding/KYC and payment/wire, while Insurance's is contact center and claims.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1346790" y="6537960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006" y="1463040"/>
            <a:ext cx="0" cy="45720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8310" y="1463040"/>
            <a:ext cx="110422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Q2  </a:t>
            </a:r>
            <a:pPr algn="l" indent="0" marL="0">
              <a:lnSpc>
                <a:spcPct val="106000"/>
              </a:lnSpc>
              <a:buNone/>
            </a:pPr>
            <a:r>
              <a:rPr lang="en-US" sz="100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“Same question, broken out by Banking vs. Insurance (% selecting in top 3)”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02006" y="21122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(n=75) — ranked</a:t>
            </a:r>
            <a:endParaRPr lang="en-US" sz="11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02006" y="2414016"/>
          <a:ext cx="54864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172200" y="21122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(n=25) — ranked</a:t>
            </a:r>
            <a:endParaRPr lang="en-US" sz="1150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6172200" y="2414016"/>
          <a:ext cx="54864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502006" y="5312664"/>
            <a:ext cx="11188598" cy="502920"/>
          </a:xfrm>
          <a:prstGeom prst="roundRect">
            <a:avLst>
              <a:gd name="adj" fmla="val 9091"/>
            </a:avLst>
          </a:prstGeom>
          <a:solidFill>
            <a:srgbClr val="F2F2F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39166" y="5312664"/>
            <a:ext cx="1091427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panel is sorted independently. Values are % of that segment's respondents who placed the option anywhere in their top 3 (not mutually exclusive). Banking n=75, Insurance n=25 — bases differ, so compare rank order and share within each segment, not raw counts. Banking's top two areas are tied at 73%.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16736"/>
          </a:xfrm>
          <a:prstGeom prst="rect">
            <a:avLst/>
          </a:prstGeom>
          <a:solidFill>
            <a:srgbClr val="05060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006" y="201168"/>
            <a:ext cx="111885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 DEEPFAKE &amp; EMERGING AI RISK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006" y="438912"/>
            <a:ext cx="1118859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and AI-enabled fraud demands a coordinated response — no single lever stands out above the rest.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1346790" y="6537960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006" y="1463040"/>
            <a:ext cx="0" cy="45720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8310" y="1463040"/>
            <a:ext cx="110422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Q3  </a:t>
            </a:r>
            <a:pPr algn="l" indent="0" marL="0">
              <a:lnSpc>
                <a:spcPct val="106000"/>
              </a:lnSpc>
              <a:buNone/>
            </a:pPr>
            <a:r>
              <a:rPr lang="en-US" sz="100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are the key obstacles to managing fraud risks created or amplified by advanced and frontier AI capabilities (e.g., deepfakes, synthetic identities, AI-enabled impersonation, and autonomous AI agents)?”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02006" y="2066544"/>
            <a:ext cx="111885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 controls, detection technology, third-party intelligence, and staff training all land within 10 points of each other. Fraud leaders see this as a multi-front problem, not a single missing tool.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02006" y="2752344"/>
            <a:ext cx="105156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1599286" y="2825496"/>
            <a:ext cx="0" cy="47091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782166" y="2752344"/>
            <a:ext cx="417697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staff awareness &amp; training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096305" y="2752344"/>
            <a:ext cx="105156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7193585" y="2825496"/>
            <a:ext cx="0" cy="47091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76465" y="2752344"/>
            <a:ext cx="417697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Insufficient identity verification / prevention capability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02006" y="3461004"/>
            <a:ext cx="105156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1599286" y="3534156"/>
            <a:ext cx="0" cy="47091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82166" y="3461004"/>
            <a:ext cx="417697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of fraud detection technology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096305" y="3461004"/>
            <a:ext cx="105156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7193585" y="3534156"/>
            <a:ext cx="0" cy="47091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76465" y="3461004"/>
            <a:ext cx="417697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3rd-party intel / consortium data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006" y="5303520"/>
            <a:ext cx="11188598" cy="0"/>
          </a:xfrm>
          <a:prstGeom prst="line">
            <a:avLst/>
          </a:prstGeom>
          <a:noFill/>
          <a:ln w="9525">
            <a:solidFill>
              <a:srgbClr val="D0D0C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006" y="5376672"/>
            <a:ext cx="1118859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all that apply — figures don't sum to 100%.  </a:t>
            </a:r>
            <a:pPr algn="l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options as fielded: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“Insufficient identity verification or prevention capabilities in the existing environment”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“Lack of fraud detection technology in the existing environment”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“Limited or no available 3rd party fraud intelligence and/or consortium information”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“Limited staff awareness and training on deepfake-related fraud risk”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16736"/>
          </a:xfrm>
          <a:prstGeom prst="rect">
            <a:avLst/>
          </a:prstGeom>
          <a:solidFill>
            <a:srgbClr val="05060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006" y="201168"/>
            <a:ext cx="111885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 DEEPFAKE &amp; EMERGING AI RISK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006" y="438912"/>
            <a:ext cx="1118859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leans hardest on the training gap (64%); Banking spreads its concern evenly across all four obstacles.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1346790" y="6537960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006" y="1463040"/>
            <a:ext cx="0" cy="45720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8310" y="1463040"/>
            <a:ext cx="110422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Q3  </a:t>
            </a:r>
            <a:pPr algn="l" indent="0" marL="0">
              <a:lnSpc>
                <a:spcPct val="106000"/>
              </a:lnSpc>
              <a:buNone/>
            </a:pPr>
            <a:r>
              <a:rPr lang="en-US" sz="100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“Same question, broken out by Banking vs. Insurance”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006" y="2157984"/>
          <a:ext cx="11188598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02006" y="5303520"/>
            <a:ext cx="11188598" cy="0"/>
          </a:xfrm>
          <a:prstGeom prst="line">
            <a:avLst/>
          </a:prstGeom>
          <a:noFill/>
          <a:ln w="9525">
            <a:solidFill>
              <a:srgbClr val="D0D0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006" y="5376672"/>
            <a:ext cx="1118859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all that apply — figures don't sum to 100%.  </a:t>
            </a:r>
            <a:pPr algn="l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options as fielded: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“Insufficient identity verification or prevention capabilities in the existing environment”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“Lack of fraud detection technology in the existing environment”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“Limited or no available 3rd party fraud intelligence and/or consortium information”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“Limited staff awareness and training on deepfake-related fraud risk”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06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006" y="4572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800454" y="598932"/>
            <a:ext cx="82296" cy="82296"/>
          </a:xfrm>
          <a:prstGeom prst="ellipse">
            <a:avLst/>
          </a:prstGeom>
          <a:solidFill>
            <a:srgbClr val="86BC2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006" y="914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6BC2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02006" y="1298448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Information Sharing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02006" y="2240280"/>
            <a:ext cx="5532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technology gaps are one obstacle to fighting AI-driven fraud, information sharing is the next — and it's less about willingness than plumbing. Leaders want to share more; what's stopping them is structural.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2514600"/>
            <a:ext cx="457200" cy="457200"/>
          </a:xfrm>
          <a:prstGeom prst="ellipse">
            <a:avLst/>
          </a:prstGeom>
          <a:solidFill>
            <a:srgbClr val="0B1C14"/>
          </a:solidFill>
          <a:ln w="12700">
            <a:solidFill>
              <a:srgbClr val="86BC2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2441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46520" y="2788920"/>
            <a:ext cx="5239512" cy="2514600"/>
          </a:xfrm>
          <a:prstGeom prst="rect">
            <a:avLst/>
          </a:prstGeom>
          <a:ln w="12700">
            <a:solidFill>
              <a:srgbClr val="D0D0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20840" y="3017520"/>
            <a:ext cx="46908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really feel that fraud intelligence sharing can make a difference, but there are still practical barriers to doing it well.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4846320"/>
            <a:ext cx="4690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SVP · INSURANCE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5394960"/>
            <a:ext cx="46908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survey's open-ended question, in the respondent's own words.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11346790" y="6537960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16736"/>
          </a:xfrm>
          <a:prstGeom prst="rect">
            <a:avLst/>
          </a:prstGeom>
          <a:solidFill>
            <a:srgbClr val="05060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006" y="201168"/>
            <a:ext cx="111885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 FRAUD INFORMATION SHARING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006" y="438912"/>
            <a:ext cx="1118859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leaders feel ready to share more — legal constraints and messy, inconsistent data are what's actually stopping them.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1346790" y="6537960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006" y="1463040"/>
            <a:ext cx="0" cy="45720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8310" y="1463040"/>
            <a:ext cx="110422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Q5  </a:t>
            </a:r>
            <a:pPr algn="l" indent="0" marL="0">
              <a:lnSpc>
                <a:spcPct val="106000"/>
              </a:lnSpc>
              <a:buNone/>
            </a:pPr>
            <a:r>
              <a:rPr lang="en-US" sz="100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are the biggest barriers to enable effective fraud information sharing?”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02006" y="2066544"/>
            <a:ext cx="111885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data standardization and poor quality (77%) now edges out legal, privacy, and regulatory constraints (73%) as the top-cited barrier — the blockers are as much about infrastructure as they are about policy.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02006" y="2596896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599286" y="2670048"/>
            <a:ext cx="0" cy="53949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782166" y="2596896"/>
            <a:ext cx="41769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data standardization &amp; poor quality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096305" y="2596896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7193585" y="2670048"/>
            <a:ext cx="0" cy="53949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76465" y="2596896"/>
            <a:ext cx="41769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Legal, privacy or regulatory constraints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02006" y="3374136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599286" y="3447288"/>
            <a:ext cx="0" cy="53949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82166" y="3374136"/>
            <a:ext cx="41769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of external industry participation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096305" y="3374136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7193585" y="3447288"/>
            <a:ext cx="0" cy="53949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76465" y="3374136"/>
            <a:ext cx="41769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Insufficient budget or resources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02006" y="4151376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27%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1599286" y="4224528"/>
            <a:ext cx="0" cy="53949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782166" y="4151376"/>
            <a:ext cx="41769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demonstrating ROI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6305" y="4151376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7193585" y="4224528"/>
            <a:ext cx="0" cy="53949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76465" y="4151376"/>
            <a:ext cx="41769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Unclear internal ownership / governance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2006" y="5303520"/>
            <a:ext cx="11188598" cy="0"/>
          </a:xfrm>
          <a:prstGeom prst="line">
            <a:avLst/>
          </a:prstGeom>
          <a:noFill/>
          <a:ln w="9525">
            <a:solidFill>
              <a:srgbClr val="D0D0C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2006" y="5376672"/>
            <a:ext cx="1118859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top 3 — shown as % of respondents who placed the option anywhere in their top 3 (not mutually exclusive; figures don't sum to 100%).  </a:t>
            </a:r>
            <a:pPr algn="l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options as fielded: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“Legal, privacy, or regulatory constraints”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“Limited data standardization, poor quality, and different definitions”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“Insufficient budget or resource investment”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“Lack of external industry participation or collaboration”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“Unclear internal ownership or governance”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“Difficulty demonstrating ROI or business value”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16736"/>
          </a:xfrm>
          <a:prstGeom prst="rect">
            <a:avLst/>
          </a:prstGeom>
          <a:solidFill>
            <a:srgbClr val="05060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006" y="201168"/>
            <a:ext cx="111885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 FRAUD INFORMATION SHARING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006" y="438912"/>
            <a:ext cx="1118859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want government to build and operate shared infrastructure — not just set the rules.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1346790" y="6537960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006" y="1463040"/>
            <a:ext cx="0" cy="45720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8310" y="1463040"/>
            <a:ext cx="110422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Q4  </a:t>
            </a:r>
            <a:pPr algn="l" indent="0" marL="0">
              <a:lnSpc>
                <a:spcPct val="106000"/>
              </a:lnSpc>
              <a:buNone/>
            </a:pPr>
            <a:r>
              <a:rPr lang="en-US" sz="100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government action would have or has had the greatest impact on enabling more effective fraud information sharing?”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02006" y="2066544"/>
            <a:ext cx="111885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centralized fraud information-sharing platform or utility is the single most-cited action — ahead of clearer legal frameworks. Beyond policy-setting, leaders are asking government to take an active operating role in making collaboration possible.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02006" y="2596896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599286" y="2670048"/>
            <a:ext cx="0" cy="53949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782166" y="2596896"/>
            <a:ext cx="41769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fraud info-sharing platform / utility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096305" y="2596896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7193585" y="2670048"/>
            <a:ext cx="0" cy="53949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76465" y="2596896"/>
            <a:ext cx="41769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Clearer legal &amp; regulatory frameworks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02006" y="3374136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14%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599286" y="3447288"/>
            <a:ext cx="0" cy="53949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82166" y="3374136"/>
            <a:ext cx="41769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data standards &amp; definitions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096305" y="3374136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7193585" y="3447288"/>
            <a:ext cx="0" cy="53949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76465" y="3374136"/>
            <a:ext cx="41769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public-private collaboration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02006" y="4151376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9%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1599286" y="4224528"/>
            <a:ext cx="0" cy="53949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782166" y="4151376"/>
            <a:ext cx="41769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Prioritized industry use cases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6305" y="4151376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7193585" y="4224528"/>
            <a:ext cx="0" cy="53949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76465" y="4151376"/>
            <a:ext cx="41769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or incentives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2006" y="5303520"/>
            <a:ext cx="11188598" cy="0"/>
          </a:xfrm>
          <a:prstGeom prst="line">
            <a:avLst/>
          </a:prstGeom>
          <a:noFill/>
          <a:ln w="9525">
            <a:solidFill>
              <a:srgbClr val="D0D0C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2006" y="5376672"/>
            <a:ext cx="1118859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select.  </a:t>
            </a:r>
            <a:pPr algn="l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options as fielded: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“Establish clearer legal and regulatory frameworks for information sharing”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“Develop common data standards and definitions”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“Create a centralized fraud information-sharing platform or utility”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“Facilitate greater public-private collaboration and coordination”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“Provide funding or incentives to support participation”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“Identify and prioritize industry use cases for fraud information sharing”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506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006" y="4572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800454" y="598932"/>
            <a:ext cx="82296" cy="82296"/>
          </a:xfrm>
          <a:prstGeom prst="ellipse">
            <a:avLst/>
          </a:prstGeom>
          <a:solidFill>
            <a:srgbClr val="86BC2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006" y="914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6BC2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02006" y="1298448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Fraud Risk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02006" y="2240280"/>
            <a:ext cx="5532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infrastructure only goes so far when the exposure itself sits outside the organization's four walls. Banking and insurance each have a different weak link in their partner ecosystem — and fraud moves through it in both directions.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2514600"/>
            <a:ext cx="457200" cy="457200"/>
          </a:xfrm>
          <a:prstGeom prst="ellipse">
            <a:avLst/>
          </a:prstGeom>
          <a:solidFill>
            <a:srgbClr val="0B1C14"/>
          </a:solidFill>
          <a:ln w="12700">
            <a:solidFill>
              <a:srgbClr val="86BC2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2441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46520" y="2788920"/>
            <a:ext cx="5239512" cy="2514600"/>
          </a:xfrm>
          <a:prstGeom prst="rect">
            <a:avLst/>
          </a:prstGeom>
          <a:ln w="12700">
            <a:solidFill>
              <a:srgbClr val="D0D0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20840" y="3017520"/>
            <a:ext cx="46908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Owning the fraud risk intelligence as much in-house as possible — the intelligence today is spread across multiple solutions, vendors, and platforms.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4846320"/>
            <a:ext cx="4690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C-LEVEL · BANKING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5394960"/>
            <a:ext cx="46908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survey's open-ended question, in the respondent's own words.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11346790" y="6537960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16736"/>
          </a:xfrm>
          <a:prstGeom prst="rect">
            <a:avLst/>
          </a:prstGeom>
          <a:solidFill>
            <a:srgbClr val="05060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006" y="201168"/>
            <a:ext cx="111885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 THIRD-PARTY FRAUD RISK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006" y="438912"/>
            <a:ext cx="1118859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risk lands in a different place for every sector — and it runs in both directions.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1346790" y="6537960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006" y="1463040"/>
            <a:ext cx="0" cy="45720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8310" y="1463040"/>
            <a:ext cx="110422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Q6a / Q6b  </a:t>
            </a:r>
            <a:pPr algn="l" indent="0" marL="0">
              <a:lnSpc>
                <a:spcPct val="106000"/>
              </a:lnSpc>
              <a:buNone/>
            </a:pPr>
            <a:r>
              <a:rPr lang="en-US" sz="100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external party currently presents the greatest fraud risk exposure to your organization? (asked separately of Banking and Insurance respondents)”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02006" y="2112264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(n=75)</a:t>
            </a:r>
            <a:endParaRPr lang="en-US" sz="11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02006" y="2386584"/>
          <a:ext cx="548640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172200" y="2112264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(n=25)</a:t>
            </a:r>
            <a:endParaRPr lang="en-US" sz="1150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6172200" y="2386584"/>
          <a:ext cx="548640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502006" y="4507992"/>
            <a:ext cx="548640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30022" y="4581144"/>
            <a:ext cx="523036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EXAMPLE  </a:t>
            </a:r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fintech partner's onboarding API accepts a synthetic-identity application without full verification — the account is later used to receive and quickly move fraudulent transfers.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6172200" y="4507992"/>
            <a:ext cx="548640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300216" y="4581144"/>
            <a:ext cx="523036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EXAMPLE  </a:t>
            </a:r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network provider submits inflated or duplicate billing codes for services that were never rendered, and the claim clears before pattern-level review catches it.</a:t>
            </a:r>
            <a:endParaRPr lang="en-US" sz="800" dirty="0"/>
          </a:p>
        </p:txBody>
      </p:sp>
      <p:sp>
        <p:nvSpPr>
          <p:cNvPr id="16" name="Shape 12"/>
          <p:cNvSpPr/>
          <p:nvPr/>
        </p:nvSpPr>
        <p:spPr>
          <a:xfrm>
            <a:off x="502006" y="5394960"/>
            <a:ext cx="11188598" cy="0"/>
          </a:xfrm>
          <a:prstGeom prst="line">
            <a:avLst/>
          </a:prstGeom>
          <a:noFill/>
          <a:ln w="9525">
            <a:solidFill>
              <a:srgbClr val="D0D0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2006" y="5449824"/>
            <a:ext cx="111885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options as fielded — </a:t>
            </a:r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Q6a Banking: </a:t>
            </a:r>
            <a:pPr algn="l"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Mortgage brokers · Merchants · Fintech Partners · Dealers &amp; Indirect Lending Partners · Business &amp; Commercial Clients · Appraisers</a:t>
            </a:r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Q6b Insurance: </a:t>
            </a:r>
            <a:pPr algn="l"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Brokers and distribution partners · Health care providers · Automotive service providers · Legal representatives and paralegals · Third-party administrators (TPAs) · Property claims service providers</a:t>
            </a:r>
            <a:endParaRPr lang="en-US" sz="800" dirty="0"/>
          </a:p>
        </p:txBody>
      </p:sp>
      <p:sp>
        <p:nvSpPr>
          <p:cNvPr id="18" name="Text 14"/>
          <p:cNvSpPr txBox="1"/>
          <p:nvPr/>
        </p:nvSpPr>
        <p:spPr>
          <a:xfrm>
            <a:off x="502006" y="6108192"/>
            <a:ext cx="1118859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scenarios written to show how each channel is typically exploited — not sourced from a specific survey response.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16736"/>
          </a:xfrm>
          <a:prstGeom prst="rect">
            <a:avLst/>
          </a:prstGeom>
          <a:solidFill>
            <a:srgbClr val="05060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006" y="201168"/>
            <a:ext cx="111885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 THIRD-PARTY FRAUD RISK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006" y="438912"/>
            <a:ext cx="1118859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would rather get smarter about spotting risk than tighten the front door.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1346790" y="6537960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006" y="1463040"/>
            <a:ext cx="0" cy="45720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8310" y="1463040"/>
            <a:ext cx="110422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Q7  </a:t>
            </a:r>
            <a:pPr algn="l" indent="0" marL="0">
              <a:lnSpc>
                <a:spcPct val="106000"/>
              </a:lnSpc>
              <a:buNone/>
            </a:pPr>
            <a:r>
              <a:rPr lang="en-US" sz="100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strategy is expected to have the greatest impact on reducing third-party fraud risk over the next three years?”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02006" y="2203704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1599286" y="2276856"/>
            <a:ext cx="0" cy="63093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782166" y="2203704"/>
            <a:ext cx="417697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info sharing &amp; intelligence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096305" y="2203704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27%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7193585" y="2276856"/>
            <a:ext cx="0" cy="63093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76465" y="2203704"/>
            <a:ext cx="417697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 ongoing monitoring &amp; detection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02006" y="3072384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1599286" y="3145536"/>
            <a:ext cx="0" cy="63093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82166" y="3072384"/>
            <a:ext cx="417697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Strengthen onboarding verification &amp; due diligence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096305" y="3072384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19%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7193585" y="3145536"/>
            <a:ext cx="0" cy="63093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76465" y="3072384"/>
            <a:ext cx="417697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Strengthen 3rd-party oversight &amp; accountability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006" y="5303520"/>
            <a:ext cx="11188598" cy="0"/>
          </a:xfrm>
          <a:prstGeom prst="line">
            <a:avLst/>
          </a:prstGeom>
          <a:noFill/>
          <a:ln w="9525">
            <a:solidFill>
              <a:srgbClr val="D0D0C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006" y="5376672"/>
            <a:ext cx="1118859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select.  </a:t>
            </a:r>
            <a:pPr algn="l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options as fielded: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“Strengthen onboarding verification and due diligence controls”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“Enhance ongoing monitoring and detection (e.g., surveillance, analytics, anomaly detection)”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“Increase information sharing and intelligence across onboarding and ongoing monitoring”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“Strengthen third-party oversight and accountability (e.g., annual review, standards, performance monitoring)”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16736"/>
          </a:xfrm>
          <a:prstGeom prst="rect">
            <a:avLst/>
          </a:prstGeom>
          <a:solidFill>
            <a:srgbClr val="05060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006" y="201168"/>
            <a:ext cx="111885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 THIRD-PARTY FRAUD RISK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006" y="438912"/>
            <a:ext cx="1118859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leans toward intelligence-sharing; Insurance splits evenly between monitoring and oversight (24% each).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1346790" y="6537960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006" y="1463040"/>
            <a:ext cx="0" cy="45720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8310" y="1463040"/>
            <a:ext cx="110422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Q7  </a:t>
            </a:r>
            <a:pPr algn="l" indent="0" marL="0">
              <a:lnSpc>
                <a:spcPct val="106000"/>
              </a:lnSpc>
              <a:buNone/>
            </a:pPr>
            <a:r>
              <a:rPr lang="en-US" sz="100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“Same question, broken out by Banking vs. Insurance”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006" y="2157984"/>
          <a:ext cx="11188598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02006" y="5303520"/>
            <a:ext cx="11188598" cy="0"/>
          </a:xfrm>
          <a:prstGeom prst="line">
            <a:avLst/>
          </a:prstGeom>
          <a:noFill/>
          <a:ln w="9525">
            <a:solidFill>
              <a:srgbClr val="D0D0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006" y="5376672"/>
            <a:ext cx="1118859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select.  </a:t>
            </a:r>
            <a:pPr algn="l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options as fielded: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“Strengthen onboarding verification and due diligence controls”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“Enhance ongoing monitoring and detection (e.g., surveillance, analytics, anomaly detection)”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“Increase information sharing and intelligence across onboarding and ongoing monitoring”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“Strengthen third-party oversight and accountability (e.g., annual review, standards, performance monitoring)”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506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006" y="4572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800454" y="598932"/>
            <a:ext cx="82296" cy="82296"/>
          </a:xfrm>
          <a:prstGeom prst="ellipse">
            <a:avLst/>
          </a:prstGeom>
          <a:solidFill>
            <a:srgbClr val="86BC2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006" y="914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6BC2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02006" y="1298448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Model Transformation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02006" y="2240280"/>
            <a:ext cx="5532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However third-party risk gets addressed, someone still has to run the fraud program day to day — and that program is being rebuilt in real time around AI.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2514600"/>
            <a:ext cx="457200" cy="457200"/>
          </a:xfrm>
          <a:prstGeom prst="ellipse">
            <a:avLst/>
          </a:prstGeom>
          <a:solidFill>
            <a:srgbClr val="0B1C14"/>
          </a:solidFill>
          <a:ln w="12700">
            <a:solidFill>
              <a:srgbClr val="86BC2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2441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46520" y="2788920"/>
            <a:ext cx="5239512" cy="2514600"/>
          </a:xfrm>
          <a:prstGeom prst="rect">
            <a:avLst/>
          </a:prstGeom>
          <a:ln w="12700">
            <a:solidFill>
              <a:srgbClr val="D0D0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20840" y="3017520"/>
            <a:ext cx="46908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will shift fraud management from reactive investigation toward more predictive prevention, which should help us identify risks before losses occur.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4846320"/>
            <a:ext cx="4690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 · BANKING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5394960"/>
            <a:ext cx="46908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survey's open-ended question, in the respondent's own words.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11346790" y="6537960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16736"/>
          </a:xfrm>
          <a:prstGeom prst="rect">
            <a:avLst/>
          </a:prstGeom>
          <a:solidFill>
            <a:srgbClr val="05060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006" y="201168"/>
            <a:ext cx="111885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 OPERATING MODEL TRANSFORMATION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006" y="438912"/>
            <a:ext cx="1118859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and Insurance both call their fraud programs mature — but they're climbing different ends of the ladder.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1346790" y="6537960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006" y="1463040"/>
            <a:ext cx="0" cy="45720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8310" y="1463040"/>
            <a:ext cx="110422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  </a:t>
            </a:r>
            <a:pPr algn="l" indent="0" marL="0">
              <a:lnSpc>
                <a:spcPct val="106000"/>
              </a:lnSpc>
              <a:buNone/>
            </a:pPr>
            <a:r>
              <a:rPr lang="en-US" sz="100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statement best describes the current maturity of your organization's fraud program? (Banking vs. Insurance)”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006" y="2157984"/>
          <a:ext cx="11188598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02006" y="5303520"/>
            <a:ext cx="11188598" cy="0"/>
          </a:xfrm>
          <a:prstGeom prst="line">
            <a:avLst/>
          </a:prstGeom>
          <a:noFill/>
          <a:ln w="9525">
            <a:solidFill>
              <a:srgbClr val="D0D0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006" y="5376672"/>
            <a:ext cx="1118859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select · low → high maturity.  </a:t>
            </a:r>
            <a:pPr algn="l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options as fielded: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“Reactive: Primarily incident-driven”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“Foundational: Controls established within individual business units”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“Managed: Enterprise standards and governance are in place”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“Integrated: Data, analytics, and operations are integrated across major fraud types”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“Advanced: Predictive intelligence and ecosystem collaboration are embedded”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16736"/>
          </a:xfrm>
          <a:prstGeom prst="rect">
            <a:avLst/>
          </a:prstGeom>
          <a:solidFill>
            <a:srgbClr val="05060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006" y="201168"/>
            <a:ext cx="111885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 OPERATING MODEL TRANSFORMATION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006" y="438912"/>
            <a:ext cx="1118859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teams are going all-in on AI — often at the expense of a more balanced playbook.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1346790" y="6537960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006" y="1463040"/>
            <a:ext cx="0" cy="45720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8310" y="1463040"/>
            <a:ext cx="110422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Q8 / Q9  </a:t>
            </a:r>
            <a:pPr algn="l" indent="0" marL="0">
              <a:lnSpc>
                <a:spcPct val="106000"/>
              </a:lnSpc>
              <a:buNone/>
            </a:pPr>
            <a:r>
              <a:rPr lang="en-US" sz="100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statement best describes your current approach to scaling fraud/investigations operations as fraud volume and complexity increases? / Which area do you expect will receive the greatest focus for operations transformation over the next three years?”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02006" y="2066544"/>
            <a:ext cx="11188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AI-enabled tools augmentation is already the top way teams scale today and grows further over the next three years, while hiring, outsourcing, and blended approaches all shrink — just 2% expect to lean on a combination of levers in three years, down from 7% today.</a:t>
            </a:r>
            <a:endParaRPr lang="en-US" sz="11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02006" y="2660904"/>
          <a:ext cx="11188598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502006" y="5303520"/>
            <a:ext cx="11188598" cy="0"/>
          </a:xfrm>
          <a:prstGeom prst="line">
            <a:avLst/>
          </a:prstGeom>
          <a:noFill/>
          <a:ln w="9525">
            <a:solidFill>
              <a:srgbClr val="D0D0C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2006" y="5376672"/>
            <a:ext cx="1118859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select, asked twice.  </a:t>
            </a:r>
            <a:pPr algn="l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options as fielded: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“Adding capacity through hiring full-time employees and workforce expansion”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“Adding capacity through outsourcing arrangements (e.g., contractors)”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“Automating workflows and minimizing manual activities”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“Augmenting existing capacity with AI-enabled tools”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“Redesigning operation processes and playbooks across the lifecycle”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“Pursuing a combination of the above approaches”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506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006" y="4572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800454" y="598932"/>
            <a:ext cx="82296" cy="82296"/>
          </a:xfrm>
          <a:prstGeom prst="ellipse">
            <a:avLst/>
          </a:prstGeom>
          <a:solidFill>
            <a:srgbClr val="86BC2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006" y="914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6BC2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02006" y="1298448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&amp; Market Change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02006" y="2240280"/>
            <a:ext cx="5532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fraud program built around AI still has to operate inside a regulatory perimeter that's shifting under its feet — and most investment today is defensive, not forward-looking.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2514600"/>
            <a:ext cx="457200" cy="457200"/>
          </a:xfrm>
          <a:prstGeom prst="ellipse">
            <a:avLst/>
          </a:prstGeom>
          <a:solidFill>
            <a:srgbClr val="0B1C14"/>
          </a:solidFill>
          <a:ln w="12700">
            <a:solidFill>
              <a:srgbClr val="86BC2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2441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46520" y="2788920"/>
            <a:ext cx="5239512" cy="2514600"/>
          </a:xfrm>
          <a:prstGeom prst="rect">
            <a:avLst/>
          </a:prstGeom>
          <a:ln w="12700">
            <a:solidFill>
              <a:srgbClr val="D0D0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20840" y="3017520"/>
            <a:ext cx="46908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regulatory framework to address liability and risks due to AI and crypto currency will be biggest lookout for fraud risks.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4846320"/>
            <a:ext cx="4690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 · BANKING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5394960"/>
            <a:ext cx="46908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survey's open-ended question, in the respondent's own words.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11346790" y="6537960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16736"/>
          </a:xfrm>
          <a:prstGeom prst="rect">
            <a:avLst/>
          </a:prstGeom>
          <a:solidFill>
            <a:srgbClr val="05060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006" y="201168"/>
            <a:ext cx="111885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 REGULATORY &amp; MARKET CHANGE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006" y="438912"/>
            <a:ext cx="1118859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fraud spending today is about fixing past problems, not getting ahead of new ones.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1346790" y="6537960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006" y="1463040"/>
            <a:ext cx="0" cy="45720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8310" y="1463040"/>
            <a:ext cx="110422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Q10  </a:t>
            </a:r>
            <a:pPr algn="l" indent="0" marL="0">
              <a:lnSpc>
                <a:spcPct val="106000"/>
              </a:lnSpc>
              <a:buNone/>
            </a:pPr>
            <a:r>
              <a:rPr lang="en-US" sz="100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statement best reflects how your organization is allocating fraud-related investment in response to regulatory and compliance requirements?”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02006" y="252374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1599286" y="2596896"/>
            <a:ext cx="0" cy="21945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782166" y="2523744"/>
            <a:ext cx="97712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Investing to remediate existing compliance gaps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006" y="298094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1599286" y="3054096"/>
            <a:ext cx="0" cy="21945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782166" y="2980944"/>
            <a:ext cx="97712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Investing to meet upcoming / draft regulations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02006" y="343814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1599286" y="3511296"/>
            <a:ext cx="0" cy="21945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82166" y="3438144"/>
            <a:ext cx="97712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 not a primary driver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006" y="5303520"/>
            <a:ext cx="11188598" cy="0"/>
          </a:xfrm>
          <a:prstGeom prst="line">
            <a:avLst/>
          </a:prstGeom>
          <a:noFill/>
          <a:ln w="9525">
            <a:solidFill>
              <a:srgbClr val="D0D0C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006" y="5376672"/>
            <a:ext cx="1118859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select.  </a:t>
            </a:r>
            <a:pPr algn="l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options as fielded: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“Primarily investing to meet upcoming and draft regulatory requirements”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“Primarily investing to remediate existing compliance and control gaps”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“Regulatory requirements are not a primary driver of fraud-related investment”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16736"/>
          </a:xfrm>
          <a:prstGeom prst="rect">
            <a:avLst/>
          </a:prstGeom>
          <a:solidFill>
            <a:srgbClr val="05060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006" y="201168"/>
            <a:ext cx="111885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 REGULATORY &amp; MARKET CHANGE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006" y="438912"/>
            <a:ext cx="1118859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and authentication tops a close three-way race for the next big disruption.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1346790" y="6537960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006" y="1463040"/>
            <a:ext cx="0" cy="45720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8310" y="1463040"/>
            <a:ext cx="110422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Q11  </a:t>
            </a:r>
            <a:pPr algn="l" indent="0" marL="0">
              <a:lnSpc>
                <a:spcPct val="106000"/>
              </a:lnSpc>
              <a:buNone/>
            </a:pPr>
            <a:r>
              <a:rPr lang="en-US" sz="100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upcoming regulatory or market changes is expected to have the greatest impact on your fraud program?”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02006" y="2596896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71%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599286" y="2670048"/>
            <a:ext cx="0" cy="53949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782166" y="2596896"/>
            <a:ext cx="41769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identity, authentication &amp; digital trust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096305" y="2596896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66%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193585" y="2670048"/>
            <a:ext cx="0" cy="53949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76465" y="2596896"/>
            <a:ext cx="41769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Privacy, data-sharing &amp; AI governance requirements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02006" y="3374136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599286" y="3447288"/>
            <a:ext cx="0" cy="53949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82166" y="3374136"/>
            <a:ext cx="41769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innovation (RTP, stablecoins, agentic payments)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096305" y="3374136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7193585" y="3447288"/>
            <a:ext cx="0" cy="53949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76465" y="3374136"/>
            <a:ext cx="41769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Liability &amp; reimbursement changes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02006" y="4151376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599286" y="4224528"/>
            <a:ext cx="0" cy="53949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782166" y="4151376"/>
            <a:ext cx="41769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modernization initiatives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096305" y="4151376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29%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7193585" y="4224528"/>
            <a:ext cx="0" cy="539496"/>
          </a:xfrm>
          <a:prstGeom prst="line">
            <a:avLst/>
          </a:prstGeom>
          <a:noFill/>
          <a:ln w="15875">
            <a:solidFill>
              <a:srgbClr val="D0D0C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76465" y="4151376"/>
            <a:ext cx="41769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/ consumer-driven initiatives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2006" y="5303520"/>
            <a:ext cx="11188598" cy="0"/>
          </a:xfrm>
          <a:prstGeom prst="line">
            <a:avLst/>
          </a:prstGeom>
          <a:noFill/>
          <a:ln w="9525">
            <a:solidFill>
              <a:srgbClr val="D0D0C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006" y="5376672"/>
            <a:ext cx="1118859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top 3 — shown as % of respondents who placed the option anywhere in their top 3 (not mutually exclusive; figures don't sum to 100%).  </a:t>
            </a:r>
            <a:pPr algn="l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options as fielded: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“Payment innovation and adoption (e.g., real-time payments, stable coins, agentic payments)”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“Liability and reimbursement changes”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“Open Banking / Consumer-driven banking initiatives”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“AML related modernization initiatives”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“Privacy, data-sharing requirements, and AI governance requirements”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“Customer identity, authentication, and digital trust expectations”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506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006" y="4572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800454" y="598932"/>
            <a:ext cx="82296" cy="82296"/>
          </a:xfrm>
          <a:prstGeom prst="ellipse">
            <a:avLst/>
          </a:prstGeom>
          <a:solidFill>
            <a:srgbClr val="86BC2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006" y="914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6BC2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02006" y="1298448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 Three Years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02006" y="2240280"/>
            <a:ext cx="5532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pillar above is a leader's answer to a structured question. Asked to answer in their own words about the next three years, respondents converge on the same handful of ideas — unprompted.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2514600"/>
            <a:ext cx="457200" cy="457200"/>
          </a:xfrm>
          <a:prstGeom prst="ellipse">
            <a:avLst/>
          </a:prstGeom>
          <a:solidFill>
            <a:srgbClr val="0B1C14"/>
          </a:solidFill>
          <a:ln w="12700">
            <a:solidFill>
              <a:srgbClr val="86BC2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2441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46520" y="2788920"/>
            <a:ext cx="5239512" cy="2514600"/>
          </a:xfrm>
          <a:prstGeom prst="rect">
            <a:avLst/>
          </a:prstGeom>
          <a:ln w="12700">
            <a:solidFill>
              <a:srgbClr val="D0D0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20840" y="3017520"/>
            <a:ext cx="46908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see the future being more about proactive fraud prevention than investigation after the loss.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4846320"/>
            <a:ext cx="4690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MANAGER · INSURANCE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5394960"/>
            <a:ext cx="46908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survey's open-ended question, in the respondent's own words.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11346790" y="6537960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16736"/>
          </a:xfrm>
          <a:prstGeom prst="rect">
            <a:avLst/>
          </a:prstGeom>
          <a:solidFill>
            <a:srgbClr val="05060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006" y="201168"/>
            <a:ext cx="111885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 LOOKING AHEAD THREE YEARS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006" y="438912"/>
            <a:ext cx="1118859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to answer in their own words, leaders converge on the same trend running through every closed-ended question above.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1346790" y="6537960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006" y="1463040"/>
            <a:ext cx="0" cy="45720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8310" y="1463040"/>
            <a:ext cx="110422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Q12  </a:t>
            </a:r>
            <a:pPr algn="l" indent="0" marL="0">
              <a:lnSpc>
                <a:spcPct val="106000"/>
              </a:lnSpc>
              <a:buNone/>
            </a:pPr>
            <a:r>
              <a:rPr lang="en-US" sz="100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“Looking ahead three years, what development do you believe will have the greatest impact on fraud risk management, and why? (open-ended)”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006" y="2112264"/>
            <a:ext cx="11188598" cy="868680"/>
          </a:xfrm>
          <a:prstGeom prst="roundRect">
            <a:avLst>
              <a:gd name="adj" fmla="val 6316"/>
            </a:avLst>
          </a:prstGeom>
          <a:solidFill>
            <a:srgbClr val="F2F2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6326" y="2112264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100/100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2970886" y="2157984"/>
            <a:ext cx="844539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respondents answered in their own words — a full response rate on an open text field. The same convergence of GenAI, synthetic identity, and real-time payments keeps recurring, not just in this open-end but throughout the survey.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006" y="3118104"/>
            <a:ext cx="5457139" cy="155448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4886" y="3246120"/>
            <a:ext cx="5091379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biggest impact will come from combining AI with human expertise rather than replacing fraud analysts.”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84886" y="4379976"/>
            <a:ext cx="50913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SVP · Insurance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3465" y="3118104"/>
            <a:ext cx="5457139" cy="155448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16345" y="3246120"/>
            <a:ext cx="5091379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“Well, behavioral analytics sounds promising, but getting the data quality right will be the real challenge.”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16345" y="4379976"/>
            <a:ext cx="50913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Director · Banking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02006" y="4855464"/>
            <a:ext cx="5457139" cy="155448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4886" y="4983480"/>
            <a:ext cx="5091379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“AI is going to be huge, both for us and for fraudsters, so it will probably change the whole fraud landscape.”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84886" y="6117336"/>
            <a:ext cx="50913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Director · Banking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33465" y="4855464"/>
            <a:ext cx="5457139" cy="155448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6345" y="4983480"/>
            <a:ext cx="5091379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“Companies are moving away from regular passwords towards decentralized digital credentials and biometric passkeys, as this would minimize phishing and account hacking.”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416345" y="6117336"/>
            <a:ext cx="50913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Senior Manager · Banking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506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006" y="4572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800454" y="598932"/>
            <a:ext cx="82296" cy="82296"/>
          </a:xfrm>
          <a:prstGeom prst="ellipse">
            <a:avLst/>
          </a:prstGeom>
          <a:solidFill>
            <a:srgbClr val="86BC2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006" y="4215384"/>
            <a:ext cx="8531352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
</a:t>
            </a:r>
            <a:endParaRPr lang="en-US" sz="2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[Presenter Name]
</a:t>
            </a:r>
            <a:endParaRPr lang="en-US" sz="2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[Title | Practice]
</a:t>
            </a:r>
            <a:endParaRPr lang="en-US" sz="2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[email@deloitte.com]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372600" y="4215384"/>
            <a:ext cx="2322576" cy="1728216"/>
          </a:xfrm>
          <a:prstGeom prst="rect">
            <a:avLst/>
          </a:prstGeom>
          <a:solidFill>
            <a:srgbClr val="0B1C14"/>
          </a:solidFill>
          <a:ln w="9525">
            <a:solidFill>
              <a:srgbClr val="86BC2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72600" y="4892040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D.FEND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370771" y="6016752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Crime Forum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2026-09-20T18:22:49Z</dcterms:created>
  <dcterms:modified xsi:type="dcterms:W3CDTF">2026-09-20T18:22:49Z</dcterms:modified>
</cp:coreProperties>
</file>