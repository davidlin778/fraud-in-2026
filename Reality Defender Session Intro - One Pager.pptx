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801368" y="502920"/>
            <a:ext cx="82296" cy="82296"/>
          </a:xfrm>
          <a:prstGeom prst="ellipse">
            <a:avLst/>
          </a:prstGeom>
          <a:solidFill>
            <a:srgbClr val="86BC2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25535" y="384048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D.FEND · FIN CRIME FORUM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41248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PREVIEW  ·  100+ FINANCIAL INSTITUTIONS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15568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Fraud Leaders Are Telling Us Right Now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700784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global survey of 100+ banks and insurers spans five emerging fronts: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2170786" cy="310896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011680"/>
            <a:ext cx="21707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&amp; Emerging AI Risk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01722" y="2011680"/>
            <a:ext cx="2020824" cy="310896"/>
          </a:xfrm>
          <a:prstGeom prst="roundRect">
            <a:avLst>
              <a:gd name="adj" fmla="val 50000"/>
            </a:avLst>
          </a:prstGeom>
          <a:solidFill>
            <a:srgbClr val="1B2010"/>
          </a:solidFill>
          <a:ln w="9525">
            <a:solidFill>
              <a:srgbClr val="2A2E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01722" y="2011680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Information Sharing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50562" y="2011680"/>
            <a:ext cx="1795882" cy="310896"/>
          </a:xfrm>
          <a:prstGeom prst="roundRect">
            <a:avLst>
              <a:gd name="adj" fmla="val 50000"/>
            </a:avLst>
          </a:prstGeom>
          <a:solidFill>
            <a:srgbClr val="1B2010"/>
          </a:solidFill>
          <a:ln w="9525">
            <a:solidFill>
              <a:srgbClr val="2A2E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50562" y="2011680"/>
            <a:ext cx="17958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Fraud Risk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74459" y="2011680"/>
            <a:ext cx="2395728" cy="310896"/>
          </a:xfrm>
          <a:prstGeom prst="roundRect">
            <a:avLst>
              <a:gd name="adj" fmla="val 50000"/>
            </a:avLst>
          </a:prstGeom>
          <a:solidFill>
            <a:srgbClr val="1B2010"/>
          </a:solidFill>
          <a:ln w="9525">
            <a:solidFill>
              <a:srgbClr val="2A2E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74459" y="201168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Transformation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398203" y="2011680"/>
            <a:ext cx="2095805" cy="310896"/>
          </a:xfrm>
          <a:prstGeom prst="roundRect">
            <a:avLst>
              <a:gd name="adj" fmla="val 50000"/>
            </a:avLst>
          </a:prstGeom>
          <a:solidFill>
            <a:srgbClr val="1B2010"/>
          </a:solidFill>
          <a:ln w="9525">
            <a:solidFill>
              <a:srgbClr val="2A2E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98203" y="2011680"/>
            <a:ext cx="20958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Market Change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542032"/>
            <a:ext cx="11185855" cy="0"/>
          </a:xfrm>
          <a:prstGeom prst="line">
            <a:avLst/>
          </a:prstGeom>
          <a:noFill/>
          <a:ln w="12700">
            <a:solidFill>
              <a:srgbClr val="2A2E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" y="2761488"/>
            <a:ext cx="5410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RISK IS RISING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55768" y="276148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305409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2468880" y="3090672"/>
            <a:ext cx="3444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respondents flag digital onboarding &amp; KYC as a growing deepfake/AI-driven fraud channel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3858768"/>
            <a:ext cx="5410048" cy="292608"/>
          </a:xfrm>
          <a:prstGeom prst="roundRect">
            <a:avLst>
              <a:gd name="adj" fmla="val 15625"/>
            </a:avLst>
          </a:prstGeom>
          <a:solidFill>
            <a:srgbClr val="12160D"/>
          </a:solidFill>
          <a:ln w="9525">
            <a:solidFill>
              <a:srgbClr val="2E3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078224"/>
            <a:ext cx="3776211" cy="41148"/>
          </a:xfrm>
          <a:prstGeom prst="roundRect">
            <a:avLst>
              <a:gd name="adj" fmla="val 44444"/>
            </a:avLst>
          </a:prstGeom>
          <a:solidFill>
            <a:srgbClr val="86BC2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0936" y="3858768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onboarding &amp; KYC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135728" y="385876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224528"/>
            <a:ext cx="5410048" cy="292608"/>
          </a:xfrm>
          <a:prstGeom prst="roundRect">
            <a:avLst>
              <a:gd name="adj" fmla="val 15625"/>
            </a:avLst>
          </a:prstGeom>
          <a:solidFill>
            <a:srgbClr val="12160D"/>
          </a:solidFill>
          <a:ln w="9525">
            <a:solidFill>
              <a:srgbClr val="2E3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443984"/>
            <a:ext cx="3403909" cy="41148"/>
          </a:xfrm>
          <a:prstGeom prst="roundRect">
            <a:avLst>
              <a:gd name="adj" fmla="val 44444"/>
            </a:avLst>
          </a:prstGeom>
          <a:solidFill>
            <a:srgbClr val="86BC2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0936" y="4224528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/ wire approvals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135728" y="422452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4590288"/>
            <a:ext cx="5410048" cy="292608"/>
          </a:xfrm>
          <a:prstGeom prst="roundRect">
            <a:avLst>
              <a:gd name="adj" fmla="val 15625"/>
            </a:avLst>
          </a:prstGeom>
          <a:solidFill>
            <a:srgbClr val="12160D"/>
          </a:solidFill>
          <a:ln w="9525">
            <a:solidFill>
              <a:srgbClr val="2E3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809744"/>
            <a:ext cx="2765676" cy="41148"/>
          </a:xfrm>
          <a:prstGeom prst="roundRect">
            <a:avLst>
              <a:gd name="adj" fmla="val 44444"/>
            </a:avLst>
          </a:prstGeom>
          <a:solidFill>
            <a:srgbClr val="86BC2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30936" y="4590288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center / phone auth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135728" y="459028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02920" y="4956048"/>
            <a:ext cx="5410048" cy="292608"/>
          </a:xfrm>
          <a:prstGeom prst="roundRect">
            <a:avLst>
              <a:gd name="adj" fmla="val 15625"/>
            </a:avLst>
          </a:prstGeom>
          <a:solidFill>
            <a:srgbClr val="12160D"/>
          </a:solidFill>
          <a:ln w="9525">
            <a:solidFill>
              <a:srgbClr val="2E3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5175504"/>
            <a:ext cx="2712490" cy="41148"/>
          </a:xfrm>
          <a:prstGeom prst="roundRect">
            <a:avLst>
              <a:gd name="adj" fmla="val 44444"/>
            </a:avLst>
          </a:prstGeom>
          <a:solidFill>
            <a:srgbClr val="86BC25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0936" y="4956048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&amp; underwriting review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135728" y="495604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5376672"/>
            <a:ext cx="541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8A8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Virtually every channel shows rising exposure — the one exception is video meetings &amp; remote advisory, at just 16%.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278728" y="2761488"/>
            <a:ext cx="5410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LEADERS ARE RESPONDING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1231575" y="2761488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8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Q3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278728" y="3054096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6B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44–54%</a:t>
            </a:r>
            <a:endParaRPr lang="en-US" sz="3200" dirty="0"/>
          </a:p>
        </p:txBody>
      </p:sp>
      <p:sp>
        <p:nvSpPr>
          <p:cNvPr id="43" name="Text 41"/>
          <p:cNvSpPr txBox="1"/>
          <p:nvPr/>
        </p:nvSpPr>
        <p:spPr>
          <a:xfrm>
            <a:off x="8244688" y="3090672"/>
            <a:ext cx="3444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entire spread across all four mitigation levers respondents named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278728" y="3858768"/>
            <a:ext cx="5410048" cy="292608"/>
          </a:xfrm>
          <a:prstGeom prst="roundRect">
            <a:avLst>
              <a:gd name="adj" fmla="val 15625"/>
            </a:avLst>
          </a:prstGeom>
          <a:solidFill>
            <a:srgbClr val="12160D"/>
          </a:solidFill>
          <a:ln w="9525">
            <a:solidFill>
              <a:srgbClr val="2E361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24448" y="4078224"/>
            <a:ext cx="2872048" cy="41148"/>
          </a:xfrm>
          <a:prstGeom prst="roundRect">
            <a:avLst>
              <a:gd name="adj" fmla="val 44444"/>
            </a:avLst>
          </a:prstGeom>
          <a:solidFill>
            <a:srgbClr val="86BC2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406744" y="3858768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awareness &amp; training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10911535" y="385876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278728" y="4224528"/>
            <a:ext cx="5410048" cy="292608"/>
          </a:xfrm>
          <a:prstGeom prst="roundRect">
            <a:avLst>
              <a:gd name="adj" fmla="val 15625"/>
            </a:avLst>
          </a:prstGeom>
          <a:solidFill>
            <a:srgbClr val="12160D"/>
          </a:solidFill>
          <a:ln w="9525">
            <a:solidFill>
              <a:srgbClr val="2E361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24448" y="4443984"/>
            <a:ext cx="2606118" cy="41148"/>
          </a:xfrm>
          <a:prstGeom prst="roundRect">
            <a:avLst>
              <a:gd name="adj" fmla="val 44444"/>
            </a:avLst>
          </a:prstGeom>
          <a:solidFill>
            <a:srgbClr val="86BC25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406744" y="4224528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 capability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10911535" y="422452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278728" y="4590288"/>
            <a:ext cx="5410048" cy="292608"/>
          </a:xfrm>
          <a:prstGeom prst="roundRect">
            <a:avLst>
              <a:gd name="adj" fmla="val 15625"/>
            </a:avLst>
          </a:prstGeom>
          <a:solidFill>
            <a:srgbClr val="12160D"/>
          </a:solidFill>
          <a:ln w="9525">
            <a:solidFill>
              <a:srgbClr val="2E361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24448" y="4809744"/>
            <a:ext cx="2340187" cy="41148"/>
          </a:xfrm>
          <a:prstGeom prst="roundRect">
            <a:avLst>
              <a:gd name="adj" fmla="val 44444"/>
            </a:avLst>
          </a:prstGeom>
          <a:solidFill>
            <a:srgbClr val="86BC25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406744" y="4590288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technology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10911535" y="459028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278728" y="4956048"/>
            <a:ext cx="5410048" cy="292608"/>
          </a:xfrm>
          <a:prstGeom prst="roundRect">
            <a:avLst>
              <a:gd name="adj" fmla="val 15625"/>
            </a:avLst>
          </a:prstGeom>
          <a:solidFill>
            <a:srgbClr val="12160D"/>
          </a:solidFill>
          <a:ln w="9525">
            <a:solidFill>
              <a:srgbClr val="2E361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24448" y="5175504"/>
            <a:ext cx="2340187" cy="41148"/>
          </a:xfrm>
          <a:prstGeom prst="roundRect">
            <a:avLst>
              <a:gd name="adj" fmla="val 44444"/>
            </a:avLst>
          </a:prstGeom>
          <a:solidFill>
            <a:srgbClr val="86BC25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406744" y="4956048"/>
            <a:ext cx="449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3rd-party intel / consortium data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10911535" y="495604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278728" y="5376672"/>
            <a:ext cx="541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8A8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Prevention, technology, and training are all cited near-equally — this reads as a capability-stack problem, not a single fix.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0" y="5989320"/>
            <a:ext cx="12191695" cy="77724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502920" y="5989320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A0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findings publish November 2026 at the D.fend – Fin Crime Forum.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A0D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we're joined by Reality Defender — a leading deepfake-detection solution provider — to unpack what they're seeing in the market right now.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2026-09-15T19:33:07Z</dcterms:created>
  <dcterms:modified xsi:type="dcterms:W3CDTF">2026-09-15T19:33:07Z</dcterms:modified>
</cp:coreProperties>
</file>